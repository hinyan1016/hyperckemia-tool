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4507A-E4D2-4386-B4DC-82127F378D01}" v="2" dt="2026-03-12T02:58:12.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15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久司 今村" userId="1c5d66dd010fbc96" providerId="LiveId" clId="{17FB10CB-4D7A-4D51-827D-8C222DDB014F}"/>
    <pc:docChg chg="undo custSel modSld">
      <pc:chgData name="久司 今村" userId="1c5d66dd010fbc96" providerId="LiveId" clId="{17FB10CB-4D7A-4D51-827D-8C222DDB014F}" dt="2026-03-12T03:50:51.293" v="82" actId="14100"/>
      <pc:docMkLst>
        <pc:docMk/>
      </pc:docMkLst>
      <pc:sldChg chg="modSp mod">
        <pc:chgData name="久司 今村" userId="1c5d66dd010fbc96" providerId="LiveId" clId="{17FB10CB-4D7A-4D51-827D-8C222DDB014F}" dt="2026-03-12T03:45:42.086" v="79" actId="20577"/>
        <pc:sldMkLst>
          <pc:docMk/>
          <pc:sldMk cId="0" sldId="260"/>
        </pc:sldMkLst>
        <pc:spChg chg="mod">
          <ac:chgData name="久司 今村" userId="1c5d66dd010fbc96" providerId="LiveId" clId="{17FB10CB-4D7A-4D51-827D-8C222DDB014F}" dt="2026-03-12T03:45:20.058" v="75" actId="20577"/>
          <ac:spMkLst>
            <pc:docMk/>
            <pc:sldMk cId="0" sldId="260"/>
            <ac:spMk id="8" creationId="{00000000-0000-0000-0000-000000000000}"/>
          </ac:spMkLst>
        </pc:spChg>
        <pc:spChg chg="mod">
          <ac:chgData name="久司 今村" userId="1c5d66dd010fbc96" providerId="LiveId" clId="{17FB10CB-4D7A-4D51-827D-8C222DDB014F}" dt="2026-03-12T03:45:42.086" v="79" actId="20577"/>
          <ac:spMkLst>
            <pc:docMk/>
            <pc:sldMk cId="0" sldId="260"/>
            <ac:spMk id="12" creationId="{00000000-0000-0000-0000-000000000000}"/>
          </ac:spMkLst>
        </pc:spChg>
      </pc:sldChg>
      <pc:sldChg chg="modSp mod">
        <pc:chgData name="久司 今村" userId="1c5d66dd010fbc96" providerId="LiveId" clId="{17FB10CB-4D7A-4D51-827D-8C222DDB014F}" dt="2026-03-12T03:46:03.887" v="81" actId="20577"/>
        <pc:sldMkLst>
          <pc:docMk/>
          <pc:sldMk cId="0" sldId="262"/>
        </pc:sldMkLst>
        <pc:spChg chg="mod">
          <ac:chgData name="久司 今村" userId="1c5d66dd010fbc96" providerId="LiveId" clId="{17FB10CB-4D7A-4D51-827D-8C222DDB014F}" dt="2026-03-12T03:45:59.567" v="80" actId="14100"/>
          <ac:spMkLst>
            <pc:docMk/>
            <pc:sldMk cId="0" sldId="262"/>
            <ac:spMk id="21" creationId="{00000000-0000-0000-0000-000000000000}"/>
          </ac:spMkLst>
        </pc:spChg>
        <pc:spChg chg="mod">
          <ac:chgData name="久司 今村" userId="1c5d66dd010fbc96" providerId="LiveId" clId="{17FB10CB-4D7A-4D51-827D-8C222DDB014F}" dt="2026-03-12T03:46:03.887" v="81" actId="20577"/>
          <ac:spMkLst>
            <pc:docMk/>
            <pc:sldMk cId="0" sldId="262"/>
            <ac:spMk id="24" creationId="{00000000-0000-0000-0000-000000000000}"/>
          </ac:spMkLst>
        </pc:spChg>
      </pc:sldChg>
      <pc:sldChg chg="addSp delSp modSp mod">
        <pc:chgData name="久司 今村" userId="1c5d66dd010fbc96" providerId="LiveId" clId="{17FB10CB-4D7A-4D51-827D-8C222DDB014F}" dt="2026-03-12T02:55:24.115" v="55" actId="1076"/>
        <pc:sldMkLst>
          <pc:docMk/>
          <pc:sldMk cId="0" sldId="263"/>
        </pc:sldMkLst>
        <pc:spChg chg="add del mod">
          <ac:chgData name="久司 今村" userId="1c5d66dd010fbc96" providerId="LiveId" clId="{17FB10CB-4D7A-4D51-827D-8C222DDB014F}" dt="2026-03-12T02:55:08.872" v="52" actId="1076"/>
          <ac:spMkLst>
            <pc:docMk/>
            <pc:sldMk cId="0" sldId="263"/>
            <ac:spMk id="5" creationId="{00000000-0000-0000-0000-000000000000}"/>
          </ac:spMkLst>
        </pc:spChg>
        <pc:spChg chg="mod">
          <ac:chgData name="久司 今村" userId="1c5d66dd010fbc96" providerId="LiveId" clId="{17FB10CB-4D7A-4D51-827D-8C222DDB014F}" dt="2026-03-12T02:54:29.735" v="41" actId="1076"/>
          <ac:spMkLst>
            <pc:docMk/>
            <pc:sldMk cId="0" sldId="263"/>
            <ac:spMk id="9" creationId="{00000000-0000-0000-0000-000000000000}"/>
          </ac:spMkLst>
        </pc:spChg>
        <pc:spChg chg="mod">
          <ac:chgData name="久司 今村" userId="1c5d66dd010fbc96" providerId="LiveId" clId="{17FB10CB-4D7A-4D51-827D-8C222DDB014F}" dt="2026-03-12T02:54:38.314" v="44" actId="1076"/>
          <ac:spMkLst>
            <pc:docMk/>
            <pc:sldMk cId="0" sldId="263"/>
            <ac:spMk id="10" creationId="{00000000-0000-0000-0000-000000000000}"/>
          </ac:spMkLst>
        </pc:spChg>
        <pc:spChg chg="mod">
          <ac:chgData name="久司 今村" userId="1c5d66dd010fbc96" providerId="LiveId" clId="{17FB10CB-4D7A-4D51-827D-8C222DDB014F}" dt="2026-03-12T02:55:20.154" v="54" actId="1076"/>
          <ac:spMkLst>
            <pc:docMk/>
            <pc:sldMk cId="0" sldId="263"/>
            <ac:spMk id="11" creationId="{00000000-0000-0000-0000-000000000000}"/>
          </ac:spMkLst>
        </pc:spChg>
        <pc:spChg chg="mod">
          <ac:chgData name="久司 今村" userId="1c5d66dd010fbc96" providerId="LiveId" clId="{17FB10CB-4D7A-4D51-827D-8C222DDB014F}" dt="2026-03-12T02:55:24.115" v="55" actId="1076"/>
          <ac:spMkLst>
            <pc:docMk/>
            <pc:sldMk cId="0" sldId="263"/>
            <ac:spMk id="12" creationId="{00000000-0000-0000-0000-000000000000}"/>
          </ac:spMkLst>
        </pc:spChg>
        <pc:spChg chg="mod">
          <ac:chgData name="久司 今村" userId="1c5d66dd010fbc96" providerId="LiveId" clId="{17FB10CB-4D7A-4D51-827D-8C222DDB014F}" dt="2026-03-12T02:54:56.657" v="47" actId="1076"/>
          <ac:spMkLst>
            <pc:docMk/>
            <pc:sldMk cId="0" sldId="263"/>
            <ac:spMk id="13" creationId="{00000000-0000-0000-0000-000000000000}"/>
          </ac:spMkLst>
        </pc:spChg>
        <pc:spChg chg="mod">
          <ac:chgData name="久司 今村" userId="1c5d66dd010fbc96" providerId="LiveId" clId="{17FB10CB-4D7A-4D51-827D-8C222DDB014F}" dt="2026-03-12T02:55:00.926" v="48" actId="1076"/>
          <ac:spMkLst>
            <pc:docMk/>
            <pc:sldMk cId="0" sldId="263"/>
            <ac:spMk id="14" creationId="{00000000-0000-0000-0000-000000000000}"/>
          </ac:spMkLst>
        </pc:spChg>
      </pc:sldChg>
      <pc:sldChg chg="modSp mod">
        <pc:chgData name="久司 今村" userId="1c5d66dd010fbc96" providerId="LiveId" clId="{17FB10CB-4D7A-4D51-827D-8C222DDB014F}" dt="2026-03-12T02:55:57.030" v="56" actId="20577"/>
        <pc:sldMkLst>
          <pc:docMk/>
          <pc:sldMk cId="0" sldId="266"/>
        </pc:sldMkLst>
        <pc:spChg chg="mod">
          <ac:chgData name="久司 今村" userId="1c5d66dd010fbc96" providerId="LiveId" clId="{17FB10CB-4D7A-4D51-827D-8C222DDB014F}" dt="2026-03-12T02:55:57.030" v="56" actId="20577"/>
          <ac:spMkLst>
            <pc:docMk/>
            <pc:sldMk cId="0" sldId="266"/>
            <ac:spMk id="8" creationId="{00000000-0000-0000-0000-000000000000}"/>
          </ac:spMkLst>
        </pc:spChg>
      </pc:sldChg>
      <pc:sldChg chg="modSp mod">
        <pc:chgData name="久司 今村" userId="1c5d66dd010fbc96" providerId="LiveId" clId="{17FB10CB-4D7A-4D51-827D-8C222DDB014F}" dt="2026-03-12T02:56:12.009" v="57" actId="14100"/>
        <pc:sldMkLst>
          <pc:docMk/>
          <pc:sldMk cId="0" sldId="268"/>
        </pc:sldMkLst>
        <pc:spChg chg="mod">
          <ac:chgData name="久司 今村" userId="1c5d66dd010fbc96" providerId="LiveId" clId="{17FB10CB-4D7A-4D51-827D-8C222DDB014F}" dt="2026-03-12T02:56:12.009" v="57" actId="14100"/>
          <ac:spMkLst>
            <pc:docMk/>
            <pc:sldMk cId="0" sldId="268"/>
            <ac:spMk id="14" creationId="{00000000-0000-0000-0000-000000000000}"/>
          </ac:spMkLst>
        </pc:spChg>
      </pc:sldChg>
      <pc:sldChg chg="modSp mod">
        <pc:chgData name="久司 今村" userId="1c5d66dd010fbc96" providerId="LiveId" clId="{17FB10CB-4D7A-4D51-827D-8C222DDB014F}" dt="2026-03-12T03:50:51.293" v="82" actId="14100"/>
        <pc:sldMkLst>
          <pc:docMk/>
          <pc:sldMk cId="0" sldId="271"/>
        </pc:sldMkLst>
        <pc:spChg chg="mod">
          <ac:chgData name="久司 今村" userId="1c5d66dd010fbc96" providerId="LiveId" clId="{17FB10CB-4D7A-4D51-827D-8C222DDB014F}" dt="2026-03-12T03:50:51.293" v="82" actId="14100"/>
          <ac:spMkLst>
            <pc:docMk/>
            <pc:sldMk cId="0" sldId="271"/>
            <ac:spMk id="12" creationId="{00000000-0000-0000-0000-000000000000}"/>
          </ac:spMkLst>
        </pc:spChg>
      </pc:sldChg>
      <pc:sldChg chg="modSp mod">
        <pc:chgData name="久司 今村" userId="1c5d66dd010fbc96" providerId="LiveId" clId="{17FB10CB-4D7A-4D51-827D-8C222DDB014F}" dt="2026-03-12T02:57:27.648" v="63" actId="14100"/>
        <pc:sldMkLst>
          <pc:docMk/>
          <pc:sldMk cId="0" sldId="272"/>
        </pc:sldMkLst>
        <pc:spChg chg="mod">
          <ac:chgData name="久司 今村" userId="1c5d66dd010fbc96" providerId="LiveId" clId="{17FB10CB-4D7A-4D51-827D-8C222DDB014F}" dt="2026-03-12T02:57:03.562" v="60" actId="14100"/>
          <ac:spMkLst>
            <pc:docMk/>
            <pc:sldMk cId="0" sldId="272"/>
            <ac:spMk id="26" creationId="{00000000-0000-0000-0000-000000000000}"/>
          </ac:spMkLst>
        </pc:spChg>
        <pc:spChg chg="mod">
          <ac:chgData name="久司 今村" userId="1c5d66dd010fbc96" providerId="LiveId" clId="{17FB10CB-4D7A-4D51-827D-8C222DDB014F}" dt="2026-03-12T02:56:59.211" v="59" actId="14100"/>
          <ac:spMkLst>
            <pc:docMk/>
            <pc:sldMk cId="0" sldId="272"/>
            <ac:spMk id="27" creationId="{00000000-0000-0000-0000-000000000000}"/>
          </ac:spMkLst>
        </pc:spChg>
        <pc:spChg chg="mod">
          <ac:chgData name="久司 今村" userId="1c5d66dd010fbc96" providerId="LiveId" clId="{17FB10CB-4D7A-4D51-827D-8C222DDB014F}" dt="2026-03-12T02:57:27.648" v="63" actId="14100"/>
          <ac:spMkLst>
            <pc:docMk/>
            <pc:sldMk cId="0" sldId="272"/>
            <ac:spMk id="30" creationId="{00000000-0000-0000-0000-000000000000}"/>
          </ac:spMkLst>
        </pc:spChg>
      </pc:sldChg>
      <pc:sldChg chg="modSp mod">
        <pc:chgData name="久司 今村" userId="1c5d66dd010fbc96" providerId="LiveId" clId="{17FB10CB-4D7A-4D51-827D-8C222DDB014F}" dt="2026-03-12T02:49:21.726" v="25" actId="1076"/>
        <pc:sldMkLst>
          <pc:docMk/>
          <pc:sldMk cId="0" sldId="274"/>
        </pc:sldMkLst>
        <pc:spChg chg="mod">
          <ac:chgData name="久司 今村" userId="1c5d66dd010fbc96" providerId="LiveId" clId="{17FB10CB-4D7A-4D51-827D-8C222DDB014F}" dt="2026-03-12T02:49:21.726" v="25" actId="1076"/>
          <ac:spMkLst>
            <pc:docMk/>
            <pc:sldMk cId="0" sldId="274"/>
            <ac:spMk id="7" creationId="{00000000-0000-0000-0000-000000000000}"/>
          </ac:spMkLst>
        </pc:spChg>
        <pc:spChg chg="mod">
          <ac:chgData name="久司 今村" userId="1c5d66dd010fbc96" providerId="LiveId" clId="{17FB10CB-4D7A-4D51-827D-8C222DDB014F}" dt="2026-03-12T02:46:24.010" v="4" actId="14100"/>
          <ac:spMkLst>
            <pc:docMk/>
            <pc:sldMk cId="0" sldId="274"/>
            <ac:spMk id="9" creationId="{00000000-0000-0000-0000-000000000000}"/>
          </ac:spMkLst>
        </pc:spChg>
        <pc:spChg chg="mod">
          <ac:chgData name="久司 今村" userId="1c5d66dd010fbc96" providerId="LiveId" clId="{17FB10CB-4D7A-4D51-827D-8C222DDB014F}" dt="2026-03-12T02:46:31.324" v="5" actId="14100"/>
          <ac:spMkLst>
            <pc:docMk/>
            <pc:sldMk cId="0" sldId="274"/>
            <ac:spMk id="10" creationId="{00000000-0000-0000-0000-000000000000}"/>
          </ac:spMkLst>
        </pc:spChg>
        <pc:spChg chg="mod">
          <ac:chgData name="久司 今村" userId="1c5d66dd010fbc96" providerId="LiveId" clId="{17FB10CB-4D7A-4D51-827D-8C222DDB014F}" dt="2026-03-12T02:49:14.808" v="24" actId="1076"/>
          <ac:spMkLst>
            <pc:docMk/>
            <pc:sldMk cId="0" sldId="274"/>
            <ac:spMk id="11" creationId="{00000000-0000-0000-0000-000000000000}"/>
          </ac:spMkLst>
        </pc:spChg>
        <pc:spChg chg="mod">
          <ac:chgData name="久司 今村" userId="1c5d66dd010fbc96" providerId="LiveId" clId="{17FB10CB-4D7A-4D51-827D-8C222DDB014F}" dt="2026-03-12T02:48:35.474" v="18" actId="14100"/>
          <ac:spMkLst>
            <pc:docMk/>
            <pc:sldMk cId="0" sldId="274"/>
            <ac:spMk id="13" creationId="{00000000-0000-0000-0000-000000000000}"/>
          </ac:spMkLst>
        </pc:spChg>
        <pc:spChg chg="mod">
          <ac:chgData name="久司 今村" userId="1c5d66dd010fbc96" providerId="LiveId" clId="{17FB10CB-4D7A-4D51-827D-8C222DDB014F}" dt="2026-03-12T02:48:18.740" v="16" actId="20577"/>
          <ac:spMkLst>
            <pc:docMk/>
            <pc:sldMk cId="0" sldId="274"/>
            <ac:spMk id="15" creationId="{00000000-0000-0000-0000-000000000000}"/>
          </ac:spMkLst>
        </pc:spChg>
        <pc:spChg chg="mod">
          <ac:chgData name="久司 今村" userId="1c5d66dd010fbc96" providerId="LiveId" clId="{17FB10CB-4D7A-4D51-827D-8C222DDB014F}" dt="2026-03-12T02:49:03.334" v="23" actId="1076"/>
          <ac:spMkLst>
            <pc:docMk/>
            <pc:sldMk cId="0" sldId="274"/>
            <ac:spMk id="21" creationId="{00000000-0000-0000-0000-000000000000}"/>
          </ac:spMkLst>
        </pc:spChg>
        <pc:picChg chg="mod">
          <ac:chgData name="久司 今村" userId="1c5d66dd010fbc96" providerId="LiveId" clId="{17FB10CB-4D7A-4D51-827D-8C222DDB014F}" dt="2026-03-12T02:48:58.281" v="22" actId="14100"/>
          <ac:picMkLst>
            <pc:docMk/>
            <pc:sldMk cId="0" sldId="274"/>
            <ac:picMk id="20" creationId="{00000000-0000-0000-0000-000000000000}"/>
          </ac:picMkLst>
        </pc:picChg>
      </pc:sldChg>
      <pc:sldChg chg="modSp mod">
        <pc:chgData name="久司 今村" userId="1c5d66dd010fbc96" providerId="LiveId" clId="{17FB10CB-4D7A-4D51-827D-8C222DDB014F}" dt="2026-03-12T02:52:25.131" v="37" actId="14100"/>
        <pc:sldMkLst>
          <pc:docMk/>
          <pc:sldMk cId="0" sldId="275"/>
        </pc:sldMkLst>
        <pc:spChg chg="mod">
          <ac:chgData name="久司 今村" userId="1c5d66dd010fbc96" providerId="LiveId" clId="{17FB10CB-4D7A-4D51-827D-8C222DDB014F}" dt="2026-03-12T02:50:21.712" v="28" actId="14100"/>
          <ac:spMkLst>
            <pc:docMk/>
            <pc:sldMk cId="0" sldId="275"/>
            <ac:spMk id="6" creationId="{00000000-0000-0000-0000-000000000000}"/>
          </ac:spMkLst>
        </pc:spChg>
        <pc:spChg chg="mod">
          <ac:chgData name="久司 今村" userId="1c5d66dd010fbc96" providerId="LiveId" clId="{17FB10CB-4D7A-4D51-827D-8C222DDB014F}" dt="2026-03-12T02:50:13.959" v="27" actId="14100"/>
          <ac:spMkLst>
            <pc:docMk/>
            <pc:sldMk cId="0" sldId="275"/>
            <ac:spMk id="7" creationId="{00000000-0000-0000-0000-000000000000}"/>
          </ac:spMkLst>
        </pc:spChg>
        <pc:spChg chg="mod">
          <ac:chgData name="久司 今村" userId="1c5d66dd010fbc96" providerId="LiveId" clId="{17FB10CB-4D7A-4D51-827D-8C222DDB014F}" dt="2026-03-12T02:50:06.914" v="26" actId="1076"/>
          <ac:spMkLst>
            <pc:docMk/>
            <pc:sldMk cId="0" sldId="275"/>
            <ac:spMk id="9" creationId="{00000000-0000-0000-0000-000000000000}"/>
          </ac:spMkLst>
        </pc:spChg>
        <pc:spChg chg="mod">
          <ac:chgData name="久司 今村" userId="1c5d66dd010fbc96" providerId="LiveId" clId="{17FB10CB-4D7A-4D51-827D-8C222DDB014F}" dt="2026-03-12T02:52:25.131" v="37" actId="14100"/>
          <ac:spMkLst>
            <pc:docMk/>
            <pc:sldMk cId="0" sldId="275"/>
            <ac:spMk id="10" creationId="{00000000-0000-0000-0000-000000000000}"/>
          </ac:spMkLst>
        </pc:spChg>
        <pc:spChg chg="mod">
          <ac:chgData name="久司 今村" userId="1c5d66dd010fbc96" providerId="LiveId" clId="{17FB10CB-4D7A-4D51-827D-8C222DDB014F}" dt="2026-03-12T02:52:16.975" v="36" actId="14100"/>
          <ac:spMkLst>
            <pc:docMk/>
            <pc:sldMk cId="0" sldId="275"/>
            <ac:spMk id="11" creationId="{00000000-0000-0000-0000-000000000000}"/>
          </ac:spMkLst>
        </pc:spChg>
        <pc:spChg chg="mod">
          <ac:chgData name="久司 今村" userId="1c5d66dd010fbc96" providerId="LiveId" clId="{17FB10CB-4D7A-4D51-827D-8C222DDB014F}" dt="2026-03-12T02:51:27.629" v="33" actId="1076"/>
          <ac:spMkLst>
            <pc:docMk/>
            <pc:sldMk cId="0" sldId="275"/>
            <ac:spMk id="13" creationId="{00000000-0000-0000-0000-000000000000}"/>
          </ac:spMkLst>
        </pc:spChg>
      </pc:sldChg>
      <pc:sldChg chg="modSp mod">
        <pc:chgData name="久司 今村" userId="1c5d66dd010fbc96" providerId="LiveId" clId="{17FB10CB-4D7A-4D51-827D-8C222DDB014F}" dt="2026-03-12T02:58:21.862" v="73" actId="1076"/>
        <pc:sldMkLst>
          <pc:docMk/>
          <pc:sldMk cId="0" sldId="280"/>
        </pc:sldMkLst>
        <pc:spChg chg="mod">
          <ac:chgData name="久司 今村" userId="1c5d66dd010fbc96" providerId="LiveId" clId="{17FB10CB-4D7A-4D51-827D-8C222DDB014F}" dt="2026-03-12T02:58:06.360" v="66" actId="14100"/>
          <ac:spMkLst>
            <pc:docMk/>
            <pc:sldMk cId="0" sldId="280"/>
            <ac:spMk id="7" creationId="{00000000-0000-0000-0000-000000000000}"/>
          </ac:spMkLst>
        </pc:spChg>
        <pc:spChg chg="mod">
          <ac:chgData name="久司 今村" userId="1c5d66dd010fbc96" providerId="LiveId" clId="{17FB10CB-4D7A-4D51-827D-8C222DDB014F}" dt="2026-03-12T02:58:21.862" v="73" actId="1076"/>
          <ac:spMkLst>
            <pc:docMk/>
            <pc:sldMk cId="0" sldId="280"/>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13015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AA0"/>
          </a:solidFill>
          <a:ln/>
        </p:spPr>
        <p:txBody>
          <a:bodyPr/>
          <a:lstStyle/>
          <a:p>
            <a:endParaRPr lang="ja-JP" altLang="en-US"/>
          </a:p>
        </p:txBody>
      </p:sp>
      <p:sp>
        <p:nvSpPr>
          <p:cNvPr id="3" name="Text 1"/>
          <p:cNvSpPr/>
          <p:nvPr/>
        </p:nvSpPr>
        <p:spPr>
          <a:xfrm>
            <a:off x="731520" y="1097280"/>
            <a:ext cx="7680960" cy="1097280"/>
          </a:xfrm>
          <a:prstGeom prst="rect">
            <a:avLst/>
          </a:prstGeom>
          <a:noFill/>
          <a:ln/>
        </p:spPr>
        <p:txBody>
          <a:bodyPr wrap="square" rtlCol="0" anchor="ctr"/>
          <a:lstStyle/>
          <a:p>
            <a:pPr marL="0" indent="0" algn="ctr">
              <a:buNone/>
            </a:pPr>
            <a:r>
              <a:rPr lang="en-US" sz="4000" b="1" dirty="0">
                <a:solidFill>
                  <a:srgbClr val="FFFFFF"/>
                </a:solidFill>
                <a:latin typeface="游ゴシック" pitchFamily="34" charset="0"/>
                <a:ea typeface="游ゴシック" pitchFamily="34" charset="-122"/>
                <a:cs typeface="游ゴシック" pitchFamily="34" charset="-120"/>
              </a:rPr>
              <a:t>自己免疫疾患CAR-Tの全体像</a:t>
            </a:r>
            <a:endParaRPr lang="en-US" sz="4000" dirty="0"/>
          </a:p>
        </p:txBody>
      </p:sp>
      <p:sp>
        <p:nvSpPr>
          <p:cNvPr id="4" name="Text 2"/>
          <p:cNvSpPr/>
          <p:nvPr/>
        </p:nvSpPr>
        <p:spPr>
          <a:xfrm>
            <a:off x="731520" y="2286000"/>
            <a:ext cx="7680960" cy="548640"/>
          </a:xfrm>
          <a:prstGeom prst="rect">
            <a:avLst/>
          </a:prstGeom>
          <a:noFill/>
          <a:ln/>
        </p:spPr>
        <p:txBody>
          <a:bodyPr wrap="square" rtlCol="0" anchor="ctr"/>
          <a:lstStyle/>
          <a:p>
            <a:pPr marL="0" indent="0" algn="ctr">
              <a:buNone/>
            </a:pPr>
            <a:r>
              <a:rPr lang="en-US" sz="2000" dirty="0">
                <a:solidFill>
                  <a:srgbClr val="CADCFC"/>
                </a:solidFill>
                <a:latin typeface="游ゴシック" pitchFamily="34" charset="0"/>
                <a:ea typeface="游ゴシック" pitchFamily="34" charset="-122"/>
                <a:cs typeface="游ゴシック" pitchFamily="34" charset="-120"/>
              </a:rPr>
              <a:t>神経内科医のための、できるだけ分かりやすい整理</a:t>
            </a:r>
            <a:endParaRPr lang="en-US" sz="2000" dirty="0"/>
          </a:p>
        </p:txBody>
      </p:sp>
      <p:sp>
        <p:nvSpPr>
          <p:cNvPr id="5" name="Shape 3"/>
          <p:cNvSpPr/>
          <p:nvPr/>
        </p:nvSpPr>
        <p:spPr>
          <a:xfrm>
            <a:off x="2743200" y="3291840"/>
            <a:ext cx="3657600" cy="27432"/>
          </a:xfrm>
          <a:prstGeom prst="rect">
            <a:avLst/>
          </a:prstGeom>
          <a:solidFill>
            <a:srgbClr val="2C5AA0"/>
          </a:solidFill>
          <a:ln/>
        </p:spPr>
        <p:txBody>
          <a:bodyPr/>
          <a:lstStyle/>
          <a:p>
            <a:endParaRPr lang="ja-JP" altLang="en-US"/>
          </a:p>
        </p:txBody>
      </p:sp>
      <p:sp>
        <p:nvSpPr>
          <p:cNvPr id="6" name="Text 4"/>
          <p:cNvSpPr/>
          <p:nvPr/>
        </p:nvSpPr>
        <p:spPr>
          <a:xfrm>
            <a:off x="731520" y="3566160"/>
            <a:ext cx="7680960" cy="457200"/>
          </a:xfrm>
          <a:prstGeom prst="rect">
            <a:avLst/>
          </a:prstGeom>
          <a:noFill/>
          <a:ln/>
        </p:spPr>
        <p:txBody>
          <a:bodyPr wrap="square" rtlCol="0" anchor="ctr"/>
          <a:lstStyle/>
          <a:p>
            <a:pPr marL="0" indent="0" algn="ctr">
              <a:buNone/>
            </a:pPr>
            <a:r>
              <a:rPr lang="en-US" sz="1800" dirty="0">
                <a:solidFill>
                  <a:srgbClr val="8899BB"/>
                </a:solidFill>
                <a:latin typeface="游ゴシック" pitchFamily="34" charset="0"/>
                <a:ea typeface="游ゴシック" pitchFamily="34" charset="-122"/>
                <a:cs typeface="游ゴシック" pitchFamily="34" charset="-120"/>
              </a:rPr>
              <a:t>医知創造ラボ</a:t>
            </a:r>
            <a:endParaRPr lang="en-US" sz="1800" dirty="0"/>
          </a:p>
        </p:txBody>
      </p:sp>
      <p:sp>
        <p:nvSpPr>
          <p:cNvPr id="7" name="Text 5"/>
          <p:cNvSpPr/>
          <p:nvPr/>
        </p:nvSpPr>
        <p:spPr>
          <a:xfrm>
            <a:off x="731520" y="4023360"/>
            <a:ext cx="7680960" cy="365760"/>
          </a:xfrm>
          <a:prstGeom prst="rect">
            <a:avLst/>
          </a:prstGeom>
          <a:noFill/>
          <a:ln/>
        </p:spPr>
        <p:txBody>
          <a:bodyPr wrap="square" rtlCol="0" anchor="ctr"/>
          <a:lstStyle/>
          <a:p>
            <a:pPr marL="0" indent="0" algn="ctr">
              <a:buNone/>
            </a:pPr>
            <a:r>
              <a:rPr lang="en-US" sz="1400" dirty="0">
                <a:solidFill>
                  <a:srgbClr val="667799"/>
                </a:solidFill>
                <a:latin typeface="游ゴシック" pitchFamily="34" charset="0"/>
                <a:ea typeface="游ゴシック" pitchFamily="34" charset="-122"/>
                <a:cs typeface="游ゴシック" pitchFamily="34" charset="-120"/>
              </a:rPr>
              <a:t>YouTube公開用プレゼンテーション</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イントロダクション</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3000" b="1" dirty="0">
                <a:solidFill>
                  <a:srgbClr val="1B3A5C"/>
                </a:solidFill>
                <a:latin typeface="游ゴシック" pitchFamily="34" charset="0"/>
                <a:ea typeface="游ゴシック" pitchFamily="34" charset="-122"/>
                <a:cs typeface="游ゴシック" pitchFamily="34" charset="-120"/>
              </a:rPr>
              <a:t>CAR-T療法とは何か？</a:t>
            </a:r>
            <a:endParaRPr lang="en-US" sz="3000" dirty="0"/>
          </a:p>
        </p:txBody>
      </p:sp>
      <p:sp>
        <p:nvSpPr>
          <p:cNvPr id="5" name="Shape 3"/>
          <p:cNvSpPr/>
          <p:nvPr/>
        </p:nvSpPr>
        <p:spPr>
          <a:xfrm>
            <a:off x="457200" y="1371600"/>
            <a:ext cx="384048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457200" y="1371600"/>
            <a:ext cx="54864" cy="3200400"/>
          </a:xfrm>
          <a:prstGeom prst="rect">
            <a:avLst/>
          </a:prstGeom>
          <a:solidFill>
            <a:srgbClr val="666666"/>
          </a:solidFill>
          <a:ln/>
        </p:spPr>
        <p:txBody>
          <a:bodyPr/>
          <a:lstStyle/>
          <a:p>
            <a:endParaRPr lang="ja-JP" altLang="en-US"/>
          </a:p>
        </p:txBody>
      </p:sp>
      <p:sp>
        <p:nvSpPr>
          <p:cNvPr id="7" name="Text 5"/>
          <p:cNvSpPr/>
          <p:nvPr/>
        </p:nvSpPr>
        <p:spPr>
          <a:xfrm>
            <a:off x="640080" y="1508760"/>
            <a:ext cx="3474720" cy="365760"/>
          </a:xfrm>
          <a:prstGeom prst="rect">
            <a:avLst/>
          </a:prstGeom>
          <a:noFill/>
          <a:ln/>
        </p:spPr>
        <p:txBody>
          <a:bodyPr wrap="square" rtlCol="0" anchor="ctr"/>
          <a:lstStyle/>
          <a:p>
            <a:pPr marL="0" indent="0">
              <a:buNone/>
            </a:pPr>
            <a:r>
              <a:rPr lang="en-US" sz="1800" b="1" dirty="0">
                <a:solidFill>
                  <a:srgbClr val="1B3A5C"/>
                </a:solidFill>
                <a:latin typeface="游ゴシック" pitchFamily="34" charset="0"/>
                <a:ea typeface="游ゴシック" pitchFamily="34" charset="-122"/>
                <a:cs typeface="游ゴシック" pitchFamily="34" charset="-120"/>
              </a:rPr>
              <a:t>従来の自己免疫治療</a:t>
            </a:r>
            <a:endParaRPr lang="en-US" sz="1800" dirty="0"/>
          </a:p>
        </p:txBody>
      </p:sp>
      <p:sp>
        <p:nvSpPr>
          <p:cNvPr id="8" name="Text 6"/>
          <p:cNvSpPr/>
          <p:nvPr/>
        </p:nvSpPr>
        <p:spPr>
          <a:xfrm>
            <a:off x="640080" y="2011680"/>
            <a:ext cx="3474720" cy="2286000"/>
          </a:xfrm>
          <a:prstGeom prst="rect">
            <a:avLst/>
          </a:prstGeom>
          <a:noFill/>
          <a:ln/>
        </p:spPr>
        <p:txBody>
          <a:bodyPr wrap="square" rtlCol="0" anchor="ctr"/>
          <a:lstStyle/>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免疫を「弱め続ける」治療</a:t>
            </a:r>
            <a:endParaRPr lang="en-US" sz="1600" dirty="0"/>
          </a:p>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ステロイド・免疫抑制薬の長期使用</a:t>
            </a:r>
            <a:endParaRPr lang="en-US" sz="1600" dirty="0"/>
          </a:p>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抗体の「出荷量」を減らす</a:t>
            </a:r>
            <a:endParaRPr lang="en-US" sz="1600" dirty="0"/>
          </a:p>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再燃のリスクが常に残る</a:t>
            </a:r>
            <a:endParaRPr lang="en-US" sz="1600" dirty="0"/>
          </a:p>
        </p:txBody>
      </p:sp>
      <p:sp>
        <p:nvSpPr>
          <p:cNvPr id="9" name="Shape 7"/>
          <p:cNvSpPr/>
          <p:nvPr/>
        </p:nvSpPr>
        <p:spPr>
          <a:xfrm>
            <a:off x="4846320" y="1371600"/>
            <a:ext cx="384048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4846320" y="1371600"/>
            <a:ext cx="54864" cy="3200400"/>
          </a:xfrm>
          <a:prstGeom prst="rect">
            <a:avLst/>
          </a:prstGeom>
          <a:solidFill>
            <a:srgbClr val="2C5AA0"/>
          </a:solidFill>
          <a:ln/>
        </p:spPr>
        <p:txBody>
          <a:bodyPr/>
          <a:lstStyle/>
          <a:p>
            <a:endParaRPr lang="ja-JP" altLang="en-US"/>
          </a:p>
        </p:txBody>
      </p:sp>
      <p:sp>
        <p:nvSpPr>
          <p:cNvPr id="11" name="Text 9"/>
          <p:cNvSpPr/>
          <p:nvPr/>
        </p:nvSpPr>
        <p:spPr>
          <a:xfrm>
            <a:off x="5029200" y="1508760"/>
            <a:ext cx="3474720" cy="365760"/>
          </a:xfrm>
          <a:prstGeom prst="rect">
            <a:avLst/>
          </a:prstGeom>
          <a:noFill/>
          <a:ln/>
        </p:spPr>
        <p:txBody>
          <a:bodyPr wrap="square" rtlCol="0" anchor="ctr"/>
          <a:lstStyle/>
          <a:p>
            <a:pPr marL="0" indent="0">
              <a:buNone/>
            </a:pPr>
            <a:r>
              <a:rPr lang="en-US" sz="1800" b="1" dirty="0">
                <a:solidFill>
                  <a:srgbClr val="2C5AA0"/>
                </a:solidFill>
                <a:latin typeface="游ゴシック" pitchFamily="34" charset="0"/>
                <a:ea typeface="游ゴシック" pitchFamily="34" charset="-122"/>
                <a:cs typeface="游ゴシック" pitchFamily="34" charset="-120"/>
              </a:rPr>
              <a:t>CAR-T療法</a:t>
            </a:r>
            <a:endParaRPr lang="en-US" sz="1800" dirty="0"/>
          </a:p>
        </p:txBody>
      </p:sp>
      <p:sp>
        <p:nvSpPr>
          <p:cNvPr id="12" name="Text 10"/>
          <p:cNvSpPr/>
          <p:nvPr/>
        </p:nvSpPr>
        <p:spPr>
          <a:xfrm>
            <a:off x="5029200" y="2011680"/>
            <a:ext cx="3474720" cy="2286000"/>
          </a:xfrm>
          <a:prstGeom prst="rect">
            <a:avLst/>
          </a:prstGeom>
          <a:noFill/>
          <a:ln/>
        </p:spPr>
        <p:txBody>
          <a:bodyPr wrap="square" rtlCol="0" anchor="ctr"/>
          <a:lstStyle/>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病気を作るB細胞系を「深く掃除」</a:t>
            </a:r>
            <a:endParaRPr lang="en-US" sz="1600" dirty="0"/>
          </a:p>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免疫の設定を「組み直す」</a:t>
            </a:r>
            <a:endParaRPr lang="en-US" sz="1600" dirty="0"/>
          </a:p>
          <a:p>
            <a:pPr marL="342900" indent="-342900">
              <a:spcAft>
                <a:spcPts val="8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設計部門・工場そのものを壊す</a:t>
            </a:r>
            <a:endParaRPr lang="en-US" sz="1600" dirty="0"/>
          </a:p>
          <a:p>
            <a:pPr marL="342900" indent="-342900">
              <a:spcAft>
                <a:spcPts val="800"/>
              </a:spcAft>
              <a:buSzPct val="100000"/>
              <a:buChar char="•"/>
            </a:pPr>
            <a:r>
              <a:rPr lang="en-US" sz="1600" b="1" dirty="0">
                <a:solidFill>
                  <a:srgbClr val="2C5AA0"/>
                </a:solidFill>
                <a:latin typeface="游ゴシック" pitchFamily="34" charset="0"/>
                <a:ea typeface="游ゴシック" pitchFamily="34" charset="-122"/>
                <a:cs typeface="游ゴシック" pitchFamily="34" charset="-120"/>
              </a:rPr>
              <a:t>免疫の「誤学習」をリセット</a:t>
            </a:r>
            <a:endParaRPr lang="en-US" sz="1600" dirty="0"/>
          </a:p>
        </p:txBody>
      </p:sp>
      <p:sp>
        <p:nvSpPr>
          <p:cNvPr id="13" name="Text 11"/>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 / 42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全体構成</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3000" b="1" dirty="0">
                <a:solidFill>
                  <a:srgbClr val="1B3A5C"/>
                </a:solidFill>
                <a:latin typeface="游ゴシック" pitchFamily="34" charset="0"/>
                <a:ea typeface="游ゴシック" pitchFamily="34" charset="-122"/>
                <a:cs typeface="游ゴシック" pitchFamily="34" charset="-120"/>
              </a:rPr>
              <a:t>本日の内容</a:t>
            </a:r>
            <a:endParaRPr lang="en-US" sz="3000" dirty="0"/>
          </a:p>
        </p:txBody>
      </p:sp>
      <p:sp>
        <p:nvSpPr>
          <p:cNvPr id="5" name="Shape 3"/>
          <p:cNvSpPr/>
          <p:nvPr/>
        </p:nvSpPr>
        <p:spPr>
          <a:xfrm>
            <a:off x="548640" y="1280160"/>
            <a:ext cx="320040" cy="320040"/>
          </a:xfrm>
          <a:prstGeom prst="ellipse">
            <a:avLst/>
          </a:prstGeom>
          <a:solidFill>
            <a:srgbClr val="2C5AA0"/>
          </a:solidFill>
          <a:ln/>
        </p:spPr>
        <p:txBody>
          <a:bodyPr/>
          <a:lstStyle/>
          <a:p>
            <a:endParaRPr lang="ja-JP" altLang="en-US"/>
          </a:p>
        </p:txBody>
      </p:sp>
      <p:sp>
        <p:nvSpPr>
          <p:cNvPr id="6" name="Text 4"/>
          <p:cNvSpPr/>
          <p:nvPr/>
        </p:nvSpPr>
        <p:spPr>
          <a:xfrm>
            <a:off x="548640" y="128016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7" name="Text 5"/>
          <p:cNvSpPr/>
          <p:nvPr/>
        </p:nvSpPr>
        <p:spPr>
          <a:xfrm>
            <a:off x="1005840" y="1280160"/>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まず結論</a:t>
            </a:r>
            <a:endParaRPr lang="en-US" sz="1600" dirty="0"/>
          </a:p>
        </p:txBody>
      </p:sp>
      <p:sp>
        <p:nvSpPr>
          <p:cNvPr id="8" name="Text 6"/>
          <p:cNvSpPr/>
          <p:nvPr/>
        </p:nvSpPr>
        <p:spPr>
          <a:xfrm>
            <a:off x="4754880" y="1280160"/>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3つのポイント</a:t>
            </a:r>
            <a:endParaRPr lang="en-US" sz="1400" dirty="0"/>
          </a:p>
        </p:txBody>
      </p:sp>
      <p:sp>
        <p:nvSpPr>
          <p:cNvPr id="9" name="Shape 7"/>
          <p:cNvSpPr/>
          <p:nvPr/>
        </p:nvSpPr>
        <p:spPr>
          <a:xfrm>
            <a:off x="548640" y="1682496"/>
            <a:ext cx="320040" cy="320040"/>
          </a:xfrm>
          <a:prstGeom prst="ellipse">
            <a:avLst/>
          </a:prstGeom>
          <a:solidFill>
            <a:srgbClr val="1B3A5C"/>
          </a:solidFill>
          <a:ln/>
        </p:spPr>
        <p:txBody>
          <a:bodyPr/>
          <a:lstStyle/>
          <a:p>
            <a:endParaRPr lang="ja-JP" altLang="en-US"/>
          </a:p>
        </p:txBody>
      </p:sp>
      <p:sp>
        <p:nvSpPr>
          <p:cNvPr id="10" name="Text 8"/>
          <p:cNvSpPr/>
          <p:nvPr/>
        </p:nvSpPr>
        <p:spPr>
          <a:xfrm>
            <a:off x="548640" y="1682496"/>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1" name="Text 9"/>
          <p:cNvSpPr/>
          <p:nvPr/>
        </p:nvSpPr>
        <p:spPr>
          <a:xfrm>
            <a:off x="1005840" y="1682496"/>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なぜCAR-Tが自己免疫に効くのか</a:t>
            </a:r>
            <a:endParaRPr lang="en-US" sz="1600" dirty="0"/>
          </a:p>
        </p:txBody>
      </p:sp>
      <p:sp>
        <p:nvSpPr>
          <p:cNvPr id="12" name="Text 10"/>
          <p:cNvSpPr/>
          <p:nvPr/>
        </p:nvSpPr>
        <p:spPr>
          <a:xfrm>
            <a:off x="4754880" y="1682496"/>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機序と臨床データ</a:t>
            </a:r>
            <a:endParaRPr lang="en-US" sz="1400" dirty="0"/>
          </a:p>
        </p:txBody>
      </p:sp>
      <p:sp>
        <p:nvSpPr>
          <p:cNvPr id="13" name="Shape 11"/>
          <p:cNvSpPr/>
          <p:nvPr/>
        </p:nvSpPr>
        <p:spPr>
          <a:xfrm>
            <a:off x="548640" y="2084832"/>
            <a:ext cx="320040" cy="320040"/>
          </a:xfrm>
          <a:prstGeom prst="ellipse">
            <a:avLst/>
          </a:prstGeom>
          <a:solidFill>
            <a:srgbClr val="1B3A5C"/>
          </a:solidFill>
          <a:ln/>
        </p:spPr>
        <p:txBody>
          <a:bodyPr/>
          <a:lstStyle/>
          <a:p>
            <a:endParaRPr lang="ja-JP" altLang="en-US"/>
          </a:p>
        </p:txBody>
      </p:sp>
      <p:sp>
        <p:nvSpPr>
          <p:cNvPr id="14" name="Text 12"/>
          <p:cNvSpPr/>
          <p:nvPr/>
        </p:nvSpPr>
        <p:spPr>
          <a:xfrm>
            <a:off x="548640" y="2084832"/>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5" name="Text 13"/>
          <p:cNvSpPr/>
          <p:nvPr/>
        </p:nvSpPr>
        <p:spPr>
          <a:xfrm>
            <a:off x="1005840" y="2084832"/>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標的の違いを整理する</a:t>
            </a:r>
            <a:endParaRPr lang="en-US" sz="1600" dirty="0"/>
          </a:p>
        </p:txBody>
      </p:sp>
      <p:sp>
        <p:nvSpPr>
          <p:cNvPr id="16" name="Text 14"/>
          <p:cNvSpPr/>
          <p:nvPr/>
        </p:nvSpPr>
        <p:spPr>
          <a:xfrm>
            <a:off x="4754880" y="2084832"/>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CD19 / BCMA / CAAR-T</a:t>
            </a:r>
            <a:endParaRPr lang="en-US" sz="1400" dirty="0"/>
          </a:p>
        </p:txBody>
      </p:sp>
      <p:sp>
        <p:nvSpPr>
          <p:cNvPr id="17" name="Shape 15"/>
          <p:cNvSpPr/>
          <p:nvPr/>
        </p:nvSpPr>
        <p:spPr>
          <a:xfrm>
            <a:off x="548640" y="2487168"/>
            <a:ext cx="320040" cy="320040"/>
          </a:xfrm>
          <a:prstGeom prst="ellipse">
            <a:avLst/>
          </a:prstGeom>
          <a:solidFill>
            <a:srgbClr val="1B3A5C"/>
          </a:solidFill>
          <a:ln/>
        </p:spPr>
        <p:txBody>
          <a:bodyPr/>
          <a:lstStyle/>
          <a:p>
            <a:endParaRPr lang="ja-JP" altLang="en-US"/>
          </a:p>
        </p:txBody>
      </p:sp>
      <p:sp>
        <p:nvSpPr>
          <p:cNvPr id="18" name="Text 16"/>
          <p:cNvSpPr/>
          <p:nvPr/>
        </p:nvSpPr>
        <p:spPr>
          <a:xfrm>
            <a:off x="548640" y="2487168"/>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19" name="Text 17"/>
          <p:cNvSpPr/>
          <p:nvPr/>
        </p:nvSpPr>
        <p:spPr>
          <a:xfrm>
            <a:off x="1005840" y="2487168"/>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rituximabとの違い</a:t>
            </a:r>
            <a:endParaRPr lang="en-US" sz="1600" dirty="0"/>
          </a:p>
        </p:txBody>
      </p:sp>
      <p:sp>
        <p:nvSpPr>
          <p:cNvPr id="20" name="Text 18"/>
          <p:cNvSpPr/>
          <p:nvPr/>
        </p:nvSpPr>
        <p:spPr>
          <a:xfrm>
            <a:off x="4754880" y="2487168"/>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組織レベルの深部除去</a:t>
            </a:r>
            <a:endParaRPr lang="en-US" sz="1400" dirty="0"/>
          </a:p>
        </p:txBody>
      </p:sp>
      <p:sp>
        <p:nvSpPr>
          <p:cNvPr id="21" name="Shape 19"/>
          <p:cNvSpPr/>
          <p:nvPr/>
        </p:nvSpPr>
        <p:spPr>
          <a:xfrm>
            <a:off x="548640" y="2889504"/>
            <a:ext cx="320040" cy="320040"/>
          </a:xfrm>
          <a:prstGeom prst="ellipse">
            <a:avLst/>
          </a:prstGeom>
          <a:solidFill>
            <a:srgbClr val="1B3A5C"/>
          </a:solidFill>
          <a:ln/>
        </p:spPr>
        <p:txBody>
          <a:bodyPr/>
          <a:lstStyle/>
          <a:p>
            <a:endParaRPr lang="ja-JP" altLang="en-US"/>
          </a:p>
        </p:txBody>
      </p:sp>
      <p:sp>
        <p:nvSpPr>
          <p:cNvPr id="22" name="Text 20"/>
          <p:cNvSpPr/>
          <p:nvPr/>
        </p:nvSpPr>
        <p:spPr>
          <a:xfrm>
            <a:off x="548640" y="2889504"/>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3" name="Text 21"/>
          <p:cNvSpPr/>
          <p:nvPr/>
        </p:nvSpPr>
        <p:spPr>
          <a:xfrm>
            <a:off x="1005840" y="2889504"/>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神経内科の各論</a:t>
            </a:r>
            <a:endParaRPr lang="en-US" sz="1600" dirty="0"/>
          </a:p>
        </p:txBody>
      </p:sp>
      <p:sp>
        <p:nvSpPr>
          <p:cNvPr id="24" name="Text 22"/>
          <p:cNvSpPr/>
          <p:nvPr/>
        </p:nvSpPr>
        <p:spPr>
          <a:xfrm>
            <a:off x="4754880" y="2889504"/>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MG・NMOSD・MS・CIDP・その他</a:t>
            </a:r>
            <a:endParaRPr lang="en-US" sz="1400" dirty="0"/>
          </a:p>
        </p:txBody>
      </p:sp>
      <p:sp>
        <p:nvSpPr>
          <p:cNvPr id="25" name="Shape 23"/>
          <p:cNvSpPr/>
          <p:nvPr/>
        </p:nvSpPr>
        <p:spPr>
          <a:xfrm>
            <a:off x="548640" y="3291840"/>
            <a:ext cx="320040" cy="320040"/>
          </a:xfrm>
          <a:prstGeom prst="ellipse">
            <a:avLst/>
          </a:prstGeom>
          <a:solidFill>
            <a:srgbClr val="1B3A5C"/>
          </a:solidFill>
          <a:ln/>
        </p:spPr>
        <p:txBody>
          <a:bodyPr/>
          <a:lstStyle/>
          <a:p>
            <a:endParaRPr lang="ja-JP" altLang="en-US"/>
          </a:p>
        </p:txBody>
      </p:sp>
      <p:sp>
        <p:nvSpPr>
          <p:cNvPr id="26" name="Text 24"/>
          <p:cNvSpPr/>
          <p:nvPr/>
        </p:nvSpPr>
        <p:spPr>
          <a:xfrm>
            <a:off x="548640" y="32918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27" name="Text 25"/>
          <p:cNvSpPr/>
          <p:nvPr/>
        </p:nvSpPr>
        <p:spPr>
          <a:xfrm>
            <a:off x="1005840" y="3291840"/>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4つの臨床的問い</a:t>
            </a:r>
            <a:endParaRPr lang="en-US" sz="1600" dirty="0"/>
          </a:p>
        </p:txBody>
      </p:sp>
      <p:sp>
        <p:nvSpPr>
          <p:cNvPr id="28" name="Text 26"/>
          <p:cNvSpPr/>
          <p:nvPr/>
        </p:nvSpPr>
        <p:spPr>
          <a:xfrm>
            <a:off x="4754880" y="3291840"/>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実践的な判断枠組み</a:t>
            </a:r>
            <a:endParaRPr lang="en-US" sz="1400" dirty="0"/>
          </a:p>
        </p:txBody>
      </p:sp>
      <p:sp>
        <p:nvSpPr>
          <p:cNvPr id="29" name="Shape 27"/>
          <p:cNvSpPr/>
          <p:nvPr/>
        </p:nvSpPr>
        <p:spPr>
          <a:xfrm>
            <a:off x="548640" y="3694176"/>
            <a:ext cx="320040" cy="320040"/>
          </a:xfrm>
          <a:prstGeom prst="ellipse">
            <a:avLst/>
          </a:prstGeom>
          <a:solidFill>
            <a:srgbClr val="1B3A5C"/>
          </a:solidFill>
          <a:ln/>
        </p:spPr>
        <p:txBody>
          <a:bodyPr/>
          <a:lstStyle/>
          <a:p>
            <a:endParaRPr lang="ja-JP" altLang="en-US"/>
          </a:p>
        </p:txBody>
      </p:sp>
      <p:sp>
        <p:nvSpPr>
          <p:cNvPr id="30" name="Text 28"/>
          <p:cNvSpPr/>
          <p:nvPr/>
        </p:nvSpPr>
        <p:spPr>
          <a:xfrm>
            <a:off x="548640" y="3694176"/>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7</a:t>
            </a:r>
            <a:endParaRPr lang="en-US" sz="1400" dirty="0"/>
          </a:p>
        </p:txBody>
      </p:sp>
      <p:sp>
        <p:nvSpPr>
          <p:cNvPr id="31" name="Text 29"/>
          <p:cNvSpPr/>
          <p:nvPr/>
        </p:nvSpPr>
        <p:spPr>
          <a:xfrm>
            <a:off x="1005840" y="3694176"/>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自己免疫CAR-T特有の副作用</a:t>
            </a:r>
            <a:endParaRPr lang="en-US" sz="1600" dirty="0"/>
          </a:p>
        </p:txBody>
      </p:sp>
      <p:sp>
        <p:nvSpPr>
          <p:cNvPr id="32" name="Text 30"/>
          <p:cNvSpPr/>
          <p:nvPr/>
        </p:nvSpPr>
        <p:spPr>
          <a:xfrm>
            <a:off x="4754880" y="3694176"/>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LICATS</a:t>
            </a:r>
            <a:endParaRPr lang="en-US" sz="1400" dirty="0"/>
          </a:p>
        </p:txBody>
      </p:sp>
      <p:sp>
        <p:nvSpPr>
          <p:cNvPr id="33" name="Shape 31"/>
          <p:cNvSpPr/>
          <p:nvPr/>
        </p:nvSpPr>
        <p:spPr>
          <a:xfrm>
            <a:off x="548640" y="4096512"/>
            <a:ext cx="320040" cy="320040"/>
          </a:xfrm>
          <a:prstGeom prst="ellipse">
            <a:avLst/>
          </a:prstGeom>
          <a:solidFill>
            <a:srgbClr val="1B3A5C"/>
          </a:solidFill>
          <a:ln/>
        </p:spPr>
        <p:txBody>
          <a:bodyPr/>
          <a:lstStyle/>
          <a:p>
            <a:endParaRPr lang="ja-JP" altLang="en-US"/>
          </a:p>
        </p:txBody>
      </p:sp>
      <p:sp>
        <p:nvSpPr>
          <p:cNvPr id="34" name="Text 32"/>
          <p:cNvSpPr/>
          <p:nvPr/>
        </p:nvSpPr>
        <p:spPr>
          <a:xfrm>
            <a:off x="548640" y="4096512"/>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sp>
        <p:nvSpPr>
          <p:cNvPr id="35" name="Text 33"/>
          <p:cNvSpPr/>
          <p:nvPr/>
        </p:nvSpPr>
        <p:spPr>
          <a:xfrm>
            <a:off x="1005840" y="4096512"/>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次に来るもの</a:t>
            </a:r>
            <a:endParaRPr lang="en-US" sz="1600" dirty="0"/>
          </a:p>
        </p:txBody>
      </p:sp>
      <p:sp>
        <p:nvSpPr>
          <p:cNvPr id="36" name="Text 34"/>
          <p:cNvSpPr/>
          <p:nvPr/>
        </p:nvSpPr>
        <p:spPr>
          <a:xfrm>
            <a:off x="4754880" y="4096512"/>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同種CAR-T・CAAR-T</a:t>
            </a:r>
            <a:endParaRPr lang="en-US" sz="1400" dirty="0"/>
          </a:p>
        </p:txBody>
      </p:sp>
      <p:sp>
        <p:nvSpPr>
          <p:cNvPr id="37" name="Shape 35"/>
          <p:cNvSpPr/>
          <p:nvPr/>
        </p:nvSpPr>
        <p:spPr>
          <a:xfrm>
            <a:off x="548640" y="4498848"/>
            <a:ext cx="320040" cy="320040"/>
          </a:xfrm>
          <a:prstGeom prst="ellipse">
            <a:avLst/>
          </a:prstGeom>
          <a:solidFill>
            <a:srgbClr val="1B3A5C"/>
          </a:solidFill>
          <a:ln/>
        </p:spPr>
        <p:txBody>
          <a:bodyPr/>
          <a:lstStyle/>
          <a:p>
            <a:endParaRPr lang="ja-JP" altLang="en-US"/>
          </a:p>
        </p:txBody>
      </p:sp>
      <p:sp>
        <p:nvSpPr>
          <p:cNvPr id="38" name="Text 36"/>
          <p:cNvSpPr/>
          <p:nvPr/>
        </p:nvSpPr>
        <p:spPr>
          <a:xfrm>
            <a:off x="548640" y="4498848"/>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9</a:t>
            </a:r>
            <a:endParaRPr lang="en-US" sz="1400" dirty="0"/>
          </a:p>
        </p:txBody>
      </p:sp>
      <p:sp>
        <p:nvSpPr>
          <p:cNvPr id="39" name="Text 37"/>
          <p:cNvSpPr/>
          <p:nvPr/>
        </p:nvSpPr>
        <p:spPr>
          <a:xfrm>
            <a:off x="1005840" y="4498848"/>
            <a:ext cx="3657600" cy="320040"/>
          </a:xfrm>
          <a:prstGeom prst="rect">
            <a:avLst/>
          </a:prstGeom>
          <a:noFill/>
          <a:ln/>
        </p:spPr>
        <p:txBody>
          <a:bodyPr wrap="square" lIns="0" tIns="0" rIns="0" bIns="0"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まとめ</a:t>
            </a:r>
            <a:endParaRPr lang="en-US" sz="1600" dirty="0"/>
          </a:p>
        </p:txBody>
      </p:sp>
      <p:sp>
        <p:nvSpPr>
          <p:cNvPr id="40" name="Text 38"/>
          <p:cNvSpPr/>
          <p:nvPr/>
        </p:nvSpPr>
        <p:spPr>
          <a:xfrm>
            <a:off x="4754880" y="4498848"/>
            <a:ext cx="3657600" cy="320040"/>
          </a:xfrm>
          <a:prstGeom prst="rect">
            <a:avLst/>
          </a:prstGeom>
          <a:noFill/>
          <a:ln/>
        </p:spPr>
        <p:txBody>
          <a:bodyPr wrap="square" lIns="0" tIns="0" rIns="0" bIns="0"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免疫抑制から免疫リセットへ</a:t>
            </a:r>
            <a:endParaRPr lang="en-US" sz="1400" dirty="0"/>
          </a:p>
        </p:txBody>
      </p:sp>
      <p:sp>
        <p:nvSpPr>
          <p:cNvPr id="41" name="Text 39"/>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3 / 42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01</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600" b="1" dirty="0">
                <a:solidFill>
                  <a:srgbClr val="FFFFFF"/>
                </a:solidFill>
                <a:latin typeface="游ゴシック" pitchFamily="34" charset="0"/>
                <a:ea typeface="游ゴシック" pitchFamily="34" charset="-122"/>
                <a:cs typeface="游ゴシック" pitchFamily="34" charset="-120"/>
              </a:rPr>
              <a:t>まず結論</a:t>
            </a:r>
            <a:endParaRPr lang="en-US" sz="36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3つのポイントで理解する自己免疫CAR-T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1. まず結論</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B3A5C"/>
                </a:solidFill>
                <a:latin typeface="游ゴシック" pitchFamily="34" charset="0"/>
                <a:ea typeface="游ゴシック" pitchFamily="34" charset="-122"/>
                <a:cs typeface="游ゴシック" pitchFamily="34" charset="-120"/>
              </a:rPr>
              <a:t>自己免疫CAR-Tの3つの核心</a:t>
            </a:r>
            <a:endParaRPr lang="en-US" sz="2800" dirty="0"/>
          </a:p>
        </p:txBody>
      </p:sp>
      <p:sp>
        <p:nvSpPr>
          <p:cNvPr id="5" name="Shape 3"/>
          <p:cNvSpPr/>
          <p:nvPr/>
        </p:nvSpPr>
        <p:spPr>
          <a:xfrm>
            <a:off x="365760" y="128016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2651760" cy="54864"/>
          </a:xfrm>
          <a:prstGeom prst="rect">
            <a:avLst/>
          </a:prstGeom>
          <a:solidFill>
            <a:srgbClr val="2C5AA0"/>
          </a:solidFill>
          <a:ln/>
        </p:spPr>
        <p:txBody>
          <a:bodyPr/>
          <a:lstStyle/>
          <a:p>
            <a:endParaRPr lang="ja-JP" altLang="en-US"/>
          </a:p>
        </p:txBody>
      </p:sp>
      <p:sp>
        <p:nvSpPr>
          <p:cNvPr id="7" name="Text 5"/>
          <p:cNvSpPr/>
          <p:nvPr/>
        </p:nvSpPr>
        <p:spPr>
          <a:xfrm>
            <a:off x="457200" y="1417320"/>
            <a:ext cx="2468880" cy="320040"/>
          </a:xfrm>
          <a:prstGeom prst="rect">
            <a:avLst/>
          </a:prstGeom>
          <a:noFill/>
          <a:ln/>
        </p:spPr>
        <p:txBody>
          <a:bodyPr wrap="square" rtlCol="0" anchor="ctr"/>
          <a:lstStyle/>
          <a:p>
            <a:pPr marL="0" indent="0">
              <a:buNone/>
            </a:pPr>
            <a:r>
              <a:rPr lang="en-US" sz="2000" b="1" dirty="0">
                <a:solidFill>
                  <a:srgbClr val="2C5AA0"/>
                </a:solidFill>
                <a:latin typeface="游ゴシック" pitchFamily="34" charset="0"/>
                <a:ea typeface="游ゴシック" pitchFamily="34" charset="-122"/>
                <a:cs typeface="游ゴシック" pitchFamily="34" charset="-120"/>
              </a:rPr>
              <a:t>第1</a:t>
            </a:r>
            <a:endParaRPr lang="en-US" sz="2000" dirty="0"/>
          </a:p>
        </p:txBody>
      </p:sp>
      <p:sp>
        <p:nvSpPr>
          <p:cNvPr id="8" name="Text 6"/>
          <p:cNvSpPr/>
          <p:nvPr/>
        </p:nvSpPr>
        <p:spPr>
          <a:xfrm>
            <a:off x="457200" y="1828800"/>
            <a:ext cx="2651760" cy="1188720"/>
          </a:xfrm>
          <a:prstGeom prst="rect">
            <a:avLst/>
          </a:prstGeom>
          <a:noFill/>
          <a:ln/>
        </p:spPr>
        <p:txBody>
          <a:bodyPr wrap="square" rtlCol="0" anchor="t"/>
          <a:lstStyle/>
          <a:p>
            <a:pPr marL="0" indent="0">
              <a:buNone/>
            </a:pPr>
            <a:r>
              <a:rPr lang="en-US" sz="1600" dirty="0" err="1">
                <a:solidFill>
                  <a:srgbClr val="333333"/>
                </a:solidFill>
                <a:latin typeface="游ゴシック" pitchFamily="34" charset="0"/>
                <a:ea typeface="游ゴシック" pitchFamily="34" charset="-122"/>
                <a:cs typeface="游ゴシック" pitchFamily="34" charset="-120"/>
              </a:rPr>
              <a:t>標的は「抗体」そのもの</a:t>
            </a:r>
            <a:endParaRPr lang="en-US" sz="1600" dirty="0">
              <a:solidFill>
                <a:srgbClr val="333333"/>
              </a:solidFill>
              <a:latin typeface="游ゴシック" pitchFamily="34" charset="0"/>
              <a:ea typeface="游ゴシック" pitchFamily="34" charset="-122"/>
              <a:cs typeface="游ゴシック" pitchFamily="34" charset="-120"/>
            </a:endParaRPr>
          </a:p>
          <a:p>
            <a:pPr marL="0" indent="0">
              <a:buNone/>
            </a:pPr>
            <a:r>
              <a:rPr lang="en-US" sz="1600" dirty="0" err="1">
                <a:solidFill>
                  <a:srgbClr val="333333"/>
                </a:solidFill>
                <a:latin typeface="游ゴシック" pitchFamily="34" charset="0"/>
                <a:ea typeface="游ゴシック" pitchFamily="34" charset="-122"/>
                <a:cs typeface="游ゴシック" pitchFamily="34" charset="-120"/>
              </a:rPr>
              <a:t>ではなく</a:t>
            </a:r>
            <a:endParaRPr lang="en-US" sz="1600" dirty="0"/>
          </a:p>
          <a:p>
            <a:pPr marL="0" indent="0">
              <a:buNone/>
            </a:pPr>
            <a:r>
              <a:rPr lang="en-US" sz="1600" dirty="0">
                <a:solidFill>
                  <a:srgbClr val="333333"/>
                </a:solidFill>
                <a:latin typeface="游ゴシック" pitchFamily="34" charset="0"/>
                <a:ea typeface="游ゴシック" pitchFamily="34" charset="-122"/>
                <a:cs typeface="游ゴシック" pitchFamily="34" charset="-120"/>
              </a:rPr>
              <a:t>「抗体を作る系統の細胞」</a:t>
            </a:r>
            <a:endParaRPr lang="en-US" sz="1600" dirty="0"/>
          </a:p>
        </p:txBody>
      </p:sp>
      <p:sp>
        <p:nvSpPr>
          <p:cNvPr id="9" name="Shape 7"/>
          <p:cNvSpPr/>
          <p:nvPr/>
        </p:nvSpPr>
        <p:spPr>
          <a:xfrm>
            <a:off x="3246120" y="128016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3246120" y="1280160"/>
            <a:ext cx="2651760" cy="54864"/>
          </a:xfrm>
          <a:prstGeom prst="rect">
            <a:avLst/>
          </a:prstGeom>
          <a:solidFill>
            <a:srgbClr val="28A745"/>
          </a:solidFill>
          <a:ln/>
        </p:spPr>
        <p:txBody>
          <a:bodyPr/>
          <a:lstStyle/>
          <a:p>
            <a:endParaRPr lang="ja-JP" altLang="en-US"/>
          </a:p>
        </p:txBody>
      </p:sp>
      <p:sp>
        <p:nvSpPr>
          <p:cNvPr id="11" name="Text 9"/>
          <p:cNvSpPr/>
          <p:nvPr/>
        </p:nvSpPr>
        <p:spPr>
          <a:xfrm>
            <a:off x="3337560" y="1417320"/>
            <a:ext cx="2468880" cy="320040"/>
          </a:xfrm>
          <a:prstGeom prst="rect">
            <a:avLst/>
          </a:prstGeom>
          <a:noFill/>
          <a:ln/>
        </p:spPr>
        <p:txBody>
          <a:bodyPr wrap="square" rtlCol="0" anchor="ctr"/>
          <a:lstStyle/>
          <a:p>
            <a:pPr marL="0" indent="0">
              <a:buNone/>
            </a:pPr>
            <a:r>
              <a:rPr lang="en-US" sz="2000" b="1" dirty="0">
                <a:solidFill>
                  <a:srgbClr val="28A745"/>
                </a:solidFill>
                <a:latin typeface="游ゴシック" pitchFamily="34" charset="0"/>
                <a:ea typeface="游ゴシック" pitchFamily="34" charset="-122"/>
                <a:cs typeface="游ゴシック" pitchFamily="34" charset="-120"/>
              </a:rPr>
              <a:t>第2</a:t>
            </a:r>
            <a:endParaRPr lang="en-US" sz="2000" dirty="0"/>
          </a:p>
        </p:txBody>
      </p:sp>
      <p:sp>
        <p:nvSpPr>
          <p:cNvPr id="12" name="Text 10"/>
          <p:cNvSpPr/>
          <p:nvPr/>
        </p:nvSpPr>
        <p:spPr>
          <a:xfrm>
            <a:off x="3337560" y="1828800"/>
            <a:ext cx="2468880" cy="1188720"/>
          </a:xfrm>
          <a:prstGeom prst="rect">
            <a:avLst/>
          </a:prstGeom>
          <a:noFill/>
          <a:ln/>
        </p:spPr>
        <p:txBody>
          <a:bodyPr wrap="square" rtlCol="0" anchor="t"/>
          <a:lstStyle/>
          <a:p>
            <a:pPr marL="0" indent="0">
              <a:buNone/>
            </a:pPr>
            <a:r>
              <a:rPr lang="en-US" sz="1600" dirty="0" err="1">
                <a:solidFill>
                  <a:srgbClr val="333333"/>
                </a:solidFill>
                <a:latin typeface="游ゴシック" pitchFamily="34" charset="0"/>
                <a:ea typeface="游ゴシック" pitchFamily="34" charset="-122"/>
                <a:cs typeface="游ゴシック" pitchFamily="34" charset="-120"/>
              </a:rPr>
              <a:t>rituximabの延長線ではなく</a:t>
            </a:r>
            <a:endParaRPr lang="en-US" sz="1600" dirty="0">
              <a:solidFill>
                <a:srgbClr val="333333"/>
              </a:solidFill>
              <a:latin typeface="游ゴシック" pitchFamily="34" charset="0"/>
              <a:ea typeface="游ゴシック" pitchFamily="34" charset="-122"/>
              <a:cs typeface="游ゴシック" pitchFamily="34" charset="-120"/>
            </a:endParaRPr>
          </a:p>
          <a:p>
            <a:pPr marL="0" indent="0">
              <a:buNone/>
            </a:pPr>
            <a:r>
              <a:rPr lang="en-US" sz="1600" dirty="0" err="1">
                <a:solidFill>
                  <a:srgbClr val="333333"/>
                </a:solidFill>
                <a:latin typeface="游ゴシック" pitchFamily="34" charset="0"/>
                <a:ea typeface="游ゴシック" pitchFamily="34" charset="-122"/>
                <a:cs typeface="游ゴシック" pitchFamily="34" charset="-120"/>
              </a:rPr>
              <a:t>もっと深い場所まで</a:t>
            </a:r>
            <a:endParaRPr lang="en-US" sz="1600" dirty="0"/>
          </a:p>
          <a:p>
            <a:pPr marL="0" indent="0">
              <a:buNone/>
            </a:pPr>
            <a:r>
              <a:rPr lang="en-US" sz="1600" dirty="0">
                <a:solidFill>
                  <a:srgbClr val="333333"/>
                </a:solidFill>
                <a:latin typeface="游ゴシック" pitchFamily="34" charset="0"/>
                <a:ea typeface="游ゴシック" pitchFamily="34" charset="-122"/>
                <a:cs typeface="游ゴシック" pitchFamily="34" charset="-120"/>
              </a:rPr>
              <a:t>B細胞系を消せる治療</a:t>
            </a:r>
            <a:endParaRPr lang="en-US" sz="1600" dirty="0"/>
          </a:p>
        </p:txBody>
      </p:sp>
      <p:sp>
        <p:nvSpPr>
          <p:cNvPr id="13" name="Shape 11"/>
          <p:cNvSpPr/>
          <p:nvPr/>
        </p:nvSpPr>
        <p:spPr>
          <a:xfrm>
            <a:off x="6126480" y="128016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6126480" y="1280160"/>
            <a:ext cx="2651760" cy="54864"/>
          </a:xfrm>
          <a:prstGeom prst="rect">
            <a:avLst/>
          </a:prstGeom>
          <a:solidFill>
            <a:srgbClr val="E8850C"/>
          </a:solidFill>
          <a:ln/>
        </p:spPr>
        <p:txBody>
          <a:bodyPr/>
          <a:lstStyle/>
          <a:p>
            <a:endParaRPr lang="ja-JP" altLang="en-US"/>
          </a:p>
        </p:txBody>
      </p:sp>
      <p:sp>
        <p:nvSpPr>
          <p:cNvPr id="15" name="Text 13"/>
          <p:cNvSpPr/>
          <p:nvPr/>
        </p:nvSpPr>
        <p:spPr>
          <a:xfrm>
            <a:off x="6217920" y="1417320"/>
            <a:ext cx="2468880" cy="320040"/>
          </a:xfrm>
          <a:prstGeom prst="rect">
            <a:avLst/>
          </a:prstGeom>
          <a:noFill/>
          <a:ln/>
        </p:spPr>
        <p:txBody>
          <a:bodyPr wrap="square" rtlCol="0" anchor="ctr"/>
          <a:lstStyle/>
          <a:p>
            <a:pPr marL="0" indent="0">
              <a:buNone/>
            </a:pPr>
            <a:r>
              <a:rPr lang="en-US" sz="2000" b="1" dirty="0">
                <a:solidFill>
                  <a:srgbClr val="E8850C"/>
                </a:solidFill>
                <a:latin typeface="游ゴシック" pitchFamily="34" charset="0"/>
                <a:ea typeface="游ゴシック" pitchFamily="34" charset="-122"/>
                <a:cs typeface="游ゴシック" pitchFamily="34" charset="-120"/>
              </a:rPr>
              <a:t>第3</a:t>
            </a:r>
            <a:endParaRPr lang="en-US" sz="2000" dirty="0"/>
          </a:p>
        </p:txBody>
      </p:sp>
      <p:sp>
        <p:nvSpPr>
          <p:cNvPr id="16" name="Text 14"/>
          <p:cNvSpPr/>
          <p:nvPr/>
        </p:nvSpPr>
        <p:spPr>
          <a:xfrm>
            <a:off x="6217920" y="1828800"/>
            <a:ext cx="2468880" cy="1188720"/>
          </a:xfrm>
          <a:prstGeom prst="rect">
            <a:avLst/>
          </a:prstGeom>
          <a:noFill/>
          <a:ln/>
        </p:spPr>
        <p:txBody>
          <a:bodyPr wrap="square" rtlCol="0" anchor="t"/>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自己抗体・B細胞の関与が強く</a:t>
            </a:r>
            <a:endParaRPr lang="en-US" sz="1600" dirty="0"/>
          </a:p>
          <a:p>
            <a:pPr marL="0" indent="0">
              <a:buNone/>
            </a:pPr>
            <a:r>
              <a:rPr lang="en-US" sz="1600" dirty="0">
                <a:solidFill>
                  <a:srgbClr val="333333"/>
                </a:solidFill>
                <a:latin typeface="游ゴシック" pitchFamily="34" charset="0"/>
                <a:ea typeface="游ゴシック" pitchFamily="34" charset="-122"/>
                <a:cs typeface="游ゴシック" pitchFamily="34" charset="-120"/>
              </a:rPr>
              <a:t>臓器障害がまだ可逆的な</a:t>
            </a:r>
            <a:endParaRPr lang="en-US" sz="1600" dirty="0"/>
          </a:p>
          <a:p>
            <a:pPr marL="0" indent="0">
              <a:buNone/>
            </a:pPr>
            <a:r>
              <a:rPr lang="en-US" sz="1600" dirty="0">
                <a:solidFill>
                  <a:srgbClr val="333333"/>
                </a:solidFill>
                <a:latin typeface="游ゴシック" pitchFamily="34" charset="0"/>
                <a:ea typeface="游ゴシック" pitchFamily="34" charset="-122"/>
                <a:cs typeface="游ゴシック" pitchFamily="34" charset="-120"/>
              </a:rPr>
              <a:t>段階で相性がよい</a:t>
            </a:r>
            <a:endParaRPr lang="en-US" sz="1600" dirty="0"/>
          </a:p>
        </p:txBody>
      </p:sp>
      <p:sp>
        <p:nvSpPr>
          <p:cNvPr id="17" name="Shape 15"/>
          <p:cNvSpPr/>
          <p:nvPr/>
        </p:nvSpPr>
        <p:spPr>
          <a:xfrm>
            <a:off x="365760" y="3520440"/>
            <a:ext cx="8412480" cy="118872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8" name="Shape 16"/>
          <p:cNvSpPr/>
          <p:nvPr/>
        </p:nvSpPr>
        <p:spPr>
          <a:xfrm>
            <a:off x="365760" y="3520440"/>
            <a:ext cx="54864" cy="1188720"/>
          </a:xfrm>
          <a:prstGeom prst="rect">
            <a:avLst/>
          </a:prstGeom>
          <a:solidFill>
            <a:srgbClr val="2C5AA0"/>
          </a:solidFill>
          <a:ln/>
        </p:spPr>
        <p:txBody>
          <a:bodyPr/>
          <a:lstStyle/>
          <a:p>
            <a:endParaRPr lang="ja-JP" altLang="en-US"/>
          </a:p>
        </p:txBody>
      </p:sp>
      <p:sp>
        <p:nvSpPr>
          <p:cNvPr id="19" name="Text 17"/>
          <p:cNvSpPr/>
          <p:nvPr/>
        </p:nvSpPr>
        <p:spPr>
          <a:xfrm>
            <a:off x="548640" y="3611880"/>
            <a:ext cx="8046720" cy="91440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最も開発が進んでいるのは </a:t>
            </a:r>
            <a:r>
              <a:rPr lang="en-US" sz="1600" b="1" dirty="0">
                <a:solidFill>
                  <a:srgbClr val="2C5AA0"/>
                </a:solidFill>
                <a:latin typeface="游ゴシック" pitchFamily="34" charset="0"/>
                <a:ea typeface="游ゴシック" pitchFamily="34" charset="-122"/>
                <a:cs typeface="游ゴシック" pitchFamily="34" charset="-120"/>
              </a:rPr>
              <a:t>MG</a:t>
            </a:r>
            <a:r>
              <a:rPr lang="en-US" sz="1600" dirty="0">
                <a:solidFill>
                  <a:srgbClr val="333333"/>
                </a:solidFill>
                <a:latin typeface="游ゴシック" pitchFamily="34" charset="0"/>
                <a:ea typeface="游ゴシック" pitchFamily="34" charset="-122"/>
                <a:cs typeface="游ゴシック" pitchFamily="34" charset="-120"/>
              </a:rPr>
              <a:t>。NMOSD は生物学的に相性◎。MS は中枢到達性が核心。CIDP・GAD関連疾患・自己抗体性脳炎は「効きうる疾患群」が見え始めている。</a:t>
            </a:r>
            <a:endParaRPr lang="en-US" sz="1600" dirty="0"/>
          </a:p>
        </p:txBody>
      </p:sp>
      <p:sp>
        <p:nvSpPr>
          <p:cNvPr id="20" name="Text 18"/>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5 / 42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02</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なぜCAR-Tが自己免疫に効くのか</a:t>
            </a:r>
            <a:endParaRPr lang="en-US" sz="34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メカニズムとSLEでの臨床証拠</a:t>
            </a:r>
            <a:endParaRPr lang="en-US" sz="1800" dirty="0"/>
          </a:p>
        </p:txBody>
      </p:sp>
      <p:sp>
        <p:nvSpPr>
          <p:cNvPr id="5" name="Shape 3"/>
          <p:cNvSpPr/>
          <p:nvPr/>
        </p:nvSpPr>
        <p:spPr>
          <a:xfrm>
            <a:off x="5577840" y="3154680"/>
            <a:ext cx="3291840" cy="1508760"/>
          </a:xfrm>
          <a:prstGeom prst="roundRect">
            <a:avLst>
              <a:gd name="adj" fmla="val 6061"/>
            </a:avLst>
          </a:prstGeom>
          <a:solidFill>
            <a:srgbClr val="FFFFFF"/>
          </a:solidFill>
          <a:ln/>
          <a:effectLst>
            <a:outerShdw blurRad="50800" dist="25400" dir="8100000" algn="bl" rotWithShape="0">
              <a:srgbClr val="000000">
                <a:alpha val="20000"/>
              </a:srgbClr>
            </a:outerShdw>
          </a:effectLst>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5715000" y="3291840"/>
            <a:ext cx="3017520" cy="941832"/>
          </a:xfrm>
          <a:prstGeom prst="rect">
            <a:avLst/>
          </a:prstGeom>
        </p:spPr>
      </p:pic>
      <p:sp>
        <p:nvSpPr>
          <p:cNvPr id="7" name="Text 4"/>
          <p:cNvSpPr/>
          <p:nvPr/>
        </p:nvSpPr>
        <p:spPr>
          <a:xfrm>
            <a:off x="5577840" y="4297680"/>
            <a:ext cx="3291840" cy="182880"/>
          </a:xfrm>
          <a:prstGeom prst="rect">
            <a:avLst/>
          </a:prstGeom>
          <a:noFill/>
          <a:ln/>
        </p:spPr>
        <p:txBody>
          <a:bodyPr wrap="square" rtlCol="0" anchor="ctr"/>
          <a:lstStyle/>
          <a:p>
            <a:pPr marL="0" indent="0" algn="ctr">
              <a:buNone/>
            </a:pPr>
            <a:r>
              <a:rPr lang="en-US" sz="800" dirty="0">
                <a:solidFill>
                  <a:srgbClr val="999999"/>
                </a:solidFill>
                <a:latin typeface="Segoe UI" pitchFamily="34" charset="0"/>
                <a:ea typeface="Segoe UI" pitchFamily="34" charset="-122"/>
                <a:cs typeface="Segoe UI" pitchFamily="34" charset="-120"/>
              </a:rPr>
              <a:t>Wikimedia Commons (CC BY-SA 4.0)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2. なぜCAR-Tが自己免疫に効くのか</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自己免疫疾患の本質とCAR-Tの発想</a:t>
            </a:r>
            <a:endParaRPr lang="en-US" sz="2600" dirty="0"/>
          </a:p>
        </p:txBody>
      </p:sp>
      <p:sp>
        <p:nvSpPr>
          <p:cNvPr id="5" name="Shape 3"/>
          <p:cNvSpPr/>
          <p:nvPr/>
        </p:nvSpPr>
        <p:spPr>
          <a:xfrm>
            <a:off x="365760" y="1371600"/>
            <a:ext cx="228600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371600"/>
            <a:ext cx="2286000" cy="54864"/>
          </a:xfrm>
          <a:prstGeom prst="rect">
            <a:avLst/>
          </a:prstGeom>
          <a:solidFill>
            <a:srgbClr val="DC3545"/>
          </a:solidFill>
          <a:ln/>
        </p:spPr>
        <p:txBody>
          <a:bodyPr/>
          <a:lstStyle/>
          <a:p>
            <a:endParaRPr lang="ja-JP" altLang="en-US"/>
          </a:p>
        </p:txBody>
      </p:sp>
      <p:sp>
        <p:nvSpPr>
          <p:cNvPr id="7" name="Text 5"/>
          <p:cNvSpPr/>
          <p:nvPr/>
        </p:nvSpPr>
        <p:spPr>
          <a:xfrm>
            <a:off x="457200" y="1463040"/>
            <a:ext cx="2103120" cy="365760"/>
          </a:xfrm>
          <a:prstGeom prst="rect">
            <a:avLst/>
          </a:prstGeom>
          <a:noFill/>
          <a:ln/>
        </p:spPr>
        <p:txBody>
          <a:bodyPr wrap="square" rtlCol="0" anchor="ctr"/>
          <a:lstStyle/>
          <a:p>
            <a:pPr marL="0" indent="0">
              <a:buNone/>
            </a:pPr>
            <a:r>
              <a:rPr lang="en-US" sz="1500" b="1" dirty="0">
                <a:solidFill>
                  <a:srgbClr val="DC3545"/>
                </a:solidFill>
                <a:latin typeface="游ゴシック" pitchFamily="34" charset="0"/>
                <a:ea typeface="游ゴシック" pitchFamily="34" charset="-122"/>
                <a:cs typeface="游ゴシック" pitchFamily="34" charset="-120"/>
              </a:rPr>
              <a:t>① 誤学習したB細胞</a:t>
            </a:r>
            <a:endParaRPr lang="en-US" sz="1500" dirty="0"/>
          </a:p>
        </p:txBody>
      </p:sp>
      <p:sp>
        <p:nvSpPr>
          <p:cNvPr id="8" name="Text 6"/>
          <p:cNvSpPr/>
          <p:nvPr/>
        </p:nvSpPr>
        <p:spPr>
          <a:xfrm>
            <a:off x="457200" y="1874520"/>
            <a:ext cx="2103120" cy="640080"/>
          </a:xfrm>
          <a:prstGeom prst="rect">
            <a:avLst/>
          </a:prstGeom>
          <a:noFill/>
          <a:ln/>
        </p:spPr>
        <p:txBody>
          <a:bodyPr wrap="square" rtlCol="0" anchor="ct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間違った設計図を持つ</a:t>
            </a:r>
            <a:endParaRPr lang="en-US" sz="14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B細胞が存在</a:t>
            </a:r>
            <a:endParaRPr lang="en-US" sz="1400" dirty="0"/>
          </a:p>
        </p:txBody>
      </p:sp>
      <p:sp>
        <p:nvSpPr>
          <p:cNvPr id="9" name="Text 7"/>
          <p:cNvSpPr/>
          <p:nvPr/>
        </p:nvSpPr>
        <p:spPr>
          <a:xfrm>
            <a:off x="2697480" y="1691640"/>
            <a:ext cx="457200" cy="457200"/>
          </a:xfrm>
          <a:prstGeom prst="rect">
            <a:avLst/>
          </a:prstGeom>
          <a:noFill/>
          <a:ln/>
        </p:spPr>
        <p:txBody>
          <a:bodyPr wrap="square" rtlCol="0" anchor="ctr"/>
          <a:lstStyle/>
          <a:p>
            <a:pPr marL="0" indent="0" algn="ctr">
              <a:buNone/>
            </a:pPr>
            <a:r>
              <a:rPr lang="en-US" sz="3000" dirty="0">
                <a:solidFill>
                  <a:srgbClr val="2C5AA0"/>
                </a:solidFill>
                <a:latin typeface="Segoe UI" pitchFamily="34" charset="0"/>
                <a:ea typeface="Segoe UI" pitchFamily="34" charset="-122"/>
                <a:cs typeface="Segoe UI" pitchFamily="34" charset="-120"/>
              </a:rPr>
              <a:t>→</a:t>
            </a:r>
            <a:endParaRPr lang="en-US" sz="3000" dirty="0"/>
          </a:p>
        </p:txBody>
      </p:sp>
      <p:sp>
        <p:nvSpPr>
          <p:cNvPr id="10" name="Shape 8"/>
          <p:cNvSpPr/>
          <p:nvPr/>
        </p:nvSpPr>
        <p:spPr>
          <a:xfrm>
            <a:off x="3200400" y="1371600"/>
            <a:ext cx="228600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3200400" y="1371600"/>
            <a:ext cx="2286000" cy="54864"/>
          </a:xfrm>
          <a:prstGeom prst="rect">
            <a:avLst/>
          </a:prstGeom>
          <a:solidFill>
            <a:srgbClr val="E8850C"/>
          </a:solidFill>
          <a:ln/>
        </p:spPr>
        <p:txBody>
          <a:bodyPr/>
          <a:lstStyle/>
          <a:p>
            <a:endParaRPr lang="ja-JP" altLang="en-US"/>
          </a:p>
        </p:txBody>
      </p:sp>
      <p:sp>
        <p:nvSpPr>
          <p:cNvPr id="12" name="Text 10"/>
          <p:cNvSpPr/>
          <p:nvPr/>
        </p:nvSpPr>
        <p:spPr>
          <a:xfrm>
            <a:off x="3291840" y="1463040"/>
            <a:ext cx="2103120" cy="365760"/>
          </a:xfrm>
          <a:prstGeom prst="rect">
            <a:avLst/>
          </a:prstGeom>
          <a:noFill/>
          <a:ln/>
        </p:spPr>
        <p:txBody>
          <a:bodyPr wrap="square" rtlCol="0" anchor="ctr"/>
          <a:lstStyle/>
          <a:p>
            <a:pPr marL="0" indent="0">
              <a:buNone/>
            </a:pPr>
            <a:r>
              <a:rPr lang="en-US" sz="1500" b="1" dirty="0">
                <a:solidFill>
                  <a:srgbClr val="E8850C"/>
                </a:solidFill>
                <a:latin typeface="游ゴシック" pitchFamily="34" charset="0"/>
                <a:ea typeface="游ゴシック" pitchFamily="34" charset="-122"/>
                <a:cs typeface="游ゴシック" pitchFamily="34" charset="-120"/>
              </a:rPr>
              <a:t>② 抗体工場が稼働</a:t>
            </a:r>
            <a:endParaRPr lang="en-US" sz="1500" dirty="0"/>
          </a:p>
        </p:txBody>
      </p:sp>
      <p:sp>
        <p:nvSpPr>
          <p:cNvPr id="13" name="Text 11"/>
          <p:cNvSpPr/>
          <p:nvPr/>
        </p:nvSpPr>
        <p:spPr>
          <a:xfrm>
            <a:off x="3291840" y="1874520"/>
            <a:ext cx="2103120" cy="640080"/>
          </a:xfrm>
          <a:prstGeom prst="rect">
            <a:avLst/>
          </a:prstGeom>
          <a:noFill/>
          <a:ln/>
        </p:spPr>
        <p:txBody>
          <a:bodyPr wrap="square" rtlCol="0" anchor="ct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形質芽細胞・形質細胞が</a:t>
            </a:r>
            <a:endParaRPr lang="en-US" sz="14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自己抗体を作り続ける</a:t>
            </a:r>
            <a:endParaRPr lang="en-US" sz="1400" dirty="0"/>
          </a:p>
        </p:txBody>
      </p:sp>
      <p:sp>
        <p:nvSpPr>
          <p:cNvPr id="14" name="Text 12"/>
          <p:cNvSpPr/>
          <p:nvPr/>
        </p:nvSpPr>
        <p:spPr>
          <a:xfrm>
            <a:off x="5532120" y="1691640"/>
            <a:ext cx="457200" cy="457200"/>
          </a:xfrm>
          <a:prstGeom prst="rect">
            <a:avLst/>
          </a:prstGeom>
          <a:noFill/>
          <a:ln/>
        </p:spPr>
        <p:txBody>
          <a:bodyPr wrap="square" rtlCol="0" anchor="ctr"/>
          <a:lstStyle/>
          <a:p>
            <a:pPr marL="0" indent="0" algn="ctr">
              <a:buNone/>
            </a:pPr>
            <a:r>
              <a:rPr lang="en-US" sz="3000" dirty="0">
                <a:solidFill>
                  <a:srgbClr val="2C5AA0"/>
                </a:solidFill>
                <a:latin typeface="Segoe UI" pitchFamily="34" charset="0"/>
                <a:ea typeface="Segoe UI" pitchFamily="34" charset="-122"/>
                <a:cs typeface="Segoe UI" pitchFamily="34" charset="-120"/>
              </a:rPr>
              <a:t>→</a:t>
            </a:r>
            <a:endParaRPr lang="en-US" sz="3000" dirty="0"/>
          </a:p>
        </p:txBody>
      </p:sp>
      <p:sp>
        <p:nvSpPr>
          <p:cNvPr id="15" name="Shape 13"/>
          <p:cNvSpPr/>
          <p:nvPr/>
        </p:nvSpPr>
        <p:spPr>
          <a:xfrm>
            <a:off x="6035040" y="1371600"/>
            <a:ext cx="26517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6" name="Shape 14"/>
          <p:cNvSpPr/>
          <p:nvPr/>
        </p:nvSpPr>
        <p:spPr>
          <a:xfrm>
            <a:off x="6035040" y="1371600"/>
            <a:ext cx="2651760" cy="54864"/>
          </a:xfrm>
          <a:prstGeom prst="rect">
            <a:avLst/>
          </a:prstGeom>
          <a:solidFill>
            <a:srgbClr val="DC3545"/>
          </a:solidFill>
          <a:ln/>
        </p:spPr>
        <p:txBody>
          <a:bodyPr/>
          <a:lstStyle/>
          <a:p>
            <a:endParaRPr lang="ja-JP" altLang="en-US"/>
          </a:p>
        </p:txBody>
      </p:sp>
      <p:sp>
        <p:nvSpPr>
          <p:cNvPr id="17" name="Text 15"/>
          <p:cNvSpPr/>
          <p:nvPr/>
        </p:nvSpPr>
        <p:spPr>
          <a:xfrm>
            <a:off x="6126480" y="1463040"/>
            <a:ext cx="2468880" cy="365760"/>
          </a:xfrm>
          <a:prstGeom prst="rect">
            <a:avLst/>
          </a:prstGeom>
          <a:noFill/>
          <a:ln/>
        </p:spPr>
        <p:txBody>
          <a:bodyPr wrap="square" rtlCol="0" anchor="ctr"/>
          <a:lstStyle/>
          <a:p>
            <a:pPr marL="0" indent="0">
              <a:buNone/>
            </a:pPr>
            <a:r>
              <a:rPr lang="en-US" sz="1500" b="1" dirty="0">
                <a:solidFill>
                  <a:srgbClr val="DC3545"/>
                </a:solidFill>
                <a:latin typeface="游ゴシック" pitchFamily="34" charset="0"/>
                <a:ea typeface="游ゴシック" pitchFamily="34" charset="-122"/>
                <a:cs typeface="游ゴシック" pitchFamily="34" charset="-120"/>
              </a:rPr>
              <a:t>③ 自己免疫疾患</a:t>
            </a:r>
            <a:endParaRPr lang="en-US" sz="1500" dirty="0"/>
          </a:p>
        </p:txBody>
      </p:sp>
      <p:sp>
        <p:nvSpPr>
          <p:cNvPr id="18" name="Text 16"/>
          <p:cNvSpPr/>
          <p:nvPr/>
        </p:nvSpPr>
        <p:spPr>
          <a:xfrm>
            <a:off x="6126480" y="1874520"/>
            <a:ext cx="2468880" cy="640080"/>
          </a:xfrm>
          <a:prstGeom prst="rect">
            <a:avLst/>
          </a:prstGeom>
          <a:noFill/>
          <a:ln/>
        </p:spPr>
        <p:txBody>
          <a:bodyPr wrap="square" rtlCol="0" anchor="ct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自己抗体による</a:t>
            </a:r>
            <a:endParaRPr lang="en-US" sz="14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臓器障害が持続</a:t>
            </a:r>
            <a:endParaRPr lang="en-US" sz="1400" dirty="0"/>
          </a:p>
        </p:txBody>
      </p:sp>
      <p:sp>
        <p:nvSpPr>
          <p:cNvPr id="19" name="Shape 17"/>
          <p:cNvSpPr/>
          <p:nvPr/>
        </p:nvSpPr>
        <p:spPr>
          <a:xfrm>
            <a:off x="365760" y="2926080"/>
            <a:ext cx="3931920" cy="365760"/>
          </a:xfrm>
          <a:prstGeom prst="rect">
            <a:avLst/>
          </a:prstGeom>
          <a:solidFill>
            <a:srgbClr val="666666"/>
          </a:solidFill>
          <a:ln/>
        </p:spPr>
        <p:txBody>
          <a:bodyPr/>
          <a:lstStyle/>
          <a:p>
            <a:endParaRPr lang="ja-JP" altLang="en-US"/>
          </a:p>
        </p:txBody>
      </p:sp>
      <p:sp>
        <p:nvSpPr>
          <p:cNvPr id="20" name="Text 18"/>
          <p:cNvSpPr/>
          <p:nvPr/>
        </p:nvSpPr>
        <p:spPr>
          <a:xfrm>
            <a:off x="457200" y="2926080"/>
            <a:ext cx="3749040" cy="365760"/>
          </a:xfrm>
          <a:prstGeom prst="rect">
            <a:avLst/>
          </a:prstGeom>
          <a:noFill/>
          <a:ln/>
        </p:spPr>
        <p:txBody>
          <a:bodyPr wrap="square" rtlCol="0" anchor="ctr"/>
          <a:lstStyle/>
          <a:p>
            <a:pPr marL="0" indent="0">
              <a:buNone/>
            </a:pPr>
            <a:r>
              <a:rPr lang="en-US" sz="1500" b="1" dirty="0">
                <a:solidFill>
                  <a:srgbClr val="FFFFFF"/>
                </a:solidFill>
                <a:latin typeface="游ゴシック" pitchFamily="34" charset="0"/>
                <a:ea typeface="游ゴシック" pitchFamily="34" charset="-122"/>
                <a:cs typeface="游ゴシック" pitchFamily="34" charset="-120"/>
              </a:rPr>
              <a:t>従来の治療：出荷量を減らす</a:t>
            </a:r>
            <a:endParaRPr lang="en-US" sz="1500" dirty="0"/>
          </a:p>
        </p:txBody>
      </p:sp>
      <p:sp>
        <p:nvSpPr>
          <p:cNvPr id="21" name="Text 19"/>
          <p:cNvSpPr/>
          <p:nvPr/>
        </p:nvSpPr>
        <p:spPr>
          <a:xfrm>
            <a:off x="457199" y="3383280"/>
            <a:ext cx="3883025" cy="822960"/>
          </a:xfrm>
          <a:prstGeom prst="rect">
            <a:avLst/>
          </a:prstGeom>
          <a:noFill/>
          <a:ln/>
        </p:spPr>
        <p:txBody>
          <a:bodyPr wrap="square" rtlCol="0" anchor="ct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ステロイド・免疫抑制薬で工場の生産を抑えるが、設計部門（B細胞）・工場（形質細胞）は残存する。</a:t>
            </a:r>
            <a:endParaRPr lang="en-US" sz="1400" dirty="0"/>
          </a:p>
        </p:txBody>
      </p:sp>
      <p:sp>
        <p:nvSpPr>
          <p:cNvPr id="22" name="Shape 20"/>
          <p:cNvSpPr/>
          <p:nvPr/>
        </p:nvSpPr>
        <p:spPr>
          <a:xfrm>
            <a:off x="4846320" y="2926080"/>
            <a:ext cx="3931920" cy="365760"/>
          </a:xfrm>
          <a:prstGeom prst="rect">
            <a:avLst/>
          </a:prstGeom>
          <a:solidFill>
            <a:srgbClr val="2C5AA0"/>
          </a:solidFill>
          <a:ln/>
        </p:spPr>
        <p:txBody>
          <a:bodyPr/>
          <a:lstStyle/>
          <a:p>
            <a:endParaRPr lang="ja-JP" altLang="en-US"/>
          </a:p>
        </p:txBody>
      </p:sp>
      <p:sp>
        <p:nvSpPr>
          <p:cNvPr id="23" name="Text 21"/>
          <p:cNvSpPr/>
          <p:nvPr/>
        </p:nvSpPr>
        <p:spPr>
          <a:xfrm>
            <a:off x="4937760" y="2926080"/>
            <a:ext cx="3749040" cy="365760"/>
          </a:xfrm>
          <a:prstGeom prst="rect">
            <a:avLst/>
          </a:prstGeom>
          <a:noFill/>
          <a:ln/>
        </p:spPr>
        <p:txBody>
          <a:bodyPr wrap="square" rtlCol="0" anchor="ctr"/>
          <a:lstStyle/>
          <a:p>
            <a:pPr marL="0" indent="0">
              <a:buNone/>
            </a:pPr>
            <a:r>
              <a:rPr lang="en-US" sz="1500" b="1" dirty="0">
                <a:solidFill>
                  <a:srgbClr val="FFFFFF"/>
                </a:solidFill>
                <a:latin typeface="游ゴシック" pitchFamily="34" charset="0"/>
                <a:ea typeface="游ゴシック" pitchFamily="34" charset="-122"/>
                <a:cs typeface="游ゴシック" pitchFamily="34" charset="-120"/>
              </a:rPr>
              <a:t>CAR-T：工場ごと壊す</a:t>
            </a:r>
            <a:endParaRPr lang="en-US" sz="1500" dirty="0"/>
          </a:p>
        </p:txBody>
      </p:sp>
      <p:sp>
        <p:nvSpPr>
          <p:cNvPr id="24" name="Text 22"/>
          <p:cNvSpPr/>
          <p:nvPr/>
        </p:nvSpPr>
        <p:spPr>
          <a:xfrm>
            <a:off x="4937760" y="3383280"/>
            <a:ext cx="3749040" cy="822960"/>
          </a:xfrm>
          <a:prstGeom prst="rect">
            <a:avLst/>
          </a:prstGeom>
          <a:noFill/>
          <a:ln/>
        </p:spPr>
        <p:txBody>
          <a:bodyPr wrap="square" rtlCol="0" anchor="ctr"/>
          <a:lstStyle/>
          <a:p>
            <a:pPr marL="0" indent="0">
              <a:buNone/>
            </a:pPr>
            <a:r>
              <a:rPr lang="en-US" sz="1400" dirty="0" err="1">
                <a:solidFill>
                  <a:srgbClr val="333333"/>
                </a:solidFill>
                <a:latin typeface="游ゴシック" pitchFamily="34" charset="0"/>
                <a:ea typeface="游ゴシック" pitchFamily="34" charset="-122"/>
                <a:cs typeface="游ゴシック" pitchFamily="34" charset="-120"/>
              </a:rPr>
              <a:t>設計部門（B細胞）や工場（形質細胞）そのものを破壊。単なる鎮静ではなく、免疫の</a:t>
            </a:r>
            <a:endParaRPr lang="en-US" sz="1400" dirty="0">
              <a:solidFill>
                <a:srgbClr val="333333"/>
              </a:solidFill>
              <a:latin typeface="游ゴシック" pitchFamily="34" charset="0"/>
              <a:ea typeface="游ゴシック" pitchFamily="34" charset="-122"/>
              <a:cs typeface="游ゴシック" pitchFamily="34" charset="-120"/>
            </a:endParaRPr>
          </a:p>
          <a:p>
            <a:pPr marL="0" indent="0">
              <a:buNone/>
            </a:pPr>
            <a:r>
              <a:rPr lang="en-US" sz="1400" dirty="0">
                <a:solidFill>
                  <a:srgbClr val="333333"/>
                </a:solidFill>
                <a:latin typeface="游ゴシック" pitchFamily="34" charset="0"/>
                <a:ea typeface="游ゴシック" pitchFamily="34" charset="-122"/>
                <a:cs typeface="游ゴシック" pitchFamily="34" charset="-120"/>
              </a:rPr>
              <a:t>「誤学習」をリセット。</a:t>
            </a:r>
            <a:endParaRPr lang="en-US" sz="1400" dirty="0"/>
          </a:p>
        </p:txBody>
      </p:sp>
      <p:sp>
        <p:nvSpPr>
          <p:cNvPr id="25" name="Text 2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7 / 42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2. なぜCAR-Tが自己免疫に効くのか</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SLEデータが示した「免疫リセット」の証拠</a:t>
            </a:r>
            <a:endParaRPr lang="en-US" sz="2600" dirty="0"/>
          </a:p>
        </p:txBody>
      </p:sp>
      <p:sp>
        <p:nvSpPr>
          <p:cNvPr id="5" name="Shape 3"/>
          <p:cNvSpPr/>
          <p:nvPr/>
        </p:nvSpPr>
        <p:spPr>
          <a:xfrm>
            <a:off x="365760" y="1280160"/>
            <a:ext cx="841248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54864" cy="1463040"/>
          </a:xfrm>
          <a:prstGeom prst="rect">
            <a:avLst/>
          </a:prstGeom>
          <a:solidFill>
            <a:srgbClr val="2C5AA0"/>
          </a:solidFill>
          <a:ln/>
        </p:spPr>
        <p:txBody>
          <a:bodyPr/>
          <a:lstStyle/>
          <a:p>
            <a:endParaRPr lang="ja-JP" altLang="en-US"/>
          </a:p>
        </p:txBody>
      </p:sp>
      <p:sp>
        <p:nvSpPr>
          <p:cNvPr id="7" name="Text 5"/>
          <p:cNvSpPr/>
          <p:nvPr/>
        </p:nvSpPr>
        <p:spPr>
          <a:xfrm>
            <a:off x="548640" y="1371600"/>
            <a:ext cx="4572000" cy="274320"/>
          </a:xfrm>
          <a:prstGeom prst="rect">
            <a:avLst/>
          </a:prstGeom>
          <a:noFill/>
          <a:ln/>
        </p:spPr>
        <p:txBody>
          <a:bodyPr wrap="square" rtlCol="0" anchor="ctr"/>
          <a:lstStyle/>
          <a:p>
            <a:pPr marL="0" indent="0">
              <a:buNone/>
            </a:pPr>
            <a:r>
              <a:rPr lang="en-US" sz="1400" b="1" dirty="0">
                <a:solidFill>
                  <a:srgbClr val="2C5AA0"/>
                </a:solidFill>
                <a:latin typeface="Segoe UI" pitchFamily="34" charset="0"/>
                <a:ea typeface="Segoe UI" pitchFamily="34" charset="-122"/>
                <a:cs typeface="Segoe UI" pitchFamily="34" charset="-120"/>
              </a:rPr>
              <a:t>Mackensen et al. Nat Med 2022</a:t>
            </a:r>
            <a:endParaRPr lang="en-US" sz="1400" dirty="0"/>
          </a:p>
        </p:txBody>
      </p:sp>
      <p:sp>
        <p:nvSpPr>
          <p:cNvPr id="8" name="Text 6"/>
          <p:cNvSpPr/>
          <p:nvPr/>
        </p:nvSpPr>
        <p:spPr>
          <a:xfrm>
            <a:off x="548640" y="1691640"/>
            <a:ext cx="3657600" cy="320040"/>
          </a:xfrm>
          <a:prstGeom prst="rect">
            <a:avLst/>
          </a:prstGeom>
          <a:noFill/>
          <a:ln/>
        </p:spPr>
        <p:txBody>
          <a:bodyPr wrap="square" rtlCol="0" anchor="ctr"/>
          <a:lstStyle/>
          <a:p>
            <a:pPr marL="0" indent="0">
              <a:buNone/>
            </a:pPr>
            <a:r>
              <a:rPr lang="en-US" sz="1800" b="1" dirty="0">
                <a:solidFill>
                  <a:srgbClr val="1B3A5C"/>
                </a:solidFill>
                <a:latin typeface="游ゴシック" pitchFamily="34" charset="0"/>
                <a:ea typeface="游ゴシック" pitchFamily="34" charset="-122"/>
                <a:cs typeface="游ゴシック" pitchFamily="34" charset="-120"/>
              </a:rPr>
              <a:t>難治性SLE 5例 → CD19 CAR-T</a:t>
            </a:r>
            <a:endParaRPr lang="en-US" sz="1800" dirty="0"/>
          </a:p>
        </p:txBody>
      </p:sp>
      <p:sp>
        <p:nvSpPr>
          <p:cNvPr id="9" name="Text 7"/>
          <p:cNvSpPr/>
          <p:nvPr/>
        </p:nvSpPr>
        <p:spPr>
          <a:xfrm>
            <a:off x="4800600" y="1353185"/>
            <a:ext cx="1280160" cy="502920"/>
          </a:xfrm>
          <a:prstGeom prst="rect">
            <a:avLst/>
          </a:prstGeom>
          <a:noFill/>
          <a:ln/>
        </p:spPr>
        <p:txBody>
          <a:bodyPr wrap="square" rtlCol="0" anchor="ctr"/>
          <a:lstStyle/>
          <a:p>
            <a:pPr marL="0" indent="0" algn="ctr">
              <a:buNone/>
            </a:pPr>
            <a:r>
              <a:rPr lang="en-US" sz="2200" b="1" dirty="0">
                <a:solidFill>
                  <a:srgbClr val="28A745"/>
                </a:solidFill>
                <a:latin typeface="Segoe UI" pitchFamily="34" charset="0"/>
                <a:ea typeface="Segoe UI" pitchFamily="34" charset="-122"/>
                <a:cs typeface="Segoe UI" pitchFamily="34" charset="-120"/>
              </a:rPr>
              <a:t>5/5</a:t>
            </a:r>
            <a:endParaRPr lang="en-US" sz="2200" dirty="0"/>
          </a:p>
        </p:txBody>
      </p:sp>
      <p:sp>
        <p:nvSpPr>
          <p:cNvPr id="10" name="Text 8"/>
          <p:cNvSpPr/>
          <p:nvPr/>
        </p:nvSpPr>
        <p:spPr>
          <a:xfrm>
            <a:off x="4937762" y="1874520"/>
            <a:ext cx="1280160" cy="6400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DORIS寛解</a:t>
            </a:r>
            <a:endParaRPr lang="en-US" sz="1200" dirty="0"/>
          </a:p>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（3か月）</a:t>
            </a:r>
            <a:endParaRPr lang="en-US" sz="1200" dirty="0"/>
          </a:p>
        </p:txBody>
      </p:sp>
      <p:sp>
        <p:nvSpPr>
          <p:cNvPr id="11" name="Text 9"/>
          <p:cNvSpPr/>
          <p:nvPr/>
        </p:nvSpPr>
        <p:spPr>
          <a:xfrm>
            <a:off x="6088380" y="1327785"/>
            <a:ext cx="1280160" cy="502920"/>
          </a:xfrm>
          <a:prstGeom prst="rect">
            <a:avLst/>
          </a:prstGeom>
          <a:noFill/>
          <a:ln/>
        </p:spPr>
        <p:txBody>
          <a:bodyPr wrap="square" rtlCol="0" anchor="ctr"/>
          <a:lstStyle/>
          <a:p>
            <a:pPr marL="0" indent="0" algn="ctr">
              <a:buNone/>
            </a:pPr>
            <a:r>
              <a:rPr lang="en-US" sz="2200" b="1" dirty="0">
                <a:solidFill>
                  <a:srgbClr val="2C5AA0"/>
                </a:solidFill>
                <a:latin typeface="Segoe UI" pitchFamily="34" charset="0"/>
                <a:ea typeface="Segoe UI" pitchFamily="34" charset="-122"/>
                <a:cs typeface="Segoe UI" pitchFamily="34" charset="-120"/>
              </a:rPr>
              <a:t>100%</a:t>
            </a:r>
            <a:endParaRPr lang="en-US" sz="2200" dirty="0"/>
          </a:p>
        </p:txBody>
      </p:sp>
      <p:sp>
        <p:nvSpPr>
          <p:cNvPr id="12" name="Text 10"/>
          <p:cNvSpPr/>
          <p:nvPr/>
        </p:nvSpPr>
        <p:spPr>
          <a:xfrm>
            <a:off x="6172200" y="1874520"/>
            <a:ext cx="1280160" cy="6400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薬剤フリー</a:t>
            </a:r>
            <a:endParaRPr lang="en-US" sz="1200" dirty="0"/>
          </a:p>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寛解持続</a:t>
            </a:r>
            <a:endParaRPr lang="en-US" sz="1200" dirty="0"/>
          </a:p>
        </p:txBody>
      </p:sp>
      <p:sp>
        <p:nvSpPr>
          <p:cNvPr id="13" name="Text 11"/>
          <p:cNvSpPr/>
          <p:nvPr/>
        </p:nvSpPr>
        <p:spPr>
          <a:xfrm>
            <a:off x="7376161" y="1362393"/>
            <a:ext cx="1524000" cy="502920"/>
          </a:xfrm>
          <a:prstGeom prst="rect">
            <a:avLst/>
          </a:prstGeom>
          <a:noFill/>
          <a:ln/>
        </p:spPr>
        <p:txBody>
          <a:bodyPr wrap="square" rtlCol="0" anchor="ctr"/>
          <a:lstStyle/>
          <a:p>
            <a:pPr marL="0" indent="0" algn="ctr">
              <a:buNone/>
            </a:pPr>
            <a:r>
              <a:rPr lang="en-US" sz="2200" b="1" dirty="0">
                <a:solidFill>
                  <a:srgbClr val="E8850C"/>
                </a:solidFill>
                <a:latin typeface="Segoe UI" pitchFamily="34" charset="0"/>
                <a:ea typeface="Segoe UI" pitchFamily="34" charset="-122"/>
                <a:cs typeface="Segoe UI" pitchFamily="34" charset="-120"/>
              </a:rPr>
              <a:t>Naive寄り</a:t>
            </a:r>
            <a:endParaRPr lang="en-US" sz="2200" dirty="0"/>
          </a:p>
        </p:txBody>
      </p:sp>
      <p:sp>
        <p:nvSpPr>
          <p:cNvPr id="14" name="Text 12"/>
          <p:cNvSpPr/>
          <p:nvPr/>
        </p:nvSpPr>
        <p:spPr>
          <a:xfrm>
            <a:off x="7559039" y="1868170"/>
            <a:ext cx="1280160" cy="6400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再出現B細胞</a:t>
            </a:r>
            <a:endParaRPr lang="en-US" sz="1200" dirty="0"/>
          </a:p>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の性質</a:t>
            </a:r>
            <a:endParaRPr lang="en-US" sz="1200" dirty="0"/>
          </a:p>
        </p:txBody>
      </p:sp>
      <p:sp>
        <p:nvSpPr>
          <p:cNvPr id="15" name="Shape 13"/>
          <p:cNvSpPr/>
          <p:nvPr/>
        </p:nvSpPr>
        <p:spPr>
          <a:xfrm>
            <a:off x="365760" y="2926080"/>
            <a:ext cx="8412480" cy="91440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6" name="Shape 14"/>
          <p:cNvSpPr/>
          <p:nvPr/>
        </p:nvSpPr>
        <p:spPr>
          <a:xfrm>
            <a:off x="365760" y="2926080"/>
            <a:ext cx="54864" cy="914400"/>
          </a:xfrm>
          <a:prstGeom prst="rect">
            <a:avLst/>
          </a:prstGeom>
          <a:solidFill>
            <a:srgbClr val="2C5AA0"/>
          </a:solidFill>
          <a:ln/>
        </p:spPr>
        <p:txBody>
          <a:bodyPr/>
          <a:lstStyle/>
          <a:p>
            <a:endParaRPr lang="ja-JP" altLang="en-US"/>
          </a:p>
        </p:txBody>
      </p:sp>
      <p:sp>
        <p:nvSpPr>
          <p:cNvPr id="17" name="Text 15"/>
          <p:cNvSpPr/>
          <p:nvPr/>
        </p:nvSpPr>
        <p:spPr>
          <a:xfrm>
            <a:off x="548640" y="3017520"/>
            <a:ext cx="8046720" cy="73152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戻ってきたB細胞は未熟・naive寄り → 病気を覚えたB細胞がそのまま戻ったわけではない → 免疫の再起動が起きている</a:t>
            </a:r>
            <a:endParaRPr lang="en-US" sz="1600" dirty="0"/>
          </a:p>
        </p:txBody>
      </p:sp>
      <p:sp>
        <p:nvSpPr>
          <p:cNvPr id="18" name="Shape 16"/>
          <p:cNvSpPr/>
          <p:nvPr/>
        </p:nvSpPr>
        <p:spPr>
          <a:xfrm>
            <a:off x="365760" y="4023360"/>
            <a:ext cx="39319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9" name="Shape 17"/>
          <p:cNvSpPr/>
          <p:nvPr/>
        </p:nvSpPr>
        <p:spPr>
          <a:xfrm>
            <a:off x="365760" y="4023360"/>
            <a:ext cx="54864" cy="822960"/>
          </a:xfrm>
          <a:prstGeom prst="rect">
            <a:avLst/>
          </a:prstGeom>
          <a:solidFill>
            <a:srgbClr val="28A745"/>
          </a:solidFill>
          <a:ln/>
        </p:spPr>
        <p:txBody>
          <a:bodyPr/>
          <a:lstStyle/>
          <a:p>
            <a:endParaRPr lang="ja-JP" altLang="en-US"/>
          </a:p>
        </p:txBody>
      </p:sp>
      <p:sp>
        <p:nvSpPr>
          <p:cNvPr id="20" name="Text 18"/>
          <p:cNvSpPr/>
          <p:nvPr/>
        </p:nvSpPr>
        <p:spPr>
          <a:xfrm>
            <a:off x="548640" y="4069080"/>
            <a:ext cx="3566160" cy="73152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NEJM 15例 </a:t>
            </a:r>
            <a:r>
              <a:rPr lang="en-US" sz="1400" dirty="0">
                <a:solidFill>
                  <a:srgbClr val="333333"/>
                </a:solidFill>
                <a:latin typeface="游ゴシック" pitchFamily="34" charset="0"/>
                <a:ea typeface="游ゴシック" pitchFamily="34" charset="-122"/>
                <a:cs typeface="游ゴシック" pitchFamily="34" charset="-120"/>
              </a:rPr>
              <a:t>(SLE・筋炎・強皮症)</a:t>
            </a:r>
            <a:endParaRPr lang="en-US" sz="15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多くで免疫抑制薬を止めても寛解持続</a:t>
            </a:r>
            <a:endParaRPr lang="en-US" sz="1500" dirty="0"/>
          </a:p>
        </p:txBody>
      </p:sp>
      <p:sp>
        <p:nvSpPr>
          <p:cNvPr id="21" name="Shape 19"/>
          <p:cNvSpPr/>
          <p:nvPr/>
        </p:nvSpPr>
        <p:spPr>
          <a:xfrm>
            <a:off x="4846320" y="4023360"/>
            <a:ext cx="3931920" cy="822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4846320" y="4023360"/>
            <a:ext cx="54864" cy="822960"/>
          </a:xfrm>
          <a:prstGeom prst="rect">
            <a:avLst/>
          </a:prstGeom>
          <a:solidFill>
            <a:srgbClr val="28A745"/>
          </a:solidFill>
          <a:ln/>
        </p:spPr>
        <p:txBody>
          <a:bodyPr/>
          <a:lstStyle/>
          <a:p>
            <a:endParaRPr lang="ja-JP" altLang="en-US"/>
          </a:p>
        </p:txBody>
      </p:sp>
      <p:sp>
        <p:nvSpPr>
          <p:cNvPr id="23" name="Text 21"/>
          <p:cNvSpPr/>
          <p:nvPr/>
        </p:nvSpPr>
        <p:spPr>
          <a:xfrm>
            <a:off x="5029200" y="4069080"/>
            <a:ext cx="3566160" cy="73152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CASTLE試験 24例 </a:t>
            </a:r>
            <a:r>
              <a:rPr lang="en-US" sz="1400" dirty="0">
                <a:solidFill>
                  <a:srgbClr val="333333"/>
                </a:solidFill>
                <a:latin typeface="游ゴシック" pitchFamily="34" charset="0"/>
                <a:ea typeface="游ゴシック" pitchFamily="34" charset="-122"/>
                <a:cs typeface="游ゴシック" pitchFamily="34" charset="-120"/>
              </a:rPr>
              <a:t>(phase 1/2)</a:t>
            </a:r>
            <a:endParaRPr lang="en-US" sz="15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寛解・改善が長期持続することを確認</a:t>
            </a:r>
            <a:endParaRPr lang="en-US" sz="1500" dirty="0"/>
          </a:p>
        </p:txBody>
      </p:sp>
      <p:sp>
        <p:nvSpPr>
          <p:cNvPr id="24" name="Text 22"/>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8 / 42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03</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標的の違いを1枚で整理する</a:t>
            </a:r>
            <a:endParaRPr lang="en-US" sz="34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CD19 / BCMA / CAAR-T — どこを狙うかで治療が変わる</a:t>
            </a:r>
            <a:endParaRPr lang="en-US" sz="1800" dirty="0"/>
          </a:p>
        </p:txBody>
      </p:sp>
      <p:sp>
        <p:nvSpPr>
          <p:cNvPr id="5" name="Shape 3"/>
          <p:cNvSpPr/>
          <p:nvPr/>
        </p:nvSpPr>
        <p:spPr>
          <a:xfrm>
            <a:off x="7132320" y="1645920"/>
            <a:ext cx="1737360" cy="3063240"/>
          </a:xfrm>
          <a:prstGeom prst="roundRect">
            <a:avLst>
              <a:gd name="adj" fmla="val 5263"/>
            </a:avLst>
          </a:prstGeom>
          <a:solidFill>
            <a:srgbClr val="FFFFFF"/>
          </a:solidFill>
          <a:ln/>
          <a:effectLst>
            <a:outerShdw blurRad="50800" dist="25400" dir="8100000" algn="bl" rotWithShape="0">
              <a:srgbClr val="000000">
                <a:alpha val="20000"/>
              </a:srgbClr>
            </a:outerShdw>
          </a:effectLst>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7269480" y="1783080"/>
            <a:ext cx="1463040" cy="2249424"/>
          </a:xfrm>
          <a:prstGeom prst="rect">
            <a:avLst/>
          </a:prstGeom>
        </p:spPr>
      </p:pic>
      <p:sp>
        <p:nvSpPr>
          <p:cNvPr id="7" name="Text 4"/>
          <p:cNvSpPr/>
          <p:nvPr/>
        </p:nvSpPr>
        <p:spPr>
          <a:xfrm>
            <a:off x="7132320" y="4114800"/>
            <a:ext cx="1737360" cy="320040"/>
          </a:xfrm>
          <a:prstGeom prst="rect">
            <a:avLst/>
          </a:prstGeom>
          <a:noFill/>
          <a:ln/>
        </p:spPr>
        <p:txBody>
          <a:bodyPr wrap="square" rtlCol="0" anchor="ctr"/>
          <a:lstStyle/>
          <a:p>
            <a:pPr marL="0" indent="0" algn="ctr">
              <a:buNone/>
            </a:pPr>
            <a:r>
              <a:rPr lang="en-US" sz="700" dirty="0">
                <a:solidFill>
                  <a:srgbClr val="999999"/>
                </a:solidFill>
                <a:latin typeface="Segoe UI" pitchFamily="34" charset="0"/>
                <a:ea typeface="Segoe UI" pitchFamily="34" charset="-122"/>
                <a:cs typeface="Segoe UI" pitchFamily="34" charset="-120"/>
              </a:rPr>
              <a:t>Wikimedia Commons</a:t>
            </a:r>
            <a:endParaRPr lang="en-US" sz="700" dirty="0"/>
          </a:p>
          <a:p>
            <a:pPr marL="0" indent="0" algn="ctr">
              <a:buNone/>
            </a:pPr>
            <a:r>
              <a:rPr lang="en-US" sz="700" dirty="0">
                <a:solidFill>
                  <a:srgbClr val="999999"/>
                </a:solidFill>
                <a:latin typeface="Segoe UI" pitchFamily="34" charset="0"/>
                <a:ea typeface="Segoe UI" pitchFamily="34" charset="-122"/>
                <a:cs typeface="Segoe UI" pitchFamily="34" charset="-120"/>
              </a:rPr>
              <a:t>(CC BY-SA 4.0)</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3. 標的の違いを整理する</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B細胞系の「川上→川下」と各標的</a:t>
            </a:r>
            <a:endParaRPr lang="en-US" sz="2600" dirty="0"/>
          </a:p>
        </p:txBody>
      </p:sp>
      <p:sp>
        <p:nvSpPr>
          <p:cNvPr id="5" name="Shape 3"/>
          <p:cNvSpPr/>
          <p:nvPr/>
        </p:nvSpPr>
        <p:spPr>
          <a:xfrm>
            <a:off x="457200" y="1371600"/>
            <a:ext cx="1828800" cy="914400"/>
          </a:xfrm>
          <a:prstGeom prst="ellipse">
            <a:avLst/>
          </a:prstGeom>
          <a:solidFill>
            <a:srgbClr val="4A90D9"/>
          </a:solidFill>
          <a:ln/>
        </p:spPr>
        <p:txBody>
          <a:bodyPr/>
          <a:lstStyle/>
          <a:p>
            <a:endParaRPr lang="ja-JP" altLang="en-US"/>
          </a:p>
        </p:txBody>
      </p:sp>
      <p:sp>
        <p:nvSpPr>
          <p:cNvPr id="6" name="Text 4"/>
          <p:cNvSpPr/>
          <p:nvPr/>
        </p:nvSpPr>
        <p:spPr>
          <a:xfrm>
            <a:off x="457200" y="1371600"/>
            <a:ext cx="1828800" cy="9144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Naive</a:t>
            </a:r>
            <a:endParaRPr lang="en-US" sz="1500" dirty="0"/>
          </a:p>
          <a:p>
            <a:pPr marL="0" indent="0" algn="ctr">
              <a:buNone/>
            </a:pPr>
            <a:r>
              <a:rPr lang="en-US" sz="1500" b="1" dirty="0">
                <a:solidFill>
                  <a:srgbClr val="FFFFFF"/>
                </a:solidFill>
                <a:latin typeface="Segoe UI" pitchFamily="34" charset="0"/>
                <a:ea typeface="Segoe UI" pitchFamily="34" charset="-122"/>
                <a:cs typeface="Segoe UI" pitchFamily="34" charset="-120"/>
              </a:rPr>
              <a:t>B cell</a:t>
            </a:r>
            <a:endParaRPr lang="en-US" sz="1500" dirty="0"/>
          </a:p>
        </p:txBody>
      </p:sp>
      <p:sp>
        <p:nvSpPr>
          <p:cNvPr id="7" name="Shape 5"/>
          <p:cNvSpPr/>
          <p:nvPr/>
        </p:nvSpPr>
        <p:spPr>
          <a:xfrm>
            <a:off x="2560320" y="1371600"/>
            <a:ext cx="1828800" cy="914400"/>
          </a:xfrm>
          <a:prstGeom prst="ellipse">
            <a:avLst/>
          </a:prstGeom>
          <a:solidFill>
            <a:srgbClr val="2C5AA0"/>
          </a:solidFill>
          <a:ln/>
        </p:spPr>
        <p:txBody>
          <a:bodyPr/>
          <a:lstStyle/>
          <a:p>
            <a:endParaRPr lang="ja-JP" altLang="en-US"/>
          </a:p>
        </p:txBody>
      </p:sp>
      <p:sp>
        <p:nvSpPr>
          <p:cNvPr id="8" name="Text 6"/>
          <p:cNvSpPr/>
          <p:nvPr/>
        </p:nvSpPr>
        <p:spPr>
          <a:xfrm>
            <a:off x="2560320" y="1371600"/>
            <a:ext cx="1828800" cy="9144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Memory</a:t>
            </a:r>
            <a:endParaRPr lang="en-US" sz="1500" dirty="0"/>
          </a:p>
          <a:p>
            <a:pPr marL="0" indent="0" algn="ctr">
              <a:buNone/>
            </a:pPr>
            <a:r>
              <a:rPr lang="en-US" sz="1500" b="1" dirty="0">
                <a:solidFill>
                  <a:srgbClr val="FFFFFF"/>
                </a:solidFill>
                <a:latin typeface="Segoe UI" pitchFamily="34" charset="0"/>
                <a:ea typeface="Segoe UI" pitchFamily="34" charset="-122"/>
                <a:cs typeface="Segoe UI" pitchFamily="34" charset="-120"/>
              </a:rPr>
              <a:t>B cell</a:t>
            </a:r>
            <a:endParaRPr lang="en-US" sz="1500" dirty="0"/>
          </a:p>
        </p:txBody>
      </p:sp>
      <p:sp>
        <p:nvSpPr>
          <p:cNvPr id="9" name="Shape 7"/>
          <p:cNvSpPr/>
          <p:nvPr/>
        </p:nvSpPr>
        <p:spPr>
          <a:xfrm>
            <a:off x="4663440" y="1371600"/>
            <a:ext cx="1828800" cy="914400"/>
          </a:xfrm>
          <a:prstGeom prst="ellipse">
            <a:avLst/>
          </a:prstGeom>
          <a:solidFill>
            <a:srgbClr val="1B3A5C"/>
          </a:solidFill>
          <a:ln/>
        </p:spPr>
        <p:txBody>
          <a:bodyPr/>
          <a:lstStyle/>
          <a:p>
            <a:endParaRPr lang="ja-JP" altLang="en-US"/>
          </a:p>
        </p:txBody>
      </p:sp>
      <p:sp>
        <p:nvSpPr>
          <p:cNvPr id="10" name="Text 8"/>
          <p:cNvSpPr/>
          <p:nvPr/>
        </p:nvSpPr>
        <p:spPr>
          <a:xfrm>
            <a:off x="4663440" y="1371600"/>
            <a:ext cx="1828800" cy="9144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Plasma-</a:t>
            </a:r>
            <a:endParaRPr lang="en-US" sz="1500" dirty="0"/>
          </a:p>
          <a:p>
            <a:pPr marL="0" indent="0" algn="ctr">
              <a:buNone/>
            </a:pPr>
            <a:r>
              <a:rPr lang="en-US" sz="1500" b="1" dirty="0">
                <a:solidFill>
                  <a:srgbClr val="FFFFFF"/>
                </a:solidFill>
                <a:latin typeface="Segoe UI" pitchFamily="34" charset="0"/>
                <a:ea typeface="Segoe UI" pitchFamily="34" charset="-122"/>
                <a:cs typeface="Segoe UI" pitchFamily="34" charset="-120"/>
              </a:rPr>
              <a:t>blast</a:t>
            </a:r>
            <a:endParaRPr lang="en-US" sz="1500" dirty="0"/>
          </a:p>
        </p:txBody>
      </p:sp>
      <p:sp>
        <p:nvSpPr>
          <p:cNvPr id="11" name="Shape 9"/>
          <p:cNvSpPr/>
          <p:nvPr/>
        </p:nvSpPr>
        <p:spPr>
          <a:xfrm>
            <a:off x="6766560" y="1371600"/>
            <a:ext cx="1828800" cy="914400"/>
          </a:xfrm>
          <a:prstGeom prst="ellipse">
            <a:avLst/>
          </a:prstGeom>
          <a:solidFill>
            <a:srgbClr val="0F2440"/>
          </a:solidFill>
          <a:ln/>
        </p:spPr>
        <p:txBody>
          <a:bodyPr/>
          <a:lstStyle/>
          <a:p>
            <a:endParaRPr lang="ja-JP" altLang="en-US"/>
          </a:p>
        </p:txBody>
      </p:sp>
      <p:sp>
        <p:nvSpPr>
          <p:cNvPr id="12" name="Text 10"/>
          <p:cNvSpPr/>
          <p:nvPr/>
        </p:nvSpPr>
        <p:spPr>
          <a:xfrm>
            <a:off x="6766560" y="1371600"/>
            <a:ext cx="1828800" cy="9144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Plasma</a:t>
            </a:r>
            <a:endParaRPr lang="en-US" sz="1500" dirty="0"/>
          </a:p>
          <a:p>
            <a:pPr marL="0" indent="0" algn="ctr">
              <a:buNone/>
            </a:pPr>
            <a:r>
              <a:rPr lang="en-US" sz="1500" b="1" dirty="0">
                <a:solidFill>
                  <a:srgbClr val="FFFFFF"/>
                </a:solidFill>
                <a:latin typeface="Segoe UI" pitchFamily="34" charset="0"/>
                <a:ea typeface="Segoe UI" pitchFamily="34" charset="-122"/>
                <a:cs typeface="Segoe UI" pitchFamily="34" charset="-120"/>
              </a:rPr>
              <a:t>cell</a:t>
            </a:r>
            <a:endParaRPr lang="en-US" sz="1500" dirty="0"/>
          </a:p>
        </p:txBody>
      </p:sp>
      <p:sp>
        <p:nvSpPr>
          <p:cNvPr id="13" name="Text 11"/>
          <p:cNvSpPr/>
          <p:nvPr/>
        </p:nvSpPr>
        <p:spPr>
          <a:xfrm>
            <a:off x="2286000" y="1554480"/>
            <a:ext cx="365760" cy="457200"/>
          </a:xfrm>
          <a:prstGeom prst="rect">
            <a:avLst/>
          </a:prstGeom>
          <a:noFill/>
          <a:ln/>
        </p:spPr>
        <p:txBody>
          <a:bodyPr wrap="square" rtlCol="0" anchor="ctr"/>
          <a:lstStyle/>
          <a:p>
            <a:pPr marL="0" indent="0" algn="ctr">
              <a:buNone/>
            </a:pPr>
            <a:r>
              <a:rPr lang="en-US" sz="2400" dirty="0">
                <a:solidFill>
                  <a:srgbClr val="2C5AA0"/>
                </a:solidFill>
                <a:latin typeface="Segoe UI" pitchFamily="34" charset="0"/>
                <a:ea typeface="Segoe UI" pitchFamily="34" charset="-122"/>
                <a:cs typeface="Segoe UI" pitchFamily="34" charset="-120"/>
              </a:rPr>
              <a:t>→</a:t>
            </a:r>
            <a:endParaRPr lang="en-US" sz="2400" dirty="0"/>
          </a:p>
        </p:txBody>
      </p:sp>
      <p:sp>
        <p:nvSpPr>
          <p:cNvPr id="14" name="Text 12"/>
          <p:cNvSpPr/>
          <p:nvPr/>
        </p:nvSpPr>
        <p:spPr>
          <a:xfrm>
            <a:off x="4389120" y="1554480"/>
            <a:ext cx="365760" cy="457200"/>
          </a:xfrm>
          <a:prstGeom prst="rect">
            <a:avLst/>
          </a:prstGeom>
          <a:noFill/>
          <a:ln/>
        </p:spPr>
        <p:txBody>
          <a:bodyPr wrap="square" rtlCol="0" anchor="ctr"/>
          <a:lstStyle/>
          <a:p>
            <a:pPr marL="0" indent="0" algn="ctr">
              <a:buNone/>
            </a:pPr>
            <a:r>
              <a:rPr lang="en-US" sz="2400" dirty="0">
                <a:solidFill>
                  <a:srgbClr val="2C5AA0"/>
                </a:solidFill>
                <a:latin typeface="Segoe UI" pitchFamily="34" charset="0"/>
                <a:ea typeface="Segoe UI" pitchFamily="34" charset="-122"/>
                <a:cs typeface="Segoe UI" pitchFamily="34" charset="-120"/>
              </a:rPr>
              <a:t>→</a:t>
            </a:r>
            <a:endParaRPr lang="en-US" sz="2400" dirty="0"/>
          </a:p>
        </p:txBody>
      </p:sp>
      <p:sp>
        <p:nvSpPr>
          <p:cNvPr id="15" name="Text 13"/>
          <p:cNvSpPr/>
          <p:nvPr/>
        </p:nvSpPr>
        <p:spPr>
          <a:xfrm>
            <a:off x="6492240" y="1554480"/>
            <a:ext cx="365760" cy="457200"/>
          </a:xfrm>
          <a:prstGeom prst="rect">
            <a:avLst/>
          </a:prstGeom>
          <a:noFill/>
          <a:ln/>
        </p:spPr>
        <p:txBody>
          <a:bodyPr wrap="square" rtlCol="0" anchor="ctr"/>
          <a:lstStyle/>
          <a:p>
            <a:pPr marL="0" indent="0" algn="ctr">
              <a:buNone/>
            </a:pPr>
            <a:r>
              <a:rPr lang="en-US" sz="2400" dirty="0">
                <a:solidFill>
                  <a:srgbClr val="2C5AA0"/>
                </a:solidFill>
                <a:latin typeface="Segoe UI" pitchFamily="34" charset="0"/>
                <a:ea typeface="Segoe UI" pitchFamily="34" charset="-122"/>
                <a:cs typeface="Segoe UI" pitchFamily="34" charset="-120"/>
              </a:rPr>
              <a:t>→</a:t>
            </a:r>
            <a:endParaRPr lang="en-US" sz="2400" dirty="0"/>
          </a:p>
        </p:txBody>
      </p:sp>
      <p:sp>
        <p:nvSpPr>
          <p:cNvPr id="16" name="Shape 14"/>
          <p:cNvSpPr/>
          <p:nvPr/>
        </p:nvSpPr>
        <p:spPr>
          <a:xfrm>
            <a:off x="731520" y="2468880"/>
            <a:ext cx="3657600" cy="54864"/>
          </a:xfrm>
          <a:prstGeom prst="rect">
            <a:avLst/>
          </a:prstGeom>
          <a:solidFill>
            <a:srgbClr val="666666"/>
          </a:solidFill>
          <a:ln/>
        </p:spPr>
        <p:txBody>
          <a:bodyPr/>
          <a:lstStyle/>
          <a:p>
            <a:endParaRPr lang="ja-JP" altLang="en-US"/>
          </a:p>
        </p:txBody>
      </p:sp>
      <p:sp>
        <p:nvSpPr>
          <p:cNvPr id="17" name="Text 15"/>
          <p:cNvSpPr/>
          <p:nvPr/>
        </p:nvSpPr>
        <p:spPr>
          <a:xfrm>
            <a:off x="731520" y="2560320"/>
            <a:ext cx="3657600" cy="274320"/>
          </a:xfrm>
          <a:prstGeom prst="rect">
            <a:avLst/>
          </a:prstGeom>
          <a:noFill/>
          <a:ln/>
        </p:spPr>
        <p:txBody>
          <a:bodyPr wrap="square" rtlCol="0" anchor="ctr"/>
          <a:lstStyle/>
          <a:p>
            <a:pPr marL="0" indent="0" algn="ctr">
              <a:buNone/>
            </a:pPr>
            <a:r>
              <a:rPr lang="en-US" sz="1300" dirty="0">
                <a:solidFill>
                  <a:srgbClr val="666666"/>
                </a:solidFill>
                <a:latin typeface="游ゴシック" pitchFamily="34" charset="0"/>
                <a:ea typeface="游ゴシック" pitchFamily="34" charset="-122"/>
                <a:cs typeface="游ゴシック" pitchFamily="34" charset="-120"/>
              </a:rPr>
              <a:t>CD20 — 成熟B細胞</a:t>
            </a:r>
            <a:endParaRPr lang="en-US" sz="1300" dirty="0"/>
          </a:p>
        </p:txBody>
      </p:sp>
      <p:sp>
        <p:nvSpPr>
          <p:cNvPr id="18" name="Shape 16"/>
          <p:cNvSpPr/>
          <p:nvPr/>
        </p:nvSpPr>
        <p:spPr>
          <a:xfrm>
            <a:off x="457200" y="2926080"/>
            <a:ext cx="6400800" cy="54864"/>
          </a:xfrm>
          <a:prstGeom prst="rect">
            <a:avLst/>
          </a:prstGeom>
          <a:solidFill>
            <a:srgbClr val="2C5AA0"/>
          </a:solidFill>
          <a:ln/>
        </p:spPr>
        <p:txBody>
          <a:bodyPr/>
          <a:lstStyle/>
          <a:p>
            <a:endParaRPr lang="ja-JP" altLang="en-US"/>
          </a:p>
        </p:txBody>
      </p:sp>
      <p:sp>
        <p:nvSpPr>
          <p:cNvPr id="19" name="Text 17"/>
          <p:cNvSpPr/>
          <p:nvPr/>
        </p:nvSpPr>
        <p:spPr>
          <a:xfrm>
            <a:off x="457200" y="3017520"/>
            <a:ext cx="6400800" cy="274320"/>
          </a:xfrm>
          <a:prstGeom prst="rect">
            <a:avLst/>
          </a:prstGeom>
          <a:noFill/>
          <a:ln/>
        </p:spPr>
        <p:txBody>
          <a:bodyPr wrap="square" rtlCol="0" anchor="ctr"/>
          <a:lstStyle/>
          <a:p>
            <a:pPr marL="0" indent="0" algn="ctr">
              <a:buNone/>
            </a:pPr>
            <a:r>
              <a:rPr lang="en-US" sz="1300" b="1" dirty="0">
                <a:solidFill>
                  <a:srgbClr val="2C5AA0"/>
                </a:solidFill>
                <a:latin typeface="游ゴシック" pitchFamily="34" charset="0"/>
                <a:ea typeface="游ゴシック" pitchFamily="34" charset="-122"/>
                <a:cs typeface="游ゴシック" pitchFamily="34" charset="-120"/>
              </a:rPr>
              <a:t>CD19 — B細胞系を広くカバー</a:t>
            </a:r>
            <a:endParaRPr lang="en-US" sz="1300" dirty="0"/>
          </a:p>
        </p:txBody>
      </p:sp>
      <p:sp>
        <p:nvSpPr>
          <p:cNvPr id="20" name="Shape 18"/>
          <p:cNvSpPr/>
          <p:nvPr/>
        </p:nvSpPr>
        <p:spPr>
          <a:xfrm>
            <a:off x="4663440" y="3383280"/>
            <a:ext cx="3931920" cy="54864"/>
          </a:xfrm>
          <a:prstGeom prst="rect">
            <a:avLst/>
          </a:prstGeom>
          <a:solidFill>
            <a:srgbClr val="E8850C"/>
          </a:solidFill>
          <a:ln/>
        </p:spPr>
        <p:txBody>
          <a:bodyPr/>
          <a:lstStyle/>
          <a:p>
            <a:endParaRPr lang="ja-JP" altLang="en-US"/>
          </a:p>
        </p:txBody>
      </p:sp>
      <p:sp>
        <p:nvSpPr>
          <p:cNvPr id="21" name="Text 19"/>
          <p:cNvSpPr/>
          <p:nvPr/>
        </p:nvSpPr>
        <p:spPr>
          <a:xfrm>
            <a:off x="4663440" y="3474720"/>
            <a:ext cx="3931920" cy="274320"/>
          </a:xfrm>
          <a:prstGeom prst="rect">
            <a:avLst/>
          </a:prstGeom>
          <a:noFill/>
          <a:ln/>
        </p:spPr>
        <p:txBody>
          <a:bodyPr wrap="square" rtlCol="0" anchor="ctr"/>
          <a:lstStyle/>
          <a:p>
            <a:pPr marL="0" indent="0" algn="ctr">
              <a:buNone/>
            </a:pPr>
            <a:r>
              <a:rPr lang="en-US" sz="1300" b="1" dirty="0">
                <a:solidFill>
                  <a:srgbClr val="E8850C"/>
                </a:solidFill>
                <a:latin typeface="游ゴシック" pitchFamily="34" charset="0"/>
                <a:ea typeface="游ゴシック" pitchFamily="34" charset="-122"/>
                <a:cs typeface="游ゴシック" pitchFamily="34" charset="-120"/>
              </a:rPr>
              <a:t>BCMA — 形質芽細胞・形質細胞</a:t>
            </a:r>
            <a:endParaRPr lang="en-US" sz="1300" dirty="0"/>
          </a:p>
        </p:txBody>
      </p:sp>
      <p:sp>
        <p:nvSpPr>
          <p:cNvPr id="22" name="Shape 20"/>
          <p:cNvSpPr/>
          <p:nvPr/>
        </p:nvSpPr>
        <p:spPr>
          <a:xfrm>
            <a:off x="365760" y="3931920"/>
            <a:ext cx="8412480" cy="914400"/>
          </a:xfrm>
          <a:prstGeom prst="rect">
            <a:avLst/>
          </a:prstGeom>
          <a:solidFill>
            <a:srgbClr val="F0F7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365760" y="3931920"/>
            <a:ext cx="54864" cy="914400"/>
          </a:xfrm>
          <a:prstGeom prst="rect">
            <a:avLst/>
          </a:prstGeom>
          <a:solidFill>
            <a:srgbClr val="2C5AA0"/>
          </a:solidFill>
          <a:ln/>
        </p:spPr>
        <p:txBody>
          <a:bodyPr/>
          <a:lstStyle/>
          <a:p>
            <a:endParaRPr lang="ja-JP" altLang="en-US"/>
          </a:p>
        </p:txBody>
      </p:sp>
      <p:sp>
        <p:nvSpPr>
          <p:cNvPr id="24" name="Text 22"/>
          <p:cNvSpPr/>
          <p:nvPr/>
        </p:nvSpPr>
        <p:spPr>
          <a:xfrm>
            <a:off x="548640" y="3977640"/>
            <a:ext cx="8046720" cy="77724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CD19 は「広く深く」、BCMA は「抗体工場を直撃」、CD19+BCMA は「両方」、CAAR-T は「犯人だけ」</a:t>
            </a:r>
            <a:endParaRPr lang="en-US" sz="1600" dirty="0"/>
          </a:p>
        </p:txBody>
      </p:sp>
      <p:sp>
        <p:nvSpPr>
          <p:cNvPr id="25" name="Text 2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10 / 42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3. 標的の違いを整理する</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標的別CAR-Tの比較</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8412480" cy="2819400"/>
        </p:xfrm>
        <a:graphic>
          <a:graphicData uri="http://schemas.openxmlformats.org/drawingml/2006/table">
            <a:tbl>
              <a:tblPr/>
              <a:tblGrid>
                <a:gridCol w="1463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11480">
                <a:tc>
                  <a:txBody>
                    <a:bodyP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標的</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たとえ</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主に狙う場所</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tc>
                  <a:txBody>
                    <a:bodyP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何が得意か</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B3A5C"/>
                          </a:solidFill>
                          <a:latin typeface="游ゴシック" pitchFamily="34" charset="0"/>
                          <a:ea typeface="游ゴシック" pitchFamily="34" charset="-122"/>
                          <a:cs typeface="游ゴシック" pitchFamily="34" charset="-120"/>
                        </a:rPr>
                        <a:t>CD20</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現場の作業員</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成熟B細胞</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ふつうのB細胞を減らす</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2C5AA0"/>
                          </a:solidFill>
                          <a:latin typeface="游ゴシック" pitchFamily="34" charset="0"/>
                          <a:ea typeface="游ゴシック" pitchFamily="34" charset="-122"/>
                          <a:cs typeface="游ゴシック" pitchFamily="34" charset="-120"/>
                        </a:rPr>
                        <a:t>CD19</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会社全体＋記憶倉庫</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B細胞系を広く</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b="1" dirty="0">
                          <a:solidFill>
                            <a:srgbClr val="2C5AA0"/>
                          </a:solidFill>
                          <a:latin typeface="游ゴシック" pitchFamily="34" charset="0"/>
                          <a:ea typeface="游ゴシック" pitchFamily="34" charset="-122"/>
                          <a:cs typeface="游ゴシック" pitchFamily="34" charset="-120"/>
                        </a:rPr>
                        <a:t>免疫記憶ごと深くリセット</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E8850C"/>
                          </a:solidFill>
                          <a:latin typeface="游ゴシック" pitchFamily="34" charset="0"/>
                          <a:ea typeface="游ゴシック" pitchFamily="34" charset="-122"/>
                          <a:cs typeface="游ゴシック" pitchFamily="34" charset="-120"/>
                        </a:rPr>
                        <a:t>BCMA</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抗体工場</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plasmablast/</a:t>
                      </a:r>
                      <a:endParaRPr lang="en-US" sz="1400" dirty="0">
                        <a:latin typeface="游ゴシック" charset="0"/>
                        <a:ea typeface="游ゴシック" charset="0"/>
                        <a:cs typeface="游ゴシック" charset="0"/>
                      </a:endParaRPr>
                    </a:p>
                    <a:p>
                      <a:pPr marL="0" indent="0">
                        <a:buNone/>
                      </a:pPr>
                      <a:r>
                        <a:rPr lang="en-US" sz="1400" dirty="0">
                          <a:solidFill>
                            <a:srgbClr val="333333"/>
                          </a:solidFill>
                          <a:latin typeface="游ゴシック" pitchFamily="34" charset="0"/>
                          <a:ea typeface="游ゴシック" pitchFamily="34" charset="-122"/>
                          <a:cs typeface="游ゴシック" pitchFamily="34" charset="-120"/>
                        </a:rPr>
                        <a:t>plasma cell</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b="1" dirty="0">
                          <a:solidFill>
                            <a:srgbClr val="E8850C"/>
                          </a:solidFill>
                          <a:latin typeface="游ゴシック" pitchFamily="34" charset="0"/>
                          <a:ea typeface="游ゴシック" pitchFamily="34" charset="-122"/>
                          <a:cs typeface="游ゴシック" pitchFamily="34" charset="-120"/>
                        </a:rPr>
                        <a:t>いま抗体を作る細胞を叩く</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28A745"/>
                          </a:solidFill>
                          <a:latin typeface="游ゴシック" pitchFamily="34" charset="0"/>
                          <a:ea typeface="游ゴシック" pitchFamily="34" charset="-122"/>
                          <a:cs typeface="游ゴシック" pitchFamily="34" charset="-120"/>
                        </a:rPr>
                        <a:t>CD19+BCMA</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倉庫＋工場の両方</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上流と下流</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b="1" dirty="0">
                          <a:solidFill>
                            <a:srgbClr val="28A745"/>
                          </a:solidFill>
                          <a:latin typeface="游ゴシック" pitchFamily="34" charset="0"/>
                          <a:ea typeface="游ゴシック" pitchFamily="34" charset="-122"/>
                          <a:cs typeface="游ゴシック" pitchFamily="34" charset="-120"/>
                        </a:rPr>
                        <a:t>より深い除去</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DC3545"/>
                          </a:solidFill>
                          <a:latin typeface="游ゴシック" pitchFamily="34" charset="0"/>
                          <a:ea typeface="游ゴシック" pitchFamily="34" charset="-122"/>
                          <a:cs typeface="游ゴシック" pitchFamily="34" charset="-120"/>
                        </a:rPr>
                        <a:t>CAAR-T</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指名手配犯だけ狙う</a:t>
                      </a:r>
                      <a:endParaRPr lang="en-US" sz="1400" dirty="0">
                        <a:latin typeface="游ゴシック" charset="0"/>
                        <a:ea typeface="游ゴシック" charset="0"/>
                        <a:cs typeface="游ゴシック" charset="0"/>
                      </a:endParaRPr>
                    </a:p>
                    <a:p>
                      <a:pPr marL="0" indent="0">
                        <a:buNone/>
                      </a:pPr>
                      <a:r>
                        <a:rPr lang="en-US" sz="1400" dirty="0">
                          <a:solidFill>
                            <a:srgbClr val="333333"/>
                          </a:solidFill>
                          <a:latin typeface="游ゴシック" pitchFamily="34" charset="0"/>
                          <a:ea typeface="游ゴシック" pitchFamily="34" charset="-122"/>
                          <a:cs typeface="游ゴシック" pitchFamily="34" charset="-120"/>
                        </a:rPr>
                        <a:t>狙撃手</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自己抗原特異的</a:t>
                      </a:r>
                      <a:endParaRPr lang="en-US" sz="1400" dirty="0">
                        <a:latin typeface="游ゴシック" charset="0"/>
                        <a:ea typeface="游ゴシック" charset="0"/>
                        <a:cs typeface="游ゴシック" charset="0"/>
                      </a:endParaRPr>
                    </a:p>
                    <a:p>
                      <a:pPr marL="0" indent="0">
                        <a:buNone/>
                      </a:pPr>
                      <a:r>
                        <a:rPr lang="en-US" sz="1400" dirty="0">
                          <a:solidFill>
                            <a:srgbClr val="333333"/>
                          </a:solidFill>
                          <a:latin typeface="游ゴシック" pitchFamily="34" charset="0"/>
                          <a:ea typeface="游ゴシック" pitchFamily="34" charset="-122"/>
                          <a:cs typeface="游ゴシック" pitchFamily="34" charset="-120"/>
                        </a:rPr>
                        <a:t>B細胞</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marL="0" indent="0">
                        <a:buNone/>
                      </a:pPr>
                      <a:r>
                        <a:rPr lang="en-US" sz="1400" b="1" dirty="0">
                          <a:solidFill>
                            <a:srgbClr val="DC3545"/>
                          </a:solidFill>
                          <a:latin typeface="游ゴシック" pitchFamily="34" charset="0"/>
                          <a:ea typeface="游ゴシック" pitchFamily="34" charset="-122"/>
                          <a:cs typeface="游ゴシック" pitchFamily="34" charset="-120"/>
                        </a:rPr>
                        <a:t>正常免疫をなるべく残す</a:t>
                      </a:r>
                      <a:endParaRPr lang="en-US" sz="1400" dirty="0">
                        <a:latin typeface="游ゴシック" charset="0"/>
                        <a:ea typeface="游ゴシック" charset="0"/>
                        <a:cs typeface="游ゴシック" charset="0"/>
                      </a:endParaRPr>
                    </a:p>
                  </a:txBody>
                  <a:tcPr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365760" y="4160520"/>
            <a:ext cx="8412480" cy="73152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7" name="Shape 4"/>
          <p:cNvSpPr/>
          <p:nvPr/>
        </p:nvSpPr>
        <p:spPr>
          <a:xfrm>
            <a:off x="365760" y="4160520"/>
            <a:ext cx="54864" cy="731520"/>
          </a:xfrm>
          <a:prstGeom prst="rect">
            <a:avLst/>
          </a:prstGeom>
          <a:solidFill>
            <a:srgbClr val="2C5AA0"/>
          </a:solidFill>
          <a:ln/>
        </p:spPr>
        <p:txBody>
          <a:bodyPr/>
          <a:lstStyle/>
          <a:p>
            <a:endParaRPr lang="ja-JP" altLang="en-US"/>
          </a:p>
        </p:txBody>
      </p:sp>
      <p:sp>
        <p:nvSpPr>
          <p:cNvPr id="8" name="Text 5"/>
          <p:cNvSpPr/>
          <p:nvPr/>
        </p:nvSpPr>
        <p:spPr>
          <a:xfrm>
            <a:off x="548640" y="4206240"/>
            <a:ext cx="8046720" cy="64008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現在、神経内科で最も現実味があるのは CD19、BCMA、CD19+BCMA。</a:t>
            </a:r>
          </a:p>
          <a:p>
            <a:pPr marL="0" indent="0">
              <a:buNone/>
            </a:pPr>
            <a:r>
              <a:rPr lang="en-US" sz="1600" b="1" dirty="0">
                <a:solidFill>
                  <a:srgbClr val="1B3A5C"/>
                </a:solidFill>
                <a:latin typeface="游ゴシック" pitchFamily="34" charset="0"/>
                <a:ea typeface="游ゴシック" pitchFamily="34" charset="-122"/>
                <a:cs typeface="游ゴシック" pitchFamily="34" charset="-120"/>
              </a:rPr>
              <a:t>CAAR-</a:t>
            </a:r>
            <a:r>
              <a:rPr lang="en-US" sz="1600" b="1" dirty="0" err="1">
                <a:solidFill>
                  <a:srgbClr val="1B3A5C"/>
                </a:solidFill>
                <a:latin typeface="游ゴシック" pitchFamily="34" charset="0"/>
                <a:ea typeface="游ゴシック" pitchFamily="34" charset="-122"/>
                <a:cs typeface="游ゴシック" pitchFamily="34" charset="-120"/>
              </a:rPr>
              <a:t>Tは次世代</a:t>
            </a:r>
            <a:r>
              <a:rPr lang="en-US" sz="1600" b="1" dirty="0">
                <a:solidFill>
                  <a:srgbClr val="1B3A5C"/>
                </a:solidFill>
                <a:latin typeface="游ゴシック" pitchFamily="34" charset="0"/>
                <a:ea typeface="游ゴシック" pitchFamily="34" charset="-122"/>
                <a:cs typeface="游ゴシック" pitchFamily="34" charset="-120"/>
              </a:rPr>
              <a:t>。</a:t>
            </a:r>
            <a:endParaRPr lang="en-US" sz="1600" dirty="0"/>
          </a:p>
        </p:txBody>
      </p:sp>
      <p:sp>
        <p:nvSpPr>
          <p:cNvPr id="9" name="Text 6"/>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11 / 42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04</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rituximabと何が決定的に違うのか</a:t>
            </a:r>
            <a:endParaRPr lang="en-US" sz="34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組織レベルでの深部B細胞除去</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4. rituximabとの違い</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rituximab vs CAR-T：何が違うのか</a:t>
            </a:r>
            <a:endParaRPr lang="en-US" sz="2600" dirty="0"/>
          </a:p>
        </p:txBody>
      </p:sp>
      <p:sp>
        <p:nvSpPr>
          <p:cNvPr id="5" name="Shape 3"/>
          <p:cNvSpPr/>
          <p:nvPr/>
        </p:nvSpPr>
        <p:spPr>
          <a:xfrm>
            <a:off x="365760" y="1280160"/>
            <a:ext cx="393192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54864" cy="2560320"/>
          </a:xfrm>
          <a:prstGeom prst="rect">
            <a:avLst/>
          </a:prstGeom>
          <a:solidFill>
            <a:srgbClr val="666666"/>
          </a:solidFill>
          <a:ln/>
        </p:spPr>
        <p:txBody>
          <a:bodyPr/>
          <a:lstStyle/>
          <a:p>
            <a:endParaRPr lang="ja-JP" altLang="en-US"/>
          </a:p>
        </p:txBody>
      </p:sp>
      <p:sp>
        <p:nvSpPr>
          <p:cNvPr id="7" name="Shape 5"/>
          <p:cNvSpPr/>
          <p:nvPr/>
        </p:nvSpPr>
        <p:spPr>
          <a:xfrm>
            <a:off x="365760" y="1280160"/>
            <a:ext cx="3931920" cy="411480"/>
          </a:xfrm>
          <a:prstGeom prst="rect">
            <a:avLst/>
          </a:prstGeom>
          <a:solidFill>
            <a:srgbClr val="666666"/>
          </a:solidFill>
          <a:ln/>
        </p:spPr>
        <p:txBody>
          <a:bodyPr/>
          <a:lstStyle/>
          <a:p>
            <a:endParaRPr lang="ja-JP" altLang="en-US"/>
          </a:p>
        </p:txBody>
      </p:sp>
      <p:sp>
        <p:nvSpPr>
          <p:cNvPr id="8" name="Text 6"/>
          <p:cNvSpPr/>
          <p:nvPr/>
        </p:nvSpPr>
        <p:spPr>
          <a:xfrm>
            <a:off x="457200" y="1280160"/>
            <a:ext cx="3749040" cy="411480"/>
          </a:xfrm>
          <a:prstGeom prst="rect">
            <a:avLst/>
          </a:prstGeom>
          <a:noFill/>
          <a:ln/>
        </p:spPr>
        <p:txBody>
          <a:bodyPr wrap="square"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rituximab（CD20標的）</a:t>
            </a:r>
            <a:endParaRPr lang="en-US" sz="1600" dirty="0"/>
          </a:p>
        </p:txBody>
      </p:sp>
      <p:sp>
        <p:nvSpPr>
          <p:cNvPr id="9" name="Text 7"/>
          <p:cNvSpPr/>
          <p:nvPr/>
        </p:nvSpPr>
        <p:spPr>
          <a:xfrm>
            <a:off x="548640" y="1828800"/>
            <a:ext cx="3566160" cy="1828800"/>
          </a:xfrm>
          <a:prstGeom prst="rect">
            <a:avLst/>
          </a:prstGeom>
          <a:noFill/>
          <a:ln/>
        </p:spPr>
        <p:txBody>
          <a:bodyPr wrap="square" rtlCol="0" anchor="ctr"/>
          <a:lstStyle/>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末梢血のB細胞は消える</a:t>
            </a:r>
            <a:endParaRPr lang="en-US" sz="1500" dirty="0"/>
          </a:p>
          <a:p>
            <a:pPr marL="342900" indent="-342900">
              <a:spcAft>
                <a:spcPts val="600"/>
              </a:spcAft>
              <a:buSzPct val="100000"/>
              <a:buChar char="•"/>
            </a:pPr>
            <a:r>
              <a:rPr lang="en-US" sz="1500" b="1" dirty="0">
                <a:solidFill>
                  <a:srgbClr val="DC3545"/>
                </a:solidFill>
                <a:latin typeface="游ゴシック" pitchFamily="34" charset="0"/>
                <a:ea typeface="游ゴシック" pitchFamily="34" charset="-122"/>
                <a:cs typeface="游ゴシック" pitchFamily="34" charset="-120"/>
              </a:rPr>
              <a:t>形質細胞はCD20陰性 → 残存</a:t>
            </a:r>
            <a:endParaRPr lang="en-US" sz="1500" dirty="0"/>
          </a:p>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リンパ節・骨髄・病変組織の</a:t>
            </a:r>
            <a:endParaRPr lang="en-US" sz="1500" dirty="0"/>
          </a:p>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病的B細胞系が残ることがある</a:t>
            </a:r>
            <a:endParaRPr lang="en-US" sz="1500" dirty="0"/>
          </a:p>
          <a:p>
            <a:pPr marL="342900" indent="-342900">
              <a:spcAft>
                <a:spcPts val="600"/>
              </a:spcAft>
              <a:buSzPct val="100000"/>
              <a:buChar char="•"/>
            </a:pPr>
            <a:r>
              <a:rPr lang="en-US" sz="1500" dirty="0">
                <a:solidFill>
                  <a:srgbClr val="DC3545"/>
                </a:solidFill>
                <a:latin typeface="游ゴシック" pitchFamily="34" charset="0"/>
                <a:ea typeface="游ゴシック" pitchFamily="34" charset="-122"/>
                <a:cs typeface="游ゴシック" pitchFamily="34" charset="-120"/>
              </a:rPr>
              <a:t>"病気の根っこ" が残る場合</a:t>
            </a:r>
            <a:endParaRPr lang="en-US" sz="1500" dirty="0"/>
          </a:p>
        </p:txBody>
      </p:sp>
      <p:sp>
        <p:nvSpPr>
          <p:cNvPr id="10" name="Shape 8"/>
          <p:cNvSpPr/>
          <p:nvPr/>
        </p:nvSpPr>
        <p:spPr>
          <a:xfrm>
            <a:off x="4846320" y="1280160"/>
            <a:ext cx="393192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4846320" y="1280160"/>
            <a:ext cx="54864" cy="2560320"/>
          </a:xfrm>
          <a:prstGeom prst="rect">
            <a:avLst/>
          </a:prstGeom>
          <a:solidFill>
            <a:srgbClr val="2C5AA0"/>
          </a:solidFill>
          <a:ln/>
        </p:spPr>
        <p:txBody>
          <a:bodyPr/>
          <a:lstStyle/>
          <a:p>
            <a:endParaRPr lang="ja-JP" altLang="en-US"/>
          </a:p>
        </p:txBody>
      </p:sp>
      <p:sp>
        <p:nvSpPr>
          <p:cNvPr id="12" name="Shape 10"/>
          <p:cNvSpPr/>
          <p:nvPr/>
        </p:nvSpPr>
        <p:spPr>
          <a:xfrm>
            <a:off x="4846320" y="1280160"/>
            <a:ext cx="3931920" cy="411480"/>
          </a:xfrm>
          <a:prstGeom prst="rect">
            <a:avLst/>
          </a:prstGeom>
          <a:solidFill>
            <a:srgbClr val="2C5AA0"/>
          </a:solidFill>
          <a:ln/>
        </p:spPr>
        <p:txBody>
          <a:bodyPr/>
          <a:lstStyle/>
          <a:p>
            <a:endParaRPr lang="ja-JP" altLang="en-US"/>
          </a:p>
        </p:txBody>
      </p:sp>
      <p:sp>
        <p:nvSpPr>
          <p:cNvPr id="13" name="Text 11"/>
          <p:cNvSpPr/>
          <p:nvPr/>
        </p:nvSpPr>
        <p:spPr>
          <a:xfrm>
            <a:off x="4937760" y="1280160"/>
            <a:ext cx="3749040" cy="411480"/>
          </a:xfrm>
          <a:prstGeom prst="rect">
            <a:avLst/>
          </a:prstGeom>
          <a:noFill/>
          <a:ln/>
        </p:spPr>
        <p:txBody>
          <a:bodyPr wrap="square" rtlCol="0" anchor="ctr"/>
          <a:lstStyle/>
          <a:p>
            <a:pPr marL="0" indent="0">
              <a:buNone/>
            </a:pPr>
            <a:r>
              <a:rPr lang="en-US" sz="1600" b="1" dirty="0">
                <a:solidFill>
                  <a:srgbClr val="FFFFFF"/>
                </a:solidFill>
                <a:latin typeface="游ゴシック" pitchFamily="34" charset="0"/>
                <a:ea typeface="游ゴシック" pitchFamily="34" charset="-122"/>
                <a:cs typeface="游ゴシック" pitchFamily="34" charset="-120"/>
              </a:rPr>
              <a:t>CAR-T（CD19標的）</a:t>
            </a:r>
            <a:endParaRPr lang="en-US" sz="1600" dirty="0"/>
          </a:p>
        </p:txBody>
      </p:sp>
      <p:sp>
        <p:nvSpPr>
          <p:cNvPr id="14" name="Text 12"/>
          <p:cNvSpPr/>
          <p:nvPr/>
        </p:nvSpPr>
        <p:spPr>
          <a:xfrm>
            <a:off x="5029200" y="1828800"/>
            <a:ext cx="3749040" cy="1828800"/>
          </a:xfrm>
          <a:prstGeom prst="rect">
            <a:avLst/>
          </a:prstGeom>
          <a:noFill/>
          <a:ln/>
        </p:spPr>
        <p:txBody>
          <a:bodyPr wrap="square" rtlCol="0" anchor="ctr"/>
          <a:lstStyle/>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末梢血のB細胞も消える</a:t>
            </a:r>
            <a:endParaRPr lang="en-US" sz="1500" dirty="0"/>
          </a:p>
          <a:p>
            <a:pPr marL="342900" indent="-342900">
              <a:spcAft>
                <a:spcPts val="600"/>
              </a:spcAft>
              <a:buSzPct val="100000"/>
              <a:buChar char="•"/>
            </a:pPr>
            <a:r>
              <a:rPr lang="en-US" sz="1500" b="1" dirty="0">
                <a:solidFill>
                  <a:srgbClr val="2C5AA0"/>
                </a:solidFill>
                <a:latin typeface="游ゴシック" pitchFamily="34" charset="0"/>
                <a:ea typeface="游ゴシック" pitchFamily="34" charset="-122"/>
                <a:cs typeface="游ゴシック" pitchFamily="34" charset="-120"/>
              </a:rPr>
              <a:t>リンパ節のB細胞も深く除去</a:t>
            </a:r>
            <a:endParaRPr lang="en-US" sz="1500" dirty="0"/>
          </a:p>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非リンパ組織でもB細胞が</a:t>
            </a:r>
            <a:endParaRPr lang="en-US" sz="1500" dirty="0"/>
          </a:p>
          <a:p>
            <a:pPr marL="342900" indent="-342900">
              <a:spcAft>
                <a:spcPts val="6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大きく減少</a:t>
            </a:r>
            <a:endParaRPr lang="en-US" sz="1500" dirty="0"/>
          </a:p>
          <a:p>
            <a:pPr marL="342900" indent="-342900">
              <a:spcAft>
                <a:spcPts val="600"/>
              </a:spcAft>
              <a:buSzPct val="100000"/>
              <a:buChar char="•"/>
            </a:pPr>
            <a:r>
              <a:rPr lang="en-US" sz="1500" b="1" dirty="0">
                <a:solidFill>
                  <a:srgbClr val="2C5AA0"/>
                </a:solidFill>
                <a:latin typeface="游ゴシック" pitchFamily="34" charset="0"/>
                <a:ea typeface="游ゴシック" pitchFamily="34" charset="-122"/>
                <a:cs typeface="游ゴシック" pitchFamily="34" charset="-120"/>
              </a:rPr>
              <a:t>組織の奥の病的B細胞まで掘り起こす</a:t>
            </a:r>
            <a:endParaRPr lang="en-US" sz="1500" dirty="0"/>
          </a:p>
        </p:txBody>
      </p:sp>
      <p:sp>
        <p:nvSpPr>
          <p:cNvPr id="15" name="Shape 13"/>
          <p:cNvSpPr/>
          <p:nvPr/>
        </p:nvSpPr>
        <p:spPr>
          <a:xfrm>
            <a:off x="365760" y="4069080"/>
            <a:ext cx="8412480" cy="82296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6" name="Shape 14"/>
          <p:cNvSpPr/>
          <p:nvPr/>
        </p:nvSpPr>
        <p:spPr>
          <a:xfrm>
            <a:off x="365760" y="4069080"/>
            <a:ext cx="54864" cy="822960"/>
          </a:xfrm>
          <a:prstGeom prst="rect">
            <a:avLst/>
          </a:prstGeom>
          <a:solidFill>
            <a:srgbClr val="2C5AA0"/>
          </a:solidFill>
          <a:ln/>
        </p:spPr>
        <p:txBody>
          <a:bodyPr/>
          <a:lstStyle/>
          <a:p>
            <a:endParaRPr lang="ja-JP" altLang="en-US"/>
          </a:p>
        </p:txBody>
      </p:sp>
      <p:sp>
        <p:nvSpPr>
          <p:cNvPr id="17" name="Text 15"/>
          <p:cNvSpPr/>
          <p:nvPr/>
        </p:nvSpPr>
        <p:spPr>
          <a:xfrm>
            <a:off x="548640" y="4114800"/>
            <a:ext cx="8046720" cy="73152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CAR-TはrituximabよりCT「強い薬」というより、「別の相の治療」。組織比較研究（Tur et al. 2025）で直接証明された。</a:t>
            </a:r>
            <a:endParaRPr lang="en-US" sz="1600" dirty="0"/>
          </a:p>
        </p:txBody>
      </p:sp>
      <p:sp>
        <p:nvSpPr>
          <p:cNvPr id="18" name="Text 16"/>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13 / 42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05</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600" b="1" dirty="0">
                <a:solidFill>
                  <a:srgbClr val="FFFFFF"/>
                </a:solidFill>
                <a:latin typeface="游ゴシック" pitchFamily="34" charset="0"/>
                <a:ea typeface="游ゴシック" pitchFamily="34" charset="-122"/>
                <a:cs typeface="游ゴシック" pitchFamily="34" charset="-120"/>
              </a:rPr>
              <a:t>神経内科の各論</a:t>
            </a:r>
            <a:endParaRPr lang="en-US" sz="36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MG・NMOSD・MS・CIDP・その他</a:t>
            </a:r>
            <a:endParaRPr lang="en-US" sz="1800" dirty="0"/>
          </a:p>
        </p:txBody>
      </p:sp>
      <p:sp>
        <p:nvSpPr>
          <p:cNvPr id="5" name="Shape 3"/>
          <p:cNvSpPr/>
          <p:nvPr/>
        </p:nvSpPr>
        <p:spPr>
          <a:xfrm>
            <a:off x="5852160" y="2971800"/>
            <a:ext cx="2743200" cy="2011680"/>
          </a:xfrm>
          <a:prstGeom prst="roundRect">
            <a:avLst>
              <a:gd name="adj" fmla="val 4545"/>
            </a:avLst>
          </a:prstGeom>
          <a:solidFill>
            <a:srgbClr val="FFFFFF"/>
          </a:solidFill>
          <a:ln/>
          <a:effectLst>
            <a:outerShdw blurRad="50800" dist="25400" dir="8100000" algn="bl" rotWithShape="0">
              <a:srgbClr val="000000">
                <a:alpha val="20000"/>
              </a:srgbClr>
            </a:outerShdw>
          </a:effectLst>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035040" y="3063240"/>
            <a:ext cx="2377440" cy="1746504"/>
          </a:xfrm>
          <a:prstGeom prst="rect">
            <a:avLst/>
          </a:prstGeom>
        </p:spPr>
      </p:pic>
      <p:sp>
        <p:nvSpPr>
          <p:cNvPr id="7" name="Text 4"/>
          <p:cNvSpPr/>
          <p:nvPr/>
        </p:nvSpPr>
        <p:spPr>
          <a:xfrm>
            <a:off x="5852160" y="4663440"/>
            <a:ext cx="2743200" cy="182880"/>
          </a:xfrm>
          <a:prstGeom prst="rect">
            <a:avLst/>
          </a:prstGeom>
          <a:noFill/>
          <a:ln/>
        </p:spPr>
        <p:txBody>
          <a:bodyPr wrap="square" rtlCol="0" anchor="ctr"/>
          <a:lstStyle/>
          <a:p>
            <a:pPr marL="0" indent="0" algn="ctr">
              <a:buNone/>
            </a:pPr>
            <a:r>
              <a:rPr lang="en-US" sz="800" dirty="0">
                <a:solidFill>
                  <a:srgbClr val="999999"/>
                </a:solidFill>
                <a:latin typeface="Segoe UI" pitchFamily="34" charset="0"/>
                <a:ea typeface="Segoe UI" pitchFamily="34" charset="-122"/>
                <a:cs typeface="Segoe UI" pitchFamily="34" charset="-120"/>
              </a:rPr>
              <a:t>Wikimedia Commons (CC BY-SA 4.0)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5-1. MG（重症筋無力症）</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B3A5C"/>
                </a:solidFill>
                <a:latin typeface="游ゴシック" pitchFamily="34" charset="0"/>
                <a:ea typeface="游ゴシック" pitchFamily="34" charset="-122"/>
                <a:cs typeface="游ゴシック" pitchFamily="34" charset="-120"/>
              </a:rPr>
              <a:t>MGは、いま最も面白い</a:t>
            </a:r>
            <a:endParaRPr lang="en-US" sz="2800" dirty="0"/>
          </a:p>
        </p:txBody>
      </p:sp>
      <p:sp>
        <p:nvSpPr>
          <p:cNvPr id="5" name="Text 3"/>
          <p:cNvSpPr/>
          <p:nvPr/>
        </p:nvSpPr>
        <p:spPr>
          <a:xfrm>
            <a:off x="457200" y="1188720"/>
            <a:ext cx="8229600" cy="365760"/>
          </a:xfrm>
          <a:prstGeom prst="rect">
            <a:avLst/>
          </a:prstGeom>
          <a:noFill/>
          <a:ln/>
        </p:spPr>
        <p:txBody>
          <a:bodyPr wrap="square" lIns="0" tIns="0" rIns="0" bIns="0" rtlCol="0" anchor="ctr"/>
          <a:lstStyle/>
          <a:p>
            <a:pPr marL="0" indent="0">
              <a:buNone/>
            </a:pPr>
            <a:r>
              <a:rPr lang="en-US" sz="1800" dirty="0">
                <a:solidFill>
                  <a:srgbClr val="333333"/>
                </a:solidFill>
                <a:latin typeface="游ゴシック" pitchFamily="34" charset="0"/>
                <a:ea typeface="游ゴシック" pitchFamily="34" charset="-122"/>
                <a:cs typeface="游ゴシック" pitchFamily="34" charset="-120"/>
              </a:rPr>
              <a:t>MGでは2つのCAR-T思想が並走している</a:t>
            </a:r>
            <a:endParaRPr lang="en-US" sz="1800" dirty="0"/>
          </a:p>
        </p:txBody>
      </p:sp>
      <p:sp>
        <p:nvSpPr>
          <p:cNvPr id="6" name="Shape 4"/>
          <p:cNvSpPr/>
          <p:nvPr/>
        </p:nvSpPr>
        <p:spPr>
          <a:xfrm>
            <a:off x="365760" y="1737360"/>
            <a:ext cx="393192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365760" y="1737360"/>
            <a:ext cx="3931920" cy="54864"/>
          </a:xfrm>
          <a:prstGeom prst="rect">
            <a:avLst/>
          </a:prstGeom>
          <a:solidFill>
            <a:srgbClr val="28A745"/>
          </a:solidFill>
          <a:ln/>
        </p:spPr>
        <p:txBody>
          <a:bodyPr/>
          <a:lstStyle/>
          <a:p>
            <a:endParaRPr lang="ja-JP" altLang="en-US"/>
          </a:p>
        </p:txBody>
      </p:sp>
      <p:sp>
        <p:nvSpPr>
          <p:cNvPr id="8" name="Text 6"/>
          <p:cNvSpPr/>
          <p:nvPr/>
        </p:nvSpPr>
        <p:spPr>
          <a:xfrm>
            <a:off x="457200" y="1874520"/>
            <a:ext cx="3749040" cy="320040"/>
          </a:xfrm>
          <a:prstGeom prst="rect">
            <a:avLst/>
          </a:prstGeom>
          <a:noFill/>
          <a:ln/>
        </p:spPr>
        <p:txBody>
          <a:bodyPr wrap="square" rtlCol="0" anchor="ctr"/>
          <a:lstStyle/>
          <a:p>
            <a:pPr marL="0" indent="0">
              <a:buNone/>
            </a:pPr>
            <a:r>
              <a:rPr lang="en-US" sz="1800" b="1" dirty="0">
                <a:solidFill>
                  <a:srgbClr val="28A745"/>
                </a:solidFill>
                <a:latin typeface="游ゴシック" pitchFamily="34" charset="0"/>
                <a:ea typeface="游ゴシック" pitchFamily="34" charset="-122"/>
                <a:cs typeface="游ゴシック" pitchFamily="34" charset="-120"/>
              </a:rPr>
              <a:t>やさしく叩く型</a:t>
            </a:r>
            <a:endParaRPr lang="en-US" sz="1800" dirty="0"/>
          </a:p>
        </p:txBody>
      </p:sp>
      <p:sp>
        <p:nvSpPr>
          <p:cNvPr id="9" name="Text 7"/>
          <p:cNvSpPr/>
          <p:nvPr/>
        </p:nvSpPr>
        <p:spPr>
          <a:xfrm>
            <a:off x="457200" y="2194560"/>
            <a:ext cx="3749040" cy="274320"/>
          </a:xfrm>
          <a:prstGeom prst="rect">
            <a:avLst/>
          </a:prstGeom>
          <a:noFill/>
          <a:ln/>
        </p:spPr>
        <p:txBody>
          <a:bodyPr wrap="square" rtlCol="0" anchor="ctr"/>
          <a:lstStyle/>
          <a:p>
            <a:pPr marL="0" indent="0">
              <a:buNone/>
            </a:pPr>
            <a:r>
              <a:rPr lang="en-US" sz="1400" b="1" dirty="0">
                <a:solidFill>
                  <a:srgbClr val="2C5AA0"/>
                </a:solidFill>
                <a:latin typeface="Segoe UI" pitchFamily="34" charset="0"/>
                <a:ea typeface="Segoe UI" pitchFamily="34" charset="-122"/>
                <a:cs typeface="Segoe UI" pitchFamily="34" charset="-120"/>
              </a:rPr>
              <a:t>Descartes-08 (BCMA mRNA CAR-T)</a:t>
            </a:r>
            <a:endParaRPr lang="en-US" sz="1400" dirty="0"/>
          </a:p>
        </p:txBody>
      </p:sp>
      <p:sp>
        <p:nvSpPr>
          <p:cNvPr id="10" name="Text 8"/>
          <p:cNvSpPr/>
          <p:nvPr/>
        </p:nvSpPr>
        <p:spPr>
          <a:xfrm>
            <a:off x="548640" y="2560320"/>
            <a:ext cx="3566160" cy="1828800"/>
          </a:xfrm>
          <a:prstGeom prst="rect">
            <a:avLst/>
          </a:prstGeom>
          <a:noFill/>
          <a:ln/>
        </p:spPr>
        <p:txBody>
          <a:bodyPr wrap="square" rtlCol="0" anchor="ctr"/>
          <a:lstStyle/>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外来投与が可能</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リンパ球除去前処置なし</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mRNA型で一過性（安全）</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再投与で再び改善可能</a:t>
            </a:r>
            <a:endParaRPr lang="en-US" sz="1500" dirty="0"/>
          </a:p>
          <a:p>
            <a:pPr marL="0" indent="0">
              <a:spcAft>
                <a:spcPts val="400"/>
              </a:spcAft>
              <a:buNone/>
            </a:pPr>
            <a:r>
              <a:rPr lang="en-US" sz="1500" b="1" dirty="0">
                <a:solidFill>
                  <a:srgbClr val="28A745"/>
                </a:solidFill>
                <a:latin typeface="游ゴシック" pitchFamily="34" charset="0"/>
                <a:ea typeface="游ゴシック" pitchFamily="34" charset="-122"/>
                <a:cs typeface="游ゴシック" pitchFamily="34" charset="-120"/>
              </a:rPr>
              <a:t>→ 抗体工場を外来で安全に間引く</a:t>
            </a:r>
            <a:endParaRPr lang="en-US" sz="1500" dirty="0"/>
          </a:p>
        </p:txBody>
      </p:sp>
      <p:sp>
        <p:nvSpPr>
          <p:cNvPr id="11" name="Shape 9"/>
          <p:cNvSpPr/>
          <p:nvPr/>
        </p:nvSpPr>
        <p:spPr>
          <a:xfrm>
            <a:off x="4846320" y="1737360"/>
            <a:ext cx="393192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4846320" y="1737360"/>
            <a:ext cx="3931920" cy="54864"/>
          </a:xfrm>
          <a:prstGeom prst="rect">
            <a:avLst/>
          </a:prstGeom>
          <a:solidFill>
            <a:srgbClr val="2C5AA0"/>
          </a:solidFill>
          <a:ln/>
        </p:spPr>
        <p:txBody>
          <a:bodyPr/>
          <a:lstStyle/>
          <a:p>
            <a:endParaRPr lang="ja-JP" altLang="en-US"/>
          </a:p>
        </p:txBody>
      </p:sp>
      <p:sp>
        <p:nvSpPr>
          <p:cNvPr id="13" name="Text 11"/>
          <p:cNvSpPr/>
          <p:nvPr/>
        </p:nvSpPr>
        <p:spPr>
          <a:xfrm>
            <a:off x="4937760" y="1874520"/>
            <a:ext cx="3749040" cy="320040"/>
          </a:xfrm>
          <a:prstGeom prst="rect">
            <a:avLst/>
          </a:prstGeom>
          <a:noFill/>
          <a:ln/>
        </p:spPr>
        <p:txBody>
          <a:bodyPr wrap="square" rtlCol="0" anchor="ctr"/>
          <a:lstStyle/>
          <a:p>
            <a:pPr marL="0" indent="0">
              <a:buNone/>
            </a:pPr>
            <a:r>
              <a:rPr lang="en-US" sz="1800" b="1" dirty="0">
                <a:solidFill>
                  <a:srgbClr val="2C5AA0"/>
                </a:solidFill>
                <a:latin typeface="游ゴシック" pitchFamily="34" charset="0"/>
                <a:ea typeface="游ゴシック" pitchFamily="34" charset="-122"/>
                <a:cs typeface="游ゴシック" pitchFamily="34" charset="-120"/>
              </a:rPr>
              <a:t>深くリセットする型</a:t>
            </a:r>
            <a:endParaRPr lang="en-US" sz="1800" dirty="0"/>
          </a:p>
        </p:txBody>
      </p:sp>
      <p:sp>
        <p:nvSpPr>
          <p:cNvPr id="14" name="Text 12"/>
          <p:cNvSpPr/>
          <p:nvPr/>
        </p:nvSpPr>
        <p:spPr>
          <a:xfrm>
            <a:off x="4937760" y="2194560"/>
            <a:ext cx="3749040" cy="274320"/>
          </a:xfrm>
          <a:prstGeom prst="rect">
            <a:avLst/>
          </a:prstGeom>
          <a:noFill/>
          <a:ln/>
        </p:spPr>
        <p:txBody>
          <a:bodyPr wrap="square" rtlCol="0" anchor="ctr"/>
          <a:lstStyle/>
          <a:p>
            <a:pPr marL="0" indent="0">
              <a:buNone/>
            </a:pPr>
            <a:r>
              <a:rPr lang="en-US" sz="1400" b="1" dirty="0">
                <a:solidFill>
                  <a:srgbClr val="2C5AA0"/>
                </a:solidFill>
                <a:latin typeface="Segoe UI" pitchFamily="34" charset="0"/>
                <a:ea typeface="Segoe UI" pitchFamily="34" charset="-122"/>
                <a:cs typeface="Segoe UI" pitchFamily="34" charset="-120"/>
              </a:rPr>
              <a:t>BCMA/CD19二重標的 CAR-T</a:t>
            </a:r>
            <a:endParaRPr lang="en-US" sz="1400" dirty="0"/>
          </a:p>
        </p:txBody>
      </p:sp>
      <p:sp>
        <p:nvSpPr>
          <p:cNvPr id="15" name="Text 13"/>
          <p:cNvSpPr/>
          <p:nvPr/>
        </p:nvSpPr>
        <p:spPr>
          <a:xfrm>
            <a:off x="5029200" y="2560320"/>
            <a:ext cx="3566160" cy="1828800"/>
          </a:xfrm>
          <a:prstGeom prst="rect">
            <a:avLst/>
          </a:prstGeom>
          <a:noFill/>
          <a:ln/>
        </p:spPr>
        <p:txBody>
          <a:bodyPr wrap="square" rtlCol="0" anchor="ctr"/>
          <a:lstStyle/>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単回投与</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前処置あり</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より深いB細胞除去</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ステロイド・免疫抑制薬中止可能</a:t>
            </a:r>
            <a:endParaRPr lang="en-US" sz="1500" dirty="0"/>
          </a:p>
          <a:p>
            <a:pPr marL="0" indent="0">
              <a:spcAft>
                <a:spcPts val="400"/>
              </a:spcAft>
              <a:buNone/>
            </a:pPr>
            <a:r>
              <a:rPr lang="en-US" sz="1500" b="1" dirty="0">
                <a:solidFill>
                  <a:srgbClr val="2C5AA0"/>
                </a:solidFill>
                <a:latin typeface="游ゴシック" pitchFamily="34" charset="0"/>
                <a:ea typeface="游ゴシック" pitchFamily="34" charset="-122"/>
                <a:cs typeface="游ゴシック" pitchFamily="34" charset="-120"/>
              </a:rPr>
              <a:t>→ 深い免疫リセットを目指す</a:t>
            </a:r>
            <a:endParaRPr lang="en-US" sz="1500" dirty="0"/>
          </a:p>
        </p:txBody>
      </p:sp>
      <p:sp>
        <p:nvSpPr>
          <p:cNvPr id="16" name="Text 14"/>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15 / 42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5-1. MG — Descartes-08</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Descartes-08：外来型mRNA CAR-Tの臨床データ</a:t>
            </a:r>
            <a:endParaRPr lang="en-US" sz="2400" dirty="0"/>
          </a:p>
        </p:txBody>
      </p:sp>
      <p:sp>
        <p:nvSpPr>
          <p:cNvPr id="5" name="Shape 3"/>
          <p:cNvSpPr/>
          <p:nvPr/>
        </p:nvSpPr>
        <p:spPr>
          <a:xfrm>
            <a:off x="365760" y="1280160"/>
            <a:ext cx="39319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54864" cy="1828800"/>
          </a:xfrm>
          <a:prstGeom prst="rect">
            <a:avLst/>
          </a:prstGeom>
          <a:solidFill>
            <a:srgbClr val="28A745"/>
          </a:solidFill>
          <a:ln/>
        </p:spPr>
        <p:txBody>
          <a:bodyPr/>
          <a:lstStyle/>
          <a:p>
            <a:endParaRPr lang="ja-JP" altLang="en-US"/>
          </a:p>
        </p:txBody>
      </p:sp>
      <p:sp>
        <p:nvSpPr>
          <p:cNvPr id="7" name="Text 5"/>
          <p:cNvSpPr/>
          <p:nvPr/>
        </p:nvSpPr>
        <p:spPr>
          <a:xfrm>
            <a:off x="548640" y="1371600"/>
            <a:ext cx="3657600" cy="320040"/>
          </a:xfrm>
          <a:prstGeom prst="rect">
            <a:avLst/>
          </a:prstGeom>
          <a:noFill/>
          <a:ln/>
        </p:spPr>
        <p:txBody>
          <a:bodyPr wrap="square" rtlCol="0" anchor="ctr"/>
          <a:lstStyle/>
          <a:p>
            <a:pPr marL="0" indent="0">
              <a:buNone/>
            </a:pPr>
            <a:r>
              <a:rPr lang="en-US" sz="1600" b="1" dirty="0">
                <a:solidFill>
                  <a:srgbClr val="28A745"/>
                </a:solidFill>
                <a:latin typeface="Segoe UI" pitchFamily="34" charset="0"/>
                <a:ea typeface="Segoe UI" pitchFamily="34" charset="-122"/>
                <a:cs typeface="Segoe UI" pitchFamily="34" charset="-120"/>
              </a:rPr>
              <a:t>MG-001試験 (Phase 1b/2a)</a:t>
            </a:r>
            <a:endParaRPr lang="en-US" sz="1600" dirty="0"/>
          </a:p>
        </p:txBody>
      </p:sp>
      <p:sp>
        <p:nvSpPr>
          <p:cNvPr id="8" name="Text 6"/>
          <p:cNvSpPr/>
          <p:nvPr/>
        </p:nvSpPr>
        <p:spPr>
          <a:xfrm>
            <a:off x="548640" y="1737360"/>
            <a:ext cx="3566160" cy="1280160"/>
          </a:xfrm>
          <a:prstGeom prst="rect">
            <a:avLst/>
          </a:prstGeom>
          <a:noFill/>
          <a:ln/>
        </p:spPr>
        <p:txBody>
          <a:bodyPr wrap="square" rtlCol="0" anchor="ctr"/>
          <a:lstStyle/>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重篤なCRS/ICANSなし</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症状スケール改善が最大9か月持続</a:t>
            </a:r>
            <a:endParaRPr lang="en-US" sz="1500" dirty="0"/>
          </a:p>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6週投与群：7例全例が3か月で改善</a:t>
            </a:r>
            <a:endParaRPr lang="en-US" sz="1500" dirty="0"/>
          </a:p>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5/7例が12か月時点でも反応維持</a:t>
            </a:r>
            <a:endParaRPr lang="en-US" sz="1500" dirty="0"/>
          </a:p>
        </p:txBody>
      </p:sp>
      <p:sp>
        <p:nvSpPr>
          <p:cNvPr id="9" name="Shape 7"/>
          <p:cNvSpPr/>
          <p:nvPr/>
        </p:nvSpPr>
        <p:spPr>
          <a:xfrm>
            <a:off x="4846320" y="1280160"/>
            <a:ext cx="39319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4846320" y="1280160"/>
            <a:ext cx="54864" cy="1828800"/>
          </a:xfrm>
          <a:prstGeom prst="rect">
            <a:avLst/>
          </a:prstGeom>
          <a:solidFill>
            <a:srgbClr val="2C5AA0"/>
          </a:solidFill>
          <a:ln/>
        </p:spPr>
        <p:txBody>
          <a:bodyPr/>
          <a:lstStyle/>
          <a:p>
            <a:endParaRPr lang="ja-JP" altLang="en-US"/>
          </a:p>
        </p:txBody>
      </p:sp>
      <p:sp>
        <p:nvSpPr>
          <p:cNvPr id="11" name="Text 9"/>
          <p:cNvSpPr/>
          <p:nvPr/>
        </p:nvSpPr>
        <p:spPr>
          <a:xfrm>
            <a:off x="5029200" y="1371600"/>
            <a:ext cx="3657600" cy="320040"/>
          </a:xfrm>
          <a:prstGeom prst="rect">
            <a:avLst/>
          </a:prstGeom>
          <a:noFill/>
          <a:ln/>
        </p:spPr>
        <p:txBody>
          <a:bodyPr wrap="square" rtlCol="0" anchor="ctr"/>
          <a:lstStyle/>
          <a:p>
            <a:pPr marL="0" indent="0">
              <a:buNone/>
            </a:pPr>
            <a:r>
              <a:rPr lang="en-US" sz="1600" b="1" dirty="0">
                <a:solidFill>
                  <a:srgbClr val="2C5AA0"/>
                </a:solidFill>
                <a:latin typeface="Segoe UI" pitchFamily="34" charset="0"/>
                <a:ea typeface="Segoe UI" pitchFamily="34" charset="-122"/>
                <a:cs typeface="Segoe UI" pitchFamily="34" charset="-120"/>
              </a:rPr>
              <a:t>Phase 2b (2026 Nat Med)</a:t>
            </a:r>
            <a:endParaRPr lang="en-US" sz="1600" dirty="0"/>
          </a:p>
        </p:txBody>
      </p:sp>
      <p:sp>
        <p:nvSpPr>
          <p:cNvPr id="12" name="Text 10"/>
          <p:cNvSpPr/>
          <p:nvPr/>
        </p:nvSpPr>
        <p:spPr>
          <a:xfrm>
            <a:off x="5029199" y="1737360"/>
            <a:ext cx="3657599" cy="1280160"/>
          </a:xfrm>
          <a:prstGeom prst="rect">
            <a:avLst/>
          </a:prstGeom>
          <a:noFill/>
          <a:ln/>
        </p:spPr>
        <p:txBody>
          <a:bodyPr wrap="square" rtlCol="0" anchor="ctr"/>
          <a:lstStyle/>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無作為化・二重盲検・プラセボ対照</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Phase 3 (AURORA試験) も進行中</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再増悪3例中2例は再投与で</a:t>
            </a:r>
            <a:endParaRPr lang="en-US" sz="1500" dirty="0"/>
          </a:p>
          <a:p>
            <a:pPr marL="0" indent="0">
              <a:spcAft>
                <a:spcPts val="400"/>
              </a:spcAft>
              <a:buNone/>
            </a:pPr>
            <a:r>
              <a:rPr lang="en-US" sz="1500" b="1" dirty="0">
                <a:solidFill>
                  <a:srgbClr val="2C5AA0"/>
                </a:solidFill>
                <a:latin typeface="游ゴシック" pitchFamily="34" charset="0"/>
                <a:ea typeface="游ゴシック" pitchFamily="34" charset="-122"/>
                <a:cs typeface="游ゴシック" pitchFamily="34" charset="-120"/>
              </a:rPr>
              <a:t>速やかに再改善</a:t>
            </a:r>
            <a:endParaRPr lang="en-US" sz="1500" dirty="0"/>
          </a:p>
        </p:txBody>
      </p:sp>
      <p:sp>
        <p:nvSpPr>
          <p:cNvPr id="13" name="Shape 11"/>
          <p:cNvSpPr/>
          <p:nvPr/>
        </p:nvSpPr>
        <p:spPr>
          <a:xfrm>
            <a:off x="365760" y="3291840"/>
            <a:ext cx="8412480" cy="146304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365760" y="3291840"/>
            <a:ext cx="54864" cy="1463040"/>
          </a:xfrm>
          <a:prstGeom prst="rect">
            <a:avLst/>
          </a:prstGeom>
          <a:solidFill>
            <a:srgbClr val="2C5AA0"/>
          </a:solidFill>
          <a:ln/>
        </p:spPr>
        <p:txBody>
          <a:bodyPr/>
          <a:lstStyle/>
          <a:p>
            <a:endParaRPr lang="ja-JP" altLang="en-US"/>
          </a:p>
        </p:txBody>
      </p:sp>
      <p:sp>
        <p:nvSpPr>
          <p:cNvPr id="15" name="Text 13"/>
          <p:cNvSpPr/>
          <p:nvPr/>
        </p:nvSpPr>
        <p:spPr>
          <a:xfrm>
            <a:off x="548640" y="3383280"/>
            <a:ext cx="2743200" cy="320040"/>
          </a:xfrm>
          <a:prstGeom prst="rect">
            <a:avLst/>
          </a:prstGeom>
          <a:noFill/>
          <a:ln/>
        </p:spPr>
        <p:txBody>
          <a:bodyPr wrap="square" rtlCol="0" anchor="ctr"/>
          <a:lstStyle/>
          <a:p>
            <a:pPr marL="0" indent="0">
              <a:buNone/>
            </a:pPr>
            <a:r>
              <a:rPr lang="en-US" sz="1600" b="1" dirty="0">
                <a:solidFill>
                  <a:srgbClr val="2C5AA0"/>
                </a:solidFill>
                <a:latin typeface="游ゴシック" pitchFamily="34" charset="0"/>
                <a:ea typeface="游ゴシック" pitchFamily="34" charset="-122"/>
                <a:cs typeface="游ゴシック" pitchFamily="34" charset="-120"/>
              </a:rPr>
              <a:t>臨床的な解釈</a:t>
            </a:r>
            <a:endParaRPr lang="en-US" sz="1600" dirty="0"/>
          </a:p>
        </p:txBody>
      </p:sp>
      <p:sp>
        <p:nvSpPr>
          <p:cNvPr id="16" name="Text 14"/>
          <p:cNvSpPr/>
          <p:nvPr/>
        </p:nvSpPr>
        <p:spPr>
          <a:xfrm>
            <a:off x="548640" y="3703320"/>
            <a:ext cx="8046720" cy="9144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Descartes-08は、「1回で深く免疫をリセットする古典的CAR-T」というより、「抗体工場を外来で安全に間引く、再投与可能な細胞治療」に近い。mRNA型で一過性、前処置不要、再投与で再反応が得られていることがこの見方を支持。</a:t>
            </a:r>
            <a:endParaRPr lang="en-US" sz="1500" dirty="0"/>
          </a:p>
        </p:txBody>
      </p:sp>
      <p:sp>
        <p:nvSpPr>
          <p:cNvPr id="17" name="Text 15"/>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16 / 42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5-1. MG — BCMA/CD19二重標的</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BCMA/CD19二重標的CAR-T：Phase 1試験</a:t>
            </a:r>
            <a:endParaRPr lang="en-US" sz="2400" dirty="0"/>
          </a:p>
        </p:txBody>
      </p:sp>
      <p:sp>
        <p:nvSpPr>
          <p:cNvPr id="5" name="Text 3"/>
          <p:cNvSpPr/>
          <p:nvPr/>
        </p:nvSpPr>
        <p:spPr>
          <a:xfrm>
            <a:off x="457200" y="1143000"/>
            <a:ext cx="8229600" cy="320040"/>
          </a:xfrm>
          <a:prstGeom prst="rect">
            <a:avLst/>
          </a:prstGeom>
          <a:noFill/>
          <a:ln/>
        </p:spPr>
        <p:txBody>
          <a:bodyPr wrap="square" rtlCol="0" anchor="ctr"/>
          <a:lstStyle/>
          <a:p>
            <a:pPr marL="0" indent="0">
              <a:buNone/>
            </a:pPr>
            <a:r>
              <a:rPr lang="en-US" sz="1600" dirty="0">
                <a:solidFill>
                  <a:srgbClr val="666666"/>
                </a:solidFill>
                <a:latin typeface="游ゴシック" pitchFamily="34" charset="0"/>
                <a:ea typeface="游ゴシック" pitchFamily="34" charset="-122"/>
                <a:cs typeface="游ゴシック" pitchFamily="34" charset="-120"/>
              </a:rPr>
              <a:t>難治性全身型MG 18例・単回投与 (Zhang et al. 2025)</a:t>
            </a:r>
            <a:endParaRPr lang="en-US" sz="1600" dirty="0"/>
          </a:p>
        </p:txBody>
      </p:sp>
      <p:sp>
        <p:nvSpPr>
          <p:cNvPr id="6" name="Shape 4"/>
          <p:cNvSpPr/>
          <p:nvPr/>
        </p:nvSpPr>
        <p:spPr>
          <a:xfrm>
            <a:off x="365760" y="1645920"/>
            <a:ext cx="19659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365760" y="1645920"/>
            <a:ext cx="1965960" cy="54864"/>
          </a:xfrm>
          <a:prstGeom prst="rect">
            <a:avLst/>
          </a:prstGeom>
          <a:solidFill>
            <a:srgbClr val="28A745"/>
          </a:solidFill>
          <a:ln/>
        </p:spPr>
        <p:txBody>
          <a:bodyPr/>
          <a:lstStyle/>
          <a:p>
            <a:endParaRPr lang="ja-JP" altLang="en-US"/>
          </a:p>
        </p:txBody>
      </p:sp>
      <p:sp>
        <p:nvSpPr>
          <p:cNvPr id="8" name="Text 6"/>
          <p:cNvSpPr/>
          <p:nvPr/>
        </p:nvSpPr>
        <p:spPr>
          <a:xfrm>
            <a:off x="365760" y="1783080"/>
            <a:ext cx="1965960" cy="640080"/>
          </a:xfrm>
          <a:prstGeom prst="rect">
            <a:avLst/>
          </a:prstGeom>
          <a:noFill/>
          <a:ln/>
        </p:spPr>
        <p:txBody>
          <a:bodyPr wrap="square" rtlCol="0" anchor="ctr"/>
          <a:lstStyle/>
          <a:p>
            <a:pPr marL="0" indent="0" algn="ctr">
              <a:buNone/>
            </a:pPr>
            <a:r>
              <a:rPr lang="en-US" sz="3200" b="1" dirty="0">
                <a:solidFill>
                  <a:srgbClr val="28A745"/>
                </a:solidFill>
                <a:latin typeface="Segoe UI" pitchFamily="34" charset="0"/>
                <a:ea typeface="Segoe UI" pitchFamily="34" charset="-122"/>
                <a:cs typeface="Segoe UI" pitchFamily="34" charset="-120"/>
              </a:rPr>
              <a:t>0%</a:t>
            </a:r>
            <a:endParaRPr lang="en-US" sz="3200" dirty="0"/>
          </a:p>
        </p:txBody>
      </p:sp>
      <p:sp>
        <p:nvSpPr>
          <p:cNvPr id="9" name="Text 7"/>
          <p:cNvSpPr/>
          <p:nvPr/>
        </p:nvSpPr>
        <p:spPr>
          <a:xfrm>
            <a:off x="365760" y="2468880"/>
            <a:ext cx="1965960" cy="32004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ICANS</a:t>
            </a:r>
            <a:endParaRPr lang="en-US" sz="1400" dirty="0"/>
          </a:p>
        </p:txBody>
      </p:sp>
      <p:sp>
        <p:nvSpPr>
          <p:cNvPr id="10" name="Text 8"/>
          <p:cNvSpPr/>
          <p:nvPr/>
        </p:nvSpPr>
        <p:spPr>
          <a:xfrm>
            <a:off x="365760" y="2788920"/>
            <a:ext cx="1965960" cy="320040"/>
          </a:xfrm>
          <a:prstGeom prst="rect">
            <a:avLst/>
          </a:prstGeom>
          <a:noFill/>
          <a:ln/>
        </p:spPr>
        <p:txBody>
          <a:bodyPr wrap="square" rtlCol="0" anchor="ctr"/>
          <a:lstStyle/>
          <a:p>
            <a:pPr marL="0" indent="0" algn="ctr">
              <a:buNone/>
            </a:pPr>
            <a:r>
              <a:rPr lang="en-US" sz="1300" dirty="0">
                <a:solidFill>
                  <a:srgbClr val="666666"/>
                </a:solidFill>
                <a:latin typeface="游ゴシック" pitchFamily="34" charset="0"/>
                <a:ea typeface="游ゴシック" pitchFamily="34" charset="-122"/>
                <a:cs typeface="游ゴシック" pitchFamily="34" charset="-120"/>
              </a:rPr>
              <a:t>神経毒性なし</a:t>
            </a:r>
            <a:endParaRPr lang="en-US" sz="1300" dirty="0"/>
          </a:p>
        </p:txBody>
      </p:sp>
      <p:sp>
        <p:nvSpPr>
          <p:cNvPr id="11" name="Shape 9"/>
          <p:cNvSpPr/>
          <p:nvPr/>
        </p:nvSpPr>
        <p:spPr>
          <a:xfrm>
            <a:off x="2514600" y="1645920"/>
            <a:ext cx="19659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2514600" y="1645920"/>
            <a:ext cx="1965960" cy="54864"/>
          </a:xfrm>
          <a:prstGeom prst="rect">
            <a:avLst/>
          </a:prstGeom>
          <a:solidFill>
            <a:srgbClr val="28A745"/>
          </a:solidFill>
          <a:ln/>
        </p:spPr>
        <p:txBody>
          <a:bodyPr/>
          <a:lstStyle/>
          <a:p>
            <a:endParaRPr lang="ja-JP" altLang="en-US"/>
          </a:p>
        </p:txBody>
      </p:sp>
      <p:sp>
        <p:nvSpPr>
          <p:cNvPr id="13" name="Text 11"/>
          <p:cNvSpPr/>
          <p:nvPr/>
        </p:nvSpPr>
        <p:spPr>
          <a:xfrm>
            <a:off x="2514600" y="1783080"/>
            <a:ext cx="1965960" cy="640080"/>
          </a:xfrm>
          <a:prstGeom prst="rect">
            <a:avLst/>
          </a:prstGeom>
          <a:noFill/>
          <a:ln/>
        </p:spPr>
        <p:txBody>
          <a:bodyPr wrap="square" rtlCol="0" anchor="ctr"/>
          <a:lstStyle/>
          <a:p>
            <a:pPr marL="0" indent="0" algn="ctr">
              <a:buNone/>
            </a:pPr>
            <a:r>
              <a:rPr lang="en-US" sz="3200" b="1" dirty="0">
                <a:solidFill>
                  <a:srgbClr val="28A745"/>
                </a:solidFill>
                <a:latin typeface="Segoe UI" pitchFamily="34" charset="0"/>
                <a:ea typeface="Segoe UI" pitchFamily="34" charset="-122"/>
                <a:cs typeface="Segoe UI" pitchFamily="34" charset="-120"/>
              </a:rPr>
              <a:t>39%</a:t>
            </a:r>
            <a:endParaRPr lang="en-US" sz="3200" dirty="0"/>
          </a:p>
        </p:txBody>
      </p:sp>
      <p:sp>
        <p:nvSpPr>
          <p:cNvPr id="14" name="Text 12"/>
          <p:cNvSpPr/>
          <p:nvPr/>
        </p:nvSpPr>
        <p:spPr>
          <a:xfrm>
            <a:off x="2514600" y="2468880"/>
            <a:ext cx="1965960" cy="32004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CRS (Gr1)</a:t>
            </a:r>
            <a:endParaRPr lang="en-US" sz="1400" dirty="0"/>
          </a:p>
        </p:txBody>
      </p:sp>
      <p:sp>
        <p:nvSpPr>
          <p:cNvPr id="15" name="Text 13"/>
          <p:cNvSpPr/>
          <p:nvPr/>
        </p:nvSpPr>
        <p:spPr>
          <a:xfrm>
            <a:off x="2514600" y="2788920"/>
            <a:ext cx="1965960" cy="320040"/>
          </a:xfrm>
          <a:prstGeom prst="rect">
            <a:avLst/>
          </a:prstGeom>
          <a:noFill/>
          <a:ln/>
        </p:spPr>
        <p:txBody>
          <a:bodyPr wrap="square" rtlCol="0" anchor="ctr"/>
          <a:lstStyle/>
          <a:p>
            <a:pPr marL="0" indent="0" algn="ctr">
              <a:buNone/>
            </a:pPr>
            <a:r>
              <a:rPr lang="en-US" sz="1300" dirty="0">
                <a:solidFill>
                  <a:srgbClr val="666666"/>
                </a:solidFill>
                <a:latin typeface="游ゴシック" pitchFamily="34" charset="0"/>
                <a:ea typeface="游ゴシック" pitchFamily="34" charset="-122"/>
                <a:cs typeface="游ゴシック" pitchFamily="34" charset="-120"/>
              </a:rPr>
              <a:t>軽微のみ</a:t>
            </a:r>
            <a:endParaRPr lang="en-US" sz="1300" dirty="0"/>
          </a:p>
        </p:txBody>
      </p:sp>
      <p:sp>
        <p:nvSpPr>
          <p:cNvPr id="16" name="Shape 14"/>
          <p:cNvSpPr/>
          <p:nvPr/>
        </p:nvSpPr>
        <p:spPr>
          <a:xfrm>
            <a:off x="4663440" y="1645920"/>
            <a:ext cx="19659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4663440" y="1645920"/>
            <a:ext cx="1965960" cy="54864"/>
          </a:xfrm>
          <a:prstGeom prst="rect">
            <a:avLst/>
          </a:prstGeom>
          <a:solidFill>
            <a:srgbClr val="2C5AA0"/>
          </a:solidFill>
          <a:ln/>
        </p:spPr>
        <p:txBody>
          <a:bodyPr/>
          <a:lstStyle/>
          <a:p>
            <a:endParaRPr lang="ja-JP" altLang="en-US"/>
          </a:p>
        </p:txBody>
      </p:sp>
      <p:sp>
        <p:nvSpPr>
          <p:cNvPr id="18" name="Text 16"/>
          <p:cNvSpPr/>
          <p:nvPr/>
        </p:nvSpPr>
        <p:spPr>
          <a:xfrm>
            <a:off x="4663440" y="1783080"/>
            <a:ext cx="1965960" cy="640080"/>
          </a:xfrm>
          <a:prstGeom prst="rect">
            <a:avLst/>
          </a:prstGeom>
          <a:noFill/>
          <a:ln/>
        </p:spPr>
        <p:txBody>
          <a:bodyPr wrap="square" rtlCol="0" anchor="ctr"/>
          <a:lstStyle/>
          <a:p>
            <a:pPr marL="0" indent="0" algn="ctr">
              <a:buNone/>
            </a:pPr>
            <a:r>
              <a:rPr lang="en-US" sz="3200" b="1" dirty="0">
                <a:solidFill>
                  <a:srgbClr val="2C5AA0"/>
                </a:solidFill>
                <a:latin typeface="Segoe UI" pitchFamily="34" charset="0"/>
                <a:ea typeface="Segoe UI" pitchFamily="34" charset="-122"/>
                <a:cs typeface="Segoe UI" pitchFamily="34" charset="-120"/>
              </a:rPr>
              <a:t>14/17</a:t>
            </a:r>
            <a:endParaRPr lang="en-US" sz="3200" dirty="0"/>
          </a:p>
        </p:txBody>
      </p:sp>
      <p:sp>
        <p:nvSpPr>
          <p:cNvPr id="19" name="Text 17"/>
          <p:cNvSpPr/>
          <p:nvPr/>
        </p:nvSpPr>
        <p:spPr>
          <a:xfrm>
            <a:off x="4663440" y="2468880"/>
            <a:ext cx="1965960" cy="32004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MM status</a:t>
            </a:r>
            <a:endParaRPr lang="en-US" sz="1400" dirty="0"/>
          </a:p>
        </p:txBody>
      </p:sp>
      <p:sp>
        <p:nvSpPr>
          <p:cNvPr id="20" name="Text 18"/>
          <p:cNvSpPr/>
          <p:nvPr/>
        </p:nvSpPr>
        <p:spPr>
          <a:xfrm>
            <a:off x="4663440" y="2788920"/>
            <a:ext cx="1965960" cy="320040"/>
          </a:xfrm>
          <a:prstGeom prst="rect">
            <a:avLst/>
          </a:prstGeom>
          <a:noFill/>
          <a:ln/>
        </p:spPr>
        <p:txBody>
          <a:bodyPr wrap="square" rtlCol="0" anchor="ctr"/>
          <a:lstStyle/>
          <a:p>
            <a:pPr marL="0" indent="0" algn="ctr">
              <a:buNone/>
            </a:pPr>
            <a:r>
              <a:rPr lang="en-US" sz="1300" dirty="0">
                <a:solidFill>
                  <a:srgbClr val="666666"/>
                </a:solidFill>
                <a:latin typeface="游ゴシック" pitchFamily="34" charset="0"/>
                <a:ea typeface="游ゴシック" pitchFamily="34" charset="-122"/>
                <a:cs typeface="游ゴシック" pitchFamily="34" charset="-120"/>
              </a:rPr>
              <a:t>minimal manifestation</a:t>
            </a:r>
            <a:endParaRPr lang="en-US" sz="1300" dirty="0"/>
          </a:p>
        </p:txBody>
      </p:sp>
      <p:sp>
        <p:nvSpPr>
          <p:cNvPr id="21" name="Shape 19"/>
          <p:cNvSpPr/>
          <p:nvPr/>
        </p:nvSpPr>
        <p:spPr>
          <a:xfrm>
            <a:off x="6812280" y="1645920"/>
            <a:ext cx="196596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6812280" y="1645920"/>
            <a:ext cx="1965960" cy="54864"/>
          </a:xfrm>
          <a:prstGeom prst="rect">
            <a:avLst/>
          </a:prstGeom>
          <a:solidFill>
            <a:srgbClr val="2C5AA0"/>
          </a:solidFill>
          <a:ln/>
        </p:spPr>
        <p:txBody>
          <a:bodyPr/>
          <a:lstStyle/>
          <a:p>
            <a:endParaRPr lang="ja-JP" altLang="en-US"/>
          </a:p>
        </p:txBody>
      </p:sp>
      <p:sp>
        <p:nvSpPr>
          <p:cNvPr id="23" name="Text 21"/>
          <p:cNvSpPr/>
          <p:nvPr/>
        </p:nvSpPr>
        <p:spPr>
          <a:xfrm>
            <a:off x="6812280" y="1783080"/>
            <a:ext cx="1965960" cy="640080"/>
          </a:xfrm>
          <a:prstGeom prst="rect">
            <a:avLst/>
          </a:prstGeom>
          <a:noFill/>
          <a:ln/>
        </p:spPr>
        <p:txBody>
          <a:bodyPr wrap="square" rtlCol="0" anchor="ctr"/>
          <a:lstStyle/>
          <a:p>
            <a:pPr marL="0" indent="0" algn="ctr">
              <a:buNone/>
            </a:pPr>
            <a:r>
              <a:rPr lang="en-US" sz="3200" b="1" dirty="0">
                <a:solidFill>
                  <a:srgbClr val="2C5AA0"/>
                </a:solidFill>
                <a:latin typeface="Segoe UI" pitchFamily="34" charset="0"/>
                <a:ea typeface="Segoe UI" pitchFamily="34" charset="-122"/>
                <a:cs typeface="Segoe UI" pitchFamily="34" charset="-120"/>
              </a:rPr>
              <a:t>15/17</a:t>
            </a:r>
            <a:endParaRPr lang="en-US" sz="3200" dirty="0"/>
          </a:p>
        </p:txBody>
      </p:sp>
      <p:sp>
        <p:nvSpPr>
          <p:cNvPr id="24" name="Text 22"/>
          <p:cNvSpPr/>
          <p:nvPr/>
        </p:nvSpPr>
        <p:spPr>
          <a:xfrm>
            <a:off x="6812280" y="2468880"/>
            <a:ext cx="1965960" cy="32004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ステロイド</a:t>
            </a:r>
            <a:endParaRPr lang="en-US" sz="1400" dirty="0"/>
          </a:p>
        </p:txBody>
      </p:sp>
      <p:sp>
        <p:nvSpPr>
          <p:cNvPr id="25" name="Text 23"/>
          <p:cNvSpPr/>
          <p:nvPr/>
        </p:nvSpPr>
        <p:spPr>
          <a:xfrm>
            <a:off x="6812280" y="2788920"/>
            <a:ext cx="1965960" cy="320040"/>
          </a:xfrm>
          <a:prstGeom prst="rect">
            <a:avLst/>
          </a:prstGeom>
          <a:noFill/>
          <a:ln/>
        </p:spPr>
        <p:txBody>
          <a:bodyPr wrap="square" rtlCol="0" anchor="ctr"/>
          <a:lstStyle/>
          <a:p>
            <a:pPr marL="0" indent="0" algn="ctr">
              <a:buNone/>
            </a:pPr>
            <a:r>
              <a:rPr lang="en-US" sz="1300" dirty="0">
                <a:solidFill>
                  <a:srgbClr val="666666"/>
                </a:solidFill>
                <a:latin typeface="游ゴシック" pitchFamily="34" charset="0"/>
                <a:ea typeface="游ゴシック" pitchFamily="34" charset="-122"/>
                <a:cs typeface="游ゴシック" pitchFamily="34" charset="-120"/>
              </a:rPr>
              <a:t>中止達成</a:t>
            </a:r>
            <a:endParaRPr lang="en-US" sz="1300" dirty="0"/>
          </a:p>
        </p:txBody>
      </p:sp>
      <p:sp>
        <p:nvSpPr>
          <p:cNvPr id="26" name="Shape 24"/>
          <p:cNvSpPr/>
          <p:nvPr/>
        </p:nvSpPr>
        <p:spPr>
          <a:xfrm>
            <a:off x="365760" y="3520440"/>
            <a:ext cx="7003415" cy="640080"/>
          </a:xfrm>
          <a:prstGeom prst="rect">
            <a:avLst/>
          </a:prstGeom>
          <a:solidFill>
            <a:srgbClr val="F0F7FF"/>
          </a:solidFill>
          <a:ln/>
          <a:effectLst>
            <a:outerShdw blurRad="76200" dist="25400" dir="8100000" algn="bl" rotWithShape="0">
              <a:srgbClr val="000000">
                <a:alpha val="12000"/>
              </a:srgbClr>
            </a:outerShdw>
          </a:effectLst>
        </p:spPr>
        <p:txBody>
          <a:bodyPr/>
          <a:lstStyle/>
          <a:p>
            <a:endParaRPr lang="ja-JP" altLang="en-US"/>
          </a:p>
        </p:txBody>
      </p:sp>
      <p:sp>
        <p:nvSpPr>
          <p:cNvPr id="27" name="Text 25"/>
          <p:cNvSpPr/>
          <p:nvPr/>
        </p:nvSpPr>
        <p:spPr>
          <a:xfrm>
            <a:off x="548640" y="3566160"/>
            <a:ext cx="6798310" cy="548640"/>
          </a:xfrm>
          <a:prstGeom prst="rect">
            <a:avLst/>
          </a:prstGeom>
          <a:noFill/>
          <a:ln/>
        </p:spPr>
        <p:txBody>
          <a:bodyPr wrap="square" rtlCol="0" anchor="ctr"/>
          <a:lstStyle/>
          <a:p>
            <a:pPr marL="0" indent="0">
              <a:buNone/>
            </a:pPr>
            <a:r>
              <a:rPr lang="en-US" sz="1500" b="1" dirty="0" err="1">
                <a:solidFill>
                  <a:srgbClr val="1B3A5C"/>
                </a:solidFill>
                <a:latin typeface="游ゴシック" pitchFamily="34" charset="0"/>
                <a:ea typeface="游ゴシック" pitchFamily="34" charset="-122"/>
                <a:cs typeface="游ゴシック" pitchFamily="34" charset="-120"/>
              </a:rPr>
              <a:t>全例が非ステロイド系免疫抑制薬を中止。AChR抗体陰性化も一部で確認</a:t>
            </a:r>
            <a:r>
              <a:rPr lang="en-US" sz="1500" b="1" dirty="0">
                <a:solidFill>
                  <a:srgbClr val="1B3A5C"/>
                </a:solidFill>
                <a:latin typeface="游ゴシック" pitchFamily="34" charset="0"/>
                <a:ea typeface="游ゴシック" pitchFamily="34" charset="-122"/>
                <a:cs typeface="游ゴシック" pitchFamily="34" charset="-120"/>
              </a:rPr>
              <a:t>。</a:t>
            </a:r>
          </a:p>
          <a:p>
            <a:pPr marL="0" indent="0">
              <a:buNone/>
            </a:pPr>
            <a:r>
              <a:rPr lang="en-US" sz="1500" b="1" dirty="0">
                <a:solidFill>
                  <a:srgbClr val="1B3A5C"/>
                </a:solidFill>
                <a:latin typeface="游ゴシック" pitchFamily="34" charset="0"/>
                <a:ea typeface="游ゴシック" pitchFamily="34" charset="-122"/>
                <a:cs typeface="游ゴシック" pitchFamily="34" charset="-120"/>
              </a:rPr>
              <a:t>→ Descartes-08よりも「深いリセット」に近い。</a:t>
            </a:r>
            <a:endParaRPr lang="en-US" sz="1500" dirty="0"/>
          </a:p>
        </p:txBody>
      </p:sp>
      <p:sp>
        <p:nvSpPr>
          <p:cNvPr id="28" name="Shape 26"/>
          <p:cNvSpPr/>
          <p:nvPr/>
        </p:nvSpPr>
        <p:spPr>
          <a:xfrm>
            <a:off x="365760" y="4297680"/>
            <a:ext cx="8412480" cy="640080"/>
          </a:xfrm>
          <a:prstGeom prst="rect">
            <a:avLst/>
          </a:prstGeom>
          <a:solidFill>
            <a:srgbClr val="FFF3CD"/>
          </a:solidFill>
          <a:ln/>
          <a:effectLst>
            <a:outerShdw blurRad="76200" dist="25400" dir="8100000" algn="bl" rotWithShape="0">
              <a:srgbClr val="000000">
                <a:alpha val="12000"/>
              </a:srgbClr>
            </a:outerShdw>
          </a:effectLst>
        </p:spPr>
        <p:txBody>
          <a:bodyPr/>
          <a:lstStyle/>
          <a:p>
            <a:endParaRPr lang="ja-JP" altLang="en-US"/>
          </a:p>
        </p:txBody>
      </p:sp>
      <p:sp>
        <p:nvSpPr>
          <p:cNvPr id="29" name="Shape 27"/>
          <p:cNvSpPr/>
          <p:nvPr/>
        </p:nvSpPr>
        <p:spPr>
          <a:xfrm>
            <a:off x="365760" y="4297680"/>
            <a:ext cx="54864" cy="640080"/>
          </a:xfrm>
          <a:prstGeom prst="rect">
            <a:avLst/>
          </a:prstGeom>
          <a:solidFill>
            <a:srgbClr val="FFC107"/>
          </a:solidFill>
          <a:ln/>
        </p:spPr>
        <p:txBody>
          <a:bodyPr/>
          <a:lstStyle/>
          <a:p>
            <a:endParaRPr lang="ja-JP" altLang="en-US"/>
          </a:p>
        </p:txBody>
      </p:sp>
      <p:sp>
        <p:nvSpPr>
          <p:cNvPr id="30" name="Text 28"/>
          <p:cNvSpPr/>
          <p:nvPr/>
        </p:nvSpPr>
        <p:spPr>
          <a:xfrm>
            <a:off x="548639" y="4343400"/>
            <a:ext cx="8412479" cy="54864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 MGの本質的な面白さ：同じCAR-Tでも「外来でやさしく叩く型」と「深くリセットする型」が共存。他の神経免疫疾患にも広がる可能性。</a:t>
            </a:r>
            <a:endParaRPr lang="en-US" sz="1500" dirty="0"/>
          </a:p>
        </p:txBody>
      </p:sp>
      <p:sp>
        <p:nvSpPr>
          <p:cNvPr id="31" name="Text 29"/>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17 / 42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5-2. NMOSD</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NMOSD：生物学的にはかなり相性がよい</a:t>
            </a:r>
            <a:endParaRPr lang="en-US" sz="2600" dirty="0"/>
          </a:p>
        </p:txBody>
      </p:sp>
      <p:sp>
        <p:nvSpPr>
          <p:cNvPr id="5" name="Shape 3"/>
          <p:cNvSpPr/>
          <p:nvPr/>
        </p:nvSpPr>
        <p:spPr>
          <a:xfrm>
            <a:off x="365760" y="128016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3931920" cy="54864"/>
          </a:xfrm>
          <a:prstGeom prst="rect">
            <a:avLst/>
          </a:prstGeom>
          <a:solidFill>
            <a:srgbClr val="28A745"/>
          </a:solidFill>
          <a:ln/>
        </p:spPr>
        <p:txBody>
          <a:bodyPr/>
          <a:lstStyle/>
          <a:p>
            <a:endParaRPr lang="ja-JP" altLang="en-US"/>
          </a:p>
        </p:txBody>
      </p:sp>
      <p:sp>
        <p:nvSpPr>
          <p:cNvPr id="7" name="Text 5"/>
          <p:cNvSpPr/>
          <p:nvPr/>
        </p:nvSpPr>
        <p:spPr>
          <a:xfrm>
            <a:off x="548640" y="1417320"/>
            <a:ext cx="3657600" cy="320040"/>
          </a:xfrm>
          <a:prstGeom prst="rect">
            <a:avLst/>
          </a:prstGeom>
          <a:noFill/>
          <a:ln/>
        </p:spPr>
        <p:txBody>
          <a:bodyPr wrap="square" rtlCol="0" anchor="ctr"/>
          <a:lstStyle/>
          <a:p>
            <a:pPr marL="0" indent="0">
              <a:buNone/>
            </a:pPr>
            <a:r>
              <a:rPr lang="en-US" sz="1800" b="1" dirty="0">
                <a:solidFill>
                  <a:srgbClr val="28A745"/>
                </a:solidFill>
                <a:latin typeface="游ゴシック" pitchFamily="34" charset="0"/>
                <a:ea typeface="游ゴシック" pitchFamily="34" charset="-122"/>
                <a:cs typeface="游ゴシック" pitchFamily="34" charset="-120"/>
              </a:rPr>
              <a:t>なぜ相性がよいか</a:t>
            </a:r>
            <a:endParaRPr lang="en-US" sz="1800" dirty="0"/>
          </a:p>
        </p:txBody>
      </p:sp>
      <p:sp>
        <p:nvSpPr>
          <p:cNvPr id="8" name="Text 6"/>
          <p:cNvSpPr/>
          <p:nvPr/>
        </p:nvSpPr>
        <p:spPr>
          <a:xfrm>
            <a:off x="548640" y="1783080"/>
            <a:ext cx="3566160" cy="914400"/>
          </a:xfrm>
          <a:prstGeom prst="rect">
            <a:avLst/>
          </a:prstGeom>
          <a:noFill/>
          <a:ln/>
        </p:spPr>
        <p:txBody>
          <a:bodyPr wrap="square" rtlCol="0" anchor="ctr"/>
          <a:lstStyle/>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AQP4抗体の病原性が明確</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自己抗体が病態の中心</a:t>
            </a:r>
            <a:endParaRPr lang="en-US" sz="1500" dirty="0"/>
          </a:p>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抗体産生源を狙う意義が大きい</a:t>
            </a:r>
            <a:endParaRPr lang="en-US" sz="1500" dirty="0"/>
          </a:p>
        </p:txBody>
      </p:sp>
      <p:sp>
        <p:nvSpPr>
          <p:cNvPr id="9" name="Shape 7"/>
          <p:cNvSpPr/>
          <p:nvPr/>
        </p:nvSpPr>
        <p:spPr>
          <a:xfrm>
            <a:off x="4846320" y="1280160"/>
            <a:ext cx="39319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4846320" y="1280160"/>
            <a:ext cx="3931920" cy="54864"/>
          </a:xfrm>
          <a:prstGeom prst="rect">
            <a:avLst/>
          </a:prstGeom>
          <a:solidFill>
            <a:srgbClr val="2C5AA0"/>
          </a:solidFill>
          <a:ln/>
        </p:spPr>
        <p:txBody>
          <a:bodyPr/>
          <a:lstStyle/>
          <a:p>
            <a:endParaRPr lang="ja-JP" altLang="en-US"/>
          </a:p>
        </p:txBody>
      </p:sp>
      <p:sp>
        <p:nvSpPr>
          <p:cNvPr id="11" name="Text 9"/>
          <p:cNvSpPr/>
          <p:nvPr/>
        </p:nvSpPr>
        <p:spPr>
          <a:xfrm>
            <a:off x="5029200" y="1417320"/>
            <a:ext cx="3657600" cy="320040"/>
          </a:xfrm>
          <a:prstGeom prst="rect">
            <a:avLst/>
          </a:prstGeom>
          <a:noFill/>
          <a:ln/>
        </p:spPr>
        <p:txBody>
          <a:bodyPr wrap="square" rtlCol="0" anchor="ctr"/>
          <a:lstStyle/>
          <a:p>
            <a:pPr marL="0" indent="0">
              <a:buNone/>
            </a:pPr>
            <a:r>
              <a:rPr lang="en-US" sz="1600" b="1" dirty="0">
                <a:solidFill>
                  <a:srgbClr val="2C5AA0"/>
                </a:solidFill>
                <a:latin typeface="Segoe UI" pitchFamily="34" charset="0"/>
                <a:ea typeface="Segoe UI" pitchFamily="34" charset="-122"/>
                <a:cs typeface="Segoe UI" pitchFamily="34" charset="-120"/>
              </a:rPr>
              <a:t>Phase 1試験 (BCMA CAR-T)</a:t>
            </a:r>
            <a:endParaRPr lang="en-US" sz="1600" dirty="0"/>
          </a:p>
        </p:txBody>
      </p:sp>
      <p:sp>
        <p:nvSpPr>
          <p:cNvPr id="12" name="Text 10"/>
          <p:cNvSpPr/>
          <p:nvPr/>
        </p:nvSpPr>
        <p:spPr>
          <a:xfrm>
            <a:off x="5029200" y="1783080"/>
            <a:ext cx="3657600" cy="27432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AQP4-IgG陽性NMOSD 12例</a:t>
            </a:r>
            <a:endParaRPr lang="en-US" sz="1500" dirty="0"/>
          </a:p>
        </p:txBody>
      </p:sp>
      <p:sp>
        <p:nvSpPr>
          <p:cNvPr id="13" name="Text 11"/>
          <p:cNvSpPr/>
          <p:nvPr/>
        </p:nvSpPr>
        <p:spPr>
          <a:xfrm>
            <a:off x="5029200" y="2103120"/>
            <a:ext cx="1188720" cy="411480"/>
          </a:xfrm>
          <a:prstGeom prst="rect">
            <a:avLst/>
          </a:prstGeom>
          <a:noFill/>
          <a:ln/>
        </p:spPr>
        <p:txBody>
          <a:bodyPr wrap="square" rtlCol="0" anchor="ctr"/>
          <a:lstStyle/>
          <a:p>
            <a:pPr marL="0" indent="0" algn="ctr">
              <a:buNone/>
            </a:pPr>
            <a:r>
              <a:rPr lang="en-US" sz="2200" b="1" dirty="0">
                <a:solidFill>
                  <a:srgbClr val="2C5AA0"/>
                </a:solidFill>
                <a:latin typeface="Segoe UI" pitchFamily="34" charset="0"/>
                <a:ea typeface="Segoe UI" pitchFamily="34" charset="-122"/>
                <a:cs typeface="Segoe UI" pitchFamily="34" charset="-120"/>
              </a:rPr>
              <a:t>11/12</a:t>
            </a:r>
            <a:endParaRPr lang="en-US" sz="2200" dirty="0"/>
          </a:p>
        </p:txBody>
      </p:sp>
      <p:sp>
        <p:nvSpPr>
          <p:cNvPr id="14" name="Text 12"/>
          <p:cNvSpPr/>
          <p:nvPr/>
        </p:nvSpPr>
        <p:spPr>
          <a:xfrm>
            <a:off x="5029200" y="2514600"/>
            <a:ext cx="1188720" cy="1828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無再発</a:t>
            </a:r>
            <a:endParaRPr lang="en-US" sz="1200" dirty="0"/>
          </a:p>
        </p:txBody>
      </p:sp>
      <p:sp>
        <p:nvSpPr>
          <p:cNvPr id="15" name="Text 13"/>
          <p:cNvSpPr/>
          <p:nvPr/>
        </p:nvSpPr>
        <p:spPr>
          <a:xfrm>
            <a:off x="6400800" y="2103120"/>
            <a:ext cx="1188720" cy="411480"/>
          </a:xfrm>
          <a:prstGeom prst="rect">
            <a:avLst/>
          </a:prstGeom>
          <a:noFill/>
          <a:ln/>
        </p:spPr>
        <p:txBody>
          <a:bodyPr wrap="square" rtlCol="0" anchor="ctr"/>
          <a:lstStyle/>
          <a:p>
            <a:pPr marL="0" indent="0" algn="ctr">
              <a:buNone/>
            </a:pPr>
            <a:r>
              <a:rPr lang="en-US" sz="2200" b="1" dirty="0">
                <a:solidFill>
                  <a:srgbClr val="2C5AA0"/>
                </a:solidFill>
                <a:latin typeface="Segoe UI" pitchFamily="34" charset="0"/>
                <a:ea typeface="Segoe UI" pitchFamily="34" charset="-122"/>
                <a:cs typeface="Segoe UI" pitchFamily="34" charset="-120"/>
              </a:rPr>
              <a:t>Gr1-2</a:t>
            </a:r>
            <a:endParaRPr lang="en-US" sz="2200" dirty="0"/>
          </a:p>
        </p:txBody>
      </p:sp>
      <p:sp>
        <p:nvSpPr>
          <p:cNvPr id="16" name="Text 14"/>
          <p:cNvSpPr/>
          <p:nvPr/>
        </p:nvSpPr>
        <p:spPr>
          <a:xfrm>
            <a:off x="6400800" y="2514600"/>
            <a:ext cx="1188720" cy="1828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CRS</a:t>
            </a:r>
            <a:endParaRPr lang="en-US" sz="1200" dirty="0"/>
          </a:p>
        </p:txBody>
      </p:sp>
      <p:sp>
        <p:nvSpPr>
          <p:cNvPr id="17" name="Text 15"/>
          <p:cNvSpPr/>
          <p:nvPr/>
        </p:nvSpPr>
        <p:spPr>
          <a:xfrm>
            <a:off x="7772400" y="2103120"/>
            <a:ext cx="1188720" cy="411480"/>
          </a:xfrm>
          <a:prstGeom prst="rect">
            <a:avLst/>
          </a:prstGeom>
          <a:noFill/>
          <a:ln/>
        </p:spPr>
        <p:txBody>
          <a:bodyPr wrap="square" rtlCol="0" anchor="ctr"/>
          <a:lstStyle/>
          <a:p>
            <a:pPr marL="0" indent="0" algn="ctr">
              <a:buNone/>
            </a:pPr>
            <a:r>
              <a:rPr lang="en-US" sz="2200" b="1" dirty="0">
                <a:solidFill>
                  <a:srgbClr val="2C5AA0"/>
                </a:solidFill>
                <a:latin typeface="Segoe UI" pitchFamily="34" charset="0"/>
                <a:ea typeface="Segoe UI" pitchFamily="34" charset="-122"/>
                <a:cs typeface="Segoe UI" pitchFamily="34" charset="-120"/>
              </a:rPr>
              <a:t>↓</a:t>
            </a:r>
            <a:endParaRPr lang="en-US" sz="2200" dirty="0"/>
          </a:p>
        </p:txBody>
      </p:sp>
      <p:sp>
        <p:nvSpPr>
          <p:cNvPr id="18" name="Text 16"/>
          <p:cNvSpPr/>
          <p:nvPr/>
        </p:nvSpPr>
        <p:spPr>
          <a:xfrm>
            <a:off x="7772400" y="2514600"/>
            <a:ext cx="1188720" cy="18288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AQP4抗体</a:t>
            </a:r>
            <a:endParaRPr lang="en-US" sz="1200" dirty="0"/>
          </a:p>
        </p:txBody>
      </p:sp>
      <p:sp>
        <p:nvSpPr>
          <p:cNvPr id="19" name="Shape 17"/>
          <p:cNvSpPr/>
          <p:nvPr/>
        </p:nvSpPr>
        <p:spPr>
          <a:xfrm>
            <a:off x="365760" y="3017520"/>
            <a:ext cx="8412480" cy="1188720"/>
          </a:xfrm>
          <a:prstGeom prst="rect">
            <a:avLst/>
          </a:prstGeom>
          <a:solidFill>
            <a:srgbClr val="FFF3CD"/>
          </a:solidFill>
          <a:ln/>
          <a:effectLst>
            <a:outerShdw blurRad="76200" dist="25400" dir="8100000" algn="bl" rotWithShape="0">
              <a:srgbClr val="000000">
                <a:alpha val="12000"/>
              </a:srgbClr>
            </a:outerShdw>
          </a:effectLst>
        </p:spPr>
        <p:txBody>
          <a:bodyPr/>
          <a:lstStyle/>
          <a:p>
            <a:endParaRPr lang="ja-JP" altLang="en-US"/>
          </a:p>
        </p:txBody>
      </p:sp>
      <p:sp>
        <p:nvSpPr>
          <p:cNvPr id="20" name="Shape 18"/>
          <p:cNvSpPr/>
          <p:nvPr/>
        </p:nvSpPr>
        <p:spPr>
          <a:xfrm>
            <a:off x="365760" y="3017520"/>
            <a:ext cx="54864" cy="1188720"/>
          </a:xfrm>
          <a:prstGeom prst="rect">
            <a:avLst/>
          </a:prstGeom>
          <a:solidFill>
            <a:srgbClr val="FFC107"/>
          </a:solidFill>
          <a:ln/>
        </p:spPr>
        <p:txBody>
          <a:bodyPr/>
          <a:lstStyle/>
          <a:p>
            <a:endParaRPr lang="ja-JP" altLang="en-US"/>
          </a:p>
        </p:txBody>
      </p:sp>
      <p:sp>
        <p:nvSpPr>
          <p:cNvPr id="21" name="Text 19"/>
          <p:cNvSpPr/>
          <p:nvPr/>
        </p:nvSpPr>
        <p:spPr>
          <a:xfrm>
            <a:off x="548640" y="3108960"/>
            <a:ext cx="1828800" cy="274320"/>
          </a:xfrm>
          <a:prstGeom prst="rect">
            <a:avLst/>
          </a:prstGeom>
          <a:noFill/>
          <a:ln/>
        </p:spPr>
        <p:txBody>
          <a:bodyPr wrap="square" rtlCol="0" anchor="ctr"/>
          <a:lstStyle/>
          <a:p>
            <a:pPr marL="0" indent="0">
              <a:buNone/>
            </a:pPr>
            <a:r>
              <a:rPr lang="en-US" sz="1600" b="1" dirty="0">
                <a:solidFill>
                  <a:srgbClr val="E8850C"/>
                </a:solidFill>
                <a:latin typeface="游ゴシック" pitchFamily="34" charset="0"/>
                <a:ea typeface="游ゴシック" pitchFamily="34" charset="-122"/>
                <a:cs typeface="游ゴシック" pitchFamily="34" charset="-120"/>
              </a:rPr>
              <a:t>⚠ 留意点</a:t>
            </a:r>
            <a:endParaRPr lang="en-US" sz="1600" dirty="0"/>
          </a:p>
        </p:txBody>
      </p:sp>
      <p:sp>
        <p:nvSpPr>
          <p:cNvPr id="22" name="Text 20"/>
          <p:cNvSpPr/>
          <p:nvPr/>
        </p:nvSpPr>
        <p:spPr>
          <a:xfrm>
            <a:off x="548640" y="3429000"/>
            <a:ext cx="8046720" cy="731520"/>
          </a:xfrm>
          <a:prstGeom prst="rect">
            <a:avLst/>
          </a:prstGeom>
          <a:noFill/>
          <a:ln/>
        </p:spPr>
        <p:txBody>
          <a:bodyPr wrap="square" rtlCol="0" anchor="ctr"/>
          <a:lstStyle/>
          <a:p>
            <a:pPr marL="342900" indent="-342900">
              <a:spcAft>
                <a:spcPts val="2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追跡期間はまだ短い（中央値5.5か月）</a:t>
            </a:r>
            <a:endParaRPr lang="en-US" sz="1500" dirty="0"/>
          </a:p>
          <a:p>
            <a:pPr marL="342900" indent="-342900">
              <a:spcAft>
                <a:spcPts val="2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長期再発率・感染リスク・再投与戦略は未確立</a:t>
            </a:r>
            <a:endParaRPr lang="en-US" sz="1500" dirty="0"/>
          </a:p>
          <a:p>
            <a:pPr marL="342900" indent="-342900">
              <a:spcAft>
                <a:spcPts val="200"/>
              </a:spcAft>
              <a:buSzPct val="100000"/>
              <a:buChar char="•"/>
            </a:pPr>
            <a:r>
              <a:rPr lang="en-US" sz="1500" b="1" dirty="0">
                <a:solidFill>
                  <a:srgbClr val="1B3A5C"/>
                </a:solidFill>
                <a:latin typeface="游ゴシック" pitchFamily="34" charset="0"/>
                <a:ea typeface="游ゴシック" pitchFamily="34" charset="-122"/>
                <a:cs typeface="游ゴシック" pitchFamily="34" charset="-120"/>
              </a:rPr>
              <a:t>それでも、自己免疫CAR-Tの適応候補として上位</a:t>
            </a:r>
            <a:endParaRPr lang="en-US" sz="1500" dirty="0"/>
          </a:p>
        </p:txBody>
      </p:sp>
      <p:sp>
        <p:nvSpPr>
          <p:cNvPr id="23" name="Text 21"/>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18 / 42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5-3. MS（多発性硬化症）</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B3A5C"/>
                </a:solidFill>
                <a:latin typeface="游ゴシック" pitchFamily="34" charset="0"/>
                <a:ea typeface="游ゴシック" pitchFamily="34" charset="-122"/>
                <a:cs typeface="游ゴシック" pitchFamily="34" charset="-120"/>
              </a:rPr>
              <a:t>MS：「中枢に届くか」が勝負</a:t>
            </a:r>
            <a:endParaRPr lang="en-US" sz="2800" dirty="0"/>
          </a:p>
        </p:txBody>
      </p:sp>
      <p:sp>
        <p:nvSpPr>
          <p:cNvPr id="5" name="Shape 3"/>
          <p:cNvSpPr/>
          <p:nvPr/>
        </p:nvSpPr>
        <p:spPr>
          <a:xfrm>
            <a:off x="365760" y="1280160"/>
            <a:ext cx="393192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54864" cy="1371600"/>
          </a:xfrm>
          <a:prstGeom prst="rect">
            <a:avLst/>
          </a:prstGeom>
          <a:solidFill>
            <a:srgbClr val="DC3545"/>
          </a:solidFill>
          <a:ln/>
        </p:spPr>
        <p:txBody>
          <a:bodyPr/>
          <a:lstStyle/>
          <a:p>
            <a:endParaRPr lang="ja-JP" altLang="en-US"/>
          </a:p>
        </p:txBody>
      </p:sp>
      <p:sp>
        <p:nvSpPr>
          <p:cNvPr id="7" name="Text 5"/>
          <p:cNvSpPr/>
          <p:nvPr/>
        </p:nvSpPr>
        <p:spPr>
          <a:xfrm>
            <a:off x="548640" y="1330693"/>
            <a:ext cx="3657600" cy="320040"/>
          </a:xfrm>
          <a:prstGeom prst="rect">
            <a:avLst/>
          </a:prstGeom>
          <a:noFill/>
          <a:ln/>
        </p:spPr>
        <p:txBody>
          <a:bodyPr wrap="square" rtlCol="0" anchor="ctr"/>
          <a:lstStyle/>
          <a:p>
            <a:pPr marL="0" indent="0">
              <a:buNone/>
            </a:pPr>
            <a:r>
              <a:rPr lang="en-US" sz="1800" b="1" dirty="0">
                <a:solidFill>
                  <a:srgbClr val="DC3545"/>
                </a:solidFill>
                <a:latin typeface="游ゴシック" pitchFamily="34" charset="0"/>
                <a:ea typeface="游ゴシック" pitchFamily="34" charset="-122"/>
                <a:cs typeface="游ゴシック" pitchFamily="34" charset="-120"/>
              </a:rPr>
              <a:t>核心的な課題</a:t>
            </a:r>
            <a:endParaRPr lang="en-US" sz="1800" dirty="0"/>
          </a:p>
        </p:txBody>
      </p:sp>
      <p:sp>
        <p:nvSpPr>
          <p:cNvPr id="8" name="Text 6"/>
          <p:cNvSpPr/>
          <p:nvPr/>
        </p:nvSpPr>
        <p:spPr>
          <a:xfrm>
            <a:off x="548640" y="1737360"/>
            <a:ext cx="3566160" cy="82296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進行型MSでは末梢だけでなく中枢神経内に閉じこもったB細胞炎症（CNSコンパートメント）が問題。CAR-Tがここに届くなら意味は非常に大きい。</a:t>
            </a:r>
            <a:endParaRPr lang="en-US" sz="1500" dirty="0"/>
          </a:p>
        </p:txBody>
      </p:sp>
      <p:sp>
        <p:nvSpPr>
          <p:cNvPr id="9" name="Shape 7"/>
          <p:cNvSpPr/>
          <p:nvPr/>
        </p:nvSpPr>
        <p:spPr>
          <a:xfrm>
            <a:off x="4846320" y="1280160"/>
            <a:ext cx="3931920" cy="144699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4846320" y="1280160"/>
            <a:ext cx="54864" cy="1446998"/>
          </a:xfrm>
          <a:prstGeom prst="rect">
            <a:avLst/>
          </a:prstGeom>
          <a:solidFill>
            <a:srgbClr val="28A745"/>
          </a:solidFill>
          <a:ln/>
        </p:spPr>
        <p:txBody>
          <a:bodyPr/>
          <a:lstStyle/>
          <a:p>
            <a:endParaRPr lang="ja-JP" altLang="en-US"/>
          </a:p>
        </p:txBody>
      </p:sp>
      <p:sp>
        <p:nvSpPr>
          <p:cNvPr id="11" name="Text 9"/>
          <p:cNvSpPr/>
          <p:nvPr/>
        </p:nvSpPr>
        <p:spPr>
          <a:xfrm>
            <a:off x="5010912" y="1265281"/>
            <a:ext cx="3657600" cy="320040"/>
          </a:xfrm>
          <a:prstGeom prst="rect">
            <a:avLst/>
          </a:prstGeom>
          <a:noFill/>
          <a:ln/>
        </p:spPr>
        <p:txBody>
          <a:bodyPr wrap="square" rtlCol="0" anchor="ctr"/>
          <a:lstStyle/>
          <a:p>
            <a:pPr marL="0" indent="0">
              <a:buNone/>
            </a:pPr>
            <a:r>
              <a:rPr lang="en-US" sz="1600" b="1" dirty="0">
                <a:solidFill>
                  <a:srgbClr val="28A745"/>
                </a:solidFill>
                <a:latin typeface="Segoe UI" pitchFamily="34" charset="0"/>
                <a:ea typeface="Segoe UI" pitchFamily="34" charset="-122"/>
                <a:cs typeface="Segoe UI" pitchFamily="34" charset="-120"/>
              </a:rPr>
              <a:t>初期データ (CD19 CAR-T)</a:t>
            </a:r>
            <a:endParaRPr lang="en-US" sz="1600" dirty="0"/>
          </a:p>
        </p:txBody>
      </p:sp>
      <p:sp>
        <p:nvSpPr>
          <p:cNvPr id="12" name="Text 10"/>
          <p:cNvSpPr/>
          <p:nvPr/>
        </p:nvSpPr>
        <p:spPr>
          <a:xfrm>
            <a:off x="5029200" y="1737360"/>
            <a:ext cx="3566160" cy="82296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進行型MS 2例：</a:t>
            </a:r>
            <a:endParaRPr lang="en-US" sz="15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 CAR-Tが髄液内で検出</a:t>
            </a:r>
            <a:endParaRPr lang="en-US" sz="15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 ICANSは起きず</a:t>
            </a:r>
            <a:endParaRPr lang="en-US" sz="15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 1例で髄液内抗体産生が</a:t>
            </a:r>
            <a:endParaRPr lang="en-US" sz="15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  day 64まで低下</a:t>
            </a:r>
            <a:endParaRPr lang="en-US" sz="1500" dirty="0"/>
          </a:p>
        </p:txBody>
      </p:sp>
      <p:sp>
        <p:nvSpPr>
          <p:cNvPr id="13" name="Shape 11"/>
          <p:cNvSpPr/>
          <p:nvPr/>
        </p:nvSpPr>
        <p:spPr>
          <a:xfrm>
            <a:off x="365760" y="2834640"/>
            <a:ext cx="6288505" cy="86868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dirty="0"/>
          </a:p>
        </p:txBody>
      </p:sp>
      <p:sp>
        <p:nvSpPr>
          <p:cNvPr id="14" name="Shape 12"/>
          <p:cNvSpPr/>
          <p:nvPr/>
        </p:nvSpPr>
        <p:spPr>
          <a:xfrm>
            <a:off x="365760" y="2880360"/>
            <a:ext cx="54864" cy="822960"/>
          </a:xfrm>
          <a:prstGeom prst="rect">
            <a:avLst/>
          </a:prstGeom>
          <a:solidFill>
            <a:srgbClr val="2C5AA0"/>
          </a:solidFill>
          <a:ln/>
        </p:spPr>
        <p:txBody>
          <a:bodyPr/>
          <a:lstStyle/>
          <a:p>
            <a:endParaRPr lang="ja-JP" altLang="en-US"/>
          </a:p>
        </p:txBody>
      </p:sp>
      <p:sp>
        <p:nvSpPr>
          <p:cNvPr id="15" name="Text 13"/>
          <p:cNvSpPr/>
          <p:nvPr/>
        </p:nvSpPr>
        <p:spPr>
          <a:xfrm>
            <a:off x="548640" y="2926080"/>
            <a:ext cx="8046720" cy="73152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a:t>
            </a:r>
            <a:r>
              <a:rPr lang="en-US" sz="1600" b="1" dirty="0" err="1">
                <a:solidFill>
                  <a:srgbClr val="1B3A5C"/>
                </a:solidFill>
                <a:latin typeface="游ゴシック" pitchFamily="34" charset="0"/>
                <a:ea typeface="游ゴシック" pitchFamily="34" charset="-122"/>
                <a:cs typeface="游ゴシック" pitchFamily="34" charset="-120"/>
              </a:rPr>
              <a:t>CAR-TがCNSコンパートメントに入り</a:t>
            </a:r>
            <a:r>
              <a:rPr lang="en-US" sz="1600" b="1" dirty="0">
                <a:solidFill>
                  <a:srgbClr val="1B3A5C"/>
                </a:solidFill>
                <a:latin typeface="游ゴシック" pitchFamily="34" charset="0"/>
                <a:ea typeface="游ゴシック" pitchFamily="34" charset="-122"/>
                <a:cs typeface="游ゴシック" pitchFamily="34" charset="-120"/>
              </a:rPr>
              <a:t>、</a:t>
            </a:r>
          </a:p>
          <a:p>
            <a:pPr marL="0" indent="0">
              <a:buNone/>
            </a:pPr>
            <a:r>
              <a:rPr lang="en-US" sz="1600" b="1" dirty="0" err="1">
                <a:solidFill>
                  <a:srgbClr val="1B3A5C"/>
                </a:solidFill>
                <a:latin typeface="游ゴシック" pitchFamily="34" charset="0"/>
                <a:ea typeface="游ゴシック" pitchFamily="34" charset="-122"/>
                <a:cs typeface="游ゴシック" pitchFamily="34" charset="-120"/>
              </a:rPr>
              <a:t>少なくとも一部では機能している」ことを示す初期シグナル</a:t>
            </a:r>
            <a:endParaRPr lang="en-US" sz="1600" dirty="0"/>
          </a:p>
        </p:txBody>
      </p:sp>
      <p:sp>
        <p:nvSpPr>
          <p:cNvPr id="16" name="Shape 14"/>
          <p:cNvSpPr/>
          <p:nvPr/>
        </p:nvSpPr>
        <p:spPr>
          <a:xfrm>
            <a:off x="365760" y="3931920"/>
            <a:ext cx="6035040" cy="914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365760" y="3931920"/>
            <a:ext cx="54864" cy="914400"/>
          </a:xfrm>
          <a:prstGeom prst="rect">
            <a:avLst/>
          </a:prstGeom>
          <a:solidFill>
            <a:srgbClr val="2C5AA0"/>
          </a:solidFill>
          <a:ln/>
        </p:spPr>
        <p:txBody>
          <a:bodyPr/>
          <a:lstStyle/>
          <a:p>
            <a:endParaRPr lang="ja-JP" altLang="en-US"/>
          </a:p>
        </p:txBody>
      </p:sp>
      <p:sp>
        <p:nvSpPr>
          <p:cNvPr id="18" name="Text 16"/>
          <p:cNvSpPr/>
          <p:nvPr/>
        </p:nvSpPr>
        <p:spPr>
          <a:xfrm>
            <a:off x="548640" y="3977640"/>
            <a:ext cx="1828800" cy="274320"/>
          </a:xfrm>
          <a:prstGeom prst="rect">
            <a:avLst/>
          </a:prstGeom>
          <a:noFill/>
          <a:ln/>
        </p:spPr>
        <p:txBody>
          <a:bodyPr wrap="square" rtlCol="0" anchor="ctr"/>
          <a:lstStyle/>
          <a:p>
            <a:pPr marL="0" indent="0">
              <a:buNone/>
            </a:pPr>
            <a:r>
              <a:rPr lang="en-US" sz="1600" b="1" dirty="0">
                <a:solidFill>
                  <a:srgbClr val="2C5AA0"/>
                </a:solidFill>
                <a:latin typeface="游ゴシック" pitchFamily="34" charset="0"/>
                <a:ea typeface="游ゴシック" pitchFamily="34" charset="-122"/>
                <a:cs typeface="游ゴシック" pitchFamily="34" charset="-120"/>
              </a:rPr>
              <a:t>進行中の試験</a:t>
            </a:r>
            <a:endParaRPr lang="en-US" sz="1600" dirty="0"/>
          </a:p>
        </p:txBody>
      </p:sp>
      <p:sp>
        <p:nvSpPr>
          <p:cNvPr id="19" name="Text 17"/>
          <p:cNvSpPr/>
          <p:nvPr/>
        </p:nvSpPr>
        <p:spPr>
          <a:xfrm>
            <a:off x="548640" y="4297680"/>
            <a:ext cx="5669280" cy="457200"/>
          </a:xfrm>
          <a:prstGeom prst="rect">
            <a:avLst/>
          </a:prstGeom>
          <a:noFill/>
          <a:ln/>
        </p:spPr>
        <p:txBody>
          <a:bodyPr wrap="square" rtlCol="0" anchor="ctr"/>
          <a:lstStyle/>
          <a:p>
            <a:pPr marL="0" indent="0">
              <a:buNone/>
            </a:pPr>
            <a:r>
              <a:rPr lang="en-US" sz="1400" b="1" dirty="0">
                <a:solidFill>
                  <a:srgbClr val="1B3A5C"/>
                </a:solidFill>
                <a:latin typeface="游ゴシック" pitchFamily="34" charset="0"/>
                <a:ea typeface="游ゴシック" pitchFamily="34" charset="-122"/>
                <a:cs typeface="游ゴシック" pitchFamily="34" charset="-120"/>
              </a:rPr>
              <a:t>KYV-101試験 </a:t>
            </a:r>
            <a:r>
              <a:rPr lang="en-US" sz="1400" dirty="0">
                <a:solidFill>
                  <a:srgbClr val="333333"/>
                </a:solidFill>
                <a:latin typeface="游ゴシック" pitchFamily="34" charset="0"/>
                <a:ea typeface="游ゴシック" pitchFamily="34" charset="-122"/>
                <a:cs typeface="游ゴシック" pitchFamily="34" charset="-120"/>
              </a:rPr>
              <a:t>(progressive MS対象)  </a:t>
            </a:r>
            <a:r>
              <a:rPr lang="en-US" sz="1400" b="1" dirty="0">
                <a:solidFill>
                  <a:srgbClr val="1B3A5C"/>
                </a:solidFill>
                <a:latin typeface="游ゴシック" pitchFamily="34" charset="0"/>
                <a:ea typeface="游ゴシック" pitchFamily="34" charset="-122"/>
                <a:cs typeface="游ゴシック" pitchFamily="34" charset="-120"/>
              </a:rPr>
              <a:t>AZD0120 </a:t>
            </a:r>
            <a:r>
              <a:rPr lang="en-US" sz="1400" dirty="0">
                <a:solidFill>
                  <a:srgbClr val="333333"/>
                </a:solidFill>
                <a:latin typeface="游ゴシック" pitchFamily="34" charset="0"/>
                <a:ea typeface="游ゴシック" pitchFamily="34" charset="-122"/>
                <a:cs typeface="游ゴシック" pitchFamily="34" charset="-120"/>
              </a:rPr>
              <a:t>(CD19/BCMA二重標的)</a:t>
            </a:r>
            <a:endParaRPr lang="en-US" sz="1400" dirty="0"/>
          </a:p>
        </p:txBody>
      </p:sp>
      <p:pic>
        <p:nvPicPr>
          <p:cNvPr id="20" name="Image 0" descr="preencoded.png"/>
          <p:cNvPicPr>
            <a:picLocks noChangeAspect="1"/>
          </p:cNvPicPr>
          <p:nvPr/>
        </p:nvPicPr>
        <p:blipFill>
          <a:blip r:embed="rId3"/>
          <a:stretch>
            <a:fillRect/>
          </a:stretch>
        </p:blipFill>
        <p:spPr>
          <a:xfrm>
            <a:off x="6782281" y="2784308"/>
            <a:ext cx="1645920" cy="1947672"/>
          </a:xfrm>
          <a:prstGeom prst="rect">
            <a:avLst/>
          </a:prstGeom>
        </p:spPr>
      </p:pic>
      <p:sp>
        <p:nvSpPr>
          <p:cNvPr id="21" name="Text 18"/>
          <p:cNvSpPr/>
          <p:nvPr/>
        </p:nvSpPr>
        <p:spPr>
          <a:xfrm>
            <a:off x="6858000" y="4769759"/>
            <a:ext cx="1645920" cy="274320"/>
          </a:xfrm>
          <a:prstGeom prst="rect">
            <a:avLst/>
          </a:prstGeom>
          <a:noFill/>
          <a:ln/>
        </p:spPr>
        <p:txBody>
          <a:bodyPr wrap="square" rtlCol="0" anchor="ctr"/>
          <a:lstStyle/>
          <a:p>
            <a:pPr marL="0" indent="0" algn="ctr">
              <a:buNone/>
            </a:pPr>
            <a:r>
              <a:rPr lang="en-US" sz="700" dirty="0">
                <a:solidFill>
                  <a:srgbClr val="7B8FA8"/>
                </a:solidFill>
                <a:latin typeface="Segoe UI" pitchFamily="34" charset="0"/>
                <a:ea typeface="Segoe UI" pitchFamily="34" charset="-122"/>
                <a:cs typeface="Segoe UI" pitchFamily="34" charset="-120"/>
              </a:rPr>
              <a:t>Wikimedia Commons</a:t>
            </a:r>
            <a:endParaRPr lang="en-US" sz="700" dirty="0"/>
          </a:p>
          <a:p>
            <a:pPr marL="0" indent="0" algn="ctr">
              <a:buNone/>
            </a:pPr>
            <a:r>
              <a:rPr lang="en-US" sz="700" dirty="0">
                <a:solidFill>
                  <a:srgbClr val="7B8FA8"/>
                </a:solidFill>
                <a:latin typeface="Segoe UI" pitchFamily="34" charset="0"/>
                <a:ea typeface="Segoe UI" pitchFamily="34" charset="-122"/>
                <a:cs typeface="Segoe UI" pitchFamily="34" charset="-120"/>
              </a:rPr>
              <a:t>(CC BY-SA 4.0)</a:t>
            </a:r>
            <a:endParaRPr lang="en-US" sz="700" dirty="0"/>
          </a:p>
        </p:txBody>
      </p:sp>
      <p:sp>
        <p:nvSpPr>
          <p:cNvPr id="22" name="Text 19"/>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19 / 42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5-4. CIDP</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CIDP：「全員」ではなく「合うサブタイプ」がありそう</a:t>
            </a:r>
            <a:endParaRPr lang="en-US" sz="2400" dirty="0"/>
          </a:p>
        </p:txBody>
      </p:sp>
      <p:sp>
        <p:nvSpPr>
          <p:cNvPr id="5" name="Text 3"/>
          <p:cNvSpPr/>
          <p:nvPr/>
        </p:nvSpPr>
        <p:spPr>
          <a:xfrm>
            <a:off x="457200" y="1188720"/>
            <a:ext cx="8229600" cy="45720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CIDPは異質性が大きい疾患群。CAR-Tが全体に効くというより、自己抗体・形質細胞依存性の強いサブタイプに効くと考えるのが自然。</a:t>
            </a:r>
            <a:endParaRPr lang="en-US" sz="1600" dirty="0"/>
          </a:p>
        </p:txBody>
      </p:sp>
      <p:sp>
        <p:nvSpPr>
          <p:cNvPr id="6" name="Shape 4"/>
          <p:cNvSpPr/>
          <p:nvPr/>
        </p:nvSpPr>
        <p:spPr>
          <a:xfrm>
            <a:off x="365759" y="1828799"/>
            <a:ext cx="4013735" cy="2348563"/>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365760" y="1828800"/>
            <a:ext cx="54864" cy="2348564"/>
          </a:xfrm>
          <a:prstGeom prst="rect">
            <a:avLst/>
          </a:prstGeom>
          <a:solidFill>
            <a:srgbClr val="2C5AA0"/>
          </a:solidFill>
          <a:ln/>
        </p:spPr>
        <p:txBody>
          <a:bodyPr/>
          <a:lstStyle/>
          <a:p>
            <a:endParaRPr lang="ja-JP" altLang="en-US"/>
          </a:p>
        </p:txBody>
      </p:sp>
      <p:sp>
        <p:nvSpPr>
          <p:cNvPr id="8" name="Text 6"/>
          <p:cNvSpPr/>
          <p:nvPr/>
        </p:nvSpPr>
        <p:spPr>
          <a:xfrm>
            <a:off x="548640" y="1920240"/>
            <a:ext cx="3657600" cy="320040"/>
          </a:xfrm>
          <a:prstGeom prst="rect">
            <a:avLst/>
          </a:prstGeom>
          <a:noFill/>
          <a:ln/>
        </p:spPr>
        <p:txBody>
          <a:bodyPr wrap="square" rtlCol="0" anchor="ctr"/>
          <a:lstStyle/>
          <a:p>
            <a:pPr marL="0" indent="0">
              <a:buNone/>
            </a:pPr>
            <a:r>
              <a:rPr lang="en-US" sz="1600" b="1" dirty="0">
                <a:solidFill>
                  <a:srgbClr val="2C5AA0"/>
                </a:solidFill>
                <a:latin typeface="Segoe UI" pitchFamily="34" charset="0"/>
                <a:ea typeface="Segoe UI" pitchFamily="34" charset="-122"/>
                <a:cs typeface="Segoe UI" pitchFamily="34" charset="-120"/>
              </a:rPr>
              <a:t>BCMA CAR-T（2例）</a:t>
            </a:r>
            <a:endParaRPr lang="en-US" sz="1600" dirty="0"/>
          </a:p>
        </p:txBody>
      </p:sp>
      <p:sp>
        <p:nvSpPr>
          <p:cNvPr id="9" name="Text 7"/>
          <p:cNvSpPr/>
          <p:nvPr/>
        </p:nvSpPr>
        <p:spPr>
          <a:xfrm>
            <a:off x="548640" y="2486927"/>
            <a:ext cx="3566160" cy="1463040"/>
          </a:xfrm>
          <a:prstGeom prst="rect">
            <a:avLst/>
          </a:prstGeom>
          <a:noFill/>
          <a:ln/>
        </p:spPr>
        <p:txBody>
          <a:bodyPr wrap="square" rtlCol="0" anchor="ctr"/>
          <a:lstStyle/>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2例とも6か月以内に薬剤フリー寛解</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1例は24か月以上寛解を維持</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1例は重症COVID-19後に12か月で再発</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再発時に病的B細胞の再活性化と</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自己抗体の再出現を確認</a:t>
            </a:r>
            <a:endParaRPr lang="en-US" sz="1500" dirty="0"/>
          </a:p>
        </p:txBody>
      </p:sp>
      <p:sp>
        <p:nvSpPr>
          <p:cNvPr id="10" name="Shape 8"/>
          <p:cNvSpPr/>
          <p:nvPr/>
        </p:nvSpPr>
        <p:spPr>
          <a:xfrm>
            <a:off x="4901184" y="1828798"/>
            <a:ext cx="4059936" cy="2348565"/>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4846320" y="1828800"/>
            <a:ext cx="54864" cy="2348564"/>
          </a:xfrm>
          <a:prstGeom prst="rect">
            <a:avLst/>
          </a:prstGeom>
          <a:solidFill>
            <a:srgbClr val="2C5AA0"/>
          </a:solidFill>
          <a:ln/>
        </p:spPr>
        <p:txBody>
          <a:bodyPr/>
          <a:lstStyle/>
          <a:p>
            <a:endParaRPr lang="ja-JP" altLang="en-US"/>
          </a:p>
        </p:txBody>
      </p:sp>
      <p:sp>
        <p:nvSpPr>
          <p:cNvPr id="12" name="Text 10"/>
          <p:cNvSpPr/>
          <p:nvPr/>
        </p:nvSpPr>
        <p:spPr>
          <a:xfrm>
            <a:off x="5029200" y="1920240"/>
            <a:ext cx="3657600" cy="320040"/>
          </a:xfrm>
          <a:prstGeom prst="rect">
            <a:avLst/>
          </a:prstGeom>
          <a:noFill/>
          <a:ln/>
        </p:spPr>
        <p:txBody>
          <a:bodyPr wrap="square" rtlCol="0" anchor="ctr"/>
          <a:lstStyle/>
          <a:p>
            <a:pPr marL="0" indent="0">
              <a:buNone/>
            </a:pPr>
            <a:r>
              <a:rPr lang="en-US" sz="1800" b="1" dirty="0">
                <a:solidFill>
                  <a:srgbClr val="2C5AA0"/>
                </a:solidFill>
                <a:latin typeface="游ゴシック" pitchFamily="34" charset="0"/>
                <a:ea typeface="游ゴシック" pitchFamily="34" charset="-122"/>
                <a:cs typeface="游ゴシック" pitchFamily="34" charset="-120"/>
              </a:rPr>
              <a:t>臨床的示唆</a:t>
            </a:r>
            <a:endParaRPr lang="en-US" sz="1800" dirty="0"/>
          </a:p>
        </p:txBody>
      </p:sp>
      <p:sp>
        <p:nvSpPr>
          <p:cNvPr id="13" name="Text 11"/>
          <p:cNvSpPr/>
          <p:nvPr/>
        </p:nvSpPr>
        <p:spPr>
          <a:xfrm>
            <a:off x="5013960" y="2473693"/>
            <a:ext cx="3566160" cy="146304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CIDPは1つではない</a:t>
            </a:r>
            <a:endParaRPr lang="en-US" sz="1600" dirty="0"/>
          </a:p>
          <a:p>
            <a:pPr marL="0" indent="0">
              <a:buNone/>
            </a:pPr>
            <a:endParaRPr lang="en-US" sz="16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B細胞・抗体依存性の強い患者</a:t>
            </a:r>
            <a:endParaRPr lang="en-US" sz="16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では、CAR-Tが「根治的に近い寛解」</a:t>
            </a:r>
            <a:endParaRPr lang="en-US" sz="1600" dirty="0"/>
          </a:p>
          <a:p>
            <a:pPr marL="0" indent="0">
              <a:buNone/>
            </a:pPr>
            <a:r>
              <a:rPr lang="en-US" sz="1500" dirty="0">
                <a:solidFill>
                  <a:srgbClr val="333333"/>
                </a:solidFill>
                <a:latin typeface="游ゴシック" pitchFamily="34" charset="0"/>
                <a:ea typeface="游ゴシック" pitchFamily="34" charset="-122"/>
                <a:cs typeface="游ゴシック" pitchFamily="34" charset="-120"/>
              </a:rPr>
              <a:t>を狙えるかもしれない</a:t>
            </a:r>
            <a:endParaRPr lang="en-US" sz="1600" dirty="0"/>
          </a:p>
          <a:p>
            <a:pPr marL="0" indent="0">
              <a:buNone/>
            </a:pPr>
            <a:endParaRPr lang="en-US" sz="1600" dirty="0"/>
          </a:p>
          <a:p>
            <a:pPr marL="0" indent="0">
              <a:buNone/>
            </a:pPr>
            <a:r>
              <a:rPr lang="en-US" sz="1400" dirty="0">
                <a:solidFill>
                  <a:srgbClr val="666666"/>
                </a:solidFill>
                <a:latin typeface="游ゴシック" pitchFamily="34" charset="0"/>
                <a:ea typeface="游ゴシック" pitchFamily="34" charset="-122"/>
                <a:cs typeface="游ゴシック" pitchFamily="34" charset="-120"/>
              </a:rPr>
              <a:t>軸索障害が前景で自己抗体の</a:t>
            </a:r>
            <a:endParaRPr lang="en-US" sz="1600" dirty="0"/>
          </a:p>
          <a:p>
            <a:pPr marL="0" indent="0">
              <a:buNone/>
            </a:pPr>
            <a:r>
              <a:rPr lang="en-US" sz="1400" dirty="0">
                <a:solidFill>
                  <a:srgbClr val="666666"/>
                </a:solidFill>
                <a:latin typeface="游ゴシック" pitchFamily="34" charset="0"/>
                <a:ea typeface="游ゴシック" pitchFamily="34" charset="-122"/>
                <a:cs typeface="游ゴシック" pitchFamily="34" charset="-120"/>
              </a:rPr>
              <a:t>証拠が弱い例には当てはめにくい</a:t>
            </a:r>
            <a:endParaRPr lang="en-US" sz="1600" dirty="0"/>
          </a:p>
        </p:txBody>
      </p:sp>
      <p:sp>
        <p:nvSpPr>
          <p:cNvPr id="14" name="Text 12"/>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20 / 42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5-5. SPS・GAD関連・自己抗体性脳炎</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SPS、GAD関連疾患、自己抗体性脳炎</a:t>
            </a:r>
            <a:endParaRPr lang="en-US" sz="24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600" dirty="0">
                <a:solidFill>
                  <a:srgbClr val="666666"/>
                </a:solidFill>
                <a:latin typeface="游ゴシック" pitchFamily="34" charset="0"/>
                <a:ea typeface="游ゴシック" pitchFamily="34" charset="-122"/>
                <a:cs typeface="游ゴシック" pitchFamily="34" charset="-120"/>
              </a:rPr>
              <a:t>まだ症例報告中心だが、内容はかなり刺激的</a:t>
            </a:r>
            <a:endParaRPr lang="en-US" sz="1600" dirty="0"/>
          </a:p>
        </p:txBody>
      </p:sp>
      <p:sp>
        <p:nvSpPr>
          <p:cNvPr id="6" name="Shape 4"/>
          <p:cNvSpPr/>
          <p:nvPr/>
        </p:nvSpPr>
        <p:spPr>
          <a:xfrm>
            <a:off x="365760" y="155448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365760" y="1554480"/>
            <a:ext cx="2651760" cy="54864"/>
          </a:xfrm>
          <a:prstGeom prst="rect">
            <a:avLst/>
          </a:prstGeom>
          <a:solidFill>
            <a:srgbClr val="2C5AA0"/>
          </a:solidFill>
          <a:ln/>
        </p:spPr>
        <p:txBody>
          <a:bodyPr/>
          <a:lstStyle/>
          <a:p>
            <a:endParaRPr lang="ja-JP" altLang="en-US"/>
          </a:p>
        </p:txBody>
      </p:sp>
      <p:sp>
        <p:nvSpPr>
          <p:cNvPr id="8" name="Text 6"/>
          <p:cNvSpPr/>
          <p:nvPr/>
        </p:nvSpPr>
        <p:spPr>
          <a:xfrm>
            <a:off x="457200" y="1691640"/>
            <a:ext cx="2468880" cy="502920"/>
          </a:xfrm>
          <a:prstGeom prst="rect">
            <a:avLst/>
          </a:prstGeom>
          <a:noFill/>
          <a:ln/>
        </p:spPr>
        <p:txBody>
          <a:bodyPr wrap="square" rtlCol="0" anchor="ctr"/>
          <a:lstStyle/>
          <a:p>
            <a:pPr marL="0" indent="0">
              <a:buNone/>
            </a:pPr>
            <a:r>
              <a:rPr lang="en-US" sz="1500" b="1" dirty="0">
                <a:solidFill>
                  <a:srgbClr val="2C5AA0"/>
                </a:solidFill>
                <a:latin typeface="Segoe UI" pitchFamily="34" charset="0"/>
                <a:ea typeface="Segoe UI" pitchFamily="34" charset="-122"/>
                <a:cs typeface="Segoe UI" pitchFamily="34" charset="-120"/>
              </a:rPr>
              <a:t>Stiff-Person</a:t>
            </a:r>
            <a:endParaRPr lang="en-US" sz="1500" dirty="0"/>
          </a:p>
          <a:p>
            <a:pPr marL="0" indent="0">
              <a:buNone/>
            </a:pPr>
            <a:r>
              <a:rPr lang="en-US" sz="1500" b="1" dirty="0">
                <a:solidFill>
                  <a:srgbClr val="2C5AA0"/>
                </a:solidFill>
                <a:latin typeface="Segoe UI" pitchFamily="34" charset="0"/>
                <a:ea typeface="Segoe UI" pitchFamily="34" charset="-122"/>
                <a:cs typeface="Segoe UI" pitchFamily="34" charset="-120"/>
              </a:rPr>
              <a:t>Syndrome</a:t>
            </a:r>
            <a:endParaRPr lang="en-US" sz="1500" dirty="0"/>
          </a:p>
        </p:txBody>
      </p:sp>
      <p:sp>
        <p:nvSpPr>
          <p:cNvPr id="9" name="Text 7"/>
          <p:cNvSpPr/>
          <p:nvPr/>
        </p:nvSpPr>
        <p:spPr>
          <a:xfrm>
            <a:off x="457200" y="2194560"/>
            <a:ext cx="2468880" cy="1280160"/>
          </a:xfrm>
          <a:prstGeom prst="rect">
            <a:avLst/>
          </a:prstGeom>
          <a:noFill/>
          <a:ln/>
        </p:spPr>
        <p:txBody>
          <a:bodyPr wrap="square" rtlCol="0" anchor="ctr"/>
          <a:lstStyle/>
          <a:p>
            <a:pPr marL="0" indent="0">
              <a:buNone/>
            </a:pPr>
            <a:r>
              <a:rPr lang="en-US" sz="1300" dirty="0">
                <a:solidFill>
                  <a:srgbClr val="333333"/>
                </a:solidFill>
                <a:latin typeface="游ゴシック" pitchFamily="34" charset="0"/>
                <a:ea typeface="游ゴシック" pitchFamily="34" charset="-122"/>
                <a:cs typeface="游ゴシック" pitchFamily="34" charset="-120"/>
              </a:rPr>
              <a:t>CD19 CAR-T後：</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歩行速度 100%以上改善</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歩行距離 50m未満→6km超</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ベンゾジアゼピン40%減</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毒性は低グレードCRS</a:t>
            </a:r>
            <a:endParaRPr lang="en-US" sz="1300" dirty="0"/>
          </a:p>
        </p:txBody>
      </p:sp>
      <p:sp>
        <p:nvSpPr>
          <p:cNvPr id="10" name="Shape 8"/>
          <p:cNvSpPr/>
          <p:nvPr/>
        </p:nvSpPr>
        <p:spPr>
          <a:xfrm>
            <a:off x="3246120" y="155448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3246120" y="1554480"/>
            <a:ext cx="2651760" cy="54864"/>
          </a:xfrm>
          <a:prstGeom prst="rect">
            <a:avLst/>
          </a:prstGeom>
          <a:solidFill>
            <a:srgbClr val="28A745"/>
          </a:solidFill>
          <a:ln/>
        </p:spPr>
        <p:txBody>
          <a:bodyPr/>
          <a:lstStyle/>
          <a:p>
            <a:endParaRPr lang="ja-JP" altLang="en-US"/>
          </a:p>
        </p:txBody>
      </p:sp>
      <p:sp>
        <p:nvSpPr>
          <p:cNvPr id="12" name="Text 10"/>
          <p:cNvSpPr/>
          <p:nvPr/>
        </p:nvSpPr>
        <p:spPr>
          <a:xfrm>
            <a:off x="3337560" y="1691640"/>
            <a:ext cx="2468880" cy="502920"/>
          </a:xfrm>
          <a:prstGeom prst="rect">
            <a:avLst/>
          </a:prstGeom>
          <a:noFill/>
          <a:ln/>
        </p:spPr>
        <p:txBody>
          <a:bodyPr wrap="square" rtlCol="0" anchor="ctr"/>
          <a:lstStyle/>
          <a:p>
            <a:pPr marL="0" indent="0">
              <a:buNone/>
            </a:pPr>
            <a:r>
              <a:rPr lang="en-US" sz="1500" b="1" dirty="0">
                <a:solidFill>
                  <a:srgbClr val="28A745"/>
                </a:solidFill>
                <a:latin typeface="游ゴシック" pitchFamily="34" charset="0"/>
                <a:ea typeface="游ゴシック" pitchFamily="34" charset="-122"/>
                <a:cs typeface="游ゴシック" pitchFamily="34" charset="-120"/>
              </a:rPr>
              <a:t>DAGLA抗体</a:t>
            </a:r>
            <a:endParaRPr lang="en-US" sz="1500" dirty="0"/>
          </a:p>
          <a:p>
            <a:pPr marL="0" indent="0">
              <a:buNone/>
            </a:pPr>
            <a:r>
              <a:rPr lang="en-US" sz="1500" b="1" dirty="0">
                <a:solidFill>
                  <a:srgbClr val="28A745"/>
                </a:solidFill>
                <a:latin typeface="游ゴシック" pitchFamily="34" charset="0"/>
                <a:ea typeface="游ゴシック" pitchFamily="34" charset="-122"/>
                <a:cs typeface="游ゴシック" pitchFamily="34" charset="-120"/>
              </a:rPr>
              <a:t>関連脳炎</a:t>
            </a:r>
            <a:endParaRPr lang="en-US" sz="1500" dirty="0"/>
          </a:p>
        </p:txBody>
      </p:sp>
      <p:sp>
        <p:nvSpPr>
          <p:cNvPr id="13" name="Text 11"/>
          <p:cNvSpPr/>
          <p:nvPr/>
        </p:nvSpPr>
        <p:spPr>
          <a:xfrm>
            <a:off x="3337560" y="2194560"/>
            <a:ext cx="2468880" cy="1280160"/>
          </a:xfrm>
          <a:prstGeom prst="rect">
            <a:avLst/>
          </a:prstGeom>
          <a:noFill/>
          <a:ln/>
        </p:spPr>
        <p:txBody>
          <a:bodyPr wrap="square" rtlCol="0" anchor="ctr"/>
          <a:lstStyle/>
          <a:p>
            <a:pPr marL="0" indent="0">
              <a:buNone/>
            </a:pPr>
            <a:r>
              <a:rPr lang="en-US" sz="1300" dirty="0">
                <a:solidFill>
                  <a:srgbClr val="333333"/>
                </a:solidFill>
                <a:latin typeface="游ゴシック" pitchFamily="34" charset="0"/>
                <a:ea typeface="游ゴシック" pitchFamily="34" charset="-122"/>
                <a:cs typeface="游ゴシック" pitchFamily="34" charset="-120"/>
              </a:rPr>
              <a:t>CD19 CAR-T後：</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臨床スコア改善</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血清・髄液抗体が低下</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髄液OCBが</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陽性→陰性化</a:t>
            </a:r>
            <a:endParaRPr lang="en-US" sz="1300" dirty="0"/>
          </a:p>
        </p:txBody>
      </p:sp>
      <p:sp>
        <p:nvSpPr>
          <p:cNvPr id="14" name="Shape 12"/>
          <p:cNvSpPr/>
          <p:nvPr/>
        </p:nvSpPr>
        <p:spPr>
          <a:xfrm>
            <a:off x="6126480" y="1554480"/>
            <a:ext cx="265176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5" name="Shape 13"/>
          <p:cNvSpPr/>
          <p:nvPr/>
        </p:nvSpPr>
        <p:spPr>
          <a:xfrm>
            <a:off x="6126480" y="1554480"/>
            <a:ext cx="2651760" cy="54864"/>
          </a:xfrm>
          <a:prstGeom prst="rect">
            <a:avLst/>
          </a:prstGeom>
          <a:solidFill>
            <a:srgbClr val="E8850C"/>
          </a:solidFill>
          <a:ln/>
        </p:spPr>
        <p:txBody>
          <a:bodyPr/>
          <a:lstStyle/>
          <a:p>
            <a:endParaRPr lang="ja-JP" altLang="en-US"/>
          </a:p>
        </p:txBody>
      </p:sp>
      <p:sp>
        <p:nvSpPr>
          <p:cNvPr id="16" name="Text 14"/>
          <p:cNvSpPr/>
          <p:nvPr/>
        </p:nvSpPr>
        <p:spPr>
          <a:xfrm>
            <a:off x="6217920" y="1691640"/>
            <a:ext cx="2468880" cy="502920"/>
          </a:xfrm>
          <a:prstGeom prst="rect">
            <a:avLst/>
          </a:prstGeom>
          <a:noFill/>
          <a:ln/>
        </p:spPr>
        <p:txBody>
          <a:bodyPr wrap="square" rtlCol="0" anchor="ctr"/>
          <a:lstStyle/>
          <a:p>
            <a:pPr marL="0" indent="0">
              <a:buNone/>
            </a:pPr>
            <a:r>
              <a:rPr lang="en-US" sz="1500" b="1" dirty="0">
                <a:solidFill>
                  <a:srgbClr val="E8850C"/>
                </a:solidFill>
                <a:latin typeface="游ゴシック" pitchFamily="34" charset="0"/>
                <a:ea typeface="游ゴシック" pitchFamily="34" charset="-122"/>
                <a:cs typeface="游ゴシック" pitchFamily="34" charset="-120"/>
              </a:rPr>
              <a:t>GAD65抗体</a:t>
            </a:r>
            <a:endParaRPr lang="en-US" sz="1500" dirty="0"/>
          </a:p>
          <a:p>
            <a:pPr marL="0" indent="0">
              <a:buNone/>
            </a:pPr>
            <a:r>
              <a:rPr lang="en-US" sz="1500" b="1" dirty="0">
                <a:solidFill>
                  <a:srgbClr val="E8850C"/>
                </a:solidFill>
                <a:latin typeface="游ゴシック" pitchFamily="34" charset="0"/>
                <a:ea typeface="游ゴシック" pitchFamily="34" charset="-122"/>
                <a:cs typeface="游ゴシック" pitchFamily="34" charset="-120"/>
              </a:rPr>
              <a:t>小脳失調症</a:t>
            </a:r>
            <a:endParaRPr lang="en-US" sz="1500" dirty="0"/>
          </a:p>
        </p:txBody>
      </p:sp>
      <p:sp>
        <p:nvSpPr>
          <p:cNvPr id="17" name="Text 15"/>
          <p:cNvSpPr/>
          <p:nvPr/>
        </p:nvSpPr>
        <p:spPr>
          <a:xfrm>
            <a:off x="6217920" y="2194560"/>
            <a:ext cx="2468880" cy="1280160"/>
          </a:xfrm>
          <a:prstGeom prst="rect">
            <a:avLst/>
          </a:prstGeom>
          <a:noFill/>
          <a:ln/>
        </p:spPr>
        <p:txBody>
          <a:bodyPr wrap="square" rtlCol="0" anchor="ctr"/>
          <a:lstStyle/>
          <a:p>
            <a:pPr marL="0" indent="0">
              <a:buNone/>
            </a:pPr>
            <a:r>
              <a:rPr lang="en-US" sz="1300" dirty="0">
                <a:solidFill>
                  <a:srgbClr val="333333"/>
                </a:solidFill>
                <a:latin typeface="游ゴシック" pitchFamily="34" charset="0"/>
                <a:ea typeface="游ゴシック" pitchFamily="34" charset="-122"/>
                <a:cs typeface="游ゴシック" pitchFamily="34" charset="-120"/>
              </a:rPr>
              <a:t>CD19 CAR-T後：</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Day 90 血清GAD65抗体</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95%低下</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Day 30から失調改善</a:t>
            </a:r>
            <a:endParaRPr lang="en-US" sz="1300" dirty="0"/>
          </a:p>
          <a:p>
            <a:pPr marL="0" indent="0">
              <a:buNone/>
            </a:pPr>
            <a:r>
              <a:rPr lang="en-US" sz="1300" dirty="0">
                <a:solidFill>
                  <a:srgbClr val="333333"/>
                </a:solidFill>
                <a:latin typeface="游ゴシック" pitchFamily="34" charset="0"/>
                <a:ea typeface="游ゴシック" pitchFamily="34" charset="-122"/>
                <a:cs typeface="游ゴシック" pitchFamily="34" charset="-120"/>
              </a:rPr>
              <a:t>• 毒性はGr1 CRSのみ</a:t>
            </a:r>
            <a:endParaRPr lang="en-US" sz="1300" dirty="0"/>
          </a:p>
        </p:txBody>
      </p:sp>
      <p:sp>
        <p:nvSpPr>
          <p:cNvPr id="18" name="Shape 16"/>
          <p:cNvSpPr/>
          <p:nvPr/>
        </p:nvSpPr>
        <p:spPr>
          <a:xfrm>
            <a:off x="365760" y="3794760"/>
            <a:ext cx="8412480" cy="1005840"/>
          </a:xfrm>
          <a:prstGeom prst="rect">
            <a:avLst/>
          </a:prstGeom>
          <a:solidFill>
            <a:srgbClr val="FFF3CD"/>
          </a:solidFill>
          <a:ln/>
          <a:effectLst>
            <a:outerShdw blurRad="76200" dist="25400" dir="8100000" algn="bl" rotWithShape="0">
              <a:srgbClr val="000000">
                <a:alpha val="12000"/>
              </a:srgbClr>
            </a:outerShdw>
          </a:effectLst>
        </p:spPr>
        <p:txBody>
          <a:bodyPr/>
          <a:lstStyle/>
          <a:p>
            <a:endParaRPr lang="ja-JP" altLang="en-US"/>
          </a:p>
        </p:txBody>
      </p:sp>
      <p:sp>
        <p:nvSpPr>
          <p:cNvPr id="19" name="Shape 17"/>
          <p:cNvSpPr/>
          <p:nvPr/>
        </p:nvSpPr>
        <p:spPr>
          <a:xfrm>
            <a:off x="365760" y="3794760"/>
            <a:ext cx="54864" cy="1005840"/>
          </a:xfrm>
          <a:prstGeom prst="rect">
            <a:avLst/>
          </a:prstGeom>
          <a:solidFill>
            <a:srgbClr val="FFC107"/>
          </a:solidFill>
          <a:ln/>
        </p:spPr>
        <p:txBody>
          <a:bodyPr/>
          <a:lstStyle/>
          <a:p>
            <a:endParaRPr lang="ja-JP" altLang="en-US"/>
          </a:p>
        </p:txBody>
      </p:sp>
      <p:sp>
        <p:nvSpPr>
          <p:cNvPr id="20" name="Text 18"/>
          <p:cNvSpPr/>
          <p:nvPr/>
        </p:nvSpPr>
        <p:spPr>
          <a:xfrm>
            <a:off x="548640" y="3886200"/>
            <a:ext cx="8046720" cy="320040"/>
          </a:xfrm>
          <a:prstGeom prst="rect">
            <a:avLst/>
          </a:prstGeom>
          <a:noFill/>
          <a:ln/>
        </p:spPr>
        <p:txBody>
          <a:bodyPr wrap="square" rtlCol="0" anchor="ctr"/>
          <a:lstStyle/>
          <a:p>
            <a:pPr marL="0" indent="0">
              <a:buNone/>
            </a:pPr>
            <a:r>
              <a:rPr lang="en-US" sz="1600" b="1" dirty="0">
                <a:solidFill>
                  <a:srgbClr val="E8850C"/>
                </a:solidFill>
                <a:latin typeface="游ゴシック" pitchFamily="34" charset="0"/>
                <a:ea typeface="游ゴシック" pitchFamily="34" charset="-122"/>
                <a:cs typeface="游ゴシック" pitchFamily="34" charset="-120"/>
              </a:rPr>
              <a:t>⚠ まだ「有望」であって「確立」ではない</a:t>
            </a:r>
            <a:endParaRPr lang="en-US" sz="1600" dirty="0"/>
          </a:p>
        </p:txBody>
      </p:sp>
      <p:sp>
        <p:nvSpPr>
          <p:cNvPr id="21" name="Text 19"/>
          <p:cNvSpPr/>
          <p:nvPr/>
        </p:nvSpPr>
        <p:spPr>
          <a:xfrm>
            <a:off x="548640" y="4251960"/>
            <a:ext cx="8046720" cy="36576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症例報告は強い仮説を生むが、適応選択・長期予後・再投与・感染管理はこれから。</a:t>
            </a:r>
            <a:endParaRPr lang="en-US" sz="1500" dirty="0"/>
          </a:p>
        </p:txBody>
      </p:sp>
      <p:sp>
        <p:nvSpPr>
          <p:cNvPr id="22" name="Text 20"/>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21 / 42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06</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神経内科医が考えるべき4つの問い</a:t>
            </a:r>
            <a:endParaRPr lang="en-US" sz="34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臨床的な判断枠組み</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6. 4つの問い</a:t>
            </a:r>
            <a:endParaRPr lang="en-US" sz="1200" dirty="0"/>
          </a:p>
        </p:txBody>
      </p:sp>
      <p:sp>
        <p:nvSpPr>
          <p:cNvPr id="4" name="Shape 2"/>
          <p:cNvSpPr/>
          <p:nvPr/>
        </p:nvSpPr>
        <p:spPr>
          <a:xfrm>
            <a:off x="457200" y="640080"/>
            <a:ext cx="548640" cy="548640"/>
          </a:xfrm>
          <a:prstGeom prst="ellipse">
            <a:avLst/>
          </a:prstGeom>
          <a:solidFill>
            <a:srgbClr val="2C5AA0"/>
          </a:solidFill>
          <a:ln/>
        </p:spPr>
        <p:txBody>
          <a:bodyPr/>
          <a:lstStyle/>
          <a:p>
            <a:endParaRPr lang="ja-JP" altLang="en-US"/>
          </a:p>
        </p:txBody>
      </p:sp>
      <p:sp>
        <p:nvSpPr>
          <p:cNvPr id="5" name="Text 3"/>
          <p:cNvSpPr/>
          <p:nvPr/>
        </p:nvSpPr>
        <p:spPr>
          <a:xfrm>
            <a:off x="457200" y="6400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Q1</a:t>
            </a:r>
            <a:endParaRPr lang="en-US" sz="1800" dirty="0"/>
          </a:p>
        </p:txBody>
      </p:sp>
      <p:sp>
        <p:nvSpPr>
          <p:cNvPr id="6" name="Text 4"/>
          <p:cNvSpPr/>
          <p:nvPr/>
        </p:nvSpPr>
        <p:spPr>
          <a:xfrm>
            <a:off x="1188720" y="640080"/>
            <a:ext cx="73152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その病気は、本当にB細胞/自己抗体が主役か？</a:t>
            </a:r>
            <a:endParaRPr lang="en-US" sz="2400" dirty="0"/>
          </a:p>
        </p:txBody>
      </p:sp>
      <p:sp>
        <p:nvSpPr>
          <p:cNvPr id="7" name="Text 5"/>
          <p:cNvSpPr/>
          <p:nvPr/>
        </p:nvSpPr>
        <p:spPr>
          <a:xfrm>
            <a:off x="457200" y="1371600"/>
            <a:ext cx="8229600" cy="36576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CAR-Tは万能の免疫抑制ではない。B細胞が病態の中心であるほど、相性が良い。</a:t>
            </a:r>
            <a:endParaRPr lang="en-US" sz="1600" dirty="0"/>
          </a:p>
        </p:txBody>
      </p:sp>
      <p:sp>
        <p:nvSpPr>
          <p:cNvPr id="8" name="Shape 6"/>
          <p:cNvSpPr/>
          <p:nvPr/>
        </p:nvSpPr>
        <p:spPr>
          <a:xfrm>
            <a:off x="457200" y="1920240"/>
            <a:ext cx="8229600" cy="457200"/>
          </a:xfrm>
          <a:prstGeom prst="rect">
            <a:avLst/>
          </a:prstGeom>
          <a:solidFill>
            <a:srgbClr val="F8F9FA"/>
          </a:solidFill>
          <a:ln/>
        </p:spPr>
        <p:txBody>
          <a:bodyPr/>
          <a:lstStyle/>
          <a:p>
            <a:endParaRPr lang="ja-JP" altLang="en-US"/>
          </a:p>
        </p:txBody>
      </p:sp>
      <p:sp>
        <p:nvSpPr>
          <p:cNvPr id="9" name="Text 7"/>
          <p:cNvSpPr/>
          <p:nvPr/>
        </p:nvSpPr>
        <p:spPr>
          <a:xfrm>
            <a:off x="548640" y="1920240"/>
            <a:ext cx="457200" cy="457200"/>
          </a:xfrm>
          <a:prstGeom prst="rect">
            <a:avLst/>
          </a:prstGeom>
          <a:noFill/>
          <a:ln/>
        </p:spPr>
        <p:txBody>
          <a:bodyPr wrap="square" rtlCol="0" anchor="ctr"/>
          <a:lstStyle/>
          <a:p>
            <a:pPr marL="0" indent="0" algn="ctr">
              <a:buNone/>
            </a:pPr>
            <a:r>
              <a:rPr lang="en-US" sz="2000" b="1" dirty="0">
                <a:solidFill>
                  <a:srgbClr val="28A745"/>
                </a:solidFill>
                <a:latin typeface="游ゴシック" pitchFamily="34" charset="0"/>
                <a:ea typeface="游ゴシック" pitchFamily="34" charset="-122"/>
                <a:cs typeface="游ゴシック" pitchFamily="34" charset="-120"/>
              </a:rPr>
              <a:t>◎</a:t>
            </a:r>
            <a:endParaRPr lang="en-US" sz="2000" dirty="0"/>
          </a:p>
        </p:txBody>
      </p:sp>
      <p:sp>
        <p:nvSpPr>
          <p:cNvPr id="10" name="Text 8"/>
          <p:cNvSpPr/>
          <p:nvPr/>
        </p:nvSpPr>
        <p:spPr>
          <a:xfrm>
            <a:off x="1097280" y="1920240"/>
            <a:ext cx="2286000" cy="45720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NMOSD</a:t>
            </a:r>
            <a:endParaRPr lang="en-US" sz="1500" dirty="0"/>
          </a:p>
          <a:p>
            <a:pPr marL="0" indent="0">
              <a:buNone/>
            </a:pPr>
            <a:r>
              <a:rPr lang="en-US" sz="1500" b="1" dirty="0">
                <a:solidFill>
                  <a:srgbClr val="1B3A5C"/>
                </a:solidFill>
                <a:latin typeface="游ゴシック" pitchFamily="34" charset="0"/>
                <a:ea typeface="游ゴシック" pitchFamily="34" charset="-122"/>
                <a:cs typeface="游ゴシック" pitchFamily="34" charset="-120"/>
              </a:rPr>
              <a:t>(AQP4抗体)</a:t>
            </a:r>
            <a:endParaRPr lang="en-US" sz="1500" dirty="0"/>
          </a:p>
        </p:txBody>
      </p:sp>
      <p:sp>
        <p:nvSpPr>
          <p:cNvPr id="11" name="Text 9"/>
          <p:cNvSpPr/>
          <p:nvPr/>
        </p:nvSpPr>
        <p:spPr>
          <a:xfrm>
            <a:off x="3657600" y="1920240"/>
            <a:ext cx="5029200" cy="4572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抗体の病原性が明確</a:t>
            </a:r>
            <a:endParaRPr lang="en-US" sz="1500" dirty="0"/>
          </a:p>
        </p:txBody>
      </p:sp>
      <p:sp>
        <p:nvSpPr>
          <p:cNvPr id="12" name="Shape 10"/>
          <p:cNvSpPr/>
          <p:nvPr/>
        </p:nvSpPr>
        <p:spPr>
          <a:xfrm>
            <a:off x="457200" y="2468880"/>
            <a:ext cx="8229600" cy="457200"/>
          </a:xfrm>
          <a:prstGeom prst="rect">
            <a:avLst/>
          </a:prstGeom>
          <a:solidFill>
            <a:srgbClr val="FFFFFF"/>
          </a:solidFill>
          <a:ln/>
        </p:spPr>
        <p:txBody>
          <a:bodyPr/>
          <a:lstStyle/>
          <a:p>
            <a:endParaRPr lang="ja-JP" altLang="en-US"/>
          </a:p>
        </p:txBody>
      </p:sp>
      <p:sp>
        <p:nvSpPr>
          <p:cNvPr id="13" name="Text 11"/>
          <p:cNvSpPr/>
          <p:nvPr/>
        </p:nvSpPr>
        <p:spPr>
          <a:xfrm>
            <a:off x="548640" y="2468880"/>
            <a:ext cx="457200" cy="457200"/>
          </a:xfrm>
          <a:prstGeom prst="rect">
            <a:avLst/>
          </a:prstGeom>
          <a:noFill/>
          <a:ln/>
        </p:spPr>
        <p:txBody>
          <a:bodyPr wrap="square" rtlCol="0" anchor="ctr"/>
          <a:lstStyle/>
          <a:p>
            <a:pPr marL="0" indent="0" algn="ctr">
              <a:buNone/>
            </a:pPr>
            <a:r>
              <a:rPr lang="en-US" sz="2000" b="1" dirty="0">
                <a:solidFill>
                  <a:srgbClr val="28A745"/>
                </a:solidFill>
                <a:latin typeface="游ゴシック" pitchFamily="34" charset="0"/>
                <a:ea typeface="游ゴシック" pitchFamily="34" charset="-122"/>
                <a:cs typeface="游ゴシック" pitchFamily="34" charset="-120"/>
              </a:rPr>
              <a:t>◎</a:t>
            </a:r>
            <a:endParaRPr lang="en-US" sz="2000" dirty="0"/>
          </a:p>
        </p:txBody>
      </p:sp>
      <p:sp>
        <p:nvSpPr>
          <p:cNvPr id="14" name="Text 12"/>
          <p:cNvSpPr/>
          <p:nvPr/>
        </p:nvSpPr>
        <p:spPr>
          <a:xfrm>
            <a:off x="1097280" y="2468880"/>
            <a:ext cx="2286000" cy="45720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AChR抗体</a:t>
            </a:r>
            <a:endParaRPr lang="en-US" sz="1500" dirty="0"/>
          </a:p>
          <a:p>
            <a:pPr marL="0" indent="0">
              <a:buNone/>
            </a:pPr>
            <a:r>
              <a:rPr lang="en-US" sz="1500" b="1" dirty="0">
                <a:solidFill>
                  <a:srgbClr val="1B3A5C"/>
                </a:solidFill>
                <a:latin typeface="游ゴシック" pitchFamily="34" charset="0"/>
                <a:ea typeface="游ゴシック" pitchFamily="34" charset="-122"/>
                <a:cs typeface="游ゴシック" pitchFamily="34" charset="-120"/>
              </a:rPr>
              <a:t>陽性MG</a:t>
            </a:r>
            <a:endParaRPr lang="en-US" sz="1500" dirty="0"/>
          </a:p>
        </p:txBody>
      </p:sp>
      <p:sp>
        <p:nvSpPr>
          <p:cNvPr id="15" name="Text 13"/>
          <p:cNvSpPr/>
          <p:nvPr/>
        </p:nvSpPr>
        <p:spPr>
          <a:xfrm>
            <a:off x="3657600" y="2468880"/>
            <a:ext cx="5029200" cy="4572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B細胞/抗体依存</a:t>
            </a:r>
            <a:endParaRPr lang="en-US" sz="1500" dirty="0"/>
          </a:p>
        </p:txBody>
      </p:sp>
      <p:sp>
        <p:nvSpPr>
          <p:cNvPr id="16" name="Shape 14"/>
          <p:cNvSpPr/>
          <p:nvPr/>
        </p:nvSpPr>
        <p:spPr>
          <a:xfrm>
            <a:off x="457200" y="3017520"/>
            <a:ext cx="8229600" cy="457200"/>
          </a:xfrm>
          <a:prstGeom prst="rect">
            <a:avLst/>
          </a:prstGeom>
          <a:solidFill>
            <a:srgbClr val="F8F9FA"/>
          </a:solidFill>
          <a:ln/>
        </p:spPr>
        <p:txBody>
          <a:bodyPr/>
          <a:lstStyle/>
          <a:p>
            <a:endParaRPr lang="ja-JP" altLang="en-US"/>
          </a:p>
        </p:txBody>
      </p:sp>
      <p:sp>
        <p:nvSpPr>
          <p:cNvPr id="17" name="Text 15"/>
          <p:cNvSpPr/>
          <p:nvPr/>
        </p:nvSpPr>
        <p:spPr>
          <a:xfrm>
            <a:off x="548640" y="3017520"/>
            <a:ext cx="457200" cy="457200"/>
          </a:xfrm>
          <a:prstGeom prst="rect">
            <a:avLst/>
          </a:prstGeom>
          <a:noFill/>
          <a:ln/>
        </p:spPr>
        <p:txBody>
          <a:bodyPr wrap="square" rtlCol="0" anchor="ctr"/>
          <a:lstStyle/>
          <a:p>
            <a:pPr marL="0" indent="0" algn="ctr">
              <a:buNone/>
            </a:pPr>
            <a:r>
              <a:rPr lang="en-US" sz="2000" b="1" dirty="0">
                <a:solidFill>
                  <a:srgbClr val="2C5AA0"/>
                </a:solidFill>
                <a:latin typeface="游ゴシック" pitchFamily="34" charset="0"/>
                <a:ea typeface="游ゴシック" pitchFamily="34" charset="-122"/>
                <a:cs typeface="游ゴシック" pitchFamily="34" charset="-120"/>
              </a:rPr>
              <a:t>○</a:t>
            </a:r>
            <a:endParaRPr lang="en-US" sz="2000" dirty="0"/>
          </a:p>
        </p:txBody>
      </p:sp>
      <p:sp>
        <p:nvSpPr>
          <p:cNvPr id="18" name="Text 16"/>
          <p:cNvSpPr/>
          <p:nvPr/>
        </p:nvSpPr>
        <p:spPr>
          <a:xfrm>
            <a:off x="1097280" y="3017520"/>
            <a:ext cx="2286000" cy="45720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自己抗体性</a:t>
            </a:r>
            <a:endParaRPr lang="en-US" sz="1500" dirty="0"/>
          </a:p>
          <a:p>
            <a:pPr marL="0" indent="0">
              <a:buNone/>
            </a:pPr>
            <a:r>
              <a:rPr lang="en-US" sz="1500" b="1" dirty="0">
                <a:solidFill>
                  <a:srgbClr val="1B3A5C"/>
                </a:solidFill>
                <a:latin typeface="游ゴシック" pitchFamily="34" charset="0"/>
                <a:ea typeface="游ゴシック" pitchFamily="34" charset="-122"/>
                <a:cs typeface="游ゴシック" pitchFamily="34" charset="-120"/>
              </a:rPr>
              <a:t>脳炎（一部）</a:t>
            </a:r>
            <a:endParaRPr lang="en-US" sz="1500" dirty="0"/>
          </a:p>
        </p:txBody>
      </p:sp>
      <p:sp>
        <p:nvSpPr>
          <p:cNvPr id="19" name="Text 17"/>
          <p:cNvSpPr/>
          <p:nvPr/>
        </p:nvSpPr>
        <p:spPr>
          <a:xfrm>
            <a:off x="3657600" y="3017520"/>
            <a:ext cx="5029200" cy="4572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抗体標的が明確な型</a:t>
            </a:r>
            <a:endParaRPr lang="en-US" sz="1500" dirty="0"/>
          </a:p>
        </p:txBody>
      </p:sp>
      <p:sp>
        <p:nvSpPr>
          <p:cNvPr id="20" name="Shape 18"/>
          <p:cNvSpPr/>
          <p:nvPr/>
        </p:nvSpPr>
        <p:spPr>
          <a:xfrm>
            <a:off x="457200" y="3566160"/>
            <a:ext cx="8229600" cy="457200"/>
          </a:xfrm>
          <a:prstGeom prst="rect">
            <a:avLst/>
          </a:prstGeom>
          <a:solidFill>
            <a:srgbClr val="FFFFFF"/>
          </a:solidFill>
          <a:ln/>
        </p:spPr>
        <p:txBody>
          <a:bodyPr/>
          <a:lstStyle/>
          <a:p>
            <a:endParaRPr lang="ja-JP" altLang="en-US"/>
          </a:p>
        </p:txBody>
      </p:sp>
      <p:sp>
        <p:nvSpPr>
          <p:cNvPr id="21" name="Text 19"/>
          <p:cNvSpPr/>
          <p:nvPr/>
        </p:nvSpPr>
        <p:spPr>
          <a:xfrm>
            <a:off x="548640" y="3566160"/>
            <a:ext cx="457200" cy="457200"/>
          </a:xfrm>
          <a:prstGeom prst="rect">
            <a:avLst/>
          </a:prstGeom>
          <a:noFill/>
          <a:ln/>
        </p:spPr>
        <p:txBody>
          <a:bodyPr wrap="square" rtlCol="0" anchor="ctr"/>
          <a:lstStyle/>
          <a:p>
            <a:pPr marL="0" indent="0" algn="ctr">
              <a:buNone/>
            </a:pPr>
            <a:r>
              <a:rPr lang="en-US" sz="2000" b="1" dirty="0">
                <a:solidFill>
                  <a:srgbClr val="E8850C"/>
                </a:solidFill>
                <a:latin typeface="游ゴシック" pitchFamily="34" charset="0"/>
                <a:ea typeface="游ゴシック" pitchFamily="34" charset="-122"/>
                <a:cs typeface="游ゴシック" pitchFamily="34" charset="-120"/>
              </a:rPr>
              <a:t>△</a:t>
            </a:r>
            <a:endParaRPr lang="en-US" sz="2000" dirty="0"/>
          </a:p>
        </p:txBody>
      </p:sp>
      <p:sp>
        <p:nvSpPr>
          <p:cNvPr id="22" name="Text 20"/>
          <p:cNvSpPr/>
          <p:nvPr/>
        </p:nvSpPr>
        <p:spPr>
          <a:xfrm>
            <a:off x="1097280" y="3566160"/>
            <a:ext cx="2286000" cy="45720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進行型MS</a:t>
            </a:r>
            <a:endParaRPr lang="en-US" sz="1500" dirty="0"/>
          </a:p>
        </p:txBody>
      </p:sp>
      <p:sp>
        <p:nvSpPr>
          <p:cNvPr id="23" name="Text 21"/>
          <p:cNvSpPr/>
          <p:nvPr/>
        </p:nvSpPr>
        <p:spPr>
          <a:xfrm>
            <a:off x="3657600" y="3566160"/>
            <a:ext cx="5029200" cy="4572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病型の見極めが重要</a:t>
            </a:r>
            <a:endParaRPr lang="en-US" sz="1500" dirty="0"/>
          </a:p>
        </p:txBody>
      </p:sp>
      <p:sp>
        <p:nvSpPr>
          <p:cNvPr id="24" name="Shape 22"/>
          <p:cNvSpPr/>
          <p:nvPr/>
        </p:nvSpPr>
        <p:spPr>
          <a:xfrm>
            <a:off x="457200" y="4114800"/>
            <a:ext cx="8229600" cy="457200"/>
          </a:xfrm>
          <a:prstGeom prst="rect">
            <a:avLst/>
          </a:prstGeom>
          <a:solidFill>
            <a:srgbClr val="F8F9FA"/>
          </a:solidFill>
          <a:ln/>
        </p:spPr>
        <p:txBody>
          <a:bodyPr/>
          <a:lstStyle/>
          <a:p>
            <a:endParaRPr lang="ja-JP" altLang="en-US"/>
          </a:p>
        </p:txBody>
      </p:sp>
      <p:sp>
        <p:nvSpPr>
          <p:cNvPr id="25" name="Text 23"/>
          <p:cNvSpPr/>
          <p:nvPr/>
        </p:nvSpPr>
        <p:spPr>
          <a:xfrm>
            <a:off x="548640" y="4114800"/>
            <a:ext cx="457200" cy="457200"/>
          </a:xfrm>
          <a:prstGeom prst="rect">
            <a:avLst/>
          </a:prstGeom>
          <a:noFill/>
          <a:ln/>
        </p:spPr>
        <p:txBody>
          <a:bodyPr wrap="square" rtlCol="0" anchor="ctr"/>
          <a:lstStyle/>
          <a:p>
            <a:pPr marL="0" indent="0" algn="ctr">
              <a:buNone/>
            </a:pPr>
            <a:r>
              <a:rPr lang="en-US" sz="2000" b="1" dirty="0">
                <a:solidFill>
                  <a:srgbClr val="E8850C"/>
                </a:solidFill>
                <a:latin typeface="游ゴシック" pitchFamily="34" charset="0"/>
                <a:ea typeface="游ゴシック" pitchFamily="34" charset="-122"/>
                <a:cs typeface="游ゴシック" pitchFamily="34" charset="-120"/>
              </a:rPr>
              <a:t>△</a:t>
            </a:r>
            <a:endParaRPr lang="en-US" sz="2000" dirty="0"/>
          </a:p>
        </p:txBody>
      </p:sp>
      <p:sp>
        <p:nvSpPr>
          <p:cNvPr id="26" name="Text 24"/>
          <p:cNvSpPr/>
          <p:nvPr/>
        </p:nvSpPr>
        <p:spPr>
          <a:xfrm>
            <a:off x="1097280" y="4114800"/>
            <a:ext cx="2286000" cy="457200"/>
          </a:xfrm>
          <a:prstGeom prst="rect">
            <a:avLst/>
          </a:prstGeom>
          <a:noFill/>
          <a:ln/>
        </p:spPr>
        <p:txBody>
          <a:bodyPr wrap="square" rtlCol="0" anchor="ctr"/>
          <a:lstStyle/>
          <a:p>
            <a:pPr marL="0" indent="0">
              <a:buNone/>
            </a:pPr>
            <a:r>
              <a:rPr lang="en-US" sz="1500" b="1" dirty="0">
                <a:solidFill>
                  <a:srgbClr val="1B3A5C"/>
                </a:solidFill>
                <a:latin typeface="游ゴシック" pitchFamily="34" charset="0"/>
                <a:ea typeface="游ゴシック" pitchFamily="34" charset="-122"/>
                <a:cs typeface="游ゴシック" pitchFamily="34" charset="-120"/>
              </a:rPr>
              <a:t>CIDP</a:t>
            </a:r>
            <a:endParaRPr lang="en-US" sz="1500" dirty="0"/>
          </a:p>
        </p:txBody>
      </p:sp>
      <p:sp>
        <p:nvSpPr>
          <p:cNvPr id="27" name="Text 25"/>
          <p:cNvSpPr/>
          <p:nvPr/>
        </p:nvSpPr>
        <p:spPr>
          <a:xfrm>
            <a:off x="3657600" y="4114800"/>
            <a:ext cx="5029200" cy="457200"/>
          </a:xfrm>
          <a:prstGeom prst="rect">
            <a:avLst/>
          </a:prstGeom>
          <a:noFill/>
          <a:ln/>
        </p:spPr>
        <p:txBody>
          <a:bodyPr wrap="square" rtlCol="0" anchor="ctr"/>
          <a:lstStyle/>
          <a:p>
            <a:pPr marL="0" indent="0">
              <a:buNone/>
            </a:pPr>
            <a:r>
              <a:rPr lang="en-US" sz="1500" dirty="0">
                <a:solidFill>
                  <a:srgbClr val="333333"/>
                </a:solidFill>
                <a:latin typeface="游ゴシック" pitchFamily="34" charset="0"/>
                <a:ea typeface="游ゴシック" pitchFamily="34" charset="-122"/>
                <a:cs typeface="游ゴシック" pitchFamily="34" charset="-120"/>
              </a:rPr>
              <a:t>サブタイプ依存</a:t>
            </a:r>
            <a:endParaRPr lang="en-US" sz="1500" dirty="0"/>
          </a:p>
        </p:txBody>
      </p:sp>
      <p:sp>
        <p:nvSpPr>
          <p:cNvPr id="28" name="Text 26"/>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23 / 42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6. 4つの問い</a:t>
            </a:r>
            <a:endParaRPr lang="en-US" sz="1200" dirty="0"/>
          </a:p>
        </p:txBody>
      </p:sp>
      <p:sp>
        <p:nvSpPr>
          <p:cNvPr id="4" name="Shape 2"/>
          <p:cNvSpPr/>
          <p:nvPr/>
        </p:nvSpPr>
        <p:spPr>
          <a:xfrm>
            <a:off x="457200" y="640080"/>
            <a:ext cx="548640" cy="548640"/>
          </a:xfrm>
          <a:prstGeom prst="ellipse">
            <a:avLst/>
          </a:prstGeom>
          <a:solidFill>
            <a:srgbClr val="2C5AA0"/>
          </a:solidFill>
          <a:ln/>
        </p:spPr>
        <p:txBody>
          <a:bodyPr/>
          <a:lstStyle/>
          <a:p>
            <a:endParaRPr lang="ja-JP" altLang="en-US"/>
          </a:p>
        </p:txBody>
      </p:sp>
      <p:sp>
        <p:nvSpPr>
          <p:cNvPr id="5" name="Text 3"/>
          <p:cNvSpPr/>
          <p:nvPr/>
        </p:nvSpPr>
        <p:spPr>
          <a:xfrm>
            <a:off x="457200" y="6400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Q2</a:t>
            </a:r>
            <a:endParaRPr lang="en-US" sz="1800" dirty="0"/>
          </a:p>
        </p:txBody>
      </p:sp>
      <p:sp>
        <p:nvSpPr>
          <p:cNvPr id="6" name="Text 4"/>
          <p:cNvSpPr/>
          <p:nvPr/>
        </p:nvSpPr>
        <p:spPr>
          <a:xfrm>
            <a:off x="1188720" y="640080"/>
            <a:ext cx="73152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障害はまだ可逆的か？</a:t>
            </a:r>
            <a:endParaRPr lang="en-US" sz="2600" dirty="0"/>
          </a:p>
        </p:txBody>
      </p:sp>
      <p:sp>
        <p:nvSpPr>
          <p:cNvPr id="7" name="Shape 5"/>
          <p:cNvSpPr/>
          <p:nvPr/>
        </p:nvSpPr>
        <p:spPr>
          <a:xfrm>
            <a:off x="365760" y="1463040"/>
            <a:ext cx="393192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8" name="Shape 6"/>
          <p:cNvSpPr/>
          <p:nvPr/>
        </p:nvSpPr>
        <p:spPr>
          <a:xfrm>
            <a:off x="365760" y="1463040"/>
            <a:ext cx="3931920" cy="54864"/>
          </a:xfrm>
          <a:prstGeom prst="rect">
            <a:avLst/>
          </a:prstGeom>
          <a:solidFill>
            <a:srgbClr val="28A745"/>
          </a:solidFill>
          <a:ln/>
        </p:spPr>
        <p:txBody>
          <a:bodyPr/>
          <a:lstStyle/>
          <a:p>
            <a:endParaRPr lang="ja-JP" altLang="en-US"/>
          </a:p>
        </p:txBody>
      </p:sp>
      <p:sp>
        <p:nvSpPr>
          <p:cNvPr id="9" name="Text 7"/>
          <p:cNvSpPr/>
          <p:nvPr/>
        </p:nvSpPr>
        <p:spPr>
          <a:xfrm>
            <a:off x="548640" y="1600200"/>
            <a:ext cx="3657600" cy="365760"/>
          </a:xfrm>
          <a:prstGeom prst="rect">
            <a:avLst/>
          </a:prstGeom>
          <a:noFill/>
          <a:ln/>
        </p:spPr>
        <p:txBody>
          <a:bodyPr wrap="square" rtlCol="0" anchor="ctr"/>
          <a:lstStyle/>
          <a:p>
            <a:pPr marL="0" indent="0">
              <a:buNone/>
            </a:pPr>
            <a:r>
              <a:rPr lang="en-US" sz="1700" b="1" dirty="0">
                <a:solidFill>
                  <a:srgbClr val="28A745"/>
                </a:solidFill>
                <a:latin typeface="游ゴシック" pitchFamily="34" charset="0"/>
                <a:ea typeface="游ゴシック" pitchFamily="34" charset="-122"/>
                <a:cs typeface="游ゴシック" pitchFamily="34" charset="-120"/>
              </a:rPr>
              <a:t>CAR-Tが効きやすいタイミング</a:t>
            </a:r>
            <a:endParaRPr lang="en-US" sz="1700" dirty="0"/>
          </a:p>
        </p:txBody>
      </p:sp>
      <p:sp>
        <p:nvSpPr>
          <p:cNvPr id="10" name="Text 8"/>
          <p:cNvSpPr/>
          <p:nvPr/>
        </p:nvSpPr>
        <p:spPr>
          <a:xfrm>
            <a:off x="548640" y="2011680"/>
            <a:ext cx="3566160" cy="1554480"/>
          </a:xfrm>
          <a:prstGeom prst="rect">
            <a:avLst/>
          </a:prstGeom>
          <a:noFill/>
          <a:ln/>
        </p:spPr>
        <p:txBody>
          <a:bodyPr wrap="square" rtlCol="0" anchor="ctr"/>
          <a:lstStyle/>
          <a:p>
            <a:pPr marL="342900" indent="-342900">
              <a:spcAft>
                <a:spcPts val="600"/>
              </a:spcAft>
              <a:buSzPct val="100000"/>
              <a:buChar char="•"/>
            </a:pPr>
            <a:r>
              <a:rPr lang="en-US" sz="1600" b="1" dirty="0">
                <a:solidFill>
                  <a:srgbClr val="333333"/>
                </a:solidFill>
                <a:latin typeface="游ゴシック" pitchFamily="34" charset="0"/>
                <a:ea typeface="游ゴシック" pitchFamily="34" charset="-122"/>
                <a:cs typeface="游ゴシック" pitchFamily="34" charset="-120"/>
              </a:rPr>
              <a:t>まだ機能改善余地のある時期</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炎症が活動性で進行中</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組織障害が可逆的な段階</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自己抗体が病態を駆動中</a:t>
            </a:r>
            <a:endParaRPr lang="en-US" sz="1600" dirty="0"/>
          </a:p>
        </p:txBody>
      </p:sp>
      <p:sp>
        <p:nvSpPr>
          <p:cNvPr id="11" name="Shape 9"/>
          <p:cNvSpPr/>
          <p:nvPr/>
        </p:nvSpPr>
        <p:spPr>
          <a:xfrm>
            <a:off x="4846320" y="1463040"/>
            <a:ext cx="393192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4846320" y="1463040"/>
            <a:ext cx="3931920" cy="54864"/>
          </a:xfrm>
          <a:prstGeom prst="rect">
            <a:avLst/>
          </a:prstGeom>
          <a:solidFill>
            <a:srgbClr val="DC3545"/>
          </a:solidFill>
          <a:ln/>
        </p:spPr>
        <p:txBody>
          <a:bodyPr/>
          <a:lstStyle/>
          <a:p>
            <a:endParaRPr lang="ja-JP" altLang="en-US"/>
          </a:p>
        </p:txBody>
      </p:sp>
      <p:sp>
        <p:nvSpPr>
          <p:cNvPr id="13" name="Text 11"/>
          <p:cNvSpPr/>
          <p:nvPr/>
        </p:nvSpPr>
        <p:spPr>
          <a:xfrm>
            <a:off x="5029200" y="1600200"/>
            <a:ext cx="3657600" cy="365760"/>
          </a:xfrm>
          <a:prstGeom prst="rect">
            <a:avLst/>
          </a:prstGeom>
          <a:noFill/>
          <a:ln/>
        </p:spPr>
        <p:txBody>
          <a:bodyPr wrap="square" rtlCol="0" anchor="ctr"/>
          <a:lstStyle/>
          <a:p>
            <a:pPr marL="0" indent="0">
              <a:buNone/>
            </a:pPr>
            <a:r>
              <a:rPr lang="en-US" sz="1700" b="1" dirty="0">
                <a:solidFill>
                  <a:srgbClr val="DC3545"/>
                </a:solidFill>
                <a:latin typeface="游ゴシック" pitchFamily="34" charset="0"/>
                <a:ea typeface="游ゴシック" pitchFamily="34" charset="-122"/>
                <a:cs typeface="游ゴシック" pitchFamily="34" charset="-120"/>
              </a:rPr>
              <a:t>効果が限定的な可能性</a:t>
            </a:r>
            <a:endParaRPr lang="en-US" sz="1700" dirty="0"/>
          </a:p>
        </p:txBody>
      </p:sp>
      <p:sp>
        <p:nvSpPr>
          <p:cNvPr id="14" name="Text 12"/>
          <p:cNvSpPr/>
          <p:nvPr/>
        </p:nvSpPr>
        <p:spPr>
          <a:xfrm>
            <a:off x="5029200" y="2011680"/>
            <a:ext cx="3566160" cy="1554480"/>
          </a:xfrm>
          <a:prstGeom prst="rect">
            <a:avLst/>
          </a:prstGeom>
          <a:noFill/>
          <a:ln/>
        </p:spPr>
        <p:txBody>
          <a:bodyPr wrap="square" rtlCol="0" anchor="ctr"/>
          <a:lstStyle/>
          <a:p>
            <a:pPr marL="342900" indent="-342900">
              <a:spcAft>
                <a:spcPts val="600"/>
              </a:spcAft>
              <a:buSzPct val="100000"/>
              <a:buChar char="•"/>
            </a:pPr>
            <a:r>
              <a:rPr lang="en-US" sz="1600" b="1" dirty="0">
                <a:solidFill>
                  <a:srgbClr val="333333"/>
                </a:solidFill>
                <a:latin typeface="游ゴシック" pitchFamily="34" charset="0"/>
                <a:ea typeface="游ゴシック" pitchFamily="34" charset="-122"/>
                <a:cs typeface="游ゴシック" pitchFamily="34" charset="-120"/>
              </a:rPr>
              <a:t>固定化した不可逆障害が前景</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瘢痕化・変性が進行済み</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自己抗体を止めても</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壊れた組織は戻らない</a:t>
            </a:r>
            <a:endParaRPr lang="en-US" sz="1600" dirty="0"/>
          </a:p>
          <a:p>
            <a:pPr marL="342900" indent="-342900">
              <a:spcAft>
                <a:spcPts val="600"/>
              </a:spcAft>
              <a:buSzPct val="100000"/>
              <a:buChar char="•"/>
            </a:pPr>
            <a:r>
              <a:rPr lang="en-US" sz="1600" dirty="0">
                <a:solidFill>
                  <a:srgbClr val="333333"/>
                </a:solidFill>
                <a:latin typeface="游ゴシック" pitchFamily="34" charset="0"/>
                <a:ea typeface="游ゴシック" pitchFamily="34" charset="-122"/>
                <a:cs typeface="游ゴシック" pitchFamily="34" charset="-120"/>
              </a:rPr>
              <a:t>神経再生そのものではない</a:t>
            </a:r>
            <a:endParaRPr lang="en-US" sz="1600" dirty="0"/>
          </a:p>
        </p:txBody>
      </p:sp>
      <p:sp>
        <p:nvSpPr>
          <p:cNvPr id="15" name="Shape 13"/>
          <p:cNvSpPr/>
          <p:nvPr/>
        </p:nvSpPr>
        <p:spPr>
          <a:xfrm>
            <a:off x="365760" y="3977640"/>
            <a:ext cx="8412480" cy="82296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16" name="Shape 14"/>
          <p:cNvSpPr/>
          <p:nvPr/>
        </p:nvSpPr>
        <p:spPr>
          <a:xfrm>
            <a:off x="365760" y="3977640"/>
            <a:ext cx="54864" cy="822960"/>
          </a:xfrm>
          <a:prstGeom prst="rect">
            <a:avLst/>
          </a:prstGeom>
          <a:solidFill>
            <a:srgbClr val="2C5AA0"/>
          </a:solidFill>
          <a:ln/>
        </p:spPr>
        <p:txBody>
          <a:bodyPr/>
          <a:lstStyle/>
          <a:p>
            <a:endParaRPr lang="ja-JP" altLang="en-US"/>
          </a:p>
        </p:txBody>
      </p:sp>
      <p:sp>
        <p:nvSpPr>
          <p:cNvPr id="17" name="Text 15"/>
          <p:cNvSpPr/>
          <p:nvPr/>
        </p:nvSpPr>
        <p:spPr>
          <a:xfrm>
            <a:off x="548640" y="4023360"/>
            <a:ext cx="8046720" cy="73152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CAR-Tは「炎症や病的免疫のドライバーを止める治療」であって、神経再生ではない。タイミングが重要。</a:t>
            </a:r>
            <a:endParaRPr lang="en-US" sz="1600" dirty="0"/>
          </a:p>
        </p:txBody>
      </p:sp>
      <p:sp>
        <p:nvSpPr>
          <p:cNvPr id="18" name="Text 16"/>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24 / 42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6. 4つの問い</a:t>
            </a:r>
            <a:endParaRPr lang="en-US" sz="1200" dirty="0"/>
          </a:p>
        </p:txBody>
      </p:sp>
      <p:sp>
        <p:nvSpPr>
          <p:cNvPr id="4" name="Shape 2"/>
          <p:cNvSpPr/>
          <p:nvPr/>
        </p:nvSpPr>
        <p:spPr>
          <a:xfrm>
            <a:off x="457200" y="640080"/>
            <a:ext cx="548640" cy="548640"/>
          </a:xfrm>
          <a:prstGeom prst="ellipse">
            <a:avLst/>
          </a:prstGeom>
          <a:solidFill>
            <a:srgbClr val="2C5AA0"/>
          </a:solidFill>
          <a:ln/>
        </p:spPr>
        <p:txBody>
          <a:bodyPr/>
          <a:lstStyle/>
          <a:p>
            <a:endParaRPr lang="ja-JP" altLang="en-US"/>
          </a:p>
        </p:txBody>
      </p:sp>
      <p:sp>
        <p:nvSpPr>
          <p:cNvPr id="5" name="Text 3"/>
          <p:cNvSpPr/>
          <p:nvPr/>
        </p:nvSpPr>
        <p:spPr>
          <a:xfrm>
            <a:off x="457200" y="6400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Q3</a:t>
            </a:r>
            <a:endParaRPr lang="en-US" sz="1800" dirty="0"/>
          </a:p>
        </p:txBody>
      </p:sp>
      <p:sp>
        <p:nvSpPr>
          <p:cNvPr id="6" name="Text 4"/>
          <p:cNvSpPr/>
          <p:nvPr/>
        </p:nvSpPr>
        <p:spPr>
          <a:xfrm>
            <a:off x="1188720" y="640080"/>
            <a:ext cx="7315200" cy="548640"/>
          </a:xfrm>
          <a:prstGeom prst="rect">
            <a:avLst/>
          </a:prstGeom>
          <a:noFill/>
          <a:ln/>
        </p:spPr>
        <p:txBody>
          <a:bodyPr wrap="square" lIns="0" tIns="0" rIns="0" bIns="0" rtlCol="0" anchor="ctr"/>
          <a:lstStyle/>
          <a:p>
            <a:pPr marL="0" indent="0">
              <a:buNone/>
            </a:pPr>
            <a:r>
              <a:rPr lang="en-US" sz="2600" b="1" dirty="0">
                <a:solidFill>
                  <a:srgbClr val="1B3A5C"/>
                </a:solidFill>
                <a:latin typeface="游ゴシック" pitchFamily="34" charset="0"/>
                <a:ea typeface="游ゴシック" pitchFamily="34" charset="-122"/>
                <a:cs typeface="游ゴシック" pitchFamily="34" charset="-120"/>
              </a:rPr>
              <a:t>CD19か、BCMAか、両方か？</a:t>
            </a:r>
            <a:endParaRPr lang="en-US" sz="2600" dirty="0"/>
          </a:p>
        </p:txBody>
      </p:sp>
      <p:sp>
        <p:nvSpPr>
          <p:cNvPr id="7" name="Shape 5"/>
          <p:cNvSpPr/>
          <p:nvPr/>
        </p:nvSpPr>
        <p:spPr>
          <a:xfrm>
            <a:off x="365760" y="1371600"/>
            <a:ext cx="282194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8" name="Shape 6"/>
          <p:cNvSpPr/>
          <p:nvPr/>
        </p:nvSpPr>
        <p:spPr>
          <a:xfrm>
            <a:off x="365760" y="1371600"/>
            <a:ext cx="2697480" cy="54864"/>
          </a:xfrm>
          <a:prstGeom prst="rect">
            <a:avLst/>
          </a:prstGeom>
          <a:solidFill>
            <a:srgbClr val="2C5AA0"/>
          </a:solidFill>
          <a:ln/>
        </p:spPr>
        <p:txBody>
          <a:bodyPr/>
          <a:lstStyle/>
          <a:p>
            <a:endParaRPr lang="ja-JP" altLang="en-US"/>
          </a:p>
        </p:txBody>
      </p:sp>
      <p:sp>
        <p:nvSpPr>
          <p:cNvPr id="9" name="Text 7"/>
          <p:cNvSpPr/>
          <p:nvPr/>
        </p:nvSpPr>
        <p:spPr>
          <a:xfrm>
            <a:off x="457200" y="1508760"/>
            <a:ext cx="2514600" cy="411480"/>
          </a:xfrm>
          <a:prstGeom prst="rect">
            <a:avLst/>
          </a:prstGeom>
          <a:noFill/>
          <a:ln/>
        </p:spPr>
        <p:txBody>
          <a:bodyPr wrap="square" rtlCol="0" anchor="ctr"/>
          <a:lstStyle/>
          <a:p>
            <a:pPr marL="0" indent="0" algn="ctr">
              <a:buNone/>
            </a:pPr>
            <a:r>
              <a:rPr lang="en-US" sz="2200" b="1" dirty="0">
                <a:solidFill>
                  <a:srgbClr val="2C5AA0"/>
                </a:solidFill>
                <a:latin typeface="Segoe UI" pitchFamily="34" charset="0"/>
                <a:ea typeface="Segoe UI" pitchFamily="34" charset="-122"/>
                <a:cs typeface="Segoe UI" pitchFamily="34" charset="-120"/>
              </a:rPr>
              <a:t>CD19</a:t>
            </a:r>
            <a:endParaRPr lang="en-US" sz="2200" dirty="0"/>
          </a:p>
        </p:txBody>
      </p:sp>
      <p:sp>
        <p:nvSpPr>
          <p:cNvPr id="10" name="Text 8"/>
          <p:cNvSpPr/>
          <p:nvPr/>
        </p:nvSpPr>
        <p:spPr>
          <a:xfrm>
            <a:off x="457200" y="1920240"/>
            <a:ext cx="2514600" cy="365760"/>
          </a:xfrm>
          <a:prstGeom prst="rect">
            <a:avLst/>
          </a:prstGeom>
          <a:noFill/>
          <a:ln/>
        </p:spPr>
        <p:txBody>
          <a:bodyPr wrap="square" rtlCol="0" anchor="ctr"/>
          <a:lstStyle/>
          <a:p>
            <a:pPr marL="0" indent="0" algn="ctr">
              <a:buNone/>
            </a:pPr>
            <a:r>
              <a:rPr lang="en-US" sz="1500" b="1" dirty="0">
                <a:solidFill>
                  <a:srgbClr val="1B3A5C"/>
                </a:solidFill>
                <a:latin typeface="游ゴシック" pitchFamily="34" charset="0"/>
                <a:ea typeface="游ゴシック" pitchFamily="34" charset="-122"/>
                <a:cs typeface="游ゴシック" pitchFamily="34" charset="-120"/>
              </a:rPr>
              <a:t>広く深くリセットしたい</a:t>
            </a:r>
            <a:endParaRPr lang="en-US" sz="1500" dirty="0"/>
          </a:p>
        </p:txBody>
      </p:sp>
      <p:sp>
        <p:nvSpPr>
          <p:cNvPr id="11" name="Text 9"/>
          <p:cNvSpPr/>
          <p:nvPr/>
        </p:nvSpPr>
        <p:spPr>
          <a:xfrm>
            <a:off x="424180" y="2240471"/>
            <a:ext cx="2730500" cy="789305"/>
          </a:xfrm>
          <a:prstGeom prst="rect">
            <a:avLst/>
          </a:prstGeom>
          <a:noFill/>
          <a:ln/>
        </p:spPr>
        <p:txBody>
          <a:bodyPr wrap="square" rtlCol="0" anchor="ctr"/>
          <a:lstStyle/>
          <a:p>
            <a:pPr marL="0" indent="0" algn="ctr">
              <a:buNone/>
            </a:pPr>
            <a:r>
              <a:rPr lang="en-US" sz="1400" dirty="0" err="1">
                <a:solidFill>
                  <a:srgbClr val="333333"/>
                </a:solidFill>
                <a:latin typeface="游ゴシック" pitchFamily="34" charset="0"/>
                <a:ea typeface="游ゴシック" pitchFamily="34" charset="-122"/>
                <a:cs typeface="游ゴシック" pitchFamily="34" charset="-120"/>
              </a:rPr>
              <a:t>B細胞系全体を広くカバ</a:t>
            </a:r>
            <a:r>
              <a:rPr lang="en-US" sz="1400" dirty="0">
                <a:solidFill>
                  <a:srgbClr val="333333"/>
                </a:solidFill>
                <a:latin typeface="游ゴシック" pitchFamily="34" charset="0"/>
                <a:ea typeface="游ゴシック" pitchFamily="34" charset="-122"/>
                <a:cs typeface="游ゴシック" pitchFamily="34" charset="-120"/>
              </a:rPr>
              <a:t>ー。</a:t>
            </a:r>
          </a:p>
          <a:p>
            <a:pPr marL="0" indent="0" algn="ctr">
              <a:buNone/>
            </a:pPr>
            <a:r>
              <a:rPr lang="en-US" sz="1400" dirty="0" err="1">
                <a:solidFill>
                  <a:srgbClr val="333333"/>
                </a:solidFill>
                <a:latin typeface="游ゴシック" pitchFamily="34" charset="0"/>
                <a:ea typeface="游ゴシック" pitchFamily="34" charset="-122"/>
                <a:cs typeface="游ゴシック" pitchFamily="34" charset="-120"/>
              </a:rPr>
              <a:t>免疫記憶ごとリセットを狙</a:t>
            </a:r>
            <a:r>
              <a:rPr lang="ja-JP" altLang="en-US" sz="1400" dirty="0">
                <a:solidFill>
                  <a:srgbClr val="333333"/>
                </a:solidFill>
                <a:latin typeface="游ゴシック" pitchFamily="34" charset="0"/>
                <a:ea typeface="游ゴシック" pitchFamily="34" charset="-122"/>
                <a:cs typeface="游ゴシック" pitchFamily="34" charset="-120"/>
              </a:rPr>
              <a:t>う</a:t>
            </a:r>
            <a:r>
              <a:rPr lang="en-US" sz="1400" dirty="0">
                <a:solidFill>
                  <a:srgbClr val="333333"/>
                </a:solidFill>
                <a:latin typeface="游ゴシック" pitchFamily="34" charset="0"/>
                <a:ea typeface="游ゴシック" pitchFamily="34" charset="-122"/>
                <a:cs typeface="游ゴシック" pitchFamily="34" charset="-120"/>
              </a:rPr>
              <a:t>。</a:t>
            </a:r>
            <a:endParaRPr lang="en-US" sz="1400" dirty="0"/>
          </a:p>
        </p:txBody>
      </p:sp>
      <p:sp>
        <p:nvSpPr>
          <p:cNvPr id="12" name="Shape 10"/>
          <p:cNvSpPr/>
          <p:nvPr/>
        </p:nvSpPr>
        <p:spPr>
          <a:xfrm>
            <a:off x="3246120" y="1371600"/>
            <a:ext cx="2697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3" name="Shape 11"/>
          <p:cNvSpPr/>
          <p:nvPr/>
        </p:nvSpPr>
        <p:spPr>
          <a:xfrm>
            <a:off x="3246120" y="1371600"/>
            <a:ext cx="2697480" cy="54864"/>
          </a:xfrm>
          <a:prstGeom prst="rect">
            <a:avLst/>
          </a:prstGeom>
          <a:solidFill>
            <a:srgbClr val="E8850C"/>
          </a:solidFill>
          <a:ln/>
        </p:spPr>
        <p:txBody>
          <a:bodyPr/>
          <a:lstStyle/>
          <a:p>
            <a:endParaRPr lang="ja-JP" altLang="en-US"/>
          </a:p>
        </p:txBody>
      </p:sp>
      <p:sp>
        <p:nvSpPr>
          <p:cNvPr id="14" name="Text 12"/>
          <p:cNvSpPr/>
          <p:nvPr/>
        </p:nvSpPr>
        <p:spPr>
          <a:xfrm>
            <a:off x="3337560" y="1508760"/>
            <a:ext cx="2514600" cy="411480"/>
          </a:xfrm>
          <a:prstGeom prst="rect">
            <a:avLst/>
          </a:prstGeom>
          <a:noFill/>
          <a:ln/>
        </p:spPr>
        <p:txBody>
          <a:bodyPr wrap="square" rtlCol="0" anchor="ctr"/>
          <a:lstStyle/>
          <a:p>
            <a:pPr marL="0" indent="0" algn="ctr">
              <a:buNone/>
            </a:pPr>
            <a:r>
              <a:rPr lang="en-US" sz="2200" b="1" dirty="0">
                <a:solidFill>
                  <a:srgbClr val="E8850C"/>
                </a:solidFill>
                <a:latin typeface="Segoe UI" pitchFamily="34" charset="0"/>
                <a:ea typeface="Segoe UI" pitchFamily="34" charset="-122"/>
                <a:cs typeface="Segoe UI" pitchFamily="34" charset="-120"/>
              </a:rPr>
              <a:t>BCMA</a:t>
            </a:r>
            <a:endParaRPr lang="en-US" sz="2200" dirty="0"/>
          </a:p>
        </p:txBody>
      </p:sp>
      <p:sp>
        <p:nvSpPr>
          <p:cNvPr id="15" name="Text 13"/>
          <p:cNvSpPr/>
          <p:nvPr/>
        </p:nvSpPr>
        <p:spPr>
          <a:xfrm>
            <a:off x="3337560" y="1920240"/>
            <a:ext cx="2514600" cy="365760"/>
          </a:xfrm>
          <a:prstGeom prst="rect">
            <a:avLst/>
          </a:prstGeom>
          <a:noFill/>
          <a:ln/>
        </p:spPr>
        <p:txBody>
          <a:bodyPr wrap="square" rtlCol="0" anchor="ctr"/>
          <a:lstStyle/>
          <a:p>
            <a:pPr marL="0" indent="0" algn="ctr">
              <a:buNone/>
            </a:pPr>
            <a:r>
              <a:rPr lang="en-US" sz="1500" b="1" dirty="0">
                <a:solidFill>
                  <a:srgbClr val="1B3A5C"/>
                </a:solidFill>
                <a:latin typeface="游ゴシック" pitchFamily="34" charset="0"/>
                <a:ea typeface="游ゴシック" pitchFamily="34" charset="-122"/>
                <a:cs typeface="游ゴシック" pitchFamily="34" charset="-120"/>
              </a:rPr>
              <a:t>抗体工場を叩きたい</a:t>
            </a:r>
            <a:endParaRPr lang="en-US" sz="1500" dirty="0"/>
          </a:p>
        </p:txBody>
      </p:sp>
      <p:sp>
        <p:nvSpPr>
          <p:cNvPr id="16" name="Text 14"/>
          <p:cNvSpPr/>
          <p:nvPr/>
        </p:nvSpPr>
        <p:spPr>
          <a:xfrm>
            <a:off x="3337560" y="2331720"/>
            <a:ext cx="2514600" cy="822960"/>
          </a:xfrm>
          <a:prstGeom prst="rect">
            <a:avLst/>
          </a:prstGeom>
          <a:noFill/>
          <a:ln/>
        </p:spPr>
        <p:txBody>
          <a:bodyPr wrap="square" rtlCol="0" anchor="ctr"/>
          <a:lstStyle/>
          <a:p>
            <a:pPr marL="0" indent="0" algn="ctr">
              <a:buNone/>
            </a:pPr>
            <a:r>
              <a:rPr lang="en-US" sz="1400" dirty="0">
                <a:solidFill>
                  <a:srgbClr val="333333"/>
                </a:solidFill>
                <a:latin typeface="游ゴシック" pitchFamily="34" charset="0"/>
                <a:ea typeface="游ゴシック" pitchFamily="34" charset="-122"/>
                <a:cs typeface="游ゴシック" pitchFamily="34" charset="-120"/>
              </a:rPr>
              <a:t>形質芽細胞・形質細胞を直撃。いま抗体を産生する細胞を標的。</a:t>
            </a:r>
            <a:endParaRPr lang="en-US" sz="1400" dirty="0"/>
          </a:p>
        </p:txBody>
      </p:sp>
      <p:sp>
        <p:nvSpPr>
          <p:cNvPr id="17" name="Shape 15"/>
          <p:cNvSpPr/>
          <p:nvPr/>
        </p:nvSpPr>
        <p:spPr>
          <a:xfrm>
            <a:off x="6126480" y="1371600"/>
            <a:ext cx="2697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8" name="Shape 16"/>
          <p:cNvSpPr/>
          <p:nvPr/>
        </p:nvSpPr>
        <p:spPr>
          <a:xfrm>
            <a:off x="6126480" y="1371600"/>
            <a:ext cx="2697480" cy="54864"/>
          </a:xfrm>
          <a:prstGeom prst="rect">
            <a:avLst/>
          </a:prstGeom>
          <a:solidFill>
            <a:srgbClr val="28A745"/>
          </a:solidFill>
          <a:ln/>
        </p:spPr>
        <p:txBody>
          <a:bodyPr/>
          <a:lstStyle/>
          <a:p>
            <a:endParaRPr lang="ja-JP" altLang="en-US"/>
          </a:p>
        </p:txBody>
      </p:sp>
      <p:sp>
        <p:nvSpPr>
          <p:cNvPr id="19" name="Text 17"/>
          <p:cNvSpPr/>
          <p:nvPr/>
        </p:nvSpPr>
        <p:spPr>
          <a:xfrm>
            <a:off x="6217920" y="1508760"/>
            <a:ext cx="2514600" cy="411480"/>
          </a:xfrm>
          <a:prstGeom prst="rect">
            <a:avLst/>
          </a:prstGeom>
          <a:noFill/>
          <a:ln/>
        </p:spPr>
        <p:txBody>
          <a:bodyPr wrap="square" rtlCol="0" anchor="ctr"/>
          <a:lstStyle/>
          <a:p>
            <a:pPr marL="0" indent="0" algn="ctr">
              <a:buNone/>
            </a:pPr>
            <a:r>
              <a:rPr lang="en-US" sz="2200" b="1" dirty="0">
                <a:solidFill>
                  <a:srgbClr val="28A745"/>
                </a:solidFill>
                <a:latin typeface="Segoe UI" pitchFamily="34" charset="0"/>
                <a:ea typeface="Segoe UI" pitchFamily="34" charset="-122"/>
                <a:cs typeface="Segoe UI" pitchFamily="34" charset="-120"/>
              </a:rPr>
              <a:t>CD19+BCMA</a:t>
            </a:r>
            <a:endParaRPr lang="en-US" sz="2200" dirty="0"/>
          </a:p>
        </p:txBody>
      </p:sp>
      <p:sp>
        <p:nvSpPr>
          <p:cNvPr id="20" name="Text 18"/>
          <p:cNvSpPr/>
          <p:nvPr/>
        </p:nvSpPr>
        <p:spPr>
          <a:xfrm>
            <a:off x="6217920" y="1920240"/>
            <a:ext cx="2514600" cy="365760"/>
          </a:xfrm>
          <a:prstGeom prst="rect">
            <a:avLst/>
          </a:prstGeom>
          <a:noFill/>
          <a:ln/>
        </p:spPr>
        <p:txBody>
          <a:bodyPr wrap="square" rtlCol="0" anchor="ctr"/>
          <a:lstStyle/>
          <a:p>
            <a:pPr marL="0" indent="0" algn="ctr">
              <a:buNone/>
            </a:pPr>
            <a:r>
              <a:rPr lang="en-US" sz="1500" b="1" dirty="0">
                <a:solidFill>
                  <a:srgbClr val="1B3A5C"/>
                </a:solidFill>
                <a:latin typeface="游ゴシック" pitchFamily="34" charset="0"/>
                <a:ea typeface="游ゴシック" pitchFamily="34" charset="-122"/>
                <a:cs typeface="游ゴシック" pitchFamily="34" charset="-120"/>
              </a:rPr>
              <a:t>供給源も工場も両方叩く</a:t>
            </a:r>
            <a:endParaRPr lang="en-US" sz="1500" dirty="0"/>
          </a:p>
        </p:txBody>
      </p:sp>
      <p:sp>
        <p:nvSpPr>
          <p:cNvPr id="21" name="Text 19"/>
          <p:cNvSpPr/>
          <p:nvPr/>
        </p:nvSpPr>
        <p:spPr>
          <a:xfrm>
            <a:off x="6217920" y="2331720"/>
            <a:ext cx="2514600" cy="822960"/>
          </a:xfrm>
          <a:prstGeom prst="rect">
            <a:avLst/>
          </a:prstGeom>
          <a:noFill/>
          <a:ln/>
        </p:spPr>
        <p:txBody>
          <a:bodyPr wrap="square" rtlCol="0" anchor="ctr"/>
          <a:lstStyle/>
          <a:p>
            <a:pPr marL="0" indent="0" algn="ctr">
              <a:buNone/>
            </a:pPr>
            <a:r>
              <a:rPr lang="en-US" sz="1400" dirty="0">
                <a:solidFill>
                  <a:srgbClr val="333333"/>
                </a:solidFill>
                <a:latin typeface="游ゴシック" pitchFamily="34" charset="0"/>
                <a:ea typeface="游ゴシック" pitchFamily="34" charset="-122"/>
                <a:cs typeface="游ゴシック" pitchFamily="34" charset="-120"/>
              </a:rPr>
              <a:t>上流と下流を同時に標的。より深い除去を目指す。</a:t>
            </a:r>
            <a:endParaRPr lang="en-US" sz="1400" dirty="0"/>
          </a:p>
        </p:txBody>
      </p:sp>
      <p:sp>
        <p:nvSpPr>
          <p:cNvPr id="22" name="Shape 20"/>
          <p:cNvSpPr/>
          <p:nvPr/>
        </p:nvSpPr>
        <p:spPr>
          <a:xfrm>
            <a:off x="365760" y="3611880"/>
            <a:ext cx="8412480" cy="1188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365760" y="3611880"/>
            <a:ext cx="54864" cy="1188720"/>
          </a:xfrm>
          <a:prstGeom prst="rect">
            <a:avLst/>
          </a:prstGeom>
          <a:solidFill>
            <a:srgbClr val="DC3545"/>
          </a:solidFill>
          <a:ln/>
        </p:spPr>
        <p:txBody>
          <a:bodyPr/>
          <a:lstStyle/>
          <a:p>
            <a:endParaRPr lang="ja-JP" altLang="en-US"/>
          </a:p>
        </p:txBody>
      </p:sp>
      <p:sp>
        <p:nvSpPr>
          <p:cNvPr id="24" name="Text 22"/>
          <p:cNvSpPr/>
          <p:nvPr/>
        </p:nvSpPr>
        <p:spPr>
          <a:xfrm>
            <a:off x="548640" y="3703320"/>
            <a:ext cx="3657600" cy="320040"/>
          </a:xfrm>
          <a:prstGeom prst="rect">
            <a:avLst/>
          </a:prstGeom>
          <a:noFill/>
          <a:ln/>
        </p:spPr>
        <p:txBody>
          <a:bodyPr wrap="square" rtlCol="0" anchor="ctr"/>
          <a:lstStyle/>
          <a:p>
            <a:pPr marL="0" indent="0">
              <a:buNone/>
            </a:pPr>
            <a:r>
              <a:rPr lang="en-US" sz="1700" b="1" dirty="0">
                <a:solidFill>
                  <a:srgbClr val="DC3545"/>
                </a:solidFill>
                <a:latin typeface="游ゴシック" pitchFamily="34" charset="0"/>
                <a:ea typeface="游ゴシック" pitchFamily="34" charset="-122"/>
                <a:cs typeface="游ゴシック" pitchFamily="34" charset="-120"/>
              </a:rPr>
              <a:t>将来：CAAR-T（犯人だけを狙う）</a:t>
            </a:r>
            <a:endParaRPr lang="en-US" sz="1700" dirty="0"/>
          </a:p>
        </p:txBody>
      </p:sp>
      <p:sp>
        <p:nvSpPr>
          <p:cNvPr id="25" name="Text 23"/>
          <p:cNvSpPr/>
          <p:nvPr/>
        </p:nvSpPr>
        <p:spPr>
          <a:xfrm>
            <a:off x="548640" y="4069080"/>
            <a:ext cx="8046720" cy="640080"/>
          </a:xfrm>
          <a:prstGeom prst="rect">
            <a:avLst/>
          </a:prstGeom>
          <a:noFill/>
          <a:ln/>
        </p:spPr>
        <p:txBody>
          <a:bodyPr wrap="square" rtlCol="0" anchor="ctr"/>
          <a:lstStyle/>
          <a:p>
            <a:pPr marL="0" indent="0">
              <a:buNone/>
            </a:pPr>
            <a:r>
              <a:rPr lang="en-US" sz="1400" b="1" dirty="0">
                <a:solidFill>
                  <a:srgbClr val="1B3A5C"/>
                </a:solidFill>
                <a:latin typeface="游ゴシック" pitchFamily="34" charset="0"/>
                <a:ea typeface="游ゴシック" pitchFamily="34" charset="-122"/>
                <a:cs typeface="游ゴシック" pitchFamily="34" charset="-120"/>
              </a:rPr>
              <a:t>MuSK-CAAR-T：</a:t>
            </a:r>
            <a:r>
              <a:rPr lang="en-US" sz="1400" dirty="0">
                <a:solidFill>
                  <a:srgbClr val="333333"/>
                </a:solidFill>
                <a:latin typeface="游ゴシック" pitchFamily="34" charset="0"/>
                <a:ea typeface="游ゴシック" pitchFamily="34" charset="-122"/>
                <a:cs typeface="游ゴシック" pitchFamily="34" charset="-120"/>
              </a:rPr>
              <a:t>抗MuSK B細胞を選択除去、総B細胞・IgGは保持  </a:t>
            </a:r>
            <a:r>
              <a:rPr lang="en-US" sz="1400" b="1" dirty="0">
                <a:solidFill>
                  <a:srgbClr val="1B3A5C"/>
                </a:solidFill>
                <a:latin typeface="游ゴシック" pitchFamily="34" charset="0"/>
                <a:ea typeface="游ゴシック" pitchFamily="34" charset="-122"/>
                <a:cs typeface="游ゴシック" pitchFamily="34" charset="-120"/>
              </a:rPr>
              <a:t>NMDAR-CAAR-T：</a:t>
            </a:r>
            <a:r>
              <a:rPr lang="en-US" sz="1400" dirty="0">
                <a:solidFill>
                  <a:srgbClr val="333333"/>
                </a:solidFill>
                <a:latin typeface="游ゴシック" pitchFamily="34" charset="0"/>
                <a:ea typeface="游ゴシック" pitchFamily="34" charset="-122"/>
                <a:cs typeface="游ゴシック" pitchFamily="34" charset="-120"/>
              </a:rPr>
              <a:t>抗NMDAR B細胞を選択除去 → 正常免疫を温存しながら犯人クローンだけを消す方向</a:t>
            </a:r>
            <a:endParaRPr lang="en-US" sz="1400" dirty="0"/>
          </a:p>
        </p:txBody>
      </p:sp>
      <p:sp>
        <p:nvSpPr>
          <p:cNvPr id="26" name="Text 24"/>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25 / 42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6. 4つの問い</a:t>
            </a:r>
            <a:endParaRPr lang="en-US" sz="1200" dirty="0"/>
          </a:p>
        </p:txBody>
      </p:sp>
      <p:sp>
        <p:nvSpPr>
          <p:cNvPr id="4" name="Shape 2"/>
          <p:cNvSpPr/>
          <p:nvPr/>
        </p:nvSpPr>
        <p:spPr>
          <a:xfrm>
            <a:off x="457200" y="640080"/>
            <a:ext cx="548640" cy="548640"/>
          </a:xfrm>
          <a:prstGeom prst="ellipse">
            <a:avLst/>
          </a:prstGeom>
          <a:solidFill>
            <a:srgbClr val="2C5AA0"/>
          </a:solidFill>
          <a:ln/>
        </p:spPr>
        <p:txBody>
          <a:bodyPr/>
          <a:lstStyle/>
          <a:p>
            <a:endParaRPr lang="ja-JP" altLang="en-US"/>
          </a:p>
        </p:txBody>
      </p:sp>
      <p:sp>
        <p:nvSpPr>
          <p:cNvPr id="5" name="Text 3"/>
          <p:cNvSpPr/>
          <p:nvPr/>
        </p:nvSpPr>
        <p:spPr>
          <a:xfrm>
            <a:off x="457200" y="6400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Q4</a:t>
            </a:r>
            <a:endParaRPr lang="en-US" sz="1800" dirty="0"/>
          </a:p>
        </p:txBody>
      </p:sp>
      <p:sp>
        <p:nvSpPr>
          <p:cNvPr id="6" name="Text 4"/>
          <p:cNvSpPr/>
          <p:nvPr/>
        </p:nvSpPr>
        <p:spPr>
          <a:xfrm>
            <a:off x="1188720" y="640080"/>
            <a:ext cx="7315200" cy="548640"/>
          </a:xfrm>
          <a:prstGeom prst="rect">
            <a:avLst/>
          </a:prstGeom>
          <a:noFill/>
          <a:ln/>
        </p:spPr>
        <p:txBody>
          <a:bodyPr wrap="square" lIns="0" tIns="0" rIns="0" bIns="0" rtlCol="0" anchor="ctr"/>
          <a:lstStyle/>
          <a:p>
            <a:pPr marL="0" indent="0">
              <a:buNone/>
            </a:pPr>
            <a:r>
              <a:rPr lang="en-US" sz="2200" b="1" dirty="0">
                <a:solidFill>
                  <a:srgbClr val="1B3A5C"/>
                </a:solidFill>
                <a:latin typeface="游ゴシック" pitchFamily="34" charset="0"/>
                <a:ea typeface="游ゴシック" pitchFamily="34" charset="-122"/>
                <a:cs typeface="游ゴシック" pitchFamily="34" charset="-120"/>
              </a:rPr>
              <a:t>患者はCAR-Tの物流と毒性に耐えられるか？</a:t>
            </a:r>
            <a:endParaRPr lang="en-US" sz="2200" dirty="0"/>
          </a:p>
        </p:txBody>
      </p:sp>
      <p:sp>
        <p:nvSpPr>
          <p:cNvPr id="7" name="Shape 5"/>
          <p:cNvSpPr/>
          <p:nvPr/>
        </p:nvSpPr>
        <p:spPr>
          <a:xfrm>
            <a:off x="274320" y="1371600"/>
            <a:ext cx="1600200" cy="1280160"/>
          </a:xfrm>
          <a:prstGeom prst="rect">
            <a:avLst/>
          </a:prstGeom>
          <a:solidFill>
            <a:srgbClr val="F8F9FA"/>
          </a:solidFill>
          <a:ln/>
          <a:effectLst>
            <a:outerShdw blurRad="76200" dist="25400" dir="8100000" algn="bl" rotWithShape="0">
              <a:srgbClr val="000000">
                <a:alpha val="12000"/>
              </a:srgbClr>
            </a:outerShdw>
          </a:effectLst>
        </p:spPr>
        <p:txBody>
          <a:bodyPr/>
          <a:lstStyle/>
          <a:p>
            <a:endParaRPr lang="ja-JP" altLang="en-US"/>
          </a:p>
        </p:txBody>
      </p:sp>
      <p:sp>
        <p:nvSpPr>
          <p:cNvPr id="8" name="Shape 6"/>
          <p:cNvSpPr/>
          <p:nvPr/>
        </p:nvSpPr>
        <p:spPr>
          <a:xfrm>
            <a:off x="274320" y="1371600"/>
            <a:ext cx="1600200" cy="54864"/>
          </a:xfrm>
          <a:prstGeom prst="rect">
            <a:avLst/>
          </a:prstGeom>
          <a:solidFill>
            <a:srgbClr val="1B3A5C"/>
          </a:solidFill>
          <a:ln/>
        </p:spPr>
        <p:txBody>
          <a:bodyPr/>
          <a:lstStyle/>
          <a:p>
            <a:endParaRPr lang="ja-JP" altLang="en-US"/>
          </a:p>
        </p:txBody>
      </p:sp>
      <p:sp>
        <p:nvSpPr>
          <p:cNvPr id="9" name="Text 7"/>
          <p:cNvSpPr/>
          <p:nvPr/>
        </p:nvSpPr>
        <p:spPr>
          <a:xfrm>
            <a:off x="274320" y="14630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Shape 8"/>
          <p:cNvSpPr/>
          <p:nvPr/>
        </p:nvSpPr>
        <p:spPr>
          <a:xfrm>
            <a:off x="320040" y="1481328"/>
            <a:ext cx="274320" cy="274320"/>
          </a:xfrm>
          <a:prstGeom prst="ellipse">
            <a:avLst/>
          </a:prstGeom>
          <a:solidFill>
            <a:srgbClr val="1B3A5C"/>
          </a:solidFill>
          <a:ln/>
        </p:spPr>
        <p:txBody>
          <a:bodyPr/>
          <a:lstStyle/>
          <a:p>
            <a:endParaRPr lang="ja-JP" altLang="en-US"/>
          </a:p>
        </p:txBody>
      </p:sp>
      <p:sp>
        <p:nvSpPr>
          <p:cNvPr id="11" name="Text 9"/>
          <p:cNvSpPr/>
          <p:nvPr/>
        </p:nvSpPr>
        <p:spPr>
          <a:xfrm>
            <a:off x="320040" y="1481328"/>
            <a:ext cx="274320" cy="2743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2" name="Text 10"/>
          <p:cNvSpPr/>
          <p:nvPr/>
        </p:nvSpPr>
        <p:spPr>
          <a:xfrm>
            <a:off x="320040" y="1828800"/>
            <a:ext cx="1508760" cy="45720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アフェレーシス</a:t>
            </a:r>
            <a:endParaRPr lang="en-US" sz="1400" dirty="0"/>
          </a:p>
        </p:txBody>
      </p:sp>
      <p:sp>
        <p:nvSpPr>
          <p:cNvPr id="13" name="Text 11"/>
          <p:cNvSpPr/>
          <p:nvPr/>
        </p:nvSpPr>
        <p:spPr>
          <a:xfrm>
            <a:off x="320040" y="2286000"/>
            <a:ext cx="1508760" cy="27432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T細胞採取</a:t>
            </a:r>
            <a:endParaRPr lang="en-US" sz="1200" dirty="0"/>
          </a:p>
        </p:txBody>
      </p:sp>
      <p:sp>
        <p:nvSpPr>
          <p:cNvPr id="14" name="Shape 12"/>
          <p:cNvSpPr/>
          <p:nvPr/>
        </p:nvSpPr>
        <p:spPr>
          <a:xfrm>
            <a:off x="2057400" y="1371600"/>
            <a:ext cx="1600200" cy="1280160"/>
          </a:xfrm>
          <a:prstGeom prst="rect">
            <a:avLst/>
          </a:prstGeom>
          <a:solidFill>
            <a:srgbClr val="F8F9FA"/>
          </a:solidFill>
          <a:ln/>
          <a:effectLst>
            <a:outerShdw blurRad="76200" dist="25400" dir="8100000" algn="bl" rotWithShape="0">
              <a:srgbClr val="000000">
                <a:alpha val="12000"/>
              </a:srgbClr>
            </a:outerShdw>
          </a:effectLst>
        </p:spPr>
        <p:txBody>
          <a:bodyPr/>
          <a:lstStyle/>
          <a:p>
            <a:endParaRPr lang="ja-JP" altLang="en-US"/>
          </a:p>
        </p:txBody>
      </p:sp>
      <p:sp>
        <p:nvSpPr>
          <p:cNvPr id="15" name="Shape 13"/>
          <p:cNvSpPr/>
          <p:nvPr/>
        </p:nvSpPr>
        <p:spPr>
          <a:xfrm>
            <a:off x="2057400" y="1371600"/>
            <a:ext cx="1600200" cy="54864"/>
          </a:xfrm>
          <a:prstGeom prst="rect">
            <a:avLst/>
          </a:prstGeom>
          <a:solidFill>
            <a:srgbClr val="1B3A5C"/>
          </a:solidFill>
          <a:ln/>
        </p:spPr>
        <p:txBody>
          <a:bodyPr/>
          <a:lstStyle/>
          <a:p>
            <a:endParaRPr lang="ja-JP" altLang="en-US"/>
          </a:p>
        </p:txBody>
      </p:sp>
      <p:sp>
        <p:nvSpPr>
          <p:cNvPr id="16" name="Text 14"/>
          <p:cNvSpPr/>
          <p:nvPr/>
        </p:nvSpPr>
        <p:spPr>
          <a:xfrm>
            <a:off x="2057400" y="14630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7" name="Shape 15"/>
          <p:cNvSpPr/>
          <p:nvPr/>
        </p:nvSpPr>
        <p:spPr>
          <a:xfrm>
            <a:off x="2103120" y="1481328"/>
            <a:ext cx="274320" cy="274320"/>
          </a:xfrm>
          <a:prstGeom prst="ellipse">
            <a:avLst/>
          </a:prstGeom>
          <a:solidFill>
            <a:srgbClr val="1B3A5C"/>
          </a:solidFill>
          <a:ln/>
        </p:spPr>
        <p:txBody>
          <a:bodyPr/>
          <a:lstStyle/>
          <a:p>
            <a:endParaRPr lang="ja-JP" altLang="en-US"/>
          </a:p>
        </p:txBody>
      </p:sp>
      <p:sp>
        <p:nvSpPr>
          <p:cNvPr id="18" name="Text 16"/>
          <p:cNvSpPr/>
          <p:nvPr/>
        </p:nvSpPr>
        <p:spPr>
          <a:xfrm>
            <a:off x="2103120" y="1481328"/>
            <a:ext cx="274320" cy="2743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9" name="Text 17"/>
          <p:cNvSpPr/>
          <p:nvPr/>
        </p:nvSpPr>
        <p:spPr>
          <a:xfrm>
            <a:off x="2103120" y="1828800"/>
            <a:ext cx="1508760" cy="45720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製造待機</a:t>
            </a:r>
            <a:endParaRPr lang="en-US" sz="1400" dirty="0"/>
          </a:p>
        </p:txBody>
      </p:sp>
      <p:sp>
        <p:nvSpPr>
          <p:cNvPr id="20" name="Text 18"/>
          <p:cNvSpPr/>
          <p:nvPr/>
        </p:nvSpPr>
        <p:spPr>
          <a:xfrm>
            <a:off x="2103120" y="2286000"/>
            <a:ext cx="1508760" cy="27432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数週間</a:t>
            </a:r>
            <a:endParaRPr lang="en-US" sz="1200" dirty="0"/>
          </a:p>
        </p:txBody>
      </p:sp>
      <p:sp>
        <p:nvSpPr>
          <p:cNvPr id="21" name="Shape 19"/>
          <p:cNvSpPr/>
          <p:nvPr/>
        </p:nvSpPr>
        <p:spPr>
          <a:xfrm>
            <a:off x="3840480" y="1371600"/>
            <a:ext cx="1600200" cy="1280160"/>
          </a:xfrm>
          <a:prstGeom prst="rect">
            <a:avLst/>
          </a:prstGeom>
          <a:solidFill>
            <a:srgbClr val="F8F9FA"/>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3840480" y="1371600"/>
            <a:ext cx="1600200" cy="54864"/>
          </a:xfrm>
          <a:prstGeom prst="rect">
            <a:avLst/>
          </a:prstGeom>
          <a:solidFill>
            <a:srgbClr val="1B3A5C"/>
          </a:solidFill>
          <a:ln/>
        </p:spPr>
        <p:txBody>
          <a:bodyPr/>
          <a:lstStyle/>
          <a:p>
            <a:endParaRPr lang="ja-JP" altLang="en-US"/>
          </a:p>
        </p:txBody>
      </p:sp>
      <p:sp>
        <p:nvSpPr>
          <p:cNvPr id="23" name="Text 21"/>
          <p:cNvSpPr/>
          <p:nvPr/>
        </p:nvSpPr>
        <p:spPr>
          <a:xfrm>
            <a:off x="3840480" y="14630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4" name="Shape 22"/>
          <p:cNvSpPr/>
          <p:nvPr/>
        </p:nvSpPr>
        <p:spPr>
          <a:xfrm>
            <a:off x="3886200" y="1481328"/>
            <a:ext cx="274320" cy="274320"/>
          </a:xfrm>
          <a:prstGeom prst="ellipse">
            <a:avLst/>
          </a:prstGeom>
          <a:solidFill>
            <a:srgbClr val="1B3A5C"/>
          </a:solidFill>
          <a:ln/>
        </p:spPr>
        <p:txBody>
          <a:bodyPr/>
          <a:lstStyle/>
          <a:p>
            <a:endParaRPr lang="ja-JP" altLang="en-US"/>
          </a:p>
        </p:txBody>
      </p:sp>
      <p:sp>
        <p:nvSpPr>
          <p:cNvPr id="25" name="Text 23"/>
          <p:cNvSpPr/>
          <p:nvPr/>
        </p:nvSpPr>
        <p:spPr>
          <a:xfrm>
            <a:off x="3886200" y="1481328"/>
            <a:ext cx="274320" cy="2743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6" name="Text 24"/>
          <p:cNvSpPr/>
          <p:nvPr/>
        </p:nvSpPr>
        <p:spPr>
          <a:xfrm>
            <a:off x="3886200" y="1828800"/>
            <a:ext cx="1508760" cy="45720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リンパ球除去</a:t>
            </a:r>
            <a:endParaRPr lang="en-US" sz="1400" dirty="0"/>
          </a:p>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化学療法</a:t>
            </a:r>
            <a:endParaRPr lang="en-US" sz="1400" dirty="0"/>
          </a:p>
        </p:txBody>
      </p:sp>
      <p:sp>
        <p:nvSpPr>
          <p:cNvPr id="27" name="Text 25"/>
          <p:cNvSpPr/>
          <p:nvPr/>
        </p:nvSpPr>
        <p:spPr>
          <a:xfrm>
            <a:off x="3886200" y="2286000"/>
            <a:ext cx="1508760" cy="27432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前処置</a:t>
            </a:r>
            <a:endParaRPr lang="en-US" sz="1200" dirty="0"/>
          </a:p>
        </p:txBody>
      </p:sp>
      <p:sp>
        <p:nvSpPr>
          <p:cNvPr id="28" name="Shape 26"/>
          <p:cNvSpPr/>
          <p:nvPr/>
        </p:nvSpPr>
        <p:spPr>
          <a:xfrm>
            <a:off x="5623560" y="1371600"/>
            <a:ext cx="1600200" cy="1280160"/>
          </a:xfrm>
          <a:prstGeom prst="rect">
            <a:avLst/>
          </a:prstGeom>
          <a:solidFill>
            <a:srgbClr val="F8F9FA"/>
          </a:solidFill>
          <a:ln/>
          <a:effectLst>
            <a:outerShdw blurRad="76200" dist="25400" dir="8100000" algn="bl" rotWithShape="0">
              <a:srgbClr val="000000">
                <a:alpha val="12000"/>
              </a:srgbClr>
            </a:outerShdw>
          </a:effectLst>
        </p:spPr>
        <p:txBody>
          <a:bodyPr/>
          <a:lstStyle/>
          <a:p>
            <a:endParaRPr lang="ja-JP" altLang="en-US"/>
          </a:p>
        </p:txBody>
      </p:sp>
      <p:sp>
        <p:nvSpPr>
          <p:cNvPr id="29" name="Shape 27"/>
          <p:cNvSpPr/>
          <p:nvPr/>
        </p:nvSpPr>
        <p:spPr>
          <a:xfrm>
            <a:off x="5623560" y="1371600"/>
            <a:ext cx="1600200" cy="54864"/>
          </a:xfrm>
          <a:prstGeom prst="rect">
            <a:avLst/>
          </a:prstGeom>
          <a:solidFill>
            <a:srgbClr val="1B3A5C"/>
          </a:solidFill>
          <a:ln/>
        </p:spPr>
        <p:txBody>
          <a:bodyPr/>
          <a:lstStyle/>
          <a:p>
            <a:endParaRPr lang="ja-JP" altLang="en-US"/>
          </a:p>
        </p:txBody>
      </p:sp>
      <p:sp>
        <p:nvSpPr>
          <p:cNvPr id="30" name="Text 28"/>
          <p:cNvSpPr/>
          <p:nvPr/>
        </p:nvSpPr>
        <p:spPr>
          <a:xfrm>
            <a:off x="5623560" y="14630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31" name="Shape 29"/>
          <p:cNvSpPr/>
          <p:nvPr/>
        </p:nvSpPr>
        <p:spPr>
          <a:xfrm>
            <a:off x="5669280" y="1481328"/>
            <a:ext cx="274320" cy="274320"/>
          </a:xfrm>
          <a:prstGeom prst="ellipse">
            <a:avLst/>
          </a:prstGeom>
          <a:solidFill>
            <a:srgbClr val="1B3A5C"/>
          </a:solidFill>
          <a:ln/>
        </p:spPr>
        <p:txBody>
          <a:bodyPr/>
          <a:lstStyle/>
          <a:p>
            <a:endParaRPr lang="ja-JP" altLang="en-US"/>
          </a:p>
        </p:txBody>
      </p:sp>
      <p:sp>
        <p:nvSpPr>
          <p:cNvPr id="32" name="Text 30"/>
          <p:cNvSpPr/>
          <p:nvPr/>
        </p:nvSpPr>
        <p:spPr>
          <a:xfrm>
            <a:off x="5669280" y="1481328"/>
            <a:ext cx="274320" cy="2743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33" name="Text 31"/>
          <p:cNvSpPr/>
          <p:nvPr/>
        </p:nvSpPr>
        <p:spPr>
          <a:xfrm>
            <a:off x="5669280" y="1828800"/>
            <a:ext cx="1508760" cy="45720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CAR-T投与</a:t>
            </a:r>
            <a:endParaRPr lang="en-US" sz="1400" dirty="0"/>
          </a:p>
        </p:txBody>
      </p:sp>
      <p:sp>
        <p:nvSpPr>
          <p:cNvPr id="34" name="Text 32"/>
          <p:cNvSpPr/>
          <p:nvPr/>
        </p:nvSpPr>
        <p:spPr>
          <a:xfrm>
            <a:off x="5669280" y="2286000"/>
            <a:ext cx="1508760" cy="27432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単回注入</a:t>
            </a:r>
            <a:endParaRPr lang="en-US" sz="1200" dirty="0"/>
          </a:p>
        </p:txBody>
      </p:sp>
      <p:sp>
        <p:nvSpPr>
          <p:cNvPr id="35" name="Shape 33"/>
          <p:cNvSpPr/>
          <p:nvPr/>
        </p:nvSpPr>
        <p:spPr>
          <a:xfrm>
            <a:off x="7406640" y="1371600"/>
            <a:ext cx="1600200" cy="1280160"/>
          </a:xfrm>
          <a:prstGeom prst="rect">
            <a:avLst/>
          </a:prstGeom>
          <a:solidFill>
            <a:srgbClr val="F8F9FA"/>
          </a:solidFill>
          <a:ln/>
          <a:effectLst>
            <a:outerShdw blurRad="76200" dist="25400" dir="8100000" algn="bl" rotWithShape="0">
              <a:srgbClr val="000000">
                <a:alpha val="12000"/>
              </a:srgbClr>
            </a:outerShdw>
          </a:effectLst>
        </p:spPr>
        <p:txBody>
          <a:bodyPr/>
          <a:lstStyle/>
          <a:p>
            <a:endParaRPr lang="ja-JP" altLang="en-US"/>
          </a:p>
        </p:txBody>
      </p:sp>
      <p:sp>
        <p:nvSpPr>
          <p:cNvPr id="36" name="Shape 34"/>
          <p:cNvSpPr/>
          <p:nvPr/>
        </p:nvSpPr>
        <p:spPr>
          <a:xfrm>
            <a:off x="7406640" y="1371600"/>
            <a:ext cx="1600200" cy="54864"/>
          </a:xfrm>
          <a:prstGeom prst="rect">
            <a:avLst/>
          </a:prstGeom>
          <a:solidFill>
            <a:srgbClr val="1B3A5C"/>
          </a:solidFill>
          <a:ln/>
        </p:spPr>
        <p:txBody>
          <a:bodyPr/>
          <a:lstStyle/>
          <a:p>
            <a:endParaRPr lang="ja-JP" altLang="en-US"/>
          </a:p>
        </p:txBody>
      </p:sp>
      <p:sp>
        <p:nvSpPr>
          <p:cNvPr id="37" name="Text 35"/>
          <p:cNvSpPr/>
          <p:nvPr/>
        </p:nvSpPr>
        <p:spPr>
          <a:xfrm>
            <a:off x="7406640" y="1463040"/>
            <a:ext cx="320040" cy="32004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8" name="Shape 36"/>
          <p:cNvSpPr/>
          <p:nvPr/>
        </p:nvSpPr>
        <p:spPr>
          <a:xfrm>
            <a:off x="7452360" y="1481328"/>
            <a:ext cx="274320" cy="274320"/>
          </a:xfrm>
          <a:prstGeom prst="ellipse">
            <a:avLst/>
          </a:prstGeom>
          <a:solidFill>
            <a:srgbClr val="1B3A5C"/>
          </a:solidFill>
          <a:ln/>
        </p:spPr>
        <p:txBody>
          <a:bodyPr/>
          <a:lstStyle/>
          <a:p>
            <a:endParaRPr lang="ja-JP" altLang="en-US"/>
          </a:p>
        </p:txBody>
      </p:sp>
      <p:sp>
        <p:nvSpPr>
          <p:cNvPr id="39" name="Text 37"/>
          <p:cNvSpPr/>
          <p:nvPr/>
        </p:nvSpPr>
        <p:spPr>
          <a:xfrm>
            <a:off x="7452360" y="1481328"/>
            <a:ext cx="274320" cy="27432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40" name="Text 38"/>
          <p:cNvSpPr/>
          <p:nvPr/>
        </p:nvSpPr>
        <p:spPr>
          <a:xfrm>
            <a:off x="7452360" y="1828800"/>
            <a:ext cx="1508760" cy="457200"/>
          </a:xfrm>
          <a:prstGeom prst="rect">
            <a:avLst/>
          </a:prstGeom>
          <a:noFill/>
          <a:ln/>
        </p:spPr>
        <p:txBody>
          <a:bodyPr wrap="square" rtlCol="0" anchor="ctr"/>
          <a:lstStyle/>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CRS/ICANS</a:t>
            </a:r>
            <a:endParaRPr lang="en-US" sz="1400" dirty="0"/>
          </a:p>
          <a:p>
            <a:pPr marL="0" indent="0" algn="ctr">
              <a:buNone/>
            </a:pPr>
            <a:r>
              <a:rPr lang="en-US" sz="1400" b="1" dirty="0">
                <a:solidFill>
                  <a:srgbClr val="1B3A5C"/>
                </a:solidFill>
                <a:latin typeface="游ゴシック" pitchFamily="34" charset="0"/>
                <a:ea typeface="游ゴシック" pitchFamily="34" charset="-122"/>
                <a:cs typeface="游ゴシック" pitchFamily="34" charset="-120"/>
              </a:rPr>
              <a:t>監視</a:t>
            </a:r>
            <a:endParaRPr lang="en-US" sz="1400" dirty="0"/>
          </a:p>
        </p:txBody>
      </p:sp>
      <p:sp>
        <p:nvSpPr>
          <p:cNvPr id="41" name="Text 39"/>
          <p:cNvSpPr/>
          <p:nvPr/>
        </p:nvSpPr>
        <p:spPr>
          <a:xfrm>
            <a:off x="7452360" y="2286000"/>
            <a:ext cx="1508760" cy="27432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入院管理</a:t>
            </a:r>
            <a:endParaRPr lang="en-US" sz="1200" dirty="0"/>
          </a:p>
        </p:txBody>
      </p:sp>
      <p:sp>
        <p:nvSpPr>
          <p:cNvPr id="42" name="Shape 40"/>
          <p:cNvSpPr/>
          <p:nvPr/>
        </p:nvSpPr>
        <p:spPr>
          <a:xfrm>
            <a:off x="365760" y="2926080"/>
            <a:ext cx="8412480" cy="91440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43" name="Shape 41"/>
          <p:cNvSpPr/>
          <p:nvPr/>
        </p:nvSpPr>
        <p:spPr>
          <a:xfrm>
            <a:off x="365760" y="2926080"/>
            <a:ext cx="54864" cy="914400"/>
          </a:xfrm>
          <a:prstGeom prst="rect">
            <a:avLst/>
          </a:prstGeom>
          <a:solidFill>
            <a:srgbClr val="2C5AA0"/>
          </a:solidFill>
          <a:ln/>
        </p:spPr>
        <p:txBody>
          <a:bodyPr/>
          <a:lstStyle/>
          <a:p>
            <a:endParaRPr lang="ja-JP" altLang="en-US"/>
          </a:p>
        </p:txBody>
      </p:sp>
      <p:sp>
        <p:nvSpPr>
          <p:cNvPr id="44" name="Text 42"/>
          <p:cNvSpPr/>
          <p:nvPr/>
        </p:nvSpPr>
        <p:spPr>
          <a:xfrm>
            <a:off x="548640" y="2971800"/>
            <a:ext cx="8046720" cy="822960"/>
          </a:xfrm>
          <a:prstGeom prst="rect">
            <a:avLst/>
          </a:prstGeom>
          <a:noFill/>
          <a:ln/>
        </p:spPr>
        <p:txBody>
          <a:bodyPr wrap="square" rtlCol="0" anchor="ctr"/>
          <a:lstStyle/>
          <a:p>
            <a:pPr marL="0" indent="0">
              <a:buNone/>
            </a:pPr>
            <a:r>
              <a:rPr lang="en-US" sz="1600" b="1" dirty="0">
                <a:solidFill>
                  <a:srgbClr val="1B3A5C"/>
                </a:solidFill>
                <a:latin typeface="游ゴシック" pitchFamily="34" charset="0"/>
                <a:ea typeface="游ゴシック" pitchFamily="34" charset="-122"/>
                <a:cs typeface="游ゴシック" pitchFamily="34" charset="-120"/>
              </a:rPr>
              <a:t>古典的CAR-Tは「良い薬」だけでなく「良いセンター」が必要な治療。アフェレーシスから入院管理まで一連の物流体制が求められる。</a:t>
            </a:r>
            <a:endParaRPr lang="en-US" sz="1600" dirty="0"/>
          </a:p>
        </p:txBody>
      </p:sp>
      <p:sp>
        <p:nvSpPr>
          <p:cNvPr id="45" name="Shape 43"/>
          <p:cNvSpPr/>
          <p:nvPr/>
        </p:nvSpPr>
        <p:spPr>
          <a:xfrm>
            <a:off x="365760" y="4069080"/>
            <a:ext cx="8412480" cy="822960"/>
          </a:xfrm>
          <a:prstGeom prst="rect">
            <a:avLst/>
          </a:prstGeom>
          <a:solidFill>
            <a:srgbClr val="FFF3CD"/>
          </a:solidFill>
          <a:ln/>
          <a:effectLst>
            <a:outerShdw blurRad="76200" dist="25400" dir="8100000" algn="bl" rotWithShape="0">
              <a:srgbClr val="000000">
                <a:alpha val="12000"/>
              </a:srgbClr>
            </a:outerShdw>
          </a:effectLst>
        </p:spPr>
        <p:txBody>
          <a:bodyPr/>
          <a:lstStyle/>
          <a:p>
            <a:endParaRPr lang="ja-JP" altLang="en-US"/>
          </a:p>
        </p:txBody>
      </p:sp>
      <p:sp>
        <p:nvSpPr>
          <p:cNvPr id="46" name="Shape 44"/>
          <p:cNvSpPr/>
          <p:nvPr/>
        </p:nvSpPr>
        <p:spPr>
          <a:xfrm>
            <a:off x="365760" y="4069080"/>
            <a:ext cx="54864" cy="822960"/>
          </a:xfrm>
          <a:prstGeom prst="rect">
            <a:avLst/>
          </a:prstGeom>
          <a:solidFill>
            <a:srgbClr val="28A745"/>
          </a:solidFill>
          <a:ln/>
        </p:spPr>
        <p:txBody>
          <a:bodyPr/>
          <a:lstStyle/>
          <a:p>
            <a:endParaRPr lang="ja-JP" altLang="en-US"/>
          </a:p>
        </p:txBody>
      </p:sp>
      <p:sp>
        <p:nvSpPr>
          <p:cNvPr id="47" name="Text 45"/>
          <p:cNvSpPr/>
          <p:nvPr/>
        </p:nvSpPr>
        <p:spPr>
          <a:xfrm>
            <a:off x="548640" y="4114800"/>
            <a:ext cx="8046720" cy="731520"/>
          </a:xfrm>
          <a:prstGeom prst="rect">
            <a:avLst/>
          </a:prstGeom>
          <a:noFill/>
          <a:ln/>
        </p:spPr>
        <p:txBody>
          <a:bodyPr wrap="square" rtlCol="0" anchor="ctr"/>
          <a:lstStyle/>
          <a:p>
            <a:pPr marL="0" indent="0">
              <a:buNone/>
            </a:pPr>
            <a:r>
              <a:rPr lang="en-US" sz="1600" b="1" dirty="0">
                <a:solidFill>
                  <a:srgbClr val="28A745"/>
                </a:solidFill>
                <a:latin typeface="游ゴシック" pitchFamily="34" charset="0"/>
                <a:ea typeface="游ゴシック" pitchFamily="34" charset="-122"/>
                <a:cs typeface="游ゴシック" pitchFamily="34" charset="-120"/>
              </a:rPr>
              <a:t>Descartes-08が特別な理由：</a:t>
            </a:r>
            <a:r>
              <a:rPr lang="en-US" sz="1500" dirty="0">
                <a:solidFill>
                  <a:srgbClr val="333333"/>
                </a:solidFill>
                <a:latin typeface="游ゴシック" pitchFamily="34" charset="0"/>
                <a:ea typeface="游ゴシック" pitchFamily="34" charset="-122"/>
                <a:cs typeface="游ゴシック" pitchFamily="34" charset="-120"/>
              </a:rPr>
              <a:t>この物流を大きく簡略化した。外来投与、前処置なし、mRNA一過性 → 患者負担が劇的に軽減。</a:t>
            </a:r>
            <a:endParaRPr lang="en-US" sz="1600" dirty="0"/>
          </a:p>
        </p:txBody>
      </p:sp>
      <p:sp>
        <p:nvSpPr>
          <p:cNvPr id="48" name="Text 46"/>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26 / 42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07</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400" b="1" dirty="0">
                <a:solidFill>
                  <a:srgbClr val="FFFFFF"/>
                </a:solidFill>
                <a:latin typeface="游ゴシック" pitchFamily="34" charset="0"/>
                <a:ea typeface="游ゴシック" pitchFamily="34" charset="-122"/>
                <a:cs typeface="游ゴシック" pitchFamily="34" charset="-120"/>
              </a:rPr>
              <a:t>自己免疫CAR-T特有の副作用</a:t>
            </a:r>
            <a:endParaRPr lang="en-US" sz="34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LICATS — 局所免疫細胞関連毒性症候群</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7. LICATS副作用</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400" b="1" dirty="0">
                <a:solidFill>
                  <a:srgbClr val="1B3A5C"/>
                </a:solidFill>
                <a:latin typeface="游ゴシック" pitchFamily="34" charset="0"/>
                <a:ea typeface="游ゴシック" pitchFamily="34" charset="-122"/>
                <a:cs typeface="游ゴシック" pitchFamily="34" charset="-120"/>
              </a:rPr>
              <a:t>LICATS：自己免疫CAR-T特有の新しい毒性概念</a:t>
            </a:r>
            <a:endParaRPr lang="en-US" sz="2400" dirty="0"/>
          </a:p>
        </p:txBody>
      </p:sp>
      <p:sp>
        <p:nvSpPr>
          <p:cNvPr id="5" name="Shape 3"/>
          <p:cNvSpPr/>
          <p:nvPr/>
        </p:nvSpPr>
        <p:spPr>
          <a:xfrm>
            <a:off x="365760" y="1280160"/>
            <a:ext cx="3931920" cy="2103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54864" cy="2103120"/>
          </a:xfrm>
          <a:prstGeom prst="rect">
            <a:avLst/>
          </a:prstGeom>
          <a:solidFill>
            <a:srgbClr val="E8850C"/>
          </a:solidFill>
          <a:ln/>
        </p:spPr>
        <p:txBody>
          <a:bodyPr/>
          <a:lstStyle/>
          <a:p>
            <a:endParaRPr lang="ja-JP" altLang="en-US"/>
          </a:p>
        </p:txBody>
      </p:sp>
      <p:sp>
        <p:nvSpPr>
          <p:cNvPr id="7" name="Text 5"/>
          <p:cNvSpPr/>
          <p:nvPr/>
        </p:nvSpPr>
        <p:spPr>
          <a:xfrm>
            <a:off x="548640" y="1371600"/>
            <a:ext cx="3657600" cy="320040"/>
          </a:xfrm>
          <a:prstGeom prst="rect">
            <a:avLst/>
          </a:prstGeom>
          <a:noFill/>
          <a:ln/>
        </p:spPr>
        <p:txBody>
          <a:bodyPr wrap="square" rtlCol="0" anchor="ctr"/>
          <a:lstStyle/>
          <a:p>
            <a:pPr marL="0" indent="0">
              <a:buNone/>
            </a:pPr>
            <a:r>
              <a:rPr lang="en-US" sz="1800" b="1" dirty="0">
                <a:solidFill>
                  <a:srgbClr val="E8850C"/>
                </a:solidFill>
                <a:latin typeface="游ゴシック" pitchFamily="34" charset="0"/>
                <a:ea typeface="游ゴシック" pitchFamily="34" charset="-122"/>
                <a:cs typeface="游ゴシック" pitchFamily="34" charset="-120"/>
              </a:rPr>
              <a:t>LICATSとは</a:t>
            </a:r>
            <a:endParaRPr lang="en-US" sz="1800" dirty="0"/>
          </a:p>
        </p:txBody>
      </p:sp>
      <p:sp>
        <p:nvSpPr>
          <p:cNvPr id="8" name="Text 6"/>
          <p:cNvSpPr/>
          <p:nvPr/>
        </p:nvSpPr>
        <p:spPr>
          <a:xfrm>
            <a:off x="548640" y="1737360"/>
            <a:ext cx="3657600" cy="411480"/>
          </a:xfrm>
          <a:prstGeom prst="rect">
            <a:avLst/>
          </a:prstGeom>
          <a:noFill/>
          <a:ln/>
        </p:spPr>
        <p:txBody>
          <a:bodyPr wrap="square" rtlCol="0" anchor="ctr"/>
          <a:lstStyle/>
          <a:p>
            <a:pPr marL="0" indent="0">
              <a:buNone/>
            </a:pPr>
            <a:r>
              <a:rPr lang="en-US" sz="1400" i="1" dirty="0">
                <a:solidFill>
                  <a:srgbClr val="2C5AA0"/>
                </a:solidFill>
                <a:latin typeface="Segoe UI" pitchFamily="34" charset="0"/>
                <a:ea typeface="Segoe UI" pitchFamily="34" charset="-122"/>
                <a:cs typeface="Segoe UI" pitchFamily="34" charset="-120"/>
              </a:rPr>
              <a:t>Local Immune Cell-Associated</a:t>
            </a:r>
            <a:endParaRPr lang="en-US" sz="1400" dirty="0"/>
          </a:p>
          <a:p>
            <a:pPr marL="0" indent="0">
              <a:buNone/>
            </a:pPr>
            <a:r>
              <a:rPr lang="en-US" sz="1400" i="1" dirty="0">
                <a:solidFill>
                  <a:srgbClr val="2C5AA0"/>
                </a:solidFill>
                <a:latin typeface="Segoe UI" pitchFamily="34" charset="0"/>
                <a:ea typeface="Segoe UI" pitchFamily="34" charset="-122"/>
                <a:cs typeface="Segoe UI" pitchFamily="34" charset="-120"/>
              </a:rPr>
              <a:t>Toxicity Syndrome</a:t>
            </a:r>
            <a:endParaRPr lang="en-US" sz="1400" dirty="0"/>
          </a:p>
        </p:txBody>
      </p:sp>
      <p:sp>
        <p:nvSpPr>
          <p:cNvPr id="9" name="Text 7"/>
          <p:cNvSpPr/>
          <p:nvPr/>
        </p:nvSpPr>
        <p:spPr>
          <a:xfrm>
            <a:off x="548640" y="2194560"/>
            <a:ext cx="3566160" cy="1097280"/>
          </a:xfrm>
          <a:prstGeom prst="rect">
            <a:avLst/>
          </a:prstGeom>
          <a:noFill/>
          <a:ln/>
        </p:spPr>
        <p:txBody>
          <a:bodyPr wrap="square" rtlCol="0" anchor="ctr"/>
          <a:lstStyle/>
          <a:p>
            <a:pPr marL="342900" indent="-342900">
              <a:spcAft>
                <a:spcPts val="400"/>
              </a:spcAft>
              <a:buSzPct val="100000"/>
              <a:buChar char="•"/>
            </a:pPr>
            <a:r>
              <a:rPr lang="en-US" sz="1500" b="1" dirty="0">
                <a:solidFill>
                  <a:srgbClr val="333333"/>
                </a:solidFill>
                <a:latin typeface="游ゴシック" pitchFamily="34" charset="0"/>
                <a:ea typeface="游ゴシック" pitchFamily="34" charset="-122"/>
                <a:cs typeface="游ゴシック" pitchFamily="34" charset="-120"/>
              </a:rPr>
              <a:t>既存病変臓器に一致した局所反応</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77%の患者に発生（39例解析）</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多くはgrade 1–2</a:t>
            </a:r>
            <a:endParaRPr lang="en-US" sz="1500" dirty="0"/>
          </a:p>
          <a:p>
            <a:pPr marL="342900" indent="-342900">
              <a:spcAft>
                <a:spcPts val="400"/>
              </a:spcAft>
              <a:buSzPct val="100000"/>
              <a:buChar char="•"/>
            </a:pPr>
            <a:r>
              <a:rPr lang="en-US" sz="1500" dirty="0">
                <a:solidFill>
                  <a:srgbClr val="333333"/>
                </a:solidFill>
                <a:latin typeface="游ゴシック" pitchFamily="34" charset="0"/>
                <a:ea typeface="游ゴシック" pitchFamily="34" charset="-122"/>
                <a:cs typeface="游ゴシック" pitchFamily="34" charset="-120"/>
              </a:rPr>
              <a:t>中央値10日で出現、11日で軽快</a:t>
            </a:r>
            <a:endParaRPr lang="en-US" sz="1500" dirty="0"/>
          </a:p>
        </p:txBody>
      </p:sp>
      <p:sp>
        <p:nvSpPr>
          <p:cNvPr id="10" name="Shape 8"/>
          <p:cNvSpPr/>
          <p:nvPr/>
        </p:nvSpPr>
        <p:spPr>
          <a:xfrm>
            <a:off x="4846320" y="1280160"/>
            <a:ext cx="3931920" cy="2103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4846320" y="1280160"/>
            <a:ext cx="54864" cy="2103120"/>
          </a:xfrm>
          <a:prstGeom prst="rect">
            <a:avLst/>
          </a:prstGeom>
          <a:solidFill>
            <a:srgbClr val="2C5AA0"/>
          </a:solidFill>
          <a:ln/>
        </p:spPr>
        <p:txBody>
          <a:bodyPr/>
          <a:lstStyle/>
          <a:p>
            <a:endParaRPr lang="ja-JP" altLang="en-US"/>
          </a:p>
        </p:txBody>
      </p:sp>
      <p:sp>
        <p:nvSpPr>
          <p:cNvPr id="12" name="Text 10"/>
          <p:cNvSpPr/>
          <p:nvPr/>
        </p:nvSpPr>
        <p:spPr>
          <a:xfrm>
            <a:off x="5029200" y="1371600"/>
            <a:ext cx="3657600" cy="320040"/>
          </a:xfrm>
          <a:prstGeom prst="rect">
            <a:avLst/>
          </a:prstGeom>
          <a:noFill/>
          <a:ln/>
        </p:spPr>
        <p:txBody>
          <a:bodyPr wrap="square" rtlCol="0" anchor="ctr"/>
          <a:lstStyle/>
          <a:p>
            <a:pPr marL="0" indent="0">
              <a:buNone/>
            </a:pPr>
            <a:r>
              <a:rPr lang="en-US" sz="1800" b="1" dirty="0">
                <a:solidFill>
                  <a:srgbClr val="2C5AA0"/>
                </a:solidFill>
                <a:latin typeface="游ゴシック" pitchFamily="34" charset="0"/>
                <a:ea typeface="游ゴシック" pitchFamily="34" charset="-122"/>
                <a:cs typeface="游ゴシック" pitchFamily="34" charset="-120"/>
              </a:rPr>
              <a:t>臨床データ（39例）</a:t>
            </a:r>
            <a:endParaRPr lang="en-US" sz="1800" dirty="0"/>
          </a:p>
        </p:txBody>
      </p:sp>
      <p:sp>
        <p:nvSpPr>
          <p:cNvPr id="13" name="Text 11"/>
          <p:cNvSpPr/>
          <p:nvPr/>
        </p:nvSpPr>
        <p:spPr>
          <a:xfrm>
            <a:off x="5029200" y="1783080"/>
            <a:ext cx="1737360" cy="411480"/>
          </a:xfrm>
          <a:prstGeom prst="rect">
            <a:avLst/>
          </a:prstGeom>
          <a:noFill/>
          <a:ln/>
        </p:spPr>
        <p:txBody>
          <a:bodyPr wrap="square" rtlCol="0" anchor="ctr"/>
          <a:lstStyle/>
          <a:p>
            <a:pPr marL="0" indent="0" algn="ctr">
              <a:buNone/>
            </a:pPr>
            <a:r>
              <a:rPr lang="en-US" sz="2400" b="1" dirty="0">
                <a:solidFill>
                  <a:srgbClr val="2C5AA0"/>
                </a:solidFill>
                <a:latin typeface="Segoe UI" pitchFamily="34" charset="0"/>
                <a:ea typeface="Segoe UI" pitchFamily="34" charset="-122"/>
                <a:cs typeface="Segoe UI" pitchFamily="34" charset="-120"/>
              </a:rPr>
              <a:t>77%</a:t>
            </a:r>
            <a:endParaRPr lang="en-US" sz="2400" dirty="0"/>
          </a:p>
        </p:txBody>
      </p:sp>
      <p:sp>
        <p:nvSpPr>
          <p:cNvPr id="14" name="Text 12"/>
          <p:cNvSpPr/>
          <p:nvPr/>
        </p:nvSpPr>
        <p:spPr>
          <a:xfrm>
            <a:off x="5029200" y="2194560"/>
            <a:ext cx="1737360" cy="22860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発生率</a:t>
            </a:r>
            <a:endParaRPr lang="en-US" sz="1200" dirty="0"/>
          </a:p>
        </p:txBody>
      </p:sp>
      <p:sp>
        <p:nvSpPr>
          <p:cNvPr id="15" name="Text 13"/>
          <p:cNvSpPr/>
          <p:nvPr/>
        </p:nvSpPr>
        <p:spPr>
          <a:xfrm>
            <a:off x="6949440" y="1783080"/>
            <a:ext cx="1737360" cy="411480"/>
          </a:xfrm>
          <a:prstGeom prst="rect">
            <a:avLst/>
          </a:prstGeom>
          <a:noFill/>
          <a:ln/>
        </p:spPr>
        <p:txBody>
          <a:bodyPr wrap="square" rtlCol="0" anchor="ctr"/>
          <a:lstStyle/>
          <a:p>
            <a:pPr marL="0" indent="0" algn="ctr">
              <a:buNone/>
            </a:pPr>
            <a:r>
              <a:rPr lang="en-US" sz="2400" b="1" dirty="0">
                <a:solidFill>
                  <a:srgbClr val="2C5AA0"/>
                </a:solidFill>
                <a:latin typeface="Segoe UI" pitchFamily="34" charset="0"/>
                <a:ea typeface="Segoe UI" pitchFamily="34" charset="-122"/>
                <a:cs typeface="Segoe UI" pitchFamily="34" charset="-120"/>
              </a:rPr>
              <a:t>Gr1-2</a:t>
            </a:r>
            <a:endParaRPr lang="en-US" sz="2400" dirty="0"/>
          </a:p>
        </p:txBody>
      </p:sp>
      <p:sp>
        <p:nvSpPr>
          <p:cNvPr id="16" name="Text 14"/>
          <p:cNvSpPr/>
          <p:nvPr/>
        </p:nvSpPr>
        <p:spPr>
          <a:xfrm>
            <a:off x="6949440" y="2194560"/>
            <a:ext cx="1737360" cy="22860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重症度</a:t>
            </a:r>
            <a:endParaRPr lang="en-US" sz="1200" dirty="0"/>
          </a:p>
        </p:txBody>
      </p:sp>
      <p:sp>
        <p:nvSpPr>
          <p:cNvPr id="17" name="Text 15"/>
          <p:cNvSpPr/>
          <p:nvPr/>
        </p:nvSpPr>
        <p:spPr>
          <a:xfrm>
            <a:off x="5029200" y="2560320"/>
            <a:ext cx="1737360" cy="411480"/>
          </a:xfrm>
          <a:prstGeom prst="rect">
            <a:avLst/>
          </a:prstGeom>
          <a:noFill/>
          <a:ln/>
        </p:spPr>
        <p:txBody>
          <a:bodyPr wrap="square" rtlCol="0" anchor="ctr"/>
          <a:lstStyle/>
          <a:p>
            <a:pPr marL="0" indent="0" algn="ctr">
              <a:buNone/>
            </a:pPr>
            <a:r>
              <a:rPr lang="en-US" sz="2400" b="1" dirty="0">
                <a:solidFill>
                  <a:srgbClr val="2C5AA0"/>
                </a:solidFill>
                <a:latin typeface="Segoe UI" pitchFamily="34" charset="0"/>
                <a:ea typeface="Segoe UI" pitchFamily="34" charset="-122"/>
                <a:cs typeface="Segoe UI" pitchFamily="34" charset="-120"/>
              </a:rPr>
              <a:t>10日</a:t>
            </a:r>
            <a:endParaRPr lang="en-US" sz="2400" dirty="0"/>
          </a:p>
        </p:txBody>
      </p:sp>
      <p:sp>
        <p:nvSpPr>
          <p:cNvPr id="18" name="Text 16"/>
          <p:cNvSpPr/>
          <p:nvPr/>
        </p:nvSpPr>
        <p:spPr>
          <a:xfrm>
            <a:off x="5029200" y="2971800"/>
            <a:ext cx="1737360" cy="22860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出現時期</a:t>
            </a:r>
            <a:endParaRPr lang="en-US" sz="1200" dirty="0"/>
          </a:p>
        </p:txBody>
      </p:sp>
      <p:sp>
        <p:nvSpPr>
          <p:cNvPr id="19" name="Text 17"/>
          <p:cNvSpPr/>
          <p:nvPr/>
        </p:nvSpPr>
        <p:spPr>
          <a:xfrm>
            <a:off x="6949440" y="2560320"/>
            <a:ext cx="1737360" cy="411480"/>
          </a:xfrm>
          <a:prstGeom prst="rect">
            <a:avLst/>
          </a:prstGeom>
          <a:noFill/>
          <a:ln/>
        </p:spPr>
        <p:txBody>
          <a:bodyPr wrap="square" rtlCol="0" anchor="ctr"/>
          <a:lstStyle/>
          <a:p>
            <a:pPr marL="0" indent="0" algn="ctr">
              <a:buNone/>
            </a:pPr>
            <a:r>
              <a:rPr lang="en-US" sz="2400" b="1" dirty="0">
                <a:solidFill>
                  <a:srgbClr val="2C5AA0"/>
                </a:solidFill>
                <a:latin typeface="Segoe UI" pitchFamily="34" charset="0"/>
                <a:ea typeface="Segoe UI" pitchFamily="34" charset="-122"/>
                <a:cs typeface="Segoe UI" pitchFamily="34" charset="-120"/>
              </a:rPr>
              <a:t>11日</a:t>
            </a:r>
            <a:endParaRPr lang="en-US" sz="2400" dirty="0"/>
          </a:p>
        </p:txBody>
      </p:sp>
      <p:sp>
        <p:nvSpPr>
          <p:cNvPr id="20" name="Text 18"/>
          <p:cNvSpPr/>
          <p:nvPr/>
        </p:nvSpPr>
        <p:spPr>
          <a:xfrm>
            <a:off x="6949440" y="2971800"/>
            <a:ext cx="1737360" cy="228600"/>
          </a:xfrm>
          <a:prstGeom prst="rect">
            <a:avLst/>
          </a:prstGeom>
          <a:noFill/>
          <a:ln/>
        </p:spPr>
        <p:txBody>
          <a:bodyPr wrap="square" rtlCol="0" anchor="ctr"/>
          <a:lstStyle/>
          <a:p>
            <a:pPr marL="0" indent="0" algn="ctr">
              <a:buNone/>
            </a:pPr>
            <a:r>
              <a:rPr lang="en-US" sz="1200" dirty="0">
                <a:solidFill>
                  <a:srgbClr val="666666"/>
                </a:solidFill>
                <a:latin typeface="游ゴシック" pitchFamily="34" charset="0"/>
                <a:ea typeface="游ゴシック" pitchFamily="34" charset="-122"/>
                <a:cs typeface="游ゴシック" pitchFamily="34" charset="-120"/>
              </a:rPr>
              <a:t>軽快まで</a:t>
            </a:r>
            <a:endParaRPr lang="en-US" sz="1200" dirty="0"/>
          </a:p>
        </p:txBody>
      </p:sp>
      <p:sp>
        <p:nvSpPr>
          <p:cNvPr id="21" name="Shape 19"/>
          <p:cNvSpPr/>
          <p:nvPr/>
        </p:nvSpPr>
        <p:spPr>
          <a:xfrm>
            <a:off x="365760" y="3611880"/>
            <a:ext cx="8412480" cy="1188720"/>
          </a:xfrm>
          <a:prstGeom prst="rect">
            <a:avLst/>
          </a:prstGeom>
          <a:solidFill>
            <a:srgbClr val="F8D7DA"/>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365760" y="3611880"/>
            <a:ext cx="54864" cy="1188720"/>
          </a:xfrm>
          <a:prstGeom prst="rect">
            <a:avLst/>
          </a:prstGeom>
          <a:solidFill>
            <a:srgbClr val="DC3545"/>
          </a:solidFill>
          <a:ln/>
        </p:spPr>
        <p:txBody>
          <a:bodyPr/>
          <a:lstStyle/>
          <a:p>
            <a:endParaRPr lang="ja-JP" altLang="en-US"/>
          </a:p>
        </p:txBody>
      </p:sp>
      <p:sp>
        <p:nvSpPr>
          <p:cNvPr id="23" name="Text 21"/>
          <p:cNvSpPr/>
          <p:nvPr/>
        </p:nvSpPr>
        <p:spPr>
          <a:xfrm>
            <a:off x="548640" y="3703320"/>
            <a:ext cx="3657600" cy="320040"/>
          </a:xfrm>
          <a:prstGeom prst="rect">
            <a:avLst/>
          </a:prstGeom>
          <a:noFill/>
          <a:ln/>
        </p:spPr>
        <p:txBody>
          <a:bodyPr wrap="square" rtlCol="0" anchor="ctr"/>
          <a:lstStyle/>
          <a:p>
            <a:pPr marL="0" indent="0">
              <a:buNone/>
            </a:pPr>
            <a:r>
              <a:rPr lang="en-US" sz="1600" b="1" dirty="0">
                <a:solidFill>
                  <a:srgbClr val="DC3545"/>
                </a:solidFill>
                <a:latin typeface="游ゴシック" pitchFamily="34" charset="0"/>
                <a:ea typeface="游ゴシック" pitchFamily="34" charset="-122"/>
                <a:cs typeface="游ゴシック" pitchFamily="34" charset="-120"/>
              </a:rPr>
              <a:t>⚠ 神経内科への重要な示唆</a:t>
            </a:r>
            <a:endParaRPr lang="en-US" sz="1600" dirty="0"/>
          </a:p>
        </p:txBody>
      </p:sp>
      <p:sp>
        <p:nvSpPr>
          <p:cNvPr id="24" name="Text 22"/>
          <p:cNvSpPr/>
          <p:nvPr/>
        </p:nvSpPr>
        <p:spPr>
          <a:xfrm>
            <a:off x="548640" y="4023360"/>
            <a:ext cx="8046720" cy="731520"/>
          </a:xfrm>
          <a:prstGeom prst="rect">
            <a:avLst/>
          </a:prstGeom>
          <a:noFill/>
          <a:ln/>
        </p:spPr>
        <p:txBody>
          <a:bodyPr wrap="square" rtlCol="0" anchor="ctr"/>
          <a:lstStyle/>
          <a:p>
            <a:pPr marL="0" indent="0">
              <a:buNone/>
            </a:pPr>
            <a:r>
              <a:rPr lang="en-US" sz="1400" dirty="0">
                <a:solidFill>
                  <a:srgbClr val="333333"/>
                </a:solidFill>
                <a:latin typeface="游ゴシック" pitchFamily="34" charset="0"/>
                <a:ea typeface="游ゴシック" pitchFamily="34" charset="-122"/>
                <a:cs typeface="游ゴシック" pitchFamily="34" charset="-120"/>
              </a:rPr>
              <a:t>神経根、筋、髄膜、脳辺縁系など既存病変部で同様の反応が起これば、再燃との区別が極めて難しい可能性がある。</a:t>
            </a:r>
            <a:endParaRPr lang="en-US" sz="1400" dirty="0"/>
          </a:p>
          <a:p>
            <a:pPr marL="0" indent="0">
              <a:buNone/>
            </a:pPr>
            <a:r>
              <a:rPr lang="en-US" sz="1400" dirty="0">
                <a:solidFill>
                  <a:srgbClr val="333333"/>
                </a:solidFill>
                <a:latin typeface="游ゴシック" pitchFamily="34" charset="0"/>
                <a:ea typeface="游ゴシック" pitchFamily="34" charset="-122"/>
                <a:cs typeface="游ゴシック" pitchFamily="34" charset="-120"/>
              </a:rPr>
              <a:t>病変臓器から免疫細胞が掃除される過程に伴う一過性反応と解釈されているが、神経内科では直接データがまだ乏しい。</a:t>
            </a:r>
            <a:endParaRPr lang="en-US" sz="1400" dirty="0"/>
          </a:p>
        </p:txBody>
      </p:sp>
      <p:sp>
        <p:nvSpPr>
          <p:cNvPr id="25" name="Text 2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28 / 42</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08</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600" b="1" dirty="0">
                <a:solidFill>
                  <a:srgbClr val="FFFFFF"/>
                </a:solidFill>
                <a:latin typeface="游ゴシック" pitchFamily="34" charset="0"/>
                <a:ea typeface="游ゴシック" pitchFamily="34" charset="-122"/>
                <a:cs typeface="游ゴシック" pitchFamily="34" charset="-120"/>
              </a:rPr>
              <a:t>次に来るもの</a:t>
            </a:r>
            <a:endParaRPr lang="en-US" sz="36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同種CAR-TとPrecision CAR-T（CAAR-T）</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8. 次に来るもの</a:t>
            </a:r>
            <a:endParaRPr lang="en-US" sz="1200" dirty="0"/>
          </a:p>
        </p:txBody>
      </p:sp>
      <p:sp>
        <p:nvSpPr>
          <p:cNvPr id="4" name="Text 2"/>
          <p:cNvSpPr/>
          <p:nvPr/>
        </p:nvSpPr>
        <p:spPr>
          <a:xfrm>
            <a:off x="457200" y="548640"/>
            <a:ext cx="8229600" cy="548640"/>
          </a:xfrm>
          <a:prstGeom prst="rect">
            <a:avLst/>
          </a:prstGeom>
          <a:noFill/>
          <a:ln/>
        </p:spPr>
        <p:txBody>
          <a:bodyPr wrap="square" lIns="0" tIns="0" rIns="0" bIns="0" rtlCol="0" anchor="ctr"/>
          <a:lstStyle/>
          <a:p>
            <a:pPr marL="0" indent="0">
              <a:buNone/>
            </a:pPr>
            <a:r>
              <a:rPr lang="en-US" sz="2800" b="1" dirty="0">
                <a:solidFill>
                  <a:srgbClr val="1B3A5C"/>
                </a:solidFill>
                <a:latin typeface="游ゴシック" pitchFamily="34" charset="0"/>
                <a:ea typeface="游ゴシック" pitchFamily="34" charset="-122"/>
                <a:cs typeface="游ゴシック" pitchFamily="34" charset="-120"/>
              </a:rPr>
              <a:t>未来の2つの方向性</a:t>
            </a:r>
            <a:endParaRPr lang="en-US" sz="2800" dirty="0"/>
          </a:p>
        </p:txBody>
      </p:sp>
      <p:sp>
        <p:nvSpPr>
          <p:cNvPr id="5" name="Shape 3"/>
          <p:cNvSpPr/>
          <p:nvPr/>
        </p:nvSpPr>
        <p:spPr>
          <a:xfrm>
            <a:off x="365760" y="128016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365760" y="1280160"/>
            <a:ext cx="3931920" cy="54864"/>
          </a:xfrm>
          <a:prstGeom prst="rect">
            <a:avLst/>
          </a:prstGeom>
          <a:solidFill>
            <a:srgbClr val="28A745"/>
          </a:solidFill>
          <a:ln/>
        </p:spPr>
        <p:txBody>
          <a:bodyPr/>
          <a:lstStyle/>
          <a:p>
            <a:endParaRPr lang="ja-JP" altLang="en-US"/>
          </a:p>
        </p:txBody>
      </p:sp>
      <p:sp>
        <p:nvSpPr>
          <p:cNvPr id="7" name="Text 5"/>
          <p:cNvSpPr/>
          <p:nvPr/>
        </p:nvSpPr>
        <p:spPr>
          <a:xfrm>
            <a:off x="548640" y="1417320"/>
            <a:ext cx="3657600" cy="365760"/>
          </a:xfrm>
          <a:prstGeom prst="rect">
            <a:avLst/>
          </a:prstGeom>
          <a:noFill/>
          <a:ln/>
        </p:spPr>
        <p:txBody>
          <a:bodyPr wrap="square" rtlCol="0" anchor="ctr"/>
          <a:lstStyle/>
          <a:p>
            <a:pPr marL="0" indent="0">
              <a:buNone/>
            </a:pPr>
            <a:r>
              <a:rPr lang="en-US" sz="1800" b="1" dirty="0">
                <a:solidFill>
                  <a:srgbClr val="28A745"/>
                </a:solidFill>
                <a:latin typeface="游ゴシック" pitchFamily="34" charset="0"/>
                <a:ea typeface="游ゴシック" pitchFamily="34" charset="-122"/>
                <a:cs typeface="游ゴシック" pitchFamily="34" charset="-120"/>
              </a:rPr>
              <a:t>Allogeneic / Off-the-shelf化</a:t>
            </a:r>
            <a:endParaRPr lang="en-US" sz="1800" dirty="0"/>
          </a:p>
        </p:txBody>
      </p:sp>
      <p:sp>
        <p:nvSpPr>
          <p:cNvPr id="8" name="Text 6"/>
          <p:cNvSpPr/>
          <p:nvPr/>
        </p:nvSpPr>
        <p:spPr>
          <a:xfrm>
            <a:off x="548640" y="1828800"/>
            <a:ext cx="3657600" cy="274320"/>
          </a:xfrm>
          <a:prstGeom prst="rect">
            <a:avLst/>
          </a:prstGeom>
          <a:noFill/>
          <a:ln/>
        </p:spPr>
        <p:txBody>
          <a:bodyPr wrap="square"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健康ドナー由来のCD19 CAR-T</a:t>
            </a:r>
            <a:endParaRPr lang="en-US" sz="1400" dirty="0"/>
          </a:p>
        </p:txBody>
      </p:sp>
      <p:sp>
        <p:nvSpPr>
          <p:cNvPr id="9" name="Text 7"/>
          <p:cNvSpPr/>
          <p:nvPr/>
        </p:nvSpPr>
        <p:spPr>
          <a:xfrm>
            <a:off x="548640" y="2103120"/>
            <a:ext cx="3566160" cy="2194560"/>
          </a:xfrm>
          <a:prstGeom prst="rect">
            <a:avLst/>
          </a:prstGeom>
          <a:noFill/>
          <a:ln/>
        </p:spPr>
        <p:txBody>
          <a:bodyPr wrap="square" rtlCol="0" anchor="ctr"/>
          <a:lstStyle/>
          <a:p>
            <a:pPr marL="0" indent="0">
              <a:spcAft>
                <a:spcPts val="200"/>
              </a:spcAft>
              <a:buNone/>
            </a:pPr>
            <a:r>
              <a:rPr lang="en-US" sz="1500" b="1" dirty="0">
                <a:solidFill>
                  <a:srgbClr val="1B3A5C"/>
                </a:solidFill>
                <a:latin typeface="游ゴシック" pitchFamily="34" charset="0"/>
                <a:ea typeface="游ゴシック" pitchFamily="34" charset="-122"/>
                <a:cs typeface="游ゴシック" pitchFamily="34" charset="-120"/>
              </a:rPr>
              <a:t>筋炎・強皮症3例：</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2週以内に完全B細胞枯渇</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6か月で深い寛解、重篤AEなし</a:t>
            </a:r>
            <a:endParaRPr lang="en-US" sz="1500" dirty="0"/>
          </a:p>
          <a:p>
            <a:pPr marL="0" indent="0">
              <a:spcAft>
                <a:spcPts val="200"/>
              </a:spcAft>
              <a:buNone/>
            </a:pPr>
            <a:endParaRPr lang="en-US" sz="1500" dirty="0"/>
          </a:p>
          <a:p>
            <a:pPr marL="0" indent="0">
              <a:spcAft>
                <a:spcPts val="200"/>
              </a:spcAft>
              <a:buNone/>
            </a:pPr>
            <a:r>
              <a:rPr lang="en-US" sz="1500" b="1" dirty="0">
                <a:solidFill>
                  <a:srgbClr val="1B3A5C"/>
                </a:solidFill>
                <a:latin typeface="游ゴシック" pitchFamily="34" charset="0"/>
                <a:ea typeface="游ゴシック" pitchFamily="34" charset="-122"/>
                <a:cs typeface="游ゴシック" pitchFamily="34" charset="-120"/>
              </a:rPr>
              <a:t>SLE 3例：</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GvHD・CRS・ICANSなしに寛解</a:t>
            </a:r>
            <a:endParaRPr lang="en-US" sz="1500" dirty="0"/>
          </a:p>
          <a:p>
            <a:pPr marL="0" indent="0">
              <a:spcAft>
                <a:spcPts val="200"/>
              </a:spcAft>
              <a:buNone/>
            </a:pPr>
            <a:endParaRPr lang="en-US" sz="1500" dirty="0"/>
          </a:p>
          <a:p>
            <a:pPr marL="0" indent="0">
              <a:spcAft>
                <a:spcPts val="200"/>
              </a:spcAft>
              <a:buNone/>
            </a:pPr>
            <a:r>
              <a:rPr lang="en-US" sz="1500" b="1" dirty="0">
                <a:solidFill>
                  <a:srgbClr val="28A745"/>
                </a:solidFill>
                <a:latin typeface="游ゴシック" pitchFamily="34" charset="0"/>
                <a:ea typeface="游ゴシック" pitchFamily="34" charset="-122"/>
                <a:cs typeface="游ゴシック" pitchFamily="34" charset="-120"/>
              </a:rPr>
              <a:t>→ 待機時間と物流の壁が大きく下がる</a:t>
            </a:r>
            <a:endParaRPr lang="en-US" sz="1500" dirty="0"/>
          </a:p>
        </p:txBody>
      </p:sp>
      <p:sp>
        <p:nvSpPr>
          <p:cNvPr id="10" name="Shape 8"/>
          <p:cNvSpPr/>
          <p:nvPr/>
        </p:nvSpPr>
        <p:spPr>
          <a:xfrm>
            <a:off x="4846320" y="1280160"/>
            <a:ext cx="393192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4846320" y="1280160"/>
            <a:ext cx="3931920" cy="54864"/>
          </a:xfrm>
          <a:prstGeom prst="rect">
            <a:avLst/>
          </a:prstGeom>
          <a:solidFill>
            <a:srgbClr val="DC3545"/>
          </a:solidFill>
          <a:ln/>
        </p:spPr>
        <p:txBody>
          <a:bodyPr/>
          <a:lstStyle/>
          <a:p>
            <a:endParaRPr lang="ja-JP" altLang="en-US"/>
          </a:p>
        </p:txBody>
      </p:sp>
      <p:sp>
        <p:nvSpPr>
          <p:cNvPr id="12" name="Text 10"/>
          <p:cNvSpPr/>
          <p:nvPr/>
        </p:nvSpPr>
        <p:spPr>
          <a:xfrm>
            <a:off x="5029200" y="1417320"/>
            <a:ext cx="3657600" cy="365760"/>
          </a:xfrm>
          <a:prstGeom prst="rect">
            <a:avLst/>
          </a:prstGeom>
          <a:noFill/>
          <a:ln/>
        </p:spPr>
        <p:txBody>
          <a:bodyPr wrap="square" rtlCol="0" anchor="ctr"/>
          <a:lstStyle/>
          <a:p>
            <a:pPr marL="0" indent="0">
              <a:buNone/>
            </a:pPr>
            <a:r>
              <a:rPr lang="en-US" sz="1800" b="1" dirty="0">
                <a:solidFill>
                  <a:srgbClr val="DC3545"/>
                </a:solidFill>
                <a:latin typeface="游ゴシック" pitchFamily="34" charset="0"/>
                <a:ea typeface="游ゴシック" pitchFamily="34" charset="-122"/>
                <a:cs typeface="游ゴシック" pitchFamily="34" charset="-120"/>
              </a:rPr>
              <a:t>Precision CAR-T（CAAR-T）</a:t>
            </a:r>
            <a:endParaRPr lang="en-US" sz="1800" dirty="0"/>
          </a:p>
        </p:txBody>
      </p:sp>
      <p:sp>
        <p:nvSpPr>
          <p:cNvPr id="13" name="Text 11"/>
          <p:cNvSpPr/>
          <p:nvPr/>
        </p:nvSpPr>
        <p:spPr>
          <a:xfrm>
            <a:off x="5029200" y="1828800"/>
            <a:ext cx="3657600" cy="274320"/>
          </a:xfrm>
          <a:prstGeom prst="rect">
            <a:avLst/>
          </a:prstGeom>
          <a:noFill/>
          <a:ln/>
        </p:spPr>
        <p:txBody>
          <a:bodyPr wrap="square" rtlCol="0" anchor="ctr"/>
          <a:lstStyle/>
          <a:p>
            <a:pPr marL="0" indent="0">
              <a:buNone/>
            </a:pPr>
            <a:r>
              <a:rPr lang="en-US" sz="1400" dirty="0">
                <a:solidFill>
                  <a:srgbClr val="666666"/>
                </a:solidFill>
                <a:latin typeface="游ゴシック" pitchFamily="34" charset="0"/>
                <a:ea typeface="游ゴシック" pitchFamily="34" charset="-122"/>
                <a:cs typeface="游ゴシック" pitchFamily="34" charset="-120"/>
              </a:rPr>
              <a:t>自己抗原特異的B細胞だけを狙う</a:t>
            </a:r>
            <a:endParaRPr lang="en-US" sz="1400" dirty="0"/>
          </a:p>
        </p:txBody>
      </p:sp>
      <p:sp>
        <p:nvSpPr>
          <p:cNvPr id="14" name="Text 12"/>
          <p:cNvSpPr/>
          <p:nvPr/>
        </p:nvSpPr>
        <p:spPr>
          <a:xfrm>
            <a:off x="5029200" y="2103120"/>
            <a:ext cx="3566160" cy="2194560"/>
          </a:xfrm>
          <a:prstGeom prst="rect">
            <a:avLst/>
          </a:prstGeom>
          <a:noFill/>
          <a:ln/>
        </p:spPr>
        <p:txBody>
          <a:bodyPr wrap="square" rtlCol="0" anchor="ctr"/>
          <a:lstStyle/>
          <a:p>
            <a:pPr marL="0" indent="0">
              <a:spcAft>
                <a:spcPts val="200"/>
              </a:spcAft>
              <a:buNone/>
            </a:pPr>
            <a:r>
              <a:rPr lang="en-US" sz="1500" b="1" dirty="0">
                <a:solidFill>
                  <a:srgbClr val="1B3A5C"/>
                </a:solidFill>
                <a:latin typeface="游ゴシック" pitchFamily="34" charset="0"/>
                <a:ea typeface="游ゴシック" pitchFamily="34" charset="-122"/>
                <a:cs typeface="游ゴシック" pitchFamily="34" charset="-120"/>
              </a:rPr>
              <a:t>MuSK-CAAR-T：</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抗MuSK B細胞を選択的に除去</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総B細胞・IgGは保持</a:t>
            </a:r>
            <a:endParaRPr lang="en-US" sz="1500" dirty="0"/>
          </a:p>
          <a:p>
            <a:pPr marL="0" indent="0">
              <a:spcAft>
                <a:spcPts val="200"/>
              </a:spcAft>
              <a:buNone/>
            </a:pPr>
            <a:endParaRPr lang="en-US" sz="1500" dirty="0"/>
          </a:p>
          <a:p>
            <a:pPr marL="0" indent="0">
              <a:spcAft>
                <a:spcPts val="200"/>
              </a:spcAft>
              <a:buNone/>
            </a:pPr>
            <a:r>
              <a:rPr lang="en-US" sz="1500" b="1" dirty="0">
                <a:solidFill>
                  <a:srgbClr val="1B3A5C"/>
                </a:solidFill>
                <a:latin typeface="游ゴシック" pitchFamily="34" charset="0"/>
                <a:ea typeface="游ゴシック" pitchFamily="34" charset="-122"/>
                <a:cs typeface="游ゴシック" pitchFamily="34" charset="-120"/>
              </a:rPr>
              <a:t>NMDAR-CAAR-T：</a:t>
            </a:r>
            <a:endParaRPr lang="en-US" sz="1500" dirty="0"/>
          </a:p>
          <a:p>
            <a:pPr marL="0" indent="0">
              <a:spcAft>
                <a:spcPts val="200"/>
              </a:spcAft>
              <a:buNone/>
            </a:pPr>
            <a:r>
              <a:rPr lang="en-US" sz="1400" dirty="0">
                <a:solidFill>
                  <a:srgbClr val="333333"/>
                </a:solidFill>
                <a:latin typeface="游ゴシック" pitchFamily="34" charset="0"/>
                <a:ea typeface="游ゴシック" pitchFamily="34" charset="-122"/>
                <a:cs typeface="游ゴシック" pitchFamily="34" charset="-120"/>
              </a:rPr>
              <a:t>抗NMDAR B細胞を選択的に除去</a:t>
            </a:r>
            <a:endParaRPr lang="en-US" sz="1500" dirty="0"/>
          </a:p>
          <a:p>
            <a:pPr marL="0" indent="0">
              <a:spcAft>
                <a:spcPts val="200"/>
              </a:spcAft>
              <a:buNone/>
            </a:pPr>
            <a:endParaRPr lang="en-US" sz="1500" dirty="0"/>
          </a:p>
          <a:p>
            <a:pPr marL="0" indent="0">
              <a:spcAft>
                <a:spcPts val="200"/>
              </a:spcAft>
              <a:buNone/>
            </a:pPr>
            <a:r>
              <a:rPr lang="en-US" sz="1500" b="1" dirty="0">
                <a:solidFill>
                  <a:srgbClr val="DC3545"/>
                </a:solidFill>
                <a:latin typeface="游ゴシック" pitchFamily="34" charset="0"/>
                <a:ea typeface="游ゴシック" pitchFamily="34" charset="-122"/>
                <a:cs typeface="游ゴシック" pitchFamily="34" charset="-120"/>
              </a:rPr>
              <a:t>→ 正常免疫を温存しながら</a:t>
            </a:r>
            <a:endParaRPr lang="en-US" sz="1500" dirty="0"/>
          </a:p>
          <a:p>
            <a:pPr marL="0" indent="0">
              <a:spcAft>
                <a:spcPts val="200"/>
              </a:spcAft>
              <a:buNone/>
            </a:pPr>
            <a:r>
              <a:rPr lang="en-US" sz="1500" b="1" dirty="0">
                <a:solidFill>
                  <a:srgbClr val="DC3545"/>
                </a:solidFill>
                <a:latin typeface="游ゴシック" pitchFamily="34" charset="0"/>
                <a:ea typeface="游ゴシック" pitchFamily="34" charset="-122"/>
                <a:cs typeface="游ゴシック" pitchFamily="34" charset="-120"/>
              </a:rPr>
              <a:t>犯人クローンだけを消す</a:t>
            </a:r>
            <a:endParaRPr lang="en-US" sz="1500" dirty="0"/>
          </a:p>
        </p:txBody>
      </p:sp>
      <p:sp>
        <p:nvSpPr>
          <p:cNvPr id="15" name="Text 1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30 / 42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C5AA0"/>
        </a:solidFill>
        <a:effectLst/>
      </p:bgPr>
    </p:bg>
    <p:spTree>
      <p:nvGrpSpPr>
        <p:cNvPr id="1" name=""/>
        <p:cNvGrpSpPr/>
        <p:nvPr/>
      </p:nvGrpSpPr>
      <p:grpSpPr>
        <a:xfrm>
          <a:off x="0" y="0"/>
          <a:ext cx="0" cy="0"/>
          <a:chOff x="0" y="0"/>
          <a:chExt cx="0" cy="0"/>
        </a:xfrm>
      </p:grpSpPr>
      <p:sp>
        <p:nvSpPr>
          <p:cNvPr id="2" name="Text 0"/>
          <p:cNvSpPr/>
          <p:nvPr/>
        </p:nvSpPr>
        <p:spPr>
          <a:xfrm>
            <a:off x="731520" y="914400"/>
            <a:ext cx="1828800" cy="914400"/>
          </a:xfrm>
          <a:prstGeom prst="rect">
            <a:avLst/>
          </a:prstGeom>
          <a:noFill/>
          <a:ln/>
        </p:spPr>
        <p:txBody>
          <a:bodyPr wrap="square" lIns="0" tIns="0" rIns="0" bIns="0" rtlCol="0" anchor="ctr"/>
          <a:lstStyle/>
          <a:p>
            <a:pPr marL="0" indent="0">
              <a:buNone/>
            </a:pPr>
            <a:r>
              <a:rPr lang="en-US" sz="6000" b="1" dirty="0">
                <a:solidFill>
                  <a:srgbClr val="7B8FA8"/>
                </a:solidFill>
                <a:latin typeface="Segoe UI" pitchFamily="34" charset="0"/>
                <a:ea typeface="Segoe UI" pitchFamily="34" charset="-122"/>
                <a:cs typeface="Segoe UI" pitchFamily="34" charset="-120"/>
              </a:rPr>
              <a:t>09</a:t>
            </a:r>
            <a:endParaRPr lang="en-US" sz="6000" dirty="0"/>
          </a:p>
        </p:txBody>
      </p:sp>
      <p:sp>
        <p:nvSpPr>
          <p:cNvPr id="3" name="Text 1"/>
          <p:cNvSpPr/>
          <p:nvPr/>
        </p:nvSpPr>
        <p:spPr>
          <a:xfrm>
            <a:off x="731520" y="1828800"/>
            <a:ext cx="7315200" cy="914400"/>
          </a:xfrm>
          <a:prstGeom prst="rect">
            <a:avLst/>
          </a:prstGeom>
          <a:noFill/>
          <a:ln/>
        </p:spPr>
        <p:txBody>
          <a:bodyPr wrap="square" lIns="0" tIns="0" rIns="0" bIns="0" rtlCol="0" anchor="ctr"/>
          <a:lstStyle/>
          <a:p>
            <a:pPr marL="0" indent="0">
              <a:buNone/>
            </a:pPr>
            <a:r>
              <a:rPr lang="en-US" sz="3600" b="1" dirty="0">
                <a:solidFill>
                  <a:srgbClr val="FFFFFF"/>
                </a:solidFill>
                <a:latin typeface="游ゴシック" pitchFamily="34" charset="0"/>
                <a:ea typeface="游ゴシック" pitchFamily="34" charset="-122"/>
                <a:cs typeface="游ゴシック" pitchFamily="34" charset="-120"/>
              </a:rPr>
              <a:t>まとめ</a:t>
            </a:r>
            <a:endParaRPr lang="en-US" sz="3600" dirty="0"/>
          </a:p>
        </p:txBody>
      </p:sp>
      <p:sp>
        <p:nvSpPr>
          <p:cNvPr id="4" name="Text 2"/>
          <p:cNvSpPr/>
          <p:nvPr/>
        </p:nvSpPr>
        <p:spPr>
          <a:xfrm>
            <a:off x="731520" y="274320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游ゴシック" pitchFamily="34" charset="0"/>
                <a:ea typeface="游ゴシック" pitchFamily="34" charset="-122"/>
                <a:cs typeface="游ゴシック" pitchFamily="34" charset="-120"/>
              </a:rPr>
              <a:t>「免疫抑制」から「免疫リセット」への転換</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9. まとめ</a:t>
            </a:r>
            <a:endParaRPr lang="en-US" sz="1200" dirty="0"/>
          </a:p>
        </p:txBody>
      </p:sp>
      <p:sp>
        <p:nvSpPr>
          <p:cNvPr id="4" name="Shape 2"/>
          <p:cNvSpPr/>
          <p:nvPr/>
        </p:nvSpPr>
        <p:spPr>
          <a:xfrm>
            <a:off x="365760" y="640080"/>
            <a:ext cx="8412480" cy="914400"/>
          </a:xfrm>
          <a:prstGeom prst="rect">
            <a:avLst/>
          </a:prstGeom>
          <a:solidFill>
            <a:srgbClr val="E8F4FD"/>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365760" y="640080"/>
            <a:ext cx="54864" cy="914400"/>
          </a:xfrm>
          <a:prstGeom prst="rect">
            <a:avLst/>
          </a:prstGeom>
          <a:solidFill>
            <a:srgbClr val="2C5AA0"/>
          </a:solidFill>
          <a:ln/>
        </p:spPr>
        <p:txBody>
          <a:bodyPr/>
          <a:lstStyle/>
          <a:p>
            <a:endParaRPr lang="ja-JP" altLang="en-US"/>
          </a:p>
        </p:txBody>
      </p:sp>
      <p:sp>
        <p:nvSpPr>
          <p:cNvPr id="6" name="Text 4"/>
          <p:cNvSpPr/>
          <p:nvPr/>
        </p:nvSpPr>
        <p:spPr>
          <a:xfrm>
            <a:off x="548640" y="685800"/>
            <a:ext cx="8046720" cy="822960"/>
          </a:xfrm>
          <a:prstGeom prst="rect">
            <a:avLst/>
          </a:prstGeom>
          <a:noFill/>
          <a:ln/>
        </p:spPr>
        <p:txBody>
          <a:bodyPr wrap="square" rtlCol="0" anchor="ctr"/>
          <a:lstStyle/>
          <a:p>
            <a:pPr marL="0" indent="0">
              <a:buNone/>
            </a:pPr>
            <a:r>
              <a:rPr lang="en-US" sz="2000" b="1" dirty="0">
                <a:solidFill>
                  <a:srgbClr val="1B3A5C"/>
                </a:solidFill>
                <a:latin typeface="游ゴシック" pitchFamily="34" charset="0"/>
                <a:ea typeface="游ゴシック" pitchFamily="34" charset="-122"/>
                <a:cs typeface="游ゴシック" pitchFamily="34" charset="-120"/>
              </a:rPr>
              <a:t>自己免疫CAR-Tを一言で言うと：「免疫抑制」から「免疫リセット」への転換</a:t>
            </a:r>
            <a:endParaRPr lang="en-US" sz="2000" dirty="0"/>
          </a:p>
        </p:txBody>
      </p:sp>
      <p:sp>
        <p:nvSpPr>
          <p:cNvPr id="7" name="Shape 5"/>
          <p:cNvSpPr/>
          <p:nvPr/>
        </p:nvSpPr>
        <p:spPr>
          <a:xfrm>
            <a:off x="457200" y="1783080"/>
            <a:ext cx="1371600" cy="411480"/>
          </a:xfrm>
          <a:prstGeom prst="rect">
            <a:avLst/>
          </a:prstGeom>
          <a:solidFill>
            <a:srgbClr val="2C5AA0"/>
          </a:solidFill>
          <a:ln/>
        </p:spPr>
        <p:txBody>
          <a:bodyPr/>
          <a:lstStyle/>
          <a:p>
            <a:endParaRPr lang="ja-JP" altLang="en-US"/>
          </a:p>
        </p:txBody>
      </p:sp>
      <p:sp>
        <p:nvSpPr>
          <p:cNvPr id="8" name="Text 6"/>
          <p:cNvSpPr/>
          <p:nvPr/>
        </p:nvSpPr>
        <p:spPr>
          <a:xfrm>
            <a:off x="457200" y="1783080"/>
            <a:ext cx="1371600" cy="411480"/>
          </a:xfrm>
          <a:prstGeom prst="rect">
            <a:avLst/>
          </a:prstGeom>
          <a:noFill/>
          <a:ln/>
        </p:spPr>
        <p:txBody>
          <a:bodyPr wrap="square" rtlCol="0" anchor="ctr"/>
          <a:lstStyle/>
          <a:p>
            <a:pPr marL="0" indent="0" algn="ctr">
              <a:buNone/>
            </a:pPr>
            <a:r>
              <a:rPr lang="en-US" sz="1600" b="1" dirty="0">
                <a:solidFill>
                  <a:srgbClr val="FFFFFF"/>
                </a:solidFill>
                <a:latin typeface="游ゴシック" pitchFamily="34" charset="0"/>
                <a:ea typeface="游ゴシック" pitchFamily="34" charset="-122"/>
                <a:cs typeface="游ゴシック" pitchFamily="34" charset="-120"/>
              </a:rPr>
              <a:t>MG</a:t>
            </a:r>
            <a:endParaRPr lang="en-US" sz="1600" dirty="0"/>
          </a:p>
        </p:txBody>
      </p:sp>
      <p:sp>
        <p:nvSpPr>
          <p:cNvPr id="9" name="Text 7"/>
          <p:cNvSpPr/>
          <p:nvPr/>
        </p:nvSpPr>
        <p:spPr>
          <a:xfrm>
            <a:off x="2011680" y="1783080"/>
            <a:ext cx="6675120" cy="41148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最前線。「やさしいBCMA mRNA型」と「深いCD19/BCMA型」が並走</a:t>
            </a:r>
            <a:endParaRPr lang="en-US" sz="1600" dirty="0"/>
          </a:p>
        </p:txBody>
      </p:sp>
      <p:sp>
        <p:nvSpPr>
          <p:cNvPr id="10" name="Shape 8"/>
          <p:cNvSpPr/>
          <p:nvPr/>
        </p:nvSpPr>
        <p:spPr>
          <a:xfrm>
            <a:off x="457200" y="2286000"/>
            <a:ext cx="1371600" cy="411480"/>
          </a:xfrm>
          <a:prstGeom prst="rect">
            <a:avLst/>
          </a:prstGeom>
          <a:solidFill>
            <a:srgbClr val="28A745"/>
          </a:solidFill>
          <a:ln/>
        </p:spPr>
        <p:txBody>
          <a:bodyPr/>
          <a:lstStyle/>
          <a:p>
            <a:endParaRPr lang="ja-JP" altLang="en-US"/>
          </a:p>
        </p:txBody>
      </p:sp>
      <p:sp>
        <p:nvSpPr>
          <p:cNvPr id="11" name="Text 9"/>
          <p:cNvSpPr/>
          <p:nvPr/>
        </p:nvSpPr>
        <p:spPr>
          <a:xfrm>
            <a:off x="457200" y="2286000"/>
            <a:ext cx="1371600" cy="411480"/>
          </a:xfrm>
          <a:prstGeom prst="rect">
            <a:avLst/>
          </a:prstGeom>
          <a:noFill/>
          <a:ln/>
        </p:spPr>
        <p:txBody>
          <a:bodyPr wrap="square" rtlCol="0" anchor="ctr"/>
          <a:lstStyle/>
          <a:p>
            <a:pPr marL="0" indent="0" algn="ctr">
              <a:buNone/>
            </a:pPr>
            <a:r>
              <a:rPr lang="en-US" sz="1600" b="1" dirty="0">
                <a:solidFill>
                  <a:srgbClr val="FFFFFF"/>
                </a:solidFill>
                <a:latin typeface="游ゴシック" pitchFamily="34" charset="0"/>
                <a:ea typeface="游ゴシック" pitchFamily="34" charset="-122"/>
                <a:cs typeface="游ゴシック" pitchFamily="34" charset="-120"/>
              </a:rPr>
              <a:t>NMOSD</a:t>
            </a:r>
            <a:endParaRPr lang="en-US" sz="1600" dirty="0"/>
          </a:p>
        </p:txBody>
      </p:sp>
      <p:sp>
        <p:nvSpPr>
          <p:cNvPr id="12" name="Text 10"/>
          <p:cNvSpPr/>
          <p:nvPr/>
        </p:nvSpPr>
        <p:spPr>
          <a:xfrm>
            <a:off x="2011680" y="2286000"/>
            <a:ext cx="6675120" cy="41148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生物学的に非常に相性がよい</a:t>
            </a:r>
            <a:endParaRPr lang="en-US" sz="1600" dirty="0"/>
          </a:p>
        </p:txBody>
      </p:sp>
      <p:sp>
        <p:nvSpPr>
          <p:cNvPr id="13" name="Shape 11"/>
          <p:cNvSpPr/>
          <p:nvPr/>
        </p:nvSpPr>
        <p:spPr>
          <a:xfrm>
            <a:off x="457200" y="2788920"/>
            <a:ext cx="1371600" cy="411480"/>
          </a:xfrm>
          <a:prstGeom prst="rect">
            <a:avLst/>
          </a:prstGeom>
          <a:solidFill>
            <a:srgbClr val="E8850C"/>
          </a:solidFill>
          <a:ln/>
        </p:spPr>
        <p:txBody>
          <a:bodyPr/>
          <a:lstStyle/>
          <a:p>
            <a:endParaRPr lang="ja-JP" altLang="en-US"/>
          </a:p>
        </p:txBody>
      </p:sp>
      <p:sp>
        <p:nvSpPr>
          <p:cNvPr id="14" name="Text 12"/>
          <p:cNvSpPr/>
          <p:nvPr/>
        </p:nvSpPr>
        <p:spPr>
          <a:xfrm>
            <a:off x="457200" y="2788920"/>
            <a:ext cx="1371600" cy="411480"/>
          </a:xfrm>
          <a:prstGeom prst="rect">
            <a:avLst/>
          </a:prstGeom>
          <a:noFill/>
          <a:ln/>
        </p:spPr>
        <p:txBody>
          <a:bodyPr wrap="square" rtlCol="0" anchor="ctr"/>
          <a:lstStyle/>
          <a:p>
            <a:pPr marL="0" indent="0" algn="ctr">
              <a:buNone/>
            </a:pPr>
            <a:r>
              <a:rPr lang="en-US" sz="1600" b="1" dirty="0">
                <a:solidFill>
                  <a:srgbClr val="FFFFFF"/>
                </a:solidFill>
                <a:latin typeface="游ゴシック" pitchFamily="34" charset="0"/>
                <a:ea typeface="游ゴシック" pitchFamily="34" charset="-122"/>
                <a:cs typeface="游ゴシック" pitchFamily="34" charset="-120"/>
              </a:rPr>
              <a:t>MS</a:t>
            </a:r>
            <a:endParaRPr lang="en-US" sz="1600" dirty="0"/>
          </a:p>
        </p:txBody>
      </p:sp>
      <p:sp>
        <p:nvSpPr>
          <p:cNvPr id="15" name="Text 13"/>
          <p:cNvSpPr/>
          <p:nvPr/>
        </p:nvSpPr>
        <p:spPr>
          <a:xfrm>
            <a:off x="2011680" y="2788920"/>
            <a:ext cx="6675120" cy="41148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CNSコンパートメント攻略が核心</a:t>
            </a:r>
            <a:endParaRPr lang="en-US" sz="1600" dirty="0"/>
          </a:p>
        </p:txBody>
      </p:sp>
      <p:sp>
        <p:nvSpPr>
          <p:cNvPr id="16" name="Shape 14"/>
          <p:cNvSpPr/>
          <p:nvPr/>
        </p:nvSpPr>
        <p:spPr>
          <a:xfrm>
            <a:off x="457200" y="3291840"/>
            <a:ext cx="1371600" cy="411480"/>
          </a:xfrm>
          <a:prstGeom prst="rect">
            <a:avLst/>
          </a:prstGeom>
          <a:solidFill>
            <a:srgbClr val="1B3A5C"/>
          </a:solidFill>
          <a:ln/>
        </p:spPr>
        <p:txBody>
          <a:bodyPr/>
          <a:lstStyle/>
          <a:p>
            <a:endParaRPr lang="ja-JP" altLang="en-US"/>
          </a:p>
        </p:txBody>
      </p:sp>
      <p:sp>
        <p:nvSpPr>
          <p:cNvPr id="17" name="Text 15"/>
          <p:cNvSpPr/>
          <p:nvPr/>
        </p:nvSpPr>
        <p:spPr>
          <a:xfrm>
            <a:off x="457200" y="3291840"/>
            <a:ext cx="1371600" cy="411480"/>
          </a:xfrm>
          <a:prstGeom prst="rect">
            <a:avLst/>
          </a:prstGeom>
          <a:noFill/>
          <a:ln/>
        </p:spPr>
        <p:txBody>
          <a:bodyPr wrap="square" rtlCol="0" anchor="ctr"/>
          <a:lstStyle/>
          <a:p>
            <a:pPr marL="0" indent="0" algn="ctr">
              <a:buNone/>
            </a:pPr>
            <a:r>
              <a:rPr lang="en-US" sz="1600" b="1" dirty="0">
                <a:solidFill>
                  <a:srgbClr val="FFFFFF"/>
                </a:solidFill>
                <a:latin typeface="游ゴシック" pitchFamily="34" charset="0"/>
                <a:ea typeface="游ゴシック" pitchFamily="34" charset="-122"/>
                <a:cs typeface="游ゴシック" pitchFamily="34" charset="-120"/>
              </a:rPr>
              <a:t>CIDP</a:t>
            </a:r>
            <a:endParaRPr lang="en-US" sz="1600" dirty="0"/>
          </a:p>
        </p:txBody>
      </p:sp>
      <p:sp>
        <p:nvSpPr>
          <p:cNvPr id="18" name="Text 16"/>
          <p:cNvSpPr/>
          <p:nvPr/>
        </p:nvSpPr>
        <p:spPr>
          <a:xfrm>
            <a:off x="2011680" y="3291840"/>
            <a:ext cx="6675120" cy="41148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合うサブタイプを見つける時代に</a:t>
            </a:r>
            <a:endParaRPr lang="en-US" sz="1600" dirty="0"/>
          </a:p>
        </p:txBody>
      </p:sp>
      <p:sp>
        <p:nvSpPr>
          <p:cNvPr id="19" name="Shape 17"/>
          <p:cNvSpPr/>
          <p:nvPr/>
        </p:nvSpPr>
        <p:spPr>
          <a:xfrm>
            <a:off x="457200" y="3794760"/>
            <a:ext cx="1371600" cy="411480"/>
          </a:xfrm>
          <a:prstGeom prst="rect">
            <a:avLst/>
          </a:prstGeom>
          <a:solidFill>
            <a:srgbClr val="DC3545"/>
          </a:solidFill>
          <a:ln/>
        </p:spPr>
        <p:txBody>
          <a:bodyPr/>
          <a:lstStyle/>
          <a:p>
            <a:endParaRPr lang="ja-JP" altLang="en-US"/>
          </a:p>
        </p:txBody>
      </p:sp>
      <p:sp>
        <p:nvSpPr>
          <p:cNvPr id="20" name="Text 18"/>
          <p:cNvSpPr/>
          <p:nvPr/>
        </p:nvSpPr>
        <p:spPr>
          <a:xfrm>
            <a:off x="457200" y="3794760"/>
            <a:ext cx="1371600" cy="411480"/>
          </a:xfrm>
          <a:prstGeom prst="rect">
            <a:avLst/>
          </a:prstGeom>
          <a:noFill/>
          <a:ln/>
        </p:spPr>
        <p:txBody>
          <a:bodyPr wrap="square" rtlCol="0" anchor="ctr"/>
          <a:lstStyle/>
          <a:p>
            <a:pPr marL="0" indent="0" algn="ctr">
              <a:buNone/>
            </a:pPr>
            <a:r>
              <a:rPr lang="en-US" sz="1600" b="1" dirty="0">
                <a:solidFill>
                  <a:srgbClr val="FFFFFF"/>
                </a:solidFill>
                <a:latin typeface="游ゴシック" pitchFamily="34" charset="0"/>
                <a:ea typeface="游ゴシック" pitchFamily="34" charset="-122"/>
                <a:cs typeface="游ゴシック" pitchFamily="34" charset="-120"/>
              </a:rPr>
              <a:t>GAD/脳炎</a:t>
            </a:r>
            <a:endParaRPr lang="en-US" sz="1600" dirty="0"/>
          </a:p>
        </p:txBody>
      </p:sp>
      <p:sp>
        <p:nvSpPr>
          <p:cNvPr id="21" name="Text 19"/>
          <p:cNvSpPr/>
          <p:nvPr/>
        </p:nvSpPr>
        <p:spPr>
          <a:xfrm>
            <a:off x="2011680" y="3794760"/>
            <a:ext cx="6675120" cy="411480"/>
          </a:xfrm>
          <a:prstGeom prst="rect">
            <a:avLst/>
          </a:prstGeom>
          <a:noFill/>
          <a:ln/>
        </p:spPr>
        <p:txBody>
          <a:bodyPr wrap="square" rtlCol="0" anchor="ctr"/>
          <a:lstStyle/>
          <a:p>
            <a:pPr marL="0" indent="0">
              <a:buNone/>
            </a:pPr>
            <a:r>
              <a:rPr lang="en-US" sz="1600" dirty="0">
                <a:solidFill>
                  <a:srgbClr val="333333"/>
                </a:solidFill>
                <a:latin typeface="游ゴシック" pitchFamily="34" charset="0"/>
                <a:ea typeface="游ゴシック" pitchFamily="34" charset="-122"/>
                <a:cs typeface="游ゴシック" pitchFamily="34" charset="-120"/>
              </a:rPr>
              <a:t>合う患者を見つける時代に入りつつある</a:t>
            </a:r>
            <a:endParaRPr lang="en-US" sz="1600" dirty="0"/>
          </a:p>
        </p:txBody>
      </p:sp>
      <p:sp>
        <p:nvSpPr>
          <p:cNvPr id="22" name="Shape 20"/>
          <p:cNvSpPr/>
          <p:nvPr/>
        </p:nvSpPr>
        <p:spPr>
          <a:xfrm>
            <a:off x="365760" y="4297680"/>
            <a:ext cx="8412480" cy="640080"/>
          </a:xfrm>
          <a:prstGeom prst="rect">
            <a:avLst/>
          </a:prstGeom>
          <a:solidFill>
            <a:srgbClr val="1B3A5C"/>
          </a:solidFill>
          <a:ln/>
          <a:effectLst>
            <a:outerShdw blurRad="76200" dist="25400" dir="8100000" algn="bl" rotWithShape="0">
              <a:srgbClr val="000000">
                <a:alpha val="12000"/>
              </a:srgbClr>
            </a:outerShdw>
          </a:effectLst>
        </p:spPr>
        <p:txBody>
          <a:bodyPr/>
          <a:lstStyle/>
          <a:p>
            <a:endParaRPr lang="ja-JP" altLang="en-US"/>
          </a:p>
        </p:txBody>
      </p:sp>
      <p:sp>
        <p:nvSpPr>
          <p:cNvPr id="23" name="Text 21"/>
          <p:cNvSpPr/>
          <p:nvPr/>
        </p:nvSpPr>
        <p:spPr>
          <a:xfrm>
            <a:off x="548640" y="4325112"/>
            <a:ext cx="8046720" cy="594360"/>
          </a:xfrm>
          <a:prstGeom prst="rect">
            <a:avLst/>
          </a:prstGeom>
          <a:noFill/>
          <a:ln/>
        </p:spPr>
        <p:txBody>
          <a:bodyPr wrap="square" rtlCol="0" anchor="ctr"/>
          <a:lstStyle/>
          <a:p>
            <a:pPr marL="0" indent="0">
              <a:buNone/>
            </a:pPr>
            <a:r>
              <a:rPr lang="en-US" sz="1800" b="1" dirty="0">
                <a:solidFill>
                  <a:srgbClr val="FFFFFF"/>
                </a:solidFill>
                <a:latin typeface="游ゴシック" pitchFamily="34" charset="0"/>
                <a:ea typeface="游ゴシック" pitchFamily="34" charset="-122"/>
                <a:cs typeface="游ゴシック" pitchFamily="34" charset="-120"/>
              </a:rPr>
              <a:t>CAR-Tはrituximabの強化版ではなく、病的B細胞系の深部除去という別の治療概念</a:t>
            </a:r>
            <a:endParaRPr lang="en-US" sz="1800" dirty="0"/>
          </a:p>
        </p:txBody>
      </p:sp>
      <p:sp>
        <p:nvSpPr>
          <p:cNvPr id="24" name="Text 22"/>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32 / 42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参考文献</a:t>
            </a:r>
            <a:endParaRPr lang="en-US" sz="1200" dirty="0"/>
          </a:p>
        </p:txBody>
      </p:sp>
      <p:sp>
        <p:nvSpPr>
          <p:cNvPr id="4" name="Text 2"/>
          <p:cNvSpPr/>
          <p:nvPr/>
        </p:nvSpPr>
        <p:spPr>
          <a:xfrm>
            <a:off x="457200" y="548640"/>
            <a:ext cx="8229600" cy="457200"/>
          </a:xfrm>
          <a:prstGeom prst="rect">
            <a:avLst/>
          </a:prstGeom>
          <a:noFill/>
          <a:ln/>
        </p:spPr>
        <p:txBody>
          <a:bodyPr wrap="square" lIns="0" tIns="0" rIns="0" bIns="0" rtlCol="0" anchor="ctr"/>
          <a:lstStyle/>
          <a:p>
            <a:pPr marL="0" indent="0">
              <a:buNone/>
            </a:pPr>
            <a:r>
              <a:rPr lang="en-US" sz="2400" b="1" dirty="0">
                <a:solidFill>
                  <a:srgbClr val="1B3A5C"/>
                </a:solidFill>
                <a:latin typeface="Segoe UI" pitchFamily="34" charset="0"/>
                <a:ea typeface="Segoe UI" pitchFamily="34" charset="-122"/>
                <a:cs typeface="Segoe UI" pitchFamily="34" charset="-120"/>
              </a:rPr>
              <a:t>References (1/2)</a:t>
            </a:r>
            <a:endParaRPr lang="en-US" sz="24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 Schett G, et al. Nat Rev Rheumatol. 2024;20(9):531-544.</a:t>
            </a:r>
            <a:endParaRPr lang="en-US" sz="1200" dirty="0"/>
          </a:p>
        </p:txBody>
      </p:sp>
      <p:sp>
        <p:nvSpPr>
          <p:cNvPr id="6" name="Text 4"/>
          <p:cNvSpPr/>
          <p:nvPr/>
        </p:nvSpPr>
        <p:spPr>
          <a:xfrm>
            <a:off x="457200" y="146304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[2] Mackensen A, et al. Nat Med. 2022;28(10):2124-2132.</a:t>
            </a:r>
            <a:endParaRPr lang="en-US" sz="12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[3] Müller F, et al. N Engl J Med. 2024;390(8):687-700.</a:t>
            </a:r>
            <a:endParaRPr lang="en-US" sz="1200" dirty="0"/>
          </a:p>
        </p:txBody>
      </p:sp>
      <p:sp>
        <p:nvSpPr>
          <p:cNvPr id="8" name="Text 6"/>
          <p:cNvSpPr/>
          <p:nvPr/>
        </p:nvSpPr>
        <p:spPr>
          <a:xfrm>
            <a:off x="457200" y="219456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[4] Müller F, et al. Nat Med. 2026 Jan 7. CASTLE trial.</a:t>
            </a:r>
            <a:endParaRPr lang="en-US" sz="1200" dirty="0"/>
          </a:p>
        </p:txBody>
      </p:sp>
      <p:sp>
        <p:nvSpPr>
          <p:cNvPr id="9" name="Text 7"/>
          <p:cNvSpPr/>
          <p:nvPr/>
        </p:nvSpPr>
        <p:spPr>
          <a:xfrm>
            <a:off x="457200" y="256032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[5] Tur C, et al. Ann Rheum Dis. 2025;84(1):106-114.</a:t>
            </a:r>
            <a:endParaRPr lang="en-US" sz="1200" dirty="0"/>
          </a:p>
        </p:txBody>
      </p:sp>
      <p:sp>
        <p:nvSpPr>
          <p:cNvPr id="10" name="Text 8"/>
          <p:cNvSpPr/>
          <p:nvPr/>
        </p:nvSpPr>
        <p:spPr>
          <a:xfrm>
            <a:off x="457200" y="292608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[6] Granit V, et al. Lancet Neurol. 2023;22(7):578-590.</a:t>
            </a:r>
            <a:endParaRPr lang="en-US" sz="1200" dirty="0"/>
          </a:p>
        </p:txBody>
      </p:sp>
      <p:sp>
        <p:nvSpPr>
          <p:cNvPr id="11" name="Text 9"/>
          <p:cNvSpPr/>
          <p:nvPr/>
        </p:nvSpPr>
        <p:spPr>
          <a:xfrm>
            <a:off x="457200" y="329184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[7] Chahin N, et al. Ann Clin Transl Neurol. 2025;12(11):2358-2366.</a:t>
            </a:r>
            <a:endParaRPr lang="en-US" sz="1200" dirty="0"/>
          </a:p>
        </p:txBody>
      </p:sp>
      <p:sp>
        <p:nvSpPr>
          <p:cNvPr id="12" name="Text 10"/>
          <p:cNvSpPr/>
          <p:nvPr/>
        </p:nvSpPr>
        <p:spPr>
          <a:xfrm>
            <a:off x="457200" y="365760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[8] Vu T, et al. Nat Med. 2026 Jan 9. Phase 2b trial.</a:t>
            </a:r>
            <a:endParaRPr lang="en-US" sz="1200" dirty="0"/>
          </a:p>
        </p:txBody>
      </p:sp>
      <p:sp>
        <p:nvSpPr>
          <p:cNvPr id="13" name="Text 11"/>
          <p:cNvSpPr/>
          <p:nvPr/>
        </p:nvSpPr>
        <p:spPr>
          <a:xfrm>
            <a:off x="457200" y="402336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[9] Zhang Y, et al. EClinicalMedicine. 2025;90:103621.</a:t>
            </a:r>
            <a:endParaRPr lang="en-US" sz="1200" dirty="0"/>
          </a:p>
        </p:txBody>
      </p:sp>
      <p:sp>
        <p:nvSpPr>
          <p:cNvPr id="14" name="Text 12"/>
          <p:cNvSpPr/>
          <p:nvPr/>
        </p:nvSpPr>
        <p:spPr>
          <a:xfrm>
            <a:off x="457200" y="438912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[10] Qin C, et al. Signal Transduct Target Ther. 2023;8(1):5.</a:t>
            </a:r>
            <a:endParaRPr lang="en-US" sz="1200" dirty="0"/>
          </a:p>
        </p:txBody>
      </p:sp>
      <p:sp>
        <p:nvSpPr>
          <p:cNvPr id="15" name="Text 1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33 / 42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3A5C"/>
          </a:solidFill>
          <a:ln/>
        </p:spPr>
        <p:txBody>
          <a:bodyPr/>
          <a:lstStyle/>
          <a:p>
            <a:endParaRPr lang="ja-JP" altLang="en-US"/>
          </a:p>
        </p:txBody>
      </p:sp>
      <p:sp>
        <p:nvSpPr>
          <p:cNvPr id="3" name="Text 1"/>
          <p:cNvSpPr/>
          <p:nvPr/>
        </p:nvSpPr>
        <p:spPr>
          <a:xfrm>
            <a:off x="365760" y="18288"/>
            <a:ext cx="8229600" cy="365760"/>
          </a:xfrm>
          <a:prstGeom prst="rect">
            <a:avLst/>
          </a:prstGeom>
          <a:noFill/>
          <a:ln/>
        </p:spPr>
        <p:txBody>
          <a:bodyPr wrap="square" lIns="0" tIns="0" rIns="0" bIns="0" rtlCol="0" anchor="ctr"/>
          <a:lstStyle/>
          <a:p>
            <a:pPr marL="0" indent="0">
              <a:buNone/>
            </a:pPr>
            <a:r>
              <a:rPr lang="en-US" sz="1200" b="1" dirty="0">
                <a:solidFill>
                  <a:srgbClr val="FFFFFF"/>
                </a:solidFill>
                <a:latin typeface="游ゴシック" pitchFamily="34" charset="0"/>
                <a:ea typeface="游ゴシック" pitchFamily="34" charset="-122"/>
                <a:cs typeface="游ゴシック" pitchFamily="34" charset="-120"/>
              </a:rPr>
              <a:t>参考文献</a:t>
            </a:r>
            <a:endParaRPr lang="en-US" sz="1200" dirty="0"/>
          </a:p>
        </p:txBody>
      </p:sp>
      <p:sp>
        <p:nvSpPr>
          <p:cNvPr id="4" name="Text 2"/>
          <p:cNvSpPr/>
          <p:nvPr/>
        </p:nvSpPr>
        <p:spPr>
          <a:xfrm>
            <a:off x="457200" y="548640"/>
            <a:ext cx="8229600" cy="457200"/>
          </a:xfrm>
          <a:prstGeom prst="rect">
            <a:avLst/>
          </a:prstGeom>
          <a:noFill/>
          <a:ln/>
        </p:spPr>
        <p:txBody>
          <a:bodyPr wrap="square" lIns="0" tIns="0" rIns="0" bIns="0" rtlCol="0" anchor="ctr"/>
          <a:lstStyle/>
          <a:p>
            <a:pPr marL="0" indent="0">
              <a:buNone/>
            </a:pPr>
            <a:r>
              <a:rPr lang="en-US" sz="2400" b="1" dirty="0">
                <a:solidFill>
                  <a:srgbClr val="1B3A5C"/>
                </a:solidFill>
                <a:latin typeface="Segoe UI" pitchFamily="34" charset="0"/>
                <a:ea typeface="Segoe UI" pitchFamily="34" charset="-122"/>
                <a:cs typeface="Segoe UI" pitchFamily="34" charset="-120"/>
              </a:rPr>
              <a:t>References (2/2)</a:t>
            </a:r>
            <a:endParaRPr lang="en-US" sz="24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[11] Fischbach F, et al. Med. 2024;5(6):550-558.e2.</a:t>
            </a:r>
            <a:endParaRPr lang="en-US" sz="1200" dirty="0"/>
          </a:p>
        </p:txBody>
      </p:sp>
      <p:sp>
        <p:nvSpPr>
          <p:cNvPr id="6" name="Text 4"/>
          <p:cNvSpPr/>
          <p:nvPr/>
        </p:nvSpPr>
        <p:spPr>
          <a:xfrm>
            <a:off x="457200" y="146304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[12] Dong MH, et al. Med. 2025;6(9):100704.</a:t>
            </a:r>
            <a:endParaRPr lang="en-US" sz="12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[13] Faissner S, et al. Proc Natl Acad Sci USA. 2024;121(26):e2403227121.</a:t>
            </a:r>
            <a:endParaRPr lang="en-US" sz="1200" dirty="0"/>
          </a:p>
        </p:txBody>
      </p:sp>
      <p:sp>
        <p:nvSpPr>
          <p:cNvPr id="8" name="Text 6"/>
          <p:cNvSpPr/>
          <p:nvPr/>
        </p:nvSpPr>
        <p:spPr>
          <a:xfrm>
            <a:off x="457200" y="219456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[14] Hegelmaier T, et al. Med. 2025;6(9):100776.</a:t>
            </a:r>
            <a:endParaRPr lang="en-US" sz="1200" dirty="0"/>
          </a:p>
        </p:txBody>
      </p:sp>
      <p:sp>
        <p:nvSpPr>
          <p:cNvPr id="9" name="Text 7"/>
          <p:cNvSpPr/>
          <p:nvPr/>
        </p:nvSpPr>
        <p:spPr>
          <a:xfrm>
            <a:off x="457200" y="256032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[15] Vaisvilas M, et al. Front Immunol. 2026;17:1755797.</a:t>
            </a:r>
            <a:endParaRPr lang="en-US" sz="1200" dirty="0"/>
          </a:p>
        </p:txBody>
      </p:sp>
      <p:sp>
        <p:nvSpPr>
          <p:cNvPr id="10" name="Text 8"/>
          <p:cNvSpPr/>
          <p:nvPr/>
        </p:nvSpPr>
        <p:spPr>
          <a:xfrm>
            <a:off x="457200" y="292608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[16] Oh S, et al. Nat Biotechnol. 2023;41(9):1229-1238.</a:t>
            </a:r>
            <a:endParaRPr lang="en-US" sz="1200" dirty="0"/>
          </a:p>
        </p:txBody>
      </p:sp>
      <p:sp>
        <p:nvSpPr>
          <p:cNvPr id="11" name="Text 9"/>
          <p:cNvSpPr/>
          <p:nvPr/>
        </p:nvSpPr>
        <p:spPr>
          <a:xfrm>
            <a:off x="457200" y="329184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[17] Momsen Reincke S, et al. Cell. 2023;186(23):5084-5097.e18.</a:t>
            </a:r>
            <a:endParaRPr lang="en-US" sz="1200" dirty="0"/>
          </a:p>
        </p:txBody>
      </p:sp>
      <p:sp>
        <p:nvSpPr>
          <p:cNvPr id="12" name="Text 10"/>
          <p:cNvSpPr/>
          <p:nvPr/>
        </p:nvSpPr>
        <p:spPr>
          <a:xfrm>
            <a:off x="457200" y="365760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[18] Hagen M, et al. Lancet Rheumatol. 2025;7(6):e424-e433.</a:t>
            </a:r>
            <a:endParaRPr lang="en-US" sz="1200" dirty="0"/>
          </a:p>
        </p:txBody>
      </p:sp>
      <p:sp>
        <p:nvSpPr>
          <p:cNvPr id="13" name="Text 11"/>
          <p:cNvSpPr/>
          <p:nvPr/>
        </p:nvSpPr>
        <p:spPr>
          <a:xfrm>
            <a:off x="457200" y="402336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[19] Wang X, et al. Cell. 2024;187(18):4890-4904.e9.</a:t>
            </a:r>
            <a:endParaRPr lang="en-US" sz="1200" dirty="0"/>
          </a:p>
        </p:txBody>
      </p:sp>
      <p:sp>
        <p:nvSpPr>
          <p:cNvPr id="14" name="Text 12"/>
          <p:cNvSpPr/>
          <p:nvPr/>
        </p:nvSpPr>
        <p:spPr>
          <a:xfrm>
            <a:off x="457200" y="4389120"/>
            <a:ext cx="8229600" cy="320040"/>
          </a:xfrm>
          <a:prstGeom prst="rect">
            <a:avLst/>
          </a:prstGeom>
          <a:noFill/>
          <a:ln/>
        </p:spPr>
        <p:txBody>
          <a:bodyPr wrap="square" rtlCol="0" anchor="ctr"/>
          <a:lstStyle/>
          <a:p>
            <a:pPr marL="0" indent="0">
              <a:buNone/>
            </a:pPr>
            <a:r>
              <a:rPr lang="en-US" sz="1200" dirty="0">
                <a:solidFill>
                  <a:srgbClr val="333333"/>
                </a:solidFill>
                <a:latin typeface="Segoe UI" pitchFamily="34" charset="0"/>
                <a:ea typeface="Segoe UI" pitchFamily="34" charset="-122"/>
                <a:cs typeface="Segoe UI" pitchFamily="34" charset="-120"/>
              </a:rPr>
              <a:t>[20] Wang D, et al. Med. 2025;6(10):100749.</a:t>
            </a:r>
            <a:endParaRPr lang="en-US" sz="1200" dirty="0"/>
          </a:p>
        </p:txBody>
      </p:sp>
      <p:sp>
        <p:nvSpPr>
          <p:cNvPr id="15" name="Text 13"/>
          <p:cNvSpPr/>
          <p:nvPr/>
        </p:nvSpPr>
        <p:spPr>
          <a:xfrm>
            <a:off x="7772400" y="4754880"/>
            <a:ext cx="1097280" cy="274320"/>
          </a:xfrm>
          <a:prstGeom prst="rect">
            <a:avLst/>
          </a:prstGeom>
          <a:noFill/>
          <a:ln/>
        </p:spPr>
        <p:txBody>
          <a:bodyPr wrap="square" rtlCol="0" anchor="ctr"/>
          <a:lstStyle/>
          <a:p>
            <a:pPr marL="0" indent="0" algn="r">
              <a:buNone/>
            </a:pPr>
            <a:r>
              <a:rPr lang="en-US" sz="1000" dirty="0">
                <a:solidFill>
                  <a:srgbClr val="999999"/>
                </a:solidFill>
                <a:latin typeface="Segoe UI" pitchFamily="34" charset="0"/>
                <a:ea typeface="Segoe UI" pitchFamily="34" charset="-122"/>
                <a:cs typeface="Segoe UI" pitchFamily="34" charset="-120"/>
              </a:rPr>
              <a:t>34 / 42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AA0"/>
          </a:solidFill>
          <a:ln/>
        </p:spPr>
        <p:txBody>
          <a:bodyPr/>
          <a:lstStyle/>
          <a:p>
            <a:endParaRPr lang="ja-JP" altLang="en-US"/>
          </a:p>
        </p:txBody>
      </p:sp>
      <p:sp>
        <p:nvSpPr>
          <p:cNvPr id="3" name="Text 1"/>
          <p:cNvSpPr/>
          <p:nvPr/>
        </p:nvSpPr>
        <p:spPr>
          <a:xfrm>
            <a:off x="731520" y="1371600"/>
            <a:ext cx="7680960" cy="914400"/>
          </a:xfrm>
          <a:prstGeom prst="rect">
            <a:avLst/>
          </a:prstGeom>
          <a:noFill/>
          <a:ln/>
        </p:spPr>
        <p:txBody>
          <a:bodyPr wrap="square" rtlCol="0" anchor="ctr"/>
          <a:lstStyle/>
          <a:p>
            <a:pPr marL="0" indent="0" algn="ctr">
              <a:buNone/>
            </a:pPr>
            <a:r>
              <a:rPr lang="en-US" sz="3600" b="1" dirty="0">
                <a:solidFill>
                  <a:srgbClr val="FFFFFF"/>
                </a:solidFill>
                <a:latin typeface="游ゴシック" pitchFamily="34" charset="0"/>
                <a:ea typeface="游ゴシック" pitchFamily="34" charset="-122"/>
                <a:cs typeface="游ゴシック" pitchFamily="34" charset="-120"/>
              </a:rPr>
              <a:t>ご視聴ありがとうございました</a:t>
            </a:r>
            <a:endParaRPr lang="en-US" sz="3600" dirty="0"/>
          </a:p>
        </p:txBody>
      </p:sp>
      <p:sp>
        <p:nvSpPr>
          <p:cNvPr id="4" name="Text 2"/>
          <p:cNvSpPr/>
          <p:nvPr/>
        </p:nvSpPr>
        <p:spPr>
          <a:xfrm>
            <a:off x="731520" y="2377440"/>
            <a:ext cx="7680960" cy="457200"/>
          </a:xfrm>
          <a:prstGeom prst="rect">
            <a:avLst/>
          </a:prstGeom>
          <a:noFill/>
          <a:ln/>
        </p:spPr>
        <p:txBody>
          <a:bodyPr wrap="square" rtlCol="0" anchor="ctr"/>
          <a:lstStyle/>
          <a:p>
            <a:pPr marL="0" indent="0" algn="ctr">
              <a:buNone/>
            </a:pPr>
            <a:r>
              <a:rPr lang="en-US" sz="2000" dirty="0">
                <a:solidFill>
                  <a:srgbClr val="CADCFC"/>
                </a:solidFill>
                <a:latin typeface="游ゴシック" pitchFamily="34" charset="0"/>
                <a:ea typeface="游ゴシック" pitchFamily="34" charset="-122"/>
                <a:cs typeface="游ゴシック" pitchFamily="34" charset="-120"/>
              </a:rPr>
              <a:t>自己免疫疾患CAR-Tの全体像</a:t>
            </a:r>
            <a:endParaRPr lang="en-US" sz="2000" dirty="0"/>
          </a:p>
        </p:txBody>
      </p:sp>
      <p:sp>
        <p:nvSpPr>
          <p:cNvPr id="5" name="Shape 3"/>
          <p:cNvSpPr/>
          <p:nvPr/>
        </p:nvSpPr>
        <p:spPr>
          <a:xfrm>
            <a:off x="2743200" y="3017520"/>
            <a:ext cx="3657600" cy="27432"/>
          </a:xfrm>
          <a:prstGeom prst="rect">
            <a:avLst/>
          </a:prstGeom>
          <a:solidFill>
            <a:srgbClr val="2C5AA0"/>
          </a:solidFill>
          <a:ln/>
        </p:spPr>
        <p:txBody>
          <a:bodyPr/>
          <a:lstStyle/>
          <a:p>
            <a:endParaRPr lang="ja-JP" altLang="en-US"/>
          </a:p>
        </p:txBody>
      </p:sp>
      <p:sp>
        <p:nvSpPr>
          <p:cNvPr id="6" name="Text 4"/>
          <p:cNvSpPr/>
          <p:nvPr/>
        </p:nvSpPr>
        <p:spPr>
          <a:xfrm>
            <a:off x="731520" y="3291840"/>
            <a:ext cx="7680960" cy="457200"/>
          </a:xfrm>
          <a:prstGeom prst="rect">
            <a:avLst/>
          </a:prstGeom>
          <a:noFill/>
          <a:ln/>
        </p:spPr>
        <p:txBody>
          <a:bodyPr wrap="square" rtlCol="0" anchor="ctr"/>
          <a:lstStyle/>
          <a:p>
            <a:pPr marL="0" indent="0" algn="ctr">
              <a:buNone/>
            </a:pPr>
            <a:r>
              <a:rPr lang="en-US" sz="2000" dirty="0">
                <a:solidFill>
                  <a:srgbClr val="8899BB"/>
                </a:solidFill>
                <a:latin typeface="游ゴシック" pitchFamily="34" charset="0"/>
                <a:ea typeface="游ゴシック" pitchFamily="34" charset="-122"/>
                <a:cs typeface="游ゴシック" pitchFamily="34" charset="-120"/>
              </a:rPr>
              <a:t>医知創造ラボ</a:t>
            </a:r>
            <a:endParaRPr lang="en-US" sz="2000" dirty="0"/>
          </a:p>
        </p:txBody>
      </p:sp>
      <p:sp>
        <p:nvSpPr>
          <p:cNvPr id="7" name="Text 5"/>
          <p:cNvSpPr/>
          <p:nvPr/>
        </p:nvSpPr>
        <p:spPr>
          <a:xfrm>
            <a:off x="731520" y="3840480"/>
            <a:ext cx="7680960" cy="365760"/>
          </a:xfrm>
          <a:prstGeom prst="rect">
            <a:avLst/>
          </a:prstGeom>
          <a:noFill/>
          <a:ln/>
        </p:spPr>
        <p:txBody>
          <a:bodyPr wrap="square" rtlCol="0" anchor="ctr"/>
          <a:lstStyle/>
          <a:p>
            <a:pPr marL="0" indent="0" algn="ctr">
              <a:buNone/>
            </a:pPr>
            <a:r>
              <a:rPr lang="en-US" sz="1600" dirty="0">
                <a:solidFill>
                  <a:srgbClr val="667799"/>
                </a:solidFill>
                <a:latin typeface="游ゴシック" pitchFamily="34" charset="0"/>
                <a:ea typeface="游ゴシック" pitchFamily="34" charset="-122"/>
                <a:cs typeface="游ゴシック" pitchFamily="34" charset="-120"/>
              </a:rPr>
              <a:t>チャンネル登録・高評価よろしくお願いします</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1957</Words>
  <Application>Microsoft Office PowerPoint</Application>
  <PresentationFormat>画面に合わせる (16:9)</PresentationFormat>
  <Paragraphs>540</Paragraphs>
  <Slides>35</Slides>
  <Notes>35</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35</vt:i4>
      </vt:variant>
    </vt:vector>
  </HeadingPairs>
  <TitlesOfParts>
    <vt:vector size="39" baseType="lpstr">
      <vt:lpstr>游ゴシック</vt:lpstr>
      <vt:lpstr>Arial</vt:lpstr>
      <vt:lpstr>Segoe UI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自己免疫疾患CAR-Tの全体像</dc:title>
  <dc:subject>PptxGenJS Presentation</dc:subject>
  <dc:creator>医知創造ラボ</dc:creator>
  <cp:lastModifiedBy>久司 今村</cp:lastModifiedBy>
  <cp:revision>1</cp:revision>
  <dcterms:created xsi:type="dcterms:W3CDTF">2026-03-12T02:42:59Z</dcterms:created>
  <dcterms:modified xsi:type="dcterms:W3CDTF">2026-03-12T03:51:02Z</dcterms:modified>
</cp:coreProperties>
</file>