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前庭神経炎の鑑別診断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― 脳卒中を見逃さないためのアプローチ ―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0" y="292608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Barany Society 2022 分類 / GRACE-3 ガイドライン準拠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前庭神経炎とは ― 疾患概念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AUVP（Acute Unilateral Vestibulopathy）</a:t>
            </a:r>
            <a:endParaRPr lang="en-US" sz="22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急性一側前庭障害  ≒ 前庭神経炎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926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34747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急性に生じた一側の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末梢前庭機能低下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による持続性めまい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91840" y="283464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2926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29000" y="34747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急性の中枢神経症状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がないこと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283464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2926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63640" y="34747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急性の聴覚症状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がないこと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病態と原因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3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病態は十分には解明されていない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97280" y="2103120"/>
            <a:ext cx="274320" cy="6400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2103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ウイルス関連炎症説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0" y="21031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感染後の炎症反応を支持するレビューあり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2926080"/>
            <a:ext cx="274320" cy="6400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2926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血管性機序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2926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前庭神経への血流障害が提案されている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7280" y="3749040"/>
            <a:ext cx="274320" cy="6400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0" y="3749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免疫学的機序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3749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自己免疫的プロセスの関与も指摘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単一の病因では説明できず、複数の機序が関与する可能性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症状の特徴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54864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典型的な症状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持続性の強いめまい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（24時間以上持続）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・ふらつき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・悪心・嘔吐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・頭部回旋時の増悪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・Oscillopsia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（物が揺れて見える）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典型的でない症状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以下は前庭神経炎に合わない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・急性の難聴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・耳鳴り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・耳閉感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診断を立て直す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診察：前庭神経炎に合う所見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731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45920" y="128016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方向固定性の水平回旋混合性自発眼振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視固定を外すと増強する（Frenzel眼鏡下で確認）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108960"/>
            <a:ext cx="731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45920" y="320040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一側のVOR（前庭眼反射）低下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Impulse Testで評価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患側に素早く頭部回旋 → catch-up saccade 出現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中枢性めまいを疑う所見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Skew deviation（垂直性の眼位ずれ）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76809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注視方向で変わる眼振（gaze-evoked nystagmus）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7680960" cy="59436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603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5603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垂直眼振 / 純回旋性眼振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76809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918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2918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強い体幹失調 / 歩行不能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7680960" cy="59436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233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40233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明らかな神経巣症状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Head Impulse Test 単独では脳卒中を除外できない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HINTSの位置づけと注意点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ead-Impulse  /  </a:t>
            </a:r>
            <a:pPr algn="ctr" indent="0" marL="0">
              <a:buNone/>
            </a:pPr>
            <a:r>
              <a:rPr lang="en-US" sz="2400" b="1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ctr"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ystagmus  /  </a:t>
            </a:r>
            <a:pPr algn="ctr" indent="0" marL="0">
              <a:buNone/>
            </a:pPr>
            <a:r>
              <a:rPr lang="en-US" sz="2400" b="1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ctr"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 of </a:t>
            </a:r>
            <a:pPr algn="ctr" indent="0" marL="0">
              <a:buNone/>
            </a:pPr>
            <a:r>
              <a:rPr lang="en-US" sz="2400" b="1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algn="ctr"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468880"/>
            <a:ext cx="3931920" cy="4572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468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適用条件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・自発眼振を伴う持続性AVS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・訓練された診察者が実施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24688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468880"/>
            <a:ext cx="3931920" cy="4572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468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適用外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3017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・頭位誘発性のめまい（BPPV）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・反復発作性のめまい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114800"/>
            <a:ext cx="137160" cy="9144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14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GRACE-3 (2023): 訓練なしの救急現場でroutineに行われるHINTSは不正確であり、standard of careとは言えない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鑑別診断 ― 主要5疾患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82880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疾患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164592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051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性状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31920" y="1051560"/>
            <a:ext cx="146304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1051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持続時間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94960" y="1051560"/>
            <a:ext cx="329184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5394960" y="1051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鑑別のポイント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1828800" cy="566928"/>
          </a:xfrm>
          <a:prstGeom prst="rect">
            <a:avLst/>
          </a:prstGeom>
          <a:solidFill>
            <a:srgbClr val="E8F0FE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5087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前庭神経炎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0" y="1508760"/>
            <a:ext cx="1645920" cy="566928"/>
          </a:xfrm>
          <a:prstGeom prst="rect">
            <a:avLst/>
          </a:prstGeom>
          <a:solidFill>
            <a:srgbClr val="E8F0FE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15087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持続性・自発性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31920" y="1508760"/>
            <a:ext cx="1463040" cy="566928"/>
          </a:xfrm>
          <a:prstGeom prst="rect">
            <a:avLst/>
          </a:prstGeom>
          <a:solidFill>
            <a:srgbClr val="E8F0FE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15087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24時間以上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94960" y="1508760"/>
            <a:ext cx="3291840" cy="566928"/>
          </a:xfrm>
          <a:prstGeom prst="rect">
            <a:avLst/>
          </a:prstGeom>
          <a:solidFill>
            <a:srgbClr val="E8F0FE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15087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一側VOR低下、聴覚症状なし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075688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07568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BPPV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0" y="2075688"/>
            <a:ext cx="1645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207568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頭位変換誘発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931920" y="2075688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0" y="207568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数秒～1分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94960" y="2075688"/>
            <a:ext cx="3291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207568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Dix-Hallpike陽性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2642616"/>
            <a:ext cx="1828800" cy="566928"/>
          </a:xfrm>
          <a:prstGeom prst="rect">
            <a:avLst/>
          </a:prstGeom>
          <a:solidFill>
            <a:srgbClr val="E8F0FE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64261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メニエール病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86000" y="2642616"/>
            <a:ext cx="1645920" cy="566928"/>
          </a:xfrm>
          <a:prstGeom prst="rect">
            <a:avLst/>
          </a:prstGeom>
          <a:solidFill>
            <a:srgbClr val="E8F0FE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264261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反復発作性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931920" y="2642616"/>
            <a:ext cx="1463040" cy="566928"/>
          </a:xfrm>
          <a:prstGeom prst="rect">
            <a:avLst/>
          </a:prstGeom>
          <a:solidFill>
            <a:srgbClr val="E8F0FE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0" y="264261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20分～12時間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394960" y="2642616"/>
            <a:ext cx="3291840" cy="566928"/>
          </a:xfrm>
          <a:prstGeom prst="rect">
            <a:avLst/>
          </a:prstGeom>
          <a:solidFill>
            <a:srgbClr val="E8F0FE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264261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変動性聴覚症状を伴う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3209544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20954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前庭性片頭痛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286000" y="3209544"/>
            <a:ext cx="1645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0" y="320954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反復性・多彩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931920" y="3209544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0" y="320954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5分～72時間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394960" y="3209544"/>
            <a:ext cx="3291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0" y="320954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片頭痛の病歴・症状関連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3776472"/>
            <a:ext cx="1828800" cy="566928"/>
          </a:xfrm>
          <a:prstGeom prst="rect">
            <a:avLst/>
          </a:prstGeom>
          <a:solidFill>
            <a:srgbClr val="FFF0F0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377647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脳幹・小脳梗塞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286000" y="3776472"/>
            <a:ext cx="1645920" cy="566928"/>
          </a:xfrm>
          <a:prstGeom prst="rect">
            <a:avLst/>
          </a:prstGeom>
          <a:solidFill>
            <a:srgbClr val="FFF0F0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77440" y="377647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持続性・急性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931920" y="3776472"/>
            <a:ext cx="1463040" cy="566928"/>
          </a:xfrm>
          <a:prstGeom prst="rect">
            <a:avLst/>
          </a:prstGeom>
          <a:solidFill>
            <a:srgbClr val="FFF0F0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23360" y="377647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持続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394960" y="3776472"/>
            <a:ext cx="3291840" cy="566928"/>
          </a:xfrm>
          <a:prstGeom prst="rect">
            <a:avLst/>
          </a:prstGeom>
          <a:solidFill>
            <a:srgbClr val="FFF0F0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0" y="37764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中枢性眼振、skew、失調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53" name="Text 51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最重要の鑑別 = 脳幹・小脳梗塞（片麻痺や構音障害がなくても安心できない）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検査の進め方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持続性の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急性前庭症候群か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143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29000" y="1554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一側VOR低下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を示せるか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143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63640" y="1554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聴覚症状や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中枢所見がないか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画像検査の位置づけ（GRACE-3）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3474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AVSでのbrain CTは勧めない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85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△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3977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HINTSに熟練した診察者がいればroutine MRIはfirst-lineにしない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63040" y="44805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HINTSが中枢性/判定不能 → MRIをconfirmatory testに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治療：急性期の支持療法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悪心・嘔吐の軽減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143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29000" y="1554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脱水予防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143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63640" y="1554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離床のきっかけを作る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82296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制吐薬・前庭抑制薬の使い方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291840"/>
            <a:ext cx="3474720" cy="1371600"/>
          </a:xfrm>
          <a:prstGeom prst="rect">
            <a:avLst/>
          </a:prstGeom>
          <a:solidFill>
            <a:srgbClr val="E8FFE8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383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初期数日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症状緩和に有用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06240" y="347472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4754880" y="3291840"/>
            <a:ext cx="3474720" cy="137160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383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長期使用は避ける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中枢代償を妨げる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可能性あり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ステロイドの位置づけ ― エビデンスの変遷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051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Strupp (NEJM)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0" y="1051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methylprednisolone RCT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P&lt;0.001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18872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28A745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188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有意に改善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011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Leong (SR/MA)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011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短期改善示唆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長期根拠不十分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214884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E8850C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限定的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2971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29718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Bogdanova (MA)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2971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一定の利益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研究の質に問題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310896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E8850C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108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慎重な解釈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3931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3931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Sjogren (RCT)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74720" y="3931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プラセボ対照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二重盲検 N=69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0" y="406908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DC3545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有意差なし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572000"/>
            <a:ext cx="137160" cy="4572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GRACE-3:「短期ステロイドを考慮してよい」＝ 全例標準投与ではない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前庭リハビリテーション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E8FFE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比較的しっかりしたエビデンスがある治療</a:t>
            </a:r>
            <a:endParaRPr lang="en-US" sz="20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Cochrane 2015 + メタ解析 2024 で有効性支持</a:t>
            </a:r>
            <a:endParaRPr lang="en-US" sz="20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リハビリ + ステロイド併用 &gt; ステロイド単独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solidFill>
            <a:srgbClr val="FFF0F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743200"/>
            <a:ext cx="3931920" cy="4572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NG：安静を長引かせる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安静 → 代償遅延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前庭抑制薬の長期使用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回復が遅れる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2743200"/>
            <a:ext cx="3931920" cy="2194560"/>
          </a:xfrm>
          <a:prstGeom prst="rect">
            <a:avLst/>
          </a:prstGeom>
          <a:solidFill>
            <a:srgbClr val="E8FFE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743200"/>
            <a:ext cx="3931920" cy="4572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743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OK：安全に動かして代償促進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32918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嘔吐が落ち着いたら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抑制薬を切り上げ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運動療法へ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予後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急性期の回転感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時間とともに軽減していくことが多い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しかし一部の患者では…</a:t>
            </a:r>
            <a:endParaRPr lang="en-US" sz="2000" dirty="0"/>
          </a:p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・慢性の浮動感が残存</a:t>
            </a:r>
            <a:endParaRPr lang="en-US" sz="2000" dirty="0"/>
          </a:p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・Visual dependence（視覚依存性めまい）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長期予後は末梢障害の程度だけでは説明できない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中枢代償側の因子（anxiety等）が関与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経過が非典型なら鑑別のやり直しが必要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見逃してはいけない所見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0F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457200" cy="6400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注視方向で変わる眼振 / 垂直眼振 / 純回旋性眼振 / skew deviation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01368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01368"/>
            <a:ext cx="457200" cy="6400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0136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80136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強い体幹失調 / 歩行不能 / 明らかな神経巣症状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551176"/>
            <a:ext cx="8229600" cy="640080"/>
          </a:xfrm>
          <a:prstGeom prst="rect">
            <a:avLst/>
          </a:prstGeom>
          <a:solidFill>
            <a:srgbClr val="FFF0F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51176"/>
            <a:ext cx="457200" cy="6400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5117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255117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急性の難聴 / 耳鳴り / 耳閉感を伴う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300984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300984"/>
            <a:ext cx="457200" cy="6400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30098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30098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HINTSが中枢性 or 判定不能 / 適切な訓練がない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050792"/>
            <a:ext cx="8229600" cy="640080"/>
          </a:xfrm>
          <a:prstGeom prst="rect">
            <a:avLst/>
          </a:prstGeom>
          <a:solidFill>
            <a:srgbClr val="FFF0F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050792"/>
            <a:ext cx="457200" cy="6400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05079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7280" y="40507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MRIが早期陰性でも臨床的に疑わしい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「画像が陰性だから末梢性」と短絡しない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実地診療での要点（Take-Home Message）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0" cy="6858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0058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前庭神経炎は臨床診断 → 最優先は脳卒中除外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10512"/>
            <a:ext cx="548640" cy="6858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10512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181051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難聴・skew・垂直眼振・歩行不能は典型VNから外れる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15184"/>
            <a:ext cx="548640" cy="6858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15184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2615184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HINTSは「持続性AVS ＋ 訓練された診察者」が条件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3419856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19856"/>
            <a:ext cx="548640" cy="6858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19856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419856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CT陰性≠stroke除外、早期MRI陰性でも安心しない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57200" y="4224528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224528"/>
            <a:ext cx="548640" cy="6858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224528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88720" y="422452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治療の柱 = 支持療法 ＋ 前庭リハビリ（ステロイドは個別判断）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ご視聴ありがとうございました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前庭神経炎の鑑別診断 ― 脳卒中を見逃さないためのアプローチ</dc:title>
  <dc:subject>PptxGenJS Presentation</dc:subject>
  <dc:creator>今村久司</dc:creator>
  <cp:lastModifiedBy>今村久司</cp:lastModifiedBy>
  <cp:revision>1</cp:revision>
  <dcterms:created xsi:type="dcterms:W3CDTF">2026-03-24T03:40:19Z</dcterms:created>
  <dcterms:modified xsi:type="dcterms:W3CDTF">2026-03-24T03:40:19Z</dcterms:modified>
</cp:coreProperties>
</file>