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3A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E8850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E8850C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914400"/>
            <a:ext cx="8046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ビタミンB12欠乏症【後編】</a:t>
            </a:r>
            <a:endParaRPr lang="en-US" sz="3800" dirty="0"/>
          </a:p>
        </p:txBody>
      </p:sp>
      <p:sp>
        <p:nvSpPr>
          <p:cNvPr id="5" name="Shape 3"/>
          <p:cNvSpPr/>
          <p:nvPr/>
        </p:nvSpPr>
        <p:spPr>
          <a:xfrm>
            <a:off x="2286000" y="2286000"/>
            <a:ext cx="4572000" cy="0"/>
          </a:xfrm>
          <a:prstGeom prst="line">
            <a:avLst/>
          </a:prstGeom>
          <a:noFill/>
          <a:ln w="25400">
            <a:solidFill>
              <a:srgbClr val="E8850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256032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E8850C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治療・フォローアップ・特殊集団のマネジメント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548640" y="347472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B0BEC5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早期治療が予後を決める ― 原因別の長期戦略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2C5AA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経口・舌下・筋注に有意差なし（2025メタアナリシス）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8229600" cy="1463040"/>
          </a:xfrm>
          <a:prstGeom prst="rect">
            <a:avLst>
              <a:gd name="adj" fmla="val 6250"/>
            </a:avLst>
          </a:prstGeom>
          <a:solidFill>
            <a:srgbClr val="E8F4FD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31520" y="1188720"/>
            <a:ext cx="7680960" cy="1280160"/>
          </a:xfrm>
          <a:prstGeom prst="rect">
            <a:avLst/>
          </a:prstGeom>
          <a:noFill/>
          <a:ln/>
        </p:spPr>
        <p:txBody>
          <a:bodyPr wrap="square" lIns="101600" tIns="152400" rIns="152400" bIns="10160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16研究・6,098名の解析結果
</a:t>
            </a:r>
            <a:pPr indent="0" marL="0">
              <a:buNone/>
            </a:pPr>
            <a:r>
              <a:rPr lang="en-US" sz="1600" dirty="0">
                <a:solidFill>
                  <a:srgbClr val="636E72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血清B12上昇: </a:t>
            </a:r>
            <a:pPr indent="0" marL="0">
              <a:buNone/>
            </a:pPr>
            <a:r>
              <a:rPr lang="en-US" sz="1600" b="1" dirty="0">
                <a:solidFill>
                  <a:srgbClr val="2C5AA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+402.6 pg/mL</a:t>
            </a:r>
            <a:pPr indent="0" marL="0">
              <a:buNone/>
            </a:pPr>
            <a:r>
              <a:rPr lang="en-US" sz="1600" dirty="0">
                <a:solidFill>
                  <a:srgbClr val="636E72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　ホモシステイン低下: </a:t>
            </a:r>
            <a:pPr indent="0" marL="0">
              <a:buNone/>
            </a:pPr>
            <a:r>
              <a:rPr lang="en-US" sz="1600" b="1" dirty="0">
                <a:solidFill>
                  <a:srgbClr val="2C5AA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-4.83 μmol/L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457200" y="2834640"/>
            <a:ext cx="2651760" cy="2011680"/>
          </a:xfrm>
          <a:prstGeom prst="rect">
            <a:avLst>
              <a:gd name="adj" fmla="val 454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2834640"/>
            <a:ext cx="109728" cy="2011680"/>
          </a:xfrm>
          <a:prstGeom prst="rect">
            <a:avLst>
              <a:gd name="adj" fmla="val 41667"/>
            </a:avLst>
          </a:prstGeom>
          <a:solidFill>
            <a:srgbClr val="DC3545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292608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DC3545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筋注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640080" y="3474720"/>
            <a:ext cx="2286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重症・急性神経症状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吸収障害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3291840" y="2834640"/>
            <a:ext cx="2651760" cy="2011680"/>
          </a:xfrm>
          <a:prstGeom prst="rect">
            <a:avLst>
              <a:gd name="adj" fmla="val 454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291840" y="2834640"/>
            <a:ext cx="109728" cy="2011680"/>
          </a:xfrm>
          <a:prstGeom prst="rect">
            <a:avLst>
              <a:gd name="adj" fmla="val 41667"/>
            </a:avLst>
          </a:prstGeom>
          <a:solidFill>
            <a:srgbClr val="28A745"/>
          </a:solidFill>
          <a:ln/>
        </p:spPr>
      </p:sp>
      <p:sp>
        <p:nvSpPr>
          <p:cNvPr id="12" name="Text 10"/>
          <p:cNvSpPr/>
          <p:nvPr/>
        </p:nvSpPr>
        <p:spPr>
          <a:xfrm>
            <a:off x="3474720" y="292608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8A745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高用量経口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3474720" y="3474720"/>
            <a:ext cx="2286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1,000〜2,000μg/日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軽〜中等症・維持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6126480" y="2834640"/>
            <a:ext cx="2651760" cy="2011680"/>
          </a:xfrm>
          <a:prstGeom prst="rect">
            <a:avLst>
              <a:gd name="adj" fmla="val 454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126480" y="2834640"/>
            <a:ext cx="109728" cy="2011680"/>
          </a:xfrm>
          <a:prstGeom prst="rect">
            <a:avLst>
              <a:gd name="adj" fmla="val 41667"/>
            </a:avLst>
          </a:prstGeom>
          <a:solidFill>
            <a:srgbClr val="2C5AA0"/>
          </a:solidFill>
          <a:ln/>
        </p:spPr>
      </p:sp>
      <p:sp>
        <p:nvSpPr>
          <p:cNvPr id="16" name="Text 14"/>
          <p:cNvSpPr/>
          <p:nvPr/>
        </p:nvSpPr>
        <p:spPr>
          <a:xfrm>
            <a:off x="6309360" y="292608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C5AA0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舌下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6309360" y="3474720"/>
            <a:ext cx="2286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経口と同等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嚥下困難時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457200" y="45720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36E72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⚠ 異質性が高い（I²&gt;80%）ため全例で完全同等とは言い切れない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2C5AA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初期補充と維持療法の投与スケジュール</a:t>
            </a:r>
            <a:endParaRPr lang="en-US" sz="26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97280"/>
          <a:ext cx="8229600" cy="9144"/>
        </p:xfrm>
        <a:graphic>
          <a:graphicData uri="http://schemas.openxmlformats.org/drawingml/2006/table">
            <a:tbl>
              <a:tblPr/>
              <a:tblGrid>
                <a:gridCol w="2286000"/>
                <a:gridCol w="2971800"/>
                <a:gridCol w="297180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フェーズ</a:t>
                      </a:r>
                      <a:endParaRPr lang="en-US" sz="160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101600" marR="101600" marT="76200" marB="762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2C5AA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筋注レジメン</a:t>
                      </a:r>
                      <a:endParaRPr lang="en-US" sz="160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101600" marR="101600" marT="76200" marB="762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2C5AA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経口レジメン</a:t>
                      </a:r>
                      <a:endParaRPr lang="en-US" sz="160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101600" marR="101600" marT="76200" marB="762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2C5AA0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000000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初期補充</a:t>
                      </a:r>
                      <a:endParaRPr lang="en-US" sz="140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000000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（ローディング）</a:t>
                      </a:r>
                      <a:endParaRPr lang="en-US" sz="140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101600" marR="101600" marT="76200" marB="762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8F4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1,000μg 筋注</a:t>
                      </a:r>
                      <a:endParaRPr lang="en-US" sz="140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連日〜隔日 × 1〜2週間</a:t>
                      </a:r>
                      <a:endParaRPr lang="en-US" sz="140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101600" marR="101600" marT="76200" marB="762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1,000〜2,000μg/日</a:t>
                      </a:r>
                      <a:endParaRPr lang="en-US" sz="140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経口</a:t>
                      </a:r>
                      <a:endParaRPr lang="en-US" sz="140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101600" marR="101600" marT="76200" marB="762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000000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維持療法</a:t>
                      </a:r>
                      <a:endParaRPr lang="en-US" sz="140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101600" marR="101600" marT="76200" marB="762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8F4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1,000μg 筋注</a:t>
                      </a:r>
                      <a:endParaRPr lang="en-US" sz="140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1〜3ヶ月ごと</a:t>
                      </a:r>
                      <a:endParaRPr lang="en-US" sz="140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101600" marR="101600" marT="76200" marB="762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1,000〜2,000μg/日</a:t>
                      </a:r>
                      <a:endParaRPr lang="en-US" sz="140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経口を継続</a:t>
                      </a:r>
                      <a:endParaRPr lang="en-US" sz="140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101600" marR="101600" marT="76200" marB="762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457200" y="2926080"/>
            <a:ext cx="8229600" cy="914400"/>
          </a:xfrm>
          <a:prstGeom prst="rect">
            <a:avLst>
              <a:gd name="adj" fmla="val 10000"/>
            </a:avLst>
          </a:prstGeom>
          <a:solidFill>
            <a:srgbClr val="FFF3CD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457200" y="2926080"/>
            <a:ext cx="109728" cy="914400"/>
          </a:xfrm>
          <a:prstGeom prst="rect">
            <a:avLst>
              <a:gd name="adj" fmla="val 41667"/>
            </a:avLst>
          </a:prstGeom>
          <a:solidFill>
            <a:srgbClr val="F5C518"/>
          </a:solidFill>
          <a:ln/>
        </p:spPr>
      </p:sp>
      <p:sp>
        <p:nvSpPr>
          <p:cNvPr id="7" name="Text 4"/>
          <p:cNvSpPr/>
          <p:nvPr/>
        </p:nvSpPr>
        <p:spPr>
          <a:xfrm>
            <a:off x="640080" y="3017520"/>
            <a:ext cx="7863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D343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Delphi 2024: </a:t>
            </a:r>
            <a:pPr indent="0" marL="0">
              <a:buNone/>
            </a:pPr>
            <a:r>
              <a:rPr lang="en-US" sz="15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急性・重篤な症状 → 筋注を第一選択
</a:t>
            </a:r>
            <a:pPr indent="0" marL="0">
              <a:buNone/>
            </a:pPr>
            <a:r>
              <a:rPr lang="en-US" sz="1500" b="1" dirty="0">
                <a:solidFill>
                  <a:srgbClr val="2D343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Am Fam Physician 2025: </a:t>
            </a:r>
            <a:pPr indent="0" marL="0">
              <a:buNone/>
            </a:pPr>
            <a:r>
              <a:rPr lang="en-US" sz="15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経口は筋注に非劣性。重症例以外では経口も推奨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457200" y="4114800"/>
            <a:ext cx="8229600" cy="914400"/>
          </a:xfrm>
          <a:prstGeom prst="rect">
            <a:avLst>
              <a:gd name="adj" fmla="val 10000"/>
            </a:avLst>
          </a:prstGeom>
          <a:solidFill>
            <a:srgbClr val="F8D7DA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457200" y="4114800"/>
            <a:ext cx="109728" cy="914400"/>
          </a:xfrm>
          <a:prstGeom prst="rect">
            <a:avLst>
              <a:gd name="adj" fmla="val 41667"/>
            </a:avLst>
          </a:prstGeom>
          <a:solidFill>
            <a:srgbClr val="DC3545"/>
          </a:solidFill>
          <a:ln/>
        </p:spPr>
      </p:sp>
      <p:sp>
        <p:nvSpPr>
          <p:cNvPr id="10" name="Text 7"/>
          <p:cNvSpPr/>
          <p:nvPr/>
        </p:nvSpPr>
        <p:spPr>
          <a:xfrm>
            <a:off x="640080" y="420624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DC354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NICE 2024: </a:t>
            </a:r>
            <a:pPr indent="0" marL="0">
              <a:buNone/>
            </a:pPr>
            <a:r>
              <a:rPr lang="en-US" sz="15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悪性貧血・胃全摘後 → lifelong筋注を推奨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2C5AA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治療開始時に押さえるべき4つの注意点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74320" y="1097280"/>
            <a:ext cx="2011680" cy="3200400"/>
          </a:xfrm>
          <a:prstGeom prst="rect">
            <a:avLst>
              <a:gd name="adj" fmla="val 454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1097280"/>
            <a:ext cx="109728" cy="3200400"/>
          </a:xfrm>
          <a:prstGeom prst="rect">
            <a:avLst>
              <a:gd name="adj" fmla="val 41667"/>
            </a:avLst>
          </a:prstGeom>
          <a:solidFill>
            <a:srgbClr val="2C5AA0"/>
          </a:solidFill>
          <a:ln/>
        </p:spPr>
      </p:sp>
      <p:sp>
        <p:nvSpPr>
          <p:cNvPr id="6" name="Text 4"/>
          <p:cNvSpPr/>
          <p:nvPr/>
        </p:nvSpPr>
        <p:spPr>
          <a:xfrm>
            <a:off x="274320" y="1188720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🔍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411480" y="182880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C5AA0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葉酸の同時評価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411480" y="2377440"/>
            <a:ext cx="17373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masking効果の回避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B12欠乏が否定されるまで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葉酸単独補充は避ける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2468880" y="1097280"/>
            <a:ext cx="2011680" cy="3200400"/>
          </a:xfrm>
          <a:prstGeom prst="rect">
            <a:avLst>
              <a:gd name="adj" fmla="val 454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468880" y="1097280"/>
            <a:ext cx="109728" cy="3200400"/>
          </a:xfrm>
          <a:prstGeom prst="rect">
            <a:avLst>
              <a:gd name="adj" fmla="val 41667"/>
            </a:avLst>
          </a:prstGeom>
          <a:solidFill>
            <a:srgbClr val="F5C518"/>
          </a:solidFill>
          <a:ln/>
        </p:spPr>
      </p:sp>
      <p:sp>
        <p:nvSpPr>
          <p:cNvPr id="11" name="Text 9"/>
          <p:cNvSpPr/>
          <p:nvPr/>
        </p:nvSpPr>
        <p:spPr>
          <a:xfrm>
            <a:off x="2468880" y="1188720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⚡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2606040" y="182880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5C518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低カリウム血症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2606040" y="2377440"/>
            <a:ext cx="17373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まれだが重症巨赤芽球性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貧血の初期補充時に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造血回復でK取り込み↑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663440" y="1097280"/>
            <a:ext cx="2011680" cy="3200400"/>
          </a:xfrm>
          <a:prstGeom prst="rect">
            <a:avLst>
              <a:gd name="adj" fmla="val 454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663440" y="1097280"/>
            <a:ext cx="109728" cy="3200400"/>
          </a:xfrm>
          <a:prstGeom prst="rect">
            <a:avLst>
              <a:gd name="adj" fmla="val 41667"/>
            </a:avLst>
          </a:prstGeom>
          <a:solidFill>
            <a:srgbClr val="E8850C"/>
          </a:solidFill>
          <a:ln/>
        </p:spPr>
      </p:sp>
      <p:sp>
        <p:nvSpPr>
          <p:cNvPr id="16" name="Text 14"/>
          <p:cNvSpPr/>
          <p:nvPr/>
        </p:nvSpPr>
        <p:spPr>
          <a:xfrm>
            <a:off x="4663440" y="1188720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🩸</a:t>
            </a:r>
            <a:endParaRPr lang="en-US" sz="2800" dirty="0"/>
          </a:p>
        </p:txBody>
      </p:sp>
      <p:sp>
        <p:nvSpPr>
          <p:cNvPr id="17" name="Text 15"/>
          <p:cNvSpPr/>
          <p:nvPr/>
        </p:nvSpPr>
        <p:spPr>
          <a:xfrm>
            <a:off x="4800600" y="182880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E8850C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鉄欠乏の合併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4800600" y="2377440"/>
            <a:ext cx="17373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特にAIGでは鉄欠乏が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B12欠乏に先行・合併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鉄の同時評価が必要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858000" y="1097280"/>
            <a:ext cx="2011680" cy="3200400"/>
          </a:xfrm>
          <a:prstGeom prst="rect">
            <a:avLst>
              <a:gd name="adj" fmla="val 454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858000" y="1097280"/>
            <a:ext cx="109728" cy="3200400"/>
          </a:xfrm>
          <a:prstGeom prst="rect">
            <a:avLst>
              <a:gd name="adj" fmla="val 41667"/>
            </a:avLst>
          </a:prstGeom>
          <a:solidFill>
            <a:srgbClr val="DC3545"/>
          </a:solidFill>
          <a:ln/>
        </p:spPr>
      </p:sp>
      <p:sp>
        <p:nvSpPr>
          <p:cNvPr id="21" name="Text 19"/>
          <p:cNvSpPr/>
          <p:nvPr/>
        </p:nvSpPr>
        <p:spPr>
          <a:xfrm>
            <a:off x="6858000" y="1188720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⏰</a:t>
            </a:r>
            <a:endParaRPr lang="en-US" sz="2800" dirty="0"/>
          </a:p>
        </p:txBody>
      </p:sp>
      <p:sp>
        <p:nvSpPr>
          <p:cNvPr id="22" name="Text 20"/>
          <p:cNvSpPr/>
          <p:nvPr/>
        </p:nvSpPr>
        <p:spPr>
          <a:xfrm>
            <a:off x="6995160" y="182880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DC3545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可逆性の限界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6995160" y="2377440"/>
            <a:ext cx="17373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長期放置された神経障害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は補充しても完全回復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しない場合がある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2C5AA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治療反応のタイムライン：いつ何が改善するか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1097280"/>
            <a:ext cx="1965960" cy="2926080"/>
          </a:xfrm>
          <a:prstGeom prst="rect">
            <a:avLst>
              <a:gd name="adj" fmla="val 465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1097280"/>
            <a:ext cx="109728" cy="2926080"/>
          </a:xfrm>
          <a:prstGeom prst="rect">
            <a:avLst>
              <a:gd name="adj" fmla="val 41667"/>
            </a:avLst>
          </a:prstGeom>
          <a:solidFill>
            <a:srgbClr val="28A745"/>
          </a:solidFill>
          <a:ln/>
        </p:spPr>
      </p:sp>
      <p:sp>
        <p:nvSpPr>
          <p:cNvPr id="6" name="Text 4"/>
          <p:cNvSpPr/>
          <p:nvPr/>
        </p:nvSpPr>
        <p:spPr>
          <a:xfrm>
            <a:off x="365760" y="1188720"/>
            <a:ext cx="1965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8A74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3〜5日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457200" y="1828800"/>
            <a:ext cx="1783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網赤血球↑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457200" y="2560320"/>
            <a:ext cx="1783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36E72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最も早い指標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636E72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ピーク7〜10日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2194560" y="2560320"/>
            <a:ext cx="274320" cy="0"/>
          </a:xfrm>
          <a:prstGeom prst="line">
            <a:avLst/>
          </a:prstGeom>
          <a:noFill/>
          <a:ln w="25400">
            <a:solidFill>
              <a:srgbClr val="636E72"/>
            </a:solidFill>
            <a:prstDash val="dash"/>
          </a:ln>
        </p:spPr>
      </p:sp>
      <p:sp>
        <p:nvSpPr>
          <p:cNvPr id="10" name="Shape 8"/>
          <p:cNvSpPr/>
          <p:nvPr/>
        </p:nvSpPr>
        <p:spPr>
          <a:xfrm>
            <a:off x="2514600" y="1097280"/>
            <a:ext cx="1965960" cy="2926080"/>
          </a:xfrm>
          <a:prstGeom prst="rect">
            <a:avLst>
              <a:gd name="adj" fmla="val 465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514600" y="1097280"/>
            <a:ext cx="109728" cy="2926080"/>
          </a:xfrm>
          <a:prstGeom prst="rect">
            <a:avLst>
              <a:gd name="adj" fmla="val 41667"/>
            </a:avLst>
          </a:prstGeom>
          <a:solidFill>
            <a:srgbClr val="2C5AA0"/>
          </a:solidFill>
          <a:ln/>
        </p:spPr>
      </p:sp>
      <p:sp>
        <p:nvSpPr>
          <p:cNvPr id="12" name="Text 10"/>
          <p:cNvSpPr/>
          <p:nvPr/>
        </p:nvSpPr>
        <p:spPr>
          <a:xfrm>
            <a:off x="2514600" y="1188720"/>
            <a:ext cx="1965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C5AA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6〜8週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2606040" y="1828800"/>
            <a:ext cx="1783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Hb改善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2606040" y="2560320"/>
            <a:ext cx="1783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36E72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正常化まで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636E72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約8週間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343400" y="2560320"/>
            <a:ext cx="274320" cy="0"/>
          </a:xfrm>
          <a:prstGeom prst="line">
            <a:avLst/>
          </a:prstGeom>
          <a:noFill/>
          <a:ln w="25400">
            <a:solidFill>
              <a:srgbClr val="636E72"/>
            </a:solidFill>
            <a:prstDash val="dash"/>
          </a:ln>
        </p:spPr>
      </p:sp>
      <p:sp>
        <p:nvSpPr>
          <p:cNvPr id="16" name="Shape 14"/>
          <p:cNvSpPr/>
          <p:nvPr/>
        </p:nvSpPr>
        <p:spPr>
          <a:xfrm>
            <a:off x="4663440" y="1097280"/>
            <a:ext cx="1965960" cy="2926080"/>
          </a:xfrm>
          <a:prstGeom prst="rect">
            <a:avLst>
              <a:gd name="adj" fmla="val 465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663440" y="1097280"/>
            <a:ext cx="109728" cy="2926080"/>
          </a:xfrm>
          <a:prstGeom prst="rect">
            <a:avLst>
              <a:gd name="adj" fmla="val 41667"/>
            </a:avLst>
          </a:prstGeom>
          <a:solidFill>
            <a:srgbClr val="E8850C"/>
          </a:solidFill>
          <a:ln/>
        </p:spPr>
      </p:sp>
      <p:sp>
        <p:nvSpPr>
          <p:cNvPr id="18" name="Text 16"/>
          <p:cNvSpPr/>
          <p:nvPr/>
        </p:nvSpPr>
        <p:spPr>
          <a:xfrm>
            <a:off x="4663440" y="1188720"/>
            <a:ext cx="1965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E8850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数週〜月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4754880" y="1828800"/>
            <a:ext cx="1783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MCV正常化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末梢神経改善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4754880" y="2560320"/>
            <a:ext cx="1783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36E72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程度と期間に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636E72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依存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6492240" y="2560320"/>
            <a:ext cx="274320" cy="0"/>
          </a:xfrm>
          <a:prstGeom prst="line">
            <a:avLst/>
          </a:prstGeom>
          <a:noFill/>
          <a:ln w="25400">
            <a:solidFill>
              <a:srgbClr val="636E72"/>
            </a:solidFill>
            <a:prstDash val="dash"/>
          </a:ln>
        </p:spPr>
      </p:sp>
      <p:sp>
        <p:nvSpPr>
          <p:cNvPr id="22" name="Shape 20"/>
          <p:cNvSpPr/>
          <p:nvPr/>
        </p:nvSpPr>
        <p:spPr>
          <a:xfrm>
            <a:off x="6812280" y="1097280"/>
            <a:ext cx="1965960" cy="2926080"/>
          </a:xfrm>
          <a:prstGeom prst="rect">
            <a:avLst>
              <a:gd name="adj" fmla="val 465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6812280" y="1097280"/>
            <a:ext cx="109728" cy="2926080"/>
          </a:xfrm>
          <a:prstGeom prst="rect">
            <a:avLst>
              <a:gd name="adj" fmla="val 41667"/>
            </a:avLst>
          </a:prstGeom>
          <a:solidFill>
            <a:srgbClr val="DC3545"/>
          </a:solidFill>
          <a:ln/>
        </p:spPr>
      </p:sp>
      <p:sp>
        <p:nvSpPr>
          <p:cNvPr id="24" name="Text 22"/>
          <p:cNvSpPr/>
          <p:nvPr/>
        </p:nvSpPr>
        <p:spPr>
          <a:xfrm>
            <a:off x="6812280" y="1188720"/>
            <a:ext cx="1965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DC354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月〜年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6903720" y="1828800"/>
            <a:ext cx="1783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SCD改善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6903720" y="2560320"/>
            <a:ext cx="1783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36E72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進行例は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636E72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不可逆的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457200" y="4297680"/>
            <a:ext cx="8229600" cy="640080"/>
          </a:xfrm>
          <a:prstGeom prst="rect">
            <a:avLst>
              <a:gd name="adj" fmla="val 14286"/>
            </a:avLst>
          </a:prstGeom>
          <a:solidFill>
            <a:srgbClr val="D4EDDA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457200" y="4297680"/>
            <a:ext cx="109728" cy="640080"/>
          </a:xfrm>
          <a:prstGeom prst="rect">
            <a:avLst>
              <a:gd name="adj" fmla="val 41667"/>
            </a:avLst>
          </a:prstGeom>
          <a:solidFill>
            <a:srgbClr val="28A745"/>
          </a:solidFill>
          <a:ln/>
        </p:spPr>
      </p:sp>
      <p:sp>
        <p:nvSpPr>
          <p:cNvPr id="29" name="Text 27"/>
          <p:cNvSpPr/>
          <p:nvPr/>
        </p:nvSpPr>
        <p:spPr>
          <a:xfrm>
            <a:off x="640080" y="438912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早期治療ほど可逆性が高い ─ 治療の遅れが予後を決める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2C5AA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フォローアップ：再検査と長期管理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3840480" cy="2286000"/>
          </a:xfrm>
          <a:prstGeom prst="rect">
            <a:avLst>
              <a:gd name="adj" fmla="val 4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097280"/>
            <a:ext cx="109728" cy="2286000"/>
          </a:xfrm>
          <a:prstGeom prst="rect">
            <a:avLst>
              <a:gd name="adj" fmla="val 41667"/>
            </a:avLst>
          </a:prstGeom>
          <a:solidFill>
            <a:srgbClr val="2C5AA0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18872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C5AA0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再検査のポイント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640080" y="1645920"/>
            <a:ext cx="34747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• 治療開始後1〜2ヶ月でCBC再検
</a:t>
            </a:r>
            <a:pPr indent="0" marL="0">
              <a:buNone/>
            </a:pPr>
            <a:r>
              <a:rPr lang="en-US" sz="13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• バイオマーカーによる注射頻度の
  「滴定」は推奨されない
</a:t>
            </a:r>
            <a:pPr indent="0" marL="0">
              <a:buNone/>
            </a:pPr>
            <a:r>
              <a:rPr lang="en-US" sz="1300" b="1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• 臨床症状の改善を主体に評価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846320" y="1097280"/>
            <a:ext cx="3840480" cy="2286000"/>
          </a:xfrm>
          <a:prstGeom prst="rect">
            <a:avLst>
              <a:gd name="adj" fmla="val 4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846320" y="1097280"/>
            <a:ext cx="109728" cy="2286000"/>
          </a:xfrm>
          <a:prstGeom prst="rect">
            <a:avLst>
              <a:gd name="adj" fmla="val 41667"/>
            </a:avLst>
          </a:prstGeom>
          <a:solidFill>
            <a:srgbClr val="28A745"/>
          </a:solidFill>
          <a:ln/>
        </p:spPr>
      </p:sp>
      <p:sp>
        <p:nvSpPr>
          <p:cNvPr id="10" name="Text 8"/>
          <p:cNvSpPr/>
          <p:nvPr/>
        </p:nvSpPr>
        <p:spPr>
          <a:xfrm>
            <a:off x="5029200" y="118872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8A745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長期モニタリング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5029200" y="1645920"/>
            <a:ext cx="34747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• 原因持続 → 生涯の補充療法
</a:t>
            </a:r>
            <a:pPr indent="0" marL="0">
              <a:buNone/>
            </a:pPr>
            <a:r>
              <a:rPr lang="en-US" sz="13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• 薬剤性 → 年1回以上のB12評価
</a:t>
            </a:r>
            <a:pPr indent="0" marL="0">
              <a:buNone/>
            </a:pPr>
            <a:r>
              <a:rPr lang="en-US" sz="13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• AIG → 胃NETサーベイランス併施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57200" y="3657600"/>
            <a:ext cx="8229600" cy="1097280"/>
          </a:xfrm>
          <a:prstGeom prst="rect">
            <a:avLst>
              <a:gd name="adj" fmla="val 8333"/>
            </a:avLst>
          </a:prstGeom>
          <a:solidFill>
            <a:srgbClr val="FFF3CD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57200" y="3657600"/>
            <a:ext cx="109728" cy="1097280"/>
          </a:xfrm>
          <a:prstGeom prst="rect">
            <a:avLst>
              <a:gd name="adj" fmla="val 41667"/>
            </a:avLst>
          </a:prstGeom>
          <a:solidFill>
            <a:srgbClr val="F5C518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" y="3749040"/>
            <a:ext cx="7863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DC3545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⚠ 補充なしでB12 &gt; 1,000 pg/mLが持続する場合
</a:t>
            </a:r>
            <a:pPr indent="0" marL="0">
              <a:buNone/>
            </a:pPr>
            <a:r>
              <a:rPr lang="en-US" sz="14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固形腫瘍や血液悪性腫瘍との関連が報告されている（因果関係は未確立）。精査を考慮。</a:t>
            </a:r>
            <a:endParaRPr lang="en-US" sz="15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2C5AA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特殊集団①：高齢者 ─ 最大のリスク集団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2651760" cy="2011680"/>
          </a:xfrm>
          <a:prstGeom prst="rect">
            <a:avLst>
              <a:gd name="adj" fmla="val 454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097280"/>
            <a:ext cx="109728" cy="2011680"/>
          </a:xfrm>
          <a:prstGeom prst="rect">
            <a:avLst>
              <a:gd name="adj" fmla="val 41667"/>
            </a:avLst>
          </a:prstGeom>
          <a:solidFill>
            <a:srgbClr val="2C5AA0"/>
          </a:solidFill>
          <a:ln/>
        </p:spPr>
      </p:sp>
      <p:sp>
        <p:nvSpPr>
          <p:cNvPr id="6" name="Text 4"/>
          <p:cNvSpPr/>
          <p:nvPr/>
        </p:nvSpPr>
        <p:spPr>
          <a:xfrm>
            <a:off x="594360" y="118872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C5AA0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🔻 胃酸分泌低下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94360" y="1737360"/>
            <a:ext cx="23774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食物結合B12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吸収障害の主因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3291840" y="1097280"/>
            <a:ext cx="2651760" cy="2011680"/>
          </a:xfrm>
          <a:prstGeom prst="rect">
            <a:avLst>
              <a:gd name="adj" fmla="val 454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291840" y="1097280"/>
            <a:ext cx="109728" cy="2011680"/>
          </a:xfrm>
          <a:prstGeom prst="rect">
            <a:avLst>
              <a:gd name="adj" fmla="val 41667"/>
            </a:avLst>
          </a:prstGeom>
          <a:solidFill>
            <a:srgbClr val="2C5AA0"/>
          </a:solidFill>
          <a:ln/>
        </p:spPr>
      </p:sp>
      <p:sp>
        <p:nvSpPr>
          <p:cNvPr id="10" name="Text 8"/>
          <p:cNvSpPr/>
          <p:nvPr/>
        </p:nvSpPr>
        <p:spPr>
          <a:xfrm>
            <a:off x="3429000" y="118872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C5AA0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🍽 食事摂取量減少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3429000" y="1737360"/>
            <a:ext cx="23774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低栄養・独居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食事の偏り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126480" y="1097280"/>
            <a:ext cx="2651760" cy="2011680"/>
          </a:xfrm>
          <a:prstGeom prst="rect">
            <a:avLst>
              <a:gd name="adj" fmla="val 454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126480" y="1097280"/>
            <a:ext cx="109728" cy="2011680"/>
          </a:xfrm>
          <a:prstGeom prst="rect">
            <a:avLst>
              <a:gd name="adj" fmla="val 41667"/>
            </a:avLst>
          </a:prstGeom>
          <a:solidFill>
            <a:srgbClr val="2C5AA0"/>
          </a:solidFill>
          <a:ln/>
        </p:spPr>
      </p:sp>
      <p:sp>
        <p:nvSpPr>
          <p:cNvPr id="14" name="Text 12"/>
          <p:cNvSpPr/>
          <p:nvPr/>
        </p:nvSpPr>
        <p:spPr>
          <a:xfrm>
            <a:off x="6263640" y="118872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C5AA0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💊 ポリファーマシー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263640" y="1737360"/>
            <a:ext cx="23774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メトホルミン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+PPI長期使用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457200" y="3383280"/>
            <a:ext cx="8229600" cy="731520"/>
          </a:xfrm>
          <a:prstGeom prst="rect">
            <a:avLst>
              <a:gd name="adj" fmla="val 12500"/>
            </a:avLst>
          </a:prstGeom>
          <a:solidFill>
            <a:srgbClr val="E8F4FD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40080" y="347472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高齢者のB12欠乏は報告により3〜43%と幅がある（厚労省eJIM）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457200" y="4389120"/>
            <a:ext cx="8229600" cy="640080"/>
          </a:xfrm>
          <a:prstGeom prst="rect">
            <a:avLst>
              <a:gd name="adj" fmla="val 14286"/>
            </a:avLst>
          </a:prstGeom>
          <a:solidFill>
            <a:srgbClr val="D4EDDA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57200" y="4389120"/>
            <a:ext cx="109728" cy="640080"/>
          </a:xfrm>
          <a:prstGeom prst="rect">
            <a:avLst>
              <a:gd name="adj" fmla="val 41667"/>
            </a:avLst>
          </a:prstGeom>
          <a:solidFill>
            <a:srgbClr val="28A745"/>
          </a:solidFill>
          <a:ln/>
        </p:spPr>
      </p:sp>
      <p:sp>
        <p:nvSpPr>
          <p:cNvPr id="20" name="Text 18"/>
          <p:cNvSpPr/>
          <p:nvPr/>
        </p:nvSpPr>
        <p:spPr>
          <a:xfrm>
            <a:off x="640080" y="448056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75歳以上ではスクリーニングを検討すべき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2C5AA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特殊集団②：妊婦 ─ NTDリスクとの関連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1097280"/>
            <a:ext cx="2697480" cy="2560320"/>
          </a:xfrm>
          <a:prstGeom prst="rect">
            <a:avLst>
              <a:gd name="adj" fmla="val 357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1097280"/>
            <a:ext cx="109728" cy="2560320"/>
          </a:xfrm>
          <a:prstGeom prst="rect">
            <a:avLst>
              <a:gd name="adj" fmla="val 41667"/>
            </a:avLst>
          </a:prstGeom>
          <a:solidFill>
            <a:srgbClr val="2C5AA0"/>
          </a:solidFill>
          <a:ln/>
        </p:spPr>
      </p:sp>
      <p:sp>
        <p:nvSpPr>
          <p:cNvPr id="6" name="Text 4"/>
          <p:cNvSpPr/>
          <p:nvPr/>
        </p:nvSpPr>
        <p:spPr>
          <a:xfrm>
            <a:off x="502920" y="1188720"/>
            <a:ext cx="2423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36E72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妊婦B12欠乏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636E72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世界プール有病率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02920" y="1920240"/>
            <a:ext cx="2423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2C5AA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17.1%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502920" y="2468880"/>
            <a:ext cx="2423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36E72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95%CI 8.8-30.6%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246120" y="1097280"/>
            <a:ext cx="2697480" cy="2560320"/>
          </a:xfrm>
          <a:prstGeom prst="rect">
            <a:avLst>
              <a:gd name="adj" fmla="val 357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246120" y="1097280"/>
            <a:ext cx="109728" cy="2560320"/>
          </a:xfrm>
          <a:prstGeom prst="rect">
            <a:avLst>
              <a:gd name="adj" fmla="val 41667"/>
            </a:avLst>
          </a:prstGeom>
          <a:solidFill>
            <a:srgbClr val="DC3545"/>
          </a:solidFill>
          <a:ln/>
        </p:spPr>
      </p:sp>
      <p:sp>
        <p:nvSpPr>
          <p:cNvPr id="11" name="Text 9"/>
          <p:cNvSpPr/>
          <p:nvPr/>
        </p:nvSpPr>
        <p:spPr>
          <a:xfrm>
            <a:off x="3383280" y="1188720"/>
            <a:ext cx="2423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36E72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母体B12低値と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636E72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NTDリスク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383280" y="1920240"/>
            <a:ext cx="2423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C354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SMD -0.23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3383280" y="2468880"/>
            <a:ext cx="2423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36E72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p&lt;0.001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636E72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葉酸に差がなくても有意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126480" y="1097280"/>
            <a:ext cx="2697480" cy="2560320"/>
          </a:xfrm>
          <a:prstGeom prst="rect">
            <a:avLst>
              <a:gd name="adj" fmla="val 357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126480" y="1097280"/>
            <a:ext cx="109728" cy="2560320"/>
          </a:xfrm>
          <a:prstGeom prst="rect">
            <a:avLst>
              <a:gd name="adj" fmla="val 41667"/>
            </a:avLst>
          </a:prstGeom>
          <a:solidFill>
            <a:srgbClr val="28A745"/>
          </a:solidFill>
          <a:ln/>
        </p:spPr>
      </p:sp>
      <p:sp>
        <p:nvSpPr>
          <p:cNvPr id="16" name="Text 14"/>
          <p:cNvSpPr/>
          <p:nvPr/>
        </p:nvSpPr>
        <p:spPr>
          <a:xfrm>
            <a:off x="6263640" y="1188720"/>
            <a:ext cx="2423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36E72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B12補充による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636E72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欠乏率低下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263640" y="1920240"/>
            <a:ext cx="2423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28A74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OR 0.43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6263640" y="2468880"/>
            <a:ext cx="2423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36E72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95%CI 0.19-0.95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636E72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産後投与で母乳B12も改善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57200" y="3931920"/>
            <a:ext cx="8229600" cy="731520"/>
          </a:xfrm>
          <a:prstGeom prst="rect">
            <a:avLst>
              <a:gd name="adj" fmla="val 12500"/>
            </a:avLst>
          </a:prstGeom>
          <a:solidFill>
            <a:srgbClr val="FFF3CD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57200" y="3931920"/>
            <a:ext cx="109728" cy="731520"/>
          </a:xfrm>
          <a:prstGeom prst="rect">
            <a:avLst>
              <a:gd name="adj" fmla="val 41667"/>
            </a:avLst>
          </a:prstGeom>
          <a:solidFill>
            <a:srgbClr val="F5C518"/>
          </a:solidFill>
          <a:ln/>
        </p:spPr>
      </p:sp>
      <p:sp>
        <p:nvSpPr>
          <p:cNvPr id="21" name="Text 19"/>
          <p:cNvSpPr/>
          <p:nvPr/>
        </p:nvSpPr>
        <p:spPr>
          <a:xfrm>
            <a:off x="640080" y="402336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高リスク妊婦への周産期B12スクリーニング導入が提言されている</a:t>
            </a:r>
            <a:endParaRPr lang="en-US" sz="15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2C5AA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胃切除後・IBD ＋ 予防とスクリーニング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74320" y="1097280"/>
            <a:ext cx="4206240" cy="2011680"/>
          </a:xfrm>
          <a:prstGeom prst="rect">
            <a:avLst>
              <a:gd name="adj" fmla="val 454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1097280"/>
            <a:ext cx="109728" cy="2011680"/>
          </a:xfrm>
          <a:prstGeom prst="rect">
            <a:avLst>
              <a:gd name="adj" fmla="val 41667"/>
            </a:avLst>
          </a:prstGeom>
          <a:solidFill>
            <a:srgbClr val="2C5AA0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18872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C5AA0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胃全摘後・IBD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457200" y="1645920"/>
            <a:ext cx="3840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• 胃全摘後: 術後4〜5年で必発
  → lifelong筋注（NICE 2024）
</a:t>
            </a:r>
            <a:pPr indent="0" marL="0">
              <a:buNone/>
            </a:pPr>
            <a:r>
              <a:rPr lang="en-US" sz="13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• IBD（回腸病変/切除後）: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  → B12モニタリング推奨（AGA 2024）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663440" y="1097280"/>
            <a:ext cx="4206240" cy="2011680"/>
          </a:xfrm>
          <a:prstGeom prst="rect">
            <a:avLst>
              <a:gd name="adj" fmla="val 454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663440" y="1097280"/>
            <a:ext cx="109728" cy="2011680"/>
          </a:xfrm>
          <a:prstGeom prst="rect">
            <a:avLst>
              <a:gd name="adj" fmla="val 41667"/>
            </a:avLst>
          </a:prstGeom>
          <a:solidFill>
            <a:srgbClr val="28A745"/>
          </a:solidFill>
          <a:ln/>
        </p:spPr>
      </p:sp>
      <p:sp>
        <p:nvSpPr>
          <p:cNvPr id="10" name="Text 8"/>
          <p:cNvSpPr/>
          <p:nvPr/>
        </p:nvSpPr>
        <p:spPr>
          <a:xfrm>
            <a:off x="4846320" y="118872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8A745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予防的補充を考慮すべき群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4846320" y="1645920"/>
            <a:ext cx="3840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✅ ヴィーガン・厳格ベジタリアン
</a:t>
            </a:r>
            <a:pPr indent="0" marL="0">
              <a:buNone/>
            </a:pPr>
            <a:r>
              <a:rPr lang="en-US" sz="13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✅ 75歳以上の高齢者
</a:t>
            </a:r>
            <a:pPr indent="0" marL="0">
              <a:buNone/>
            </a:pPr>
            <a:r>
              <a:rPr lang="en-US" sz="13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✅ 胃切除後・肥満外科手術後
</a:t>
            </a:r>
            <a:pPr indent="0" marL="0">
              <a:buNone/>
            </a:pPr>
            <a:r>
              <a:rPr lang="en-US" sz="13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✅ メトホルミン 4ヶ月以上
</a:t>
            </a:r>
            <a:pPr indent="0" marL="0">
              <a:buNone/>
            </a:pPr>
            <a:r>
              <a:rPr lang="en-US" sz="13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✅ PPI/H2RA 12ヶ月以上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274320" y="3383280"/>
            <a:ext cx="8595360" cy="1463040"/>
          </a:xfrm>
          <a:prstGeom prst="rect">
            <a:avLst>
              <a:gd name="adj" fmla="val 625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274320" y="3383280"/>
            <a:ext cx="109728" cy="1463040"/>
          </a:xfrm>
          <a:prstGeom prst="rect">
            <a:avLst>
              <a:gd name="adj" fmla="val 41667"/>
            </a:avLst>
          </a:prstGeom>
          <a:solidFill>
            <a:srgbClr val="E8850C"/>
          </a:solidFill>
          <a:ln/>
        </p:spPr>
      </p:sp>
      <p:sp>
        <p:nvSpPr>
          <p:cNvPr id="14" name="Text 12"/>
          <p:cNvSpPr/>
          <p:nvPr/>
        </p:nvSpPr>
        <p:spPr>
          <a:xfrm>
            <a:off x="457200" y="34747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8850C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メトホルミン/PPI使用者のモニタリング（糖尿病標準診療マニュアル2025）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457200" y="393192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① メトホルミン開始後、少なくとも年1回の血清B12測定
</a:t>
            </a:r>
            <a:pPr indent="0" marL="0">
              <a:buNone/>
            </a:pPr>
            <a:r>
              <a:rPr lang="en-US" sz="14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② PPI併用例ではより頻回のモニタリングを考慮
</a:t>
            </a:r>
            <a:pPr indent="0" marL="0">
              <a:buNone/>
            </a:pPr>
            <a:r>
              <a:rPr lang="en-US" sz="14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③ 原因不明の貧血・神経障害・認知機能低下 → 速やかにB12評価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B3A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2C5AA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4つのTake-home Message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74320" y="1097280"/>
            <a:ext cx="2057400" cy="2560320"/>
          </a:xfrm>
          <a:prstGeom prst="rect">
            <a:avLst>
              <a:gd name="adj" fmla="val 4444"/>
            </a:avLst>
          </a:prstGeom>
          <a:solidFill>
            <a:srgbClr val="24466E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1097280"/>
            <a:ext cx="2057400" cy="73152"/>
          </a:xfrm>
          <a:prstGeom prst="rect">
            <a:avLst/>
          </a:prstGeom>
          <a:solidFill>
            <a:srgbClr val="2C5AA0"/>
          </a:solidFill>
          <a:ln/>
        </p:spPr>
      </p:sp>
      <p:sp>
        <p:nvSpPr>
          <p:cNvPr id="6" name="Text 4"/>
          <p:cNvSpPr/>
          <p:nvPr/>
        </p:nvSpPr>
        <p:spPr>
          <a:xfrm>
            <a:off x="274320" y="1280160"/>
            <a:ext cx="2057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2C5AA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365760" y="1920240"/>
            <a:ext cx="18745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治療は個別化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重症→筋注 / 維持→経口も可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2514600" y="1097280"/>
            <a:ext cx="2057400" cy="2560320"/>
          </a:xfrm>
          <a:prstGeom prst="rect">
            <a:avLst>
              <a:gd name="adj" fmla="val 4444"/>
            </a:avLst>
          </a:prstGeom>
          <a:solidFill>
            <a:srgbClr val="24466E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2514600" y="1097280"/>
            <a:ext cx="2057400" cy="73152"/>
          </a:xfrm>
          <a:prstGeom prst="rect">
            <a:avLst/>
          </a:prstGeom>
          <a:solidFill>
            <a:srgbClr val="DC3545"/>
          </a:solidFill>
          <a:ln/>
        </p:spPr>
      </p:sp>
      <p:sp>
        <p:nvSpPr>
          <p:cNvPr id="10" name="Text 8"/>
          <p:cNvSpPr/>
          <p:nvPr/>
        </p:nvSpPr>
        <p:spPr>
          <a:xfrm>
            <a:off x="2514600" y="1280160"/>
            <a:ext cx="2057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C354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2606040" y="1920240"/>
            <a:ext cx="18745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悪性貧血・胃全摘後は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lifelong筋注（NICE 2024）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754880" y="1097280"/>
            <a:ext cx="2057400" cy="2560320"/>
          </a:xfrm>
          <a:prstGeom prst="rect">
            <a:avLst>
              <a:gd name="adj" fmla="val 4444"/>
            </a:avLst>
          </a:prstGeom>
          <a:solidFill>
            <a:srgbClr val="24466E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754880" y="1097280"/>
            <a:ext cx="2057400" cy="73152"/>
          </a:xfrm>
          <a:prstGeom prst="rect">
            <a:avLst/>
          </a:prstGeom>
          <a:solidFill>
            <a:srgbClr val="E8850C"/>
          </a:solidFill>
          <a:ln/>
        </p:spPr>
      </p:sp>
      <p:sp>
        <p:nvSpPr>
          <p:cNvPr id="14" name="Text 12"/>
          <p:cNvSpPr/>
          <p:nvPr/>
        </p:nvSpPr>
        <p:spPr>
          <a:xfrm>
            <a:off x="4754880" y="1280160"/>
            <a:ext cx="2057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E8850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4846320" y="1920240"/>
            <a:ext cx="18745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早期治療が予後を決める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進行した神経障害は不可逆的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6995160" y="1097280"/>
            <a:ext cx="2057400" cy="2560320"/>
          </a:xfrm>
          <a:prstGeom prst="rect">
            <a:avLst>
              <a:gd name="adj" fmla="val 4444"/>
            </a:avLst>
          </a:prstGeom>
          <a:solidFill>
            <a:srgbClr val="24466E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995160" y="1097280"/>
            <a:ext cx="2057400" cy="73152"/>
          </a:xfrm>
          <a:prstGeom prst="rect">
            <a:avLst/>
          </a:prstGeom>
          <a:solidFill>
            <a:srgbClr val="28A745"/>
          </a:solidFill>
          <a:ln/>
        </p:spPr>
      </p:sp>
      <p:sp>
        <p:nvSpPr>
          <p:cNvPr id="18" name="Text 16"/>
          <p:cNvSpPr/>
          <p:nvPr/>
        </p:nvSpPr>
        <p:spPr>
          <a:xfrm>
            <a:off x="6995160" y="1280160"/>
            <a:ext cx="2057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28A74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7086600" y="1920240"/>
            <a:ext cx="18745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ハイリスク群を把握し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積極的にスクリーニング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0" y="420624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E8850C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ご視聴ありがとうございました</a:t>
            </a: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ビタミンB12欠乏症【後編】治療・フォローアップ・特殊集団</dc:title>
  <dc:subject>PptxGenJS Presentation</dc:subject>
  <dc:creator>今村久司</dc:creator>
  <cp:lastModifiedBy>今村久司</cp:lastModifiedBy>
  <cp:revision>1</cp:revision>
  <dcterms:created xsi:type="dcterms:W3CDTF">2026-03-27T12:02:34Z</dcterms:created>
  <dcterms:modified xsi:type="dcterms:W3CDTF">2026-03-27T12:02:34Z</dcterms:modified>
</cp:coreProperties>
</file>