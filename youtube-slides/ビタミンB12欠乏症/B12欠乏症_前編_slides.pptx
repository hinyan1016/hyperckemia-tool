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ビタミンB12欠乏症【前編】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症状・原因・診断アプローチ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「MCVが正常でも、B12欠乏は否定できない」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見落とさないための3つの鉄則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貧血なし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でも発症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神経症状例の1/4以上で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Hb・MCVは正常範囲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329184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正常低値でも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否定できない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血清B12「正常低値」でも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機能的欠乏あり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MMA追加測定が必要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3291840"/>
          </a:xfrm>
          <a:prstGeom prst="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治療の遅れ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＝不可逆的障害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6517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早期発見・早期介入が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予後を決定する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B12欠乏で上昇する2つのマーカー：ホモシステインとMMA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細胞質（メチオニン合成酵素）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ホモシステイン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B12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1188720" cy="457200"/>
          </a:xfrm>
          <a:prstGeom prst="rect">
            <a:avLst>
              <a:gd name="adj" fmla="val 10000"/>
            </a:avLst>
          </a:prstGeom>
          <a:solidFill>
            <a:srgbClr val="E8F4F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メチオニン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 欠乏時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828800" cy="36576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ホモシステイン蓄積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828800" cy="36576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DNA合成障害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 大球性貧血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97280"/>
            <a:ext cx="109728" cy="2926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ミトコンドリア（メチルマロニルCoAムターゼ）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12080" y="1737360"/>
            <a:ext cx="1097280" cy="4572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B12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737360"/>
            <a:ext cx="1463040" cy="4572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スクシニルCoA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 欠乏時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651760"/>
            <a:ext cx="1828800" cy="36576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MMA蓄積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291840"/>
            <a:ext cx="1828800" cy="36576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神経障害（SCD等）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4286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20624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B12欠乏の確認マーカー：ホモシステイン↑ ＋ MMA↑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吸収の各ステップが欠乏の原因となる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09728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食事中B12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（タンパク結合）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828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109728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胃酸・ペプシン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で遊離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6000" y="2377440"/>
            <a:ext cx="1828800" cy="1097280"/>
          </a:xfrm>
          <a:prstGeom prst="rect">
            <a:avLst>
              <a:gd name="adj" fmla="val 4167"/>
            </a:avLst>
          </a:prstGeom>
          <a:solidFill>
            <a:srgbClr val="F8D7DA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障害: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萎縮性胃炎・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PPI・H2RA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1828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9728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内因子と結合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97680" y="2377440"/>
            <a:ext cx="1828800" cy="1097280"/>
          </a:xfrm>
          <a:prstGeom prst="rect">
            <a:avLst>
              <a:gd name="adj" fmla="val 4167"/>
            </a:avLst>
          </a:prstGeom>
          <a:solidFill>
            <a:srgbClr val="F8D7D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障害: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悪性貧血・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胃全摘後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097280"/>
            <a:ext cx="1828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09728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回腸末端で吸収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1828800" cy="1097280"/>
          </a:xfrm>
          <a:prstGeom prst="rect">
            <a:avLst>
              <a:gd name="adj" fmla="val 4167"/>
            </a:avLst>
          </a:prstGeom>
          <a:solidFill>
            <a:srgbClr val="F8D7D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障害: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クローン病・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回腸切除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640080"/>
          </a:xfrm>
          <a:prstGeom prst="rect">
            <a:avLst>
              <a:gd name="adj" fmla="val 14286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体内貯蔵量：2〜5mg（肝臓）→ 枯渇まで数年 → 診断の遅れの原因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SCD：後索＋側索の障害が特徴的パターンを生む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亜急性連合変性（SCD）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2194560" cy="182880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828800"/>
            <a:ext cx="1097280" cy="640080"/>
          </a:xfrm>
          <a:prstGeom prst="ellipse">
            <a:avLst/>
          </a:prstGeom>
          <a:solidFill>
            <a:srgbClr val="FF6B6B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377440"/>
            <a:ext cx="548640" cy="731520"/>
          </a:xfrm>
          <a:prstGeom prst="ellipse">
            <a:avLst/>
          </a:prstGeom>
          <a:solidFill>
            <a:srgbClr val="FF6B6B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2377440"/>
            <a:ext cx="548640" cy="731520"/>
          </a:xfrm>
          <a:prstGeom prst="ellipse">
            <a:avLst/>
          </a:prstGeom>
          <a:solidFill>
            <a:srgbClr val="FF6B6B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側索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27432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09728" cy="2743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進行パターン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深部感覚障害
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感覚性失調
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痙性対麻痺
</a:t>
            </a:r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▶ 末梢神経障害
</a:t>
            </a:r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対称性手袋靴下型しびれ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4114800"/>
            <a:ext cx="4114800" cy="640080"/>
          </a:xfrm>
          <a:prstGeom prst="rect">
            <a:avLst>
              <a:gd name="adj" fmla="val 14286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114800"/>
            <a:ext cx="109728" cy="640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独歩可能で治療開始 → 90%完全回復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4114800"/>
            <a:ext cx="4114800" cy="640080"/>
          </a:xfrm>
          <a:prstGeom prst="rect">
            <a:avLst>
              <a:gd name="adj" fmla="val 14286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4114800"/>
            <a:ext cx="109728" cy="6400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206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車椅子状態で治療開始 → 33〜50%回復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貧血がなくてもB12欠乏を疑うべきケースがある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645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血液所見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MCV上昇（大球性貧血）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過分葉好中球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重症例：汎血球減少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109728" cy="164592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ピットフォール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LDH著増＋間接Bil上昇
</a:t>
            </a:r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溶血性貧血・TTPと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誤診されうる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9536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109728" cy="64008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神経精神症状：うつ・集中困難・記銘力低下・認知機能低下（「治療可能な認知症」）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749040"/>
            <a:ext cx="8595360" cy="1097280"/>
          </a:xfrm>
          <a:prstGeom prst="rect">
            <a:avLst>
              <a:gd name="adj" fmla="val 8333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49040"/>
            <a:ext cx="109728" cy="10972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以下では貧血なしでもB12欠乏を疑う：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原因不明の対称性しびれ、原因不明の歩行障害、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鉄欠乏/サラセミア合併でMCVが正球性、高齢者の原因不明の認知機能低下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欠乏の3大カテゴリ：摂取不足・吸収障害・薬剤性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365760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65760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摂取不足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ヴィーガン・
  低栄養・高齢者
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B12は動物性食品
  のみに含有
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日本DRI 2025: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成人 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4.0μg/日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097280"/>
            <a:ext cx="2926080" cy="365760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097280"/>
            <a:ext cx="109728" cy="36576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吸収障害（最多原因）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食物結合B12吸収障害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(胃酸低下、現在の最多原因・高齢者)
</a:t>
            </a:r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悪性貧血/AIG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(内因子欠乏、甲状腺疾患合併)
</a:t>
            </a:r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胃全摘後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(内因子消失、術後4-5年で必発)
</a:t>
            </a:r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回腸末端病変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(吸収部位喪失、クローン病等)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657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109728" cy="36576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メトホルミン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(Ca依存性吸収阻害、
4ヶ月以上)
</a:t>
            </a:r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PPI/H2RA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(胃酸抑制、12ヶ月以上)
</a:t>
            </a:r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亜酸化窒素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(Co酸化・不活化、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潜在性欠乏を急速顕在化)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血清B12値は「正常」でも機能的欠乏を見逃す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411480"/>
          </a:xfrm>
          <a:prstGeom prst="rect">
            <a:avLst>
              <a:gd name="adj" fmla="val 11111"/>
            </a:avLst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&lt;180 pg/mL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欠乏確定 → 治療開始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411480"/>
          </a:xfrm>
          <a:prstGeom prst="rect">
            <a:avLst>
              <a:gd name="adj" fmla="val 11111"/>
            </a:avLst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180〜350 pg/mL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境界域 → MMA追加測定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743200" cy="411480"/>
          </a:xfrm>
          <a:prstGeom prst="rect">
            <a:avLst>
              <a:gd name="adj" fmla="val 11111"/>
            </a:avLst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&gt;350 pg/mL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欠乏の可能性低い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920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感度・特異度は不十分。臨床症状の認識を最優先（Delphi 2024）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二次的マーカーの比較（Secondary Markers Comparison）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マーカー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変化・特異性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偽陽性要因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5A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MMA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  特異性高い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偽陽性: 腎機能低下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ホモシステイン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↑  特異性低い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偽陽性: 葉酸欠乏・腎機能低下・加齢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ホロTC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↓  特異性高い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偽陽性: 妊娠・OC</a:t>
                      </a:r>
                      <a:endParaRPr lang="en-US" sz="12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4297680"/>
            <a:ext cx="8595360" cy="548640"/>
          </a:xfrm>
          <a:prstGeom prst="rect">
            <a:avLst>
              <a:gd name="adj" fmla="val 16667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4297680"/>
            <a:ext cx="109728" cy="54864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日本ではMMA測定に保険適用制限あり → 診断的治療も選択肢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臨床的疑いから治療開始までのフロー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548640"/>
          </a:xfrm>
          <a:prstGeom prst="rect">
            <a:avLst>
              <a:gd name="adj" fmla="val 16667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臨床的にB12欠乏を疑う（しびれ・歩行障害・認知機能低下・大球性貧血）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50292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血清B12測定 ＋ CBC ＋ 末梢血塗抹 ＋ LDH・間接Bil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1463040" cy="640080"/>
          </a:xfrm>
          <a:prstGeom prst="rect">
            <a:avLst>
              <a:gd name="adj" fmla="val 7143"/>
            </a:avLst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&lt;180 pg/mL: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欠乏確定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651760"/>
            <a:ext cx="1463040" cy="640080"/>
          </a:xfrm>
          <a:prstGeom prst="rect">
            <a:avLst>
              <a:gd name="adj" fmla="val 7143"/>
            </a:avLst>
          </a:prstGeom>
          <a:solidFill>
            <a:srgbClr val="FFF3CD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180-350 pg/mL: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境界域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651760"/>
            <a:ext cx="1463040" cy="640080"/>
          </a:xfrm>
          <a:prstGeom prst="rect">
            <a:avLst>
              <a:gd name="adj" fmla="val 7143"/>
            </a:avLst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&gt;350 pg/mL: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可能性低い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3566160"/>
            <a:ext cx="1463040" cy="4572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MMA測定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MMA↑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5029200" cy="457200"/>
          </a:xfrm>
          <a:prstGeom prst="rect">
            <a:avLst>
              <a:gd name="adj" fmla="val 20000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原因検索：食事歴・薬剤歴・抗IF抗体・H.pylori・上部内視鏡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1097280"/>
            <a:ext cx="3200400" cy="36576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097280"/>
            <a:ext cx="109728" cy="36576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原因検索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2160" y="164592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抗内因子抗体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(特異度高・感度&lt;50%)
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H.pylori陽性 → 除菌
</a:t>
            </a:r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上部消化管内視鏡：
</a:t>
            </a:r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AIG/悪性貧血・胃NET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スクリーニング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4つのTake-home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8333"/>
            </a:avLst>
          </a:prstGeom>
          <a:solidFill>
            <a:srgbClr val="3D1F1F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葉酸単独補充は危険（masking効果）→ 必ずB12＋葉酸の両方を測定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1097280"/>
          </a:xfrm>
          <a:prstGeom prst="rect">
            <a:avLst>
              <a:gd name="adj" fmla="val 8333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大球性貧血の鑑別：
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葉酸欠乏・MDS・甲状腺機能低下・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アルコール・薬剤性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3840480" cy="1097280"/>
          </a:xfrm>
          <a:prstGeom prst="rect">
            <a:avLst>
              <a:gd name="adj" fmla="val 8333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神経症状の鑑別：
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銅欠乏・糖尿病性ニューロパチー・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頚椎症性脊髄症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2057400" cy="1645920"/>
          </a:xfrm>
          <a:prstGeom prst="rect">
            <a:avLst>
              <a:gd name="adj" fmla="val 5556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108960"/>
            <a:ext cx="205740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貧血なしでも疑う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MCVが正常でも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鑑別から外さない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108960"/>
            <a:ext cx="2057400" cy="1645920"/>
          </a:xfrm>
          <a:prstGeom prst="rect">
            <a:avLst>
              <a:gd name="adj" fmla="val 5556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3108960"/>
            <a:ext cx="20574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境界域B12では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MMAを追加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機能的欠乏を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見逃さない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2057400" cy="1645920"/>
          </a:xfrm>
          <a:prstGeom prst="rect">
            <a:avLst>
              <a:gd name="adj" fmla="val 5556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20574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最多原因は食物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結合B12吸収障害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メトホルミン+PPI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併用に注意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3108960"/>
            <a:ext cx="2057400" cy="1645920"/>
          </a:xfrm>
          <a:prstGeom prst="rect">
            <a:avLst>
              <a:gd name="adj" fmla="val 5556"/>
            </a:avLst>
          </a:prstGeom>
          <a:solidFill>
            <a:srgbClr val="24466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3108960"/>
            <a:ext cx="2057400" cy="54864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200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葉酸単独補充の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masking効果に注意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86600" y="4114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必ず両方測定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後編：治療・フォローアップ・特殊集団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ビタミンB12欠乏症【前編】症状・原因・診断アプローチ</dc:title>
  <dc:subject>PptxGenJS Presentation</dc:subject>
  <dc:creator>今村久司</dc:creator>
  <cp:lastModifiedBy>今村久司</cp:lastModifiedBy>
  <cp:revision>1</cp:revision>
  <dcterms:created xsi:type="dcterms:W3CDTF">2026-03-27T12:07:03Z</dcterms:created>
  <dcterms:modified xsi:type="dcterms:W3CDTF">2026-03-27T12:07:03Z</dcterms:modified>
</cp:coreProperties>
</file>