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「めまい」と一言で言っても…実は3タイプある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14450"/>
            <a:ext cx="8286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外来で「めまいがある」と訴える患者さんの多くは、症状をうまく言語化できません。</a:t>
            </a: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しかし、めまいは医学的に3つの明確なタイプに分類でき、それぞれ原因と対処法が異なります。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2148818"/>
            <a:ext cx="2619384" cy="1785938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2148818"/>
            <a:ext cx="2600325" cy="86439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148818"/>
            <a:ext cx="2600325" cy="864394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回転性めまい</a:t>
            </a: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(Vertigo)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71500" y="3446301"/>
            <a:ext cx="231457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ぐるぐる回る</a:t>
            </a:r>
            <a:endParaRPr lang="en-US" sz="1295" dirty="0"/>
          </a:p>
        </p:txBody>
      </p:sp>
      <p:sp>
        <p:nvSpPr>
          <p:cNvPr id="11" name="Shape 8"/>
          <p:cNvSpPr/>
          <p:nvPr/>
        </p:nvSpPr>
        <p:spPr>
          <a:xfrm>
            <a:off x="3243263" y="2148818"/>
            <a:ext cx="2628900" cy="1785938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52778" y="2148818"/>
            <a:ext cx="2609841" cy="86439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3252778" y="2148818"/>
            <a:ext cx="2609841" cy="864394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浮動性めまい</a:t>
            </a: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(Dizziness)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395653" y="3446301"/>
            <a:ext cx="232409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ふわふわする</a:t>
            </a:r>
            <a:endParaRPr lang="en-US" sz="1295" dirty="0"/>
          </a:p>
        </p:txBody>
      </p:sp>
      <p:sp>
        <p:nvSpPr>
          <p:cNvPr id="15" name="Shape 12"/>
          <p:cNvSpPr/>
          <p:nvPr/>
        </p:nvSpPr>
        <p:spPr>
          <a:xfrm>
            <a:off x="6076931" y="2148818"/>
            <a:ext cx="2638416" cy="1785938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96019" y="2148818"/>
            <a:ext cx="2619384" cy="86439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7" name="Text 14"/>
          <p:cNvSpPr/>
          <p:nvPr/>
        </p:nvSpPr>
        <p:spPr>
          <a:xfrm>
            <a:off x="6096019" y="2148818"/>
            <a:ext cx="2619384" cy="864394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立ちくらみ</a:t>
            </a: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(Presyncope)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238894" y="3311463"/>
            <a:ext cx="2333634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立った瞬間に</a:t>
            </a: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暗くなる</a:t>
            </a:r>
            <a:endParaRPr lang="en-US" sz="1295" dirty="0"/>
          </a:p>
        </p:txBody>
      </p:sp>
      <p:sp>
        <p:nvSpPr>
          <p:cNvPr id="19" name="Shape 16"/>
          <p:cNvSpPr/>
          <p:nvPr/>
        </p:nvSpPr>
        <p:spPr>
          <a:xfrm>
            <a:off x="428625" y="4282678"/>
            <a:ext cx="8286750" cy="575072"/>
          </a:xfrm>
          <a:prstGeom prst="rect">
            <a:avLst/>
          </a:prstGeom>
          <a:solidFill>
            <a:srgbClr val="E9F2F9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4282678"/>
            <a:ext cx="8286750" cy="57507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このタイプを正確に伝えるだけで、診断のスピードが大きく変わります。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2/11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回転性めまい（Vertigo）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71575"/>
            <a:ext cx="4071938" cy="3437930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71575"/>
            <a:ext cx="4057650" cy="4607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171575"/>
            <a:ext cx="4057650" cy="46077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1739503"/>
            <a:ext cx="3771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71500" y="2023467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自分や周囲がぐるぐる・くるくる回る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71500" y="2366367"/>
            <a:ext cx="3771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随伴症状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2650331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吐き気・嘔吐を伴うことが多い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571500" y="2993231"/>
            <a:ext cx="3771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原因部位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3277195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内耳（前庭器官）、脳幹、小脳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4629150" y="1171575"/>
            <a:ext cx="4086225" cy="3437930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3438" y="1171575"/>
            <a:ext cx="4071938" cy="4607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4"/>
          <p:cNvSpPr/>
          <p:nvPr/>
        </p:nvSpPr>
        <p:spPr>
          <a:xfrm>
            <a:off x="4643438" y="1171575"/>
            <a:ext cx="4071938" cy="46077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代表的な疾患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4786313" y="1739503"/>
            <a:ext cx="187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5080992" y="1739503"/>
            <a:ext cx="268783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BPPV（良性発作性頭位めまい症）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080992" y="2015235"/>
            <a:ext cx="26878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最も多い原因疾患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86313" y="2300985"/>
            <a:ext cx="187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5080992" y="2300985"/>
            <a:ext cx="12858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メニエール病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5080992" y="2576717"/>
            <a:ext cx="1285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耳鳴り・難聴を伴う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86313" y="2862467"/>
            <a:ext cx="187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5080992" y="2862467"/>
            <a:ext cx="1714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前庭神経炎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5080992" y="3138199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ウイルス感染後などに発症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86313" y="3423949"/>
            <a:ext cx="187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</a:t>
            </a:r>
            <a:endParaRPr lang="en-US" sz="1397" dirty="0"/>
          </a:p>
        </p:txBody>
      </p:sp>
      <p:sp>
        <p:nvSpPr>
          <p:cNvPr id="28" name="Text 25"/>
          <p:cNvSpPr/>
          <p:nvPr/>
        </p:nvSpPr>
        <p:spPr>
          <a:xfrm>
            <a:off x="5080992" y="3423949"/>
            <a:ext cx="214312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小脳・脳幹梗塞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5080992" y="3699681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見逃し厳禁（危険サインに注意）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428625" y="4680942"/>
            <a:ext cx="8286750" cy="391120"/>
          </a:xfrm>
          <a:prstGeom prst="rect">
            <a:avLst/>
          </a:prstGeom>
          <a:solidFill>
            <a:srgbClr val="FDECEA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8625" y="4680942"/>
            <a:ext cx="8286750" cy="391120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「良性」疾患が多いが、脳卒中が混じることがあるため危険サインの確認が重要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3/11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24280" y="4764881"/>
            <a:ext cx="405408" cy="23574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8524280" y="4764881"/>
            <a:ext cx="405408" cy="23574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4/11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立ちくらみ（Presyncope）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14450"/>
            <a:ext cx="4000500" cy="3614738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314450"/>
            <a:ext cx="3986213" cy="50363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14450"/>
            <a:ext cx="3986213" cy="50363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42938" y="2032397"/>
            <a:ext cx="355758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42938" y="2352080"/>
            <a:ext cx="35575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立ち上がったとき、一瞬目の前が暗くなる、気が遠くなりそう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642938" y="3080742"/>
            <a:ext cx="355758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42938" y="3400425"/>
            <a:ext cx="35575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脳への血流が一時的に低下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4700588" y="1314450"/>
            <a:ext cx="4014788" cy="3614738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14875" y="1314450"/>
            <a:ext cx="4000500" cy="50363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875" y="1314450"/>
            <a:ext cx="4000500" cy="50363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主な原因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4929188" y="2032397"/>
            <a:ext cx="2000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5236369" y="2032397"/>
            <a:ext cx="32646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起立性低血圧（最多）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236369" y="2325291"/>
            <a:ext cx="32646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横になっている状態から立ち上がった直後、3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5236369" y="2561034"/>
            <a:ext cx="32646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分以内に収縮期血圧が20 mmHg以上低下</a:t>
            </a:r>
            <a:endParaRPr lang="en-US" sz="1159" dirty="0"/>
          </a:p>
        </p:txBody>
      </p:sp>
      <p:sp>
        <p:nvSpPr>
          <p:cNvPr id="20" name="Text 17"/>
          <p:cNvSpPr/>
          <p:nvPr/>
        </p:nvSpPr>
        <p:spPr>
          <a:xfrm>
            <a:off x="4929188" y="2975372"/>
            <a:ext cx="2000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236369" y="2975372"/>
            <a:ext cx="32646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不整脈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929188" y="3454003"/>
            <a:ext cx="2000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5236369" y="3454003"/>
            <a:ext cx="32646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脱水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929188" y="3932634"/>
            <a:ext cx="2000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5236369" y="3932634"/>
            <a:ext cx="32646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降圧薬の過剰服用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5/11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めまいタイプ判定フロー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00138"/>
            <a:ext cx="3214688" cy="433983"/>
          </a:xfrm>
          <a:prstGeom prst="rect">
            <a:avLst/>
          </a:prstGeom>
          <a:solidFill>
            <a:srgbClr val="FFFFFF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100138"/>
            <a:ext cx="3214688" cy="43398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Q1. 立ち上がった直後に起きたか？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729038" y="1140321"/>
            <a:ext cx="92154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YES →</a:t>
            </a:r>
            <a:endParaRPr lang="en-US" sz="1499" dirty="0"/>
          </a:p>
        </p:txBody>
      </p:sp>
      <p:sp>
        <p:nvSpPr>
          <p:cNvPr id="9" name="Shape 6"/>
          <p:cNvSpPr/>
          <p:nvPr/>
        </p:nvSpPr>
        <p:spPr>
          <a:xfrm>
            <a:off x="4736306" y="1100138"/>
            <a:ext cx="2143125" cy="39112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Text 7"/>
          <p:cNvSpPr/>
          <p:nvPr/>
        </p:nvSpPr>
        <p:spPr>
          <a:xfrm>
            <a:off x="4736306" y="1100138"/>
            <a:ext cx="2143125" cy="39112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立ちくらみ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1548408"/>
            <a:ext cx="321468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 NO</a:t>
            </a:r>
            <a:endParaRPr lang="en-US" sz="1499" dirty="0"/>
          </a:p>
        </p:txBody>
      </p:sp>
      <p:sp>
        <p:nvSpPr>
          <p:cNvPr id="12" name="Shape 9"/>
          <p:cNvSpPr/>
          <p:nvPr/>
        </p:nvSpPr>
        <p:spPr>
          <a:xfrm>
            <a:off x="428625" y="1916311"/>
            <a:ext cx="3214688" cy="433983"/>
          </a:xfrm>
          <a:prstGeom prst="rect">
            <a:avLst/>
          </a:prstGeom>
          <a:solidFill>
            <a:srgbClr val="FFFFFF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1916311"/>
            <a:ext cx="3214688" cy="43398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Q2. ぐるぐる回る感覚があるか？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729038" y="1956495"/>
            <a:ext cx="85367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NO →</a:t>
            </a:r>
            <a:endParaRPr lang="en-US" sz="1499" dirty="0"/>
          </a:p>
        </p:txBody>
      </p:sp>
      <p:sp>
        <p:nvSpPr>
          <p:cNvPr id="15" name="Shape 12"/>
          <p:cNvSpPr/>
          <p:nvPr/>
        </p:nvSpPr>
        <p:spPr>
          <a:xfrm>
            <a:off x="4668441" y="1916311"/>
            <a:ext cx="2143125" cy="391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4668441" y="1916311"/>
            <a:ext cx="2143125" cy="39112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浮動性めまい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28625" y="2364581"/>
            <a:ext cx="321468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 YES</a:t>
            </a:r>
            <a:endParaRPr lang="en-US" sz="1499" dirty="0"/>
          </a:p>
        </p:txBody>
      </p:sp>
      <p:sp>
        <p:nvSpPr>
          <p:cNvPr id="18" name="Shape 15"/>
          <p:cNvSpPr/>
          <p:nvPr/>
        </p:nvSpPr>
        <p:spPr>
          <a:xfrm>
            <a:off x="428625" y="2732484"/>
            <a:ext cx="3214688" cy="391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2732484"/>
            <a:ext cx="3214688" cy="39112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回転性めまい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642938" y="3237905"/>
            <a:ext cx="2286000" cy="879742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4375" y="3309342"/>
            <a:ext cx="2143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頭を動かしたとき30秒以内に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誘発・消失する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714375" y="3726526"/>
            <a:ext cx="2143125" cy="2911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</a:t>
            </a:r>
            <a:endParaRPr lang="en-US" sz="1090" dirty="0"/>
          </a:p>
        </p:txBody>
      </p:sp>
      <p:sp>
        <p:nvSpPr>
          <p:cNvPr id="23" name="Shape 20"/>
          <p:cNvSpPr/>
          <p:nvPr/>
        </p:nvSpPr>
        <p:spPr>
          <a:xfrm>
            <a:off x="3014663" y="3237905"/>
            <a:ext cx="2286000" cy="879742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86100" y="3309342"/>
            <a:ext cx="2143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耳鳴り・難聴を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繰り返し伴う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086100" y="3726526"/>
            <a:ext cx="2143125" cy="2911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メニエール病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5386388" y="3237905"/>
            <a:ext cx="2286000" cy="879742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57825" y="3309342"/>
            <a:ext cx="2143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数日続く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942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強いめまい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457825" y="3726526"/>
            <a:ext cx="2143125" cy="2911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前庭神経炎</a:t>
            </a:r>
            <a:endParaRPr lang="en-US" sz="1090" dirty="0"/>
          </a:p>
        </p:txBody>
      </p:sp>
      <p:sp>
        <p:nvSpPr>
          <p:cNvPr id="29" name="Shape 26"/>
          <p:cNvSpPr/>
          <p:nvPr/>
        </p:nvSpPr>
        <p:spPr>
          <a:xfrm>
            <a:off x="428625" y="4517752"/>
            <a:ext cx="8286750" cy="625748"/>
          </a:xfrm>
          <a:prstGeom prst="rect">
            <a:avLst/>
          </a:prstGeom>
          <a:solidFill>
            <a:srgbClr val="FDECEA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925" y="4644889"/>
            <a:ext cx="35718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2016" dirty="0"/>
          </a:p>
        </p:txBody>
      </p:sp>
      <p:sp>
        <p:nvSpPr>
          <p:cNvPr id="31" name="Text 28"/>
          <p:cNvSpPr/>
          <p:nvPr/>
        </p:nvSpPr>
        <p:spPr>
          <a:xfrm>
            <a:off x="985838" y="4632052"/>
            <a:ext cx="5023842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いずれのタイプでも、頭痛・複視・麻痺・構音障害・意識障害があれば</a:t>
            </a: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脳卒中を除外するために即座に受診してください！</a:t>
            </a:r>
            <a:endParaRPr lang="en-US" sz="1090" dirty="0"/>
          </a:p>
        </p:txBody>
      </p:sp>
      <p:sp>
        <p:nvSpPr>
          <p:cNvPr id="32" name="Text 29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6/11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代表疾患の比較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14450"/>
            <a:ext cx="8286750" cy="2918222"/>
          </a:xfrm>
          <a:prstGeom prst="rect">
            <a:avLst/>
          </a:prstGeom>
          <a:solidFill>
            <a:srgbClr val="FFFFFF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2197" y="1318022"/>
            <a:ext cx="1655899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2197" y="1318022"/>
            <a:ext cx="1655899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疾患名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2088096" y="1318022"/>
            <a:ext cx="993539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88096" y="1318022"/>
            <a:ext cx="993539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タイプ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3081635" y="1318022"/>
            <a:ext cx="1241924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81635" y="1318022"/>
            <a:ext cx="1241924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持続時間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4323559" y="1318022"/>
            <a:ext cx="1241924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3559" y="1318022"/>
            <a:ext cx="1241924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誘発因子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5565484" y="1318022"/>
            <a:ext cx="1904284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65484" y="1318022"/>
            <a:ext cx="1904284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随伴症状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7469767" y="1318022"/>
            <a:ext cx="1242036" cy="428625"/>
          </a:xfrm>
          <a:prstGeom prst="rect">
            <a:avLst/>
          </a:prstGeom>
          <a:solidFill>
            <a:srgbClr val="2C4F6F"/>
          </a:solidFill>
          <a:ln w="9144">
            <a:solidFill>
              <a:srgbClr val="2C4F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9767" y="1318022"/>
            <a:ext cx="1242036" cy="428625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42925" y="1850231"/>
            <a:ext cx="423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542925" y="2127052"/>
            <a:ext cx="13358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(良性発作性頭位めまい症)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088096" y="1739503"/>
            <a:ext cx="993539" cy="6750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回転性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3081635" y="1739503"/>
            <a:ext cx="1241924" cy="6750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数秒〜30秒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34287" y="1869877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頭位変換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34287" y="2077045"/>
            <a:ext cx="6679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(寝返り等)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65484" y="1739503"/>
            <a:ext cx="1904284" cy="6750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なし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69767" y="1739503"/>
            <a:ext cx="1242036" cy="6750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耳石のずれ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2197" y="2414588"/>
            <a:ext cx="8279606" cy="44827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8" name="Text 25"/>
          <p:cNvSpPr/>
          <p:nvPr/>
        </p:nvSpPr>
        <p:spPr>
          <a:xfrm>
            <a:off x="432197" y="2414588"/>
            <a:ext cx="165589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メニエール病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2088096" y="2414588"/>
            <a:ext cx="99353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回転性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3081635" y="241458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20分〜数時間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323559" y="241458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繰り返す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565484" y="2414588"/>
            <a:ext cx="190428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耳鳴り・難聴・耳閉感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469767" y="2414588"/>
            <a:ext cx="124203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内リンパ水腫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32197" y="2862858"/>
            <a:ext cx="165589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前庭神経炎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2088096" y="2862858"/>
            <a:ext cx="99353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回転性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3081635" y="286285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数日〜数週間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323559" y="286285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突然発症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565484" y="2862858"/>
            <a:ext cx="190428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難聴なし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469767" y="2862858"/>
            <a:ext cx="124203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ウイルス感染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32197" y="3311128"/>
            <a:ext cx="8279606" cy="44827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41" name="Shape 38"/>
          <p:cNvSpPr/>
          <p:nvPr/>
        </p:nvSpPr>
        <p:spPr>
          <a:xfrm>
            <a:off x="432197" y="3311128"/>
            <a:ext cx="1655899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2197" y="3311128"/>
            <a:ext cx="165589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小脳・脳幹梗塞</a:t>
            </a:r>
            <a:endParaRPr lang="en-US" sz="1090" dirty="0"/>
          </a:p>
        </p:txBody>
      </p:sp>
      <p:sp>
        <p:nvSpPr>
          <p:cNvPr id="43" name="Shape 40"/>
          <p:cNvSpPr/>
          <p:nvPr/>
        </p:nvSpPr>
        <p:spPr>
          <a:xfrm>
            <a:off x="2088096" y="3311128"/>
            <a:ext cx="993539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088096" y="3311128"/>
            <a:ext cx="99353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回転性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3081635" y="3311128"/>
            <a:ext cx="1241924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081635" y="331112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323559" y="3311128"/>
            <a:ext cx="1241924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23559" y="331112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突然発症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565484" y="3311128"/>
            <a:ext cx="1904284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565484" y="3311128"/>
            <a:ext cx="190428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複視・構音障害・麻痺</a:t>
            </a:r>
            <a:endParaRPr lang="en-US" sz="987" dirty="0"/>
          </a:p>
        </p:txBody>
      </p:sp>
      <p:sp>
        <p:nvSpPr>
          <p:cNvPr id="51" name="Shape 48"/>
          <p:cNvSpPr/>
          <p:nvPr/>
        </p:nvSpPr>
        <p:spPr>
          <a:xfrm>
            <a:off x="7469767" y="3311128"/>
            <a:ext cx="1242036" cy="44827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69767" y="3311128"/>
            <a:ext cx="124203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脳血管障害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32197" y="3759398"/>
            <a:ext cx="165589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起立性低血圧</a:t>
            </a:r>
            <a:endParaRPr lang="en-US" sz="1090" dirty="0"/>
          </a:p>
        </p:txBody>
      </p:sp>
      <p:sp>
        <p:nvSpPr>
          <p:cNvPr id="54" name="Text 51"/>
          <p:cNvSpPr/>
          <p:nvPr/>
        </p:nvSpPr>
        <p:spPr>
          <a:xfrm>
            <a:off x="2088096" y="3759398"/>
            <a:ext cx="99353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立ちくらみ</a:t>
            </a:r>
            <a:endParaRPr lang="en-US" sz="987" dirty="0"/>
          </a:p>
        </p:txBody>
      </p:sp>
      <p:sp>
        <p:nvSpPr>
          <p:cNvPr id="55" name="Text 52"/>
          <p:cNvSpPr/>
          <p:nvPr/>
        </p:nvSpPr>
        <p:spPr>
          <a:xfrm>
            <a:off x="3081635" y="375939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数秒〜1分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323559" y="3759398"/>
            <a:ext cx="124192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立ち上がり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565484" y="3759398"/>
            <a:ext cx="1904284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なし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469767" y="3759398"/>
            <a:ext cx="124203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血圧低下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 とメニエール病の見分け方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243013"/>
            <a:ext cx="4000500" cy="3757613"/>
          </a:xfrm>
          <a:prstGeom prst="rect">
            <a:avLst/>
          </a:prstGeom>
          <a:solidFill>
            <a:srgbClr val="FFFFFF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243013"/>
            <a:ext cx="3986213" cy="503634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243013"/>
            <a:ext cx="3986213" cy="50363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BPPV（良性発作性頭位めまい症）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42938" y="1925241"/>
            <a:ext cx="1812727" cy="29825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鍵となる2つのポイント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42938" y="2330648"/>
            <a:ext cx="1714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885825" y="2330648"/>
            <a:ext cx="18859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頭を動かすと誘発される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42938" y="2677818"/>
            <a:ext cx="1714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885825" y="2677818"/>
            <a:ext cx="15430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耳鳴り・難聴がない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42938" y="3132144"/>
            <a:ext cx="342900" cy="29825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42938" y="3537552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持続時間: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1500188" y="3537552"/>
            <a:ext cx="6465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30秒以内</a:t>
            </a:r>
            <a:endParaRPr lang="en-US" sz="1159" dirty="0"/>
          </a:p>
        </p:txBody>
      </p:sp>
      <p:sp>
        <p:nvSpPr>
          <p:cNvPr id="17" name="Text 14"/>
          <p:cNvSpPr/>
          <p:nvPr/>
        </p:nvSpPr>
        <p:spPr>
          <a:xfrm>
            <a:off x="642938" y="3880452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誘発動作: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1500188" y="3880452"/>
            <a:ext cx="14073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寝返り、起き上がり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642938" y="4223352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治療: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1500188" y="4223352"/>
            <a:ext cx="17287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頭位変換療法で改善可能</a:t>
            </a:r>
            <a:endParaRPr lang="en-US" sz="1159" dirty="0"/>
          </a:p>
        </p:txBody>
      </p:sp>
      <p:sp>
        <p:nvSpPr>
          <p:cNvPr id="21" name="Shape 18"/>
          <p:cNvSpPr/>
          <p:nvPr/>
        </p:nvSpPr>
        <p:spPr>
          <a:xfrm>
            <a:off x="4700588" y="1243013"/>
            <a:ext cx="4014788" cy="3757613"/>
          </a:xfrm>
          <a:prstGeom prst="rect">
            <a:avLst/>
          </a:prstGeom>
          <a:solidFill>
            <a:srgbClr val="FFFFFF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4875" y="1243013"/>
            <a:ext cx="4000500" cy="503634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23" name="Text 20"/>
          <p:cNvSpPr/>
          <p:nvPr/>
        </p:nvSpPr>
        <p:spPr>
          <a:xfrm>
            <a:off x="4714875" y="1243013"/>
            <a:ext cx="4000500" cy="50363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メニエール病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4929188" y="1925241"/>
            <a:ext cx="1812727" cy="29825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鍵となる2つのポイント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929188" y="2330648"/>
            <a:ext cx="1714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5172075" y="2330648"/>
            <a:ext cx="18859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耳鳴り・難聴・耳閉感を</a:t>
            </a: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繰り返し伴う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929188" y="2917831"/>
            <a:ext cx="1714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5172075" y="2917831"/>
            <a:ext cx="13716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めまいが繰り返す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4929188" y="3372157"/>
            <a:ext cx="342900" cy="29825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4929188" y="3777565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持続時間: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5786438" y="3777565"/>
            <a:ext cx="9608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20分〜数時間</a:t>
            </a:r>
            <a:endParaRPr lang="en-US" sz="1159" dirty="0"/>
          </a:p>
        </p:txBody>
      </p:sp>
      <p:sp>
        <p:nvSpPr>
          <p:cNvPr id="32" name="Text 29"/>
          <p:cNvSpPr/>
          <p:nvPr/>
        </p:nvSpPr>
        <p:spPr>
          <a:xfrm>
            <a:off x="4929188" y="4120465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随伴症状: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5786438" y="4120465"/>
            <a:ext cx="1571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低音域の耳鳴り・難聴</a:t>
            </a:r>
            <a:endParaRPr lang="en-US" sz="1159" dirty="0"/>
          </a:p>
        </p:txBody>
      </p:sp>
      <p:sp>
        <p:nvSpPr>
          <p:cNvPr id="34" name="Text 31"/>
          <p:cNvSpPr/>
          <p:nvPr/>
        </p:nvSpPr>
        <p:spPr>
          <a:xfrm>
            <a:off x="4929188" y="4463365"/>
            <a:ext cx="857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原因: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5786438" y="4463365"/>
            <a:ext cx="9429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内リンパ水腫</a:t>
            </a:r>
            <a:endParaRPr lang="en-US" sz="1159" dirty="0"/>
          </a:p>
        </p:txBody>
      </p:sp>
      <p:sp>
        <p:nvSpPr>
          <p:cNvPr id="36" name="Text 33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危険なめまいのサイン — 1つでもあれば即受診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57288"/>
            <a:ext cx="8286750" cy="728663"/>
          </a:xfrm>
          <a:prstGeom prst="rect">
            <a:avLst/>
          </a:prstGeom>
          <a:solidFill>
            <a:srgbClr val="FDECEA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157288"/>
            <a:ext cx="8286750" cy="72866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脳幹・小脳梗塞によるめまいは、最初は内耳性めまいと見分けがつきにくいことがあります。</a:t>
            </a: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93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以下のサインを見逃さないでください。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1957388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638" y="2028825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10" name="Text 7"/>
          <p:cNvSpPr/>
          <p:nvPr/>
        </p:nvSpPr>
        <p:spPr>
          <a:xfrm>
            <a:off x="900113" y="2028825"/>
            <a:ext cx="2400300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突然の激しい頭痛を伴うめまい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428625" y="2426001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638" y="2497438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13" name="Text 10"/>
          <p:cNvSpPr/>
          <p:nvPr/>
        </p:nvSpPr>
        <p:spPr>
          <a:xfrm>
            <a:off x="900113" y="2497438"/>
            <a:ext cx="2223492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複視（ものが二重に見える）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428625" y="2894614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638" y="2966052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16" name="Text 13"/>
          <p:cNvSpPr/>
          <p:nvPr/>
        </p:nvSpPr>
        <p:spPr>
          <a:xfrm>
            <a:off x="900113" y="2966052"/>
            <a:ext cx="1885950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顔・手足のしびれや麻痺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428625" y="3363227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8638" y="3434665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19" name="Text 16"/>
          <p:cNvSpPr/>
          <p:nvPr/>
        </p:nvSpPr>
        <p:spPr>
          <a:xfrm>
            <a:off x="900113" y="3434665"/>
            <a:ext cx="2053828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呂律（ろれつ）が回らない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4643438" y="1957388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43450" y="2028825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22" name="Text 19"/>
          <p:cNvSpPr/>
          <p:nvPr/>
        </p:nvSpPr>
        <p:spPr>
          <a:xfrm>
            <a:off x="5114925" y="2028825"/>
            <a:ext cx="3421856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まっすぐ立てない・歩行が明らかにおかしい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4643438" y="2426001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43450" y="2497438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25" name="Text 22"/>
          <p:cNvSpPr/>
          <p:nvPr/>
        </p:nvSpPr>
        <p:spPr>
          <a:xfrm>
            <a:off x="5114925" y="2497438"/>
            <a:ext cx="1703784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意識がもうろうとする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4643438" y="2894614"/>
            <a:ext cx="4071938" cy="42575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43450" y="2966052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704" dirty="0"/>
          </a:p>
        </p:txBody>
      </p:sp>
      <p:sp>
        <p:nvSpPr>
          <p:cNvPr id="28" name="Text 25"/>
          <p:cNvSpPr/>
          <p:nvPr/>
        </p:nvSpPr>
        <p:spPr>
          <a:xfrm>
            <a:off x="5114925" y="2966052"/>
            <a:ext cx="3257550" cy="25430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垂直眼振（眼振の向きが上下・斜め方向）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428625" y="3888991"/>
            <a:ext cx="8459037" cy="369689"/>
          </a:xfrm>
          <a:prstGeom prst="rect">
            <a:avLst/>
          </a:prstGeom>
          <a:solidFill>
            <a:srgbClr val="E9F2F9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3888991"/>
            <a:ext cx="42863" cy="369689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31" name="Text 28"/>
          <p:cNvSpPr/>
          <p:nvPr/>
        </p:nvSpPr>
        <p:spPr>
          <a:xfrm>
            <a:off x="428625" y="3888991"/>
            <a:ext cx="8459037" cy="36968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専門知識:</a:t>
            </a:r>
            <a:r>
              <a:rPr lang="en-US" sz="1159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HINTS（ヒンツ）と呼ばれる眼球運動の3つの検査で、脳卒中と末梢性めまいを区別することができます。</a:t>
            </a:r>
            <a:endParaRPr lang="en-US" sz="1159" dirty="0"/>
          </a:p>
        </p:txBody>
      </p:sp>
      <p:sp>
        <p:nvSpPr>
          <p:cNvPr id="32" name="Text 29"/>
          <p:cNvSpPr/>
          <p:nvPr/>
        </p:nvSpPr>
        <p:spPr>
          <a:xfrm>
            <a:off x="8638580" y="4793456"/>
            <a:ext cx="2911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9/11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様子見でよいめまいの特徴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1200150"/>
            <a:ext cx="85725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すべてのめまいが緊急対応を要するわけではありません。</a:t>
            </a: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269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以下の特徴が揃う場合は、まずかかりつけ医や耳鼻科への受診から始めることができます。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285750" y="1891643"/>
            <a:ext cx="42005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891643"/>
            <a:ext cx="42863" cy="657225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2070236"/>
            <a:ext cx="146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89372" y="1963080"/>
            <a:ext cx="36968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頭を動かしたときだけ誘発され、30秒以内に自</a:t>
            </a: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然に治まる</a:t>
            </a:r>
            <a:r>
              <a:rPr lang="en-US" sz="105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（BPPV を示唆）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4657725" y="1891643"/>
            <a:ext cx="42005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657725" y="1891643"/>
            <a:ext cx="42863" cy="657225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4757738" y="2070236"/>
            <a:ext cx="146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5061347" y="1963080"/>
            <a:ext cx="36968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以前にも同じめまいがあり、医師に診断を受けたことがある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285750" y="2634593"/>
            <a:ext cx="42005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2634593"/>
            <a:ext cx="42863" cy="657225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385763" y="2813186"/>
            <a:ext cx="146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89372" y="2706030"/>
            <a:ext cx="36968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危険なめまいのサイン（頭痛・麻痺など）が一切ない</a:t>
            </a:r>
            <a:endParaRPr lang="en-US" sz="1193" dirty="0"/>
          </a:p>
        </p:txBody>
      </p:sp>
      <p:sp>
        <p:nvSpPr>
          <p:cNvPr id="19" name="Shape 16"/>
          <p:cNvSpPr/>
          <p:nvPr/>
        </p:nvSpPr>
        <p:spPr>
          <a:xfrm>
            <a:off x="4657725" y="2634593"/>
            <a:ext cx="42005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57725" y="2634593"/>
            <a:ext cx="42863" cy="657225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8"/>
          <p:cNvSpPr/>
          <p:nvPr/>
        </p:nvSpPr>
        <p:spPr>
          <a:xfrm>
            <a:off x="4757738" y="2813186"/>
            <a:ext cx="146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5061347" y="2706030"/>
            <a:ext cx="36968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立ち上がったときだけで、安静にしていれば全</a:t>
            </a: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く症状がない</a:t>
            </a:r>
            <a:r>
              <a:rPr lang="en-US" sz="105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（立ちくらみ）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285750" y="3377543"/>
            <a:ext cx="42005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285750" y="3377543"/>
            <a:ext cx="42863" cy="657225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2"/>
          <p:cNvSpPr/>
          <p:nvPr/>
        </p:nvSpPr>
        <p:spPr>
          <a:xfrm>
            <a:off x="385763" y="3556136"/>
            <a:ext cx="146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689372" y="3448980"/>
            <a:ext cx="36968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体の倦怠感・発熱などがあり、全身状態の悪化に伴うめまいと説明がつく</a:t>
            </a:r>
            <a:endParaRPr lang="en-US" sz="1193" dirty="0"/>
          </a:p>
        </p:txBody>
      </p:sp>
      <p:sp>
        <p:nvSpPr>
          <p:cNvPr id="27" name="Shape 24"/>
          <p:cNvSpPr/>
          <p:nvPr/>
        </p:nvSpPr>
        <p:spPr>
          <a:xfrm>
            <a:off x="285750" y="4177643"/>
            <a:ext cx="8572500" cy="685800"/>
          </a:xfrm>
          <a:prstGeom prst="rect">
            <a:avLst/>
          </a:prstGeom>
          <a:solidFill>
            <a:srgbClr val="FFF8E1"/>
          </a:solidFill>
          <a:ln w="18288">
            <a:solidFill>
              <a:srgbClr val="E67E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0050" y="4227649"/>
            <a:ext cx="32146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</a:t>
            </a:r>
            <a:endParaRPr lang="en-US" sz="1808" dirty="0"/>
          </a:p>
        </p:txBody>
      </p:sp>
      <p:sp>
        <p:nvSpPr>
          <p:cNvPr id="29" name="Text 26"/>
          <p:cNvSpPr/>
          <p:nvPr/>
        </p:nvSpPr>
        <p:spPr>
          <a:xfrm>
            <a:off x="807244" y="4263368"/>
            <a:ext cx="657760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注意点：同じ人に「いつもと少し違う」めまいが起きたときは注意が必要です。</a:t>
            </a:r>
            <a:r>
              <a:rPr lang="en-US" sz="109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9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BPPV の既往がある方でも、新たに神経症状が加わった場合は改めて評価を受けてください。</a:t>
            </a:r>
            <a:endParaRPr lang="en-US" sz="1090" dirty="0"/>
          </a:p>
        </p:txBody>
      </p:sp>
      <p:sp>
        <p:nvSpPr>
          <p:cNvPr id="30" name="Text 27"/>
          <p:cNvSpPr/>
          <p:nvPr/>
        </p:nvSpPr>
        <p:spPr>
          <a:xfrm>
            <a:off x="8559998" y="4793456"/>
            <a:ext cx="36968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10/11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0125"/>
            <a:ext cx="9144000" cy="2857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まとめ（Take Home Message）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57288"/>
            <a:ext cx="4071938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157288"/>
            <a:ext cx="42863" cy="93404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1243013"/>
            <a:ext cx="2857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942975" y="1218009"/>
            <a:ext cx="74295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めまいは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1685925" y="1218009"/>
            <a:ext cx="55721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回転性</a:t>
            </a:r>
            <a:endParaRPr lang="en-US" sz="1295" dirty="0"/>
          </a:p>
        </p:txBody>
      </p:sp>
      <p:sp>
        <p:nvSpPr>
          <p:cNvPr id="11" name="Text 8"/>
          <p:cNvSpPr/>
          <p:nvPr/>
        </p:nvSpPr>
        <p:spPr>
          <a:xfrm>
            <a:off x="2243138" y="1218009"/>
            <a:ext cx="1857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2428875" y="1218009"/>
            <a:ext cx="55721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浮動性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2986088" y="1218009"/>
            <a:ext cx="1857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3171825" y="1218009"/>
            <a:ext cx="92868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5DAD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立ちくらみ</a:t>
            </a:r>
            <a:endParaRPr lang="en-US" sz="1295" dirty="0"/>
          </a:p>
        </p:txBody>
      </p:sp>
      <p:sp>
        <p:nvSpPr>
          <p:cNvPr id="15" name="Text 12"/>
          <p:cNvSpPr/>
          <p:nvPr/>
        </p:nvSpPr>
        <p:spPr>
          <a:xfrm>
            <a:off x="942975" y="1218009"/>
            <a:ext cx="334327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の3タイプ</a:t>
            </a:r>
            <a:endParaRPr lang="en-US" sz="1295" dirty="0"/>
          </a:p>
        </p:txBody>
      </p:sp>
      <p:sp>
        <p:nvSpPr>
          <p:cNvPr id="16" name="Text 13"/>
          <p:cNvSpPr/>
          <p:nvPr/>
        </p:nvSpPr>
        <p:spPr>
          <a:xfrm>
            <a:off x="942975" y="1732359"/>
            <a:ext cx="34432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タイプを伝えるだけで診断がスムーズに</a:t>
            </a:r>
            <a:endParaRPr lang="en-US" sz="1159" dirty="0"/>
          </a:p>
        </p:txBody>
      </p:sp>
      <p:sp>
        <p:nvSpPr>
          <p:cNvPr id="17" name="Shape 14"/>
          <p:cNvSpPr/>
          <p:nvPr/>
        </p:nvSpPr>
        <p:spPr>
          <a:xfrm>
            <a:off x="4643438" y="1157288"/>
            <a:ext cx="4071938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43438" y="1157288"/>
            <a:ext cx="42863" cy="93404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19" name="Text 16"/>
          <p:cNvSpPr/>
          <p:nvPr/>
        </p:nvSpPr>
        <p:spPr>
          <a:xfrm>
            <a:off x="4757738" y="1243013"/>
            <a:ext cx="2857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5157788" y="1218009"/>
            <a:ext cx="105370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最多はBPPV</a:t>
            </a:r>
            <a:endParaRPr lang="en-US" sz="1295" dirty="0"/>
          </a:p>
        </p:txBody>
      </p:sp>
      <p:sp>
        <p:nvSpPr>
          <p:cNvPr id="21" name="Text 18"/>
          <p:cNvSpPr/>
          <p:nvPr/>
        </p:nvSpPr>
        <p:spPr>
          <a:xfrm>
            <a:off x="5157788" y="1509117"/>
            <a:ext cx="3318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頭位変換で30秒以内に誘発・消失。耳鳴り・難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5157788" y="1778794"/>
            <a:ext cx="3318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聴はない</a:t>
            </a:r>
            <a:endParaRPr lang="en-US" sz="1159" dirty="0"/>
          </a:p>
        </p:txBody>
      </p:sp>
      <p:sp>
        <p:nvSpPr>
          <p:cNvPr id="23" name="Shape 20"/>
          <p:cNvSpPr/>
          <p:nvPr/>
        </p:nvSpPr>
        <p:spPr>
          <a:xfrm>
            <a:off x="428625" y="2177058"/>
            <a:ext cx="4071938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2177058"/>
            <a:ext cx="42863" cy="93404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25" name="Text 22"/>
          <p:cNvSpPr/>
          <p:nvPr/>
        </p:nvSpPr>
        <p:spPr>
          <a:xfrm>
            <a:off x="542925" y="2262783"/>
            <a:ext cx="2857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8" dirty="0"/>
          </a:p>
        </p:txBody>
      </p:sp>
      <p:sp>
        <p:nvSpPr>
          <p:cNvPr id="26" name="Text 23"/>
          <p:cNvSpPr/>
          <p:nvPr/>
        </p:nvSpPr>
        <p:spPr>
          <a:xfrm>
            <a:off x="942975" y="2237780"/>
            <a:ext cx="16716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メニエール病の特徴</a:t>
            </a:r>
            <a:endParaRPr lang="en-US" sz="1295" dirty="0"/>
          </a:p>
        </p:txBody>
      </p:sp>
      <p:sp>
        <p:nvSpPr>
          <p:cNvPr id="27" name="Text 24"/>
          <p:cNvSpPr/>
          <p:nvPr/>
        </p:nvSpPr>
        <p:spPr>
          <a:xfrm>
            <a:off x="942975" y="2528888"/>
            <a:ext cx="267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耳鳴り・難聴を繰り返す回転性めまい</a:t>
            </a:r>
            <a:endParaRPr lang="en-US" sz="1159" dirty="0"/>
          </a:p>
        </p:txBody>
      </p:sp>
      <p:sp>
        <p:nvSpPr>
          <p:cNvPr id="28" name="Shape 25"/>
          <p:cNvSpPr/>
          <p:nvPr/>
        </p:nvSpPr>
        <p:spPr>
          <a:xfrm>
            <a:off x="4643438" y="2177058"/>
            <a:ext cx="4071938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643438" y="2177058"/>
            <a:ext cx="42863" cy="934045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30" name="Text 27"/>
          <p:cNvSpPr/>
          <p:nvPr/>
        </p:nvSpPr>
        <p:spPr>
          <a:xfrm>
            <a:off x="4757738" y="2262783"/>
            <a:ext cx="2857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8" dirty="0"/>
          </a:p>
        </p:txBody>
      </p:sp>
      <p:sp>
        <p:nvSpPr>
          <p:cNvPr id="31" name="Text 28"/>
          <p:cNvSpPr/>
          <p:nvPr/>
        </p:nvSpPr>
        <p:spPr>
          <a:xfrm>
            <a:off x="5157788" y="2237780"/>
            <a:ext cx="185737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危険サインを見逃すな</a:t>
            </a:r>
            <a:endParaRPr lang="en-US" sz="1295" dirty="0"/>
          </a:p>
        </p:txBody>
      </p:sp>
      <p:sp>
        <p:nvSpPr>
          <p:cNvPr id="32" name="Text 29"/>
          <p:cNvSpPr/>
          <p:nvPr/>
        </p:nvSpPr>
        <p:spPr>
          <a:xfrm>
            <a:off x="5157788" y="2528888"/>
            <a:ext cx="3300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突然発症・頭痛・複視・麻痺・歩行困難があれ</a:t>
            </a:r>
            <a:endParaRPr lang="en-US" sz="1159" dirty="0"/>
          </a:p>
        </p:txBody>
      </p:sp>
      <p:sp>
        <p:nvSpPr>
          <p:cNvPr id="33" name="Text 30"/>
          <p:cNvSpPr/>
          <p:nvPr/>
        </p:nvSpPr>
        <p:spPr>
          <a:xfrm>
            <a:off x="5157788" y="2798564"/>
            <a:ext cx="3300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ば脳卒中を除外</a:t>
            </a:r>
            <a:endParaRPr lang="en-US" sz="1159" dirty="0"/>
          </a:p>
        </p:txBody>
      </p:sp>
      <p:sp>
        <p:nvSpPr>
          <p:cNvPr id="34" name="Shape 31"/>
          <p:cNvSpPr/>
          <p:nvPr/>
        </p:nvSpPr>
        <p:spPr>
          <a:xfrm>
            <a:off x="428625" y="3196828"/>
            <a:ext cx="4071938" cy="664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3196828"/>
            <a:ext cx="42863" cy="664369"/>
          </a:xfrm>
          <a:prstGeom prst="rect">
            <a:avLst/>
          </a:prstGeom>
          <a:solidFill>
            <a:srgbClr val="2C4F6F"/>
          </a:solidFill>
          <a:ln/>
        </p:spPr>
      </p:sp>
      <p:sp>
        <p:nvSpPr>
          <p:cNvPr id="36" name="Text 33"/>
          <p:cNvSpPr/>
          <p:nvPr/>
        </p:nvSpPr>
        <p:spPr>
          <a:xfrm>
            <a:off x="542925" y="3282553"/>
            <a:ext cx="2857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808" dirty="0"/>
          </a:p>
        </p:txBody>
      </p:sp>
      <p:sp>
        <p:nvSpPr>
          <p:cNvPr id="37" name="Text 34"/>
          <p:cNvSpPr/>
          <p:nvPr/>
        </p:nvSpPr>
        <p:spPr>
          <a:xfrm>
            <a:off x="942975" y="3257550"/>
            <a:ext cx="241458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立ちくらみは「立った瞬間」</a:t>
            </a:r>
            <a:endParaRPr lang="en-US" sz="1295" dirty="0"/>
          </a:p>
        </p:txBody>
      </p:sp>
      <p:sp>
        <p:nvSpPr>
          <p:cNvPr id="38" name="Text 35"/>
          <p:cNvSpPr/>
          <p:nvPr/>
        </p:nvSpPr>
        <p:spPr>
          <a:xfrm>
            <a:off x="942975" y="3548658"/>
            <a:ext cx="25146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起立性低血圧・薬剤・脱水の確認を</a:t>
            </a:r>
            <a:endParaRPr lang="en-US" sz="1159" dirty="0"/>
          </a:p>
        </p:txBody>
      </p:sp>
      <p:sp>
        <p:nvSpPr>
          <p:cNvPr id="39" name="Shape 36"/>
          <p:cNvSpPr/>
          <p:nvPr/>
        </p:nvSpPr>
        <p:spPr>
          <a:xfrm>
            <a:off x="428625" y="3961209"/>
            <a:ext cx="8286750" cy="645784"/>
          </a:xfrm>
          <a:prstGeom prst="rect">
            <a:avLst/>
          </a:prstGeom>
          <a:solidFill>
            <a:srgbClr val="E9F2F9"/>
          </a:solidFill>
          <a:ln w="18288">
            <a:solidFill>
              <a:srgbClr val="2C4F6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8625" y="3961209"/>
            <a:ext cx="8286750" cy="6457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C4F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来院時に一言（例：「ぐるぐる」「ふわふわ」「立ったときだけ暗くなる」）で診察がよりスムーズになります。</a:t>
            </a:r>
            <a:endParaRPr lang="en-US" sz="1193" dirty="0"/>
          </a:p>
        </p:txBody>
      </p:sp>
      <p:sp>
        <p:nvSpPr>
          <p:cNvPr id="41" name="Text 38"/>
          <p:cNvSpPr/>
          <p:nvPr/>
        </p:nvSpPr>
        <p:spPr>
          <a:xfrm>
            <a:off x="8559998" y="4793456"/>
            <a:ext cx="36968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11/11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2026-04-02T11:40:34Z</dcterms:created>
  <dcterms:modified xsi:type="dcterms:W3CDTF">2026-04-02T11:40:34Z</dcterms:modified>
</cp:coreProperties>
</file>