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脳神経内科医が答える からだの不思議 #04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そのめまい大丈夫？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3タイプの見分け方と危険なサインを脳神経内科医が解説 ―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0" y="3383280"/>
            <a:ext cx="3657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脳神経内科専門医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「めまい」と一言で言っても…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005840"/>
            <a:ext cx="7315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109728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「ぐるぐると部屋が回る感じがする」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219456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「ふわふわして地に足がつかない」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88720" y="32918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「立ち上がった瞬間に目の前が暗くなる」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54864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この3つは、まったく異なるメカニズムで起きています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2/11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めまいの3タイプ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50292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① 回転性めまい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Vertigo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2560320" cy="2194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ぐるぐる・くるくる回る感覚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内耳・脳幹・小脳の問題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2743200" cy="50292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② 浮動性めまい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Dizziness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148840"/>
            <a:ext cx="2560320" cy="2194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ふわふわ・フラフラ・不安定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多因子的（小脳・神経・薬剤など）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7432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05840"/>
            <a:ext cx="2743200" cy="5029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③ 立ちくらみ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Presyncope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2148840"/>
            <a:ext cx="2560320" cy="2194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立ったとき一瞬目が暗くなる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一過性の脳血流低下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3/11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① 回転性めまい（Vertigo）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12801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7724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「自分や周囲がぐるぐる・くるくる回る」感覚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内耳（ないじ）・脳幹（のうかん）・小脳（しょうのう）の異常が原因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代表疾患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288036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880360"/>
            <a:ext cx="2011680" cy="4114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880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BPPV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337560"/>
            <a:ext cx="182880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良性発作性頭位めまい症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68880" y="288036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2880360"/>
            <a:ext cx="2011680" cy="41148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2880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メニエール病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0320" y="3337560"/>
            <a:ext cx="182880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内リンパ水腫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88036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880360"/>
            <a:ext cx="2011680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2880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前庭神経炎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3337560"/>
            <a:ext cx="182880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ウイルス性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0" y="288036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2880360"/>
            <a:ext cx="2011680" cy="4114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2880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小脳・脳幹梗塞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0" y="3337560"/>
            <a:ext cx="182880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要除外！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4/11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② 浮動性めまい　③ 立ちくらみ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206240" cy="45720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② 浮動性めまい（Dizziness）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8404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ふわふわ・フラフラ・不安定感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回転感はなく持続的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原因：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・小脳変性症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・多発性神経炎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・精神疾患・薬剤性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・多因子性（高齢者）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42062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05840"/>
            <a:ext cx="4206240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0058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③ 立ちくらみ（Presyncope）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1554480"/>
            <a:ext cx="38404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立ち上がった瞬間に目の前が暗くなる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一過性の脳血流低下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46320" y="2560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原因：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・起立性低血圧（最多）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・不整脈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・脱水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・降圧薬の過剰服用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5/11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めまいタイプ判定フロー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9377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Q1. 立ち上がった直後に起きたか？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94960" y="1051560"/>
            <a:ext cx="822960" cy="4114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0" y="10515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 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960120"/>
            <a:ext cx="2560320" cy="6400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960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③ 立ちくらみ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594360" cy="320040"/>
          </a:xfrm>
          <a:prstGeom prst="rect">
            <a:avLst/>
          </a:prstGeom>
          <a:solidFill>
            <a:srgbClr val="636E7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916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 NO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148840"/>
            <a:ext cx="49377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2148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Q2. 「ぐるぐる回る」感覚があるか？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94960" y="2194560"/>
            <a:ext cx="822960" cy="411480"/>
          </a:xfrm>
          <a:prstGeom prst="rect">
            <a:avLst/>
          </a:prstGeom>
          <a:solidFill>
            <a:srgbClr val="636E72"/>
          </a:solidFill>
          <a:ln/>
        </p:spPr>
      </p:sp>
      <p:sp>
        <p:nvSpPr>
          <p:cNvPr id="15" name="Text 13"/>
          <p:cNvSpPr/>
          <p:nvPr/>
        </p:nvSpPr>
        <p:spPr>
          <a:xfrm>
            <a:off x="5394960" y="21945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2057400"/>
            <a:ext cx="2560320" cy="64008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0574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② 浮動性めまい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594360" cy="3200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8346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 YES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291840"/>
            <a:ext cx="2926080" cy="4572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① 回転性めまい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74320" y="3886200"/>
            <a:ext cx="2788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886200"/>
            <a:ext cx="2788920" cy="3200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38862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BPPV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4206240"/>
            <a:ext cx="26060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頭位で30秒以内に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誘発・消失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3886200"/>
            <a:ext cx="2788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3886200"/>
            <a:ext cx="2788920" cy="32004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28" name="Text 26"/>
          <p:cNvSpPr/>
          <p:nvPr/>
        </p:nvSpPr>
        <p:spPr>
          <a:xfrm>
            <a:off x="3246120" y="38862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メニエール病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37560" y="4206240"/>
            <a:ext cx="26060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耳鳴り・難聴を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繰り返す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3886200"/>
            <a:ext cx="2788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3886200"/>
            <a:ext cx="2788920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38862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前庭神経炎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4206240"/>
            <a:ext cx="26060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感染後に突然発症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数日持続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892040"/>
            <a:ext cx="8686800" cy="27432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48920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いずれのタイプでも、頭痛・複視・麻痺・構音障害・意識障害があれば脳卒中を除外 → 即受診！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6/11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代表疾患の比較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2011680" cy="4114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868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疾患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40280" y="868680"/>
            <a:ext cx="1737360" cy="4114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2240280" y="868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タイプ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05072" y="868680"/>
            <a:ext cx="1828800" cy="4114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9" name="Text 7"/>
          <p:cNvSpPr/>
          <p:nvPr/>
        </p:nvSpPr>
        <p:spPr>
          <a:xfrm>
            <a:off x="4005072" y="868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持続時間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61304" y="868680"/>
            <a:ext cx="3154680" cy="4114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5861304" y="8686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特徴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82880" y="1325880"/>
            <a:ext cx="882396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82880" y="1325880"/>
            <a:ext cx="64008" cy="713232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" y="1325880"/>
            <a:ext cx="19202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BPPV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40280" y="1325880"/>
            <a:ext cx="173736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回転性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05072" y="1325880"/>
            <a:ext cx="1828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数秒〜30秒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61304" y="1325880"/>
            <a:ext cx="3154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頭位変換で誘発・消失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耳鳴り・難聴なし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2880" y="2075688"/>
            <a:ext cx="8823960" cy="71323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" y="2075688"/>
            <a:ext cx="64008" cy="713232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20" name="Text 18"/>
          <p:cNvSpPr/>
          <p:nvPr/>
        </p:nvSpPr>
        <p:spPr>
          <a:xfrm>
            <a:off x="292608" y="2075688"/>
            <a:ext cx="19202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メニエール病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40280" y="2075688"/>
            <a:ext cx="173736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回転性（反復）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05072" y="2075688"/>
            <a:ext cx="1828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20分〜数時間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61304" y="2075688"/>
            <a:ext cx="3154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耳鳴り・難聴・耳閉感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繰り返す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2880" y="2825496"/>
            <a:ext cx="882396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82880" y="2825496"/>
            <a:ext cx="64008" cy="71323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6" name="Text 24"/>
          <p:cNvSpPr/>
          <p:nvPr/>
        </p:nvSpPr>
        <p:spPr>
          <a:xfrm>
            <a:off x="292608" y="2825496"/>
            <a:ext cx="19202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前庭神経炎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40280" y="2825496"/>
            <a:ext cx="173736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回転性（急性）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005072" y="2825496"/>
            <a:ext cx="1828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数日〜数週間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861304" y="2825496"/>
            <a:ext cx="3154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感染後突然発症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難聴なし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82880" y="3575304"/>
            <a:ext cx="8823960" cy="71323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1" name="Shape 29"/>
          <p:cNvSpPr/>
          <p:nvPr/>
        </p:nvSpPr>
        <p:spPr>
          <a:xfrm>
            <a:off x="182880" y="3575304"/>
            <a:ext cx="64008" cy="713232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2" name="Text 30"/>
          <p:cNvSpPr/>
          <p:nvPr/>
        </p:nvSpPr>
        <p:spPr>
          <a:xfrm>
            <a:off x="292608" y="3575304"/>
            <a:ext cx="19202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小脳・脳幹梗塞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240280" y="3575304"/>
            <a:ext cx="173736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回転/浮動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005072" y="3575304"/>
            <a:ext cx="1828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持続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861304" y="3575304"/>
            <a:ext cx="3154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複視・麻痺・頭痛を伴う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即救急！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82880" y="4325112"/>
            <a:ext cx="882396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" y="4325112"/>
            <a:ext cx="64008" cy="713232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8" name="Text 36"/>
          <p:cNvSpPr/>
          <p:nvPr/>
        </p:nvSpPr>
        <p:spPr>
          <a:xfrm>
            <a:off x="292608" y="4325112"/>
            <a:ext cx="19202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起立性低血圧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240280" y="4325112"/>
            <a:ext cx="173736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立ちくらみ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005072" y="4325112"/>
            <a:ext cx="1828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数秒〜1分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861304" y="4325112"/>
            <a:ext cx="3154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立位直後に視野暗転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高齢・降圧薬・脱水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7/11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BPPV vs メニエール病 ― 見分け方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50292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BPPV（良性発作性頭位めまい症）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誘発：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頭を動かしたときだけ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持続：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2194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30秒以内に治まる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耳症状：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2743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耳鳴り・難聴なし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原因：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耳石（じせき）のずれ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治療：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頭位変換療法で改善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005840"/>
            <a:ext cx="4114800" cy="50292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0058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メニエール病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16459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誘発：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頭位に関係なく発症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21945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持続：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0" y="2194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20分〜数時間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27432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耳症状：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0" y="2743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耳鳴り・難聴・耳閉感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32918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原因：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内リンパ水腫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3840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経過：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繰り返す（反復性）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8/11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危険なめまいのサイン ― 今すぐ受診！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50292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601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以下が1つでもあれば → 迷わず救急受診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8595360" cy="43891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554480"/>
            <a:ext cx="54864" cy="438912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554480"/>
            <a:ext cx="83210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▶ 突然の激しい頭痛を伴うめまい（くも膜下出血）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2020824"/>
            <a:ext cx="85953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2020824"/>
            <a:ext cx="54864" cy="438912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020824"/>
            <a:ext cx="83210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▶ 複視（ものが二重に見える）・眼球が動きにくい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487168"/>
            <a:ext cx="8595360" cy="43891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2487168"/>
            <a:ext cx="54864" cy="438912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487168"/>
            <a:ext cx="83210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▶ 顔・手足のしびれや麻痺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2953512"/>
            <a:ext cx="85953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2953512"/>
            <a:ext cx="54864" cy="438912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953512"/>
            <a:ext cx="83210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▶ 呂律（ろれつ）が回らない・構音障害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3419856"/>
            <a:ext cx="8595360" cy="43891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3419856"/>
            <a:ext cx="54864" cy="438912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419856"/>
            <a:ext cx="83210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▶ まっすぐ立てない・歩行が明らかにおかしい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3886200"/>
            <a:ext cx="85953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3886200"/>
            <a:ext cx="54864" cy="438912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886200"/>
            <a:ext cx="83210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▶ 意識がもうろうとする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4352544"/>
            <a:ext cx="8595360" cy="43891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4352544"/>
            <a:ext cx="54864" cy="438912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4352544"/>
            <a:ext cx="83210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▶ 眼振の向きが上下・斜め（垂直眼振）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4320" y="4800600"/>
            <a:ext cx="8595360" cy="347472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48006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HINTS 検査（頭部衝動試験・眼振・スキュー偏位）で脳卒中を見分けます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9/11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様子見でよいめまいの目安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4572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601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以下の特徴が揃う場合 → まずかかりつけ医・耳鼻科へ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8595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54480"/>
            <a:ext cx="384048" cy="530352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554480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804672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頭を動かしたときだけ誘発され、30秒以内に自然に治まる（BPPVを示唆）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130552"/>
            <a:ext cx="8595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30552"/>
            <a:ext cx="384048" cy="530352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130552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2130552"/>
            <a:ext cx="804672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以前にも同じめまいがあり、医師に診断を受けたことがある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706624"/>
            <a:ext cx="8595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706624"/>
            <a:ext cx="384048" cy="530352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706624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2706624"/>
            <a:ext cx="804672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頭痛・麻痺・複視などの危険サインが一切ない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3282696"/>
            <a:ext cx="8595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282696"/>
            <a:ext cx="384048" cy="530352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282696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3282696"/>
            <a:ext cx="804672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立ち上がったときだけで、安静にすれば全く症状がない（立ちくらみ）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3858768"/>
            <a:ext cx="8595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858768"/>
            <a:ext cx="384048" cy="530352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3858768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1520" y="3858768"/>
            <a:ext cx="804672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発熱・胃腸炎などがあり、全身状態の悪化によるめまいと説明がつく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74320" y="4800600"/>
            <a:ext cx="8595360" cy="347472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8006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「いつもと少し違う」と感じたら → 迷わず受診を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10/11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 ― Take Home Message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75488" cy="65836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77724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41248" y="822960"/>
            <a:ext cx="804672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めまいは「回転性・浮動性・立ちくらみ」の3タイプで考える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1581912"/>
            <a:ext cx="475488" cy="658368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581912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41248" y="1627632"/>
            <a:ext cx="804672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最多は BPPV。頭位で30秒以内に誘発・消失、耳鳴り・難聴なし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" y="2386584"/>
            <a:ext cx="475488" cy="658368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386584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41248" y="2432304"/>
            <a:ext cx="804672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耳鳴り・難聴を繰り返す回転性めまい → メニエール病を疑う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" y="3191256"/>
            <a:ext cx="475488" cy="658368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3191256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41248" y="3236976"/>
            <a:ext cx="804672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突然発症＋頭痛・複視・麻痺・歩行困難が1つでも → 脳卒中を除外！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3995928"/>
            <a:ext cx="475488" cy="65836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99592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1248" y="4041648"/>
            <a:ext cx="804672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立ちくらみは「立った瞬間」が特徴。起立性低血圧・薬・脱水を確認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受診時に一言（例:「ぐるぐる」「ふわふわ」「立ったときだけ暗くなる」）で診察がスムーズになります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そのめまい大丈夫？ ― 3タイプの見分け方と危険なサインを脳神経内科医が解説</dc:title>
  <dc:subject>PptxGenJS Presentation</dc:subject>
  <dc:creator>今村久司</dc:creator>
  <cp:lastModifiedBy>今村久司</cp:lastModifiedBy>
  <cp:revision>1</cp:revision>
  <dcterms:created xsi:type="dcterms:W3CDTF">2026-04-02T20:17:53Z</dcterms:created>
  <dcterms:modified xsi:type="dcterms:W3CDTF">2026-04-02T20:17:53Z</dcterms:modified>
</cp:coreProperties>
</file>