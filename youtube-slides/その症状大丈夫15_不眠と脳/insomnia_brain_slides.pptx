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850C"/>
          </a:solidFill>
          <a:ln/>
        </p:spPr>
      </p:sp>
      <p:sp>
        <p:nvSpPr>
          <p:cNvPr id="3" name="Shape 1"/>
          <p:cNvSpPr/>
          <p:nvPr/>
        </p:nvSpPr>
        <p:spPr>
          <a:xfrm>
            <a:off x="0" y="5088636"/>
            <a:ext cx="9144000" cy="54864"/>
          </a:xfrm>
          <a:prstGeom prst="rect">
            <a:avLst/>
          </a:prstGeom>
          <a:solidFill>
            <a:srgbClr val="E8850C"/>
          </a:solidFill>
          <a:ln/>
        </p:spPr>
      </p:sp>
      <p:sp>
        <p:nvSpPr>
          <p:cNvPr id="4" name="Text 2"/>
          <p:cNvSpPr/>
          <p:nvPr/>
        </p:nvSpPr>
        <p:spPr>
          <a:xfrm>
            <a:off x="548640" y="365760"/>
            <a:ext cx="8046720" cy="822960"/>
          </a:xfrm>
          <a:prstGeom prst="rect">
            <a:avLst/>
          </a:prstGeom>
          <a:noFill/>
          <a:ln/>
        </p:spPr>
        <p:txBody>
          <a:bodyPr wrap="square" lIns="0" tIns="0" rIns="0" bIns="0" rtlCol="0" anchor="ctr"/>
          <a:lstStyle/>
          <a:p>
            <a:pPr algn="ctr" indent="0" marL="0">
              <a:buNone/>
            </a:pPr>
            <a:r>
              <a:rPr lang="en-US" sz="5200" dirty="0">
                <a:solidFill>
                  <a:srgbClr val="000000"/>
                </a:solidFill>
              </a:rPr>
              <a:t>🌙</a:t>
            </a:r>
            <a:endParaRPr lang="en-US" sz="5200" dirty="0"/>
          </a:p>
        </p:txBody>
      </p:sp>
      <p:sp>
        <p:nvSpPr>
          <p:cNvPr id="5" name="Text 3"/>
          <p:cNvSpPr/>
          <p:nvPr/>
        </p:nvSpPr>
        <p:spPr>
          <a:xfrm>
            <a:off x="548640" y="1188720"/>
            <a:ext cx="8046720" cy="1097280"/>
          </a:xfrm>
          <a:prstGeom prst="rect">
            <a:avLst/>
          </a:prstGeom>
          <a:noFill/>
          <a:ln/>
        </p:spPr>
        <p:txBody>
          <a:bodyPr wrap="square" lIns="0" tIns="0" rIns="0" bIns="0" rtlCol="0" anchor="ctr"/>
          <a:lstStyle/>
          <a:p>
            <a:pPr algn="ctr" indent="0" marL="0">
              <a:lnSpc>
                <a:spcPct val="115000"/>
              </a:lnSpc>
              <a:buNone/>
            </a:pPr>
            <a:r>
              <a:rPr lang="en-US" sz="3800" b="1" dirty="0">
                <a:solidFill>
                  <a:srgbClr val="FFFFFF"/>
                </a:solidFill>
                <a:latin typeface="BIZ UDPGothic" pitchFamily="34" charset="0"/>
                <a:ea typeface="BIZ UDPGothic" pitchFamily="34" charset="-122"/>
                <a:cs typeface="BIZ UDPGothic" pitchFamily="34" charset="-120"/>
              </a:rPr>
              <a:t>眠れないのは脳のせい？</a:t>
            </a:r>
            <a:endParaRPr lang="en-US" sz="3800" dirty="0"/>
          </a:p>
          <a:p>
            <a:pPr algn="ctr" indent="0" marL="0">
              <a:lnSpc>
                <a:spcPct val="115000"/>
              </a:lnSpc>
              <a:buNone/>
            </a:pPr>
            <a:r>
              <a:rPr lang="en-US" sz="3800" b="1" dirty="0">
                <a:solidFill>
                  <a:srgbClr val="FFFFFF"/>
                </a:solidFill>
                <a:latin typeface="BIZ UDPGothic" pitchFamily="34" charset="0"/>
                <a:ea typeface="BIZ UDPGothic" pitchFamily="34" charset="-122"/>
                <a:cs typeface="BIZ UDPGothic" pitchFamily="34" charset="-120"/>
              </a:rPr>
              <a:t>不眠のメカニズムと正しい対処法</a:t>
            </a:r>
            <a:endParaRPr lang="en-US" sz="3800" dirty="0"/>
          </a:p>
        </p:txBody>
      </p:sp>
      <p:sp>
        <p:nvSpPr>
          <p:cNvPr id="6" name="Shape 4"/>
          <p:cNvSpPr/>
          <p:nvPr/>
        </p:nvSpPr>
        <p:spPr>
          <a:xfrm>
            <a:off x="2286000" y="2468880"/>
            <a:ext cx="4572000" cy="0"/>
          </a:xfrm>
          <a:prstGeom prst="line">
            <a:avLst/>
          </a:prstGeom>
          <a:noFill/>
          <a:ln w="25400">
            <a:solidFill>
              <a:srgbClr val="E8850C"/>
            </a:solidFill>
            <a:prstDash val="solid"/>
          </a:ln>
        </p:spPr>
      </p:sp>
      <p:sp>
        <p:nvSpPr>
          <p:cNvPr id="7" name="Text 5"/>
          <p:cNvSpPr/>
          <p:nvPr/>
        </p:nvSpPr>
        <p:spPr>
          <a:xfrm>
            <a:off x="548640" y="2651760"/>
            <a:ext cx="8046720" cy="822960"/>
          </a:xfrm>
          <a:prstGeom prst="rect">
            <a:avLst/>
          </a:prstGeom>
          <a:noFill/>
          <a:ln/>
        </p:spPr>
        <p:txBody>
          <a:bodyPr wrap="square" lIns="0" tIns="0" rIns="0" bIns="0" rtlCol="0" anchor="ctr"/>
          <a:lstStyle/>
          <a:p>
            <a:pPr algn="ctr" indent="0" marL="0">
              <a:lnSpc>
                <a:spcPct val="120000"/>
              </a:lnSpc>
              <a:buNone/>
            </a:pPr>
            <a:r>
              <a:rPr lang="en-US" sz="2400" dirty="0">
                <a:solidFill>
                  <a:srgbClr val="E8850C"/>
                </a:solidFill>
                <a:latin typeface="BIZ UDPGothic" pitchFamily="34" charset="0"/>
                <a:ea typeface="BIZ UDPGothic" pitchFamily="34" charset="-122"/>
                <a:cs typeface="BIZ UDPGothic" pitchFamily="34" charset="-120"/>
              </a:rPr>
              <a:t>脳神経内科医が解説する</a:t>
            </a:r>
            <a:endParaRPr lang="en-US" sz="2400" dirty="0"/>
          </a:p>
          <a:p>
            <a:pPr algn="ctr" indent="0" marL="0">
              <a:lnSpc>
                <a:spcPct val="120000"/>
              </a:lnSpc>
              <a:buNone/>
            </a:pPr>
            <a:r>
              <a:rPr lang="en-US" sz="2400" dirty="0">
                <a:solidFill>
                  <a:srgbClr val="E8850C"/>
                </a:solidFill>
                <a:latin typeface="BIZ UDPGothic" pitchFamily="34" charset="0"/>
                <a:ea typeface="BIZ UDPGothic" pitchFamily="34" charset="-122"/>
                <a:cs typeface="BIZ UDPGothic" pitchFamily="34" charset="-120"/>
              </a:rPr>
              <a:t>正しい睡眠の知識</a:t>
            </a:r>
            <a:endParaRPr lang="en-US" sz="2400" dirty="0"/>
          </a:p>
        </p:txBody>
      </p:sp>
      <p:sp>
        <p:nvSpPr>
          <p:cNvPr id="8" name="Text 6"/>
          <p:cNvSpPr/>
          <p:nvPr/>
        </p:nvSpPr>
        <p:spPr>
          <a:xfrm>
            <a:off x="548640" y="3840480"/>
            <a:ext cx="8046720" cy="365760"/>
          </a:xfrm>
          <a:prstGeom prst="rect">
            <a:avLst/>
          </a:prstGeom>
          <a:noFill/>
          <a:ln/>
        </p:spPr>
        <p:txBody>
          <a:bodyPr wrap="square" lIns="0" tIns="0" rIns="0" bIns="0" rtlCol="0" anchor="ctr"/>
          <a:lstStyle/>
          <a:p>
            <a:pPr algn="ctr" indent="0" marL="0">
              <a:buNone/>
            </a:pPr>
            <a:r>
              <a:rPr lang="en-US" sz="1600" dirty="0">
                <a:solidFill>
                  <a:srgbClr val="90A4AE"/>
                </a:solidFill>
                <a:latin typeface="BIZ UDPGothic" pitchFamily="34" charset="0"/>
                <a:ea typeface="BIZ UDPGothic" pitchFamily="34" charset="-122"/>
                <a:cs typeface="BIZ UDPGothic" pitchFamily="34" charset="-120"/>
              </a:rPr>
              <a:t>その症状、大丈夫？ #15</a:t>
            </a:r>
            <a:endParaRPr lang="en-US" sz="1600" dirty="0"/>
          </a:p>
        </p:txBody>
      </p:sp>
      <p:sp>
        <p:nvSpPr>
          <p:cNvPr id="9" name="Text 7"/>
          <p:cNvSpPr/>
          <p:nvPr/>
        </p:nvSpPr>
        <p:spPr>
          <a:xfrm>
            <a:off x="548640" y="4297680"/>
            <a:ext cx="8046720" cy="365760"/>
          </a:xfrm>
          <a:prstGeom prst="rect">
            <a:avLst/>
          </a:prstGeom>
          <a:noFill/>
          <a:ln/>
        </p:spPr>
        <p:txBody>
          <a:bodyPr wrap="square" lIns="0" tIns="0" rIns="0" bIns="0" rtlCol="0" anchor="ctr"/>
          <a:lstStyle/>
          <a:p>
            <a:pPr algn="ctr" indent="0" marL="0">
              <a:buNone/>
            </a:pPr>
            <a:r>
              <a:rPr lang="en-US" sz="1200" dirty="0">
                <a:solidFill>
                  <a:srgbClr val="78909C"/>
                </a:solidFill>
                <a:latin typeface="BIZ UDPGothic" pitchFamily="34" charset="0"/>
                <a:ea typeface="BIZ UDPGothic" pitchFamily="34" charset="-122"/>
                <a:cs typeface="BIZ UDPGothic" pitchFamily="34" charset="-120"/>
              </a:rPr>
              <a:t>医知創造ラボ ～脳神経内科医がAIで紡ぐ最新医療情報～</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こんな経験、ありませんか？</a:t>
            </a:r>
            <a:endParaRPr lang="en-US" sz="2600" dirty="0"/>
          </a:p>
        </p:txBody>
      </p:sp>
      <p:sp>
        <p:nvSpPr>
          <p:cNvPr id="4" name="Shape 2"/>
          <p:cNvSpPr/>
          <p:nvPr/>
        </p:nvSpPr>
        <p:spPr>
          <a:xfrm>
            <a:off x="548640" y="1005840"/>
            <a:ext cx="8046720" cy="594360"/>
          </a:xfrm>
          <a:prstGeom prst="rect">
            <a:avLst>
              <a:gd name="adj" fmla="val 15385"/>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548640" y="1005840"/>
            <a:ext cx="109728" cy="594360"/>
          </a:xfrm>
          <a:prstGeom prst="rect">
            <a:avLst>
              <a:gd name="adj" fmla="val 41667"/>
            </a:avLst>
          </a:prstGeom>
          <a:solidFill>
            <a:srgbClr val="2C5AA0"/>
          </a:solidFill>
          <a:ln/>
        </p:spPr>
      </p:sp>
      <p:sp>
        <p:nvSpPr>
          <p:cNvPr id="6" name="Text 4"/>
          <p:cNvSpPr/>
          <p:nvPr/>
        </p:nvSpPr>
        <p:spPr>
          <a:xfrm>
            <a:off x="777240" y="1051560"/>
            <a:ext cx="64008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7" name="Text 5"/>
          <p:cNvSpPr/>
          <p:nvPr/>
        </p:nvSpPr>
        <p:spPr>
          <a:xfrm>
            <a:off x="1463040" y="1051560"/>
            <a:ext cx="6858000" cy="502920"/>
          </a:xfrm>
          <a:prstGeom prst="rect">
            <a:avLst/>
          </a:prstGeom>
          <a:noFill/>
          <a:ln/>
        </p:spPr>
        <p:txBody>
          <a:bodyPr wrap="square" lIns="0" tIns="0" rIns="0" bIns="0" rtlCol="0" anchor="ctr"/>
          <a:lstStyle/>
          <a:p>
            <a:pPr indent="0" marL="0">
              <a:buNone/>
            </a:pPr>
            <a:r>
              <a:rPr lang="en-US" sz="2200" dirty="0">
                <a:solidFill>
                  <a:srgbClr val="2D3436"/>
                </a:solidFill>
                <a:latin typeface="BIZ UDPGothic" pitchFamily="34" charset="0"/>
                <a:ea typeface="BIZ UDPGothic" pitchFamily="34" charset="-122"/>
                <a:cs typeface="BIZ UDPGothic" pitchFamily="34" charset="-120"/>
              </a:rPr>
              <a:t>布団に入っても30分以上眠れない</a:t>
            </a:r>
            <a:endParaRPr lang="en-US" sz="2200" dirty="0"/>
          </a:p>
        </p:txBody>
      </p:sp>
      <p:sp>
        <p:nvSpPr>
          <p:cNvPr id="8" name="Shape 6"/>
          <p:cNvSpPr/>
          <p:nvPr/>
        </p:nvSpPr>
        <p:spPr>
          <a:xfrm>
            <a:off x="548640" y="1719072"/>
            <a:ext cx="8046720" cy="594360"/>
          </a:xfrm>
          <a:prstGeom prst="rect">
            <a:avLst>
              <a:gd name="adj" fmla="val 15385"/>
            </a:avLst>
          </a:prstGeom>
          <a:solidFill>
            <a:srgbClr val="FFFFFF"/>
          </a:solidFill>
          <a:ln/>
          <a:effectLst>
            <a:outerShdw sx="100000" sy="100000" kx="0" ky="0" algn="bl" rotWithShape="0" blurRad="50800" dist="25400" dir="8100000">
              <a:srgbClr val="000000">
                <a:alpha val="12000"/>
              </a:srgbClr>
            </a:outerShdw>
          </a:effectLst>
        </p:spPr>
      </p:sp>
      <p:sp>
        <p:nvSpPr>
          <p:cNvPr id="9" name="Shape 7"/>
          <p:cNvSpPr/>
          <p:nvPr/>
        </p:nvSpPr>
        <p:spPr>
          <a:xfrm>
            <a:off x="548640" y="1719072"/>
            <a:ext cx="109728" cy="594360"/>
          </a:xfrm>
          <a:prstGeom prst="rect">
            <a:avLst>
              <a:gd name="adj" fmla="val 41667"/>
            </a:avLst>
          </a:prstGeom>
          <a:solidFill>
            <a:srgbClr val="2C5AA0"/>
          </a:solidFill>
          <a:ln/>
        </p:spPr>
      </p:sp>
      <p:sp>
        <p:nvSpPr>
          <p:cNvPr id="10" name="Text 8"/>
          <p:cNvSpPr/>
          <p:nvPr/>
        </p:nvSpPr>
        <p:spPr>
          <a:xfrm>
            <a:off x="777240" y="1764792"/>
            <a:ext cx="64008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1" name="Text 9"/>
          <p:cNvSpPr/>
          <p:nvPr/>
        </p:nvSpPr>
        <p:spPr>
          <a:xfrm>
            <a:off x="1463040" y="1764792"/>
            <a:ext cx="6858000" cy="502920"/>
          </a:xfrm>
          <a:prstGeom prst="rect">
            <a:avLst/>
          </a:prstGeom>
          <a:noFill/>
          <a:ln/>
        </p:spPr>
        <p:txBody>
          <a:bodyPr wrap="square" lIns="0" tIns="0" rIns="0" bIns="0" rtlCol="0" anchor="ctr"/>
          <a:lstStyle/>
          <a:p>
            <a:pPr indent="0" marL="0">
              <a:buNone/>
            </a:pPr>
            <a:r>
              <a:rPr lang="en-US" sz="2200" dirty="0">
                <a:solidFill>
                  <a:srgbClr val="2D3436"/>
                </a:solidFill>
                <a:latin typeface="BIZ UDPGothic" pitchFamily="34" charset="0"/>
                <a:ea typeface="BIZ UDPGothic" pitchFamily="34" charset="-122"/>
                <a:cs typeface="BIZ UDPGothic" pitchFamily="34" charset="-120"/>
              </a:rPr>
              <a:t>夜中に何度も目が覚めてしまう</a:t>
            </a:r>
            <a:endParaRPr lang="en-US" sz="2200" dirty="0"/>
          </a:p>
        </p:txBody>
      </p:sp>
      <p:sp>
        <p:nvSpPr>
          <p:cNvPr id="12" name="Shape 10"/>
          <p:cNvSpPr/>
          <p:nvPr/>
        </p:nvSpPr>
        <p:spPr>
          <a:xfrm>
            <a:off x="548640" y="2432304"/>
            <a:ext cx="8046720" cy="594360"/>
          </a:xfrm>
          <a:prstGeom prst="rect">
            <a:avLst>
              <a:gd name="adj" fmla="val 15385"/>
            </a:avLst>
          </a:prstGeom>
          <a:solidFill>
            <a:srgbClr val="FFFFFF"/>
          </a:solidFill>
          <a:ln/>
          <a:effectLst>
            <a:outerShdw sx="100000" sy="100000" kx="0" ky="0" algn="bl" rotWithShape="0" blurRad="50800" dist="25400" dir="8100000">
              <a:srgbClr val="000000">
                <a:alpha val="12000"/>
              </a:srgbClr>
            </a:outerShdw>
          </a:effectLst>
        </p:spPr>
      </p:sp>
      <p:sp>
        <p:nvSpPr>
          <p:cNvPr id="13" name="Shape 11"/>
          <p:cNvSpPr/>
          <p:nvPr/>
        </p:nvSpPr>
        <p:spPr>
          <a:xfrm>
            <a:off x="548640" y="2432304"/>
            <a:ext cx="109728" cy="594360"/>
          </a:xfrm>
          <a:prstGeom prst="rect">
            <a:avLst>
              <a:gd name="adj" fmla="val 41667"/>
            </a:avLst>
          </a:prstGeom>
          <a:solidFill>
            <a:srgbClr val="2C5AA0"/>
          </a:solidFill>
          <a:ln/>
        </p:spPr>
      </p:sp>
      <p:sp>
        <p:nvSpPr>
          <p:cNvPr id="14" name="Text 12"/>
          <p:cNvSpPr/>
          <p:nvPr/>
        </p:nvSpPr>
        <p:spPr>
          <a:xfrm>
            <a:off x="777240" y="2478024"/>
            <a:ext cx="64008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5" name="Text 13"/>
          <p:cNvSpPr/>
          <p:nvPr/>
        </p:nvSpPr>
        <p:spPr>
          <a:xfrm>
            <a:off x="1463040" y="2478024"/>
            <a:ext cx="6858000" cy="502920"/>
          </a:xfrm>
          <a:prstGeom prst="rect">
            <a:avLst/>
          </a:prstGeom>
          <a:noFill/>
          <a:ln/>
        </p:spPr>
        <p:txBody>
          <a:bodyPr wrap="square" lIns="0" tIns="0" rIns="0" bIns="0" rtlCol="0" anchor="ctr"/>
          <a:lstStyle/>
          <a:p>
            <a:pPr indent="0" marL="0">
              <a:buNone/>
            </a:pPr>
            <a:r>
              <a:rPr lang="en-US" sz="2200" dirty="0">
                <a:solidFill>
                  <a:srgbClr val="2D3436"/>
                </a:solidFill>
                <a:latin typeface="BIZ UDPGothic" pitchFamily="34" charset="0"/>
                <a:ea typeface="BIZ UDPGothic" pitchFamily="34" charset="-122"/>
                <a:cs typeface="BIZ UDPGothic" pitchFamily="34" charset="-120"/>
              </a:rPr>
              <a:t>朝早く目が覚めて二度寝できない</a:t>
            </a:r>
            <a:endParaRPr lang="en-US" sz="2200" dirty="0"/>
          </a:p>
        </p:txBody>
      </p:sp>
      <p:sp>
        <p:nvSpPr>
          <p:cNvPr id="16" name="Shape 14"/>
          <p:cNvSpPr/>
          <p:nvPr/>
        </p:nvSpPr>
        <p:spPr>
          <a:xfrm>
            <a:off x="548640" y="3145536"/>
            <a:ext cx="8046720" cy="594360"/>
          </a:xfrm>
          <a:prstGeom prst="rect">
            <a:avLst>
              <a:gd name="adj" fmla="val 15385"/>
            </a:avLst>
          </a:prstGeom>
          <a:solidFill>
            <a:srgbClr val="FFFFFF"/>
          </a:solidFill>
          <a:ln/>
          <a:effectLst>
            <a:outerShdw sx="100000" sy="100000" kx="0" ky="0" algn="bl" rotWithShape="0" blurRad="50800" dist="25400" dir="8100000">
              <a:srgbClr val="000000">
                <a:alpha val="12000"/>
              </a:srgbClr>
            </a:outerShdw>
          </a:effectLst>
        </p:spPr>
      </p:sp>
      <p:sp>
        <p:nvSpPr>
          <p:cNvPr id="17" name="Shape 15"/>
          <p:cNvSpPr/>
          <p:nvPr/>
        </p:nvSpPr>
        <p:spPr>
          <a:xfrm>
            <a:off x="548640" y="3145536"/>
            <a:ext cx="109728" cy="594360"/>
          </a:xfrm>
          <a:prstGeom prst="rect">
            <a:avLst>
              <a:gd name="adj" fmla="val 41667"/>
            </a:avLst>
          </a:prstGeom>
          <a:solidFill>
            <a:srgbClr val="2C5AA0"/>
          </a:solidFill>
          <a:ln/>
        </p:spPr>
      </p:sp>
      <p:sp>
        <p:nvSpPr>
          <p:cNvPr id="18" name="Text 16"/>
          <p:cNvSpPr/>
          <p:nvPr/>
        </p:nvSpPr>
        <p:spPr>
          <a:xfrm>
            <a:off x="777240" y="3191256"/>
            <a:ext cx="64008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9" name="Text 17"/>
          <p:cNvSpPr/>
          <p:nvPr/>
        </p:nvSpPr>
        <p:spPr>
          <a:xfrm>
            <a:off x="1463040" y="3191256"/>
            <a:ext cx="6858000" cy="502920"/>
          </a:xfrm>
          <a:prstGeom prst="rect">
            <a:avLst/>
          </a:prstGeom>
          <a:noFill/>
          <a:ln/>
        </p:spPr>
        <p:txBody>
          <a:bodyPr wrap="square" lIns="0" tIns="0" rIns="0" bIns="0" rtlCol="0" anchor="ctr"/>
          <a:lstStyle/>
          <a:p>
            <a:pPr indent="0" marL="0">
              <a:buNone/>
            </a:pPr>
            <a:r>
              <a:rPr lang="en-US" sz="2200" dirty="0">
                <a:solidFill>
                  <a:srgbClr val="2D3436"/>
                </a:solidFill>
                <a:latin typeface="BIZ UDPGothic" pitchFamily="34" charset="0"/>
                <a:ea typeface="BIZ UDPGothic" pitchFamily="34" charset="-122"/>
                <a:cs typeface="BIZ UDPGothic" pitchFamily="34" charset="-120"/>
              </a:rPr>
              <a:t>眠れたはずなのに疲れがとれない</a:t>
            </a:r>
            <a:endParaRPr lang="en-US" sz="2200" dirty="0"/>
          </a:p>
        </p:txBody>
      </p:sp>
      <p:sp>
        <p:nvSpPr>
          <p:cNvPr id="20" name="Shape 18"/>
          <p:cNvSpPr/>
          <p:nvPr/>
        </p:nvSpPr>
        <p:spPr>
          <a:xfrm>
            <a:off x="548640" y="3858768"/>
            <a:ext cx="8046720" cy="594360"/>
          </a:xfrm>
          <a:prstGeom prst="rect">
            <a:avLst>
              <a:gd name="adj" fmla="val 15385"/>
            </a:avLst>
          </a:prstGeom>
          <a:solidFill>
            <a:srgbClr val="FFFFFF"/>
          </a:solidFill>
          <a:ln/>
          <a:effectLst>
            <a:outerShdw sx="100000" sy="100000" kx="0" ky="0" algn="bl" rotWithShape="0" blurRad="50800" dist="25400" dir="8100000">
              <a:srgbClr val="000000">
                <a:alpha val="12000"/>
              </a:srgbClr>
            </a:outerShdw>
          </a:effectLst>
        </p:spPr>
      </p:sp>
      <p:sp>
        <p:nvSpPr>
          <p:cNvPr id="21" name="Shape 19"/>
          <p:cNvSpPr/>
          <p:nvPr/>
        </p:nvSpPr>
        <p:spPr>
          <a:xfrm>
            <a:off x="548640" y="3858768"/>
            <a:ext cx="109728" cy="594360"/>
          </a:xfrm>
          <a:prstGeom prst="rect">
            <a:avLst>
              <a:gd name="adj" fmla="val 41667"/>
            </a:avLst>
          </a:prstGeom>
          <a:solidFill>
            <a:srgbClr val="2C5AA0"/>
          </a:solidFill>
          <a:ln/>
        </p:spPr>
      </p:sp>
      <p:sp>
        <p:nvSpPr>
          <p:cNvPr id="22" name="Text 20"/>
          <p:cNvSpPr/>
          <p:nvPr/>
        </p:nvSpPr>
        <p:spPr>
          <a:xfrm>
            <a:off x="777240" y="3904488"/>
            <a:ext cx="64008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23" name="Text 21"/>
          <p:cNvSpPr/>
          <p:nvPr/>
        </p:nvSpPr>
        <p:spPr>
          <a:xfrm>
            <a:off x="1463040" y="3904488"/>
            <a:ext cx="6858000" cy="502920"/>
          </a:xfrm>
          <a:prstGeom prst="rect">
            <a:avLst/>
          </a:prstGeom>
          <a:noFill/>
          <a:ln/>
        </p:spPr>
        <p:txBody>
          <a:bodyPr wrap="square" lIns="0" tIns="0" rIns="0" bIns="0" rtlCol="0" anchor="ctr"/>
          <a:lstStyle/>
          <a:p>
            <a:pPr indent="0" marL="0">
              <a:buNone/>
            </a:pPr>
            <a:r>
              <a:rPr lang="en-US" sz="2200" dirty="0">
                <a:solidFill>
                  <a:srgbClr val="2D3436"/>
                </a:solidFill>
                <a:latin typeface="BIZ UDPGothic" pitchFamily="34" charset="0"/>
                <a:ea typeface="BIZ UDPGothic" pitchFamily="34" charset="-122"/>
                <a:cs typeface="BIZ UDPGothic" pitchFamily="34" charset="-120"/>
              </a:rPr>
              <a:t>日中に強い眠気や集中力低下がある</a:t>
            </a:r>
            <a:endParaRPr lang="en-US" sz="2200" dirty="0"/>
          </a:p>
        </p:txBody>
      </p:sp>
      <p:sp>
        <p:nvSpPr>
          <p:cNvPr id="24" name="Shape 22"/>
          <p:cNvSpPr/>
          <p:nvPr/>
        </p:nvSpPr>
        <p:spPr>
          <a:xfrm>
            <a:off x="0" y="4800600"/>
            <a:ext cx="9144000" cy="347472"/>
          </a:xfrm>
          <a:prstGeom prst="rect">
            <a:avLst/>
          </a:prstGeom>
          <a:solidFill>
            <a:srgbClr val="1B3A5C"/>
          </a:solidFill>
          <a:ln/>
        </p:spPr>
      </p:sp>
      <p:sp>
        <p:nvSpPr>
          <p:cNvPr id="25" name="Text 23"/>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#15</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睡眠のしくみ ― 脳の2つのスイッチ</a:t>
            </a:r>
            <a:endParaRPr lang="en-US" sz="2600" dirty="0"/>
          </a:p>
        </p:txBody>
      </p:sp>
      <p:sp>
        <p:nvSpPr>
          <p:cNvPr id="4" name="Shape 2"/>
          <p:cNvSpPr/>
          <p:nvPr/>
        </p:nvSpPr>
        <p:spPr>
          <a:xfrm>
            <a:off x="457200" y="1005840"/>
            <a:ext cx="3931920" cy="2377440"/>
          </a:xfrm>
          <a:prstGeom prst="rect">
            <a:avLst>
              <a:gd name="adj" fmla="val 3846"/>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05840"/>
            <a:ext cx="109728" cy="2377440"/>
          </a:xfrm>
          <a:prstGeom prst="rect">
            <a:avLst>
              <a:gd name="adj" fmla="val 41667"/>
            </a:avLst>
          </a:prstGeom>
          <a:solidFill>
            <a:srgbClr val="2C5AA0"/>
          </a:solidFill>
          <a:ln/>
        </p:spPr>
      </p:sp>
      <p:sp>
        <p:nvSpPr>
          <p:cNvPr id="6" name="Text 4"/>
          <p:cNvSpPr/>
          <p:nvPr/>
        </p:nvSpPr>
        <p:spPr>
          <a:xfrm>
            <a:off x="640080" y="1051560"/>
            <a:ext cx="3474720" cy="365760"/>
          </a:xfrm>
          <a:prstGeom prst="rect">
            <a:avLst/>
          </a:prstGeom>
          <a:noFill/>
          <a:ln/>
        </p:spPr>
        <p:txBody>
          <a:bodyPr wrap="square" lIns="0" tIns="0" rIns="0" bIns="0" rtlCol="0" anchor="ctr"/>
          <a:lstStyle/>
          <a:p>
            <a:pPr indent="0" marL="0">
              <a:buNone/>
            </a:pPr>
            <a:r>
              <a:rPr lang="en-US" sz="2000" b="1" dirty="0">
                <a:solidFill>
                  <a:srgbClr val="2C5AA0"/>
                </a:solidFill>
                <a:latin typeface="BIZ UDPGothic" pitchFamily="34" charset="0"/>
                <a:ea typeface="BIZ UDPGothic" pitchFamily="34" charset="-122"/>
                <a:cs typeface="BIZ UDPGothic" pitchFamily="34" charset="-120"/>
              </a:rPr>
              <a:t>🕐 体内時計</a:t>
            </a:r>
            <a:endParaRPr lang="en-US" sz="2000" dirty="0"/>
          </a:p>
        </p:txBody>
      </p:sp>
      <p:sp>
        <p:nvSpPr>
          <p:cNvPr id="7" name="Text 5"/>
          <p:cNvSpPr/>
          <p:nvPr/>
        </p:nvSpPr>
        <p:spPr>
          <a:xfrm>
            <a:off x="640080" y="1463040"/>
            <a:ext cx="3474720" cy="457200"/>
          </a:xfrm>
          <a:prstGeom prst="rect">
            <a:avLst/>
          </a:prstGeom>
          <a:noFill/>
          <a:ln/>
        </p:spPr>
        <p:txBody>
          <a:bodyPr wrap="square" lIns="0" tIns="0" rIns="0" bIns="0" rtlCol="0" anchor="ctr"/>
          <a:lstStyle/>
          <a:p>
            <a:pPr indent="0" marL="0">
              <a:lnSpc>
                <a:spcPct val="120000"/>
              </a:lnSpc>
              <a:buNone/>
            </a:pPr>
            <a:r>
              <a:rPr lang="en-US" sz="1500" dirty="0">
                <a:solidFill>
                  <a:srgbClr val="2D3436"/>
                </a:solidFill>
                <a:latin typeface="BIZ UDPGothic" pitchFamily="34" charset="0"/>
                <a:ea typeface="BIZ UDPGothic" pitchFamily="34" charset="-122"/>
                <a:cs typeface="BIZ UDPGothic" pitchFamily="34" charset="-120"/>
              </a:rPr>
              <a:t>脳の視交叉上核にある</a:t>
            </a:r>
            <a:endParaRPr lang="en-US" sz="1500" dirty="0"/>
          </a:p>
          <a:p>
            <a:pPr indent="0" marL="0">
              <a:lnSpc>
                <a:spcPct val="120000"/>
              </a:lnSpc>
              <a:buNone/>
            </a:pPr>
            <a:r>
              <a:rPr lang="en-US" sz="1500" dirty="0">
                <a:solidFill>
                  <a:srgbClr val="2D3436"/>
                </a:solidFill>
                <a:latin typeface="BIZ UDPGothic" pitchFamily="34" charset="0"/>
                <a:ea typeface="BIZ UDPGothic" pitchFamily="34" charset="-122"/>
                <a:cs typeface="BIZ UDPGothic" pitchFamily="34" charset="-120"/>
              </a:rPr>
              <a:t>約24時間のリズム</a:t>
            </a:r>
            <a:endParaRPr lang="en-US" sz="1500" dirty="0"/>
          </a:p>
        </p:txBody>
      </p:sp>
      <p:sp>
        <p:nvSpPr>
          <p:cNvPr id="8" name="Text 6"/>
          <p:cNvSpPr/>
          <p:nvPr/>
        </p:nvSpPr>
        <p:spPr>
          <a:xfrm>
            <a:off x="640080" y="2011680"/>
            <a:ext cx="3474720" cy="822960"/>
          </a:xfrm>
          <a:prstGeom prst="rect">
            <a:avLst/>
          </a:prstGeom>
          <a:noFill/>
          <a:ln/>
        </p:spPr>
        <p:txBody>
          <a:bodyPr wrap="square" lIns="0" tIns="0" rIns="0" bIns="0" rtlCol="0" anchor="ctr"/>
          <a:lstStyle/>
          <a:p>
            <a:pPr indent="0" marL="0">
              <a:lnSpc>
                <a:spcPct val="125000"/>
              </a:lnSpc>
              <a:buNone/>
            </a:pPr>
            <a:r>
              <a:rPr lang="en-US" sz="1500" dirty="0">
                <a:solidFill>
                  <a:srgbClr val="2D3436"/>
                </a:solidFill>
                <a:latin typeface="BIZ UDPGothic" pitchFamily="34" charset="0"/>
                <a:ea typeface="BIZ UDPGothic" pitchFamily="34" charset="-122"/>
                <a:cs typeface="BIZ UDPGothic" pitchFamily="34" charset="-120"/>
              </a:rPr>
              <a:t>☀️ 朝の光 → 体内時計リセット</a:t>
            </a:r>
            <a:endParaRPr lang="en-US" sz="1500" dirty="0"/>
          </a:p>
          <a:p>
            <a:pPr indent="0" marL="0">
              <a:lnSpc>
                <a:spcPct val="125000"/>
              </a:lnSpc>
              <a:buNone/>
            </a:pPr>
            <a:r>
              <a:rPr lang="en-US" sz="1500" dirty="0">
                <a:solidFill>
                  <a:srgbClr val="2D3436"/>
                </a:solidFill>
                <a:latin typeface="BIZ UDPGothic" pitchFamily="34" charset="0"/>
                <a:ea typeface="BIZ UDPGothic" pitchFamily="34" charset="-122"/>
                <a:cs typeface="BIZ UDPGothic" pitchFamily="34" charset="-120"/>
              </a:rPr>
              <a:t>🌙 夜 → メラトニン分泌</a:t>
            </a:r>
            <a:endParaRPr lang="en-US" sz="1500" dirty="0"/>
          </a:p>
          <a:p>
            <a:pPr indent="0" marL="0">
              <a:lnSpc>
                <a:spcPct val="125000"/>
              </a:lnSpc>
              <a:buNone/>
            </a:pPr>
            <a:r>
              <a:rPr lang="en-US" sz="1500" dirty="0">
                <a:solidFill>
                  <a:srgbClr val="2D3436"/>
                </a:solidFill>
                <a:latin typeface="BIZ UDPGothic" pitchFamily="34" charset="0"/>
                <a:ea typeface="BIZ UDPGothic" pitchFamily="34" charset="-122"/>
                <a:cs typeface="BIZ UDPGothic" pitchFamily="34" charset="-120"/>
              </a:rPr>
              <a:t>　  → 眠気が訪れる</a:t>
            </a:r>
            <a:endParaRPr lang="en-US" sz="1500" dirty="0"/>
          </a:p>
        </p:txBody>
      </p:sp>
      <p:sp>
        <p:nvSpPr>
          <p:cNvPr id="9" name="Text 7"/>
          <p:cNvSpPr/>
          <p:nvPr/>
        </p:nvSpPr>
        <p:spPr>
          <a:xfrm>
            <a:off x="640080" y="2926080"/>
            <a:ext cx="3474720" cy="274320"/>
          </a:xfrm>
          <a:prstGeom prst="rect">
            <a:avLst/>
          </a:prstGeom>
          <a:noFill/>
          <a:ln/>
        </p:spPr>
        <p:txBody>
          <a:bodyPr wrap="square" lIns="0" tIns="0" rIns="0" bIns="0" rtlCol="0" anchor="ctr"/>
          <a:lstStyle/>
          <a:p>
            <a:pPr indent="0" marL="0">
              <a:buNone/>
            </a:pPr>
            <a:r>
              <a:rPr lang="en-US" sz="1200" dirty="0">
                <a:solidFill>
                  <a:srgbClr val="636E72"/>
                </a:solidFill>
                <a:latin typeface="BIZ UDPGothic" pitchFamily="34" charset="0"/>
                <a:ea typeface="BIZ UDPGothic" pitchFamily="34" charset="-122"/>
                <a:cs typeface="BIZ UDPGothic" pitchFamily="34" charset="-120"/>
              </a:rPr>
              <a:t>※ メラトニン = 睡眠ホルモン</a:t>
            </a:r>
            <a:endParaRPr lang="en-US" sz="1200" dirty="0"/>
          </a:p>
        </p:txBody>
      </p:sp>
      <p:sp>
        <p:nvSpPr>
          <p:cNvPr id="10" name="Shape 8"/>
          <p:cNvSpPr/>
          <p:nvPr/>
        </p:nvSpPr>
        <p:spPr>
          <a:xfrm>
            <a:off x="4754880" y="1005840"/>
            <a:ext cx="3931920" cy="2377440"/>
          </a:xfrm>
          <a:prstGeom prst="rect">
            <a:avLst>
              <a:gd name="adj" fmla="val 3846"/>
            </a:avLst>
          </a:prstGeom>
          <a:solidFill>
            <a:srgbClr val="FFFFFF"/>
          </a:solidFill>
          <a:ln/>
          <a:effectLst>
            <a:outerShdw sx="100000" sy="100000" kx="0" ky="0" algn="bl" rotWithShape="0" blurRad="50800" dist="25400" dir="8100000">
              <a:srgbClr val="000000">
                <a:alpha val="12000"/>
              </a:srgbClr>
            </a:outerShdw>
          </a:effectLst>
        </p:spPr>
      </p:sp>
      <p:sp>
        <p:nvSpPr>
          <p:cNvPr id="11" name="Shape 9"/>
          <p:cNvSpPr/>
          <p:nvPr/>
        </p:nvSpPr>
        <p:spPr>
          <a:xfrm>
            <a:off x="4754880" y="1005840"/>
            <a:ext cx="109728" cy="2377440"/>
          </a:xfrm>
          <a:prstGeom prst="rect">
            <a:avLst>
              <a:gd name="adj" fmla="val 41667"/>
            </a:avLst>
          </a:prstGeom>
          <a:solidFill>
            <a:srgbClr val="E8850C"/>
          </a:solidFill>
          <a:ln/>
        </p:spPr>
      </p:sp>
      <p:sp>
        <p:nvSpPr>
          <p:cNvPr id="12" name="Text 10"/>
          <p:cNvSpPr/>
          <p:nvPr/>
        </p:nvSpPr>
        <p:spPr>
          <a:xfrm>
            <a:off x="4937760" y="1051560"/>
            <a:ext cx="3474720" cy="365760"/>
          </a:xfrm>
          <a:prstGeom prst="rect">
            <a:avLst/>
          </a:prstGeom>
          <a:noFill/>
          <a:ln/>
        </p:spPr>
        <p:txBody>
          <a:bodyPr wrap="square" lIns="0" tIns="0" rIns="0" bIns="0" rtlCol="0" anchor="ctr"/>
          <a:lstStyle/>
          <a:p>
            <a:pPr indent="0" marL="0">
              <a:buNone/>
            </a:pPr>
            <a:r>
              <a:rPr lang="en-US" sz="2000" b="1" dirty="0">
                <a:solidFill>
                  <a:srgbClr val="E8850C"/>
                </a:solidFill>
                <a:latin typeface="BIZ UDPGothic" pitchFamily="34" charset="0"/>
                <a:ea typeface="BIZ UDPGothic" pitchFamily="34" charset="-122"/>
                <a:cs typeface="BIZ UDPGothic" pitchFamily="34" charset="-120"/>
              </a:rPr>
              <a:t>📊 睡眠圧</a:t>
            </a:r>
            <a:endParaRPr lang="en-US" sz="2000" dirty="0"/>
          </a:p>
        </p:txBody>
      </p:sp>
      <p:sp>
        <p:nvSpPr>
          <p:cNvPr id="13" name="Text 11"/>
          <p:cNvSpPr/>
          <p:nvPr/>
        </p:nvSpPr>
        <p:spPr>
          <a:xfrm>
            <a:off x="4937760" y="1463040"/>
            <a:ext cx="3474720" cy="457200"/>
          </a:xfrm>
          <a:prstGeom prst="rect">
            <a:avLst/>
          </a:prstGeom>
          <a:noFill/>
          <a:ln/>
        </p:spPr>
        <p:txBody>
          <a:bodyPr wrap="square" lIns="0" tIns="0" rIns="0" bIns="0" rtlCol="0" anchor="ctr"/>
          <a:lstStyle/>
          <a:p>
            <a:pPr indent="0" marL="0">
              <a:lnSpc>
                <a:spcPct val="120000"/>
              </a:lnSpc>
              <a:buNone/>
            </a:pPr>
            <a:r>
              <a:rPr lang="en-US" sz="1500" dirty="0">
                <a:solidFill>
                  <a:srgbClr val="2D3436"/>
                </a:solidFill>
                <a:latin typeface="BIZ UDPGothic" pitchFamily="34" charset="0"/>
                <a:ea typeface="BIZ UDPGothic" pitchFamily="34" charset="-122"/>
                <a:cs typeface="BIZ UDPGothic" pitchFamily="34" charset="-120"/>
              </a:rPr>
              <a:t>起きている時間が長いほど</a:t>
            </a:r>
            <a:endParaRPr lang="en-US" sz="1500" dirty="0"/>
          </a:p>
          <a:p>
            <a:pPr indent="0" marL="0">
              <a:lnSpc>
                <a:spcPct val="120000"/>
              </a:lnSpc>
              <a:buNone/>
            </a:pPr>
            <a:r>
              <a:rPr lang="en-US" sz="1500" dirty="0">
                <a:solidFill>
                  <a:srgbClr val="2D3436"/>
                </a:solidFill>
                <a:latin typeface="BIZ UDPGothic" pitchFamily="34" charset="0"/>
                <a:ea typeface="BIZ UDPGothic" pitchFamily="34" charset="-122"/>
                <a:cs typeface="BIZ UDPGothic" pitchFamily="34" charset="-120"/>
              </a:rPr>
              <a:t>「眠りたい」圧力がたまる</a:t>
            </a:r>
            <a:endParaRPr lang="en-US" sz="1500" dirty="0"/>
          </a:p>
        </p:txBody>
      </p:sp>
      <p:sp>
        <p:nvSpPr>
          <p:cNvPr id="14" name="Text 12"/>
          <p:cNvSpPr/>
          <p:nvPr/>
        </p:nvSpPr>
        <p:spPr>
          <a:xfrm>
            <a:off x="4937760" y="2011680"/>
            <a:ext cx="3474720" cy="1005840"/>
          </a:xfrm>
          <a:prstGeom prst="rect">
            <a:avLst/>
          </a:prstGeom>
          <a:noFill/>
          <a:ln/>
        </p:spPr>
        <p:txBody>
          <a:bodyPr wrap="square" lIns="0" tIns="0" rIns="0" bIns="0" rtlCol="0" anchor="ctr"/>
          <a:lstStyle/>
          <a:p>
            <a:pPr indent="0" marL="0">
              <a:lnSpc>
                <a:spcPct val="120000"/>
              </a:lnSpc>
              <a:buNone/>
            </a:pPr>
            <a:r>
              <a:rPr lang="en-US" sz="1500" dirty="0">
                <a:solidFill>
                  <a:srgbClr val="2D3436"/>
                </a:solidFill>
                <a:latin typeface="BIZ UDPGothic" pitchFamily="34" charset="0"/>
                <a:ea typeface="BIZ UDPGothic" pitchFamily="34" charset="-122"/>
                <a:cs typeface="BIZ UDPGothic" pitchFamily="34" charset="-120"/>
              </a:rPr>
              <a:t>アデノシンの蓄積が原因</a:t>
            </a:r>
            <a:endParaRPr lang="en-US" sz="1500" dirty="0"/>
          </a:p>
          <a:p>
            <a:pPr indent="0" marL="0">
              <a:lnSpc>
                <a:spcPct val="120000"/>
              </a:lnSpc>
              <a:buNone/>
            </a:pPr>
            <a:endParaRPr lang="en-US" sz="1500" dirty="0"/>
          </a:p>
          <a:p>
            <a:pPr indent="0" marL="0">
              <a:lnSpc>
                <a:spcPct val="120000"/>
              </a:lnSpc>
              <a:buNone/>
            </a:pPr>
            <a:r>
              <a:rPr lang="en-US" sz="1500" dirty="0">
                <a:solidFill>
                  <a:srgbClr val="2D3436"/>
                </a:solidFill>
                <a:latin typeface="BIZ UDPGothic" pitchFamily="34" charset="0"/>
                <a:ea typeface="BIZ UDPGothic" pitchFamily="34" charset="-122"/>
                <a:cs typeface="BIZ UDPGothic" pitchFamily="34" charset="-120"/>
              </a:rPr>
              <a:t>☕ カフェインはアデノシンの</a:t>
            </a:r>
            <a:endParaRPr lang="en-US" sz="1500" dirty="0"/>
          </a:p>
          <a:p>
            <a:pPr indent="0" marL="0">
              <a:lnSpc>
                <a:spcPct val="120000"/>
              </a:lnSpc>
              <a:buNone/>
            </a:pPr>
            <a:r>
              <a:rPr lang="en-US" sz="1500" dirty="0">
                <a:solidFill>
                  <a:srgbClr val="2D3436"/>
                </a:solidFill>
                <a:latin typeface="BIZ UDPGothic" pitchFamily="34" charset="0"/>
                <a:ea typeface="BIZ UDPGothic" pitchFamily="34" charset="-122"/>
                <a:cs typeface="BIZ UDPGothic" pitchFamily="34" charset="-120"/>
              </a:rPr>
              <a:t>　 作用をブロックして</a:t>
            </a:r>
            <a:endParaRPr lang="en-US" sz="1500" dirty="0"/>
          </a:p>
          <a:p>
            <a:pPr indent="0" marL="0">
              <a:lnSpc>
                <a:spcPct val="120000"/>
              </a:lnSpc>
              <a:buNone/>
            </a:pPr>
            <a:r>
              <a:rPr lang="en-US" sz="1500" dirty="0">
                <a:solidFill>
                  <a:srgbClr val="2D3436"/>
                </a:solidFill>
                <a:latin typeface="BIZ UDPGothic" pitchFamily="34" charset="0"/>
                <a:ea typeface="BIZ UDPGothic" pitchFamily="34" charset="-122"/>
                <a:cs typeface="BIZ UDPGothic" pitchFamily="34" charset="-120"/>
              </a:rPr>
              <a:t>　 眠気を抑える</a:t>
            </a:r>
            <a:endParaRPr lang="en-US" sz="1500" dirty="0"/>
          </a:p>
        </p:txBody>
      </p:sp>
      <p:sp>
        <p:nvSpPr>
          <p:cNvPr id="15" name="Shape 13"/>
          <p:cNvSpPr/>
          <p:nvPr/>
        </p:nvSpPr>
        <p:spPr>
          <a:xfrm>
            <a:off x="457200" y="3566160"/>
            <a:ext cx="8229600" cy="548640"/>
          </a:xfrm>
          <a:prstGeom prst="rect">
            <a:avLst>
              <a:gd name="adj" fmla="val 16667"/>
            </a:avLst>
          </a:prstGeom>
          <a:solidFill>
            <a:srgbClr val="E8F4FD"/>
          </a:solidFill>
          <a:ln/>
          <a:effectLst>
            <a:outerShdw sx="100000" sy="100000" kx="0" ky="0" algn="bl" rotWithShape="0" blurRad="50800" dist="25400" dir="8100000">
              <a:srgbClr val="000000">
                <a:alpha val="12000"/>
              </a:srgbClr>
            </a:outerShdw>
          </a:effectLst>
        </p:spPr>
      </p:sp>
      <p:sp>
        <p:nvSpPr>
          <p:cNvPr id="16" name="Shape 14"/>
          <p:cNvSpPr/>
          <p:nvPr/>
        </p:nvSpPr>
        <p:spPr>
          <a:xfrm>
            <a:off x="457200" y="3566160"/>
            <a:ext cx="109728" cy="548640"/>
          </a:xfrm>
          <a:prstGeom prst="rect">
            <a:avLst>
              <a:gd name="adj" fmla="val 41667"/>
            </a:avLst>
          </a:prstGeom>
          <a:solidFill>
            <a:srgbClr val="2C5AA0"/>
          </a:solidFill>
          <a:ln/>
        </p:spPr>
      </p:sp>
      <p:sp>
        <p:nvSpPr>
          <p:cNvPr id="17" name="Text 15"/>
          <p:cNvSpPr/>
          <p:nvPr/>
        </p:nvSpPr>
        <p:spPr>
          <a:xfrm>
            <a:off x="731520" y="3611880"/>
            <a:ext cx="7772400" cy="457200"/>
          </a:xfrm>
          <a:prstGeom prst="rect">
            <a:avLst/>
          </a:prstGeom>
          <a:noFill/>
          <a:ln/>
        </p:spPr>
        <p:txBody>
          <a:bodyPr wrap="square" lIns="0" tIns="0" rIns="0" bIns="0" rtlCol="0" anchor="ctr"/>
          <a:lstStyle/>
          <a:p>
            <a:pPr algn="ctr" indent="0" marL="0">
              <a:buNone/>
            </a:pPr>
            <a:r>
              <a:rPr lang="en-US" sz="1900" b="1" dirty="0">
                <a:solidFill>
                  <a:srgbClr val="2C5AA0"/>
                </a:solidFill>
                <a:latin typeface="BIZ UDPGothic" pitchFamily="34" charset="0"/>
                <a:ea typeface="BIZ UDPGothic" pitchFamily="34" charset="-122"/>
                <a:cs typeface="BIZ UDPGothic" pitchFamily="34" charset="-120"/>
              </a:rPr>
              <a:t>この2つのバランスが崩れると不眠が起こる</a:t>
            </a:r>
            <a:endParaRPr lang="en-US" sz="1900" dirty="0"/>
          </a:p>
        </p:txBody>
      </p:sp>
      <p:sp>
        <p:nvSpPr>
          <p:cNvPr id="18" name="Shape 16"/>
          <p:cNvSpPr/>
          <p:nvPr/>
        </p:nvSpPr>
        <p:spPr>
          <a:xfrm>
            <a:off x="0" y="4800600"/>
            <a:ext cx="9144000" cy="347472"/>
          </a:xfrm>
          <a:prstGeom prst="rect">
            <a:avLst/>
          </a:prstGeom>
          <a:solidFill>
            <a:srgbClr val="1B3A5C"/>
          </a:solidFill>
          <a:ln/>
        </p:spPr>
      </p:sp>
      <p:sp>
        <p:nvSpPr>
          <p:cNvPr id="19" name="Text 17"/>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#15</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不眠症の4つのタイプ</a:t>
            </a:r>
            <a:endParaRPr lang="en-US" sz="2600" dirty="0"/>
          </a:p>
        </p:txBody>
      </p:sp>
      <p:sp>
        <p:nvSpPr>
          <p:cNvPr id="4" name="Shape 2"/>
          <p:cNvSpPr/>
          <p:nvPr/>
        </p:nvSpPr>
        <p:spPr>
          <a:xfrm>
            <a:off x="457200" y="1005840"/>
            <a:ext cx="8229600" cy="777240"/>
          </a:xfrm>
          <a:prstGeom prst="rect">
            <a:avLst>
              <a:gd name="adj" fmla="val 11765"/>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05840"/>
            <a:ext cx="109728" cy="777240"/>
          </a:xfrm>
          <a:prstGeom prst="rect">
            <a:avLst>
              <a:gd name="adj" fmla="val 41667"/>
            </a:avLst>
          </a:prstGeom>
          <a:solidFill>
            <a:srgbClr val="2C5AA0"/>
          </a:solidFill>
          <a:ln/>
        </p:spPr>
      </p:sp>
      <p:sp>
        <p:nvSpPr>
          <p:cNvPr id="6" name="Text 4"/>
          <p:cNvSpPr/>
          <p:nvPr/>
        </p:nvSpPr>
        <p:spPr>
          <a:xfrm>
            <a:off x="640080" y="1097280"/>
            <a:ext cx="548640" cy="59436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7" name="Text 5"/>
          <p:cNvSpPr/>
          <p:nvPr/>
        </p:nvSpPr>
        <p:spPr>
          <a:xfrm>
            <a:off x="1280160" y="1051560"/>
            <a:ext cx="2286000" cy="365760"/>
          </a:xfrm>
          <a:prstGeom prst="rect">
            <a:avLst/>
          </a:prstGeom>
          <a:noFill/>
          <a:ln/>
        </p:spPr>
        <p:txBody>
          <a:bodyPr wrap="square" lIns="0" tIns="0" rIns="0" bIns="0" rtlCol="0" anchor="ctr"/>
          <a:lstStyle/>
          <a:p>
            <a:pPr indent="0" marL="0">
              <a:buNone/>
            </a:pPr>
            <a:r>
              <a:rPr lang="en-US" sz="1900" b="1" dirty="0">
                <a:solidFill>
                  <a:srgbClr val="2C5AA0"/>
                </a:solidFill>
                <a:latin typeface="BIZ UDPGothic" pitchFamily="34" charset="0"/>
                <a:ea typeface="BIZ UDPGothic" pitchFamily="34" charset="-122"/>
                <a:cs typeface="BIZ UDPGothic" pitchFamily="34" charset="-120"/>
              </a:rPr>
              <a:t>入眠障害</a:t>
            </a:r>
            <a:endParaRPr lang="en-US" sz="1900" dirty="0"/>
          </a:p>
        </p:txBody>
      </p:sp>
      <p:sp>
        <p:nvSpPr>
          <p:cNvPr id="8" name="Text 6"/>
          <p:cNvSpPr/>
          <p:nvPr/>
        </p:nvSpPr>
        <p:spPr>
          <a:xfrm>
            <a:off x="3657600" y="1051560"/>
            <a:ext cx="4846320" cy="685800"/>
          </a:xfrm>
          <a:prstGeom prst="rect">
            <a:avLst/>
          </a:prstGeom>
          <a:noFill/>
          <a:ln/>
        </p:spPr>
        <p:txBody>
          <a:bodyPr wrap="square" lIns="0" tIns="0" rIns="0" bIns="0" rtlCol="0" anchor="ctr"/>
          <a:lstStyle/>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布団に入っても30分以上眠れない</a:t>
            </a:r>
            <a:endParaRPr lang="en-US" sz="1500" dirty="0"/>
          </a:p>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最も多いタイプ。ストレス・不安が主な原因</a:t>
            </a:r>
            <a:endParaRPr lang="en-US" sz="1500" dirty="0"/>
          </a:p>
        </p:txBody>
      </p:sp>
      <p:sp>
        <p:nvSpPr>
          <p:cNvPr id="9" name="Shape 7"/>
          <p:cNvSpPr/>
          <p:nvPr/>
        </p:nvSpPr>
        <p:spPr>
          <a:xfrm>
            <a:off x="457200" y="1920240"/>
            <a:ext cx="8229600" cy="777240"/>
          </a:xfrm>
          <a:prstGeom prst="rect">
            <a:avLst>
              <a:gd name="adj" fmla="val 11765"/>
            </a:avLst>
          </a:prstGeom>
          <a:solidFill>
            <a:srgbClr val="FFFFFF"/>
          </a:solidFill>
          <a:ln/>
          <a:effectLst>
            <a:outerShdw sx="100000" sy="100000" kx="0" ky="0" algn="bl" rotWithShape="0" blurRad="50800" dist="25400" dir="8100000">
              <a:srgbClr val="000000">
                <a:alpha val="12000"/>
              </a:srgbClr>
            </a:outerShdw>
          </a:effectLst>
        </p:spPr>
      </p:sp>
      <p:sp>
        <p:nvSpPr>
          <p:cNvPr id="10" name="Shape 8"/>
          <p:cNvSpPr/>
          <p:nvPr/>
        </p:nvSpPr>
        <p:spPr>
          <a:xfrm>
            <a:off x="457200" y="1920240"/>
            <a:ext cx="109728" cy="777240"/>
          </a:xfrm>
          <a:prstGeom prst="rect">
            <a:avLst>
              <a:gd name="adj" fmla="val 41667"/>
            </a:avLst>
          </a:prstGeom>
          <a:solidFill>
            <a:srgbClr val="E8850C"/>
          </a:solidFill>
          <a:ln/>
        </p:spPr>
      </p:sp>
      <p:sp>
        <p:nvSpPr>
          <p:cNvPr id="11" name="Text 9"/>
          <p:cNvSpPr/>
          <p:nvPr/>
        </p:nvSpPr>
        <p:spPr>
          <a:xfrm>
            <a:off x="640080" y="2011680"/>
            <a:ext cx="548640" cy="59436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2" name="Text 10"/>
          <p:cNvSpPr/>
          <p:nvPr/>
        </p:nvSpPr>
        <p:spPr>
          <a:xfrm>
            <a:off x="1280160" y="1965960"/>
            <a:ext cx="2286000" cy="365760"/>
          </a:xfrm>
          <a:prstGeom prst="rect">
            <a:avLst/>
          </a:prstGeom>
          <a:noFill/>
          <a:ln/>
        </p:spPr>
        <p:txBody>
          <a:bodyPr wrap="square" lIns="0" tIns="0" rIns="0" bIns="0" rtlCol="0" anchor="ctr"/>
          <a:lstStyle/>
          <a:p>
            <a:pPr indent="0" marL="0">
              <a:buNone/>
            </a:pPr>
            <a:r>
              <a:rPr lang="en-US" sz="1900" b="1" dirty="0">
                <a:solidFill>
                  <a:srgbClr val="E8850C"/>
                </a:solidFill>
                <a:latin typeface="BIZ UDPGothic" pitchFamily="34" charset="0"/>
                <a:ea typeface="BIZ UDPGothic" pitchFamily="34" charset="-122"/>
                <a:cs typeface="BIZ UDPGothic" pitchFamily="34" charset="-120"/>
              </a:rPr>
              <a:t>中途覚醒</a:t>
            </a:r>
            <a:endParaRPr lang="en-US" sz="1900" dirty="0"/>
          </a:p>
        </p:txBody>
      </p:sp>
      <p:sp>
        <p:nvSpPr>
          <p:cNvPr id="13" name="Text 11"/>
          <p:cNvSpPr/>
          <p:nvPr/>
        </p:nvSpPr>
        <p:spPr>
          <a:xfrm>
            <a:off x="3657600" y="1965960"/>
            <a:ext cx="4846320" cy="685800"/>
          </a:xfrm>
          <a:prstGeom prst="rect">
            <a:avLst/>
          </a:prstGeom>
          <a:noFill/>
          <a:ln/>
        </p:spPr>
        <p:txBody>
          <a:bodyPr wrap="square" lIns="0" tIns="0" rIns="0" bIns="0" rtlCol="0" anchor="ctr"/>
          <a:lstStyle/>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夜中に何度も目が覚めてしまう</a:t>
            </a:r>
            <a:endParaRPr lang="en-US" sz="1500" dirty="0"/>
          </a:p>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加齢やアルコールの影響が大きい</a:t>
            </a:r>
            <a:endParaRPr lang="en-US" sz="1500" dirty="0"/>
          </a:p>
        </p:txBody>
      </p:sp>
      <p:sp>
        <p:nvSpPr>
          <p:cNvPr id="14" name="Shape 12"/>
          <p:cNvSpPr/>
          <p:nvPr/>
        </p:nvSpPr>
        <p:spPr>
          <a:xfrm>
            <a:off x="457200" y="2834640"/>
            <a:ext cx="8229600" cy="777240"/>
          </a:xfrm>
          <a:prstGeom prst="rect">
            <a:avLst>
              <a:gd name="adj" fmla="val 11765"/>
            </a:avLst>
          </a:prstGeom>
          <a:solidFill>
            <a:srgbClr val="FFFFFF"/>
          </a:solidFill>
          <a:ln/>
          <a:effectLst>
            <a:outerShdw sx="100000" sy="100000" kx="0" ky="0" algn="bl" rotWithShape="0" blurRad="50800" dist="25400" dir="8100000">
              <a:srgbClr val="000000">
                <a:alpha val="12000"/>
              </a:srgbClr>
            </a:outerShdw>
          </a:effectLst>
        </p:spPr>
      </p:sp>
      <p:sp>
        <p:nvSpPr>
          <p:cNvPr id="15" name="Shape 13"/>
          <p:cNvSpPr/>
          <p:nvPr/>
        </p:nvSpPr>
        <p:spPr>
          <a:xfrm>
            <a:off x="457200" y="2834640"/>
            <a:ext cx="109728" cy="777240"/>
          </a:xfrm>
          <a:prstGeom prst="rect">
            <a:avLst>
              <a:gd name="adj" fmla="val 41667"/>
            </a:avLst>
          </a:prstGeom>
          <a:solidFill>
            <a:srgbClr val="7B2D8E"/>
          </a:solidFill>
          <a:ln/>
        </p:spPr>
      </p:sp>
      <p:sp>
        <p:nvSpPr>
          <p:cNvPr id="16" name="Text 14"/>
          <p:cNvSpPr/>
          <p:nvPr/>
        </p:nvSpPr>
        <p:spPr>
          <a:xfrm>
            <a:off x="640080" y="2926080"/>
            <a:ext cx="548640" cy="59436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7" name="Text 15"/>
          <p:cNvSpPr/>
          <p:nvPr/>
        </p:nvSpPr>
        <p:spPr>
          <a:xfrm>
            <a:off x="1280160" y="2880360"/>
            <a:ext cx="2286000" cy="365760"/>
          </a:xfrm>
          <a:prstGeom prst="rect">
            <a:avLst/>
          </a:prstGeom>
          <a:noFill/>
          <a:ln/>
        </p:spPr>
        <p:txBody>
          <a:bodyPr wrap="square" lIns="0" tIns="0" rIns="0" bIns="0" rtlCol="0" anchor="ctr"/>
          <a:lstStyle/>
          <a:p>
            <a:pPr indent="0" marL="0">
              <a:buNone/>
            </a:pPr>
            <a:r>
              <a:rPr lang="en-US" sz="1900" b="1" dirty="0">
                <a:solidFill>
                  <a:srgbClr val="7B2D8E"/>
                </a:solidFill>
                <a:latin typeface="BIZ UDPGothic" pitchFamily="34" charset="0"/>
                <a:ea typeface="BIZ UDPGothic" pitchFamily="34" charset="-122"/>
                <a:cs typeface="BIZ UDPGothic" pitchFamily="34" charset="-120"/>
              </a:rPr>
              <a:t>早朝覚醒</a:t>
            </a:r>
            <a:endParaRPr lang="en-US" sz="1900" dirty="0"/>
          </a:p>
        </p:txBody>
      </p:sp>
      <p:sp>
        <p:nvSpPr>
          <p:cNvPr id="18" name="Text 16"/>
          <p:cNvSpPr/>
          <p:nvPr/>
        </p:nvSpPr>
        <p:spPr>
          <a:xfrm>
            <a:off x="3657600" y="2880360"/>
            <a:ext cx="4846320" cy="685800"/>
          </a:xfrm>
          <a:prstGeom prst="rect">
            <a:avLst/>
          </a:prstGeom>
          <a:noFill/>
          <a:ln/>
        </p:spPr>
        <p:txBody>
          <a:bodyPr wrap="square" lIns="0" tIns="0" rIns="0" bIns="0" rtlCol="0" anchor="ctr"/>
          <a:lstStyle/>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予定より2時間以上早く目が覚め二度寝できない</a:t>
            </a:r>
            <a:endParaRPr lang="en-US" sz="1500" dirty="0"/>
          </a:p>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うつ病との関連が指摘されている</a:t>
            </a:r>
            <a:endParaRPr lang="en-US" sz="1500" dirty="0"/>
          </a:p>
        </p:txBody>
      </p:sp>
      <p:sp>
        <p:nvSpPr>
          <p:cNvPr id="19" name="Shape 17"/>
          <p:cNvSpPr/>
          <p:nvPr/>
        </p:nvSpPr>
        <p:spPr>
          <a:xfrm>
            <a:off x="457200" y="3749040"/>
            <a:ext cx="8229600" cy="777240"/>
          </a:xfrm>
          <a:prstGeom prst="rect">
            <a:avLst>
              <a:gd name="adj" fmla="val 11765"/>
            </a:avLst>
          </a:prstGeom>
          <a:solidFill>
            <a:srgbClr val="FFFFFF"/>
          </a:solidFill>
          <a:ln/>
          <a:effectLst>
            <a:outerShdw sx="100000" sy="100000" kx="0" ky="0" algn="bl" rotWithShape="0" blurRad="50800" dist="25400" dir="8100000">
              <a:srgbClr val="000000">
                <a:alpha val="12000"/>
              </a:srgbClr>
            </a:outerShdw>
          </a:effectLst>
        </p:spPr>
      </p:sp>
      <p:sp>
        <p:nvSpPr>
          <p:cNvPr id="20" name="Shape 18"/>
          <p:cNvSpPr/>
          <p:nvPr/>
        </p:nvSpPr>
        <p:spPr>
          <a:xfrm>
            <a:off x="457200" y="3749040"/>
            <a:ext cx="109728" cy="777240"/>
          </a:xfrm>
          <a:prstGeom prst="rect">
            <a:avLst>
              <a:gd name="adj" fmla="val 41667"/>
            </a:avLst>
          </a:prstGeom>
          <a:solidFill>
            <a:srgbClr val="DC3545"/>
          </a:solidFill>
          <a:ln/>
        </p:spPr>
      </p:sp>
      <p:sp>
        <p:nvSpPr>
          <p:cNvPr id="21" name="Text 19"/>
          <p:cNvSpPr/>
          <p:nvPr/>
        </p:nvSpPr>
        <p:spPr>
          <a:xfrm>
            <a:off x="640080" y="3840480"/>
            <a:ext cx="548640" cy="59436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22" name="Text 20"/>
          <p:cNvSpPr/>
          <p:nvPr/>
        </p:nvSpPr>
        <p:spPr>
          <a:xfrm>
            <a:off x="1280160" y="3794760"/>
            <a:ext cx="2286000" cy="365760"/>
          </a:xfrm>
          <a:prstGeom prst="rect">
            <a:avLst/>
          </a:prstGeom>
          <a:noFill/>
          <a:ln/>
        </p:spPr>
        <p:txBody>
          <a:bodyPr wrap="square" lIns="0" tIns="0" rIns="0" bIns="0" rtlCol="0" anchor="ctr"/>
          <a:lstStyle/>
          <a:p>
            <a:pPr indent="0" marL="0">
              <a:buNone/>
            </a:pPr>
            <a:r>
              <a:rPr lang="en-US" sz="1900" b="1" dirty="0">
                <a:solidFill>
                  <a:srgbClr val="DC3545"/>
                </a:solidFill>
                <a:latin typeface="BIZ UDPGothic" pitchFamily="34" charset="0"/>
                <a:ea typeface="BIZ UDPGothic" pitchFamily="34" charset="-122"/>
                <a:cs typeface="BIZ UDPGothic" pitchFamily="34" charset="-120"/>
              </a:rPr>
              <a:t>熟眠障害</a:t>
            </a:r>
            <a:endParaRPr lang="en-US" sz="1900" dirty="0"/>
          </a:p>
        </p:txBody>
      </p:sp>
      <p:sp>
        <p:nvSpPr>
          <p:cNvPr id="23" name="Text 21"/>
          <p:cNvSpPr/>
          <p:nvPr/>
        </p:nvSpPr>
        <p:spPr>
          <a:xfrm>
            <a:off x="3657600" y="3794760"/>
            <a:ext cx="4846320" cy="685800"/>
          </a:xfrm>
          <a:prstGeom prst="rect">
            <a:avLst/>
          </a:prstGeom>
          <a:noFill/>
          <a:ln/>
        </p:spPr>
        <p:txBody>
          <a:bodyPr wrap="square" lIns="0" tIns="0" rIns="0" bIns="0" rtlCol="0" anchor="ctr"/>
          <a:lstStyle/>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睡眠時間は十分なのに眠りが浅く疲れがとれない</a:t>
            </a:r>
            <a:endParaRPr lang="en-US" sz="1500" dirty="0"/>
          </a:p>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睡眠時無呼吸症候群が隠れていることも</a:t>
            </a:r>
            <a:endParaRPr lang="en-US" sz="1500" dirty="0"/>
          </a:p>
        </p:txBody>
      </p:sp>
      <p:sp>
        <p:nvSpPr>
          <p:cNvPr id="24" name="Shape 22"/>
          <p:cNvSpPr/>
          <p:nvPr/>
        </p:nvSpPr>
        <p:spPr>
          <a:xfrm>
            <a:off x="0" y="4800600"/>
            <a:ext cx="9144000" cy="347472"/>
          </a:xfrm>
          <a:prstGeom prst="rect">
            <a:avLst/>
          </a:prstGeom>
          <a:solidFill>
            <a:srgbClr val="1B3A5C"/>
          </a:solidFill>
          <a:ln/>
        </p:spPr>
      </p:sp>
      <p:sp>
        <p:nvSpPr>
          <p:cNvPr id="25" name="Text 23"/>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#15</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不眠の主な原因</a:t>
            </a:r>
            <a:endParaRPr lang="en-US" sz="2600" dirty="0"/>
          </a:p>
        </p:txBody>
      </p:sp>
      <p:sp>
        <p:nvSpPr>
          <p:cNvPr id="4" name="Shape 2"/>
          <p:cNvSpPr/>
          <p:nvPr/>
        </p:nvSpPr>
        <p:spPr>
          <a:xfrm>
            <a:off x="274320" y="1005840"/>
            <a:ext cx="2011680" cy="411480"/>
          </a:xfrm>
          <a:prstGeom prst="rect">
            <a:avLst>
              <a:gd name="adj" fmla="val 22222"/>
            </a:avLst>
          </a:prstGeom>
          <a:solidFill>
            <a:srgbClr val="DC3545"/>
          </a:solidFill>
          <a:ln/>
          <a:effectLst>
            <a:outerShdw sx="100000" sy="100000" kx="0" ky="0" algn="bl" rotWithShape="0" blurRad="50800" dist="25400" dir="8100000">
              <a:srgbClr val="000000">
                <a:alpha val="12000"/>
              </a:srgbClr>
            </a:outerShdw>
          </a:effectLst>
        </p:spPr>
      </p:sp>
      <p:sp>
        <p:nvSpPr>
          <p:cNvPr id="5" name="Text 3"/>
          <p:cNvSpPr/>
          <p:nvPr/>
        </p:nvSpPr>
        <p:spPr>
          <a:xfrm>
            <a:off x="365760" y="1033272"/>
            <a:ext cx="182880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PGothic" pitchFamily="34" charset="0"/>
                <a:ea typeface="BIZ UDPGothic" pitchFamily="34" charset="-122"/>
                <a:cs typeface="BIZ UDPGothic" pitchFamily="34" charset="-120"/>
              </a:rPr>
              <a:t>心理的</a:t>
            </a:r>
            <a:endParaRPr lang="en-US" sz="1600" dirty="0"/>
          </a:p>
        </p:txBody>
      </p:sp>
      <p:sp>
        <p:nvSpPr>
          <p:cNvPr id="6" name="Shape 4"/>
          <p:cNvSpPr/>
          <p:nvPr/>
        </p:nvSpPr>
        <p:spPr>
          <a:xfrm>
            <a:off x="274320" y="1554480"/>
            <a:ext cx="2011680" cy="685800"/>
          </a:xfrm>
          <a:prstGeom prst="rect">
            <a:avLst>
              <a:gd name="adj" fmla="val 13333"/>
            </a:avLst>
          </a:prstGeom>
          <a:solidFill>
            <a:srgbClr val="FFFFFF"/>
          </a:solidFill>
          <a:ln/>
          <a:effectLst>
            <a:outerShdw sx="100000" sy="100000" kx="0" ky="0" algn="bl" rotWithShape="0" blurRad="50800" dist="25400" dir="8100000">
              <a:srgbClr val="000000">
                <a:alpha val="12000"/>
              </a:srgbClr>
            </a:outerShdw>
          </a:effectLst>
        </p:spPr>
      </p:sp>
      <p:sp>
        <p:nvSpPr>
          <p:cNvPr id="7" name="Shape 5"/>
          <p:cNvSpPr/>
          <p:nvPr/>
        </p:nvSpPr>
        <p:spPr>
          <a:xfrm>
            <a:off x="274320" y="1554480"/>
            <a:ext cx="109728" cy="685800"/>
          </a:xfrm>
          <a:prstGeom prst="rect">
            <a:avLst>
              <a:gd name="adj" fmla="val 41667"/>
            </a:avLst>
          </a:prstGeom>
          <a:solidFill>
            <a:srgbClr val="DC3545"/>
          </a:solidFill>
          <a:ln/>
        </p:spPr>
      </p:sp>
      <p:sp>
        <p:nvSpPr>
          <p:cNvPr id="8" name="Text 6"/>
          <p:cNvSpPr/>
          <p:nvPr/>
        </p:nvSpPr>
        <p:spPr>
          <a:xfrm>
            <a:off x="411480" y="1600200"/>
            <a:ext cx="1737360" cy="594360"/>
          </a:xfrm>
          <a:prstGeom prst="rect">
            <a:avLst/>
          </a:prstGeom>
          <a:noFill/>
          <a:ln/>
        </p:spPr>
        <p:txBody>
          <a:bodyPr wrap="square" lIns="0" tIns="0" rIns="0" bIns="0" rtlCol="0" anchor="ctr"/>
          <a:lstStyle/>
          <a:p>
            <a:pPr indent="0" marL="0">
              <a:lnSpc>
                <a:spcPct val="115000"/>
              </a:lnSpc>
              <a:buNone/>
            </a:pPr>
            <a:r>
              <a:rPr lang="en-US" sz="1300" dirty="0">
                <a:solidFill>
                  <a:srgbClr val="2D3436"/>
                </a:solidFill>
                <a:latin typeface="BIZ UDPGothic" pitchFamily="34" charset="0"/>
                <a:ea typeface="BIZ UDPGothic" pitchFamily="34" charset="-122"/>
                <a:cs typeface="BIZ UDPGothic" pitchFamily="34" charset="-120"/>
              </a:rPr>
              <a:t>ストレス・不安</a:t>
            </a:r>
            <a:endParaRPr lang="en-US" sz="1300" dirty="0"/>
          </a:p>
        </p:txBody>
      </p:sp>
      <p:sp>
        <p:nvSpPr>
          <p:cNvPr id="9" name="Shape 7"/>
          <p:cNvSpPr/>
          <p:nvPr/>
        </p:nvSpPr>
        <p:spPr>
          <a:xfrm>
            <a:off x="274320" y="2331720"/>
            <a:ext cx="2011680" cy="685800"/>
          </a:xfrm>
          <a:prstGeom prst="rect">
            <a:avLst>
              <a:gd name="adj" fmla="val 13333"/>
            </a:avLst>
          </a:prstGeom>
          <a:solidFill>
            <a:srgbClr val="FFFFFF"/>
          </a:solidFill>
          <a:ln/>
          <a:effectLst>
            <a:outerShdw sx="100000" sy="100000" kx="0" ky="0" algn="bl" rotWithShape="0" blurRad="50800" dist="25400" dir="8100000">
              <a:srgbClr val="000000">
                <a:alpha val="12000"/>
              </a:srgbClr>
            </a:outerShdw>
          </a:effectLst>
        </p:spPr>
      </p:sp>
      <p:sp>
        <p:nvSpPr>
          <p:cNvPr id="10" name="Shape 8"/>
          <p:cNvSpPr/>
          <p:nvPr/>
        </p:nvSpPr>
        <p:spPr>
          <a:xfrm>
            <a:off x="274320" y="2331720"/>
            <a:ext cx="109728" cy="685800"/>
          </a:xfrm>
          <a:prstGeom prst="rect">
            <a:avLst>
              <a:gd name="adj" fmla="val 41667"/>
            </a:avLst>
          </a:prstGeom>
          <a:solidFill>
            <a:srgbClr val="DC3545"/>
          </a:solidFill>
          <a:ln/>
        </p:spPr>
      </p:sp>
      <p:sp>
        <p:nvSpPr>
          <p:cNvPr id="11" name="Text 9"/>
          <p:cNvSpPr/>
          <p:nvPr/>
        </p:nvSpPr>
        <p:spPr>
          <a:xfrm>
            <a:off x="411480" y="2377440"/>
            <a:ext cx="1737360" cy="594360"/>
          </a:xfrm>
          <a:prstGeom prst="rect">
            <a:avLst/>
          </a:prstGeom>
          <a:noFill/>
          <a:ln/>
        </p:spPr>
        <p:txBody>
          <a:bodyPr wrap="square" lIns="0" tIns="0" rIns="0" bIns="0" rtlCol="0" anchor="ctr"/>
          <a:lstStyle/>
          <a:p>
            <a:pPr indent="0" marL="0">
              <a:lnSpc>
                <a:spcPct val="115000"/>
              </a:lnSpc>
              <a:buNone/>
            </a:pPr>
            <a:r>
              <a:rPr lang="en-US" sz="1300" dirty="0">
                <a:solidFill>
                  <a:srgbClr val="2D3436"/>
                </a:solidFill>
                <a:latin typeface="BIZ UDPGothic" pitchFamily="34" charset="0"/>
                <a:ea typeface="BIZ UDPGothic" pitchFamily="34" charset="-122"/>
                <a:cs typeface="BIZ UDPGothic" pitchFamily="34" charset="-120"/>
              </a:rPr>
              <a:t>うつ病</a:t>
            </a:r>
            <a:endParaRPr lang="en-US" sz="1300" dirty="0"/>
          </a:p>
        </p:txBody>
      </p:sp>
      <p:sp>
        <p:nvSpPr>
          <p:cNvPr id="12" name="Shape 10"/>
          <p:cNvSpPr/>
          <p:nvPr/>
        </p:nvSpPr>
        <p:spPr>
          <a:xfrm>
            <a:off x="274320" y="3108960"/>
            <a:ext cx="2011680" cy="685800"/>
          </a:xfrm>
          <a:prstGeom prst="rect">
            <a:avLst>
              <a:gd name="adj" fmla="val 13333"/>
            </a:avLst>
          </a:prstGeom>
          <a:solidFill>
            <a:srgbClr val="FFFFFF"/>
          </a:solidFill>
          <a:ln/>
          <a:effectLst>
            <a:outerShdw sx="100000" sy="100000" kx="0" ky="0" algn="bl" rotWithShape="0" blurRad="50800" dist="25400" dir="8100000">
              <a:srgbClr val="000000">
                <a:alpha val="12000"/>
              </a:srgbClr>
            </a:outerShdw>
          </a:effectLst>
        </p:spPr>
      </p:sp>
      <p:sp>
        <p:nvSpPr>
          <p:cNvPr id="13" name="Shape 11"/>
          <p:cNvSpPr/>
          <p:nvPr/>
        </p:nvSpPr>
        <p:spPr>
          <a:xfrm>
            <a:off x="274320" y="3108960"/>
            <a:ext cx="109728" cy="685800"/>
          </a:xfrm>
          <a:prstGeom prst="rect">
            <a:avLst>
              <a:gd name="adj" fmla="val 41667"/>
            </a:avLst>
          </a:prstGeom>
          <a:solidFill>
            <a:srgbClr val="DC3545"/>
          </a:solidFill>
          <a:ln/>
        </p:spPr>
      </p:sp>
      <p:sp>
        <p:nvSpPr>
          <p:cNvPr id="14" name="Text 12"/>
          <p:cNvSpPr/>
          <p:nvPr/>
        </p:nvSpPr>
        <p:spPr>
          <a:xfrm>
            <a:off x="411480" y="3154680"/>
            <a:ext cx="1737360" cy="594360"/>
          </a:xfrm>
          <a:prstGeom prst="rect">
            <a:avLst/>
          </a:prstGeom>
          <a:noFill/>
          <a:ln/>
        </p:spPr>
        <p:txBody>
          <a:bodyPr wrap="square" lIns="0" tIns="0" rIns="0" bIns="0" rtlCol="0" anchor="ctr"/>
          <a:lstStyle/>
          <a:p>
            <a:pPr indent="0" marL="0">
              <a:lnSpc>
                <a:spcPct val="115000"/>
              </a:lnSpc>
              <a:buNone/>
            </a:pPr>
            <a:r>
              <a:rPr lang="en-US" sz="1300" dirty="0">
                <a:solidFill>
                  <a:srgbClr val="2D3436"/>
                </a:solidFill>
                <a:latin typeface="BIZ UDPGothic" pitchFamily="34" charset="0"/>
                <a:ea typeface="BIZ UDPGothic" pitchFamily="34" charset="-122"/>
                <a:cs typeface="BIZ UDPGothic" pitchFamily="34" charset="-120"/>
              </a:rPr>
              <a:t>「眠らなければ」の</a:t>
            </a:r>
            <a:endParaRPr lang="en-US" sz="1300" dirty="0"/>
          </a:p>
          <a:p>
            <a:pPr indent="0" marL="0">
              <a:lnSpc>
                <a:spcPct val="115000"/>
              </a:lnSpc>
              <a:buNone/>
            </a:pPr>
            <a:r>
              <a:rPr lang="en-US" sz="1300" dirty="0">
                <a:solidFill>
                  <a:srgbClr val="2D3436"/>
                </a:solidFill>
                <a:latin typeface="BIZ UDPGothic" pitchFamily="34" charset="0"/>
                <a:ea typeface="BIZ UDPGothic" pitchFamily="34" charset="-122"/>
                <a:cs typeface="BIZ UDPGothic" pitchFamily="34" charset="-120"/>
              </a:rPr>
              <a:t>プレッシャー</a:t>
            </a:r>
            <a:endParaRPr lang="en-US" sz="1300" dirty="0"/>
          </a:p>
        </p:txBody>
      </p:sp>
      <p:sp>
        <p:nvSpPr>
          <p:cNvPr id="15" name="Shape 13"/>
          <p:cNvSpPr/>
          <p:nvPr/>
        </p:nvSpPr>
        <p:spPr>
          <a:xfrm>
            <a:off x="2468880" y="1005840"/>
            <a:ext cx="2011680" cy="411480"/>
          </a:xfrm>
          <a:prstGeom prst="rect">
            <a:avLst>
              <a:gd name="adj" fmla="val 22222"/>
            </a:avLst>
          </a:prstGeom>
          <a:solidFill>
            <a:srgbClr val="E8850C"/>
          </a:solidFill>
          <a:ln/>
          <a:effectLst>
            <a:outerShdw sx="100000" sy="100000" kx="0" ky="0" algn="bl" rotWithShape="0" blurRad="50800" dist="25400" dir="8100000">
              <a:srgbClr val="000000">
                <a:alpha val="12000"/>
              </a:srgbClr>
            </a:outerShdw>
          </a:effectLst>
        </p:spPr>
      </p:sp>
      <p:sp>
        <p:nvSpPr>
          <p:cNvPr id="16" name="Text 14"/>
          <p:cNvSpPr/>
          <p:nvPr/>
        </p:nvSpPr>
        <p:spPr>
          <a:xfrm>
            <a:off x="2560320" y="1033272"/>
            <a:ext cx="182880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PGothic" pitchFamily="34" charset="0"/>
                <a:ea typeface="BIZ UDPGothic" pitchFamily="34" charset="-122"/>
                <a:cs typeface="BIZ UDPGothic" pitchFamily="34" charset="-120"/>
              </a:rPr>
              <a:t>環境</a:t>
            </a:r>
            <a:endParaRPr lang="en-US" sz="1600" dirty="0"/>
          </a:p>
        </p:txBody>
      </p:sp>
      <p:sp>
        <p:nvSpPr>
          <p:cNvPr id="17" name="Shape 15"/>
          <p:cNvSpPr/>
          <p:nvPr/>
        </p:nvSpPr>
        <p:spPr>
          <a:xfrm>
            <a:off x="2468880" y="1554480"/>
            <a:ext cx="2011680" cy="685800"/>
          </a:xfrm>
          <a:prstGeom prst="rect">
            <a:avLst>
              <a:gd name="adj" fmla="val 13333"/>
            </a:avLst>
          </a:prstGeom>
          <a:solidFill>
            <a:srgbClr val="FFFFFF"/>
          </a:solidFill>
          <a:ln/>
          <a:effectLst>
            <a:outerShdw sx="100000" sy="100000" kx="0" ky="0" algn="bl" rotWithShape="0" blurRad="50800" dist="25400" dir="8100000">
              <a:srgbClr val="000000">
                <a:alpha val="12000"/>
              </a:srgbClr>
            </a:outerShdw>
          </a:effectLst>
        </p:spPr>
      </p:sp>
      <p:sp>
        <p:nvSpPr>
          <p:cNvPr id="18" name="Shape 16"/>
          <p:cNvSpPr/>
          <p:nvPr/>
        </p:nvSpPr>
        <p:spPr>
          <a:xfrm>
            <a:off x="2468880" y="1554480"/>
            <a:ext cx="109728" cy="685800"/>
          </a:xfrm>
          <a:prstGeom prst="rect">
            <a:avLst>
              <a:gd name="adj" fmla="val 41667"/>
            </a:avLst>
          </a:prstGeom>
          <a:solidFill>
            <a:srgbClr val="E8850C"/>
          </a:solidFill>
          <a:ln/>
        </p:spPr>
      </p:sp>
      <p:sp>
        <p:nvSpPr>
          <p:cNvPr id="19" name="Text 17"/>
          <p:cNvSpPr/>
          <p:nvPr/>
        </p:nvSpPr>
        <p:spPr>
          <a:xfrm>
            <a:off x="2606040" y="1600200"/>
            <a:ext cx="1737360" cy="594360"/>
          </a:xfrm>
          <a:prstGeom prst="rect">
            <a:avLst/>
          </a:prstGeom>
          <a:noFill/>
          <a:ln/>
        </p:spPr>
        <p:txBody>
          <a:bodyPr wrap="square" lIns="0" tIns="0" rIns="0" bIns="0" rtlCol="0" anchor="ctr"/>
          <a:lstStyle/>
          <a:p>
            <a:pPr indent="0" marL="0">
              <a:lnSpc>
                <a:spcPct val="115000"/>
              </a:lnSpc>
              <a:buNone/>
            </a:pPr>
            <a:r>
              <a:rPr lang="en-US" sz="1300" dirty="0">
                <a:solidFill>
                  <a:srgbClr val="2D3436"/>
                </a:solidFill>
                <a:latin typeface="BIZ UDPGothic" pitchFamily="34" charset="0"/>
                <a:ea typeface="BIZ UDPGothic" pitchFamily="34" charset="-122"/>
                <a:cs typeface="BIZ UDPGothic" pitchFamily="34" charset="-120"/>
              </a:rPr>
              <a:t>騒音・光・室温</a:t>
            </a:r>
            <a:endParaRPr lang="en-US" sz="1300" dirty="0"/>
          </a:p>
        </p:txBody>
      </p:sp>
      <p:sp>
        <p:nvSpPr>
          <p:cNvPr id="20" name="Shape 18"/>
          <p:cNvSpPr/>
          <p:nvPr/>
        </p:nvSpPr>
        <p:spPr>
          <a:xfrm>
            <a:off x="2468880" y="2331720"/>
            <a:ext cx="2011680" cy="685800"/>
          </a:xfrm>
          <a:prstGeom prst="rect">
            <a:avLst>
              <a:gd name="adj" fmla="val 13333"/>
            </a:avLst>
          </a:prstGeom>
          <a:solidFill>
            <a:srgbClr val="FFFFFF"/>
          </a:solidFill>
          <a:ln/>
          <a:effectLst>
            <a:outerShdw sx="100000" sy="100000" kx="0" ky="0" algn="bl" rotWithShape="0" blurRad="50800" dist="25400" dir="8100000">
              <a:srgbClr val="000000">
                <a:alpha val="12000"/>
              </a:srgbClr>
            </a:outerShdw>
          </a:effectLst>
        </p:spPr>
      </p:sp>
      <p:sp>
        <p:nvSpPr>
          <p:cNvPr id="21" name="Shape 19"/>
          <p:cNvSpPr/>
          <p:nvPr/>
        </p:nvSpPr>
        <p:spPr>
          <a:xfrm>
            <a:off x="2468880" y="2331720"/>
            <a:ext cx="109728" cy="685800"/>
          </a:xfrm>
          <a:prstGeom prst="rect">
            <a:avLst>
              <a:gd name="adj" fmla="val 41667"/>
            </a:avLst>
          </a:prstGeom>
          <a:solidFill>
            <a:srgbClr val="E8850C"/>
          </a:solidFill>
          <a:ln/>
        </p:spPr>
      </p:sp>
      <p:sp>
        <p:nvSpPr>
          <p:cNvPr id="22" name="Text 20"/>
          <p:cNvSpPr/>
          <p:nvPr/>
        </p:nvSpPr>
        <p:spPr>
          <a:xfrm>
            <a:off x="2606040" y="2377440"/>
            <a:ext cx="1737360" cy="594360"/>
          </a:xfrm>
          <a:prstGeom prst="rect">
            <a:avLst/>
          </a:prstGeom>
          <a:noFill/>
          <a:ln/>
        </p:spPr>
        <p:txBody>
          <a:bodyPr wrap="square" lIns="0" tIns="0" rIns="0" bIns="0" rtlCol="0" anchor="ctr"/>
          <a:lstStyle/>
          <a:p>
            <a:pPr indent="0" marL="0">
              <a:lnSpc>
                <a:spcPct val="115000"/>
              </a:lnSpc>
              <a:buNone/>
            </a:pPr>
            <a:r>
              <a:rPr lang="en-US" sz="1300" dirty="0">
                <a:solidFill>
                  <a:srgbClr val="2D3436"/>
                </a:solidFill>
                <a:latin typeface="BIZ UDPGothic" pitchFamily="34" charset="0"/>
                <a:ea typeface="BIZ UDPGothic" pitchFamily="34" charset="-122"/>
                <a:cs typeface="BIZ UDPGothic" pitchFamily="34" charset="-120"/>
              </a:rPr>
              <a:t>スマホのブルーライト</a:t>
            </a:r>
            <a:endParaRPr lang="en-US" sz="1300" dirty="0"/>
          </a:p>
        </p:txBody>
      </p:sp>
      <p:sp>
        <p:nvSpPr>
          <p:cNvPr id="23" name="Shape 21"/>
          <p:cNvSpPr/>
          <p:nvPr/>
        </p:nvSpPr>
        <p:spPr>
          <a:xfrm>
            <a:off x="2468880" y="3108960"/>
            <a:ext cx="2011680" cy="685800"/>
          </a:xfrm>
          <a:prstGeom prst="rect">
            <a:avLst>
              <a:gd name="adj" fmla="val 13333"/>
            </a:avLst>
          </a:prstGeom>
          <a:solidFill>
            <a:srgbClr val="FFFFFF"/>
          </a:solidFill>
          <a:ln/>
          <a:effectLst>
            <a:outerShdw sx="100000" sy="100000" kx="0" ky="0" algn="bl" rotWithShape="0" blurRad="50800" dist="25400" dir="8100000">
              <a:srgbClr val="000000">
                <a:alpha val="12000"/>
              </a:srgbClr>
            </a:outerShdw>
          </a:effectLst>
        </p:spPr>
      </p:sp>
      <p:sp>
        <p:nvSpPr>
          <p:cNvPr id="24" name="Shape 22"/>
          <p:cNvSpPr/>
          <p:nvPr/>
        </p:nvSpPr>
        <p:spPr>
          <a:xfrm>
            <a:off x="2468880" y="3108960"/>
            <a:ext cx="109728" cy="685800"/>
          </a:xfrm>
          <a:prstGeom prst="rect">
            <a:avLst>
              <a:gd name="adj" fmla="val 41667"/>
            </a:avLst>
          </a:prstGeom>
          <a:solidFill>
            <a:srgbClr val="E8850C"/>
          </a:solidFill>
          <a:ln/>
        </p:spPr>
      </p:sp>
      <p:sp>
        <p:nvSpPr>
          <p:cNvPr id="25" name="Text 23"/>
          <p:cNvSpPr/>
          <p:nvPr/>
        </p:nvSpPr>
        <p:spPr>
          <a:xfrm>
            <a:off x="2606040" y="3154680"/>
            <a:ext cx="1737360" cy="594360"/>
          </a:xfrm>
          <a:prstGeom prst="rect">
            <a:avLst/>
          </a:prstGeom>
          <a:noFill/>
          <a:ln/>
        </p:spPr>
        <p:txBody>
          <a:bodyPr wrap="square" lIns="0" tIns="0" rIns="0" bIns="0" rtlCol="0" anchor="ctr"/>
          <a:lstStyle/>
          <a:p>
            <a:pPr indent="0" marL="0">
              <a:lnSpc>
                <a:spcPct val="115000"/>
              </a:lnSpc>
              <a:buNone/>
            </a:pPr>
            <a:r>
              <a:rPr lang="en-US" sz="1300" dirty="0">
                <a:solidFill>
                  <a:srgbClr val="2D3436"/>
                </a:solidFill>
                <a:latin typeface="BIZ UDPGothic" pitchFamily="34" charset="0"/>
                <a:ea typeface="BIZ UDPGothic" pitchFamily="34" charset="-122"/>
                <a:cs typeface="BIZ UDPGothic" pitchFamily="34" charset="-120"/>
              </a:rPr>
              <a:t>メラトニン分泌を抑制</a:t>
            </a:r>
            <a:endParaRPr lang="en-US" sz="1300" dirty="0"/>
          </a:p>
        </p:txBody>
      </p:sp>
      <p:sp>
        <p:nvSpPr>
          <p:cNvPr id="26" name="Shape 24"/>
          <p:cNvSpPr/>
          <p:nvPr/>
        </p:nvSpPr>
        <p:spPr>
          <a:xfrm>
            <a:off x="4663440" y="1005840"/>
            <a:ext cx="2011680" cy="411480"/>
          </a:xfrm>
          <a:prstGeom prst="rect">
            <a:avLst>
              <a:gd name="adj" fmla="val 22222"/>
            </a:avLst>
          </a:prstGeom>
          <a:solidFill>
            <a:srgbClr val="7B2D8E"/>
          </a:solidFill>
          <a:ln/>
          <a:effectLst>
            <a:outerShdw sx="100000" sy="100000" kx="0" ky="0" algn="bl" rotWithShape="0" blurRad="50800" dist="25400" dir="8100000">
              <a:srgbClr val="000000">
                <a:alpha val="12000"/>
              </a:srgbClr>
            </a:outerShdw>
          </a:effectLst>
        </p:spPr>
      </p:sp>
      <p:sp>
        <p:nvSpPr>
          <p:cNvPr id="27" name="Text 25"/>
          <p:cNvSpPr/>
          <p:nvPr/>
        </p:nvSpPr>
        <p:spPr>
          <a:xfrm>
            <a:off x="4754880" y="1033272"/>
            <a:ext cx="182880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PGothic" pitchFamily="34" charset="0"/>
                <a:ea typeface="BIZ UDPGothic" pitchFamily="34" charset="-122"/>
                <a:cs typeface="BIZ UDPGothic" pitchFamily="34" charset="-120"/>
              </a:rPr>
              <a:t>身体</a:t>
            </a:r>
            <a:endParaRPr lang="en-US" sz="1600" dirty="0"/>
          </a:p>
        </p:txBody>
      </p:sp>
      <p:sp>
        <p:nvSpPr>
          <p:cNvPr id="28" name="Shape 26"/>
          <p:cNvSpPr/>
          <p:nvPr/>
        </p:nvSpPr>
        <p:spPr>
          <a:xfrm>
            <a:off x="4663440" y="1554480"/>
            <a:ext cx="2011680" cy="685800"/>
          </a:xfrm>
          <a:prstGeom prst="rect">
            <a:avLst>
              <a:gd name="adj" fmla="val 13333"/>
            </a:avLst>
          </a:prstGeom>
          <a:solidFill>
            <a:srgbClr val="FFFFFF"/>
          </a:solidFill>
          <a:ln/>
          <a:effectLst>
            <a:outerShdw sx="100000" sy="100000" kx="0" ky="0" algn="bl" rotWithShape="0" blurRad="50800" dist="25400" dir="8100000">
              <a:srgbClr val="000000">
                <a:alpha val="12000"/>
              </a:srgbClr>
            </a:outerShdw>
          </a:effectLst>
        </p:spPr>
      </p:sp>
      <p:sp>
        <p:nvSpPr>
          <p:cNvPr id="29" name="Shape 27"/>
          <p:cNvSpPr/>
          <p:nvPr/>
        </p:nvSpPr>
        <p:spPr>
          <a:xfrm>
            <a:off x="4663440" y="1554480"/>
            <a:ext cx="109728" cy="685800"/>
          </a:xfrm>
          <a:prstGeom prst="rect">
            <a:avLst>
              <a:gd name="adj" fmla="val 41667"/>
            </a:avLst>
          </a:prstGeom>
          <a:solidFill>
            <a:srgbClr val="7B2D8E"/>
          </a:solidFill>
          <a:ln/>
        </p:spPr>
      </p:sp>
      <p:sp>
        <p:nvSpPr>
          <p:cNvPr id="30" name="Text 28"/>
          <p:cNvSpPr/>
          <p:nvPr/>
        </p:nvSpPr>
        <p:spPr>
          <a:xfrm>
            <a:off x="4800600" y="1600200"/>
            <a:ext cx="1737360" cy="594360"/>
          </a:xfrm>
          <a:prstGeom prst="rect">
            <a:avLst/>
          </a:prstGeom>
          <a:noFill/>
          <a:ln/>
        </p:spPr>
        <p:txBody>
          <a:bodyPr wrap="square" lIns="0" tIns="0" rIns="0" bIns="0" rtlCol="0" anchor="ctr"/>
          <a:lstStyle/>
          <a:p>
            <a:pPr indent="0" marL="0">
              <a:lnSpc>
                <a:spcPct val="115000"/>
              </a:lnSpc>
              <a:buNone/>
            </a:pPr>
            <a:r>
              <a:rPr lang="en-US" sz="1300" dirty="0">
                <a:solidFill>
                  <a:srgbClr val="2D3436"/>
                </a:solidFill>
                <a:latin typeface="BIZ UDPGothic" pitchFamily="34" charset="0"/>
                <a:ea typeface="BIZ UDPGothic" pitchFamily="34" charset="-122"/>
                <a:cs typeface="BIZ UDPGothic" pitchFamily="34" charset="-120"/>
              </a:rPr>
              <a:t>痛み・かゆみ・頻尿</a:t>
            </a:r>
            <a:endParaRPr lang="en-US" sz="1300" dirty="0"/>
          </a:p>
        </p:txBody>
      </p:sp>
      <p:sp>
        <p:nvSpPr>
          <p:cNvPr id="31" name="Shape 29"/>
          <p:cNvSpPr/>
          <p:nvPr/>
        </p:nvSpPr>
        <p:spPr>
          <a:xfrm>
            <a:off x="4663440" y="2331720"/>
            <a:ext cx="2011680" cy="685800"/>
          </a:xfrm>
          <a:prstGeom prst="rect">
            <a:avLst>
              <a:gd name="adj" fmla="val 13333"/>
            </a:avLst>
          </a:prstGeom>
          <a:solidFill>
            <a:srgbClr val="FFFFFF"/>
          </a:solidFill>
          <a:ln/>
          <a:effectLst>
            <a:outerShdw sx="100000" sy="100000" kx="0" ky="0" algn="bl" rotWithShape="0" blurRad="50800" dist="25400" dir="8100000">
              <a:srgbClr val="000000">
                <a:alpha val="12000"/>
              </a:srgbClr>
            </a:outerShdw>
          </a:effectLst>
        </p:spPr>
      </p:sp>
      <p:sp>
        <p:nvSpPr>
          <p:cNvPr id="32" name="Shape 30"/>
          <p:cNvSpPr/>
          <p:nvPr/>
        </p:nvSpPr>
        <p:spPr>
          <a:xfrm>
            <a:off x="4663440" y="2331720"/>
            <a:ext cx="109728" cy="685800"/>
          </a:xfrm>
          <a:prstGeom prst="rect">
            <a:avLst>
              <a:gd name="adj" fmla="val 41667"/>
            </a:avLst>
          </a:prstGeom>
          <a:solidFill>
            <a:srgbClr val="7B2D8E"/>
          </a:solidFill>
          <a:ln/>
        </p:spPr>
      </p:sp>
      <p:sp>
        <p:nvSpPr>
          <p:cNvPr id="33" name="Text 31"/>
          <p:cNvSpPr/>
          <p:nvPr/>
        </p:nvSpPr>
        <p:spPr>
          <a:xfrm>
            <a:off x="4800600" y="2377440"/>
            <a:ext cx="1737360" cy="594360"/>
          </a:xfrm>
          <a:prstGeom prst="rect">
            <a:avLst/>
          </a:prstGeom>
          <a:noFill/>
          <a:ln/>
        </p:spPr>
        <p:txBody>
          <a:bodyPr wrap="square" lIns="0" tIns="0" rIns="0" bIns="0" rtlCol="0" anchor="ctr"/>
          <a:lstStyle/>
          <a:p>
            <a:pPr indent="0" marL="0">
              <a:lnSpc>
                <a:spcPct val="115000"/>
              </a:lnSpc>
              <a:buNone/>
            </a:pPr>
            <a:r>
              <a:rPr lang="en-US" sz="1300" dirty="0">
                <a:solidFill>
                  <a:srgbClr val="2D3436"/>
                </a:solidFill>
                <a:latin typeface="BIZ UDPGothic" pitchFamily="34" charset="0"/>
                <a:ea typeface="BIZ UDPGothic" pitchFamily="34" charset="-122"/>
                <a:cs typeface="BIZ UDPGothic" pitchFamily="34" charset="-120"/>
              </a:rPr>
              <a:t>むずむず脚症候群</a:t>
            </a:r>
            <a:endParaRPr lang="en-US" sz="1300" dirty="0"/>
          </a:p>
        </p:txBody>
      </p:sp>
      <p:sp>
        <p:nvSpPr>
          <p:cNvPr id="34" name="Shape 32"/>
          <p:cNvSpPr/>
          <p:nvPr/>
        </p:nvSpPr>
        <p:spPr>
          <a:xfrm>
            <a:off x="4663440" y="3108960"/>
            <a:ext cx="2011680" cy="685800"/>
          </a:xfrm>
          <a:prstGeom prst="rect">
            <a:avLst>
              <a:gd name="adj" fmla="val 13333"/>
            </a:avLst>
          </a:prstGeom>
          <a:solidFill>
            <a:srgbClr val="FFFFFF"/>
          </a:solidFill>
          <a:ln/>
          <a:effectLst>
            <a:outerShdw sx="100000" sy="100000" kx="0" ky="0" algn="bl" rotWithShape="0" blurRad="50800" dist="25400" dir="8100000">
              <a:srgbClr val="000000">
                <a:alpha val="12000"/>
              </a:srgbClr>
            </a:outerShdw>
          </a:effectLst>
        </p:spPr>
      </p:sp>
      <p:sp>
        <p:nvSpPr>
          <p:cNvPr id="35" name="Shape 33"/>
          <p:cNvSpPr/>
          <p:nvPr/>
        </p:nvSpPr>
        <p:spPr>
          <a:xfrm>
            <a:off x="4663440" y="3108960"/>
            <a:ext cx="109728" cy="685800"/>
          </a:xfrm>
          <a:prstGeom prst="rect">
            <a:avLst>
              <a:gd name="adj" fmla="val 41667"/>
            </a:avLst>
          </a:prstGeom>
          <a:solidFill>
            <a:srgbClr val="7B2D8E"/>
          </a:solidFill>
          <a:ln/>
        </p:spPr>
      </p:sp>
      <p:sp>
        <p:nvSpPr>
          <p:cNvPr id="36" name="Text 34"/>
          <p:cNvSpPr/>
          <p:nvPr/>
        </p:nvSpPr>
        <p:spPr>
          <a:xfrm>
            <a:off x="4800600" y="3154680"/>
            <a:ext cx="1737360" cy="594360"/>
          </a:xfrm>
          <a:prstGeom prst="rect">
            <a:avLst/>
          </a:prstGeom>
          <a:noFill/>
          <a:ln/>
        </p:spPr>
        <p:txBody>
          <a:bodyPr wrap="square" lIns="0" tIns="0" rIns="0" bIns="0" rtlCol="0" anchor="ctr"/>
          <a:lstStyle/>
          <a:p>
            <a:pPr indent="0" marL="0">
              <a:lnSpc>
                <a:spcPct val="115000"/>
              </a:lnSpc>
              <a:buNone/>
            </a:pPr>
            <a:r>
              <a:rPr lang="en-US" sz="1300" dirty="0">
                <a:solidFill>
                  <a:srgbClr val="2D3436"/>
                </a:solidFill>
                <a:latin typeface="BIZ UDPGothic" pitchFamily="34" charset="0"/>
                <a:ea typeface="BIZ UDPGothic" pitchFamily="34" charset="-122"/>
                <a:cs typeface="BIZ UDPGothic" pitchFamily="34" charset="-120"/>
              </a:rPr>
              <a:t>睡眠時無呼吸症候群</a:t>
            </a:r>
            <a:endParaRPr lang="en-US" sz="1300" dirty="0"/>
          </a:p>
        </p:txBody>
      </p:sp>
      <p:sp>
        <p:nvSpPr>
          <p:cNvPr id="37" name="Shape 35"/>
          <p:cNvSpPr/>
          <p:nvPr/>
        </p:nvSpPr>
        <p:spPr>
          <a:xfrm>
            <a:off x="6858000" y="1005840"/>
            <a:ext cx="2011680" cy="411480"/>
          </a:xfrm>
          <a:prstGeom prst="rect">
            <a:avLst>
              <a:gd name="adj" fmla="val 22222"/>
            </a:avLst>
          </a:prstGeom>
          <a:solidFill>
            <a:srgbClr val="2C5AA0"/>
          </a:solidFill>
          <a:ln/>
          <a:effectLst>
            <a:outerShdw sx="100000" sy="100000" kx="0" ky="0" algn="bl" rotWithShape="0" blurRad="50800" dist="25400" dir="8100000">
              <a:srgbClr val="000000">
                <a:alpha val="12000"/>
              </a:srgbClr>
            </a:outerShdw>
          </a:effectLst>
        </p:spPr>
      </p:sp>
      <p:sp>
        <p:nvSpPr>
          <p:cNvPr id="38" name="Text 36"/>
          <p:cNvSpPr/>
          <p:nvPr/>
        </p:nvSpPr>
        <p:spPr>
          <a:xfrm>
            <a:off x="6949440" y="1033272"/>
            <a:ext cx="182880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PGothic" pitchFamily="34" charset="0"/>
                <a:ea typeface="BIZ UDPGothic" pitchFamily="34" charset="-122"/>
                <a:cs typeface="BIZ UDPGothic" pitchFamily="34" charset="-120"/>
              </a:rPr>
              <a:t>生活習慣</a:t>
            </a:r>
            <a:endParaRPr lang="en-US" sz="1600" dirty="0"/>
          </a:p>
        </p:txBody>
      </p:sp>
      <p:sp>
        <p:nvSpPr>
          <p:cNvPr id="39" name="Shape 37"/>
          <p:cNvSpPr/>
          <p:nvPr/>
        </p:nvSpPr>
        <p:spPr>
          <a:xfrm>
            <a:off x="6858000" y="1554480"/>
            <a:ext cx="2011680" cy="685800"/>
          </a:xfrm>
          <a:prstGeom prst="rect">
            <a:avLst>
              <a:gd name="adj" fmla="val 13333"/>
            </a:avLst>
          </a:prstGeom>
          <a:solidFill>
            <a:srgbClr val="FFFFFF"/>
          </a:solidFill>
          <a:ln/>
          <a:effectLst>
            <a:outerShdw sx="100000" sy="100000" kx="0" ky="0" algn="bl" rotWithShape="0" blurRad="50800" dist="25400" dir="8100000">
              <a:srgbClr val="000000">
                <a:alpha val="12000"/>
              </a:srgbClr>
            </a:outerShdw>
          </a:effectLst>
        </p:spPr>
      </p:sp>
      <p:sp>
        <p:nvSpPr>
          <p:cNvPr id="40" name="Shape 38"/>
          <p:cNvSpPr/>
          <p:nvPr/>
        </p:nvSpPr>
        <p:spPr>
          <a:xfrm>
            <a:off x="6858000" y="1554480"/>
            <a:ext cx="109728" cy="685800"/>
          </a:xfrm>
          <a:prstGeom prst="rect">
            <a:avLst>
              <a:gd name="adj" fmla="val 41667"/>
            </a:avLst>
          </a:prstGeom>
          <a:solidFill>
            <a:srgbClr val="2C5AA0"/>
          </a:solidFill>
          <a:ln/>
        </p:spPr>
      </p:sp>
      <p:sp>
        <p:nvSpPr>
          <p:cNvPr id="41" name="Text 39"/>
          <p:cNvSpPr/>
          <p:nvPr/>
        </p:nvSpPr>
        <p:spPr>
          <a:xfrm>
            <a:off x="6995160" y="1600200"/>
            <a:ext cx="1737360" cy="594360"/>
          </a:xfrm>
          <a:prstGeom prst="rect">
            <a:avLst/>
          </a:prstGeom>
          <a:noFill/>
          <a:ln/>
        </p:spPr>
        <p:txBody>
          <a:bodyPr wrap="square" lIns="0" tIns="0" rIns="0" bIns="0" rtlCol="0" anchor="ctr"/>
          <a:lstStyle/>
          <a:p>
            <a:pPr indent="0" marL="0">
              <a:lnSpc>
                <a:spcPct val="115000"/>
              </a:lnSpc>
              <a:buNone/>
            </a:pPr>
            <a:r>
              <a:rPr lang="en-US" sz="1300" dirty="0">
                <a:solidFill>
                  <a:srgbClr val="2D3436"/>
                </a:solidFill>
                <a:latin typeface="BIZ UDPGothic" pitchFamily="34" charset="0"/>
                <a:ea typeface="BIZ UDPGothic" pitchFamily="34" charset="-122"/>
                <a:cs typeface="BIZ UDPGothic" pitchFamily="34" charset="-120"/>
              </a:rPr>
              <a:t>不規則な生活</a:t>
            </a:r>
            <a:endParaRPr lang="en-US" sz="1300" dirty="0"/>
          </a:p>
        </p:txBody>
      </p:sp>
      <p:sp>
        <p:nvSpPr>
          <p:cNvPr id="42" name="Shape 40"/>
          <p:cNvSpPr/>
          <p:nvPr/>
        </p:nvSpPr>
        <p:spPr>
          <a:xfrm>
            <a:off x="6858000" y="2331720"/>
            <a:ext cx="2011680" cy="685800"/>
          </a:xfrm>
          <a:prstGeom prst="rect">
            <a:avLst>
              <a:gd name="adj" fmla="val 13333"/>
            </a:avLst>
          </a:prstGeom>
          <a:solidFill>
            <a:srgbClr val="FFFFFF"/>
          </a:solidFill>
          <a:ln/>
          <a:effectLst>
            <a:outerShdw sx="100000" sy="100000" kx="0" ky="0" algn="bl" rotWithShape="0" blurRad="50800" dist="25400" dir="8100000">
              <a:srgbClr val="000000">
                <a:alpha val="12000"/>
              </a:srgbClr>
            </a:outerShdw>
          </a:effectLst>
        </p:spPr>
      </p:sp>
      <p:sp>
        <p:nvSpPr>
          <p:cNvPr id="43" name="Shape 41"/>
          <p:cNvSpPr/>
          <p:nvPr/>
        </p:nvSpPr>
        <p:spPr>
          <a:xfrm>
            <a:off x="6858000" y="2331720"/>
            <a:ext cx="109728" cy="685800"/>
          </a:xfrm>
          <a:prstGeom prst="rect">
            <a:avLst>
              <a:gd name="adj" fmla="val 41667"/>
            </a:avLst>
          </a:prstGeom>
          <a:solidFill>
            <a:srgbClr val="2C5AA0"/>
          </a:solidFill>
          <a:ln/>
        </p:spPr>
      </p:sp>
      <p:sp>
        <p:nvSpPr>
          <p:cNvPr id="44" name="Text 42"/>
          <p:cNvSpPr/>
          <p:nvPr/>
        </p:nvSpPr>
        <p:spPr>
          <a:xfrm>
            <a:off x="6995160" y="2377440"/>
            <a:ext cx="1737360" cy="594360"/>
          </a:xfrm>
          <a:prstGeom prst="rect">
            <a:avLst/>
          </a:prstGeom>
          <a:noFill/>
          <a:ln/>
        </p:spPr>
        <p:txBody>
          <a:bodyPr wrap="square" lIns="0" tIns="0" rIns="0" bIns="0" rtlCol="0" anchor="ctr"/>
          <a:lstStyle/>
          <a:p>
            <a:pPr indent="0" marL="0">
              <a:lnSpc>
                <a:spcPct val="115000"/>
              </a:lnSpc>
              <a:buNone/>
            </a:pPr>
            <a:r>
              <a:rPr lang="en-US" sz="1300" dirty="0">
                <a:solidFill>
                  <a:srgbClr val="2D3436"/>
                </a:solidFill>
                <a:latin typeface="BIZ UDPGothic" pitchFamily="34" charset="0"/>
                <a:ea typeface="BIZ UDPGothic" pitchFamily="34" charset="-122"/>
                <a:cs typeface="BIZ UDPGothic" pitchFamily="34" charset="-120"/>
              </a:rPr>
              <a:t>カフェイン・アルコール</a:t>
            </a:r>
            <a:endParaRPr lang="en-US" sz="1300" dirty="0"/>
          </a:p>
        </p:txBody>
      </p:sp>
      <p:sp>
        <p:nvSpPr>
          <p:cNvPr id="45" name="Shape 43"/>
          <p:cNvSpPr/>
          <p:nvPr/>
        </p:nvSpPr>
        <p:spPr>
          <a:xfrm>
            <a:off x="6858000" y="3108960"/>
            <a:ext cx="2011680" cy="685800"/>
          </a:xfrm>
          <a:prstGeom prst="rect">
            <a:avLst>
              <a:gd name="adj" fmla="val 13333"/>
            </a:avLst>
          </a:prstGeom>
          <a:solidFill>
            <a:srgbClr val="FFFFFF"/>
          </a:solidFill>
          <a:ln/>
          <a:effectLst>
            <a:outerShdw sx="100000" sy="100000" kx="0" ky="0" algn="bl" rotWithShape="0" blurRad="50800" dist="25400" dir="8100000">
              <a:srgbClr val="000000">
                <a:alpha val="12000"/>
              </a:srgbClr>
            </a:outerShdw>
          </a:effectLst>
        </p:spPr>
      </p:sp>
      <p:sp>
        <p:nvSpPr>
          <p:cNvPr id="46" name="Shape 44"/>
          <p:cNvSpPr/>
          <p:nvPr/>
        </p:nvSpPr>
        <p:spPr>
          <a:xfrm>
            <a:off x="6858000" y="3108960"/>
            <a:ext cx="109728" cy="685800"/>
          </a:xfrm>
          <a:prstGeom prst="rect">
            <a:avLst>
              <a:gd name="adj" fmla="val 41667"/>
            </a:avLst>
          </a:prstGeom>
          <a:solidFill>
            <a:srgbClr val="2C5AA0"/>
          </a:solidFill>
          <a:ln/>
        </p:spPr>
      </p:sp>
      <p:sp>
        <p:nvSpPr>
          <p:cNvPr id="47" name="Text 45"/>
          <p:cNvSpPr/>
          <p:nvPr/>
        </p:nvSpPr>
        <p:spPr>
          <a:xfrm>
            <a:off x="6995160" y="3154680"/>
            <a:ext cx="1737360" cy="594360"/>
          </a:xfrm>
          <a:prstGeom prst="rect">
            <a:avLst/>
          </a:prstGeom>
          <a:noFill/>
          <a:ln/>
        </p:spPr>
        <p:txBody>
          <a:bodyPr wrap="square" lIns="0" tIns="0" rIns="0" bIns="0" rtlCol="0" anchor="ctr"/>
          <a:lstStyle/>
          <a:p>
            <a:pPr indent="0" marL="0">
              <a:lnSpc>
                <a:spcPct val="115000"/>
              </a:lnSpc>
              <a:buNone/>
            </a:pPr>
            <a:r>
              <a:rPr lang="en-US" sz="1300" dirty="0">
                <a:solidFill>
                  <a:srgbClr val="2D3436"/>
                </a:solidFill>
                <a:latin typeface="BIZ UDPGothic" pitchFamily="34" charset="0"/>
                <a:ea typeface="BIZ UDPGothic" pitchFamily="34" charset="-122"/>
                <a:cs typeface="BIZ UDPGothic" pitchFamily="34" charset="-120"/>
              </a:rPr>
              <a:t>運動不足・過度の昼寝</a:t>
            </a:r>
            <a:endParaRPr lang="en-US" sz="1300" dirty="0"/>
          </a:p>
        </p:txBody>
      </p:sp>
      <p:sp>
        <p:nvSpPr>
          <p:cNvPr id="48" name="Shape 46"/>
          <p:cNvSpPr/>
          <p:nvPr/>
        </p:nvSpPr>
        <p:spPr>
          <a:xfrm>
            <a:off x="0" y="4800600"/>
            <a:ext cx="9144000" cy="347472"/>
          </a:xfrm>
          <a:prstGeom prst="rect">
            <a:avLst/>
          </a:prstGeom>
          <a:solidFill>
            <a:srgbClr val="1B3A5C"/>
          </a:solidFill>
          <a:ln/>
        </p:spPr>
      </p:sp>
      <p:sp>
        <p:nvSpPr>
          <p:cNvPr id="49" name="Text 47"/>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#15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DC3545"/>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脳の病気が隠れていることも</a:t>
            </a:r>
            <a:endParaRPr lang="en-US" sz="2600" dirty="0"/>
          </a:p>
        </p:txBody>
      </p:sp>
      <p:sp>
        <p:nvSpPr>
          <p:cNvPr id="4" name="Shape 2"/>
          <p:cNvSpPr/>
          <p:nvPr/>
        </p:nvSpPr>
        <p:spPr>
          <a:xfrm>
            <a:off x="457200" y="1005840"/>
            <a:ext cx="8229600" cy="1005840"/>
          </a:xfrm>
          <a:prstGeom prst="rect">
            <a:avLst>
              <a:gd name="adj" fmla="val 9091"/>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05840"/>
            <a:ext cx="109728" cy="1005840"/>
          </a:xfrm>
          <a:prstGeom prst="rect">
            <a:avLst>
              <a:gd name="adj" fmla="val 41667"/>
            </a:avLst>
          </a:prstGeom>
          <a:solidFill>
            <a:srgbClr val="E8850C"/>
          </a:solidFill>
          <a:ln/>
        </p:spPr>
      </p:sp>
      <p:sp>
        <p:nvSpPr>
          <p:cNvPr id="6" name="Text 4"/>
          <p:cNvSpPr/>
          <p:nvPr/>
        </p:nvSpPr>
        <p:spPr>
          <a:xfrm>
            <a:off x="640080" y="1097280"/>
            <a:ext cx="548640" cy="82296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7" name="Text 5"/>
          <p:cNvSpPr/>
          <p:nvPr/>
        </p:nvSpPr>
        <p:spPr>
          <a:xfrm>
            <a:off x="1280160" y="1051560"/>
            <a:ext cx="3200400" cy="365760"/>
          </a:xfrm>
          <a:prstGeom prst="rect">
            <a:avLst/>
          </a:prstGeom>
          <a:noFill/>
          <a:ln/>
        </p:spPr>
        <p:txBody>
          <a:bodyPr wrap="square" lIns="0" tIns="0" rIns="0" bIns="0" rtlCol="0" anchor="ctr"/>
          <a:lstStyle/>
          <a:p>
            <a:pPr indent="0" marL="0">
              <a:buNone/>
            </a:pPr>
            <a:r>
              <a:rPr lang="en-US" sz="1900" b="1" dirty="0">
                <a:solidFill>
                  <a:srgbClr val="E8850C"/>
                </a:solidFill>
                <a:latin typeface="BIZ UDPGothic" pitchFamily="34" charset="0"/>
                <a:ea typeface="BIZ UDPGothic" pitchFamily="34" charset="-122"/>
                <a:cs typeface="BIZ UDPGothic" pitchFamily="34" charset="-120"/>
              </a:rPr>
              <a:t>むずむず脚症候群</a:t>
            </a:r>
            <a:endParaRPr lang="en-US" sz="1900" dirty="0"/>
          </a:p>
        </p:txBody>
      </p:sp>
      <p:sp>
        <p:nvSpPr>
          <p:cNvPr id="8" name="Text 6"/>
          <p:cNvSpPr/>
          <p:nvPr/>
        </p:nvSpPr>
        <p:spPr>
          <a:xfrm>
            <a:off x="1280160" y="1417320"/>
            <a:ext cx="7132320" cy="274320"/>
          </a:xfrm>
          <a:prstGeom prst="rect">
            <a:avLst/>
          </a:prstGeom>
          <a:noFill/>
          <a:ln/>
        </p:spPr>
        <p:txBody>
          <a:bodyPr wrap="square" lIns="0" tIns="0" rIns="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夜に脚がむずむず・ピリピリして動かさずにはいられない</a:t>
            </a:r>
            <a:endParaRPr lang="en-US" sz="1500" dirty="0"/>
          </a:p>
        </p:txBody>
      </p:sp>
      <p:sp>
        <p:nvSpPr>
          <p:cNvPr id="9" name="Text 7"/>
          <p:cNvSpPr/>
          <p:nvPr/>
        </p:nvSpPr>
        <p:spPr>
          <a:xfrm>
            <a:off x="1280160" y="1691640"/>
            <a:ext cx="7132320" cy="274320"/>
          </a:xfrm>
          <a:prstGeom prst="rect">
            <a:avLst/>
          </a:prstGeom>
          <a:noFill/>
          <a:ln/>
        </p:spPr>
        <p:txBody>
          <a:bodyPr wrap="square" lIns="0" tIns="0" rIns="0" bIns="0" rtlCol="0" anchor="ctr"/>
          <a:lstStyle/>
          <a:p>
            <a:pPr indent="0" marL="0">
              <a:buNone/>
            </a:pPr>
            <a:r>
              <a:rPr lang="en-US" sz="1400" dirty="0">
                <a:solidFill>
                  <a:srgbClr val="636E72"/>
                </a:solidFill>
                <a:latin typeface="BIZ UDPGothic" pitchFamily="34" charset="0"/>
                <a:ea typeface="BIZ UDPGothic" pitchFamily="34" charset="-122"/>
                <a:cs typeface="BIZ UDPGothic" pitchFamily="34" charset="-120"/>
              </a:rPr>
              <a:t>ドーパミン・鉄の代謝異常 → 脳神経内科で治療可能</a:t>
            </a:r>
            <a:endParaRPr lang="en-US" sz="1400" dirty="0"/>
          </a:p>
        </p:txBody>
      </p:sp>
      <p:sp>
        <p:nvSpPr>
          <p:cNvPr id="10" name="Shape 8"/>
          <p:cNvSpPr/>
          <p:nvPr/>
        </p:nvSpPr>
        <p:spPr>
          <a:xfrm>
            <a:off x="457200" y="2194560"/>
            <a:ext cx="8229600" cy="1005840"/>
          </a:xfrm>
          <a:prstGeom prst="rect">
            <a:avLst>
              <a:gd name="adj" fmla="val 9091"/>
            </a:avLst>
          </a:prstGeom>
          <a:solidFill>
            <a:srgbClr val="FFFFFF"/>
          </a:solidFill>
          <a:ln/>
          <a:effectLst>
            <a:outerShdw sx="100000" sy="100000" kx="0" ky="0" algn="bl" rotWithShape="0" blurRad="50800" dist="25400" dir="8100000">
              <a:srgbClr val="000000">
                <a:alpha val="12000"/>
              </a:srgbClr>
            </a:outerShdw>
          </a:effectLst>
        </p:spPr>
      </p:sp>
      <p:sp>
        <p:nvSpPr>
          <p:cNvPr id="11" name="Shape 9"/>
          <p:cNvSpPr/>
          <p:nvPr/>
        </p:nvSpPr>
        <p:spPr>
          <a:xfrm>
            <a:off x="457200" y="2194560"/>
            <a:ext cx="109728" cy="1005840"/>
          </a:xfrm>
          <a:prstGeom prst="rect">
            <a:avLst>
              <a:gd name="adj" fmla="val 41667"/>
            </a:avLst>
          </a:prstGeom>
          <a:solidFill>
            <a:srgbClr val="7B2D8E"/>
          </a:solidFill>
          <a:ln/>
        </p:spPr>
      </p:sp>
      <p:sp>
        <p:nvSpPr>
          <p:cNvPr id="12" name="Text 10"/>
          <p:cNvSpPr/>
          <p:nvPr/>
        </p:nvSpPr>
        <p:spPr>
          <a:xfrm>
            <a:off x="640080" y="2286000"/>
            <a:ext cx="548640" cy="82296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13" name="Text 11"/>
          <p:cNvSpPr/>
          <p:nvPr/>
        </p:nvSpPr>
        <p:spPr>
          <a:xfrm>
            <a:off x="1280160" y="2240280"/>
            <a:ext cx="3200400" cy="365760"/>
          </a:xfrm>
          <a:prstGeom prst="rect">
            <a:avLst/>
          </a:prstGeom>
          <a:noFill/>
          <a:ln/>
        </p:spPr>
        <p:txBody>
          <a:bodyPr wrap="square" lIns="0" tIns="0" rIns="0" bIns="0" rtlCol="0" anchor="ctr"/>
          <a:lstStyle/>
          <a:p>
            <a:pPr indent="0" marL="0">
              <a:buNone/>
            </a:pPr>
            <a:r>
              <a:rPr lang="en-US" sz="1900" b="1" dirty="0">
                <a:solidFill>
                  <a:srgbClr val="7B2D8E"/>
                </a:solidFill>
                <a:latin typeface="BIZ UDPGothic" pitchFamily="34" charset="0"/>
                <a:ea typeface="BIZ UDPGothic" pitchFamily="34" charset="-122"/>
                <a:cs typeface="BIZ UDPGothic" pitchFamily="34" charset="-120"/>
              </a:rPr>
              <a:t>レム睡眠行動障害</a:t>
            </a:r>
            <a:endParaRPr lang="en-US" sz="1900" dirty="0"/>
          </a:p>
        </p:txBody>
      </p:sp>
      <p:sp>
        <p:nvSpPr>
          <p:cNvPr id="14" name="Text 12"/>
          <p:cNvSpPr/>
          <p:nvPr/>
        </p:nvSpPr>
        <p:spPr>
          <a:xfrm>
            <a:off x="1280160" y="2606040"/>
            <a:ext cx="7132320" cy="274320"/>
          </a:xfrm>
          <a:prstGeom prst="rect">
            <a:avLst/>
          </a:prstGeom>
          <a:noFill/>
          <a:ln/>
        </p:spPr>
        <p:txBody>
          <a:bodyPr wrap="square" lIns="0" tIns="0" rIns="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夢の中の行動を実際に体で再現（大声・殴る蹴る）</a:t>
            </a:r>
            <a:endParaRPr lang="en-US" sz="1500" dirty="0"/>
          </a:p>
        </p:txBody>
      </p:sp>
      <p:sp>
        <p:nvSpPr>
          <p:cNvPr id="15" name="Text 13"/>
          <p:cNvSpPr/>
          <p:nvPr/>
        </p:nvSpPr>
        <p:spPr>
          <a:xfrm>
            <a:off x="1280160" y="2880360"/>
            <a:ext cx="7132320" cy="274320"/>
          </a:xfrm>
          <a:prstGeom prst="rect">
            <a:avLst/>
          </a:prstGeom>
          <a:noFill/>
          <a:ln/>
        </p:spPr>
        <p:txBody>
          <a:bodyPr wrap="square" lIns="0" tIns="0" rIns="0" bIns="0" rtlCol="0" anchor="ctr"/>
          <a:lstStyle/>
          <a:p>
            <a:pPr indent="0" marL="0">
              <a:buNone/>
            </a:pPr>
            <a:r>
              <a:rPr lang="en-US" sz="1400" dirty="0">
                <a:solidFill>
                  <a:srgbClr val="636E72"/>
                </a:solidFill>
                <a:latin typeface="BIZ UDPGothic" pitchFamily="34" charset="0"/>
                <a:ea typeface="BIZ UDPGothic" pitchFamily="34" charset="-122"/>
                <a:cs typeface="BIZ UDPGothic" pitchFamily="34" charset="-120"/>
              </a:rPr>
              <a:t>パーキンソン病・レビー小体型認知症の前兆として重要</a:t>
            </a:r>
            <a:endParaRPr lang="en-US" sz="1400" dirty="0"/>
          </a:p>
        </p:txBody>
      </p:sp>
      <p:sp>
        <p:nvSpPr>
          <p:cNvPr id="16" name="Shape 14"/>
          <p:cNvSpPr/>
          <p:nvPr/>
        </p:nvSpPr>
        <p:spPr>
          <a:xfrm>
            <a:off x="457200" y="3383280"/>
            <a:ext cx="8229600" cy="1005840"/>
          </a:xfrm>
          <a:prstGeom prst="rect">
            <a:avLst>
              <a:gd name="adj" fmla="val 9091"/>
            </a:avLst>
          </a:prstGeom>
          <a:solidFill>
            <a:srgbClr val="FFFFFF"/>
          </a:solidFill>
          <a:ln/>
          <a:effectLst>
            <a:outerShdw sx="100000" sy="100000" kx="0" ky="0" algn="bl" rotWithShape="0" blurRad="50800" dist="25400" dir="8100000">
              <a:srgbClr val="000000">
                <a:alpha val="12000"/>
              </a:srgbClr>
            </a:outerShdw>
          </a:effectLst>
        </p:spPr>
      </p:sp>
      <p:sp>
        <p:nvSpPr>
          <p:cNvPr id="17" name="Shape 15"/>
          <p:cNvSpPr/>
          <p:nvPr/>
        </p:nvSpPr>
        <p:spPr>
          <a:xfrm>
            <a:off x="457200" y="3383280"/>
            <a:ext cx="109728" cy="1005840"/>
          </a:xfrm>
          <a:prstGeom prst="rect">
            <a:avLst>
              <a:gd name="adj" fmla="val 41667"/>
            </a:avLst>
          </a:prstGeom>
          <a:solidFill>
            <a:srgbClr val="2C5AA0"/>
          </a:solidFill>
          <a:ln/>
        </p:spPr>
      </p:sp>
      <p:sp>
        <p:nvSpPr>
          <p:cNvPr id="18" name="Text 16"/>
          <p:cNvSpPr/>
          <p:nvPr/>
        </p:nvSpPr>
        <p:spPr>
          <a:xfrm>
            <a:off x="640080" y="3474720"/>
            <a:ext cx="548640" cy="82296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19" name="Text 17"/>
          <p:cNvSpPr/>
          <p:nvPr/>
        </p:nvSpPr>
        <p:spPr>
          <a:xfrm>
            <a:off x="1280160" y="3429000"/>
            <a:ext cx="3200400" cy="365760"/>
          </a:xfrm>
          <a:prstGeom prst="rect">
            <a:avLst/>
          </a:prstGeom>
          <a:noFill/>
          <a:ln/>
        </p:spPr>
        <p:txBody>
          <a:bodyPr wrap="square" lIns="0" tIns="0" rIns="0" bIns="0" rtlCol="0" anchor="ctr"/>
          <a:lstStyle/>
          <a:p>
            <a:pPr indent="0" marL="0">
              <a:buNone/>
            </a:pPr>
            <a:r>
              <a:rPr lang="en-US" sz="1900" b="1" dirty="0">
                <a:solidFill>
                  <a:srgbClr val="2C5AA0"/>
                </a:solidFill>
                <a:latin typeface="BIZ UDPGothic" pitchFamily="34" charset="0"/>
                <a:ea typeface="BIZ UDPGothic" pitchFamily="34" charset="-122"/>
                <a:cs typeface="BIZ UDPGothic" pitchFamily="34" charset="-120"/>
              </a:rPr>
              <a:t>睡眠時無呼吸症候群</a:t>
            </a:r>
            <a:endParaRPr lang="en-US" sz="1900" dirty="0"/>
          </a:p>
        </p:txBody>
      </p:sp>
      <p:sp>
        <p:nvSpPr>
          <p:cNvPr id="20" name="Text 18"/>
          <p:cNvSpPr/>
          <p:nvPr/>
        </p:nvSpPr>
        <p:spPr>
          <a:xfrm>
            <a:off x="1280160" y="3794760"/>
            <a:ext cx="7132320" cy="274320"/>
          </a:xfrm>
          <a:prstGeom prst="rect">
            <a:avLst/>
          </a:prstGeom>
          <a:noFill/>
          <a:ln/>
        </p:spPr>
        <p:txBody>
          <a:bodyPr wrap="square" lIns="0" tIns="0" rIns="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睡眠中に呼吸が何度も止まり深い睡眠がとれない</a:t>
            </a:r>
            <a:endParaRPr lang="en-US" sz="1500" dirty="0"/>
          </a:p>
        </p:txBody>
      </p:sp>
      <p:sp>
        <p:nvSpPr>
          <p:cNvPr id="21" name="Text 19"/>
          <p:cNvSpPr/>
          <p:nvPr/>
        </p:nvSpPr>
        <p:spPr>
          <a:xfrm>
            <a:off x="1280160" y="4069080"/>
            <a:ext cx="7132320" cy="274320"/>
          </a:xfrm>
          <a:prstGeom prst="rect">
            <a:avLst/>
          </a:prstGeom>
          <a:noFill/>
          <a:ln/>
        </p:spPr>
        <p:txBody>
          <a:bodyPr wrap="square" lIns="0" tIns="0" rIns="0" bIns="0" rtlCol="0" anchor="ctr"/>
          <a:lstStyle/>
          <a:p>
            <a:pPr indent="0" marL="0">
              <a:buNone/>
            </a:pPr>
            <a:r>
              <a:rPr lang="en-US" sz="1400" dirty="0">
                <a:solidFill>
                  <a:srgbClr val="636E72"/>
                </a:solidFill>
                <a:latin typeface="BIZ UDPGothic" pitchFamily="34" charset="0"/>
                <a:ea typeface="BIZ UDPGothic" pitchFamily="34" charset="-122"/>
                <a:cs typeface="BIZ UDPGothic" pitchFamily="34" charset="-120"/>
              </a:rPr>
              <a:t>日中の強い眠気 → いびきが大きい方は要注意</a:t>
            </a:r>
            <a:endParaRPr lang="en-US" sz="1400" dirty="0"/>
          </a:p>
        </p:txBody>
      </p:sp>
      <p:sp>
        <p:nvSpPr>
          <p:cNvPr id="22" name="Shape 20"/>
          <p:cNvSpPr/>
          <p:nvPr/>
        </p:nvSpPr>
        <p:spPr>
          <a:xfrm>
            <a:off x="0" y="4800600"/>
            <a:ext cx="9144000" cy="347472"/>
          </a:xfrm>
          <a:prstGeom prst="rect">
            <a:avLst/>
          </a:prstGeom>
          <a:solidFill>
            <a:srgbClr val="1B3A5C"/>
          </a:solidFill>
          <a:ln/>
        </p:spPr>
      </p:sp>
      <p:sp>
        <p:nvSpPr>
          <p:cNvPr id="23" name="Text 21"/>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#15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睡眠薬の正しい知識</a:t>
            </a:r>
            <a:endParaRPr lang="en-US" sz="2600" dirty="0"/>
          </a:p>
        </p:txBody>
      </p:sp>
      <p:sp>
        <p:nvSpPr>
          <p:cNvPr id="4" name="Shape 2"/>
          <p:cNvSpPr/>
          <p:nvPr/>
        </p:nvSpPr>
        <p:spPr>
          <a:xfrm>
            <a:off x="457200" y="1005840"/>
            <a:ext cx="8229600" cy="914400"/>
          </a:xfrm>
          <a:prstGeom prst="rect">
            <a:avLst>
              <a:gd name="adj" fmla="val 10000"/>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05840"/>
            <a:ext cx="109728" cy="914400"/>
          </a:xfrm>
          <a:prstGeom prst="rect">
            <a:avLst>
              <a:gd name="adj" fmla="val 41667"/>
            </a:avLst>
          </a:prstGeom>
          <a:solidFill>
            <a:srgbClr val="28A745"/>
          </a:solidFill>
          <a:ln/>
        </p:spPr>
      </p:sp>
      <p:sp>
        <p:nvSpPr>
          <p:cNvPr id="6" name="Text 4"/>
          <p:cNvSpPr/>
          <p:nvPr/>
        </p:nvSpPr>
        <p:spPr>
          <a:xfrm>
            <a:off x="640080" y="1051560"/>
            <a:ext cx="4572000" cy="365760"/>
          </a:xfrm>
          <a:prstGeom prst="rect">
            <a:avLst/>
          </a:prstGeom>
          <a:noFill/>
          <a:ln/>
        </p:spPr>
        <p:txBody>
          <a:bodyPr wrap="square" lIns="0" tIns="0" rIns="0" bIns="0" rtlCol="0" anchor="ctr"/>
          <a:lstStyle/>
          <a:p>
            <a:pPr indent="0" marL="0">
              <a:buNone/>
            </a:pPr>
            <a:r>
              <a:rPr lang="en-US" sz="1800" b="1" dirty="0">
                <a:solidFill>
                  <a:srgbClr val="28A745"/>
                </a:solidFill>
                <a:latin typeface="BIZ UDPGothic" pitchFamily="34" charset="0"/>
                <a:ea typeface="BIZ UDPGothic" pitchFamily="34" charset="-122"/>
                <a:cs typeface="BIZ UDPGothic" pitchFamily="34" charset="-120"/>
              </a:rPr>
              <a:t>メラトニン受容体作動薬</a:t>
            </a:r>
            <a:endParaRPr lang="en-US" sz="1800" dirty="0"/>
          </a:p>
        </p:txBody>
      </p:sp>
      <p:sp>
        <p:nvSpPr>
          <p:cNvPr id="7" name="Text 5"/>
          <p:cNvSpPr/>
          <p:nvPr/>
        </p:nvSpPr>
        <p:spPr>
          <a:xfrm>
            <a:off x="640080" y="1417320"/>
            <a:ext cx="5943600" cy="457200"/>
          </a:xfrm>
          <a:prstGeom prst="rect">
            <a:avLst/>
          </a:prstGeom>
          <a:noFill/>
          <a:ln/>
        </p:spPr>
        <p:txBody>
          <a:bodyPr wrap="square" lIns="0" tIns="0" rIns="0" bIns="0" rtlCol="0" anchor="ctr"/>
          <a:lstStyle/>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体内時計に働きかけ自然な眠気を促す</a:t>
            </a:r>
            <a:endParaRPr lang="en-US" sz="1400" dirty="0"/>
          </a:p>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依存性がほとんどなく高齢者にも安全</a:t>
            </a:r>
            <a:endParaRPr lang="en-US" sz="1400" dirty="0"/>
          </a:p>
        </p:txBody>
      </p:sp>
      <p:sp>
        <p:nvSpPr>
          <p:cNvPr id="8" name="Text 6"/>
          <p:cNvSpPr/>
          <p:nvPr/>
        </p:nvSpPr>
        <p:spPr>
          <a:xfrm>
            <a:off x="6858000" y="1143000"/>
            <a:ext cx="1645920" cy="640080"/>
          </a:xfrm>
          <a:prstGeom prst="rect">
            <a:avLst/>
          </a:prstGeom>
          <a:noFill/>
          <a:ln/>
        </p:spPr>
        <p:txBody>
          <a:bodyPr wrap="square" lIns="0" tIns="0" rIns="0" bIns="0" rtlCol="0" anchor="ctr"/>
          <a:lstStyle/>
          <a:p>
            <a:pPr algn="ctr" indent="0" marL="0">
              <a:buNone/>
            </a:pPr>
            <a:r>
              <a:rPr lang="en-US" sz="1400" b="1" dirty="0">
                <a:solidFill>
                  <a:srgbClr val="28A745"/>
                </a:solidFill>
                <a:latin typeface="BIZ UDPGothic" pitchFamily="34" charset="0"/>
                <a:ea typeface="BIZ UDPGothic" pitchFamily="34" charset="-122"/>
                <a:cs typeface="BIZ UDPGothic" pitchFamily="34" charset="-120"/>
              </a:rPr>
              <a:t>依存性◎低い</a:t>
            </a:r>
            <a:endParaRPr lang="en-US" sz="1400" dirty="0"/>
          </a:p>
        </p:txBody>
      </p:sp>
      <p:sp>
        <p:nvSpPr>
          <p:cNvPr id="9" name="Shape 7"/>
          <p:cNvSpPr/>
          <p:nvPr/>
        </p:nvSpPr>
        <p:spPr>
          <a:xfrm>
            <a:off x="457200" y="2057400"/>
            <a:ext cx="8229600" cy="914400"/>
          </a:xfrm>
          <a:prstGeom prst="rect">
            <a:avLst>
              <a:gd name="adj" fmla="val 10000"/>
            </a:avLst>
          </a:prstGeom>
          <a:solidFill>
            <a:srgbClr val="FFFFFF"/>
          </a:solidFill>
          <a:ln/>
          <a:effectLst>
            <a:outerShdw sx="100000" sy="100000" kx="0" ky="0" algn="bl" rotWithShape="0" blurRad="50800" dist="25400" dir="8100000">
              <a:srgbClr val="000000">
                <a:alpha val="12000"/>
              </a:srgbClr>
            </a:outerShdw>
          </a:effectLst>
        </p:spPr>
      </p:sp>
      <p:sp>
        <p:nvSpPr>
          <p:cNvPr id="10" name="Shape 8"/>
          <p:cNvSpPr/>
          <p:nvPr/>
        </p:nvSpPr>
        <p:spPr>
          <a:xfrm>
            <a:off x="457200" y="2057400"/>
            <a:ext cx="109728" cy="914400"/>
          </a:xfrm>
          <a:prstGeom prst="rect">
            <a:avLst>
              <a:gd name="adj" fmla="val 41667"/>
            </a:avLst>
          </a:prstGeom>
          <a:solidFill>
            <a:srgbClr val="2C5AA0"/>
          </a:solidFill>
          <a:ln/>
        </p:spPr>
      </p:sp>
      <p:sp>
        <p:nvSpPr>
          <p:cNvPr id="11" name="Text 9"/>
          <p:cNvSpPr/>
          <p:nvPr/>
        </p:nvSpPr>
        <p:spPr>
          <a:xfrm>
            <a:off x="640080" y="2103120"/>
            <a:ext cx="4572000" cy="365760"/>
          </a:xfrm>
          <a:prstGeom prst="rect">
            <a:avLst/>
          </a:prstGeom>
          <a:noFill/>
          <a:ln/>
        </p:spPr>
        <p:txBody>
          <a:bodyPr wrap="square" lIns="0" tIns="0" rIns="0" bIns="0" rtlCol="0" anchor="ctr"/>
          <a:lstStyle/>
          <a:p>
            <a:pPr indent="0" marL="0">
              <a:buNone/>
            </a:pPr>
            <a:r>
              <a:rPr lang="en-US" sz="1800" b="1" dirty="0">
                <a:solidFill>
                  <a:srgbClr val="2C5AA0"/>
                </a:solidFill>
                <a:latin typeface="BIZ UDPGothic" pitchFamily="34" charset="0"/>
                <a:ea typeface="BIZ UDPGothic" pitchFamily="34" charset="-122"/>
                <a:cs typeface="BIZ UDPGothic" pitchFamily="34" charset="-120"/>
              </a:rPr>
              <a:t>オレキシン受容体拮抗薬</a:t>
            </a:r>
            <a:endParaRPr lang="en-US" sz="1800" dirty="0"/>
          </a:p>
        </p:txBody>
      </p:sp>
      <p:sp>
        <p:nvSpPr>
          <p:cNvPr id="12" name="Text 10"/>
          <p:cNvSpPr/>
          <p:nvPr/>
        </p:nvSpPr>
        <p:spPr>
          <a:xfrm>
            <a:off x="640080" y="2468880"/>
            <a:ext cx="5943600" cy="457200"/>
          </a:xfrm>
          <a:prstGeom prst="rect">
            <a:avLst/>
          </a:prstGeom>
          <a:noFill/>
          <a:ln/>
        </p:spPr>
        <p:txBody>
          <a:bodyPr wrap="square" lIns="0" tIns="0" rIns="0" bIns="0" rtlCol="0" anchor="ctr"/>
          <a:lstStyle/>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覚醒を維持するオレキシンの働きを抑える</a:t>
            </a:r>
            <a:endParaRPr lang="en-US" sz="1400" dirty="0"/>
          </a:p>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比較的新しいタイプの睡眠薬</a:t>
            </a:r>
            <a:endParaRPr lang="en-US" sz="1400" dirty="0"/>
          </a:p>
        </p:txBody>
      </p:sp>
      <p:sp>
        <p:nvSpPr>
          <p:cNvPr id="13" name="Text 11"/>
          <p:cNvSpPr/>
          <p:nvPr/>
        </p:nvSpPr>
        <p:spPr>
          <a:xfrm>
            <a:off x="6858000" y="2194560"/>
            <a:ext cx="1645920" cy="640080"/>
          </a:xfrm>
          <a:prstGeom prst="rect">
            <a:avLst/>
          </a:prstGeom>
          <a:noFill/>
          <a:ln/>
        </p:spPr>
        <p:txBody>
          <a:bodyPr wrap="square" lIns="0" tIns="0" rIns="0" bIns="0" rtlCol="0" anchor="ctr"/>
          <a:lstStyle/>
          <a:p>
            <a:pPr algn="ctr" indent="0" marL="0">
              <a:buNone/>
            </a:pPr>
            <a:r>
              <a:rPr lang="en-US" sz="1400" b="1" dirty="0">
                <a:solidFill>
                  <a:srgbClr val="2C5AA0"/>
                </a:solidFill>
                <a:latin typeface="BIZ UDPGothic" pitchFamily="34" charset="0"/>
                <a:ea typeface="BIZ UDPGothic" pitchFamily="34" charset="-122"/>
                <a:cs typeface="BIZ UDPGothic" pitchFamily="34" charset="-120"/>
              </a:rPr>
              <a:t>依存性◎低い</a:t>
            </a:r>
            <a:endParaRPr lang="en-US" sz="1400" dirty="0"/>
          </a:p>
        </p:txBody>
      </p:sp>
      <p:sp>
        <p:nvSpPr>
          <p:cNvPr id="14" name="Shape 12"/>
          <p:cNvSpPr/>
          <p:nvPr/>
        </p:nvSpPr>
        <p:spPr>
          <a:xfrm>
            <a:off x="457200" y="3108960"/>
            <a:ext cx="8229600" cy="914400"/>
          </a:xfrm>
          <a:prstGeom prst="rect">
            <a:avLst>
              <a:gd name="adj" fmla="val 10000"/>
            </a:avLst>
          </a:prstGeom>
          <a:solidFill>
            <a:srgbClr val="FFFFFF"/>
          </a:solidFill>
          <a:ln/>
          <a:effectLst>
            <a:outerShdw sx="100000" sy="100000" kx="0" ky="0" algn="bl" rotWithShape="0" blurRad="50800" dist="25400" dir="8100000">
              <a:srgbClr val="000000">
                <a:alpha val="12000"/>
              </a:srgbClr>
            </a:outerShdw>
          </a:effectLst>
        </p:spPr>
      </p:sp>
      <p:sp>
        <p:nvSpPr>
          <p:cNvPr id="15" name="Shape 13"/>
          <p:cNvSpPr/>
          <p:nvPr/>
        </p:nvSpPr>
        <p:spPr>
          <a:xfrm>
            <a:off x="457200" y="3108960"/>
            <a:ext cx="109728" cy="914400"/>
          </a:xfrm>
          <a:prstGeom prst="rect">
            <a:avLst>
              <a:gd name="adj" fmla="val 41667"/>
            </a:avLst>
          </a:prstGeom>
          <a:solidFill>
            <a:srgbClr val="E8850C"/>
          </a:solidFill>
          <a:ln/>
        </p:spPr>
      </p:sp>
      <p:sp>
        <p:nvSpPr>
          <p:cNvPr id="16" name="Text 14"/>
          <p:cNvSpPr/>
          <p:nvPr/>
        </p:nvSpPr>
        <p:spPr>
          <a:xfrm>
            <a:off x="640080" y="3154680"/>
            <a:ext cx="4572000" cy="365760"/>
          </a:xfrm>
          <a:prstGeom prst="rect">
            <a:avLst/>
          </a:prstGeom>
          <a:noFill/>
          <a:ln/>
        </p:spPr>
        <p:txBody>
          <a:bodyPr wrap="square" lIns="0" tIns="0" rIns="0" bIns="0" rtlCol="0" anchor="ctr"/>
          <a:lstStyle/>
          <a:p>
            <a:pPr indent="0" marL="0">
              <a:buNone/>
            </a:pPr>
            <a:r>
              <a:rPr lang="en-US" sz="1800" b="1" dirty="0">
                <a:solidFill>
                  <a:srgbClr val="E8850C"/>
                </a:solidFill>
                <a:latin typeface="BIZ UDPGothic" pitchFamily="34" charset="0"/>
                <a:ea typeface="BIZ UDPGothic" pitchFamily="34" charset="-122"/>
                <a:cs typeface="BIZ UDPGothic" pitchFamily="34" charset="-120"/>
              </a:rPr>
              <a:t>ベンゾジアゼピン系・非BZ系</a:t>
            </a:r>
            <a:endParaRPr lang="en-US" sz="1800" dirty="0"/>
          </a:p>
        </p:txBody>
      </p:sp>
      <p:sp>
        <p:nvSpPr>
          <p:cNvPr id="17" name="Text 15"/>
          <p:cNvSpPr/>
          <p:nvPr/>
        </p:nvSpPr>
        <p:spPr>
          <a:xfrm>
            <a:off x="640080" y="3520440"/>
            <a:ext cx="5943600" cy="457200"/>
          </a:xfrm>
          <a:prstGeom prst="rect">
            <a:avLst/>
          </a:prstGeom>
          <a:noFill/>
          <a:ln/>
        </p:spPr>
        <p:txBody>
          <a:bodyPr wrap="square" lIns="0" tIns="0" rIns="0" bIns="0" rtlCol="0" anchor="ctr"/>
          <a:lstStyle/>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脳の活動を抑えて眠りを促す</a:t>
            </a:r>
            <a:endParaRPr lang="en-US" sz="1400" dirty="0"/>
          </a:p>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効果は確実だが依存性・翌朝のふらつきに注意</a:t>
            </a:r>
            <a:endParaRPr lang="en-US" sz="1400" dirty="0"/>
          </a:p>
        </p:txBody>
      </p:sp>
      <p:sp>
        <p:nvSpPr>
          <p:cNvPr id="18" name="Text 16"/>
          <p:cNvSpPr/>
          <p:nvPr/>
        </p:nvSpPr>
        <p:spPr>
          <a:xfrm>
            <a:off x="6858000" y="3246120"/>
            <a:ext cx="1645920" cy="640080"/>
          </a:xfrm>
          <a:prstGeom prst="rect">
            <a:avLst/>
          </a:prstGeom>
          <a:noFill/>
          <a:ln/>
        </p:spPr>
        <p:txBody>
          <a:bodyPr wrap="square" lIns="0" tIns="0" rIns="0" bIns="0" rtlCol="0" anchor="ctr"/>
          <a:lstStyle/>
          <a:p>
            <a:pPr algn="ctr" indent="0" marL="0">
              <a:buNone/>
            </a:pPr>
            <a:r>
              <a:rPr lang="en-US" sz="1400" b="1" dirty="0">
                <a:solidFill>
                  <a:srgbClr val="E8850C"/>
                </a:solidFill>
                <a:latin typeface="BIZ UDPGothic" pitchFamily="34" charset="0"/>
                <a:ea typeface="BIZ UDPGothic" pitchFamily="34" charset="-122"/>
                <a:cs typeface="BIZ UDPGothic" pitchFamily="34" charset="-120"/>
              </a:rPr>
              <a:t>依存性△注意</a:t>
            </a:r>
            <a:endParaRPr lang="en-US" sz="1400" dirty="0"/>
          </a:p>
        </p:txBody>
      </p:sp>
      <p:sp>
        <p:nvSpPr>
          <p:cNvPr id="19" name="Shape 17"/>
          <p:cNvSpPr/>
          <p:nvPr/>
        </p:nvSpPr>
        <p:spPr>
          <a:xfrm>
            <a:off x="457200" y="4160520"/>
            <a:ext cx="8229600" cy="502920"/>
          </a:xfrm>
          <a:prstGeom prst="rect">
            <a:avLst>
              <a:gd name="adj" fmla="val 18182"/>
            </a:avLst>
          </a:prstGeom>
          <a:solidFill>
            <a:srgbClr val="FFF3CD"/>
          </a:solidFill>
          <a:ln/>
          <a:effectLst>
            <a:outerShdw sx="100000" sy="100000" kx="0" ky="0" algn="bl" rotWithShape="0" blurRad="50800" dist="25400" dir="8100000">
              <a:srgbClr val="000000">
                <a:alpha val="12000"/>
              </a:srgbClr>
            </a:outerShdw>
          </a:effectLst>
        </p:spPr>
      </p:sp>
      <p:sp>
        <p:nvSpPr>
          <p:cNvPr id="20" name="Shape 18"/>
          <p:cNvSpPr/>
          <p:nvPr/>
        </p:nvSpPr>
        <p:spPr>
          <a:xfrm>
            <a:off x="457200" y="4160520"/>
            <a:ext cx="109728" cy="502920"/>
          </a:xfrm>
          <a:prstGeom prst="rect">
            <a:avLst>
              <a:gd name="adj" fmla="val 41667"/>
            </a:avLst>
          </a:prstGeom>
          <a:solidFill>
            <a:srgbClr val="F5C518"/>
          </a:solidFill>
          <a:ln/>
        </p:spPr>
      </p:sp>
      <p:sp>
        <p:nvSpPr>
          <p:cNvPr id="21" name="Text 19"/>
          <p:cNvSpPr/>
          <p:nvPr/>
        </p:nvSpPr>
        <p:spPr>
          <a:xfrm>
            <a:off x="731520" y="4187952"/>
            <a:ext cx="7772400" cy="457200"/>
          </a:xfrm>
          <a:prstGeom prst="rect">
            <a:avLst/>
          </a:prstGeom>
          <a:noFill/>
          <a:ln/>
        </p:spPr>
        <p:txBody>
          <a:bodyPr wrap="square" lIns="0" tIns="0" rIns="0" bIns="0" rtlCol="0" anchor="ctr"/>
          <a:lstStyle/>
          <a:p>
            <a:pPr indent="0" marL="0">
              <a:buNone/>
            </a:pPr>
            <a:r>
              <a:rPr lang="en-US" sz="1400" dirty="0">
                <a:solidFill>
                  <a:srgbClr val="856404"/>
                </a:solidFill>
                <a:latin typeface="BIZ UDPGothic" pitchFamily="34" charset="0"/>
                <a:ea typeface="BIZ UDPGothic" pitchFamily="34" charset="-122"/>
                <a:cs typeface="BIZ UDPGothic" pitchFamily="34" charset="-120"/>
              </a:rPr>
              <a:t>⚠️ 睡眠薬は医師の指示で正しく使えば安全です。自己判断での増量や急な中止は避けてください。</a:t>
            </a:r>
            <a:endParaRPr lang="en-US" sz="1400" dirty="0"/>
          </a:p>
        </p:txBody>
      </p:sp>
      <p:sp>
        <p:nvSpPr>
          <p:cNvPr id="22" name="Shape 20"/>
          <p:cNvSpPr/>
          <p:nvPr/>
        </p:nvSpPr>
        <p:spPr>
          <a:xfrm>
            <a:off x="0" y="4800600"/>
            <a:ext cx="9144000" cy="347472"/>
          </a:xfrm>
          <a:prstGeom prst="rect">
            <a:avLst/>
          </a:prstGeom>
          <a:solidFill>
            <a:srgbClr val="1B3A5C"/>
          </a:solidFill>
          <a:ln/>
        </p:spPr>
      </p:sp>
      <p:sp>
        <p:nvSpPr>
          <p:cNvPr id="23" name="Text 21"/>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#15</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睡眠衛生 ― 薬に頼らない対策</a:t>
            </a:r>
            <a:endParaRPr lang="en-US" sz="2600" dirty="0"/>
          </a:p>
        </p:txBody>
      </p:sp>
      <p:sp>
        <p:nvSpPr>
          <p:cNvPr id="4" name="Shape 2"/>
          <p:cNvSpPr/>
          <p:nvPr/>
        </p:nvSpPr>
        <p:spPr>
          <a:xfrm>
            <a:off x="457200" y="960120"/>
            <a:ext cx="8229600" cy="777240"/>
          </a:xfrm>
          <a:prstGeom prst="rect">
            <a:avLst>
              <a:gd name="adj" fmla="val 11765"/>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457200" y="960120"/>
            <a:ext cx="109728" cy="777240"/>
          </a:xfrm>
          <a:prstGeom prst="rect">
            <a:avLst>
              <a:gd name="adj" fmla="val 41667"/>
            </a:avLst>
          </a:prstGeom>
          <a:solidFill>
            <a:srgbClr val="2C5AA0"/>
          </a:solidFill>
          <a:ln/>
        </p:spPr>
      </p:sp>
      <p:sp>
        <p:nvSpPr>
          <p:cNvPr id="6" name="Text 4"/>
          <p:cNvSpPr/>
          <p:nvPr/>
        </p:nvSpPr>
        <p:spPr>
          <a:xfrm>
            <a:off x="640080" y="1005840"/>
            <a:ext cx="457200" cy="685800"/>
          </a:xfrm>
          <a:prstGeom prst="rect">
            <a:avLst/>
          </a:prstGeom>
          <a:noFill/>
          <a:ln/>
        </p:spPr>
        <p:txBody>
          <a:bodyPr wrap="square" lIns="0" tIns="0" rIns="0" bIns="0" rtlCol="0" anchor="ctr"/>
          <a:lstStyle/>
          <a:p>
            <a:pPr algn="ctr" indent="0" marL="0">
              <a:buNone/>
            </a:pPr>
            <a:r>
              <a:rPr lang="en-US" sz="3000" b="1" dirty="0">
                <a:solidFill>
                  <a:srgbClr val="2C5AA0"/>
                </a:solidFill>
                <a:latin typeface="Segoe UI" pitchFamily="34" charset="0"/>
                <a:ea typeface="Segoe UI" pitchFamily="34" charset="-122"/>
                <a:cs typeface="Segoe UI" pitchFamily="34" charset="-120"/>
              </a:rPr>
              <a:t>1</a:t>
            </a:r>
            <a:endParaRPr lang="en-US" sz="3000" dirty="0"/>
          </a:p>
        </p:txBody>
      </p:sp>
      <p:sp>
        <p:nvSpPr>
          <p:cNvPr id="7" name="Text 5"/>
          <p:cNvSpPr/>
          <p:nvPr/>
        </p:nvSpPr>
        <p:spPr>
          <a:xfrm>
            <a:off x="1188720" y="1051560"/>
            <a:ext cx="548640" cy="59436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8" name="Text 6"/>
          <p:cNvSpPr/>
          <p:nvPr/>
        </p:nvSpPr>
        <p:spPr>
          <a:xfrm>
            <a:off x="1828800" y="1005840"/>
            <a:ext cx="2743200" cy="320040"/>
          </a:xfrm>
          <a:prstGeom prst="rect">
            <a:avLst/>
          </a:prstGeom>
          <a:noFill/>
          <a:ln/>
        </p:spPr>
        <p:txBody>
          <a:bodyPr wrap="square" lIns="0" tIns="0" rIns="0" bIns="0" rtlCol="0" anchor="ctr"/>
          <a:lstStyle/>
          <a:p>
            <a:pPr indent="0" marL="0">
              <a:buNone/>
            </a:pPr>
            <a:r>
              <a:rPr lang="en-US" sz="1800" b="1" dirty="0">
                <a:solidFill>
                  <a:srgbClr val="2C5AA0"/>
                </a:solidFill>
                <a:latin typeface="BIZ UDPGothic" pitchFamily="34" charset="0"/>
                <a:ea typeface="BIZ UDPGothic" pitchFamily="34" charset="-122"/>
                <a:cs typeface="BIZ UDPGothic" pitchFamily="34" charset="-120"/>
              </a:rPr>
              <a:t>朝の光を浴びる</a:t>
            </a:r>
            <a:endParaRPr lang="en-US" sz="1800" dirty="0"/>
          </a:p>
        </p:txBody>
      </p:sp>
      <p:sp>
        <p:nvSpPr>
          <p:cNvPr id="9" name="Text 7"/>
          <p:cNvSpPr/>
          <p:nvPr/>
        </p:nvSpPr>
        <p:spPr>
          <a:xfrm>
            <a:off x="1828800" y="1344168"/>
            <a:ext cx="6675120" cy="365760"/>
          </a:xfrm>
          <a:prstGeom prst="rect">
            <a:avLst/>
          </a:prstGeom>
          <a:noFill/>
          <a:ln/>
        </p:spPr>
        <p:txBody>
          <a:bodyPr wrap="square" lIns="0" tIns="0" rIns="0" bIns="0" rtlCol="0" anchor="ctr"/>
          <a:lstStyle/>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起床後30分以内に太陽の光で体内時計リセット</a:t>
            </a:r>
            <a:endParaRPr lang="en-US" sz="1400" dirty="0"/>
          </a:p>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曇りの日でも屋外の光は室内より十分明るい</a:t>
            </a:r>
            <a:endParaRPr lang="en-US" sz="1400" dirty="0"/>
          </a:p>
        </p:txBody>
      </p:sp>
      <p:sp>
        <p:nvSpPr>
          <p:cNvPr id="10" name="Shape 8"/>
          <p:cNvSpPr/>
          <p:nvPr/>
        </p:nvSpPr>
        <p:spPr>
          <a:xfrm>
            <a:off x="457200" y="1874520"/>
            <a:ext cx="8229600" cy="777240"/>
          </a:xfrm>
          <a:prstGeom prst="rect">
            <a:avLst>
              <a:gd name="adj" fmla="val 11765"/>
            </a:avLst>
          </a:prstGeom>
          <a:solidFill>
            <a:srgbClr val="FFFFFF"/>
          </a:solidFill>
          <a:ln/>
          <a:effectLst>
            <a:outerShdw sx="100000" sy="100000" kx="0" ky="0" algn="bl" rotWithShape="0" blurRad="50800" dist="25400" dir="8100000">
              <a:srgbClr val="000000">
                <a:alpha val="12000"/>
              </a:srgbClr>
            </a:outerShdw>
          </a:effectLst>
        </p:spPr>
      </p:sp>
      <p:sp>
        <p:nvSpPr>
          <p:cNvPr id="11" name="Shape 9"/>
          <p:cNvSpPr/>
          <p:nvPr/>
        </p:nvSpPr>
        <p:spPr>
          <a:xfrm>
            <a:off x="457200" y="1874520"/>
            <a:ext cx="109728" cy="777240"/>
          </a:xfrm>
          <a:prstGeom prst="rect">
            <a:avLst>
              <a:gd name="adj" fmla="val 41667"/>
            </a:avLst>
          </a:prstGeom>
          <a:solidFill>
            <a:srgbClr val="2C5AA0"/>
          </a:solidFill>
          <a:ln/>
        </p:spPr>
      </p:sp>
      <p:sp>
        <p:nvSpPr>
          <p:cNvPr id="12" name="Text 10"/>
          <p:cNvSpPr/>
          <p:nvPr/>
        </p:nvSpPr>
        <p:spPr>
          <a:xfrm>
            <a:off x="640080" y="1920240"/>
            <a:ext cx="457200" cy="685800"/>
          </a:xfrm>
          <a:prstGeom prst="rect">
            <a:avLst/>
          </a:prstGeom>
          <a:noFill/>
          <a:ln/>
        </p:spPr>
        <p:txBody>
          <a:bodyPr wrap="square" lIns="0" tIns="0" rIns="0" bIns="0" rtlCol="0" anchor="ctr"/>
          <a:lstStyle/>
          <a:p>
            <a:pPr algn="ctr" indent="0" marL="0">
              <a:buNone/>
            </a:pPr>
            <a:r>
              <a:rPr lang="en-US" sz="3000" b="1" dirty="0">
                <a:solidFill>
                  <a:srgbClr val="2C5AA0"/>
                </a:solidFill>
                <a:latin typeface="Segoe UI" pitchFamily="34" charset="0"/>
                <a:ea typeface="Segoe UI" pitchFamily="34" charset="-122"/>
                <a:cs typeface="Segoe UI" pitchFamily="34" charset="-120"/>
              </a:rPr>
              <a:t>2</a:t>
            </a:r>
            <a:endParaRPr lang="en-US" sz="3000" dirty="0"/>
          </a:p>
        </p:txBody>
      </p:sp>
      <p:sp>
        <p:nvSpPr>
          <p:cNvPr id="13" name="Text 11"/>
          <p:cNvSpPr/>
          <p:nvPr/>
        </p:nvSpPr>
        <p:spPr>
          <a:xfrm>
            <a:off x="1188720" y="1965960"/>
            <a:ext cx="548640" cy="59436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4" name="Text 12"/>
          <p:cNvSpPr/>
          <p:nvPr/>
        </p:nvSpPr>
        <p:spPr>
          <a:xfrm>
            <a:off x="1828800" y="1920240"/>
            <a:ext cx="2743200" cy="320040"/>
          </a:xfrm>
          <a:prstGeom prst="rect">
            <a:avLst/>
          </a:prstGeom>
          <a:noFill/>
          <a:ln/>
        </p:spPr>
        <p:txBody>
          <a:bodyPr wrap="square" lIns="0" tIns="0" rIns="0" bIns="0" rtlCol="0" anchor="ctr"/>
          <a:lstStyle/>
          <a:p>
            <a:pPr indent="0" marL="0">
              <a:buNone/>
            </a:pPr>
            <a:r>
              <a:rPr lang="en-US" sz="1800" b="1" dirty="0">
                <a:solidFill>
                  <a:srgbClr val="2C5AA0"/>
                </a:solidFill>
                <a:latin typeface="BIZ UDPGothic" pitchFamily="34" charset="0"/>
                <a:ea typeface="BIZ UDPGothic" pitchFamily="34" charset="-122"/>
                <a:cs typeface="BIZ UDPGothic" pitchFamily="34" charset="-120"/>
              </a:rPr>
              <a:t>就寝前のスマホを控える</a:t>
            </a:r>
            <a:endParaRPr lang="en-US" sz="1800" dirty="0"/>
          </a:p>
        </p:txBody>
      </p:sp>
      <p:sp>
        <p:nvSpPr>
          <p:cNvPr id="15" name="Text 13"/>
          <p:cNvSpPr/>
          <p:nvPr/>
        </p:nvSpPr>
        <p:spPr>
          <a:xfrm>
            <a:off x="1828800" y="2258568"/>
            <a:ext cx="6675120" cy="365760"/>
          </a:xfrm>
          <a:prstGeom prst="rect">
            <a:avLst/>
          </a:prstGeom>
          <a:noFill/>
          <a:ln/>
        </p:spPr>
        <p:txBody>
          <a:bodyPr wrap="square" lIns="0" tIns="0" rIns="0" bIns="0" rtlCol="0" anchor="ctr"/>
          <a:lstStyle/>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ブルーライトがメラトニン分泌を抑制</a:t>
            </a:r>
            <a:endParaRPr lang="en-US" sz="1400" dirty="0"/>
          </a:p>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就寝1時間前にはスマホ・PCを見るのをやめる</a:t>
            </a:r>
            <a:endParaRPr lang="en-US" sz="1400" dirty="0"/>
          </a:p>
        </p:txBody>
      </p:sp>
      <p:sp>
        <p:nvSpPr>
          <p:cNvPr id="16" name="Shape 14"/>
          <p:cNvSpPr/>
          <p:nvPr/>
        </p:nvSpPr>
        <p:spPr>
          <a:xfrm>
            <a:off x="457200" y="2788920"/>
            <a:ext cx="8229600" cy="777240"/>
          </a:xfrm>
          <a:prstGeom prst="rect">
            <a:avLst>
              <a:gd name="adj" fmla="val 11765"/>
            </a:avLst>
          </a:prstGeom>
          <a:solidFill>
            <a:srgbClr val="FFFFFF"/>
          </a:solidFill>
          <a:ln/>
          <a:effectLst>
            <a:outerShdw sx="100000" sy="100000" kx="0" ky="0" algn="bl" rotWithShape="0" blurRad="50800" dist="25400" dir="8100000">
              <a:srgbClr val="000000">
                <a:alpha val="12000"/>
              </a:srgbClr>
            </a:outerShdw>
          </a:effectLst>
        </p:spPr>
      </p:sp>
      <p:sp>
        <p:nvSpPr>
          <p:cNvPr id="17" name="Shape 15"/>
          <p:cNvSpPr/>
          <p:nvPr/>
        </p:nvSpPr>
        <p:spPr>
          <a:xfrm>
            <a:off x="457200" y="2788920"/>
            <a:ext cx="109728" cy="777240"/>
          </a:xfrm>
          <a:prstGeom prst="rect">
            <a:avLst>
              <a:gd name="adj" fmla="val 41667"/>
            </a:avLst>
          </a:prstGeom>
          <a:solidFill>
            <a:srgbClr val="2C5AA0"/>
          </a:solidFill>
          <a:ln/>
        </p:spPr>
      </p:sp>
      <p:sp>
        <p:nvSpPr>
          <p:cNvPr id="18" name="Text 16"/>
          <p:cNvSpPr/>
          <p:nvPr/>
        </p:nvSpPr>
        <p:spPr>
          <a:xfrm>
            <a:off x="640080" y="2834640"/>
            <a:ext cx="457200" cy="685800"/>
          </a:xfrm>
          <a:prstGeom prst="rect">
            <a:avLst/>
          </a:prstGeom>
          <a:noFill/>
          <a:ln/>
        </p:spPr>
        <p:txBody>
          <a:bodyPr wrap="square" lIns="0" tIns="0" rIns="0" bIns="0" rtlCol="0" anchor="ctr"/>
          <a:lstStyle/>
          <a:p>
            <a:pPr algn="ctr" indent="0" marL="0">
              <a:buNone/>
            </a:pPr>
            <a:r>
              <a:rPr lang="en-US" sz="3000" b="1" dirty="0">
                <a:solidFill>
                  <a:srgbClr val="2C5AA0"/>
                </a:solidFill>
                <a:latin typeface="Segoe UI" pitchFamily="34" charset="0"/>
                <a:ea typeface="Segoe UI" pitchFamily="34" charset="-122"/>
                <a:cs typeface="Segoe UI" pitchFamily="34" charset="-120"/>
              </a:rPr>
              <a:t>3</a:t>
            </a:r>
            <a:endParaRPr lang="en-US" sz="3000" dirty="0"/>
          </a:p>
        </p:txBody>
      </p:sp>
      <p:sp>
        <p:nvSpPr>
          <p:cNvPr id="19" name="Text 17"/>
          <p:cNvSpPr/>
          <p:nvPr/>
        </p:nvSpPr>
        <p:spPr>
          <a:xfrm>
            <a:off x="1188720" y="2880360"/>
            <a:ext cx="548640" cy="59436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20" name="Text 18"/>
          <p:cNvSpPr/>
          <p:nvPr/>
        </p:nvSpPr>
        <p:spPr>
          <a:xfrm>
            <a:off x="1828800" y="2834640"/>
            <a:ext cx="2743200" cy="320040"/>
          </a:xfrm>
          <a:prstGeom prst="rect">
            <a:avLst/>
          </a:prstGeom>
          <a:noFill/>
          <a:ln/>
        </p:spPr>
        <p:txBody>
          <a:bodyPr wrap="square" lIns="0" tIns="0" rIns="0" bIns="0" rtlCol="0" anchor="ctr"/>
          <a:lstStyle/>
          <a:p>
            <a:pPr indent="0" marL="0">
              <a:buNone/>
            </a:pPr>
            <a:r>
              <a:rPr lang="en-US" sz="1800" b="1" dirty="0">
                <a:solidFill>
                  <a:srgbClr val="2C5AA0"/>
                </a:solidFill>
                <a:latin typeface="BIZ UDPGothic" pitchFamily="34" charset="0"/>
                <a:ea typeface="BIZ UDPGothic" pitchFamily="34" charset="-122"/>
                <a:cs typeface="BIZ UDPGothic" pitchFamily="34" charset="-120"/>
              </a:rPr>
              <a:t>カフェインは午後2時まで</a:t>
            </a:r>
            <a:endParaRPr lang="en-US" sz="1800" dirty="0"/>
          </a:p>
        </p:txBody>
      </p:sp>
      <p:sp>
        <p:nvSpPr>
          <p:cNvPr id="21" name="Text 19"/>
          <p:cNvSpPr/>
          <p:nvPr/>
        </p:nvSpPr>
        <p:spPr>
          <a:xfrm>
            <a:off x="1828800" y="3172968"/>
            <a:ext cx="6675120" cy="365760"/>
          </a:xfrm>
          <a:prstGeom prst="rect">
            <a:avLst/>
          </a:prstGeom>
          <a:noFill/>
          <a:ln/>
        </p:spPr>
        <p:txBody>
          <a:bodyPr wrap="square" lIns="0" tIns="0" rIns="0" bIns="0" rtlCol="0" anchor="ctr"/>
          <a:lstStyle/>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カフェインの半減期は5〜7時間</a:t>
            </a:r>
            <a:endParaRPr lang="en-US" sz="1400" dirty="0"/>
          </a:p>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午後遅くのコーヒーや緑茶は睡眠に影響する</a:t>
            </a:r>
            <a:endParaRPr lang="en-US" sz="1400" dirty="0"/>
          </a:p>
        </p:txBody>
      </p:sp>
      <p:sp>
        <p:nvSpPr>
          <p:cNvPr id="22" name="Shape 20"/>
          <p:cNvSpPr/>
          <p:nvPr/>
        </p:nvSpPr>
        <p:spPr>
          <a:xfrm>
            <a:off x="457200" y="3703320"/>
            <a:ext cx="8229600" cy="777240"/>
          </a:xfrm>
          <a:prstGeom prst="rect">
            <a:avLst>
              <a:gd name="adj" fmla="val 11765"/>
            </a:avLst>
          </a:prstGeom>
          <a:solidFill>
            <a:srgbClr val="FFFFFF"/>
          </a:solidFill>
          <a:ln/>
          <a:effectLst>
            <a:outerShdw sx="100000" sy="100000" kx="0" ky="0" algn="bl" rotWithShape="0" blurRad="50800" dist="25400" dir="8100000">
              <a:srgbClr val="000000">
                <a:alpha val="12000"/>
              </a:srgbClr>
            </a:outerShdw>
          </a:effectLst>
        </p:spPr>
      </p:sp>
      <p:sp>
        <p:nvSpPr>
          <p:cNvPr id="23" name="Shape 21"/>
          <p:cNvSpPr/>
          <p:nvPr/>
        </p:nvSpPr>
        <p:spPr>
          <a:xfrm>
            <a:off x="457200" y="3703320"/>
            <a:ext cx="109728" cy="777240"/>
          </a:xfrm>
          <a:prstGeom prst="rect">
            <a:avLst>
              <a:gd name="adj" fmla="val 41667"/>
            </a:avLst>
          </a:prstGeom>
          <a:solidFill>
            <a:srgbClr val="2C5AA0"/>
          </a:solidFill>
          <a:ln/>
        </p:spPr>
      </p:sp>
      <p:sp>
        <p:nvSpPr>
          <p:cNvPr id="24" name="Text 22"/>
          <p:cNvSpPr/>
          <p:nvPr/>
        </p:nvSpPr>
        <p:spPr>
          <a:xfrm>
            <a:off x="640080" y="3749040"/>
            <a:ext cx="457200" cy="685800"/>
          </a:xfrm>
          <a:prstGeom prst="rect">
            <a:avLst/>
          </a:prstGeom>
          <a:noFill/>
          <a:ln/>
        </p:spPr>
        <p:txBody>
          <a:bodyPr wrap="square" lIns="0" tIns="0" rIns="0" bIns="0" rtlCol="0" anchor="ctr"/>
          <a:lstStyle/>
          <a:p>
            <a:pPr algn="ctr" indent="0" marL="0">
              <a:buNone/>
            </a:pPr>
            <a:r>
              <a:rPr lang="en-US" sz="3000" b="1" dirty="0">
                <a:solidFill>
                  <a:srgbClr val="2C5AA0"/>
                </a:solidFill>
                <a:latin typeface="Segoe UI" pitchFamily="34" charset="0"/>
                <a:ea typeface="Segoe UI" pitchFamily="34" charset="-122"/>
                <a:cs typeface="Segoe UI" pitchFamily="34" charset="-120"/>
              </a:rPr>
              <a:t>4</a:t>
            </a:r>
            <a:endParaRPr lang="en-US" sz="3000" dirty="0"/>
          </a:p>
        </p:txBody>
      </p:sp>
      <p:sp>
        <p:nvSpPr>
          <p:cNvPr id="25" name="Text 23"/>
          <p:cNvSpPr/>
          <p:nvPr/>
        </p:nvSpPr>
        <p:spPr>
          <a:xfrm>
            <a:off x="1188720" y="3794760"/>
            <a:ext cx="548640" cy="59436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26" name="Text 24"/>
          <p:cNvSpPr/>
          <p:nvPr/>
        </p:nvSpPr>
        <p:spPr>
          <a:xfrm>
            <a:off x="1828800" y="3749040"/>
            <a:ext cx="2743200" cy="320040"/>
          </a:xfrm>
          <a:prstGeom prst="rect">
            <a:avLst/>
          </a:prstGeom>
          <a:noFill/>
          <a:ln/>
        </p:spPr>
        <p:txBody>
          <a:bodyPr wrap="square" lIns="0" tIns="0" rIns="0" bIns="0" rtlCol="0" anchor="ctr"/>
          <a:lstStyle/>
          <a:p>
            <a:pPr indent="0" marL="0">
              <a:buNone/>
            </a:pPr>
            <a:r>
              <a:rPr lang="en-US" sz="1800" b="1" dirty="0">
                <a:solidFill>
                  <a:srgbClr val="2C5AA0"/>
                </a:solidFill>
                <a:latin typeface="BIZ UDPGothic" pitchFamily="34" charset="0"/>
                <a:ea typeface="BIZ UDPGothic" pitchFamily="34" charset="-122"/>
                <a:cs typeface="BIZ UDPGothic" pitchFamily="34" charset="-120"/>
              </a:rPr>
              <a:t>寝室は暗く涼しく</a:t>
            </a:r>
            <a:endParaRPr lang="en-US" sz="1800" dirty="0"/>
          </a:p>
        </p:txBody>
      </p:sp>
      <p:sp>
        <p:nvSpPr>
          <p:cNvPr id="27" name="Text 25"/>
          <p:cNvSpPr/>
          <p:nvPr/>
        </p:nvSpPr>
        <p:spPr>
          <a:xfrm>
            <a:off x="1828800" y="4087368"/>
            <a:ext cx="6675120" cy="365760"/>
          </a:xfrm>
          <a:prstGeom prst="rect">
            <a:avLst/>
          </a:prstGeom>
          <a:noFill/>
          <a:ln/>
        </p:spPr>
        <p:txBody>
          <a:bodyPr wrap="square" lIns="0" tIns="0" rIns="0" bIns="0" rtlCol="0" anchor="ctr"/>
          <a:lstStyle/>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室温は18〜22℃が理想的</a:t>
            </a:r>
            <a:endParaRPr lang="en-US" sz="1400" dirty="0"/>
          </a:p>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遮光カーテンの使用も効果的</a:t>
            </a:r>
            <a:endParaRPr lang="en-US" sz="1400" dirty="0"/>
          </a:p>
        </p:txBody>
      </p:sp>
      <p:sp>
        <p:nvSpPr>
          <p:cNvPr id="28" name="Shape 26"/>
          <p:cNvSpPr/>
          <p:nvPr/>
        </p:nvSpPr>
        <p:spPr>
          <a:xfrm>
            <a:off x="0" y="4800600"/>
            <a:ext cx="9144000" cy="347472"/>
          </a:xfrm>
          <a:prstGeom prst="rect">
            <a:avLst/>
          </a:prstGeom>
          <a:solidFill>
            <a:srgbClr val="1B3A5C"/>
          </a:solidFill>
          <a:ln/>
        </p:spPr>
      </p:sp>
      <p:sp>
        <p:nvSpPr>
          <p:cNvPr id="29" name="Text 27"/>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#15</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DC3545"/>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やってはいけないこと ― 逆効果な行動</a:t>
            </a:r>
            <a:endParaRPr lang="en-US" sz="2600" dirty="0"/>
          </a:p>
        </p:txBody>
      </p:sp>
      <p:sp>
        <p:nvSpPr>
          <p:cNvPr id="4" name="Shape 2"/>
          <p:cNvSpPr/>
          <p:nvPr/>
        </p:nvSpPr>
        <p:spPr>
          <a:xfrm>
            <a:off x="457200" y="960120"/>
            <a:ext cx="8229600" cy="777240"/>
          </a:xfrm>
          <a:prstGeom prst="rect">
            <a:avLst>
              <a:gd name="adj" fmla="val 11765"/>
            </a:avLst>
          </a:prstGeom>
          <a:solidFill>
            <a:srgbClr val="F8D7DA"/>
          </a:solidFill>
          <a:ln/>
          <a:effectLst>
            <a:outerShdw sx="100000" sy="100000" kx="0" ky="0" algn="bl" rotWithShape="0" blurRad="50800" dist="25400" dir="8100000">
              <a:srgbClr val="000000">
                <a:alpha val="12000"/>
              </a:srgbClr>
            </a:outerShdw>
          </a:effectLst>
        </p:spPr>
      </p:sp>
      <p:sp>
        <p:nvSpPr>
          <p:cNvPr id="5" name="Shape 3"/>
          <p:cNvSpPr/>
          <p:nvPr/>
        </p:nvSpPr>
        <p:spPr>
          <a:xfrm>
            <a:off x="457200" y="960120"/>
            <a:ext cx="109728" cy="777240"/>
          </a:xfrm>
          <a:prstGeom prst="rect">
            <a:avLst>
              <a:gd name="adj" fmla="val 41667"/>
            </a:avLst>
          </a:prstGeom>
          <a:solidFill>
            <a:srgbClr val="DC3545"/>
          </a:solidFill>
          <a:ln/>
        </p:spPr>
      </p:sp>
      <p:sp>
        <p:nvSpPr>
          <p:cNvPr id="6" name="Text 4"/>
          <p:cNvSpPr/>
          <p:nvPr/>
        </p:nvSpPr>
        <p:spPr>
          <a:xfrm>
            <a:off x="640080" y="1051560"/>
            <a:ext cx="548640" cy="59436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7" name="Text 5"/>
          <p:cNvSpPr/>
          <p:nvPr/>
        </p:nvSpPr>
        <p:spPr>
          <a:xfrm>
            <a:off x="1280160" y="1005840"/>
            <a:ext cx="3200400" cy="320040"/>
          </a:xfrm>
          <a:prstGeom prst="rect">
            <a:avLst/>
          </a:prstGeom>
          <a:noFill/>
          <a:ln/>
        </p:spPr>
        <p:txBody>
          <a:bodyPr wrap="square" lIns="0" tIns="0" rIns="0" bIns="0" rtlCol="0" anchor="ctr"/>
          <a:lstStyle/>
          <a:p>
            <a:pPr indent="0" marL="0">
              <a:buNone/>
            </a:pPr>
            <a:r>
              <a:rPr lang="en-US" sz="1800" b="1" dirty="0">
                <a:solidFill>
                  <a:srgbClr val="DC3545"/>
                </a:solidFill>
                <a:latin typeface="BIZ UDPGothic" pitchFamily="34" charset="0"/>
                <a:ea typeface="BIZ UDPGothic" pitchFamily="34" charset="-122"/>
                <a:cs typeface="BIZ UDPGothic" pitchFamily="34" charset="-120"/>
              </a:rPr>
              <a:t>眠れないのに布団にいる</a:t>
            </a:r>
            <a:endParaRPr lang="en-US" sz="1800" dirty="0"/>
          </a:p>
        </p:txBody>
      </p:sp>
      <p:sp>
        <p:nvSpPr>
          <p:cNvPr id="8" name="Text 6"/>
          <p:cNvSpPr/>
          <p:nvPr/>
        </p:nvSpPr>
        <p:spPr>
          <a:xfrm>
            <a:off x="1280160" y="1344168"/>
            <a:ext cx="7132320" cy="365760"/>
          </a:xfrm>
          <a:prstGeom prst="rect">
            <a:avLst/>
          </a:prstGeom>
          <a:noFill/>
          <a:ln/>
        </p:spPr>
        <p:txBody>
          <a:bodyPr wrap="square" lIns="0" tIns="0" rIns="0" bIns="0" rtlCol="0" anchor="ctr"/>
          <a:lstStyle/>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脳が「ベッド＝眠れない場所」と学習</a:t>
            </a:r>
            <a:endParaRPr lang="en-US" sz="1400" dirty="0"/>
          </a:p>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 20分眠れなければ一度布団を出る</a:t>
            </a:r>
            <a:endParaRPr lang="en-US" sz="1400" dirty="0"/>
          </a:p>
        </p:txBody>
      </p:sp>
      <p:sp>
        <p:nvSpPr>
          <p:cNvPr id="9" name="Shape 7"/>
          <p:cNvSpPr/>
          <p:nvPr/>
        </p:nvSpPr>
        <p:spPr>
          <a:xfrm>
            <a:off x="457200" y="1874520"/>
            <a:ext cx="8229600" cy="777240"/>
          </a:xfrm>
          <a:prstGeom prst="rect">
            <a:avLst>
              <a:gd name="adj" fmla="val 11765"/>
            </a:avLst>
          </a:prstGeom>
          <a:solidFill>
            <a:srgbClr val="F8D7DA"/>
          </a:solidFill>
          <a:ln/>
          <a:effectLst>
            <a:outerShdw sx="100000" sy="100000" kx="0" ky="0" algn="bl" rotWithShape="0" blurRad="50800" dist="25400" dir="8100000">
              <a:srgbClr val="000000">
                <a:alpha val="12000"/>
              </a:srgbClr>
            </a:outerShdw>
          </a:effectLst>
        </p:spPr>
      </p:sp>
      <p:sp>
        <p:nvSpPr>
          <p:cNvPr id="10" name="Shape 8"/>
          <p:cNvSpPr/>
          <p:nvPr/>
        </p:nvSpPr>
        <p:spPr>
          <a:xfrm>
            <a:off x="457200" y="1874520"/>
            <a:ext cx="109728" cy="777240"/>
          </a:xfrm>
          <a:prstGeom prst="rect">
            <a:avLst>
              <a:gd name="adj" fmla="val 41667"/>
            </a:avLst>
          </a:prstGeom>
          <a:solidFill>
            <a:srgbClr val="DC3545"/>
          </a:solidFill>
          <a:ln/>
        </p:spPr>
      </p:sp>
      <p:sp>
        <p:nvSpPr>
          <p:cNvPr id="11" name="Text 9"/>
          <p:cNvSpPr/>
          <p:nvPr/>
        </p:nvSpPr>
        <p:spPr>
          <a:xfrm>
            <a:off x="640080" y="1965960"/>
            <a:ext cx="548640" cy="59436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2" name="Text 10"/>
          <p:cNvSpPr/>
          <p:nvPr/>
        </p:nvSpPr>
        <p:spPr>
          <a:xfrm>
            <a:off x="1280160" y="1920240"/>
            <a:ext cx="3200400" cy="320040"/>
          </a:xfrm>
          <a:prstGeom prst="rect">
            <a:avLst/>
          </a:prstGeom>
          <a:noFill/>
          <a:ln/>
        </p:spPr>
        <p:txBody>
          <a:bodyPr wrap="square" lIns="0" tIns="0" rIns="0" bIns="0" rtlCol="0" anchor="ctr"/>
          <a:lstStyle/>
          <a:p>
            <a:pPr indent="0" marL="0">
              <a:buNone/>
            </a:pPr>
            <a:r>
              <a:rPr lang="en-US" sz="1800" b="1" dirty="0">
                <a:solidFill>
                  <a:srgbClr val="DC3545"/>
                </a:solidFill>
                <a:latin typeface="BIZ UDPGothic" pitchFamily="34" charset="0"/>
                <a:ea typeface="BIZ UDPGothic" pitchFamily="34" charset="-122"/>
                <a:cs typeface="BIZ UDPGothic" pitchFamily="34" charset="-120"/>
              </a:rPr>
              <a:t>アルコールで眠ろうとする</a:t>
            </a:r>
            <a:endParaRPr lang="en-US" sz="1800" dirty="0"/>
          </a:p>
        </p:txBody>
      </p:sp>
      <p:sp>
        <p:nvSpPr>
          <p:cNvPr id="13" name="Text 11"/>
          <p:cNvSpPr/>
          <p:nvPr/>
        </p:nvSpPr>
        <p:spPr>
          <a:xfrm>
            <a:off x="1280160" y="2258568"/>
            <a:ext cx="7132320" cy="365760"/>
          </a:xfrm>
          <a:prstGeom prst="rect">
            <a:avLst/>
          </a:prstGeom>
          <a:noFill/>
          <a:ln/>
        </p:spPr>
        <p:txBody>
          <a:bodyPr wrap="square" lIns="0" tIns="0" rIns="0" bIns="0" rtlCol="0" anchor="ctr"/>
          <a:lstStyle/>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寝つきはよくなるが睡眠の質を大幅に下げる</a:t>
            </a:r>
            <a:endParaRPr lang="en-US" sz="1400" dirty="0"/>
          </a:p>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 中途覚醒が増え浅い眠りばかりに</a:t>
            </a:r>
            <a:endParaRPr lang="en-US" sz="1400" dirty="0"/>
          </a:p>
        </p:txBody>
      </p:sp>
      <p:sp>
        <p:nvSpPr>
          <p:cNvPr id="14" name="Shape 12"/>
          <p:cNvSpPr/>
          <p:nvPr/>
        </p:nvSpPr>
        <p:spPr>
          <a:xfrm>
            <a:off x="457200" y="2788920"/>
            <a:ext cx="8229600" cy="777240"/>
          </a:xfrm>
          <a:prstGeom prst="rect">
            <a:avLst>
              <a:gd name="adj" fmla="val 11765"/>
            </a:avLst>
          </a:prstGeom>
          <a:solidFill>
            <a:srgbClr val="F8D7DA"/>
          </a:solidFill>
          <a:ln/>
          <a:effectLst>
            <a:outerShdw sx="100000" sy="100000" kx="0" ky="0" algn="bl" rotWithShape="0" blurRad="50800" dist="25400" dir="8100000">
              <a:srgbClr val="000000">
                <a:alpha val="12000"/>
              </a:srgbClr>
            </a:outerShdw>
          </a:effectLst>
        </p:spPr>
      </p:sp>
      <p:sp>
        <p:nvSpPr>
          <p:cNvPr id="15" name="Shape 13"/>
          <p:cNvSpPr/>
          <p:nvPr/>
        </p:nvSpPr>
        <p:spPr>
          <a:xfrm>
            <a:off x="457200" y="2788920"/>
            <a:ext cx="109728" cy="777240"/>
          </a:xfrm>
          <a:prstGeom prst="rect">
            <a:avLst>
              <a:gd name="adj" fmla="val 41667"/>
            </a:avLst>
          </a:prstGeom>
          <a:solidFill>
            <a:srgbClr val="DC3545"/>
          </a:solidFill>
          <a:ln/>
        </p:spPr>
      </p:sp>
      <p:sp>
        <p:nvSpPr>
          <p:cNvPr id="16" name="Text 14"/>
          <p:cNvSpPr/>
          <p:nvPr/>
        </p:nvSpPr>
        <p:spPr>
          <a:xfrm>
            <a:off x="640080" y="2880360"/>
            <a:ext cx="548640" cy="59436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7" name="Text 15"/>
          <p:cNvSpPr/>
          <p:nvPr/>
        </p:nvSpPr>
        <p:spPr>
          <a:xfrm>
            <a:off x="1280160" y="2834640"/>
            <a:ext cx="3200400" cy="320040"/>
          </a:xfrm>
          <a:prstGeom prst="rect">
            <a:avLst/>
          </a:prstGeom>
          <a:noFill/>
          <a:ln/>
        </p:spPr>
        <p:txBody>
          <a:bodyPr wrap="square" lIns="0" tIns="0" rIns="0" bIns="0" rtlCol="0" anchor="ctr"/>
          <a:lstStyle/>
          <a:p>
            <a:pPr indent="0" marL="0">
              <a:buNone/>
            </a:pPr>
            <a:r>
              <a:rPr lang="en-US" sz="1800" b="1" dirty="0">
                <a:solidFill>
                  <a:srgbClr val="DC3545"/>
                </a:solidFill>
                <a:latin typeface="BIZ UDPGothic" pitchFamily="34" charset="0"/>
                <a:ea typeface="BIZ UDPGothic" pitchFamily="34" charset="-122"/>
                <a:cs typeface="BIZ UDPGothic" pitchFamily="34" charset="-120"/>
              </a:rPr>
              <a:t>休日に寝だめする</a:t>
            </a:r>
            <a:endParaRPr lang="en-US" sz="1800" dirty="0"/>
          </a:p>
        </p:txBody>
      </p:sp>
      <p:sp>
        <p:nvSpPr>
          <p:cNvPr id="18" name="Text 16"/>
          <p:cNvSpPr/>
          <p:nvPr/>
        </p:nvSpPr>
        <p:spPr>
          <a:xfrm>
            <a:off x="1280160" y="3172968"/>
            <a:ext cx="7132320" cy="365760"/>
          </a:xfrm>
          <a:prstGeom prst="rect">
            <a:avLst/>
          </a:prstGeom>
          <a:noFill/>
          <a:ln/>
        </p:spPr>
        <p:txBody>
          <a:bodyPr wrap="square" lIns="0" tIns="0" rIns="0" bIns="0" rtlCol="0" anchor="ctr"/>
          <a:lstStyle/>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2時間以上の寝坊は体内時計を狂わせる</a:t>
            </a:r>
            <a:endParaRPr lang="en-US" sz="1400" dirty="0"/>
          </a:p>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 起床時間は毎日なるべく一定に</a:t>
            </a:r>
            <a:endParaRPr lang="en-US" sz="1400" dirty="0"/>
          </a:p>
        </p:txBody>
      </p:sp>
      <p:sp>
        <p:nvSpPr>
          <p:cNvPr id="19" name="Shape 17"/>
          <p:cNvSpPr/>
          <p:nvPr/>
        </p:nvSpPr>
        <p:spPr>
          <a:xfrm>
            <a:off x="457200" y="3703320"/>
            <a:ext cx="8229600" cy="777240"/>
          </a:xfrm>
          <a:prstGeom prst="rect">
            <a:avLst>
              <a:gd name="adj" fmla="val 11765"/>
            </a:avLst>
          </a:prstGeom>
          <a:solidFill>
            <a:srgbClr val="F8D7DA"/>
          </a:solidFill>
          <a:ln/>
          <a:effectLst>
            <a:outerShdw sx="100000" sy="100000" kx="0" ky="0" algn="bl" rotWithShape="0" blurRad="50800" dist="25400" dir="8100000">
              <a:srgbClr val="000000">
                <a:alpha val="12000"/>
              </a:srgbClr>
            </a:outerShdw>
          </a:effectLst>
        </p:spPr>
      </p:sp>
      <p:sp>
        <p:nvSpPr>
          <p:cNvPr id="20" name="Shape 18"/>
          <p:cNvSpPr/>
          <p:nvPr/>
        </p:nvSpPr>
        <p:spPr>
          <a:xfrm>
            <a:off x="457200" y="3703320"/>
            <a:ext cx="109728" cy="777240"/>
          </a:xfrm>
          <a:prstGeom prst="rect">
            <a:avLst>
              <a:gd name="adj" fmla="val 41667"/>
            </a:avLst>
          </a:prstGeom>
          <a:solidFill>
            <a:srgbClr val="DC3545"/>
          </a:solidFill>
          <a:ln/>
        </p:spPr>
      </p:sp>
      <p:sp>
        <p:nvSpPr>
          <p:cNvPr id="21" name="Text 19"/>
          <p:cNvSpPr/>
          <p:nvPr/>
        </p:nvSpPr>
        <p:spPr>
          <a:xfrm>
            <a:off x="640080" y="3794760"/>
            <a:ext cx="548640" cy="59436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22" name="Text 20"/>
          <p:cNvSpPr/>
          <p:nvPr/>
        </p:nvSpPr>
        <p:spPr>
          <a:xfrm>
            <a:off x="1280160" y="3749040"/>
            <a:ext cx="3200400" cy="320040"/>
          </a:xfrm>
          <a:prstGeom prst="rect">
            <a:avLst/>
          </a:prstGeom>
          <a:noFill/>
          <a:ln/>
        </p:spPr>
        <p:txBody>
          <a:bodyPr wrap="square" lIns="0" tIns="0" rIns="0" bIns="0" rtlCol="0" anchor="ctr"/>
          <a:lstStyle/>
          <a:p>
            <a:pPr indent="0" marL="0">
              <a:buNone/>
            </a:pPr>
            <a:r>
              <a:rPr lang="en-US" sz="1800" b="1" dirty="0">
                <a:solidFill>
                  <a:srgbClr val="DC3545"/>
                </a:solidFill>
                <a:latin typeface="BIZ UDPGothic" pitchFamily="34" charset="0"/>
                <a:ea typeface="BIZ UDPGothic" pitchFamily="34" charset="-122"/>
                <a:cs typeface="BIZ UDPGothic" pitchFamily="34" charset="-120"/>
              </a:rPr>
              <a:t>市販の睡眠薬に頼り続ける</a:t>
            </a:r>
            <a:endParaRPr lang="en-US" sz="1800" dirty="0"/>
          </a:p>
        </p:txBody>
      </p:sp>
      <p:sp>
        <p:nvSpPr>
          <p:cNvPr id="23" name="Text 21"/>
          <p:cNvSpPr/>
          <p:nvPr/>
        </p:nvSpPr>
        <p:spPr>
          <a:xfrm>
            <a:off x="1280160" y="4087368"/>
            <a:ext cx="7132320" cy="365760"/>
          </a:xfrm>
          <a:prstGeom prst="rect">
            <a:avLst/>
          </a:prstGeom>
          <a:noFill/>
          <a:ln/>
        </p:spPr>
        <p:txBody>
          <a:bodyPr wrap="square" lIns="0" tIns="0" rIns="0" bIns="0" rtlCol="0" anchor="ctr"/>
          <a:lstStyle/>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市販品は抗ヒスタミン薬で連用すると効果減弱</a:t>
            </a:r>
            <a:endParaRPr lang="en-US" sz="1400" dirty="0"/>
          </a:p>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 2週間以上続く不眠は受診を</a:t>
            </a:r>
            <a:endParaRPr lang="en-US" sz="1400" dirty="0"/>
          </a:p>
        </p:txBody>
      </p:sp>
      <p:sp>
        <p:nvSpPr>
          <p:cNvPr id="24" name="Shape 22"/>
          <p:cNvSpPr/>
          <p:nvPr/>
        </p:nvSpPr>
        <p:spPr>
          <a:xfrm>
            <a:off x="0" y="4800600"/>
            <a:ext cx="9144000" cy="347472"/>
          </a:xfrm>
          <a:prstGeom prst="rect">
            <a:avLst/>
          </a:prstGeom>
          <a:solidFill>
            <a:srgbClr val="1B3A5C"/>
          </a:solidFill>
          <a:ln/>
        </p:spPr>
      </p:sp>
      <p:sp>
        <p:nvSpPr>
          <p:cNvPr id="25" name="Text 23"/>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#15</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受診の目安 ― 緊急度3段階</a:t>
            </a:r>
            <a:endParaRPr lang="en-US" sz="2600" dirty="0"/>
          </a:p>
        </p:txBody>
      </p:sp>
      <p:sp>
        <p:nvSpPr>
          <p:cNvPr id="4" name="Shape 2"/>
          <p:cNvSpPr/>
          <p:nvPr/>
        </p:nvSpPr>
        <p:spPr>
          <a:xfrm>
            <a:off x="457200" y="1051560"/>
            <a:ext cx="8229600" cy="1005840"/>
          </a:xfrm>
          <a:prstGeom prst="rect">
            <a:avLst>
              <a:gd name="adj" fmla="val 9091"/>
            </a:avLst>
          </a:prstGeom>
          <a:solidFill>
            <a:srgbClr val="F8D7DA"/>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51560"/>
            <a:ext cx="109728" cy="1005840"/>
          </a:xfrm>
          <a:prstGeom prst="rect">
            <a:avLst>
              <a:gd name="adj" fmla="val 41667"/>
            </a:avLst>
          </a:prstGeom>
          <a:solidFill>
            <a:srgbClr val="DC3545"/>
          </a:solidFill>
          <a:ln/>
        </p:spPr>
      </p:sp>
      <p:sp>
        <p:nvSpPr>
          <p:cNvPr id="6" name="Text 4"/>
          <p:cNvSpPr/>
          <p:nvPr/>
        </p:nvSpPr>
        <p:spPr>
          <a:xfrm>
            <a:off x="731520" y="1097280"/>
            <a:ext cx="2743200" cy="411480"/>
          </a:xfrm>
          <a:prstGeom prst="rect">
            <a:avLst/>
          </a:prstGeom>
          <a:noFill/>
          <a:ln/>
        </p:spPr>
        <p:txBody>
          <a:bodyPr wrap="square" lIns="0" tIns="0" rIns="0" bIns="0" rtlCol="0" anchor="ctr"/>
          <a:lstStyle/>
          <a:p>
            <a:pPr indent="0" marL="0">
              <a:buNone/>
            </a:pPr>
            <a:r>
              <a:rPr lang="en-US" sz="2100" b="1" dirty="0">
                <a:solidFill>
                  <a:srgbClr val="DC3545"/>
                </a:solidFill>
                <a:latin typeface="BIZ UDPGothic" pitchFamily="34" charset="0"/>
                <a:ea typeface="BIZ UDPGothic" pitchFamily="34" charset="-122"/>
                <a:cs typeface="BIZ UDPGothic" pitchFamily="34" charset="-120"/>
              </a:rPr>
              <a:t>🔴 すぐ受診</a:t>
            </a:r>
            <a:endParaRPr lang="en-US" sz="2100" dirty="0"/>
          </a:p>
        </p:txBody>
      </p:sp>
      <p:sp>
        <p:nvSpPr>
          <p:cNvPr id="7" name="Text 5"/>
          <p:cNvSpPr/>
          <p:nvPr/>
        </p:nvSpPr>
        <p:spPr>
          <a:xfrm>
            <a:off x="731520" y="1508760"/>
            <a:ext cx="4572000" cy="502920"/>
          </a:xfrm>
          <a:prstGeom prst="rect">
            <a:avLst/>
          </a:prstGeom>
          <a:noFill/>
          <a:ln/>
        </p:spPr>
        <p:txBody>
          <a:bodyPr wrap="square" lIns="0" tIns="0" rIns="0" bIns="0" rtlCol="0" anchor="ctr"/>
          <a:lstStyle/>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不眠＋強いうつ症状・希死念慮</a:t>
            </a:r>
            <a:endParaRPr lang="en-US" sz="1500" dirty="0"/>
          </a:p>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日中の眠気で事故を起こしかけた</a:t>
            </a:r>
            <a:endParaRPr lang="en-US" sz="1500" dirty="0"/>
          </a:p>
        </p:txBody>
      </p:sp>
      <p:sp>
        <p:nvSpPr>
          <p:cNvPr id="8" name="Text 6"/>
          <p:cNvSpPr/>
          <p:nvPr/>
        </p:nvSpPr>
        <p:spPr>
          <a:xfrm>
            <a:off x="5486400" y="1188720"/>
            <a:ext cx="3017520" cy="731520"/>
          </a:xfrm>
          <a:prstGeom prst="rect">
            <a:avLst/>
          </a:prstGeom>
          <a:noFill/>
          <a:ln/>
        </p:spPr>
        <p:txBody>
          <a:bodyPr wrap="square" lIns="0" tIns="0" rIns="0" bIns="0" rtlCol="0" anchor="ctr"/>
          <a:lstStyle/>
          <a:p>
            <a:pPr indent="0" marL="0">
              <a:lnSpc>
                <a:spcPct val="115000"/>
              </a:lnSpc>
              <a:buNone/>
            </a:pPr>
            <a:r>
              <a:rPr lang="en-US" sz="1600" b="1" dirty="0">
                <a:solidFill>
                  <a:srgbClr val="DC3545"/>
                </a:solidFill>
                <a:latin typeface="BIZ UDPGothic" pitchFamily="34" charset="0"/>
                <a:ea typeface="BIZ UDPGothic" pitchFamily="34" charset="-122"/>
                <a:cs typeface="BIZ UDPGothic" pitchFamily="34" charset="-120"/>
              </a:rPr>
              <a:t>精神科・心療内科</a:t>
            </a:r>
            <a:endParaRPr lang="en-US" sz="1600" dirty="0"/>
          </a:p>
          <a:p>
            <a:pPr indent="0" marL="0">
              <a:lnSpc>
                <a:spcPct val="115000"/>
              </a:lnSpc>
              <a:buNone/>
            </a:pPr>
            <a:r>
              <a:rPr lang="en-US" sz="1600" b="1" dirty="0">
                <a:solidFill>
                  <a:srgbClr val="DC3545"/>
                </a:solidFill>
                <a:latin typeface="BIZ UDPGothic" pitchFamily="34" charset="0"/>
                <a:ea typeface="BIZ UDPGothic" pitchFamily="34" charset="-122"/>
                <a:cs typeface="BIZ UDPGothic" pitchFamily="34" charset="-120"/>
              </a:rPr>
              <a:t>を受診</a:t>
            </a:r>
            <a:endParaRPr lang="en-US" sz="1600" dirty="0"/>
          </a:p>
        </p:txBody>
      </p:sp>
      <p:sp>
        <p:nvSpPr>
          <p:cNvPr id="9" name="Shape 7"/>
          <p:cNvSpPr/>
          <p:nvPr/>
        </p:nvSpPr>
        <p:spPr>
          <a:xfrm>
            <a:off x="457200" y="2240280"/>
            <a:ext cx="8229600" cy="1005840"/>
          </a:xfrm>
          <a:prstGeom prst="rect">
            <a:avLst>
              <a:gd name="adj" fmla="val 9091"/>
            </a:avLst>
          </a:prstGeom>
          <a:solidFill>
            <a:srgbClr val="FFF3CD"/>
          </a:solidFill>
          <a:ln/>
          <a:effectLst>
            <a:outerShdw sx="100000" sy="100000" kx="0" ky="0" algn="bl" rotWithShape="0" blurRad="50800" dist="25400" dir="8100000">
              <a:srgbClr val="000000">
                <a:alpha val="12000"/>
              </a:srgbClr>
            </a:outerShdw>
          </a:effectLst>
        </p:spPr>
      </p:sp>
      <p:sp>
        <p:nvSpPr>
          <p:cNvPr id="10" name="Shape 8"/>
          <p:cNvSpPr/>
          <p:nvPr/>
        </p:nvSpPr>
        <p:spPr>
          <a:xfrm>
            <a:off x="457200" y="2240280"/>
            <a:ext cx="109728" cy="1005840"/>
          </a:xfrm>
          <a:prstGeom prst="rect">
            <a:avLst>
              <a:gd name="adj" fmla="val 41667"/>
            </a:avLst>
          </a:prstGeom>
          <a:solidFill>
            <a:srgbClr val="856404"/>
          </a:solidFill>
          <a:ln/>
        </p:spPr>
      </p:sp>
      <p:sp>
        <p:nvSpPr>
          <p:cNvPr id="11" name="Text 9"/>
          <p:cNvSpPr/>
          <p:nvPr/>
        </p:nvSpPr>
        <p:spPr>
          <a:xfrm>
            <a:off x="731520" y="2286000"/>
            <a:ext cx="2743200" cy="411480"/>
          </a:xfrm>
          <a:prstGeom prst="rect">
            <a:avLst/>
          </a:prstGeom>
          <a:noFill/>
          <a:ln/>
        </p:spPr>
        <p:txBody>
          <a:bodyPr wrap="square" lIns="0" tIns="0" rIns="0" bIns="0" rtlCol="0" anchor="ctr"/>
          <a:lstStyle/>
          <a:p>
            <a:pPr indent="0" marL="0">
              <a:buNone/>
            </a:pPr>
            <a:r>
              <a:rPr lang="en-US" sz="2100" b="1" dirty="0">
                <a:solidFill>
                  <a:srgbClr val="856404"/>
                </a:solidFill>
                <a:latin typeface="BIZ UDPGothic" pitchFamily="34" charset="0"/>
                <a:ea typeface="BIZ UDPGothic" pitchFamily="34" charset="-122"/>
                <a:cs typeface="BIZ UDPGothic" pitchFamily="34" charset="-120"/>
              </a:rPr>
              <a:t>🟡 早めに受診</a:t>
            </a:r>
            <a:endParaRPr lang="en-US" sz="2100" dirty="0"/>
          </a:p>
        </p:txBody>
      </p:sp>
      <p:sp>
        <p:nvSpPr>
          <p:cNvPr id="12" name="Text 10"/>
          <p:cNvSpPr/>
          <p:nvPr/>
        </p:nvSpPr>
        <p:spPr>
          <a:xfrm>
            <a:off x="731520" y="2697480"/>
            <a:ext cx="4572000" cy="502920"/>
          </a:xfrm>
          <a:prstGeom prst="rect">
            <a:avLst/>
          </a:prstGeom>
          <a:noFill/>
          <a:ln/>
        </p:spPr>
        <p:txBody>
          <a:bodyPr wrap="square" lIns="0" tIns="0" rIns="0" bIns="0" rtlCol="0" anchor="ctr"/>
          <a:lstStyle/>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不眠が1ヶ月以上続いている</a:t>
            </a:r>
            <a:endParaRPr lang="en-US" sz="1500" dirty="0"/>
          </a:p>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日中の生活に支障が出ている</a:t>
            </a:r>
            <a:endParaRPr lang="en-US" sz="1500" dirty="0"/>
          </a:p>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呼吸停止・大声を指摘された</a:t>
            </a:r>
            <a:endParaRPr lang="en-US" sz="1500" dirty="0"/>
          </a:p>
        </p:txBody>
      </p:sp>
      <p:sp>
        <p:nvSpPr>
          <p:cNvPr id="13" name="Text 11"/>
          <p:cNvSpPr/>
          <p:nvPr/>
        </p:nvSpPr>
        <p:spPr>
          <a:xfrm>
            <a:off x="5486400" y="2377440"/>
            <a:ext cx="3017520" cy="731520"/>
          </a:xfrm>
          <a:prstGeom prst="rect">
            <a:avLst/>
          </a:prstGeom>
          <a:noFill/>
          <a:ln/>
        </p:spPr>
        <p:txBody>
          <a:bodyPr wrap="square" lIns="0" tIns="0" rIns="0" bIns="0" rtlCol="0" anchor="ctr"/>
          <a:lstStyle/>
          <a:p>
            <a:pPr indent="0" marL="0">
              <a:lnSpc>
                <a:spcPct val="115000"/>
              </a:lnSpc>
              <a:buNone/>
            </a:pPr>
            <a:r>
              <a:rPr lang="en-US" sz="1600" b="1" dirty="0">
                <a:solidFill>
                  <a:srgbClr val="856404"/>
                </a:solidFill>
                <a:latin typeface="BIZ UDPGothic" pitchFamily="34" charset="0"/>
                <a:ea typeface="BIZ UDPGothic" pitchFamily="34" charset="-122"/>
                <a:cs typeface="BIZ UDPGothic" pitchFamily="34" charset="-120"/>
              </a:rPr>
              <a:t>脳神経内科・</a:t>
            </a:r>
            <a:endParaRPr lang="en-US" sz="1600" dirty="0"/>
          </a:p>
          <a:p>
            <a:pPr indent="0" marL="0">
              <a:lnSpc>
                <a:spcPct val="115000"/>
              </a:lnSpc>
              <a:buNone/>
            </a:pPr>
            <a:r>
              <a:rPr lang="en-US" sz="1600" b="1" dirty="0">
                <a:solidFill>
                  <a:srgbClr val="856404"/>
                </a:solidFill>
                <a:latin typeface="BIZ UDPGothic" pitchFamily="34" charset="0"/>
                <a:ea typeface="BIZ UDPGothic" pitchFamily="34" charset="-122"/>
                <a:cs typeface="BIZ UDPGothic" pitchFamily="34" charset="-120"/>
              </a:rPr>
              <a:t>睡眠外来を受診</a:t>
            </a:r>
            <a:endParaRPr lang="en-US" sz="1600" dirty="0"/>
          </a:p>
        </p:txBody>
      </p:sp>
      <p:sp>
        <p:nvSpPr>
          <p:cNvPr id="14" name="Shape 12"/>
          <p:cNvSpPr/>
          <p:nvPr/>
        </p:nvSpPr>
        <p:spPr>
          <a:xfrm>
            <a:off x="457200" y="3429000"/>
            <a:ext cx="8229600" cy="1005840"/>
          </a:xfrm>
          <a:prstGeom prst="rect">
            <a:avLst>
              <a:gd name="adj" fmla="val 9091"/>
            </a:avLst>
          </a:prstGeom>
          <a:solidFill>
            <a:srgbClr val="D4EDDA"/>
          </a:solidFill>
          <a:ln/>
          <a:effectLst>
            <a:outerShdw sx="100000" sy="100000" kx="0" ky="0" algn="bl" rotWithShape="0" blurRad="50800" dist="25400" dir="8100000">
              <a:srgbClr val="000000">
                <a:alpha val="12000"/>
              </a:srgbClr>
            </a:outerShdw>
          </a:effectLst>
        </p:spPr>
      </p:sp>
      <p:sp>
        <p:nvSpPr>
          <p:cNvPr id="15" name="Shape 13"/>
          <p:cNvSpPr/>
          <p:nvPr/>
        </p:nvSpPr>
        <p:spPr>
          <a:xfrm>
            <a:off x="457200" y="3429000"/>
            <a:ext cx="109728" cy="1005840"/>
          </a:xfrm>
          <a:prstGeom prst="rect">
            <a:avLst>
              <a:gd name="adj" fmla="val 41667"/>
            </a:avLst>
          </a:prstGeom>
          <a:solidFill>
            <a:srgbClr val="28A745"/>
          </a:solidFill>
          <a:ln/>
        </p:spPr>
      </p:sp>
      <p:sp>
        <p:nvSpPr>
          <p:cNvPr id="16" name="Text 14"/>
          <p:cNvSpPr/>
          <p:nvPr/>
        </p:nvSpPr>
        <p:spPr>
          <a:xfrm>
            <a:off x="731520" y="3474720"/>
            <a:ext cx="2743200" cy="411480"/>
          </a:xfrm>
          <a:prstGeom prst="rect">
            <a:avLst/>
          </a:prstGeom>
          <a:noFill/>
          <a:ln/>
        </p:spPr>
        <p:txBody>
          <a:bodyPr wrap="square" lIns="0" tIns="0" rIns="0" bIns="0" rtlCol="0" anchor="ctr"/>
          <a:lstStyle/>
          <a:p>
            <a:pPr indent="0" marL="0">
              <a:buNone/>
            </a:pPr>
            <a:r>
              <a:rPr lang="en-US" sz="2100" b="1" dirty="0">
                <a:solidFill>
                  <a:srgbClr val="28A745"/>
                </a:solidFill>
                <a:latin typeface="BIZ UDPGothic" pitchFamily="34" charset="0"/>
                <a:ea typeface="BIZ UDPGothic" pitchFamily="34" charset="-122"/>
                <a:cs typeface="BIZ UDPGothic" pitchFamily="34" charset="-120"/>
              </a:rPr>
              <a:t>🟢 様子見OK</a:t>
            </a:r>
            <a:endParaRPr lang="en-US" sz="2100" dirty="0"/>
          </a:p>
        </p:txBody>
      </p:sp>
      <p:sp>
        <p:nvSpPr>
          <p:cNvPr id="17" name="Text 15"/>
          <p:cNvSpPr/>
          <p:nvPr/>
        </p:nvSpPr>
        <p:spPr>
          <a:xfrm>
            <a:off x="731520" y="3886200"/>
            <a:ext cx="4572000" cy="502920"/>
          </a:xfrm>
          <a:prstGeom prst="rect">
            <a:avLst/>
          </a:prstGeom>
          <a:noFill/>
          <a:ln/>
        </p:spPr>
        <p:txBody>
          <a:bodyPr wrap="square" lIns="0" tIns="0" rIns="0" bIns="0" rtlCol="0" anchor="ctr"/>
          <a:lstStyle/>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ストレスの多い時期だけ眠りにくい</a:t>
            </a:r>
            <a:endParaRPr lang="en-US" sz="1500" dirty="0"/>
          </a:p>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生活習慣の改善で対処できている</a:t>
            </a:r>
            <a:endParaRPr lang="en-US" sz="1500" dirty="0"/>
          </a:p>
        </p:txBody>
      </p:sp>
      <p:sp>
        <p:nvSpPr>
          <p:cNvPr id="18" name="Text 16"/>
          <p:cNvSpPr/>
          <p:nvPr/>
        </p:nvSpPr>
        <p:spPr>
          <a:xfrm>
            <a:off x="5486400" y="3566160"/>
            <a:ext cx="3017520" cy="731520"/>
          </a:xfrm>
          <a:prstGeom prst="rect">
            <a:avLst/>
          </a:prstGeom>
          <a:noFill/>
          <a:ln/>
        </p:spPr>
        <p:txBody>
          <a:bodyPr wrap="square" lIns="0" tIns="0" rIns="0" bIns="0" rtlCol="0" anchor="ctr"/>
          <a:lstStyle/>
          <a:p>
            <a:pPr indent="0" marL="0">
              <a:lnSpc>
                <a:spcPct val="115000"/>
              </a:lnSpc>
              <a:buNone/>
            </a:pPr>
            <a:r>
              <a:rPr lang="en-US" sz="1600" b="1" dirty="0">
                <a:solidFill>
                  <a:srgbClr val="28A745"/>
                </a:solidFill>
                <a:latin typeface="BIZ UDPGothic" pitchFamily="34" charset="0"/>
                <a:ea typeface="BIZ UDPGothic" pitchFamily="34" charset="-122"/>
                <a:cs typeface="BIZ UDPGothic" pitchFamily="34" charset="-120"/>
              </a:rPr>
              <a:t>睡眠衛生の</a:t>
            </a:r>
            <a:endParaRPr lang="en-US" sz="1600" dirty="0"/>
          </a:p>
          <a:p>
            <a:pPr indent="0" marL="0">
              <a:lnSpc>
                <a:spcPct val="115000"/>
              </a:lnSpc>
              <a:buNone/>
            </a:pPr>
            <a:r>
              <a:rPr lang="en-US" sz="1600" b="1" dirty="0">
                <a:solidFill>
                  <a:srgbClr val="28A745"/>
                </a:solidFill>
                <a:latin typeface="BIZ UDPGothic" pitchFamily="34" charset="0"/>
                <a:ea typeface="BIZ UDPGothic" pitchFamily="34" charset="-122"/>
                <a:cs typeface="BIZ UDPGothic" pitchFamily="34" charset="-120"/>
              </a:rPr>
              <a:t>見直しから</a:t>
            </a:r>
            <a:endParaRPr lang="en-US" sz="1600" dirty="0"/>
          </a:p>
        </p:txBody>
      </p:sp>
      <p:sp>
        <p:nvSpPr>
          <p:cNvPr id="19" name="Shape 17"/>
          <p:cNvSpPr/>
          <p:nvPr/>
        </p:nvSpPr>
        <p:spPr>
          <a:xfrm>
            <a:off x="0" y="4800600"/>
            <a:ext cx="9144000" cy="347472"/>
          </a:xfrm>
          <a:prstGeom prst="rect">
            <a:avLst/>
          </a:prstGeom>
          <a:solidFill>
            <a:srgbClr val="1B3A5C"/>
          </a:solidFill>
          <a:ln/>
        </p:spPr>
      </p:sp>
      <p:sp>
        <p:nvSpPr>
          <p:cNvPr id="20" name="Text 18"/>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#15</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よくある質問 Q&amp;A</a:t>
            </a:r>
            <a:endParaRPr lang="en-US" sz="2600" dirty="0"/>
          </a:p>
        </p:txBody>
      </p:sp>
      <p:sp>
        <p:nvSpPr>
          <p:cNvPr id="4" name="Shape 2"/>
          <p:cNvSpPr/>
          <p:nvPr/>
        </p:nvSpPr>
        <p:spPr>
          <a:xfrm>
            <a:off x="457200" y="1005840"/>
            <a:ext cx="8229600" cy="1051560"/>
          </a:xfrm>
          <a:prstGeom prst="rect">
            <a:avLst>
              <a:gd name="adj" fmla="val 8696"/>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05840"/>
            <a:ext cx="109728" cy="1051560"/>
          </a:xfrm>
          <a:prstGeom prst="rect">
            <a:avLst>
              <a:gd name="adj" fmla="val 41667"/>
            </a:avLst>
          </a:prstGeom>
          <a:solidFill>
            <a:srgbClr val="E8850C"/>
          </a:solidFill>
          <a:ln/>
        </p:spPr>
      </p:sp>
      <p:sp>
        <p:nvSpPr>
          <p:cNvPr id="6" name="Text 4"/>
          <p:cNvSpPr/>
          <p:nvPr/>
        </p:nvSpPr>
        <p:spPr>
          <a:xfrm>
            <a:off x="731520" y="1051560"/>
            <a:ext cx="457200" cy="411480"/>
          </a:xfrm>
          <a:prstGeom prst="rect">
            <a:avLst/>
          </a:prstGeom>
          <a:noFill/>
          <a:ln/>
        </p:spPr>
        <p:txBody>
          <a:bodyPr wrap="square" lIns="0" tIns="0" rIns="0" bIns="0" rtlCol="0" anchor="ctr"/>
          <a:lstStyle/>
          <a:p>
            <a:pPr indent="0" marL="0">
              <a:buNone/>
            </a:pPr>
            <a:r>
              <a:rPr lang="en-US" sz="2200" b="1" dirty="0">
                <a:solidFill>
                  <a:srgbClr val="E8850C"/>
                </a:solidFill>
                <a:latin typeface="Segoe UI" pitchFamily="34" charset="0"/>
                <a:ea typeface="Segoe UI" pitchFamily="34" charset="-122"/>
                <a:cs typeface="Segoe UI" pitchFamily="34" charset="-120"/>
              </a:rPr>
              <a:t>Q.</a:t>
            </a:r>
            <a:endParaRPr lang="en-US" sz="2200" dirty="0"/>
          </a:p>
        </p:txBody>
      </p:sp>
      <p:sp>
        <p:nvSpPr>
          <p:cNvPr id="7" name="Text 5"/>
          <p:cNvSpPr/>
          <p:nvPr/>
        </p:nvSpPr>
        <p:spPr>
          <a:xfrm>
            <a:off x="1188720" y="1051560"/>
            <a:ext cx="7315200" cy="411480"/>
          </a:xfrm>
          <a:prstGeom prst="rect">
            <a:avLst/>
          </a:prstGeom>
          <a:noFill/>
          <a:ln/>
        </p:spPr>
        <p:txBody>
          <a:bodyPr wrap="square" lIns="0" tIns="0" rIns="0" bIns="0" rtlCol="0" anchor="ctr"/>
          <a:lstStyle/>
          <a:p>
            <a:pPr indent="0" marL="0">
              <a:buNone/>
            </a:pPr>
            <a:r>
              <a:rPr lang="en-US" sz="1800" b="1" dirty="0">
                <a:solidFill>
                  <a:srgbClr val="E8850C"/>
                </a:solidFill>
                <a:latin typeface="BIZ UDPGothic" pitchFamily="34" charset="0"/>
                <a:ea typeface="BIZ UDPGothic" pitchFamily="34" charset="-122"/>
                <a:cs typeface="BIZ UDPGothic" pitchFamily="34" charset="-120"/>
              </a:rPr>
              <a:t>理想の睡眠時間は何時間ですか？</a:t>
            </a:r>
            <a:endParaRPr lang="en-US" sz="1800" dirty="0"/>
          </a:p>
        </p:txBody>
      </p:sp>
      <p:sp>
        <p:nvSpPr>
          <p:cNvPr id="8" name="Text 6"/>
          <p:cNvSpPr/>
          <p:nvPr/>
        </p:nvSpPr>
        <p:spPr>
          <a:xfrm>
            <a:off x="731520" y="1508760"/>
            <a:ext cx="457200" cy="457200"/>
          </a:xfrm>
          <a:prstGeom prst="rect">
            <a:avLst/>
          </a:prstGeom>
          <a:noFill/>
          <a:ln/>
        </p:spPr>
        <p:txBody>
          <a:bodyPr wrap="square" lIns="0" tIns="0" rIns="0" bIns="0" rtlCol="0" anchor="ctr"/>
          <a:lstStyle/>
          <a:p>
            <a:pPr indent="0" marL="0">
              <a:buNone/>
            </a:pPr>
            <a:r>
              <a:rPr lang="en-US" sz="2200" b="1" dirty="0">
                <a:solidFill>
                  <a:srgbClr val="2C5AA0"/>
                </a:solidFill>
                <a:latin typeface="Segoe UI" pitchFamily="34" charset="0"/>
                <a:ea typeface="Segoe UI" pitchFamily="34" charset="-122"/>
                <a:cs typeface="Segoe UI" pitchFamily="34" charset="-120"/>
              </a:rPr>
              <a:t>A.</a:t>
            </a:r>
            <a:endParaRPr lang="en-US" sz="2200" dirty="0"/>
          </a:p>
        </p:txBody>
      </p:sp>
      <p:sp>
        <p:nvSpPr>
          <p:cNvPr id="9" name="Text 7"/>
          <p:cNvSpPr/>
          <p:nvPr/>
        </p:nvSpPr>
        <p:spPr>
          <a:xfrm>
            <a:off x="1188720" y="1508760"/>
            <a:ext cx="7315200" cy="502920"/>
          </a:xfrm>
          <a:prstGeom prst="rect">
            <a:avLst/>
          </a:prstGeom>
          <a:noFill/>
          <a:ln/>
        </p:spPr>
        <p:txBody>
          <a:bodyPr wrap="square" lIns="0" tIns="0" rIns="0" bIns="0" rtlCol="0" anchor="ctr"/>
          <a:lstStyle/>
          <a:p>
            <a:pPr indent="0" marL="0">
              <a:lnSpc>
                <a:spcPct val="110000"/>
              </a:lnSpc>
              <a:buNone/>
            </a:pPr>
            <a:r>
              <a:rPr lang="en-US" sz="1400" dirty="0">
                <a:solidFill>
                  <a:srgbClr val="2D3436"/>
                </a:solidFill>
                <a:latin typeface="BIZ UDPGothic" pitchFamily="34" charset="0"/>
                <a:ea typeface="BIZ UDPGothic" pitchFamily="34" charset="-122"/>
                <a:cs typeface="BIZ UDPGothic" pitchFamily="34" charset="-120"/>
              </a:rPr>
              <a:t>個人差が大きく「何時間眠るべき」という正解はありません。日中に眠気なく過ごせていれば十分です。高齢者は6時間程度で自然なことが多いです</a:t>
            </a:r>
            <a:endParaRPr lang="en-US" sz="1400" dirty="0"/>
          </a:p>
        </p:txBody>
      </p:sp>
      <p:sp>
        <p:nvSpPr>
          <p:cNvPr id="10" name="Shape 8"/>
          <p:cNvSpPr/>
          <p:nvPr/>
        </p:nvSpPr>
        <p:spPr>
          <a:xfrm>
            <a:off x="457200" y="2240280"/>
            <a:ext cx="8229600" cy="1051560"/>
          </a:xfrm>
          <a:prstGeom prst="rect">
            <a:avLst>
              <a:gd name="adj" fmla="val 8696"/>
            </a:avLst>
          </a:prstGeom>
          <a:solidFill>
            <a:srgbClr val="FFFFFF"/>
          </a:solidFill>
          <a:ln/>
          <a:effectLst>
            <a:outerShdw sx="100000" sy="100000" kx="0" ky="0" algn="bl" rotWithShape="0" blurRad="50800" dist="25400" dir="8100000">
              <a:srgbClr val="000000">
                <a:alpha val="12000"/>
              </a:srgbClr>
            </a:outerShdw>
          </a:effectLst>
        </p:spPr>
      </p:sp>
      <p:sp>
        <p:nvSpPr>
          <p:cNvPr id="11" name="Shape 9"/>
          <p:cNvSpPr/>
          <p:nvPr/>
        </p:nvSpPr>
        <p:spPr>
          <a:xfrm>
            <a:off x="457200" y="2240280"/>
            <a:ext cx="109728" cy="1051560"/>
          </a:xfrm>
          <a:prstGeom prst="rect">
            <a:avLst>
              <a:gd name="adj" fmla="val 41667"/>
            </a:avLst>
          </a:prstGeom>
          <a:solidFill>
            <a:srgbClr val="E8850C"/>
          </a:solidFill>
          <a:ln/>
        </p:spPr>
      </p:sp>
      <p:sp>
        <p:nvSpPr>
          <p:cNvPr id="12" name="Text 10"/>
          <p:cNvSpPr/>
          <p:nvPr/>
        </p:nvSpPr>
        <p:spPr>
          <a:xfrm>
            <a:off x="731520" y="2286000"/>
            <a:ext cx="457200" cy="411480"/>
          </a:xfrm>
          <a:prstGeom prst="rect">
            <a:avLst/>
          </a:prstGeom>
          <a:noFill/>
          <a:ln/>
        </p:spPr>
        <p:txBody>
          <a:bodyPr wrap="square" lIns="0" tIns="0" rIns="0" bIns="0" rtlCol="0" anchor="ctr"/>
          <a:lstStyle/>
          <a:p>
            <a:pPr indent="0" marL="0">
              <a:buNone/>
            </a:pPr>
            <a:r>
              <a:rPr lang="en-US" sz="2200" b="1" dirty="0">
                <a:solidFill>
                  <a:srgbClr val="E8850C"/>
                </a:solidFill>
                <a:latin typeface="Segoe UI" pitchFamily="34" charset="0"/>
                <a:ea typeface="Segoe UI" pitchFamily="34" charset="-122"/>
                <a:cs typeface="Segoe UI" pitchFamily="34" charset="-120"/>
              </a:rPr>
              <a:t>Q.</a:t>
            </a:r>
            <a:endParaRPr lang="en-US" sz="2200" dirty="0"/>
          </a:p>
        </p:txBody>
      </p:sp>
      <p:sp>
        <p:nvSpPr>
          <p:cNvPr id="13" name="Text 11"/>
          <p:cNvSpPr/>
          <p:nvPr/>
        </p:nvSpPr>
        <p:spPr>
          <a:xfrm>
            <a:off x="1188720" y="2286000"/>
            <a:ext cx="7315200" cy="411480"/>
          </a:xfrm>
          <a:prstGeom prst="rect">
            <a:avLst/>
          </a:prstGeom>
          <a:noFill/>
          <a:ln/>
        </p:spPr>
        <p:txBody>
          <a:bodyPr wrap="square" lIns="0" tIns="0" rIns="0" bIns="0" rtlCol="0" anchor="ctr"/>
          <a:lstStyle/>
          <a:p>
            <a:pPr indent="0" marL="0">
              <a:buNone/>
            </a:pPr>
            <a:r>
              <a:rPr lang="en-US" sz="1800" b="1" dirty="0">
                <a:solidFill>
                  <a:srgbClr val="E8850C"/>
                </a:solidFill>
                <a:latin typeface="BIZ UDPGothic" pitchFamily="34" charset="0"/>
                <a:ea typeface="BIZ UDPGothic" pitchFamily="34" charset="-122"/>
                <a:cs typeface="BIZ UDPGothic" pitchFamily="34" charset="-120"/>
              </a:rPr>
              <a:t>睡眠薬は依存しますか？</a:t>
            </a:r>
            <a:endParaRPr lang="en-US" sz="1800" dirty="0"/>
          </a:p>
        </p:txBody>
      </p:sp>
      <p:sp>
        <p:nvSpPr>
          <p:cNvPr id="14" name="Text 12"/>
          <p:cNvSpPr/>
          <p:nvPr/>
        </p:nvSpPr>
        <p:spPr>
          <a:xfrm>
            <a:off x="731520" y="2743200"/>
            <a:ext cx="457200" cy="457200"/>
          </a:xfrm>
          <a:prstGeom prst="rect">
            <a:avLst/>
          </a:prstGeom>
          <a:noFill/>
          <a:ln/>
        </p:spPr>
        <p:txBody>
          <a:bodyPr wrap="square" lIns="0" tIns="0" rIns="0" bIns="0" rtlCol="0" anchor="ctr"/>
          <a:lstStyle/>
          <a:p>
            <a:pPr indent="0" marL="0">
              <a:buNone/>
            </a:pPr>
            <a:r>
              <a:rPr lang="en-US" sz="2200" b="1" dirty="0">
                <a:solidFill>
                  <a:srgbClr val="2C5AA0"/>
                </a:solidFill>
                <a:latin typeface="Segoe UI" pitchFamily="34" charset="0"/>
                <a:ea typeface="Segoe UI" pitchFamily="34" charset="-122"/>
                <a:cs typeface="Segoe UI" pitchFamily="34" charset="-120"/>
              </a:rPr>
              <a:t>A.</a:t>
            </a:r>
            <a:endParaRPr lang="en-US" sz="2200" dirty="0"/>
          </a:p>
        </p:txBody>
      </p:sp>
      <p:sp>
        <p:nvSpPr>
          <p:cNvPr id="15" name="Text 13"/>
          <p:cNvSpPr/>
          <p:nvPr/>
        </p:nvSpPr>
        <p:spPr>
          <a:xfrm>
            <a:off x="1188720" y="2743200"/>
            <a:ext cx="7315200" cy="502920"/>
          </a:xfrm>
          <a:prstGeom prst="rect">
            <a:avLst/>
          </a:prstGeom>
          <a:noFill/>
          <a:ln/>
        </p:spPr>
        <p:txBody>
          <a:bodyPr wrap="square" lIns="0" tIns="0" rIns="0" bIns="0" rtlCol="0" anchor="ctr"/>
          <a:lstStyle/>
          <a:p>
            <a:pPr indent="0" marL="0">
              <a:lnSpc>
                <a:spcPct val="110000"/>
              </a:lnSpc>
              <a:buNone/>
            </a:pPr>
            <a:r>
              <a:rPr lang="en-US" sz="1400" dirty="0">
                <a:solidFill>
                  <a:srgbClr val="2D3436"/>
                </a:solidFill>
                <a:latin typeface="BIZ UDPGothic" pitchFamily="34" charset="0"/>
                <a:ea typeface="BIZ UDPGothic" pitchFamily="34" charset="-122"/>
                <a:cs typeface="BIZ UDPGothic" pitchFamily="34" charset="-120"/>
              </a:rPr>
              <a:t>メラトニン受容体作動薬やオレキシン受容体拮抗薬は依存性がほとんどありません。ベンゾジアゼピン系も医師の指示で使用すれば安全ですが、急な中止は避けてください</a:t>
            </a:r>
            <a:endParaRPr lang="en-US" sz="1400" dirty="0"/>
          </a:p>
        </p:txBody>
      </p:sp>
      <p:sp>
        <p:nvSpPr>
          <p:cNvPr id="16" name="Shape 14"/>
          <p:cNvSpPr/>
          <p:nvPr/>
        </p:nvSpPr>
        <p:spPr>
          <a:xfrm>
            <a:off x="457200" y="3474720"/>
            <a:ext cx="8229600" cy="1051560"/>
          </a:xfrm>
          <a:prstGeom prst="rect">
            <a:avLst>
              <a:gd name="adj" fmla="val 8696"/>
            </a:avLst>
          </a:prstGeom>
          <a:solidFill>
            <a:srgbClr val="FFFFFF"/>
          </a:solidFill>
          <a:ln/>
          <a:effectLst>
            <a:outerShdw sx="100000" sy="100000" kx="0" ky="0" algn="bl" rotWithShape="0" blurRad="50800" dist="25400" dir="8100000">
              <a:srgbClr val="000000">
                <a:alpha val="12000"/>
              </a:srgbClr>
            </a:outerShdw>
          </a:effectLst>
        </p:spPr>
      </p:sp>
      <p:sp>
        <p:nvSpPr>
          <p:cNvPr id="17" name="Shape 15"/>
          <p:cNvSpPr/>
          <p:nvPr/>
        </p:nvSpPr>
        <p:spPr>
          <a:xfrm>
            <a:off x="457200" y="3474720"/>
            <a:ext cx="109728" cy="1051560"/>
          </a:xfrm>
          <a:prstGeom prst="rect">
            <a:avLst>
              <a:gd name="adj" fmla="val 41667"/>
            </a:avLst>
          </a:prstGeom>
          <a:solidFill>
            <a:srgbClr val="E8850C"/>
          </a:solidFill>
          <a:ln/>
        </p:spPr>
      </p:sp>
      <p:sp>
        <p:nvSpPr>
          <p:cNvPr id="18" name="Text 16"/>
          <p:cNvSpPr/>
          <p:nvPr/>
        </p:nvSpPr>
        <p:spPr>
          <a:xfrm>
            <a:off x="731520" y="3520440"/>
            <a:ext cx="457200" cy="411480"/>
          </a:xfrm>
          <a:prstGeom prst="rect">
            <a:avLst/>
          </a:prstGeom>
          <a:noFill/>
          <a:ln/>
        </p:spPr>
        <p:txBody>
          <a:bodyPr wrap="square" lIns="0" tIns="0" rIns="0" bIns="0" rtlCol="0" anchor="ctr"/>
          <a:lstStyle/>
          <a:p>
            <a:pPr indent="0" marL="0">
              <a:buNone/>
            </a:pPr>
            <a:r>
              <a:rPr lang="en-US" sz="2200" b="1" dirty="0">
                <a:solidFill>
                  <a:srgbClr val="E8850C"/>
                </a:solidFill>
                <a:latin typeface="Segoe UI" pitchFamily="34" charset="0"/>
                <a:ea typeface="Segoe UI" pitchFamily="34" charset="-122"/>
                <a:cs typeface="Segoe UI" pitchFamily="34" charset="-120"/>
              </a:rPr>
              <a:t>Q.</a:t>
            </a:r>
            <a:endParaRPr lang="en-US" sz="2200" dirty="0"/>
          </a:p>
        </p:txBody>
      </p:sp>
      <p:sp>
        <p:nvSpPr>
          <p:cNvPr id="19" name="Text 17"/>
          <p:cNvSpPr/>
          <p:nvPr/>
        </p:nvSpPr>
        <p:spPr>
          <a:xfrm>
            <a:off x="1188720" y="3520440"/>
            <a:ext cx="7315200" cy="411480"/>
          </a:xfrm>
          <a:prstGeom prst="rect">
            <a:avLst/>
          </a:prstGeom>
          <a:noFill/>
          <a:ln/>
        </p:spPr>
        <p:txBody>
          <a:bodyPr wrap="square" lIns="0" tIns="0" rIns="0" bIns="0" rtlCol="0" anchor="ctr"/>
          <a:lstStyle/>
          <a:p>
            <a:pPr indent="0" marL="0">
              <a:buNone/>
            </a:pPr>
            <a:r>
              <a:rPr lang="en-US" sz="1800" b="1" dirty="0">
                <a:solidFill>
                  <a:srgbClr val="E8850C"/>
                </a:solidFill>
                <a:latin typeface="BIZ UDPGothic" pitchFamily="34" charset="0"/>
                <a:ea typeface="BIZ UDPGothic" pitchFamily="34" charset="-122"/>
                <a:cs typeface="BIZ UDPGothic" pitchFamily="34" charset="-120"/>
              </a:rPr>
              <a:t>サプリメントは効きますか？</a:t>
            </a:r>
            <a:endParaRPr lang="en-US" sz="1800" dirty="0"/>
          </a:p>
        </p:txBody>
      </p:sp>
      <p:sp>
        <p:nvSpPr>
          <p:cNvPr id="20" name="Text 18"/>
          <p:cNvSpPr/>
          <p:nvPr/>
        </p:nvSpPr>
        <p:spPr>
          <a:xfrm>
            <a:off x="731520" y="3977640"/>
            <a:ext cx="457200" cy="457200"/>
          </a:xfrm>
          <a:prstGeom prst="rect">
            <a:avLst/>
          </a:prstGeom>
          <a:noFill/>
          <a:ln/>
        </p:spPr>
        <p:txBody>
          <a:bodyPr wrap="square" lIns="0" tIns="0" rIns="0" bIns="0" rtlCol="0" anchor="ctr"/>
          <a:lstStyle/>
          <a:p>
            <a:pPr indent="0" marL="0">
              <a:buNone/>
            </a:pPr>
            <a:r>
              <a:rPr lang="en-US" sz="2200" b="1" dirty="0">
                <a:solidFill>
                  <a:srgbClr val="2C5AA0"/>
                </a:solidFill>
                <a:latin typeface="Segoe UI" pitchFamily="34" charset="0"/>
                <a:ea typeface="Segoe UI" pitchFamily="34" charset="-122"/>
                <a:cs typeface="Segoe UI" pitchFamily="34" charset="-120"/>
              </a:rPr>
              <a:t>A.</a:t>
            </a:r>
            <a:endParaRPr lang="en-US" sz="2200" dirty="0"/>
          </a:p>
        </p:txBody>
      </p:sp>
      <p:sp>
        <p:nvSpPr>
          <p:cNvPr id="21" name="Text 19"/>
          <p:cNvSpPr/>
          <p:nvPr/>
        </p:nvSpPr>
        <p:spPr>
          <a:xfrm>
            <a:off x="1188720" y="3977640"/>
            <a:ext cx="7315200" cy="502920"/>
          </a:xfrm>
          <a:prstGeom prst="rect">
            <a:avLst/>
          </a:prstGeom>
          <a:noFill/>
          <a:ln/>
        </p:spPr>
        <p:txBody>
          <a:bodyPr wrap="square" lIns="0" tIns="0" rIns="0" bIns="0" rtlCol="0" anchor="ctr"/>
          <a:lstStyle/>
          <a:p>
            <a:pPr indent="0" marL="0">
              <a:lnSpc>
                <a:spcPct val="110000"/>
              </a:lnSpc>
              <a:buNone/>
            </a:pPr>
            <a:r>
              <a:rPr lang="en-US" sz="1400" dirty="0">
                <a:solidFill>
                  <a:srgbClr val="2D3436"/>
                </a:solidFill>
                <a:latin typeface="BIZ UDPGothic" pitchFamily="34" charset="0"/>
                <a:ea typeface="BIZ UDPGothic" pitchFamily="34" charset="-122"/>
                <a:cs typeface="BIZ UDPGothic" pitchFamily="34" charset="-120"/>
              </a:rPr>
              <a:t>メラトニンサプリは時差ボケには有効ですが慢性的な不眠への効果は限定的です。グリシンやテアニンにはリラックス効果がありますが治療としては不十分です</a:t>
            </a:r>
            <a:endParaRPr lang="en-US" sz="1400" dirty="0"/>
          </a:p>
        </p:txBody>
      </p:sp>
      <p:sp>
        <p:nvSpPr>
          <p:cNvPr id="22" name="Shape 20"/>
          <p:cNvSpPr/>
          <p:nvPr/>
        </p:nvSpPr>
        <p:spPr>
          <a:xfrm>
            <a:off x="0" y="4800600"/>
            <a:ext cx="9144000" cy="347472"/>
          </a:xfrm>
          <a:prstGeom prst="rect">
            <a:avLst/>
          </a:prstGeom>
          <a:solidFill>
            <a:srgbClr val="1B3A5C"/>
          </a:solidFill>
          <a:ln/>
        </p:spPr>
      </p:sp>
      <p:sp>
        <p:nvSpPr>
          <p:cNvPr id="23" name="Text 21"/>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#15</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まとめ ― 不眠の正しい対処法</a:t>
            </a:r>
            <a:endParaRPr lang="en-US" sz="2600" dirty="0"/>
          </a:p>
        </p:txBody>
      </p:sp>
      <p:sp>
        <p:nvSpPr>
          <p:cNvPr id="4" name="Shape 2"/>
          <p:cNvSpPr/>
          <p:nvPr/>
        </p:nvSpPr>
        <p:spPr>
          <a:xfrm>
            <a:off x="457200" y="1051560"/>
            <a:ext cx="8229600" cy="1005840"/>
          </a:xfrm>
          <a:prstGeom prst="rect">
            <a:avLst>
              <a:gd name="adj" fmla="val 9091"/>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51560"/>
            <a:ext cx="109728" cy="1005840"/>
          </a:xfrm>
          <a:prstGeom prst="rect">
            <a:avLst>
              <a:gd name="adj" fmla="val 41667"/>
            </a:avLst>
          </a:prstGeom>
          <a:solidFill>
            <a:srgbClr val="2C5AA0"/>
          </a:solidFill>
          <a:ln/>
        </p:spPr>
      </p:sp>
      <p:sp>
        <p:nvSpPr>
          <p:cNvPr id="6" name="Text 4"/>
          <p:cNvSpPr/>
          <p:nvPr/>
        </p:nvSpPr>
        <p:spPr>
          <a:xfrm>
            <a:off x="640080" y="1143000"/>
            <a:ext cx="640080" cy="822960"/>
          </a:xfrm>
          <a:prstGeom prst="rect">
            <a:avLst/>
          </a:prstGeom>
          <a:noFill/>
          <a:ln/>
        </p:spPr>
        <p:txBody>
          <a:bodyPr wrap="square" lIns="0" tIns="0" rIns="0" bIns="0" rtlCol="0" anchor="ctr"/>
          <a:lstStyle/>
          <a:p>
            <a:pPr algn="ctr" indent="0" marL="0">
              <a:buNone/>
            </a:pPr>
            <a:r>
              <a:rPr lang="en-US" sz="3600" b="1" dirty="0">
                <a:solidFill>
                  <a:srgbClr val="2C5AA0"/>
                </a:solidFill>
                <a:latin typeface="Segoe UI" pitchFamily="34" charset="0"/>
                <a:ea typeface="Segoe UI" pitchFamily="34" charset="-122"/>
                <a:cs typeface="Segoe UI" pitchFamily="34" charset="-120"/>
              </a:rPr>
              <a:t>1</a:t>
            </a:r>
            <a:endParaRPr lang="en-US" sz="3600" dirty="0"/>
          </a:p>
        </p:txBody>
      </p:sp>
      <p:sp>
        <p:nvSpPr>
          <p:cNvPr id="7" name="Text 5"/>
          <p:cNvSpPr/>
          <p:nvPr/>
        </p:nvSpPr>
        <p:spPr>
          <a:xfrm>
            <a:off x="1371600" y="1097280"/>
            <a:ext cx="3474720" cy="868680"/>
          </a:xfrm>
          <a:prstGeom prst="rect">
            <a:avLst/>
          </a:prstGeom>
          <a:noFill/>
          <a:ln/>
        </p:spPr>
        <p:txBody>
          <a:bodyPr wrap="square" lIns="0" tIns="0" rIns="0" bIns="0" rtlCol="0" anchor="ctr"/>
          <a:lstStyle/>
          <a:p>
            <a:pPr indent="0" marL="0">
              <a:lnSpc>
                <a:spcPct val="110000"/>
              </a:lnSpc>
              <a:buNone/>
            </a:pPr>
            <a:r>
              <a:rPr lang="en-US" sz="1900" b="1" dirty="0">
                <a:solidFill>
                  <a:srgbClr val="2D3436"/>
                </a:solidFill>
                <a:latin typeface="BIZ UDPGothic" pitchFamily="34" charset="0"/>
                <a:ea typeface="BIZ UDPGothic" pitchFamily="34" charset="-122"/>
                <a:cs typeface="BIZ UDPGothic" pitchFamily="34" charset="-120"/>
              </a:rPr>
              <a:t>不眠は脳の2つの</a:t>
            </a:r>
            <a:endParaRPr lang="en-US" sz="1900" dirty="0"/>
          </a:p>
          <a:p>
            <a:pPr indent="0" marL="0">
              <a:lnSpc>
                <a:spcPct val="110000"/>
              </a:lnSpc>
              <a:buNone/>
            </a:pPr>
            <a:r>
              <a:rPr lang="en-US" sz="1900" b="1" dirty="0">
                <a:solidFill>
                  <a:srgbClr val="2D3436"/>
                </a:solidFill>
                <a:latin typeface="BIZ UDPGothic" pitchFamily="34" charset="0"/>
                <a:ea typeface="BIZ UDPGothic" pitchFamily="34" charset="-122"/>
                <a:cs typeface="BIZ UDPGothic" pitchFamily="34" charset="-120"/>
              </a:rPr>
              <a:t>スイッチの乱れ</a:t>
            </a:r>
            <a:endParaRPr lang="en-US" sz="1900" dirty="0"/>
          </a:p>
        </p:txBody>
      </p:sp>
      <p:sp>
        <p:nvSpPr>
          <p:cNvPr id="8" name="Text 6"/>
          <p:cNvSpPr/>
          <p:nvPr/>
        </p:nvSpPr>
        <p:spPr>
          <a:xfrm>
            <a:off x="5029200" y="1143000"/>
            <a:ext cx="3474720" cy="822960"/>
          </a:xfrm>
          <a:prstGeom prst="rect">
            <a:avLst/>
          </a:prstGeom>
          <a:noFill/>
          <a:ln/>
        </p:spPr>
        <p:txBody>
          <a:bodyPr wrap="square" lIns="0" tIns="0" rIns="0" bIns="0" rtlCol="0" anchor="ctr"/>
          <a:lstStyle/>
          <a:p>
            <a:pPr indent="0" marL="0">
              <a:lnSpc>
                <a:spcPct val="120000"/>
              </a:lnSpc>
              <a:buNone/>
            </a:pPr>
            <a:r>
              <a:rPr lang="en-US" sz="1500" dirty="0">
                <a:solidFill>
                  <a:srgbClr val="636E72"/>
                </a:solidFill>
                <a:latin typeface="BIZ UDPGothic" pitchFamily="34" charset="0"/>
                <a:ea typeface="BIZ UDPGothic" pitchFamily="34" charset="-122"/>
                <a:cs typeface="BIZ UDPGothic" pitchFamily="34" charset="-120"/>
              </a:rPr>
              <a:t>体内時計と睡眠圧のバランス</a:t>
            </a:r>
            <a:endParaRPr lang="en-US" sz="1500" dirty="0"/>
          </a:p>
          <a:p>
            <a:pPr indent="0" marL="0">
              <a:lnSpc>
                <a:spcPct val="120000"/>
              </a:lnSpc>
              <a:buNone/>
            </a:pPr>
            <a:r>
              <a:rPr lang="en-US" sz="1500" dirty="0">
                <a:solidFill>
                  <a:srgbClr val="636E72"/>
                </a:solidFill>
                <a:latin typeface="BIZ UDPGothic" pitchFamily="34" charset="0"/>
                <a:ea typeface="BIZ UDPGothic" pitchFamily="34" charset="-122"/>
                <a:cs typeface="BIZ UDPGothic" pitchFamily="34" charset="-120"/>
              </a:rPr>
              <a:t>しくみを理解すれば対策がわかる</a:t>
            </a:r>
            <a:endParaRPr lang="en-US" sz="1500" dirty="0"/>
          </a:p>
        </p:txBody>
      </p:sp>
      <p:sp>
        <p:nvSpPr>
          <p:cNvPr id="9" name="Shape 7"/>
          <p:cNvSpPr/>
          <p:nvPr/>
        </p:nvSpPr>
        <p:spPr>
          <a:xfrm>
            <a:off x="457200" y="2240280"/>
            <a:ext cx="8229600" cy="1005840"/>
          </a:xfrm>
          <a:prstGeom prst="rect">
            <a:avLst>
              <a:gd name="adj" fmla="val 9091"/>
            </a:avLst>
          </a:prstGeom>
          <a:solidFill>
            <a:srgbClr val="FFFFFF"/>
          </a:solidFill>
          <a:ln/>
          <a:effectLst>
            <a:outerShdw sx="100000" sy="100000" kx="0" ky="0" algn="bl" rotWithShape="0" blurRad="50800" dist="25400" dir="8100000">
              <a:srgbClr val="000000">
                <a:alpha val="12000"/>
              </a:srgbClr>
            </a:outerShdw>
          </a:effectLst>
        </p:spPr>
      </p:sp>
      <p:sp>
        <p:nvSpPr>
          <p:cNvPr id="10" name="Shape 8"/>
          <p:cNvSpPr/>
          <p:nvPr/>
        </p:nvSpPr>
        <p:spPr>
          <a:xfrm>
            <a:off x="457200" y="2240280"/>
            <a:ext cx="109728" cy="1005840"/>
          </a:xfrm>
          <a:prstGeom prst="rect">
            <a:avLst>
              <a:gd name="adj" fmla="val 41667"/>
            </a:avLst>
          </a:prstGeom>
          <a:solidFill>
            <a:srgbClr val="2C5AA0"/>
          </a:solidFill>
          <a:ln/>
        </p:spPr>
      </p:sp>
      <p:sp>
        <p:nvSpPr>
          <p:cNvPr id="11" name="Text 9"/>
          <p:cNvSpPr/>
          <p:nvPr/>
        </p:nvSpPr>
        <p:spPr>
          <a:xfrm>
            <a:off x="640080" y="2331720"/>
            <a:ext cx="640080" cy="822960"/>
          </a:xfrm>
          <a:prstGeom prst="rect">
            <a:avLst/>
          </a:prstGeom>
          <a:noFill/>
          <a:ln/>
        </p:spPr>
        <p:txBody>
          <a:bodyPr wrap="square" lIns="0" tIns="0" rIns="0" bIns="0" rtlCol="0" anchor="ctr"/>
          <a:lstStyle/>
          <a:p>
            <a:pPr algn="ctr" indent="0" marL="0">
              <a:buNone/>
            </a:pPr>
            <a:r>
              <a:rPr lang="en-US" sz="3600" b="1" dirty="0">
                <a:solidFill>
                  <a:srgbClr val="2C5AA0"/>
                </a:solidFill>
                <a:latin typeface="Segoe UI" pitchFamily="34" charset="0"/>
                <a:ea typeface="Segoe UI" pitchFamily="34" charset="-122"/>
                <a:cs typeface="Segoe UI" pitchFamily="34" charset="-120"/>
              </a:rPr>
              <a:t>2</a:t>
            </a:r>
            <a:endParaRPr lang="en-US" sz="3600" dirty="0"/>
          </a:p>
        </p:txBody>
      </p:sp>
      <p:sp>
        <p:nvSpPr>
          <p:cNvPr id="12" name="Text 10"/>
          <p:cNvSpPr/>
          <p:nvPr/>
        </p:nvSpPr>
        <p:spPr>
          <a:xfrm>
            <a:off x="1371600" y="2286000"/>
            <a:ext cx="3474720" cy="868680"/>
          </a:xfrm>
          <a:prstGeom prst="rect">
            <a:avLst/>
          </a:prstGeom>
          <a:noFill/>
          <a:ln/>
        </p:spPr>
        <p:txBody>
          <a:bodyPr wrap="square" lIns="0" tIns="0" rIns="0" bIns="0" rtlCol="0" anchor="ctr"/>
          <a:lstStyle/>
          <a:p>
            <a:pPr indent="0" marL="0">
              <a:lnSpc>
                <a:spcPct val="110000"/>
              </a:lnSpc>
              <a:buNone/>
            </a:pPr>
            <a:r>
              <a:rPr lang="en-US" sz="1900" b="1" dirty="0">
                <a:solidFill>
                  <a:srgbClr val="2D3436"/>
                </a:solidFill>
                <a:latin typeface="BIZ UDPGothic" pitchFamily="34" charset="0"/>
                <a:ea typeface="BIZ UDPGothic" pitchFamily="34" charset="-122"/>
                <a:cs typeface="BIZ UDPGothic" pitchFamily="34" charset="-120"/>
              </a:rPr>
              <a:t>まず睡眠衛生を</a:t>
            </a:r>
            <a:endParaRPr lang="en-US" sz="1900" dirty="0"/>
          </a:p>
          <a:p>
            <a:pPr indent="0" marL="0">
              <a:lnSpc>
                <a:spcPct val="110000"/>
              </a:lnSpc>
              <a:buNone/>
            </a:pPr>
            <a:r>
              <a:rPr lang="en-US" sz="1900" b="1" dirty="0">
                <a:solidFill>
                  <a:srgbClr val="2D3436"/>
                </a:solidFill>
                <a:latin typeface="BIZ UDPGothic" pitchFamily="34" charset="0"/>
                <a:ea typeface="BIZ UDPGothic" pitchFamily="34" charset="-122"/>
                <a:cs typeface="BIZ UDPGothic" pitchFamily="34" charset="-120"/>
              </a:rPr>
              <a:t>見直す</a:t>
            </a:r>
            <a:endParaRPr lang="en-US" sz="1900" dirty="0"/>
          </a:p>
        </p:txBody>
      </p:sp>
      <p:sp>
        <p:nvSpPr>
          <p:cNvPr id="13" name="Text 11"/>
          <p:cNvSpPr/>
          <p:nvPr/>
        </p:nvSpPr>
        <p:spPr>
          <a:xfrm>
            <a:off x="5029200" y="2331720"/>
            <a:ext cx="3474720" cy="822960"/>
          </a:xfrm>
          <a:prstGeom prst="rect">
            <a:avLst/>
          </a:prstGeom>
          <a:noFill/>
          <a:ln/>
        </p:spPr>
        <p:txBody>
          <a:bodyPr wrap="square" lIns="0" tIns="0" rIns="0" bIns="0" rtlCol="0" anchor="ctr"/>
          <a:lstStyle/>
          <a:p>
            <a:pPr indent="0" marL="0">
              <a:lnSpc>
                <a:spcPct val="120000"/>
              </a:lnSpc>
              <a:buNone/>
            </a:pPr>
            <a:r>
              <a:rPr lang="en-US" sz="1500" dirty="0">
                <a:solidFill>
                  <a:srgbClr val="636E72"/>
                </a:solidFill>
                <a:latin typeface="BIZ UDPGothic" pitchFamily="34" charset="0"/>
                <a:ea typeface="BIZ UDPGothic" pitchFamily="34" charset="-122"/>
                <a:cs typeface="BIZ UDPGothic" pitchFamily="34" charset="-120"/>
              </a:rPr>
              <a:t>朝の光・就寝前スマホ控え</a:t>
            </a:r>
            <a:endParaRPr lang="en-US" sz="1500" dirty="0"/>
          </a:p>
          <a:p>
            <a:pPr indent="0" marL="0">
              <a:lnSpc>
                <a:spcPct val="120000"/>
              </a:lnSpc>
              <a:buNone/>
            </a:pPr>
            <a:r>
              <a:rPr lang="en-US" sz="1500" dirty="0">
                <a:solidFill>
                  <a:srgbClr val="636E72"/>
                </a:solidFill>
                <a:latin typeface="BIZ UDPGothic" pitchFamily="34" charset="0"/>
                <a:ea typeface="BIZ UDPGothic" pitchFamily="34" charset="-122"/>
                <a:cs typeface="BIZ UDPGothic" pitchFamily="34" charset="-120"/>
              </a:rPr>
              <a:t>カフェイン制限が3大ポイント</a:t>
            </a:r>
            <a:endParaRPr lang="en-US" sz="1500" dirty="0"/>
          </a:p>
        </p:txBody>
      </p:sp>
      <p:sp>
        <p:nvSpPr>
          <p:cNvPr id="14" name="Shape 12"/>
          <p:cNvSpPr/>
          <p:nvPr/>
        </p:nvSpPr>
        <p:spPr>
          <a:xfrm>
            <a:off x="457200" y="3429000"/>
            <a:ext cx="8229600" cy="1005840"/>
          </a:xfrm>
          <a:prstGeom prst="rect">
            <a:avLst>
              <a:gd name="adj" fmla="val 9091"/>
            </a:avLst>
          </a:prstGeom>
          <a:solidFill>
            <a:srgbClr val="FFFFFF"/>
          </a:solidFill>
          <a:ln/>
          <a:effectLst>
            <a:outerShdw sx="100000" sy="100000" kx="0" ky="0" algn="bl" rotWithShape="0" blurRad="50800" dist="25400" dir="8100000">
              <a:srgbClr val="000000">
                <a:alpha val="12000"/>
              </a:srgbClr>
            </a:outerShdw>
          </a:effectLst>
        </p:spPr>
      </p:sp>
      <p:sp>
        <p:nvSpPr>
          <p:cNvPr id="15" name="Shape 13"/>
          <p:cNvSpPr/>
          <p:nvPr/>
        </p:nvSpPr>
        <p:spPr>
          <a:xfrm>
            <a:off x="457200" y="3429000"/>
            <a:ext cx="109728" cy="1005840"/>
          </a:xfrm>
          <a:prstGeom prst="rect">
            <a:avLst>
              <a:gd name="adj" fmla="val 41667"/>
            </a:avLst>
          </a:prstGeom>
          <a:solidFill>
            <a:srgbClr val="2C5AA0"/>
          </a:solidFill>
          <a:ln/>
        </p:spPr>
      </p:sp>
      <p:sp>
        <p:nvSpPr>
          <p:cNvPr id="16" name="Text 14"/>
          <p:cNvSpPr/>
          <p:nvPr/>
        </p:nvSpPr>
        <p:spPr>
          <a:xfrm>
            <a:off x="640080" y="3520440"/>
            <a:ext cx="640080" cy="822960"/>
          </a:xfrm>
          <a:prstGeom prst="rect">
            <a:avLst/>
          </a:prstGeom>
          <a:noFill/>
          <a:ln/>
        </p:spPr>
        <p:txBody>
          <a:bodyPr wrap="square" lIns="0" tIns="0" rIns="0" bIns="0" rtlCol="0" anchor="ctr"/>
          <a:lstStyle/>
          <a:p>
            <a:pPr algn="ctr" indent="0" marL="0">
              <a:buNone/>
            </a:pPr>
            <a:r>
              <a:rPr lang="en-US" sz="3600" b="1" dirty="0">
                <a:solidFill>
                  <a:srgbClr val="2C5AA0"/>
                </a:solidFill>
                <a:latin typeface="Segoe UI" pitchFamily="34" charset="0"/>
                <a:ea typeface="Segoe UI" pitchFamily="34" charset="-122"/>
                <a:cs typeface="Segoe UI" pitchFamily="34" charset="-120"/>
              </a:rPr>
              <a:t>3</a:t>
            </a:r>
            <a:endParaRPr lang="en-US" sz="3600" dirty="0"/>
          </a:p>
        </p:txBody>
      </p:sp>
      <p:sp>
        <p:nvSpPr>
          <p:cNvPr id="17" name="Text 15"/>
          <p:cNvSpPr/>
          <p:nvPr/>
        </p:nvSpPr>
        <p:spPr>
          <a:xfrm>
            <a:off x="1371600" y="3474720"/>
            <a:ext cx="3474720" cy="868680"/>
          </a:xfrm>
          <a:prstGeom prst="rect">
            <a:avLst/>
          </a:prstGeom>
          <a:noFill/>
          <a:ln/>
        </p:spPr>
        <p:txBody>
          <a:bodyPr wrap="square" lIns="0" tIns="0" rIns="0" bIns="0" rtlCol="0" anchor="ctr"/>
          <a:lstStyle/>
          <a:p>
            <a:pPr indent="0" marL="0">
              <a:lnSpc>
                <a:spcPct val="110000"/>
              </a:lnSpc>
              <a:buNone/>
            </a:pPr>
            <a:r>
              <a:rPr lang="en-US" sz="1900" b="1" dirty="0">
                <a:solidFill>
                  <a:srgbClr val="2D3436"/>
                </a:solidFill>
                <a:latin typeface="BIZ UDPGothic" pitchFamily="34" charset="0"/>
                <a:ea typeface="BIZ UDPGothic" pitchFamily="34" charset="-122"/>
                <a:cs typeface="BIZ UDPGothic" pitchFamily="34" charset="-120"/>
              </a:rPr>
              <a:t>1ヶ月以上続けば</a:t>
            </a:r>
            <a:endParaRPr lang="en-US" sz="1900" dirty="0"/>
          </a:p>
          <a:p>
            <a:pPr indent="0" marL="0">
              <a:lnSpc>
                <a:spcPct val="110000"/>
              </a:lnSpc>
              <a:buNone/>
            </a:pPr>
            <a:r>
              <a:rPr lang="en-US" sz="1900" b="1" dirty="0">
                <a:solidFill>
                  <a:srgbClr val="2D3436"/>
                </a:solidFill>
                <a:latin typeface="BIZ UDPGothic" pitchFamily="34" charset="0"/>
                <a:ea typeface="BIZ UDPGothic" pitchFamily="34" charset="-122"/>
                <a:cs typeface="BIZ UDPGothic" pitchFamily="34" charset="-120"/>
              </a:rPr>
              <a:t>受診を</a:t>
            </a:r>
            <a:endParaRPr lang="en-US" sz="1900" dirty="0"/>
          </a:p>
        </p:txBody>
      </p:sp>
      <p:sp>
        <p:nvSpPr>
          <p:cNvPr id="18" name="Text 16"/>
          <p:cNvSpPr/>
          <p:nvPr/>
        </p:nvSpPr>
        <p:spPr>
          <a:xfrm>
            <a:off x="5029200" y="3520440"/>
            <a:ext cx="3474720" cy="822960"/>
          </a:xfrm>
          <a:prstGeom prst="rect">
            <a:avLst/>
          </a:prstGeom>
          <a:noFill/>
          <a:ln/>
        </p:spPr>
        <p:txBody>
          <a:bodyPr wrap="square" lIns="0" tIns="0" rIns="0" bIns="0" rtlCol="0" anchor="ctr"/>
          <a:lstStyle/>
          <a:p>
            <a:pPr indent="0" marL="0">
              <a:lnSpc>
                <a:spcPct val="120000"/>
              </a:lnSpc>
              <a:buNone/>
            </a:pPr>
            <a:r>
              <a:rPr lang="en-US" sz="1500" dirty="0">
                <a:solidFill>
                  <a:srgbClr val="636E72"/>
                </a:solidFill>
                <a:latin typeface="BIZ UDPGothic" pitchFamily="34" charset="0"/>
                <a:ea typeface="BIZ UDPGothic" pitchFamily="34" charset="-122"/>
                <a:cs typeface="BIZ UDPGothic" pitchFamily="34" charset="-120"/>
              </a:rPr>
              <a:t>現在の睡眠薬は安全性が高い</a:t>
            </a:r>
            <a:endParaRPr lang="en-US" sz="1500" dirty="0"/>
          </a:p>
          <a:p>
            <a:pPr indent="0" marL="0">
              <a:lnSpc>
                <a:spcPct val="120000"/>
              </a:lnSpc>
              <a:buNone/>
            </a:pPr>
            <a:r>
              <a:rPr lang="en-US" sz="1500" dirty="0">
                <a:solidFill>
                  <a:srgbClr val="636E72"/>
                </a:solidFill>
                <a:latin typeface="BIZ UDPGothic" pitchFamily="34" charset="0"/>
                <a:ea typeface="BIZ UDPGothic" pitchFamily="34" charset="-122"/>
                <a:cs typeface="BIZ UDPGothic" pitchFamily="34" charset="-120"/>
              </a:rPr>
              <a:t>治療可能な病気が見つかることも</a:t>
            </a:r>
            <a:endParaRPr lang="en-US" sz="1500" dirty="0"/>
          </a:p>
        </p:txBody>
      </p:sp>
      <p:sp>
        <p:nvSpPr>
          <p:cNvPr id="19" name="Shape 17"/>
          <p:cNvSpPr/>
          <p:nvPr/>
        </p:nvSpPr>
        <p:spPr>
          <a:xfrm>
            <a:off x="0" y="4800600"/>
            <a:ext cx="9144000" cy="347472"/>
          </a:xfrm>
          <a:prstGeom prst="rect">
            <a:avLst/>
          </a:prstGeom>
          <a:solidFill>
            <a:srgbClr val="1B3A5C"/>
          </a:solidFill>
          <a:ln/>
        </p:spPr>
      </p:sp>
      <p:sp>
        <p:nvSpPr>
          <p:cNvPr id="20" name="Text 18"/>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#15</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850C"/>
          </a:solidFill>
          <a:ln/>
        </p:spPr>
      </p:sp>
      <p:sp>
        <p:nvSpPr>
          <p:cNvPr id="3" name="Shape 1"/>
          <p:cNvSpPr/>
          <p:nvPr/>
        </p:nvSpPr>
        <p:spPr>
          <a:xfrm>
            <a:off x="0" y="5088636"/>
            <a:ext cx="9144000" cy="54864"/>
          </a:xfrm>
          <a:prstGeom prst="rect">
            <a:avLst/>
          </a:prstGeom>
          <a:solidFill>
            <a:srgbClr val="E8850C"/>
          </a:solidFill>
          <a:ln/>
        </p:spPr>
      </p:sp>
      <p:sp>
        <p:nvSpPr>
          <p:cNvPr id="4" name="Text 2"/>
          <p:cNvSpPr/>
          <p:nvPr/>
        </p:nvSpPr>
        <p:spPr>
          <a:xfrm>
            <a:off x="548640" y="548640"/>
            <a:ext cx="8046720" cy="640080"/>
          </a:xfrm>
          <a:prstGeom prst="rect">
            <a:avLst/>
          </a:prstGeom>
          <a:noFill/>
          <a:ln/>
        </p:spPr>
        <p:txBody>
          <a:bodyPr wrap="square" lIns="0" tIns="0" rIns="0" bIns="0" rtlCol="0" anchor="ctr"/>
          <a:lstStyle/>
          <a:p>
            <a:pPr algn="ctr" indent="0" marL="0">
              <a:buNone/>
            </a:pPr>
            <a:r>
              <a:rPr lang="en-US" sz="3000" b="1" dirty="0">
                <a:solidFill>
                  <a:srgbClr val="FFFFFF"/>
                </a:solidFill>
                <a:latin typeface="BIZ UDPGothic" pitchFamily="34" charset="0"/>
                <a:ea typeface="BIZ UDPGothic" pitchFamily="34" charset="-122"/>
                <a:cs typeface="BIZ UDPGothic" pitchFamily="34" charset="-120"/>
              </a:rPr>
              <a:t>ご視聴ありがとうございました</a:t>
            </a:r>
            <a:endParaRPr lang="en-US" sz="3000" dirty="0"/>
          </a:p>
        </p:txBody>
      </p:sp>
      <p:sp>
        <p:nvSpPr>
          <p:cNvPr id="5" name="Shape 3"/>
          <p:cNvSpPr/>
          <p:nvPr/>
        </p:nvSpPr>
        <p:spPr>
          <a:xfrm>
            <a:off x="2286000" y="1371600"/>
            <a:ext cx="4572000" cy="0"/>
          </a:xfrm>
          <a:prstGeom prst="line">
            <a:avLst/>
          </a:prstGeom>
          <a:noFill/>
          <a:ln w="25400">
            <a:solidFill>
              <a:srgbClr val="E8850C"/>
            </a:solidFill>
            <a:prstDash val="solid"/>
          </a:ln>
        </p:spPr>
      </p:sp>
      <p:sp>
        <p:nvSpPr>
          <p:cNvPr id="6" name="Text 4"/>
          <p:cNvSpPr/>
          <p:nvPr/>
        </p:nvSpPr>
        <p:spPr>
          <a:xfrm>
            <a:off x="548640" y="1554480"/>
            <a:ext cx="8046720" cy="365760"/>
          </a:xfrm>
          <a:prstGeom prst="rect">
            <a:avLst/>
          </a:prstGeom>
          <a:noFill/>
          <a:ln/>
        </p:spPr>
        <p:txBody>
          <a:bodyPr wrap="square" lIns="0" tIns="0" rIns="0" bIns="0" rtlCol="0" anchor="ctr"/>
          <a:lstStyle/>
          <a:p>
            <a:pPr algn="ctr" indent="0" marL="0">
              <a:buNone/>
            </a:pPr>
            <a:r>
              <a:rPr lang="en-US" sz="1800" dirty="0">
                <a:solidFill>
                  <a:srgbClr val="E8850C"/>
                </a:solidFill>
                <a:latin typeface="BIZ UDPGothic" pitchFamily="34" charset="0"/>
                <a:ea typeface="BIZ UDPGothic" pitchFamily="34" charset="-122"/>
                <a:cs typeface="BIZ UDPGothic" pitchFamily="34" charset="-120"/>
              </a:rPr>
              <a:t>チャンネル登録・高評価よろしくお願いします！</a:t>
            </a:r>
            <a:endParaRPr lang="en-US" sz="1800" dirty="0"/>
          </a:p>
        </p:txBody>
      </p:sp>
      <p:sp>
        <p:nvSpPr>
          <p:cNvPr id="7" name="Text 5"/>
          <p:cNvSpPr/>
          <p:nvPr/>
        </p:nvSpPr>
        <p:spPr>
          <a:xfrm>
            <a:off x="1371600" y="2286000"/>
            <a:ext cx="6400800" cy="365760"/>
          </a:xfrm>
          <a:prstGeom prst="rect">
            <a:avLst/>
          </a:prstGeom>
          <a:noFill/>
          <a:ln/>
        </p:spPr>
        <p:txBody>
          <a:bodyPr wrap="square" lIns="0" tIns="0" rIns="0" bIns="0" rtlCol="0" anchor="ctr"/>
          <a:lstStyle/>
          <a:p>
            <a:pPr indent="0" marL="0">
              <a:buNone/>
            </a:pPr>
            <a:r>
              <a:rPr lang="en-US" sz="1600" dirty="0">
                <a:solidFill>
                  <a:srgbClr val="B0BEC5"/>
                </a:solidFill>
                <a:latin typeface="BIZ UDPGothic" pitchFamily="34" charset="0"/>
                <a:ea typeface="BIZ UDPGothic" pitchFamily="34" charset="-122"/>
                <a:cs typeface="BIZ UDPGothic" pitchFamily="34" charset="-120"/>
              </a:rPr>
              <a:t>🔗 ブログ記事で詳しく読む（概要欄にリンク）</a:t>
            </a:r>
            <a:endParaRPr lang="en-US" sz="1600" dirty="0"/>
          </a:p>
        </p:txBody>
      </p:sp>
      <p:sp>
        <p:nvSpPr>
          <p:cNvPr id="8" name="Text 6"/>
          <p:cNvSpPr/>
          <p:nvPr/>
        </p:nvSpPr>
        <p:spPr>
          <a:xfrm>
            <a:off x="548640" y="3017520"/>
            <a:ext cx="8046720" cy="365760"/>
          </a:xfrm>
          <a:prstGeom prst="rect">
            <a:avLst/>
          </a:prstGeom>
          <a:noFill/>
          <a:ln/>
        </p:spPr>
        <p:txBody>
          <a:bodyPr wrap="square" lIns="0" tIns="0" rIns="0" bIns="0" rtlCol="0" anchor="ctr"/>
          <a:lstStyle/>
          <a:p>
            <a:pPr algn="ctr" indent="0" marL="0">
              <a:buNone/>
            </a:pPr>
            <a:r>
              <a:rPr lang="en-US" sz="1400" b="1" dirty="0">
                <a:solidFill>
                  <a:srgbClr val="E8850C"/>
                </a:solidFill>
                <a:latin typeface="BIZ UDPGothic" pitchFamily="34" charset="0"/>
                <a:ea typeface="BIZ UDPGothic" pitchFamily="34" charset="-122"/>
                <a:cs typeface="BIZ UDPGothic" pitchFamily="34" charset="-120"/>
              </a:rPr>
              <a:t>次回予告</a:t>
            </a:r>
            <a:endParaRPr lang="en-US" sz="1400" dirty="0"/>
          </a:p>
        </p:txBody>
      </p:sp>
      <p:sp>
        <p:nvSpPr>
          <p:cNvPr id="9" name="Text 7"/>
          <p:cNvSpPr/>
          <p:nvPr/>
        </p:nvSpPr>
        <p:spPr>
          <a:xfrm>
            <a:off x="548640" y="3383280"/>
            <a:ext cx="8046720" cy="365760"/>
          </a:xfrm>
          <a:prstGeom prst="rect">
            <a:avLst/>
          </a:prstGeom>
          <a:noFill/>
          <a:ln/>
        </p:spPr>
        <p:txBody>
          <a:bodyPr wrap="square" lIns="0" tIns="0" rIns="0" bIns="0" rtlCol="0" anchor="ctr"/>
          <a:lstStyle/>
          <a:p>
            <a:pPr algn="ctr" indent="0" marL="0">
              <a:buNone/>
            </a:pPr>
            <a:r>
              <a:rPr lang="en-US" sz="1800" dirty="0">
                <a:solidFill>
                  <a:srgbClr val="90A4AE"/>
                </a:solidFill>
                <a:latin typeface="BIZ UDPGothic" pitchFamily="34" charset="0"/>
                <a:ea typeface="BIZ UDPGothic" pitchFamily="34" charset="-122"/>
                <a:cs typeface="BIZ UDPGothic" pitchFamily="34" charset="-120"/>
              </a:rPr>
              <a:t>#16 スマホの使いすぎで手がしびれる？ ― デジタル時代の神経トラブル</a:t>
            </a:r>
            <a:endParaRPr lang="en-US" sz="1800" dirty="0"/>
          </a:p>
        </p:txBody>
      </p:sp>
      <p:sp>
        <p:nvSpPr>
          <p:cNvPr id="10" name="Text 8"/>
          <p:cNvSpPr/>
          <p:nvPr/>
        </p:nvSpPr>
        <p:spPr>
          <a:xfrm>
            <a:off x="548640" y="4389120"/>
            <a:ext cx="8046720" cy="365760"/>
          </a:xfrm>
          <a:prstGeom prst="rect">
            <a:avLst/>
          </a:prstGeom>
          <a:noFill/>
          <a:ln/>
        </p:spPr>
        <p:txBody>
          <a:bodyPr wrap="square" lIns="0" tIns="0" rIns="0" bIns="0" rtlCol="0" anchor="ctr"/>
          <a:lstStyle/>
          <a:p>
            <a:pPr algn="ctr" indent="0" marL="0">
              <a:buNone/>
            </a:pPr>
            <a:r>
              <a:rPr lang="en-US" sz="1400" dirty="0">
                <a:solidFill>
                  <a:srgbClr val="78909C"/>
                </a:solidFill>
                <a:latin typeface="BIZ UDPGothic" pitchFamily="34" charset="0"/>
                <a:ea typeface="BIZ UDPGothic" pitchFamily="34" charset="-122"/>
                <a:cs typeface="BIZ UDPGothic" pitchFamily="34" charset="-120"/>
              </a:rPr>
              <a:t>医知創造ラボ</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【その症状、大丈夫？#15】眠れないのは脳のせい？ ― 不眠のメカニズムと正しい対処法</dc:title>
  <dc:subject>PptxGenJS Presentation</dc:subject>
  <dc:creator>今村久司</dc:creator>
  <cp:lastModifiedBy>今村久司</cp:lastModifiedBy>
  <cp:revision>1</cp:revision>
  <dcterms:created xsi:type="dcterms:W3CDTF">2026-04-14T01:02:58Z</dcterms:created>
  <dcterms:modified xsi:type="dcterms:W3CDTF">2026-04-14T01:02:58Z</dcterms:modified>
</cp:coreProperties>
</file>