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97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modSld">
      <pc:chgData name="久司 今村" userId="1c5d66dd010fbc96" providerId="LiveId" clId="{17FB10CB-4D7A-4D51-827D-8C222DDB014F}" dt="2026-03-28T00:57:52.272" v="0" actId="14100"/>
      <pc:docMkLst>
        <pc:docMk/>
      </pc:docMkLst>
      <pc:sldChg chg="modSp mod">
        <pc:chgData name="久司 今村" userId="1c5d66dd010fbc96" providerId="LiveId" clId="{17FB10CB-4D7A-4D51-827D-8C222DDB014F}" dt="2026-03-28T00:57:52.272" v="0" actId="14100"/>
        <pc:sldMkLst>
          <pc:docMk/>
          <pc:sldMk cId="0" sldId="267"/>
        </pc:sldMkLst>
        <pc:spChg chg="mod">
          <ac:chgData name="久司 今村" userId="1c5d66dd010fbc96" providerId="LiveId" clId="{17FB10CB-4D7A-4D51-827D-8C222DDB014F}" dt="2026-03-28T00:57:52.272" v="0" actId="14100"/>
          <ac:spMkLst>
            <pc:docMk/>
            <pc:sldMk cId="0" sldId="26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61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細胞外液補充液の使い分け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 vs リンゲル液を徹底比較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「とりあえず生食」から卒業する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291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685800" cy="68580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組成の違いを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説明できる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生食・乳酸RL・酢酸RL・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重炭酸RLの特徴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109728" cy="329184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685800" cy="6858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519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エビデンスに基づき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使い分けられる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SMART/BaSICS/PLUS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疾患別の選択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109728" cy="32918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132320" y="1280160"/>
            <a:ext cx="685800" cy="6858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3232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Fluid Stewardship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を実践できる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種類・量・速度・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タイミングの管理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体液分布の基礎 — 60-40-20の法則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00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体液 ＝ 体重の約 60%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120640" cy="2834640"/>
          </a:xfrm>
          <a:prstGeom prst="rect">
            <a:avLst/>
          </a:prstGeom>
          <a:solidFill>
            <a:srgbClr val="AED6F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細胞内液（ICF）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体重の約 40%（体液の 2/3）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主要電解質：K⁺、リン酸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743200" cy="2834640"/>
          </a:xfrm>
          <a:prstGeom prst="rect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細胞外液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（ECF）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体重の約 20%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（体液の 1/3）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0" y="3291840"/>
            <a:ext cx="2560320" cy="54864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間質液 15%（3/4）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3931920"/>
            <a:ext cx="256032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血漿 5%（1/4）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輸液はどこに分布する？ — 1/4ルール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926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細胞外液補充液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1,000 mL 投与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383280" cy="6400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血管内に約 250 mL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（投与量の 1/4）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残り 750 mL は間質へ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109728" cy="292608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5% ブドウ糖液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1,000 mL 投与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2651760"/>
            <a:ext cx="3383280" cy="64008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12064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血管内に約 83 mL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（投与量の 1/12）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全体液に拡散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09728" cy="64008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出血性ショックで「出血量の3倍の晶質液」と言われる根拠がここにある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細胞外液補充液の種類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生理食塩水（0.9% NaCl）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Na⁺ と Cl⁻ のみ。緩衝剤なし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109728" cy="13716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バランス液（リンゲル液）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血漿に近い電解質組成＋緩衝剤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109728" cy="21031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乳酸リンゲル液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ラクテック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ソルラクト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肝臓で代謝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使用実績が最も豊富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274320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109728" cy="21031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酢酸リンゲル液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ヴィーンF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ソルアセトF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全身組織で代謝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肝不全でも使用可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2697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109728" cy="21031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重炭酸リンゲル液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ビカネイト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代謝不要で直接緩衝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最も「生理的」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組成比較表 — 生食の「非生理性」に注目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795528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血漿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生食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乳酸RL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酢酸RL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重炭酸RL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Na⁺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K⁺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Ca²⁺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Cl⁻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緩衝剤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HCO₃⁻ 24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なし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乳酸 28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酢酸 28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HCO₃⁻ 28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浸透圧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273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6.7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8D7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457200" y="4389120"/>
            <a:ext cx="109728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生食の Cl⁻ = 154 は血漿（100）より約 50% 高い → 大量投与で高 Cl 性アシドーシス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生食の大量投与で何が起こるか？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54864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生食を大量投与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65960" y="1664208"/>
            <a:ext cx="640080" cy="228600"/>
          </a:xfrm>
          <a:prstGeom prst="downArrow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09728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血中 Cl⁻ 濃度が上昇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65960" y="2304288"/>
            <a:ext cx="640080" cy="228600"/>
          </a:xfrm>
          <a:prstGeom prst="downArrow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09728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SID（Strong Ion Difference）が低下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65960" y="2944368"/>
            <a:ext cx="640080" cy="228600"/>
          </a:xfrm>
          <a:prstGeom prst="downArrow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09728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代謝性アシドーシス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F8D7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109728" cy="32918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腎臓への影響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Cl⁻ 上昇
</a:t>
            </a:r>
            <a:r>
              <a:rPr lang="en-US" sz="18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
</a:t>
            </a: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TGF 活性化
</a:t>
            </a:r>
            <a:r>
              <a:rPr lang="en-US" sz="18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
</a:t>
            </a: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輸入細動脈 収縮
</a:t>
            </a:r>
            <a:r>
              <a:rPr lang="en-US" sz="18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
</a:t>
            </a: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GFR 低下 → AKI ↑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SMART 試験（2018）— 最初の大規模試験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0972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単施設・クラスターランダム化（Vanderbilt ICU） </a:t>
            </a: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15,802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3931920" cy="18288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109728" cy="18288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バランス液群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MAKE30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14.3%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2468880"/>
            <a:ext cx="109728" cy="182880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MAKE30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15.4%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109728" cy="5486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 = 0.04  バランス液が有意に優位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BaSICS・PLUS — 全体集団では有意差なし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BaSICS（2021）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75施設  N = 11,052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90日死亡率
</a:t>
            </a: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26.4% vs 27.2%
</a:t>
            </a:r>
            <a:r>
              <a:rPr lang="en-US" sz="1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= 0.47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PLUS（2022）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53施設 二重盲検  N = 5,037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90日死亡率
</a:t>
            </a: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21.8% vs 22.0%
</a:t>
            </a:r>
            <a:r>
              <a:rPr lang="en-US" sz="1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= 0.90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BEST-Living IPD メタアナリシス（2023）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 RCT・34,685 名 → 有益性の事後確率 89.5%（有意差なし）
</a:t>
            </a: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サブグループでは明確な違いあり → 次スライド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バランス液が有利な病態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11887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敗血症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BEST-Living: 有益性の事後確率 89.5%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SSC 2021: バランス液を弱く推奨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09728" cy="11887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DKA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0" y="24688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RINSE-DKA: HAGMA 解消が有意に早い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（adjusted HR 1.325, P &lt; 0.001）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09728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急性膵炎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乳酸リンゲル液で中等度〜重度への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進展リスク低下傾向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生食を選ぶべき病態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828800"/>
          </a:xfrm>
          <a:prstGeom prst="rect">
            <a:avLst/>
          </a:prstGeom>
          <a:solidFill>
            <a:srgbClr val="F8D7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8288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外傷性脳損傷（TBI）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BEST-Living: harm 確率 </a:t>
            </a:r>
            <a:r>
              <a:rPr lang="en-US" sz="2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97.5%
</a:t>
            </a: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乳酸 RL 浸透圧 273 mOsm/L → 低張 → 脳浮腫悪化リスク
</a:t>
            </a: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ESICM 2024: TBI には生食を条件付きで推奨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109728" cy="13716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高カリウム血症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バランス液は K⁺ 4 mEq/L を含有 → 重度高 K（&gt; 6.0）では避ける
</a:t>
            </a: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生食は K⁺ を含まないため第一選択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緩衝剤の違い — 乳酸 vs 酢酸 vs 重炭酸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926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乳酸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ラクテック等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速度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中等度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59" y="3017520"/>
            <a:ext cx="173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使用実績が最も豊富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肝不全時に注意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109728" cy="29260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酢酸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ヴィーンF等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全身の組織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速度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やや速い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290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6052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肝不全でも使用可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2900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6052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急速投与で低血圧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109728" cy="29260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26364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重炭酸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6364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ビカネイト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不要（直接緩衝）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936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速度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即時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0936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最も生理的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0936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3429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隔壁バッグが必要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457200" y="4206240"/>
            <a:ext cx="109728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メタアナリシスでは酢酸 RL と乳酸 RL の間で死亡率・AKI に有意差なし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肝不全時、乳酸リンゲル液は本当にダメ？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輸液由来の乳酸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mEq/L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（乳酸 RL 1L あたり）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09728" cy="22860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内因性の乳酸産生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1,000〜1,500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mEq/時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（体内で毎時産生）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臨床的に問題になることは稀。</a:t>
            </a: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輸液由来の乳酸はごくわずか
</a:t>
            </a: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不安なら → 酢酸 RL or 重炭酸 RL に切り替え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疾患別選択 — 出血性ショック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3716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第一選択：バランス液（細胞外液補充液）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出血量 × 3 の晶質液が目安（1/4 ルール）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21031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09728" cy="2103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Damage Control Resuscitation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・大量晶質液 → </a:t>
            </a: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希釈性凝固障害</a:t>
            </a: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・間質浮腫のリスク
・晶質液を控えめにし </a:t>
            </a: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早期に輸血へ移行
</a:t>
            </a: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・推定 1,500 mL 以上の出血では MTP 発動を検討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疾患別選択 — 敗血症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SSC 2021：バランス液を弱く推奨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09728" cy="64008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初期蘇生：30 mL/kg 以内（最初の 3 時間）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109728" cy="64008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輸液反応性の評価（PLR・SVV）に基づき追加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109728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早期のノルアドレナリン併用が推奨傾向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09728" cy="64008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アルブミンは大量晶質液投与後に考慮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疾患別選択 — DKA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第一選択：バランス液（乳酸リンゲル液）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生食よりも病態生理学的に合理的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RINSE-DKA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HAGMA 解消
</a:t>
            </a: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1.325
</a:t>
            </a: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(95%CI 1.121-1.566)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&lt; 0.001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931920" cy="2286000"/>
          </a:xfrm>
          <a:prstGeom prst="rect">
            <a:avLst/>
          </a:prstGeom>
          <a:solidFill>
            <a:srgbClr val="F8D7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2560320"/>
            <a:ext cx="109728" cy="22860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なぜ生食は不利？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生食 大量投与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高Cl性 非AG アシドーシス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ケトアシドーシスの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解消を遅延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疾患別選択 — 周術期管理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3291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331720" cy="731520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術後浮腫↓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肺合併症↓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331720" cy="73152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腎灌流低下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AKI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109728" cy="329184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8328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開放的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286000"/>
            <a:ext cx="2331720" cy="731520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2286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循環動態安定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3108960"/>
            <a:ext cx="2331720" cy="73152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術後浮腫↑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肺水腫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109728" cy="32918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GDFT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6364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個別化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2286000"/>
            <a:ext cx="2331720" cy="731520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過不足なく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最適化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108960"/>
            <a:ext cx="2331720" cy="73152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機器・技術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が必要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109728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現在のコンセンサス → GDFT（SVV・PPV で個別化）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細胞外液補充液 vs 維持液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細胞外液補充液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維持液（3号液）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目的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蘇生・補充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水・電解質の維持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Na⁺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130〜154（等張）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35〜50（低張）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ブドウ糖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なし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あり（2.5〜5%）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適応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ショック・出血・術中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絶食時維持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代表製品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生食・ラクテック・ヴィーンF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ソリタT3・フィジオ35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109728" cy="54864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迷ったらまず細胞外液補充液。維持液の急速投与は低 Na 血症リスク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晶質液 vs 膠質液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晶質液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初期蘇生の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血管内に 1/4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大量投与で間質浮腫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09728" cy="22860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アルブミン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肝硬変の蘇生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大量晶質液後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ESICM: 肝硬変で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条件付き推奨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2286000"/>
          </a:xfrm>
          <a:prstGeom prst="rect">
            <a:avLst/>
          </a:prstGeom>
          <a:solidFill>
            <a:srgbClr val="F8D7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109728" cy="22860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推奨されない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AKI↑ 死亡率↑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EMA 使用停止勧告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SSC 強い推奨で非推奨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Fluid Stewardship — ROSE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09728" cy="2743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Resuscitation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蘇生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急速ボーラスで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臓器灌流を回復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182880" cy="457200"/>
          </a:xfrm>
          <a:prstGeom prst="rightArrow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155448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109728" cy="27432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108960" y="1691640"/>
            <a:ext cx="731520" cy="73152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108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603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最適化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輸液反応性に基づき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酸素運搬を最適化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2103120"/>
            <a:ext cx="182880" cy="457200"/>
          </a:xfrm>
          <a:prstGeom prst="rightArrow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109728" cy="27432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303520" y="1691640"/>
            <a:ext cx="731520" cy="73152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3035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Stabilization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安定化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維持のみ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不要な輸液を中止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2103120"/>
            <a:ext cx="182880" cy="457200"/>
          </a:xfrm>
          <a:prstGeom prst="rightArrow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858000" y="1554480"/>
            <a:ext cx="109728" cy="2743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7498080" y="1691640"/>
            <a:ext cx="731520" cy="73152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498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9494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Evacuation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除去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944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利尿薬・限外濾過で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過剰体液を除去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4480560"/>
            <a:ext cx="109728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ESICM 2024-2025: 選択・量・除去の 3 部構成ガイドライン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輸液オーダー時の 4 つの問い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640080" cy="64008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051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この輸液は本当に必要か？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経口摂取で代替できないか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09728" cy="82296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どの種類が最適か？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病態に応じた選択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109728" cy="82296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どのくらいの量が必要か？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過不足なく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109728" cy="8229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6304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いつ中止すべきか？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漫然投与を避ける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輸液選択の判断フレームワーク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" cy="8686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85800" cy="6858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目的の明確化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1051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蘇生・補充 → 細胞外液補充液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 → 維持液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09728" cy="8686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685800" cy="6858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種類の選択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一般 → バランス液が第一選択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TBI・高K → 生食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109728" cy="86868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685800" cy="6858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量と速度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49040" y="3063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蘇生：ボーラス＋輸液反応性評価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安定後：維持量へ移行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109728" cy="8686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685800" cy="6858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再評価と中止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49040" y="4069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「この輸液はまだ必要か？」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漫然投与を避ける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Semler MW, et al. SMART Trial. NEJM 2018;378:829-839.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Self WH, et al. SALT-ED. NEJM 2018;378:819-828.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Zampieri FG, et al. BaSICS Trial. JAMA 2021;326:818-829.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Finfer S, et al. PLUS Trial. NEJM 2022;386:815-826.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Zampieri FG, et al. BEST-Living IPD MA. Lancet Respir Med 2023.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Evans L, et al. SSC Guidelines 2021. Crit Care Med 2021.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Zampieri FG, et al. ESICM Fluid GL Part 1. ICM 2024.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Malbrain MLNG, et al. Fluid Stewardship. Ann Intensive Care 2023.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RINSE-DKA. Pharmacotherapy 2024.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画面に合わせる (16:9)</PresentationFormat>
  <Paragraphs>361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細胞外液補充液の使い分け｜生食 vs リンゲル液を徹底比較</dc:title>
  <dc:subject>PptxGenJS Presentation</dc:subject>
  <dc:creator>今村久司</dc:creator>
  <cp:lastModifiedBy>久司 今村</cp:lastModifiedBy>
  <cp:revision>1</cp:revision>
  <dcterms:created xsi:type="dcterms:W3CDTF">2026-03-28T00:57:05Z</dcterms:created>
  <dcterms:modified xsi:type="dcterms:W3CDTF">2026-03-28T00:58:02Z</dcterms:modified>
</cp:coreProperties>
</file>