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sp>
      <p:sp>
        <p:nvSpPr>
          <p:cNvPr id="3" name="Shape 1"/>
          <p:cNvSpPr/>
          <p:nvPr/>
        </p:nvSpPr>
        <p:spPr>
          <a:xfrm>
            <a:off x="0" y="5088636"/>
            <a:ext cx="9144000" cy="54864"/>
          </a:xfrm>
          <a:prstGeom prst="rect">
            <a:avLst/>
          </a:prstGeom>
          <a:solidFill>
            <a:srgbClr val="4A90D9"/>
          </a:solidFill>
          <a:ln/>
        </p:spPr>
      </p:sp>
      <p:sp>
        <p:nvSpPr>
          <p:cNvPr id="4" name="Text 2"/>
          <p:cNvSpPr/>
          <p:nvPr/>
        </p:nvSpPr>
        <p:spPr>
          <a:xfrm>
            <a:off x="731520" y="457200"/>
            <a:ext cx="7680960" cy="457200"/>
          </a:xfrm>
          <a:prstGeom prst="rect">
            <a:avLst/>
          </a:prstGeom>
          <a:noFill/>
          <a:ln/>
        </p:spPr>
        <p:txBody>
          <a:bodyPr wrap="square" lIns="0" tIns="0" rIns="0" bIns="0" rtlCol="0" anchor="ctr"/>
          <a:lstStyle/>
          <a:p>
            <a:pPr algn="ctr" indent="0" marL="0">
              <a:buNone/>
            </a:pPr>
            <a:r>
              <a:rPr lang="en-US" sz="1600" dirty="0">
                <a:solidFill>
                  <a:srgbClr val="4A90D9"/>
                </a:solidFill>
                <a:latin typeface="BIZ UDPGothic" pitchFamily="34" charset="0"/>
                <a:ea typeface="BIZ UDPGothic" pitchFamily="34" charset="-122"/>
                <a:cs typeface="BIZ UDPGothic" pitchFamily="34" charset="-120"/>
              </a:rPr>
              <a:t>脳神経内科医が答える からだの不思議 #16</a:t>
            </a:r>
            <a:endParaRPr lang="en-US" sz="1600" dirty="0"/>
          </a:p>
        </p:txBody>
      </p:sp>
      <p:sp>
        <p:nvSpPr>
          <p:cNvPr id="5" name="Text 3"/>
          <p:cNvSpPr/>
          <p:nvPr/>
        </p:nvSpPr>
        <p:spPr>
          <a:xfrm>
            <a:off x="731520" y="1097280"/>
            <a:ext cx="7680960" cy="1463040"/>
          </a:xfrm>
          <a:prstGeom prst="rect">
            <a:avLst/>
          </a:prstGeom>
          <a:noFill/>
          <a:ln/>
        </p:spPr>
        <p:txBody>
          <a:bodyPr wrap="square" lIns="0" tIns="0" rIns="0" bIns="0" rtlCol="0" anchor="ctr"/>
          <a:lstStyle/>
          <a:p>
            <a:pPr algn="ctr" indent="0" marL="0">
              <a:lnSpc>
                <a:spcPct val="120000"/>
              </a:lnSpc>
              <a:buNone/>
            </a:pPr>
            <a:r>
              <a:rPr lang="en-US" sz="3600" b="1" dirty="0">
                <a:solidFill>
                  <a:srgbClr val="FFFFFF"/>
                </a:solidFill>
                <a:latin typeface="BIZ UDPGothic" pitchFamily="34" charset="0"/>
                <a:ea typeface="BIZ UDPGothic" pitchFamily="34" charset="-122"/>
                <a:cs typeface="BIZ UDPGothic" pitchFamily="34" charset="-120"/>
              </a:rPr>
              <a:t>けいれんを目撃したとき</a:t>
            </a:r>
            <a:endParaRPr lang="en-US" sz="3600" dirty="0"/>
          </a:p>
          <a:p>
            <a:pPr algn="ctr" indent="0" marL="0">
              <a:lnSpc>
                <a:spcPct val="120000"/>
              </a:lnSpc>
              <a:buNone/>
            </a:pPr>
            <a:r>
              <a:rPr lang="en-US" sz="3600" b="1" dirty="0">
                <a:solidFill>
                  <a:srgbClr val="FFFFFF"/>
                </a:solidFill>
                <a:latin typeface="BIZ UDPGothic" pitchFamily="34" charset="0"/>
                <a:ea typeface="BIZ UDPGothic" pitchFamily="34" charset="-122"/>
                <a:cs typeface="BIZ UDPGothic" pitchFamily="34" charset="-120"/>
              </a:rPr>
              <a:t>どうすればいい？</a:t>
            </a:r>
            <a:endParaRPr lang="en-US" sz="3600" dirty="0"/>
          </a:p>
        </p:txBody>
      </p:sp>
      <p:sp>
        <p:nvSpPr>
          <p:cNvPr id="6" name="Text 4"/>
          <p:cNvSpPr/>
          <p:nvPr/>
        </p:nvSpPr>
        <p:spPr>
          <a:xfrm>
            <a:off x="731520" y="2651760"/>
            <a:ext cx="7680960" cy="548640"/>
          </a:xfrm>
          <a:prstGeom prst="rect">
            <a:avLst/>
          </a:prstGeom>
          <a:noFill/>
          <a:ln/>
        </p:spPr>
        <p:txBody>
          <a:bodyPr wrap="square" lIns="0" tIns="0" rIns="0" bIns="0" rtlCol="0" anchor="ctr"/>
          <a:lstStyle/>
          <a:p>
            <a:pPr algn="ctr" indent="0" marL="0">
              <a:buNone/>
            </a:pPr>
            <a:r>
              <a:rPr lang="en-US" sz="2000" dirty="0">
                <a:solidFill>
                  <a:srgbClr val="4A90D9"/>
                </a:solidFill>
                <a:latin typeface="BIZ UDPGothic" pitchFamily="34" charset="0"/>
                <a:ea typeface="BIZ UDPGothic" pitchFamily="34" charset="-122"/>
                <a:cs typeface="BIZ UDPGothic" pitchFamily="34" charset="-120"/>
              </a:rPr>
              <a:t>― 正しい対応と絶対にやってはいけないこと ―</a:t>
            </a:r>
            <a:endParaRPr lang="en-US" sz="2000" dirty="0"/>
          </a:p>
        </p:txBody>
      </p:sp>
      <p:sp>
        <p:nvSpPr>
          <p:cNvPr id="7" name="Shape 5"/>
          <p:cNvSpPr/>
          <p:nvPr/>
        </p:nvSpPr>
        <p:spPr>
          <a:xfrm>
            <a:off x="2743200" y="3383280"/>
            <a:ext cx="3657600" cy="0"/>
          </a:xfrm>
          <a:prstGeom prst="line">
            <a:avLst/>
          </a:prstGeom>
          <a:noFill/>
          <a:ln w="25400">
            <a:solidFill>
              <a:srgbClr val="4A90D9"/>
            </a:solidFill>
            <a:prstDash val="solid"/>
          </a:ln>
        </p:spPr>
      </p:sp>
      <p:sp>
        <p:nvSpPr>
          <p:cNvPr id="8" name="Text 6"/>
          <p:cNvSpPr/>
          <p:nvPr/>
        </p:nvSpPr>
        <p:spPr>
          <a:xfrm>
            <a:off x="731520" y="3657600"/>
            <a:ext cx="7680960" cy="457200"/>
          </a:xfrm>
          <a:prstGeom prst="rect">
            <a:avLst/>
          </a:prstGeom>
          <a:noFill/>
          <a:ln/>
        </p:spPr>
        <p:txBody>
          <a:bodyPr wrap="square" lIns="0" tIns="0" rIns="0" bIns="0" rtlCol="0" anchor="ctr"/>
          <a:lstStyle/>
          <a:p>
            <a:pPr algn="ctr" indent="0" marL="0">
              <a:buNone/>
            </a:pPr>
            <a:r>
              <a:rPr lang="en-US" sz="2000" dirty="0">
                <a:solidFill>
                  <a:srgbClr val="E8F0FE"/>
                </a:solidFill>
                <a:latin typeface="BIZ UDPGothic" pitchFamily="34" charset="0"/>
                <a:ea typeface="BIZ UDPGothic" pitchFamily="34" charset="-122"/>
                <a:cs typeface="BIZ UDPGothic" pitchFamily="34" charset="-120"/>
              </a:rPr>
              <a:t>医知創造ラボ  今村久司</a:t>
            </a:r>
            <a:endParaRPr lang="en-US" sz="2000" dirty="0"/>
          </a:p>
        </p:txBody>
      </p:sp>
      <p:sp>
        <p:nvSpPr>
          <p:cNvPr id="9" name="Text 7"/>
          <p:cNvSpPr/>
          <p:nvPr/>
        </p:nvSpPr>
        <p:spPr>
          <a:xfrm>
            <a:off x="731520" y="4206240"/>
            <a:ext cx="7680960" cy="365760"/>
          </a:xfrm>
          <a:prstGeom prst="rect">
            <a:avLst/>
          </a:prstGeom>
          <a:noFill/>
          <a:ln/>
        </p:spPr>
        <p:txBody>
          <a:bodyPr wrap="square" lIns="0" tIns="0" rIns="0" bIns="0" rtlCol="0" anchor="ctr"/>
          <a:lstStyle/>
          <a:p>
            <a:pPr algn="ctr" indent="0" marL="0">
              <a:buNone/>
            </a:pPr>
            <a:r>
              <a:rPr lang="en-US" sz="1400" i="1" dirty="0">
                <a:solidFill>
                  <a:srgbClr val="636E72"/>
                </a:solidFill>
                <a:latin typeface="BIZ UDPGothic" pitchFamily="34" charset="0"/>
                <a:ea typeface="BIZ UDPGothic" pitchFamily="34" charset="-122"/>
                <a:cs typeface="BIZ UDPGothic" pitchFamily="34" charset="-120"/>
              </a:rPr>
              <a:t>脳神経内科専門医</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けいれんとは ― 脳の電気的な嵐</a:t>
            </a:r>
            <a:endParaRPr lang="en-US" sz="2400" dirty="0"/>
          </a:p>
        </p:txBody>
      </p:sp>
      <p:sp>
        <p:nvSpPr>
          <p:cNvPr id="4" name="Shape 2"/>
          <p:cNvSpPr/>
          <p:nvPr/>
        </p:nvSpPr>
        <p:spPr>
          <a:xfrm>
            <a:off x="457200" y="1005840"/>
            <a:ext cx="8229600" cy="13716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731520" y="1051560"/>
            <a:ext cx="7680960" cy="411480"/>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けいれん発作（全般発作）のとき、脳では</a:t>
            </a:r>
            <a:endParaRPr lang="en-US" sz="1600" dirty="0"/>
          </a:p>
        </p:txBody>
      </p:sp>
      <p:sp>
        <p:nvSpPr>
          <p:cNvPr id="6" name="Text 4"/>
          <p:cNvSpPr/>
          <p:nvPr/>
        </p:nvSpPr>
        <p:spPr>
          <a:xfrm>
            <a:off x="731520" y="1463040"/>
            <a:ext cx="7680960" cy="640080"/>
          </a:xfrm>
          <a:prstGeom prst="rect">
            <a:avLst/>
          </a:prstGeom>
          <a:noFill/>
          <a:ln/>
        </p:spPr>
        <p:txBody>
          <a:bodyPr wrap="square" lIns="0" tIns="0" rIns="0" bIns="0" rtlCol="0" anchor="ctr"/>
          <a:lstStyle/>
          <a:p>
            <a:pPr indent="0" marL="0">
              <a:buNone/>
            </a:pPr>
            <a:r>
              <a:rPr lang="en-US" sz="2000" b="1" dirty="0">
                <a:solidFill>
                  <a:srgbClr val="2C5AA0"/>
                </a:solidFill>
                <a:latin typeface="BIZ UDPGothic" pitchFamily="34" charset="0"/>
                <a:ea typeface="BIZ UDPGothic" pitchFamily="34" charset="-122"/>
                <a:cs typeface="BIZ UDPGothic" pitchFamily="34" charset="-120"/>
              </a:rPr>
              <a:t>神経細胞の電気的な嵐（異常放電）が広範囲に起きている</a:t>
            </a:r>
            <a:endParaRPr lang="en-US" sz="2000" dirty="0"/>
          </a:p>
        </p:txBody>
      </p:sp>
      <p:sp>
        <p:nvSpPr>
          <p:cNvPr id="7" name="Shape 5"/>
          <p:cNvSpPr/>
          <p:nvPr/>
        </p:nvSpPr>
        <p:spPr>
          <a:xfrm>
            <a:off x="274320" y="2606040"/>
            <a:ext cx="2743200" cy="2194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Shape 6"/>
          <p:cNvSpPr/>
          <p:nvPr/>
        </p:nvSpPr>
        <p:spPr>
          <a:xfrm>
            <a:off x="274320" y="2606040"/>
            <a:ext cx="2743200" cy="502920"/>
          </a:xfrm>
          <a:prstGeom prst="rect">
            <a:avLst/>
          </a:prstGeom>
          <a:solidFill>
            <a:srgbClr val="DC3545"/>
          </a:solidFill>
          <a:ln/>
        </p:spPr>
      </p:sp>
      <p:sp>
        <p:nvSpPr>
          <p:cNvPr id="9" name="Text 7"/>
          <p:cNvSpPr/>
          <p:nvPr/>
        </p:nvSpPr>
        <p:spPr>
          <a:xfrm>
            <a:off x="274320" y="2606040"/>
            <a:ext cx="274320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Gothic" pitchFamily="34" charset="0"/>
                <a:ea typeface="BIZ UDPGothic" pitchFamily="34" charset="-122"/>
                <a:cs typeface="BIZ UDPGothic" pitchFamily="34" charset="-120"/>
              </a:rPr>
              <a:t>強直期</a:t>
            </a:r>
            <a:endParaRPr lang="en-US" sz="1800" dirty="0"/>
          </a:p>
        </p:txBody>
      </p:sp>
      <p:sp>
        <p:nvSpPr>
          <p:cNvPr id="10" name="Text 8"/>
          <p:cNvSpPr/>
          <p:nvPr/>
        </p:nvSpPr>
        <p:spPr>
          <a:xfrm>
            <a:off x="274320" y="2926080"/>
            <a:ext cx="2743200" cy="182880"/>
          </a:xfrm>
          <a:prstGeom prst="rect">
            <a:avLst/>
          </a:prstGeom>
          <a:noFill/>
          <a:ln/>
        </p:spPr>
        <p:txBody>
          <a:bodyPr wrap="square" lIns="0" tIns="0" rIns="0" bIns="0" rtlCol="0" anchor="ctr"/>
          <a:lstStyle/>
          <a:p>
            <a:pPr algn="ctr" indent="0" marL="0">
              <a:buNone/>
            </a:pPr>
            <a:r>
              <a:rPr lang="en-US" sz="1000" dirty="0">
                <a:solidFill>
                  <a:srgbClr val="FFFFFF"/>
                </a:solidFill>
                <a:latin typeface="Segoe UI" pitchFamily="34" charset="0"/>
                <a:ea typeface="Segoe UI" pitchFamily="34" charset="-122"/>
                <a:cs typeface="Segoe UI" pitchFamily="34" charset="-120"/>
              </a:rPr>
              <a:t>tonic phase</a:t>
            </a:r>
            <a:endParaRPr lang="en-US" sz="1000" dirty="0"/>
          </a:p>
        </p:txBody>
      </p:sp>
      <p:sp>
        <p:nvSpPr>
          <p:cNvPr id="11" name="Text 9"/>
          <p:cNvSpPr/>
          <p:nvPr/>
        </p:nvSpPr>
        <p:spPr>
          <a:xfrm>
            <a:off x="274320" y="3108960"/>
            <a:ext cx="2743200" cy="822960"/>
          </a:xfrm>
          <a:prstGeom prst="rect">
            <a:avLst/>
          </a:prstGeom>
          <a:noFill/>
          <a:ln/>
        </p:spPr>
        <p:txBody>
          <a:bodyPr wrap="square" lIns="0" tIns="0" rIns="0" bIns="0" rtlCol="0" anchor="ctr"/>
          <a:lstStyle/>
          <a:p>
            <a:pPr algn="ct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全身硬直</a:t>
            </a:r>
            <a:endParaRPr lang="en-US" sz="1500" dirty="0"/>
          </a:p>
          <a:p>
            <a:pPr algn="ct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呼吸停止のことも</a:t>
            </a:r>
            <a:endParaRPr lang="en-US" sz="1500" dirty="0"/>
          </a:p>
        </p:txBody>
      </p:sp>
      <p:sp>
        <p:nvSpPr>
          <p:cNvPr id="12" name="Shape 10"/>
          <p:cNvSpPr/>
          <p:nvPr/>
        </p:nvSpPr>
        <p:spPr>
          <a:xfrm>
            <a:off x="548640" y="4023360"/>
            <a:ext cx="2194560" cy="320040"/>
          </a:xfrm>
          <a:prstGeom prst="rect">
            <a:avLst/>
          </a:prstGeom>
          <a:solidFill>
            <a:srgbClr val="E8F0FE"/>
          </a:solidFill>
          <a:ln/>
        </p:spPr>
      </p:sp>
      <p:sp>
        <p:nvSpPr>
          <p:cNvPr id="13" name="Text 11"/>
          <p:cNvSpPr/>
          <p:nvPr/>
        </p:nvSpPr>
        <p:spPr>
          <a:xfrm>
            <a:off x="548640" y="4023360"/>
            <a:ext cx="2194560" cy="320040"/>
          </a:xfrm>
          <a:prstGeom prst="rect">
            <a:avLst/>
          </a:prstGeom>
          <a:noFill/>
          <a:ln/>
        </p:spPr>
        <p:txBody>
          <a:bodyPr wrap="square" lIns="0" tIns="0" rIns="0" bIns="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30〜60秒</a:t>
            </a:r>
            <a:endParaRPr lang="en-US" sz="1300" dirty="0"/>
          </a:p>
        </p:txBody>
      </p:sp>
      <p:sp>
        <p:nvSpPr>
          <p:cNvPr id="14" name="Shape 12"/>
          <p:cNvSpPr/>
          <p:nvPr/>
        </p:nvSpPr>
        <p:spPr>
          <a:xfrm>
            <a:off x="3200400" y="2606040"/>
            <a:ext cx="2743200" cy="2194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3200400" y="2606040"/>
            <a:ext cx="2743200" cy="502920"/>
          </a:xfrm>
          <a:prstGeom prst="rect">
            <a:avLst/>
          </a:prstGeom>
          <a:solidFill>
            <a:srgbClr val="E8850C"/>
          </a:solidFill>
          <a:ln/>
        </p:spPr>
      </p:sp>
      <p:sp>
        <p:nvSpPr>
          <p:cNvPr id="16" name="Text 14"/>
          <p:cNvSpPr/>
          <p:nvPr/>
        </p:nvSpPr>
        <p:spPr>
          <a:xfrm>
            <a:off x="3200400" y="2606040"/>
            <a:ext cx="274320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Gothic" pitchFamily="34" charset="0"/>
                <a:ea typeface="BIZ UDPGothic" pitchFamily="34" charset="-122"/>
                <a:cs typeface="BIZ UDPGothic" pitchFamily="34" charset="-120"/>
              </a:rPr>
              <a:t>間代期</a:t>
            </a:r>
            <a:endParaRPr lang="en-US" sz="1800" dirty="0"/>
          </a:p>
        </p:txBody>
      </p:sp>
      <p:sp>
        <p:nvSpPr>
          <p:cNvPr id="17" name="Text 15"/>
          <p:cNvSpPr/>
          <p:nvPr/>
        </p:nvSpPr>
        <p:spPr>
          <a:xfrm>
            <a:off x="3200400" y="2926080"/>
            <a:ext cx="2743200" cy="182880"/>
          </a:xfrm>
          <a:prstGeom prst="rect">
            <a:avLst/>
          </a:prstGeom>
          <a:noFill/>
          <a:ln/>
        </p:spPr>
        <p:txBody>
          <a:bodyPr wrap="square" lIns="0" tIns="0" rIns="0" bIns="0" rtlCol="0" anchor="ctr"/>
          <a:lstStyle/>
          <a:p>
            <a:pPr algn="ctr" indent="0" marL="0">
              <a:buNone/>
            </a:pPr>
            <a:r>
              <a:rPr lang="en-US" sz="1000" dirty="0">
                <a:solidFill>
                  <a:srgbClr val="FFFFFF"/>
                </a:solidFill>
                <a:latin typeface="Segoe UI" pitchFamily="34" charset="0"/>
                <a:ea typeface="Segoe UI" pitchFamily="34" charset="-122"/>
                <a:cs typeface="Segoe UI" pitchFamily="34" charset="-120"/>
              </a:rPr>
              <a:t>clonic phase</a:t>
            </a:r>
            <a:endParaRPr lang="en-US" sz="1000" dirty="0"/>
          </a:p>
        </p:txBody>
      </p:sp>
      <p:sp>
        <p:nvSpPr>
          <p:cNvPr id="18" name="Text 16"/>
          <p:cNvSpPr/>
          <p:nvPr/>
        </p:nvSpPr>
        <p:spPr>
          <a:xfrm>
            <a:off x="3200400" y="3108960"/>
            <a:ext cx="2743200" cy="822960"/>
          </a:xfrm>
          <a:prstGeom prst="rect">
            <a:avLst/>
          </a:prstGeom>
          <a:noFill/>
          <a:ln/>
        </p:spPr>
        <p:txBody>
          <a:bodyPr wrap="square" lIns="0" tIns="0" rIns="0" bIns="0" rtlCol="0" anchor="ctr"/>
          <a:lstStyle/>
          <a:p>
            <a:pPr algn="ct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規則的な</a:t>
            </a:r>
            <a:endParaRPr lang="en-US" sz="1500" dirty="0"/>
          </a:p>
          <a:p>
            <a:pPr algn="ct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ガクガク収縮</a:t>
            </a:r>
            <a:endParaRPr lang="en-US" sz="1500" dirty="0"/>
          </a:p>
        </p:txBody>
      </p:sp>
      <p:sp>
        <p:nvSpPr>
          <p:cNvPr id="19" name="Shape 17"/>
          <p:cNvSpPr/>
          <p:nvPr/>
        </p:nvSpPr>
        <p:spPr>
          <a:xfrm>
            <a:off x="3474720" y="4023360"/>
            <a:ext cx="2194560" cy="320040"/>
          </a:xfrm>
          <a:prstGeom prst="rect">
            <a:avLst/>
          </a:prstGeom>
          <a:solidFill>
            <a:srgbClr val="E8F0FE"/>
          </a:solidFill>
          <a:ln/>
        </p:spPr>
      </p:sp>
      <p:sp>
        <p:nvSpPr>
          <p:cNvPr id="20" name="Text 18"/>
          <p:cNvSpPr/>
          <p:nvPr/>
        </p:nvSpPr>
        <p:spPr>
          <a:xfrm>
            <a:off x="3474720" y="4023360"/>
            <a:ext cx="2194560" cy="320040"/>
          </a:xfrm>
          <a:prstGeom prst="rect">
            <a:avLst/>
          </a:prstGeom>
          <a:noFill/>
          <a:ln/>
        </p:spPr>
        <p:txBody>
          <a:bodyPr wrap="square" lIns="0" tIns="0" rIns="0" bIns="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30〜60秒</a:t>
            </a:r>
            <a:endParaRPr lang="en-US" sz="1300" dirty="0"/>
          </a:p>
        </p:txBody>
      </p:sp>
      <p:sp>
        <p:nvSpPr>
          <p:cNvPr id="21" name="Shape 19"/>
          <p:cNvSpPr/>
          <p:nvPr/>
        </p:nvSpPr>
        <p:spPr>
          <a:xfrm>
            <a:off x="6126480" y="2606040"/>
            <a:ext cx="2743200" cy="2194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2" name="Shape 20"/>
          <p:cNvSpPr/>
          <p:nvPr/>
        </p:nvSpPr>
        <p:spPr>
          <a:xfrm>
            <a:off x="6126480" y="2606040"/>
            <a:ext cx="2743200" cy="502920"/>
          </a:xfrm>
          <a:prstGeom prst="rect">
            <a:avLst/>
          </a:prstGeom>
          <a:solidFill>
            <a:srgbClr val="4A90D9"/>
          </a:solidFill>
          <a:ln/>
        </p:spPr>
      </p:sp>
      <p:sp>
        <p:nvSpPr>
          <p:cNvPr id="23" name="Text 21"/>
          <p:cNvSpPr/>
          <p:nvPr/>
        </p:nvSpPr>
        <p:spPr>
          <a:xfrm>
            <a:off x="6126480" y="2606040"/>
            <a:ext cx="274320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Gothic" pitchFamily="34" charset="0"/>
                <a:ea typeface="BIZ UDPGothic" pitchFamily="34" charset="-122"/>
                <a:cs typeface="BIZ UDPGothic" pitchFamily="34" charset="-120"/>
              </a:rPr>
              <a:t>発作後期</a:t>
            </a:r>
            <a:endParaRPr lang="en-US" sz="1800" dirty="0"/>
          </a:p>
        </p:txBody>
      </p:sp>
      <p:sp>
        <p:nvSpPr>
          <p:cNvPr id="24" name="Text 22"/>
          <p:cNvSpPr/>
          <p:nvPr/>
        </p:nvSpPr>
        <p:spPr>
          <a:xfrm>
            <a:off x="6126480" y="2926080"/>
            <a:ext cx="2743200" cy="182880"/>
          </a:xfrm>
          <a:prstGeom prst="rect">
            <a:avLst/>
          </a:prstGeom>
          <a:noFill/>
          <a:ln/>
        </p:spPr>
        <p:txBody>
          <a:bodyPr wrap="square" lIns="0" tIns="0" rIns="0" bIns="0" rtlCol="0" anchor="ctr"/>
          <a:lstStyle/>
          <a:p>
            <a:pPr algn="ctr" indent="0" marL="0">
              <a:buNone/>
            </a:pPr>
            <a:r>
              <a:rPr lang="en-US" sz="1000" dirty="0">
                <a:solidFill>
                  <a:srgbClr val="FFFFFF"/>
                </a:solidFill>
                <a:latin typeface="Segoe UI" pitchFamily="34" charset="0"/>
                <a:ea typeface="Segoe UI" pitchFamily="34" charset="-122"/>
                <a:cs typeface="Segoe UI" pitchFamily="34" charset="-120"/>
              </a:rPr>
              <a:t>postictal phase</a:t>
            </a:r>
            <a:endParaRPr lang="en-US" sz="1000" dirty="0"/>
          </a:p>
        </p:txBody>
      </p:sp>
      <p:sp>
        <p:nvSpPr>
          <p:cNvPr id="25" name="Text 23"/>
          <p:cNvSpPr/>
          <p:nvPr/>
        </p:nvSpPr>
        <p:spPr>
          <a:xfrm>
            <a:off x="6126480" y="3108960"/>
            <a:ext cx="2743200" cy="822960"/>
          </a:xfrm>
          <a:prstGeom prst="rect">
            <a:avLst/>
          </a:prstGeom>
          <a:noFill/>
          <a:ln/>
        </p:spPr>
        <p:txBody>
          <a:bodyPr wrap="square" lIns="0" tIns="0" rIns="0" bIns="0" rtlCol="0" anchor="ctr"/>
          <a:lstStyle/>
          <a:p>
            <a:pPr algn="ct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深い眠り</a:t>
            </a:r>
            <a:endParaRPr lang="en-US" sz="1500" dirty="0"/>
          </a:p>
          <a:p>
            <a:pPr algn="ct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錯乱状態</a:t>
            </a:r>
            <a:endParaRPr lang="en-US" sz="1500" dirty="0"/>
          </a:p>
        </p:txBody>
      </p:sp>
      <p:sp>
        <p:nvSpPr>
          <p:cNvPr id="26" name="Shape 24"/>
          <p:cNvSpPr/>
          <p:nvPr/>
        </p:nvSpPr>
        <p:spPr>
          <a:xfrm>
            <a:off x="6400800" y="4023360"/>
            <a:ext cx="2194560" cy="320040"/>
          </a:xfrm>
          <a:prstGeom prst="rect">
            <a:avLst/>
          </a:prstGeom>
          <a:solidFill>
            <a:srgbClr val="E8F0FE"/>
          </a:solidFill>
          <a:ln/>
        </p:spPr>
      </p:sp>
      <p:sp>
        <p:nvSpPr>
          <p:cNvPr id="27" name="Text 25"/>
          <p:cNvSpPr/>
          <p:nvPr/>
        </p:nvSpPr>
        <p:spPr>
          <a:xfrm>
            <a:off x="6400800" y="4023360"/>
            <a:ext cx="2194560" cy="320040"/>
          </a:xfrm>
          <a:prstGeom prst="rect">
            <a:avLst/>
          </a:prstGeom>
          <a:noFill/>
          <a:ln/>
        </p:spPr>
        <p:txBody>
          <a:bodyPr wrap="square" lIns="0" tIns="0" rIns="0" bIns="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数分〜30分</a:t>
            </a:r>
            <a:endParaRPr lang="en-US" sz="1300" dirty="0"/>
          </a:p>
        </p:txBody>
      </p:sp>
      <p:sp>
        <p:nvSpPr>
          <p:cNvPr id="28" name="Text 26"/>
          <p:cNvSpPr/>
          <p:nvPr/>
        </p:nvSpPr>
        <p:spPr>
          <a:xfrm>
            <a:off x="2834640" y="3200400"/>
            <a:ext cx="365760" cy="457200"/>
          </a:xfrm>
          <a:prstGeom prst="rect">
            <a:avLst/>
          </a:prstGeom>
          <a:noFill/>
          <a:ln/>
        </p:spPr>
        <p:txBody>
          <a:bodyPr wrap="square" lIns="0" tIns="0" rIns="0" bIns="0" rtlCol="0" anchor="ctr"/>
          <a:lstStyle/>
          <a:p>
            <a:pPr algn="ctr" indent="0" marL="0">
              <a:buNone/>
            </a:pPr>
            <a:r>
              <a:rPr lang="en-US" sz="2200" dirty="0">
                <a:solidFill>
                  <a:srgbClr val="636E72"/>
                </a:solidFill>
              </a:rPr>
              <a:t>→</a:t>
            </a:r>
            <a:endParaRPr lang="en-US" sz="2200" dirty="0"/>
          </a:p>
        </p:txBody>
      </p:sp>
      <p:sp>
        <p:nvSpPr>
          <p:cNvPr id="29" name="Text 27"/>
          <p:cNvSpPr/>
          <p:nvPr/>
        </p:nvSpPr>
        <p:spPr>
          <a:xfrm>
            <a:off x="5760720" y="3200400"/>
            <a:ext cx="365760" cy="457200"/>
          </a:xfrm>
          <a:prstGeom prst="rect">
            <a:avLst/>
          </a:prstGeom>
          <a:noFill/>
          <a:ln/>
        </p:spPr>
        <p:txBody>
          <a:bodyPr wrap="square" lIns="0" tIns="0" rIns="0" bIns="0" rtlCol="0" anchor="ctr"/>
          <a:lstStyle/>
          <a:p>
            <a:pPr algn="ctr" indent="0" marL="0">
              <a:buNone/>
            </a:pPr>
            <a:r>
              <a:rPr lang="en-US" sz="2200" dirty="0">
                <a:solidFill>
                  <a:srgbClr val="636E72"/>
                </a:solidFill>
              </a:rPr>
              <a:t>→</a:t>
            </a:r>
            <a:endParaRPr lang="en-US" sz="2200" dirty="0"/>
          </a:p>
        </p:txBody>
      </p:sp>
      <p:sp>
        <p:nvSpPr>
          <p:cNvPr id="30" name="Shape 28"/>
          <p:cNvSpPr/>
          <p:nvPr/>
        </p:nvSpPr>
        <p:spPr>
          <a:xfrm>
            <a:off x="457200" y="4617720"/>
            <a:ext cx="8229600" cy="411480"/>
          </a:xfrm>
          <a:prstGeom prst="rect">
            <a:avLst/>
          </a:prstGeom>
          <a:solidFill>
            <a:srgbClr val="E8F0FE"/>
          </a:solidFill>
          <a:ln/>
        </p:spPr>
      </p:sp>
      <p:sp>
        <p:nvSpPr>
          <p:cNvPr id="31" name="Text 29"/>
          <p:cNvSpPr/>
          <p:nvPr/>
        </p:nvSpPr>
        <p:spPr>
          <a:xfrm>
            <a:off x="731520" y="4617720"/>
            <a:ext cx="7680960" cy="411480"/>
          </a:xfrm>
          <a:prstGeom prst="rect">
            <a:avLst/>
          </a:prstGeom>
          <a:noFill/>
          <a:ln/>
        </p:spPr>
        <p:txBody>
          <a:bodyPr wrap="square" lIns="0" tIns="0" rIns="0" bIns="0" rtlCol="0" anchor="ctr"/>
          <a:lstStyle/>
          <a:p>
            <a:pPr algn="ctr" indent="0" marL="0">
              <a:buNone/>
            </a:pPr>
            <a:r>
              <a:rPr lang="en-US" sz="1500" b="1" dirty="0">
                <a:solidFill>
                  <a:srgbClr val="2C5AA0"/>
                </a:solidFill>
                <a:latin typeface="BIZ UDPGothic" pitchFamily="34" charset="0"/>
                <a:ea typeface="BIZ UDPGothic" pitchFamily="34" charset="-122"/>
                <a:cs typeface="BIZ UDPGothic" pitchFamily="34" charset="-120"/>
              </a:rPr>
              <a:t>ほとんどの発作は 2〜3分以内に自然に止まります</a:t>
            </a:r>
            <a:endParaRPr lang="en-US" sz="1500" dirty="0"/>
          </a:p>
        </p:txBody>
      </p:sp>
      <p:sp>
        <p:nvSpPr>
          <p:cNvPr id="32" name="Text 30"/>
          <p:cNvSpPr/>
          <p:nvPr/>
        </p:nvSpPr>
        <p:spPr>
          <a:xfrm>
            <a:off x="8229600" y="4754880"/>
            <a:ext cx="73152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2/10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発作中にやるべきこと</a:t>
            </a:r>
            <a:endParaRPr lang="en-US" sz="2400" dirty="0"/>
          </a:p>
        </p:txBody>
      </p:sp>
      <p:sp>
        <p:nvSpPr>
          <p:cNvPr id="4" name="Shape 2"/>
          <p:cNvSpPr/>
          <p:nvPr/>
        </p:nvSpPr>
        <p:spPr>
          <a:xfrm>
            <a:off x="274320" y="960120"/>
            <a:ext cx="416052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1051560"/>
            <a:ext cx="640080" cy="640080"/>
          </a:xfrm>
          <a:prstGeom prst="ellipse">
            <a:avLst/>
          </a:prstGeom>
          <a:solidFill>
            <a:srgbClr val="28A745"/>
          </a:solidFill>
          <a:ln/>
        </p:spPr>
      </p:sp>
      <p:sp>
        <p:nvSpPr>
          <p:cNvPr id="6" name="Text 4"/>
          <p:cNvSpPr/>
          <p:nvPr/>
        </p:nvSpPr>
        <p:spPr>
          <a:xfrm>
            <a:off x="365760" y="10515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7" name="Text 5"/>
          <p:cNvSpPr/>
          <p:nvPr/>
        </p:nvSpPr>
        <p:spPr>
          <a:xfrm>
            <a:off x="1097280" y="1005840"/>
            <a:ext cx="3200400" cy="365760"/>
          </a:xfrm>
          <a:prstGeom prst="rect">
            <a:avLst/>
          </a:prstGeom>
          <a:noFill/>
          <a:ln/>
        </p:spPr>
        <p:txBody>
          <a:bodyPr wrap="square" lIns="0" tIns="0" rIns="0" bIns="0" rtlCol="0" anchor="ctr"/>
          <a:lstStyle/>
          <a:p>
            <a:pPr indent="0" marL="0">
              <a:buNone/>
            </a:pPr>
            <a:r>
              <a:rPr lang="en-US" sz="1400" b="1" dirty="0">
                <a:solidFill>
                  <a:srgbClr val="2D3436"/>
                </a:solidFill>
                <a:latin typeface="BIZ UDPGothic" pitchFamily="34" charset="0"/>
                <a:ea typeface="BIZ UDPGothic" pitchFamily="34" charset="-122"/>
                <a:cs typeface="BIZ UDPGothic" pitchFamily="34" charset="-120"/>
              </a:rPr>
              <a:t>時間を確認する</a:t>
            </a:r>
            <a:endParaRPr lang="en-US" sz="1400" dirty="0"/>
          </a:p>
        </p:txBody>
      </p:sp>
      <p:sp>
        <p:nvSpPr>
          <p:cNvPr id="8" name="Text 6"/>
          <p:cNvSpPr/>
          <p:nvPr/>
        </p:nvSpPr>
        <p:spPr>
          <a:xfrm>
            <a:off x="1097280" y="1371600"/>
            <a:ext cx="3200400" cy="365760"/>
          </a:xfrm>
          <a:prstGeom prst="rect">
            <a:avLst/>
          </a:prstGeom>
          <a:noFill/>
          <a:ln/>
        </p:spPr>
        <p:txBody>
          <a:bodyPr wrap="square" lIns="0" tIns="0" rIns="0" bIns="0" rtlCol="0" anchor="t"/>
          <a:lstStyle/>
          <a:p>
            <a:pPr indent="0" marL="0">
              <a:buNone/>
            </a:pPr>
            <a:r>
              <a:rPr lang="en-US" sz="1100" dirty="0">
                <a:solidFill>
                  <a:srgbClr val="636E72"/>
                </a:solidFill>
                <a:latin typeface="BIZ UDPGothic" pitchFamily="34" charset="0"/>
                <a:ea typeface="BIZ UDPGothic" pitchFamily="34" charset="-122"/>
                <a:cs typeface="BIZ UDPGothic" pitchFamily="34" charset="-120"/>
              </a:rPr>
              <a:t>発作が始まった時刻を記録。5分超えたら救急車</a:t>
            </a:r>
            <a:endParaRPr lang="en-US" sz="1100" dirty="0"/>
          </a:p>
        </p:txBody>
      </p:sp>
      <p:sp>
        <p:nvSpPr>
          <p:cNvPr id="9" name="Shape 7"/>
          <p:cNvSpPr/>
          <p:nvPr/>
        </p:nvSpPr>
        <p:spPr>
          <a:xfrm>
            <a:off x="274320" y="1920240"/>
            <a:ext cx="416052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365760" y="2011680"/>
            <a:ext cx="640080" cy="640080"/>
          </a:xfrm>
          <a:prstGeom prst="ellipse">
            <a:avLst/>
          </a:prstGeom>
          <a:solidFill>
            <a:srgbClr val="28A745"/>
          </a:solidFill>
          <a:ln/>
        </p:spPr>
      </p:sp>
      <p:sp>
        <p:nvSpPr>
          <p:cNvPr id="11" name="Text 9"/>
          <p:cNvSpPr/>
          <p:nvPr/>
        </p:nvSpPr>
        <p:spPr>
          <a:xfrm>
            <a:off x="365760" y="20116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2" name="Text 10"/>
          <p:cNvSpPr/>
          <p:nvPr/>
        </p:nvSpPr>
        <p:spPr>
          <a:xfrm>
            <a:off x="1097280" y="1965960"/>
            <a:ext cx="3200400" cy="365760"/>
          </a:xfrm>
          <a:prstGeom prst="rect">
            <a:avLst/>
          </a:prstGeom>
          <a:noFill/>
          <a:ln/>
        </p:spPr>
        <p:txBody>
          <a:bodyPr wrap="square" lIns="0" tIns="0" rIns="0" bIns="0" rtlCol="0" anchor="ctr"/>
          <a:lstStyle/>
          <a:p>
            <a:pPr indent="0" marL="0">
              <a:buNone/>
            </a:pPr>
            <a:r>
              <a:rPr lang="en-US" sz="1400" b="1" dirty="0">
                <a:solidFill>
                  <a:srgbClr val="2D3436"/>
                </a:solidFill>
                <a:latin typeface="BIZ UDPGothic" pitchFamily="34" charset="0"/>
                <a:ea typeface="BIZ UDPGothic" pitchFamily="34" charset="-122"/>
                <a:cs typeface="BIZ UDPGothic" pitchFamily="34" charset="-120"/>
              </a:rPr>
              <a:t>周囲の危険物を除く</a:t>
            </a:r>
            <a:endParaRPr lang="en-US" sz="1400" dirty="0"/>
          </a:p>
        </p:txBody>
      </p:sp>
      <p:sp>
        <p:nvSpPr>
          <p:cNvPr id="13" name="Text 11"/>
          <p:cNvSpPr/>
          <p:nvPr/>
        </p:nvSpPr>
        <p:spPr>
          <a:xfrm>
            <a:off x="1097280" y="2331720"/>
            <a:ext cx="3200400" cy="365760"/>
          </a:xfrm>
          <a:prstGeom prst="rect">
            <a:avLst/>
          </a:prstGeom>
          <a:noFill/>
          <a:ln/>
        </p:spPr>
        <p:txBody>
          <a:bodyPr wrap="square" lIns="0" tIns="0" rIns="0" bIns="0" rtlCol="0" anchor="t"/>
          <a:lstStyle/>
          <a:p>
            <a:pPr indent="0" marL="0">
              <a:buNone/>
            </a:pPr>
            <a:r>
              <a:rPr lang="en-US" sz="1100" dirty="0">
                <a:solidFill>
                  <a:srgbClr val="636E72"/>
                </a:solidFill>
                <a:latin typeface="BIZ UDPGothic" pitchFamily="34" charset="0"/>
                <a:ea typeface="BIZ UDPGothic" pitchFamily="34" charset="-122"/>
                <a:cs typeface="BIZ UDPGothic" pitchFamily="34" charset="-120"/>
              </a:rPr>
              <a:t>テーブルの角・椅子の脚・硬い障害物を遠ざける</a:t>
            </a:r>
            <a:endParaRPr lang="en-US" sz="1100" dirty="0"/>
          </a:p>
        </p:txBody>
      </p:sp>
      <p:sp>
        <p:nvSpPr>
          <p:cNvPr id="14" name="Shape 12"/>
          <p:cNvSpPr/>
          <p:nvPr/>
        </p:nvSpPr>
        <p:spPr>
          <a:xfrm>
            <a:off x="274320" y="2880360"/>
            <a:ext cx="416052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365760" y="2971800"/>
            <a:ext cx="640080" cy="640080"/>
          </a:xfrm>
          <a:prstGeom prst="ellipse">
            <a:avLst/>
          </a:prstGeom>
          <a:solidFill>
            <a:srgbClr val="28A745"/>
          </a:solidFill>
          <a:ln/>
        </p:spPr>
      </p:sp>
      <p:sp>
        <p:nvSpPr>
          <p:cNvPr id="16" name="Text 14"/>
          <p:cNvSpPr/>
          <p:nvPr/>
        </p:nvSpPr>
        <p:spPr>
          <a:xfrm>
            <a:off x="365760" y="29718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17" name="Text 15"/>
          <p:cNvSpPr/>
          <p:nvPr/>
        </p:nvSpPr>
        <p:spPr>
          <a:xfrm>
            <a:off x="1097280" y="2926080"/>
            <a:ext cx="3200400" cy="365760"/>
          </a:xfrm>
          <a:prstGeom prst="rect">
            <a:avLst/>
          </a:prstGeom>
          <a:noFill/>
          <a:ln/>
        </p:spPr>
        <p:txBody>
          <a:bodyPr wrap="square" lIns="0" tIns="0" rIns="0" bIns="0" rtlCol="0" anchor="ctr"/>
          <a:lstStyle/>
          <a:p>
            <a:pPr indent="0" marL="0">
              <a:buNone/>
            </a:pPr>
            <a:r>
              <a:rPr lang="en-US" sz="1400" b="1" dirty="0">
                <a:solidFill>
                  <a:srgbClr val="2D3436"/>
                </a:solidFill>
                <a:latin typeface="BIZ UDPGothic" pitchFamily="34" charset="0"/>
                <a:ea typeface="BIZ UDPGothic" pitchFamily="34" charset="-122"/>
                <a:cs typeface="BIZ UDPGothic" pitchFamily="34" charset="-120"/>
              </a:rPr>
              <a:t>頭を守る</a:t>
            </a:r>
            <a:endParaRPr lang="en-US" sz="1400" dirty="0"/>
          </a:p>
        </p:txBody>
      </p:sp>
      <p:sp>
        <p:nvSpPr>
          <p:cNvPr id="18" name="Text 16"/>
          <p:cNvSpPr/>
          <p:nvPr/>
        </p:nvSpPr>
        <p:spPr>
          <a:xfrm>
            <a:off x="1097280" y="3291840"/>
            <a:ext cx="3200400" cy="365760"/>
          </a:xfrm>
          <a:prstGeom prst="rect">
            <a:avLst/>
          </a:prstGeom>
          <a:noFill/>
          <a:ln/>
        </p:spPr>
        <p:txBody>
          <a:bodyPr wrap="square" lIns="0" tIns="0" rIns="0" bIns="0" rtlCol="0" anchor="t"/>
          <a:lstStyle/>
          <a:p>
            <a:pPr indent="0" marL="0">
              <a:buNone/>
            </a:pPr>
            <a:r>
              <a:rPr lang="en-US" sz="1100" dirty="0">
                <a:solidFill>
                  <a:srgbClr val="636E72"/>
                </a:solidFill>
                <a:latin typeface="BIZ UDPGothic" pitchFamily="34" charset="0"/>
                <a:ea typeface="BIZ UDPGothic" pitchFamily="34" charset="-122"/>
                <a:cs typeface="BIZ UDPGothic" pitchFamily="34" charset="-120"/>
              </a:rPr>
              <a:t>折りたたんだ上着やカバンを頭の下に置く</a:t>
            </a:r>
            <a:endParaRPr lang="en-US" sz="1100" dirty="0"/>
          </a:p>
        </p:txBody>
      </p:sp>
      <p:sp>
        <p:nvSpPr>
          <p:cNvPr id="19" name="Shape 17"/>
          <p:cNvSpPr/>
          <p:nvPr/>
        </p:nvSpPr>
        <p:spPr>
          <a:xfrm>
            <a:off x="274320" y="3840480"/>
            <a:ext cx="416052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0" name="Shape 18"/>
          <p:cNvSpPr/>
          <p:nvPr/>
        </p:nvSpPr>
        <p:spPr>
          <a:xfrm>
            <a:off x="365760" y="3931920"/>
            <a:ext cx="640080" cy="640080"/>
          </a:xfrm>
          <a:prstGeom prst="ellipse">
            <a:avLst/>
          </a:prstGeom>
          <a:solidFill>
            <a:srgbClr val="28A745"/>
          </a:solidFill>
          <a:ln/>
        </p:spPr>
      </p:sp>
      <p:sp>
        <p:nvSpPr>
          <p:cNvPr id="21" name="Text 19"/>
          <p:cNvSpPr/>
          <p:nvPr/>
        </p:nvSpPr>
        <p:spPr>
          <a:xfrm>
            <a:off x="365760" y="39319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22" name="Text 20"/>
          <p:cNvSpPr/>
          <p:nvPr/>
        </p:nvSpPr>
        <p:spPr>
          <a:xfrm>
            <a:off x="1097280" y="3886200"/>
            <a:ext cx="3200400" cy="365760"/>
          </a:xfrm>
          <a:prstGeom prst="rect">
            <a:avLst/>
          </a:prstGeom>
          <a:noFill/>
          <a:ln/>
        </p:spPr>
        <p:txBody>
          <a:bodyPr wrap="square" lIns="0" tIns="0" rIns="0" bIns="0" rtlCol="0" anchor="ctr"/>
          <a:lstStyle/>
          <a:p>
            <a:pPr indent="0" marL="0">
              <a:buNone/>
            </a:pPr>
            <a:r>
              <a:rPr lang="en-US" sz="1400" b="1" dirty="0">
                <a:solidFill>
                  <a:srgbClr val="2D3436"/>
                </a:solidFill>
                <a:latin typeface="BIZ UDPGothic" pitchFamily="34" charset="0"/>
                <a:ea typeface="BIZ UDPGothic" pitchFamily="34" charset="-122"/>
                <a:cs typeface="BIZ UDPGothic" pitchFamily="34" charset="-120"/>
              </a:rPr>
              <a:t>横向きに寝かせる（回復体位）</a:t>
            </a:r>
            <a:endParaRPr lang="en-US" sz="1400" dirty="0"/>
          </a:p>
        </p:txBody>
      </p:sp>
      <p:sp>
        <p:nvSpPr>
          <p:cNvPr id="23" name="Text 21"/>
          <p:cNvSpPr/>
          <p:nvPr/>
        </p:nvSpPr>
        <p:spPr>
          <a:xfrm>
            <a:off x="1097280" y="4251960"/>
            <a:ext cx="3200400" cy="365760"/>
          </a:xfrm>
          <a:prstGeom prst="rect">
            <a:avLst/>
          </a:prstGeom>
          <a:noFill/>
          <a:ln/>
        </p:spPr>
        <p:txBody>
          <a:bodyPr wrap="square" lIns="0" tIns="0" rIns="0" bIns="0" rtlCol="0" anchor="t"/>
          <a:lstStyle/>
          <a:p>
            <a:pPr indent="0" marL="0">
              <a:buNone/>
            </a:pPr>
            <a:r>
              <a:rPr lang="en-US" sz="1100" dirty="0">
                <a:solidFill>
                  <a:srgbClr val="636E72"/>
                </a:solidFill>
                <a:latin typeface="BIZ UDPGothic" pitchFamily="34" charset="0"/>
                <a:ea typeface="BIZ UDPGothic" pitchFamily="34" charset="-122"/>
                <a:cs typeface="BIZ UDPGothic" pitchFamily="34" charset="-120"/>
              </a:rPr>
              <a:t>嘔吐時に気道がふさがらないよう顔を横に向ける</a:t>
            </a:r>
            <a:endParaRPr lang="en-US" sz="1100" dirty="0"/>
          </a:p>
        </p:txBody>
      </p:sp>
      <p:sp>
        <p:nvSpPr>
          <p:cNvPr id="24" name="Shape 22"/>
          <p:cNvSpPr/>
          <p:nvPr/>
        </p:nvSpPr>
        <p:spPr>
          <a:xfrm>
            <a:off x="4709160" y="960120"/>
            <a:ext cx="416052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5" name="Shape 23"/>
          <p:cNvSpPr/>
          <p:nvPr/>
        </p:nvSpPr>
        <p:spPr>
          <a:xfrm>
            <a:off x="4800600" y="1051560"/>
            <a:ext cx="640080" cy="640080"/>
          </a:xfrm>
          <a:prstGeom prst="ellipse">
            <a:avLst/>
          </a:prstGeom>
          <a:solidFill>
            <a:srgbClr val="28A745"/>
          </a:solidFill>
          <a:ln/>
        </p:spPr>
      </p:sp>
      <p:sp>
        <p:nvSpPr>
          <p:cNvPr id="26" name="Text 24"/>
          <p:cNvSpPr/>
          <p:nvPr/>
        </p:nvSpPr>
        <p:spPr>
          <a:xfrm>
            <a:off x="4800600" y="10515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27" name="Text 25"/>
          <p:cNvSpPr/>
          <p:nvPr/>
        </p:nvSpPr>
        <p:spPr>
          <a:xfrm>
            <a:off x="5532120" y="1005840"/>
            <a:ext cx="3200400" cy="365760"/>
          </a:xfrm>
          <a:prstGeom prst="rect">
            <a:avLst/>
          </a:prstGeom>
          <a:noFill/>
          <a:ln/>
        </p:spPr>
        <p:txBody>
          <a:bodyPr wrap="square" lIns="0" tIns="0" rIns="0" bIns="0" rtlCol="0" anchor="ctr"/>
          <a:lstStyle/>
          <a:p>
            <a:pPr indent="0" marL="0">
              <a:buNone/>
            </a:pPr>
            <a:r>
              <a:rPr lang="en-US" sz="1400" b="1" dirty="0">
                <a:solidFill>
                  <a:srgbClr val="2D3436"/>
                </a:solidFill>
                <a:latin typeface="BIZ UDPGothic" pitchFamily="34" charset="0"/>
                <a:ea typeface="BIZ UDPGothic" pitchFamily="34" charset="-122"/>
                <a:cs typeface="BIZ UDPGothic" pitchFamily="34" charset="-120"/>
              </a:rPr>
              <a:t>体を締め付けるものを外す</a:t>
            </a:r>
            <a:endParaRPr lang="en-US" sz="1400" dirty="0"/>
          </a:p>
        </p:txBody>
      </p:sp>
      <p:sp>
        <p:nvSpPr>
          <p:cNvPr id="28" name="Text 26"/>
          <p:cNvSpPr/>
          <p:nvPr/>
        </p:nvSpPr>
        <p:spPr>
          <a:xfrm>
            <a:off x="5532120" y="1371600"/>
            <a:ext cx="3200400" cy="365760"/>
          </a:xfrm>
          <a:prstGeom prst="rect">
            <a:avLst/>
          </a:prstGeom>
          <a:noFill/>
          <a:ln/>
        </p:spPr>
        <p:txBody>
          <a:bodyPr wrap="square" lIns="0" tIns="0" rIns="0" bIns="0" rtlCol="0" anchor="t"/>
          <a:lstStyle/>
          <a:p>
            <a:pPr indent="0" marL="0">
              <a:buNone/>
            </a:pPr>
            <a:r>
              <a:rPr lang="en-US" sz="1100" dirty="0">
                <a:solidFill>
                  <a:srgbClr val="636E72"/>
                </a:solidFill>
                <a:latin typeface="BIZ UDPGothic" pitchFamily="34" charset="0"/>
                <a:ea typeface="BIZ UDPGothic" pitchFamily="34" charset="-122"/>
                <a:cs typeface="BIZ UDPGothic" pitchFamily="34" charset="-120"/>
              </a:rPr>
              <a:t>眼鏡・ネクタイ・ベルトなど</a:t>
            </a:r>
            <a:endParaRPr lang="en-US" sz="1100" dirty="0"/>
          </a:p>
        </p:txBody>
      </p:sp>
      <p:sp>
        <p:nvSpPr>
          <p:cNvPr id="29" name="Shape 27"/>
          <p:cNvSpPr/>
          <p:nvPr/>
        </p:nvSpPr>
        <p:spPr>
          <a:xfrm>
            <a:off x="4709160" y="1920240"/>
            <a:ext cx="416052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30" name="Shape 28"/>
          <p:cNvSpPr/>
          <p:nvPr/>
        </p:nvSpPr>
        <p:spPr>
          <a:xfrm>
            <a:off x="4800600" y="2011680"/>
            <a:ext cx="640080" cy="640080"/>
          </a:xfrm>
          <a:prstGeom prst="ellipse">
            <a:avLst/>
          </a:prstGeom>
          <a:solidFill>
            <a:srgbClr val="28A745"/>
          </a:solidFill>
          <a:ln/>
        </p:spPr>
      </p:sp>
      <p:sp>
        <p:nvSpPr>
          <p:cNvPr id="31" name="Text 29"/>
          <p:cNvSpPr/>
          <p:nvPr/>
        </p:nvSpPr>
        <p:spPr>
          <a:xfrm>
            <a:off x="4800600" y="20116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6</a:t>
            </a:r>
            <a:endParaRPr lang="en-US" sz="1600" dirty="0"/>
          </a:p>
        </p:txBody>
      </p:sp>
      <p:sp>
        <p:nvSpPr>
          <p:cNvPr id="32" name="Text 30"/>
          <p:cNvSpPr/>
          <p:nvPr/>
        </p:nvSpPr>
        <p:spPr>
          <a:xfrm>
            <a:off x="5532120" y="1965960"/>
            <a:ext cx="3200400" cy="365760"/>
          </a:xfrm>
          <a:prstGeom prst="rect">
            <a:avLst/>
          </a:prstGeom>
          <a:noFill/>
          <a:ln/>
        </p:spPr>
        <p:txBody>
          <a:bodyPr wrap="square" lIns="0" tIns="0" rIns="0" bIns="0" rtlCol="0" anchor="ctr"/>
          <a:lstStyle/>
          <a:p>
            <a:pPr indent="0" marL="0">
              <a:buNone/>
            </a:pPr>
            <a:r>
              <a:rPr lang="en-US" sz="1400" b="1" dirty="0">
                <a:solidFill>
                  <a:srgbClr val="2D3436"/>
                </a:solidFill>
                <a:latin typeface="BIZ UDPGothic" pitchFamily="34" charset="0"/>
                <a:ea typeface="BIZ UDPGothic" pitchFamily="34" charset="-122"/>
                <a:cs typeface="BIZ UDPGothic" pitchFamily="34" charset="-120"/>
              </a:rPr>
              <a:t>発作の様子を観察・記録する</a:t>
            </a:r>
            <a:endParaRPr lang="en-US" sz="1400" dirty="0"/>
          </a:p>
        </p:txBody>
      </p:sp>
      <p:sp>
        <p:nvSpPr>
          <p:cNvPr id="33" name="Text 31"/>
          <p:cNvSpPr/>
          <p:nvPr/>
        </p:nvSpPr>
        <p:spPr>
          <a:xfrm>
            <a:off x="5532120" y="2331720"/>
            <a:ext cx="3200400" cy="365760"/>
          </a:xfrm>
          <a:prstGeom prst="rect">
            <a:avLst/>
          </a:prstGeom>
          <a:noFill/>
          <a:ln/>
        </p:spPr>
        <p:txBody>
          <a:bodyPr wrap="square" lIns="0" tIns="0" rIns="0" bIns="0" rtlCol="0" anchor="t"/>
          <a:lstStyle/>
          <a:p>
            <a:pPr indent="0" marL="0">
              <a:buNone/>
            </a:pPr>
            <a:r>
              <a:rPr lang="en-US" sz="1100" dirty="0">
                <a:solidFill>
                  <a:srgbClr val="636E72"/>
                </a:solidFill>
                <a:latin typeface="BIZ UDPGothic" pitchFamily="34" charset="0"/>
                <a:ea typeface="BIZ UDPGothic" pitchFamily="34" charset="-122"/>
                <a:cs typeface="BIZ UDPGothic" pitchFamily="34" charset="-120"/>
              </a:rPr>
              <a:t>どこが震えたか、眼の向き、意識の有無</a:t>
            </a:r>
            <a:endParaRPr lang="en-US" sz="1100" dirty="0"/>
          </a:p>
        </p:txBody>
      </p:sp>
      <p:sp>
        <p:nvSpPr>
          <p:cNvPr id="34" name="Shape 32"/>
          <p:cNvSpPr/>
          <p:nvPr/>
        </p:nvSpPr>
        <p:spPr>
          <a:xfrm>
            <a:off x="4709160" y="2880360"/>
            <a:ext cx="416052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35" name="Shape 33"/>
          <p:cNvSpPr/>
          <p:nvPr/>
        </p:nvSpPr>
        <p:spPr>
          <a:xfrm>
            <a:off x="4800600" y="2971800"/>
            <a:ext cx="640080" cy="640080"/>
          </a:xfrm>
          <a:prstGeom prst="ellipse">
            <a:avLst/>
          </a:prstGeom>
          <a:solidFill>
            <a:srgbClr val="28A745"/>
          </a:solidFill>
          <a:ln/>
        </p:spPr>
      </p:sp>
      <p:sp>
        <p:nvSpPr>
          <p:cNvPr id="36" name="Text 34"/>
          <p:cNvSpPr/>
          <p:nvPr/>
        </p:nvSpPr>
        <p:spPr>
          <a:xfrm>
            <a:off x="4800600" y="29718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7</a:t>
            </a:r>
            <a:endParaRPr lang="en-US" sz="1600" dirty="0"/>
          </a:p>
        </p:txBody>
      </p:sp>
      <p:sp>
        <p:nvSpPr>
          <p:cNvPr id="37" name="Text 35"/>
          <p:cNvSpPr/>
          <p:nvPr/>
        </p:nvSpPr>
        <p:spPr>
          <a:xfrm>
            <a:off x="5532120" y="2926080"/>
            <a:ext cx="3200400" cy="365760"/>
          </a:xfrm>
          <a:prstGeom prst="rect">
            <a:avLst/>
          </a:prstGeom>
          <a:noFill/>
          <a:ln/>
        </p:spPr>
        <p:txBody>
          <a:bodyPr wrap="square" lIns="0" tIns="0" rIns="0" bIns="0" rtlCol="0" anchor="ctr"/>
          <a:lstStyle/>
          <a:p>
            <a:pPr indent="0" marL="0">
              <a:buNone/>
            </a:pPr>
            <a:r>
              <a:rPr lang="en-US" sz="1400" b="1" dirty="0">
                <a:solidFill>
                  <a:srgbClr val="2D3436"/>
                </a:solidFill>
                <a:latin typeface="BIZ UDPGothic" pitchFamily="34" charset="0"/>
                <a:ea typeface="BIZ UDPGothic" pitchFamily="34" charset="-122"/>
                <a:cs typeface="BIZ UDPGothic" pitchFamily="34" charset="-120"/>
              </a:rPr>
              <a:t>声をかけ続ける</a:t>
            </a:r>
            <a:endParaRPr lang="en-US" sz="1400" dirty="0"/>
          </a:p>
        </p:txBody>
      </p:sp>
      <p:sp>
        <p:nvSpPr>
          <p:cNvPr id="38" name="Text 36"/>
          <p:cNvSpPr/>
          <p:nvPr/>
        </p:nvSpPr>
        <p:spPr>
          <a:xfrm>
            <a:off x="5532120" y="3291840"/>
            <a:ext cx="3200400" cy="365760"/>
          </a:xfrm>
          <a:prstGeom prst="rect">
            <a:avLst/>
          </a:prstGeom>
          <a:noFill/>
          <a:ln/>
        </p:spPr>
        <p:txBody>
          <a:bodyPr wrap="square" lIns="0" tIns="0" rIns="0" bIns="0" rtlCol="0" anchor="t"/>
          <a:lstStyle/>
          <a:p>
            <a:pPr indent="0" marL="0">
              <a:buNone/>
            </a:pPr>
            <a:r>
              <a:rPr lang="en-US" sz="1100" dirty="0">
                <a:solidFill>
                  <a:srgbClr val="636E72"/>
                </a:solidFill>
                <a:latin typeface="BIZ UDPGothic" pitchFamily="34" charset="0"/>
                <a:ea typeface="BIZ UDPGothic" pitchFamily="34" charset="-122"/>
                <a:cs typeface="BIZ UDPGothic" pitchFamily="34" charset="-120"/>
              </a:rPr>
              <a:t>発作後「大丈夫ですよ」と安心させる</a:t>
            </a:r>
            <a:endParaRPr lang="en-US" sz="1100" dirty="0"/>
          </a:p>
        </p:txBody>
      </p:sp>
      <p:sp>
        <p:nvSpPr>
          <p:cNvPr id="39" name="Shape 37"/>
          <p:cNvSpPr/>
          <p:nvPr/>
        </p:nvSpPr>
        <p:spPr>
          <a:xfrm>
            <a:off x="274320" y="4572000"/>
            <a:ext cx="8595360" cy="5029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40" name="Shape 38"/>
          <p:cNvSpPr/>
          <p:nvPr/>
        </p:nvSpPr>
        <p:spPr>
          <a:xfrm>
            <a:off x="365760" y="4617720"/>
            <a:ext cx="411480" cy="411480"/>
          </a:xfrm>
          <a:prstGeom prst="ellipse">
            <a:avLst/>
          </a:prstGeom>
          <a:solidFill>
            <a:srgbClr val="28A745"/>
          </a:solidFill>
          <a:ln/>
        </p:spPr>
      </p:sp>
      <p:sp>
        <p:nvSpPr>
          <p:cNvPr id="41" name="Text 39"/>
          <p:cNvSpPr/>
          <p:nvPr/>
        </p:nvSpPr>
        <p:spPr>
          <a:xfrm>
            <a:off x="365760" y="46177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7</a:t>
            </a:r>
            <a:endParaRPr lang="en-US" sz="1300" dirty="0"/>
          </a:p>
        </p:txBody>
      </p:sp>
      <p:sp>
        <p:nvSpPr>
          <p:cNvPr id="42" name="Text 40"/>
          <p:cNvSpPr/>
          <p:nvPr/>
        </p:nvSpPr>
        <p:spPr>
          <a:xfrm>
            <a:off x="868680" y="4617720"/>
            <a:ext cx="2560320" cy="228600"/>
          </a:xfrm>
          <a:prstGeom prst="rect">
            <a:avLst/>
          </a:prstGeom>
          <a:noFill/>
          <a:ln/>
        </p:spPr>
        <p:txBody>
          <a:bodyPr wrap="square" lIns="0" tIns="0" rIns="0" bIns="0" rtlCol="0" anchor="ctr"/>
          <a:lstStyle/>
          <a:p>
            <a:pPr indent="0" marL="0">
              <a:buNone/>
            </a:pPr>
            <a:r>
              <a:rPr lang="en-US" sz="1300" b="1" dirty="0">
                <a:solidFill>
                  <a:srgbClr val="2D3436"/>
                </a:solidFill>
                <a:latin typeface="BIZ UDPGothic" pitchFamily="34" charset="0"/>
                <a:ea typeface="BIZ UDPGothic" pitchFamily="34" charset="-122"/>
                <a:cs typeface="BIZ UDPGothic" pitchFamily="34" charset="-120"/>
              </a:rPr>
              <a:t>声をかけ続ける</a:t>
            </a:r>
            <a:endParaRPr lang="en-US" sz="1300" dirty="0"/>
          </a:p>
        </p:txBody>
      </p:sp>
      <p:sp>
        <p:nvSpPr>
          <p:cNvPr id="43" name="Text 41"/>
          <p:cNvSpPr/>
          <p:nvPr/>
        </p:nvSpPr>
        <p:spPr>
          <a:xfrm>
            <a:off x="868680" y="4846320"/>
            <a:ext cx="7772400" cy="182880"/>
          </a:xfrm>
          <a:prstGeom prst="rect">
            <a:avLst/>
          </a:prstGeom>
          <a:noFill/>
          <a:ln/>
        </p:spPr>
        <p:txBody>
          <a:bodyPr wrap="square" lIns="0" tIns="0" rIns="0" bIns="0" rtlCol="0" anchor="t"/>
          <a:lstStyle/>
          <a:p>
            <a:pPr indent="0" marL="0">
              <a:buNone/>
            </a:pPr>
            <a:r>
              <a:rPr lang="en-US" sz="1100" dirty="0">
                <a:solidFill>
                  <a:srgbClr val="636E72"/>
                </a:solidFill>
                <a:latin typeface="BIZ UDPGothic" pitchFamily="34" charset="0"/>
                <a:ea typeface="BIZ UDPGothic" pitchFamily="34" charset="-122"/>
                <a:cs typeface="BIZ UDPGothic" pitchFamily="34" charset="-120"/>
              </a:rPr>
              <a:t>発作後「大丈夫ですよ、そこにいますよ」と安心させる</a:t>
            </a:r>
            <a:endParaRPr lang="en-US" sz="1100" dirty="0"/>
          </a:p>
        </p:txBody>
      </p:sp>
      <p:sp>
        <p:nvSpPr>
          <p:cNvPr id="44" name="Text 42"/>
          <p:cNvSpPr/>
          <p:nvPr/>
        </p:nvSpPr>
        <p:spPr>
          <a:xfrm>
            <a:off x="8229600" y="4754880"/>
            <a:ext cx="73152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3/10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やってはいけないこと</a:t>
            </a:r>
            <a:endParaRPr lang="en-US" sz="2400" dirty="0"/>
          </a:p>
        </p:txBody>
      </p:sp>
      <p:sp>
        <p:nvSpPr>
          <p:cNvPr id="4" name="Shape 2"/>
          <p:cNvSpPr/>
          <p:nvPr/>
        </p:nvSpPr>
        <p:spPr>
          <a:xfrm>
            <a:off x="274320" y="960120"/>
            <a:ext cx="4160520" cy="1143000"/>
          </a:xfrm>
          <a:prstGeom prst="rect">
            <a:avLst/>
          </a:prstGeom>
          <a:solidFill>
            <a:srgbClr val="FFF5F5"/>
          </a:solidFill>
          <a:ln/>
          <a:effectLst>
            <a:outerShdw sx="100000" sy="100000" kx="0" ky="0" algn="bl" rotWithShape="0" blurRad="50800" dist="25400" dir="8100000">
              <a:srgbClr val="000000">
                <a:alpha val="12000"/>
              </a:srgbClr>
            </a:outerShdw>
          </a:effectLst>
        </p:spPr>
      </p:sp>
      <p:sp>
        <p:nvSpPr>
          <p:cNvPr id="5" name="Shape 3"/>
          <p:cNvSpPr/>
          <p:nvPr/>
        </p:nvSpPr>
        <p:spPr>
          <a:xfrm>
            <a:off x="274320" y="960120"/>
            <a:ext cx="4160520" cy="411480"/>
          </a:xfrm>
          <a:prstGeom prst="rect">
            <a:avLst/>
          </a:prstGeom>
          <a:solidFill>
            <a:srgbClr val="DC3545"/>
          </a:solidFill>
          <a:ln/>
        </p:spPr>
      </p:sp>
      <p:sp>
        <p:nvSpPr>
          <p:cNvPr id="6" name="Text 4"/>
          <p:cNvSpPr/>
          <p:nvPr/>
        </p:nvSpPr>
        <p:spPr>
          <a:xfrm>
            <a:off x="365760" y="960120"/>
            <a:ext cx="3977640" cy="41148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  口の中に何かを入れない</a:t>
            </a:r>
            <a:endParaRPr lang="en-US" sz="1400" dirty="0"/>
          </a:p>
        </p:txBody>
      </p:sp>
      <p:sp>
        <p:nvSpPr>
          <p:cNvPr id="7" name="Text 5"/>
          <p:cNvSpPr/>
          <p:nvPr/>
        </p:nvSpPr>
        <p:spPr>
          <a:xfrm>
            <a:off x="365760" y="1417320"/>
            <a:ext cx="3977640" cy="594360"/>
          </a:xfrm>
          <a:prstGeom prst="rect">
            <a:avLst/>
          </a:prstGeom>
          <a:noFill/>
          <a:ln/>
        </p:spPr>
        <p:txBody>
          <a:bodyPr wrap="square" lIns="0" tIns="0" rIns="0" bIns="0" rtlCol="0" anchor="t"/>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タオルや指を入れるのは最も危険。窒息・骨折のリスク</a:t>
            </a:r>
            <a:endParaRPr lang="en-US" sz="1200" dirty="0"/>
          </a:p>
        </p:txBody>
      </p:sp>
      <p:sp>
        <p:nvSpPr>
          <p:cNvPr id="8" name="Shape 6"/>
          <p:cNvSpPr/>
          <p:nvPr/>
        </p:nvSpPr>
        <p:spPr>
          <a:xfrm>
            <a:off x="4709160" y="960120"/>
            <a:ext cx="4160520" cy="1143000"/>
          </a:xfrm>
          <a:prstGeom prst="rect">
            <a:avLst/>
          </a:prstGeom>
          <a:solidFill>
            <a:srgbClr val="FFF5F5"/>
          </a:solidFill>
          <a:ln/>
          <a:effectLst>
            <a:outerShdw sx="100000" sy="100000" kx="0" ky="0" algn="bl" rotWithShape="0" blurRad="50800" dist="25400" dir="8100000">
              <a:srgbClr val="000000">
                <a:alpha val="12000"/>
              </a:srgbClr>
            </a:outerShdw>
          </a:effectLst>
        </p:spPr>
      </p:sp>
      <p:sp>
        <p:nvSpPr>
          <p:cNvPr id="9" name="Shape 7"/>
          <p:cNvSpPr/>
          <p:nvPr/>
        </p:nvSpPr>
        <p:spPr>
          <a:xfrm>
            <a:off x="4709160" y="960120"/>
            <a:ext cx="4160520" cy="411480"/>
          </a:xfrm>
          <a:prstGeom prst="rect">
            <a:avLst/>
          </a:prstGeom>
          <a:solidFill>
            <a:srgbClr val="DC3545"/>
          </a:solidFill>
          <a:ln/>
        </p:spPr>
      </p:sp>
      <p:sp>
        <p:nvSpPr>
          <p:cNvPr id="10" name="Text 8"/>
          <p:cNvSpPr/>
          <p:nvPr/>
        </p:nvSpPr>
        <p:spPr>
          <a:xfrm>
            <a:off x="4800600" y="960120"/>
            <a:ext cx="3977640" cy="41148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  体を押さえつけない</a:t>
            </a:r>
            <a:endParaRPr lang="en-US" sz="1400" dirty="0"/>
          </a:p>
        </p:txBody>
      </p:sp>
      <p:sp>
        <p:nvSpPr>
          <p:cNvPr id="11" name="Text 9"/>
          <p:cNvSpPr/>
          <p:nvPr/>
        </p:nvSpPr>
        <p:spPr>
          <a:xfrm>
            <a:off x="4800600" y="1417320"/>
            <a:ext cx="3977640" cy="594360"/>
          </a:xfrm>
          <a:prstGeom prst="rect">
            <a:avLst/>
          </a:prstGeom>
          <a:noFill/>
          <a:ln/>
        </p:spPr>
        <p:txBody>
          <a:bodyPr wrap="square" lIns="0" tIns="0" rIns="0" bIns="0" rtlCol="0" anchor="t"/>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無理に動きを止めようとすると骨折・脱臼を引き起こす</a:t>
            </a:r>
            <a:endParaRPr lang="en-US" sz="1200" dirty="0"/>
          </a:p>
        </p:txBody>
      </p:sp>
      <p:sp>
        <p:nvSpPr>
          <p:cNvPr id="12" name="Shape 10"/>
          <p:cNvSpPr/>
          <p:nvPr/>
        </p:nvSpPr>
        <p:spPr>
          <a:xfrm>
            <a:off x="274320" y="2240280"/>
            <a:ext cx="4160520" cy="1143000"/>
          </a:xfrm>
          <a:prstGeom prst="rect">
            <a:avLst/>
          </a:prstGeom>
          <a:solidFill>
            <a:srgbClr val="FFF5F5"/>
          </a:solidFill>
          <a:ln/>
          <a:effectLst>
            <a:outerShdw sx="100000" sy="100000" kx="0" ky="0" algn="bl" rotWithShape="0" blurRad="50800" dist="25400" dir="8100000">
              <a:srgbClr val="000000">
                <a:alpha val="12000"/>
              </a:srgbClr>
            </a:outerShdw>
          </a:effectLst>
        </p:spPr>
      </p:sp>
      <p:sp>
        <p:nvSpPr>
          <p:cNvPr id="13" name="Shape 11"/>
          <p:cNvSpPr/>
          <p:nvPr/>
        </p:nvSpPr>
        <p:spPr>
          <a:xfrm>
            <a:off x="274320" y="2240280"/>
            <a:ext cx="4160520" cy="411480"/>
          </a:xfrm>
          <a:prstGeom prst="rect">
            <a:avLst/>
          </a:prstGeom>
          <a:solidFill>
            <a:srgbClr val="DC3545"/>
          </a:solidFill>
          <a:ln/>
        </p:spPr>
      </p:sp>
      <p:sp>
        <p:nvSpPr>
          <p:cNvPr id="14" name="Text 12"/>
          <p:cNvSpPr/>
          <p:nvPr/>
        </p:nvSpPr>
        <p:spPr>
          <a:xfrm>
            <a:off x="365760" y="2240280"/>
            <a:ext cx="3977640" cy="41148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  水を飲ませない</a:t>
            </a:r>
            <a:endParaRPr lang="en-US" sz="1400" dirty="0"/>
          </a:p>
        </p:txBody>
      </p:sp>
      <p:sp>
        <p:nvSpPr>
          <p:cNvPr id="15" name="Text 13"/>
          <p:cNvSpPr/>
          <p:nvPr/>
        </p:nvSpPr>
        <p:spPr>
          <a:xfrm>
            <a:off x="365760" y="2697480"/>
            <a:ext cx="3977640" cy="594360"/>
          </a:xfrm>
          <a:prstGeom prst="rect">
            <a:avLst/>
          </a:prstGeom>
          <a:noFill/>
          <a:ln/>
        </p:spPr>
        <p:txBody>
          <a:bodyPr wrap="square" lIns="0" tIns="0" rIns="0" bIns="0" rtlCol="0" anchor="t"/>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意識混濁中の飲水は誤嚥を引き起こす</a:t>
            </a:r>
            <a:endParaRPr lang="en-US" sz="1200" dirty="0"/>
          </a:p>
        </p:txBody>
      </p:sp>
      <p:sp>
        <p:nvSpPr>
          <p:cNvPr id="16" name="Shape 14"/>
          <p:cNvSpPr/>
          <p:nvPr/>
        </p:nvSpPr>
        <p:spPr>
          <a:xfrm>
            <a:off x="4709160" y="2240280"/>
            <a:ext cx="4160520" cy="1143000"/>
          </a:xfrm>
          <a:prstGeom prst="rect">
            <a:avLst/>
          </a:prstGeom>
          <a:solidFill>
            <a:srgbClr val="FFF5F5"/>
          </a:solidFill>
          <a:ln/>
          <a:effectLst>
            <a:outerShdw sx="100000" sy="100000" kx="0" ky="0" algn="bl" rotWithShape="0" blurRad="50800" dist="25400" dir="8100000">
              <a:srgbClr val="000000">
                <a:alpha val="12000"/>
              </a:srgbClr>
            </a:outerShdw>
          </a:effectLst>
        </p:spPr>
      </p:sp>
      <p:sp>
        <p:nvSpPr>
          <p:cNvPr id="17" name="Shape 15"/>
          <p:cNvSpPr/>
          <p:nvPr/>
        </p:nvSpPr>
        <p:spPr>
          <a:xfrm>
            <a:off x="4709160" y="2240280"/>
            <a:ext cx="4160520" cy="411480"/>
          </a:xfrm>
          <a:prstGeom prst="rect">
            <a:avLst/>
          </a:prstGeom>
          <a:solidFill>
            <a:srgbClr val="DC3545"/>
          </a:solidFill>
          <a:ln/>
        </p:spPr>
      </p:sp>
      <p:sp>
        <p:nvSpPr>
          <p:cNvPr id="18" name="Text 16"/>
          <p:cNvSpPr/>
          <p:nvPr/>
        </p:nvSpPr>
        <p:spPr>
          <a:xfrm>
            <a:off x="4800600" y="2240280"/>
            <a:ext cx="3977640" cy="41148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  一人にしない</a:t>
            </a:r>
            <a:endParaRPr lang="en-US" sz="1400" dirty="0"/>
          </a:p>
        </p:txBody>
      </p:sp>
      <p:sp>
        <p:nvSpPr>
          <p:cNvPr id="19" name="Text 17"/>
          <p:cNvSpPr/>
          <p:nvPr/>
        </p:nvSpPr>
        <p:spPr>
          <a:xfrm>
            <a:off x="4800600" y="2697480"/>
            <a:ext cx="3977640" cy="594360"/>
          </a:xfrm>
          <a:prstGeom prst="rect">
            <a:avLst/>
          </a:prstGeom>
          <a:noFill/>
          <a:ln/>
        </p:spPr>
        <p:txBody>
          <a:bodyPr wrap="square" lIns="0" tIns="0" rIns="0" bIns="0" rtlCol="0" anchor="t"/>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回復するまでそばに寄り添う</a:t>
            </a:r>
            <a:endParaRPr lang="en-US" sz="1200" dirty="0"/>
          </a:p>
        </p:txBody>
      </p:sp>
      <p:sp>
        <p:nvSpPr>
          <p:cNvPr id="20" name="Shape 18"/>
          <p:cNvSpPr/>
          <p:nvPr/>
        </p:nvSpPr>
        <p:spPr>
          <a:xfrm>
            <a:off x="274320" y="3520440"/>
            <a:ext cx="4160520" cy="1143000"/>
          </a:xfrm>
          <a:prstGeom prst="rect">
            <a:avLst/>
          </a:prstGeom>
          <a:solidFill>
            <a:srgbClr val="FFF5F5"/>
          </a:solidFill>
          <a:ln/>
          <a:effectLst>
            <a:outerShdw sx="100000" sy="100000" kx="0" ky="0" algn="bl" rotWithShape="0" blurRad="50800" dist="25400" dir="8100000">
              <a:srgbClr val="000000">
                <a:alpha val="12000"/>
              </a:srgbClr>
            </a:outerShdw>
          </a:effectLst>
        </p:spPr>
      </p:sp>
      <p:sp>
        <p:nvSpPr>
          <p:cNvPr id="21" name="Shape 19"/>
          <p:cNvSpPr/>
          <p:nvPr/>
        </p:nvSpPr>
        <p:spPr>
          <a:xfrm>
            <a:off x="274320" y="3520440"/>
            <a:ext cx="4160520" cy="411480"/>
          </a:xfrm>
          <a:prstGeom prst="rect">
            <a:avLst/>
          </a:prstGeom>
          <a:solidFill>
            <a:srgbClr val="DC3545"/>
          </a:solidFill>
          <a:ln/>
        </p:spPr>
      </p:sp>
      <p:sp>
        <p:nvSpPr>
          <p:cNvPr id="22" name="Text 20"/>
          <p:cNvSpPr/>
          <p:nvPr/>
        </p:nvSpPr>
        <p:spPr>
          <a:xfrm>
            <a:off x="365760" y="3520440"/>
            <a:ext cx="3977640" cy="41148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  仰向けのままにしない</a:t>
            </a:r>
            <a:endParaRPr lang="en-US" sz="1400" dirty="0"/>
          </a:p>
        </p:txBody>
      </p:sp>
      <p:sp>
        <p:nvSpPr>
          <p:cNvPr id="23" name="Text 21"/>
          <p:cNvSpPr/>
          <p:nvPr/>
        </p:nvSpPr>
        <p:spPr>
          <a:xfrm>
            <a:off x="365760" y="3977640"/>
            <a:ext cx="3977640" cy="594360"/>
          </a:xfrm>
          <a:prstGeom prst="rect">
            <a:avLst/>
          </a:prstGeom>
          <a:noFill/>
          <a:ln/>
        </p:spPr>
        <p:txBody>
          <a:bodyPr wrap="square" lIns="0" tIns="0" rIns="0" bIns="0" rtlCol="0" anchor="t"/>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嘔吐物が気道に流れ込まないよう横向きに保持</a:t>
            </a:r>
            <a:endParaRPr lang="en-US" sz="1200" dirty="0"/>
          </a:p>
        </p:txBody>
      </p:sp>
      <p:sp>
        <p:nvSpPr>
          <p:cNvPr id="24" name="Shape 22"/>
          <p:cNvSpPr/>
          <p:nvPr/>
        </p:nvSpPr>
        <p:spPr>
          <a:xfrm>
            <a:off x="4709160" y="3520440"/>
            <a:ext cx="4160520" cy="1143000"/>
          </a:xfrm>
          <a:prstGeom prst="rect">
            <a:avLst/>
          </a:prstGeom>
          <a:solidFill>
            <a:srgbClr val="FFF5F5"/>
          </a:solidFill>
          <a:ln/>
          <a:effectLst>
            <a:outerShdw sx="100000" sy="100000" kx="0" ky="0" algn="bl" rotWithShape="0" blurRad="50800" dist="25400" dir="8100000">
              <a:srgbClr val="000000">
                <a:alpha val="12000"/>
              </a:srgbClr>
            </a:outerShdw>
          </a:effectLst>
        </p:spPr>
      </p:sp>
      <p:sp>
        <p:nvSpPr>
          <p:cNvPr id="25" name="Shape 23"/>
          <p:cNvSpPr/>
          <p:nvPr/>
        </p:nvSpPr>
        <p:spPr>
          <a:xfrm>
            <a:off x="4709160" y="3520440"/>
            <a:ext cx="4160520" cy="411480"/>
          </a:xfrm>
          <a:prstGeom prst="rect">
            <a:avLst/>
          </a:prstGeom>
          <a:solidFill>
            <a:srgbClr val="DC3545"/>
          </a:solidFill>
          <a:ln/>
        </p:spPr>
      </p:sp>
      <p:sp>
        <p:nvSpPr>
          <p:cNvPr id="26" name="Text 24"/>
          <p:cNvSpPr/>
          <p:nvPr/>
        </p:nvSpPr>
        <p:spPr>
          <a:xfrm>
            <a:off x="4800600" y="3520440"/>
            <a:ext cx="3977640" cy="41148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  発作中に食べ物・薬を口に入れない</a:t>
            </a:r>
            <a:endParaRPr lang="en-US" sz="1400" dirty="0"/>
          </a:p>
        </p:txBody>
      </p:sp>
      <p:sp>
        <p:nvSpPr>
          <p:cNvPr id="27" name="Text 25"/>
          <p:cNvSpPr/>
          <p:nvPr/>
        </p:nvSpPr>
        <p:spPr>
          <a:xfrm>
            <a:off x="4800600" y="3977640"/>
            <a:ext cx="3977640" cy="594360"/>
          </a:xfrm>
          <a:prstGeom prst="rect">
            <a:avLst/>
          </a:prstGeom>
          <a:noFill/>
          <a:ln/>
        </p:spPr>
        <p:txBody>
          <a:bodyPr wrap="square" lIns="0" tIns="0" rIns="0" bIns="0" rtlCol="0" anchor="t"/>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意識のない状態での経口投与は窒息死につながる</a:t>
            </a:r>
            <a:endParaRPr lang="en-US" sz="1200" dirty="0"/>
          </a:p>
        </p:txBody>
      </p:sp>
      <p:sp>
        <p:nvSpPr>
          <p:cNvPr id="28" name="Text 26"/>
          <p:cNvSpPr/>
          <p:nvPr/>
        </p:nvSpPr>
        <p:spPr>
          <a:xfrm>
            <a:off x="8229600" y="4754880"/>
            <a:ext cx="73152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4/10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救急車を呼ぶべき状況 ― 5分ルール</a:t>
            </a:r>
            <a:endParaRPr lang="en-US" sz="2400" dirty="0"/>
          </a:p>
        </p:txBody>
      </p:sp>
      <p:sp>
        <p:nvSpPr>
          <p:cNvPr id="4" name="Shape 2"/>
          <p:cNvSpPr/>
          <p:nvPr/>
        </p:nvSpPr>
        <p:spPr>
          <a:xfrm>
            <a:off x="457200" y="960120"/>
            <a:ext cx="8229600" cy="10058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960120"/>
            <a:ext cx="2286000" cy="1005840"/>
          </a:xfrm>
          <a:prstGeom prst="rect">
            <a:avLst/>
          </a:prstGeom>
          <a:solidFill>
            <a:srgbClr val="DC3545"/>
          </a:solidFill>
          <a:ln/>
        </p:spPr>
      </p:sp>
      <p:sp>
        <p:nvSpPr>
          <p:cNvPr id="6" name="Text 4"/>
          <p:cNvSpPr/>
          <p:nvPr/>
        </p:nvSpPr>
        <p:spPr>
          <a:xfrm>
            <a:off x="457200" y="960120"/>
            <a:ext cx="228600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BIZ UDPGothic" pitchFamily="34" charset="0"/>
                <a:ea typeface="BIZ UDPGothic" pitchFamily="34" charset="-122"/>
                <a:cs typeface="BIZ UDPGothic" pitchFamily="34" charset="-120"/>
              </a:rPr>
              <a:t>5分ルール</a:t>
            </a:r>
            <a:endParaRPr lang="en-US" sz="2600" dirty="0"/>
          </a:p>
        </p:txBody>
      </p:sp>
      <p:sp>
        <p:nvSpPr>
          <p:cNvPr id="7" name="Text 5"/>
          <p:cNvSpPr/>
          <p:nvPr/>
        </p:nvSpPr>
        <p:spPr>
          <a:xfrm>
            <a:off x="2834640" y="960120"/>
            <a:ext cx="5669280" cy="1005840"/>
          </a:xfrm>
          <a:prstGeom prst="rect">
            <a:avLst/>
          </a:prstGeom>
          <a:noFill/>
          <a:ln/>
        </p:spPr>
        <p:txBody>
          <a:bodyPr wrap="square" lIns="0" tIns="0" rIns="0" bIns="0" rtlCol="0" anchor="ctr"/>
          <a:lstStyle/>
          <a:p>
            <a:pPr indent="0" marL="0">
              <a:buNone/>
            </a:pPr>
            <a:r>
              <a:rPr lang="en-US" sz="2200" b="1" dirty="0">
                <a:solidFill>
                  <a:srgbClr val="DC3545"/>
                </a:solidFill>
                <a:latin typeface="BIZ UDPGothic" pitchFamily="34" charset="0"/>
                <a:ea typeface="BIZ UDPGothic" pitchFamily="34" charset="-122"/>
                <a:cs typeface="BIZ UDPGothic" pitchFamily="34" charset="-120"/>
              </a:rPr>
              <a:t>発作が 5分以上 続いたら即119番</a:t>
            </a:r>
            <a:endParaRPr lang="en-US" sz="2200" dirty="0"/>
          </a:p>
        </p:txBody>
      </p:sp>
      <p:sp>
        <p:nvSpPr>
          <p:cNvPr id="8" name="Shape 6"/>
          <p:cNvSpPr/>
          <p:nvPr/>
        </p:nvSpPr>
        <p:spPr>
          <a:xfrm>
            <a:off x="457200" y="2148840"/>
            <a:ext cx="8229600" cy="338328"/>
          </a:xfrm>
          <a:prstGeom prst="rect">
            <a:avLst/>
          </a:prstGeom>
          <a:solidFill>
            <a:srgbClr val="FFF5F5"/>
          </a:solidFill>
          <a:ln/>
        </p:spPr>
      </p:sp>
      <p:sp>
        <p:nvSpPr>
          <p:cNvPr id="9" name="Shape 7"/>
          <p:cNvSpPr/>
          <p:nvPr/>
        </p:nvSpPr>
        <p:spPr>
          <a:xfrm>
            <a:off x="457200" y="2148840"/>
            <a:ext cx="274320" cy="338328"/>
          </a:xfrm>
          <a:prstGeom prst="rect">
            <a:avLst/>
          </a:prstGeom>
          <a:solidFill>
            <a:srgbClr val="DC3545"/>
          </a:solidFill>
          <a:ln/>
        </p:spPr>
      </p:sp>
      <p:sp>
        <p:nvSpPr>
          <p:cNvPr id="10" name="Text 8"/>
          <p:cNvSpPr/>
          <p:nvPr/>
        </p:nvSpPr>
        <p:spPr>
          <a:xfrm>
            <a:off x="457200" y="2148840"/>
            <a:ext cx="274320" cy="3383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t>
            </a:r>
            <a:endParaRPr lang="en-US" sz="1200" dirty="0"/>
          </a:p>
        </p:txBody>
      </p:sp>
      <p:sp>
        <p:nvSpPr>
          <p:cNvPr id="11" name="Text 9"/>
          <p:cNvSpPr/>
          <p:nvPr/>
        </p:nvSpPr>
        <p:spPr>
          <a:xfrm>
            <a:off x="822960" y="2148840"/>
            <a:ext cx="7772400" cy="338328"/>
          </a:xfrm>
          <a:prstGeom prst="rect">
            <a:avLst/>
          </a:prstGeom>
          <a:noFill/>
          <a:ln/>
        </p:spPr>
        <p:txBody>
          <a:bodyPr wrap="square" lIns="0" tIns="0" rIns="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発作が5分以上続いている（てんかん重積状態の可能性）</a:t>
            </a:r>
            <a:endParaRPr lang="en-US" sz="1200" dirty="0"/>
          </a:p>
        </p:txBody>
      </p:sp>
      <p:sp>
        <p:nvSpPr>
          <p:cNvPr id="12" name="Shape 10"/>
          <p:cNvSpPr/>
          <p:nvPr/>
        </p:nvSpPr>
        <p:spPr>
          <a:xfrm>
            <a:off x="457200" y="2487168"/>
            <a:ext cx="8229600" cy="338328"/>
          </a:xfrm>
          <a:prstGeom prst="rect">
            <a:avLst/>
          </a:prstGeom>
          <a:solidFill>
            <a:srgbClr val="FFFFFF"/>
          </a:solidFill>
          <a:ln/>
        </p:spPr>
      </p:sp>
      <p:sp>
        <p:nvSpPr>
          <p:cNvPr id="13" name="Shape 11"/>
          <p:cNvSpPr/>
          <p:nvPr/>
        </p:nvSpPr>
        <p:spPr>
          <a:xfrm>
            <a:off x="457200" y="2487168"/>
            <a:ext cx="274320" cy="338328"/>
          </a:xfrm>
          <a:prstGeom prst="rect">
            <a:avLst/>
          </a:prstGeom>
          <a:solidFill>
            <a:srgbClr val="DC3545"/>
          </a:solidFill>
          <a:ln/>
        </p:spPr>
      </p:sp>
      <p:sp>
        <p:nvSpPr>
          <p:cNvPr id="14" name="Text 12"/>
          <p:cNvSpPr/>
          <p:nvPr/>
        </p:nvSpPr>
        <p:spPr>
          <a:xfrm>
            <a:off x="457200" y="2487168"/>
            <a:ext cx="274320" cy="3383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t>
            </a:r>
            <a:endParaRPr lang="en-US" sz="1200" dirty="0"/>
          </a:p>
        </p:txBody>
      </p:sp>
      <p:sp>
        <p:nvSpPr>
          <p:cNvPr id="15" name="Text 13"/>
          <p:cNvSpPr/>
          <p:nvPr/>
        </p:nvSpPr>
        <p:spPr>
          <a:xfrm>
            <a:off x="822960" y="2487168"/>
            <a:ext cx="7772400" cy="338328"/>
          </a:xfrm>
          <a:prstGeom prst="rect">
            <a:avLst/>
          </a:prstGeom>
          <a:noFill/>
          <a:ln/>
        </p:spPr>
        <p:txBody>
          <a:bodyPr wrap="square" lIns="0" tIns="0" rIns="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発作が止まっても意識が戻らないまま次の発作が始まる</a:t>
            </a:r>
            <a:endParaRPr lang="en-US" sz="1200" dirty="0"/>
          </a:p>
        </p:txBody>
      </p:sp>
      <p:sp>
        <p:nvSpPr>
          <p:cNvPr id="16" name="Shape 14"/>
          <p:cNvSpPr/>
          <p:nvPr/>
        </p:nvSpPr>
        <p:spPr>
          <a:xfrm>
            <a:off x="457200" y="2825496"/>
            <a:ext cx="8229600" cy="338328"/>
          </a:xfrm>
          <a:prstGeom prst="rect">
            <a:avLst/>
          </a:prstGeom>
          <a:solidFill>
            <a:srgbClr val="FFF5F5"/>
          </a:solidFill>
          <a:ln/>
        </p:spPr>
      </p:sp>
      <p:sp>
        <p:nvSpPr>
          <p:cNvPr id="17" name="Shape 15"/>
          <p:cNvSpPr/>
          <p:nvPr/>
        </p:nvSpPr>
        <p:spPr>
          <a:xfrm>
            <a:off x="457200" y="2825496"/>
            <a:ext cx="274320" cy="338328"/>
          </a:xfrm>
          <a:prstGeom prst="rect">
            <a:avLst/>
          </a:prstGeom>
          <a:solidFill>
            <a:srgbClr val="DC3545"/>
          </a:solidFill>
          <a:ln/>
        </p:spPr>
      </p:sp>
      <p:sp>
        <p:nvSpPr>
          <p:cNvPr id="18" name="Text 16"/>
          <p:cNvSpPr/>
          <p:nvPr/>
        </p:nvSpPr>
        <p:spPr>
          <a:xfrm>
            <a:off x="457200" y="2825496"/>
            <a:ext cx="274320" cy="3383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t>
            </a:r>
            <a:endParaRPr lang="en-US" sz="1200" dirty="0"/>
          </a:p>
        </p:txBody>
      </p:sp>
      <p:sp>
        <p:nvSpPr>
          <p:cNvPr id="19" name="Text 17"/>
          <p:cNvSpPr/>
          <p:nvPr/>
        </p:nvSpPr>
        <p:spPr>
          <a:xfrm>
            <a:off x="822960" y="2825496"/>
            <a:ext cx="7772400" cy="338328"/>
          </a:xfrm>
          <a:prstGeom prst="rect">
            <a:avLst/>
          </a:prstGeom>
          <a:noFill/>
          <a:ln/>
        </p:spPr>
        <p:txBody>
          <a:bodyPr wrap="square" lIns="0" tIns="0" rIns="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発作後、数分経っても意識が戻らない・呼びかけに反応しない</a:t>
            </a:r>
            <a:endParaRPr lang="en-US" sz="1200" dirty="0"/>
          </a:p>
        </p:txBody>
      </p:sp>
      <p:sp>
        <p:nvSpPr>
          <p:cNvPr id="20" name="Shape 18"/>
          <p:cNvSpPr/>
          <p:nvPr/>
        </p:nvSpPr>
        <p:spPr>
          <a:xfrm>
            <a:off x="457200" y="3163824"/>
            <a:ext cx="8229600" cy="338328"/>
          </a:xfrm>
          <a:prstGeom prst="rect">
            <a:avLst/>
          </a:prstGeom>
          <a:solidFill>
            <a:srgbClr val="FFFFFF"/>
          </a:solidFill>
          <a:ln/>
        </p:spPr>
      </p:sp>
      <p:sp>
        <p:nvSpPr>
          <p:cNvPr id="21" name="Shape 19"/>
          <p:cNvSpPr/>
          <p:nvPr/>
        </p:nvSpPr>
        <p:spPr>
          <a:xfrm>
            <a:off x="457200" y="3163824"/>
            <a:ext cx="274320" cy="338328"/>
          </a:xfrm>
          <a:prstGeom prst="rect">
            <a:avLst/>
          </a:prstGeom>
          <a:solidFill>
            <a:srgbClr val="DC3545"/>
          </a:solidFill>
          <a:ln/>
        </p:spPr>
      </p:sp>
      <p:sp>
        <p:nvSpPr>
          <p:cNvPr id="22" name="Text 20"/>
          <p:cNvSpPr/>
          <p:nvPr/>
        </p:nvSpPr>
        <p:spPr>
          <a:xfrm>
            <a:off x="457200" y="3163824"/>
            <a:ext cx="274320" cy="3383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t>
            </a:r>
            <a:endParaRPr lang="en-US" sz="1200" dirty="0"/>
          </a:p>
        </p:txBody>
      </p:sp>
      <p:sp>
        <p:nvSpPr>
          <p:cNvPr id="23" name="Text 21"/>
          <p:cNvSpPr/>
          <p:nvPr/>
        </p:nvSpPr>
        <p:spPr>
          <a:xfrm>
            <a:off x="822960" y="3163824"/>
            <a:ext cx="7772400" cy="338328"/>
          </a:xfrm>
          <a:prstGeom prst="rect">
            <a:avLst/>
          </a:prstGeom>
          <a:noFill/>
          <a:ln/>
        </p:spPr>
        <p:txBody>
          <a:bodyPr wrap="square" lIns="0" tIns="0" rIns="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呼吸が回復しない・チアノーゼ（唇や爪が紫色）がある</a:t>
            </a:r>
            <a:endParaRPr lang="en-US" sz="1200" dirty="0"/>
          </a:p>
        </p:txBody>
      </p:sp>
      <p:sp>
        <p:nvSpPr>
          <p:cNvPr id="24" name="Shape 22"/>
          <p:cNvSpPr/>
          <p:nvPr/>
        </p:nvSpPr>
        <p:spPr>
          <a:xfrm>
            <a:off x="457200" y="3502152"/>
            <a:ext cx="8229600" cy="338328"/>
          </a:xfrm>
          <a:prstGeom prst="rect">
            <a:avLst/>
          </a:prstGeom>
          <a:solidFill>
            <a:srgbClr val="FFF5F5"/>
          </a:solidFill>
          <a:ln/>
        </p:spPr>
      </p:sp>
      <p:sp>
        <p:nvSpPr>
          <p:cNvPr id="25" name="Shape 23"/>
          <p:cNvSpPr/>
          <p:nvPr/>
        </p:nvSpPr>
        <p:spPr>
          <a:xfrm>
            <a:off x="457200" y="3502152"/>
            <a:ext cx="274320" cy="338328"/>
          </a:xfrm>
          <a:prstGeom prst="rect">
            <a:avLst/>
          </a:prstGeom>
          <a:solidFill>
            <a:srgbClr val="DC3545"/>
          </a:solidFill>
          <a:ln/>
        </p:spPr>
      </p:sp>
      <p:sp>
        <p:nvSpPr>
          <p:cNvPr id="26" name="Text 24"/>
          <p:cNvSpPr/>
          <p:nvPr/>
        </p:nvSpPr>
        <p:spPr>
          <a:xfrm>
            <a:off x="457200" y="3502152"/>
            <a:ext cx="274320" cy="3383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t>
            </a:r>
            <a:endParaRPr lang="en-US" sz="1200" dirty="0"/>
          </a:p>
        </p:txBody>
      </p:sp>
      <p:sp>
        <p:nvSpPr>
          <p:cNvPr id="27" name="Text 25"/>
          <p:cNvSpPr/>
          <p:nvPr/>
        </p:nvSpPr>
        <p:spPr>
          <a:xfrm>
            <a:off x="822960" y="3502152"/>
            <a:ext cx="7772400" cy="338328"/>
          </a:xfrm>
          <a:prstGeom prst="rect">
            <a:avLst/>
          </a:prstGeom>
          <a:noFill/>
          <a:ln/>
        </p:spPr>
        <p:txBody>
          <a:bodyPr wrap="square" lIns="0" tIns="0" rIns="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水の中（プール・浴槽）で発作が起きた</a:t>
            </a:r>
            <a:endParaRPr lang="en-US" sz="1200" dirty="0"/>
          </a:p>
        </p:txBody>
      </p:sp>
      <p:sp>
        <p:nvSpPr>
          <p:cNvPr id="28" name="Shape 26"/>
          <p:cNvSpPr/>
          <p:nvPr/>
        </p:nvSpPr>
        <p:spPr>
          <a:xfrm>
            <a:off x="457200" y="3840480"/>
            <a:ext cx="8229600" cy="338328"/>
          </a:xfrm>
          <a:prstGeom prst="rect">
            <a:avLst/>
          </a:prstGeom>
          <a:solidFill>
            <a:srgbClr val="FFFFFF"/>
          </a:solidFill>
          <a:ln/>
        </p:spPr>
      </p:sp>
      <p:sp>
        <p:nvSpPr>
          <p:cNvPr id="29" name="Shape 27"/>
          <p:cNvSpPr/>
          <p:nvPr/>
        </p:nvSpPr>
        <p:spPr>
          <a:xfrm>
            <a:off x="457200" y="3840480"/>
            <a:ext cx="274320" cy="338328"/>
          </a:xfrm>
          <a:prstGeom prst="rect">
            <a:avLst/>
          </a:prstGeom>
          <a:solidFill>
            <a:srgbClr val="DC3545"/>
          </a:solidFill>
          <a:ln/>
        </p:spPr>
      </p:sp>
      <p:sp>
        <p:nvSpPr>
          <p:cNvPr id="30" name="Text 28"/>
          <p:cNvSpPr/>
          <p:nvPr/>
        </p:nvSpPr>
        <p:spPr>
          <a:xfrm>
            <a:off x="457200" y="3840480"/>
            <a:ext cx="274320" cy="3383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t>
            </a:r>
            <a:endParaRPr lang="en-US" sz="1200" dirty="0"/>
          </a:p>
        </p:txBody>
      </p:sp>
      <p:sp>
        <p:nvSpPr>
          <p:cNvPr id="31" name="Text 29"/>
          <p:cNvSpPr/>
          <p:nvPr/>
        </p:nvSpPr>
        <p:spPr>
          <a:xfrm>
            <a:off x="822960" y="3840480"/>
            <a:ext cx="7772400" cy="338328"/>
          </a:xfrm>
          <a:prstGeom prst="rect">
            <a:avLst/>
          </a:prstGeom>
          <a:noFill/>
          <a:ln/>
        </p:spPr>
        <p:txBody>
          <a:bodyPr wrap="square" lIns="0" tIns="0" rIns="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頭部を打撲した後に発作が起きた</a:t>
            </a:r>
            <a:endParaRPr lang="en-US" sz="1200" dirty="0"/>
          </a:p>
        </p:txBody>
      </p:sp>
      <p:sp>
        <p:nvSpPr>
          <p:cNvPr id="32" name="Shape 30"/>
          <p:cNvSpPr/>
          <p:nvPr/>
        </p:nvSpPr>
        <p:spPr>
          <a:xfrm>
            <a:off x="457200" y="4178808"/>
            <a:ext cx="8229600" cy="338328"/>
          </a:xfrm>
          <a:prstGeom prst="rect">
            <a:avLst/>
          </a:prstGeom>
          <a:solidFill>
            <a:srgbClr val="FFF5F5"/>
          </a:solidFill>
          <a:ln/>
        </p:spPr>
      </p:sp>
      <p:sp>
        <p:nvSpPr>
          <p:cNvPr id="33" name="Shape 31"/>
          <p:cNvSpPr/>
          <p:nvPr/>
        </p:nvSpPr>
        <p:spPr>
          <a:xfrm>
            <a:off x="457200" y="4178808"/>
            <a:ext cx="274320" cy="338328"/>
          </a:xfrm>
          <a:prstGeom prst="rect">
            <a:avLst/>
          </a:prstGeom>
          <a:solidFill>
            <a:srgbClr val="DC3545"/>
          </a:solidFill>
          <a:ln/>
        </p:spPr>
      </p:sp>
      <p:sp>
        <p:nvSpPr>
          <p:cNvPr id="34" name="Text 32"/>
          <p:cNvSpPr/>
          <p:nvPr/>
        </p:nvSpPr>
        <p:spPr>
          <a:xfrm>
            <a:off x="457200" y="4178808"/>
            <a:ext cx="274320" cy="3383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t>
            </a:r>
            <a:endParaRPr lang="en-US" sz="1200" dirty="0"/>
          </a:p>
        </p:txBody>
      </p:sp>
      <p:sp>
        <p:nvSpPr>
          <p:cNvPr id="35" name="Text 33"/>
          <p:cNvSpPr/>
          <p:nvPr/>
        </p:nvSpPr>
        <p:spPr>
          <a:xfrm>
            <a:off x="822960" y="4178808"/>
            <a:ext cx="7772400" cy="338328"/>
          </a:xfrm>
          <a:prstGeom prst="rect">
            <a:avLst/>
          </a:prstGeom>
          <a:noFill/>
          <a:ln/>
        </p:spPr>
        <p:txBody>
          <a:bodyPr wrap="square" lIns="0" tIns="0" rIns="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妊娠中に発作が起きた（子癇の可能性）</a:t>
            </a:r>
            <a:endParaRPr lang="en-US" sz="1200" dirty="0"/>
          </a:p>
        </p:txBody>
      </p:sp>
      <p:sp>
        <p:nvSpPr>
          <p:cNvPr id="36" name="Shape 34"/>
          <p:cNvSpPr/>
          <p:nvPr/>
        </p:nvSpPr>
        <p:spPr>
          <a:xfrm>
            <a:off x="457200" y="4517136"/>
            <a:ext cx="8229600" cy="338328"/>
          </a:xfrm>
          <a:prstGeom prst="rect">
            <a:avLst/>
          </a:prstGeom>
          <a:solidFill>
            <a:srgbClr val="FFFFFF"/>
          </a:solidFill>
          <a:ln/>
        </p:spPr>
      </p:sp>
      <p:sp>
        <p:nvSpPr>
          <p:cNvPr id="37" name="Shape 35"/>
          <p:cNvSpPr/>
          <p:nvPr/>
        </p:nvSpPr>
        <p:spPr>
          <a:xfrm>
            <a:off x="457200" y="4517136"/>
            <a:ext cx="274320" cy="338328"/>
          </a:xfrm>
          <a:prstGeom prst="rect">
            <a:avLst/>
          </a:prstGeom>
          <a:solidFill>
            <a:srgbClr val="DC3545"/>
          </a:solidFill>
          <a:ln/>
        </p:spPr>
      </p:sp>
      <p:sp>
        <p:nvSpPr>
          <p:cNvPr id="38" name="Text 36"/>
          <p:cNvSpPr/>
          <p:nvPr/>
        </p:nvSpPr>
        <p:spPr>
          <a:xfrm>
            <a:off x="457200" y="4517136"/>
            <a:ext cx="274320" cy="3383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t>
            </a:r>
            <a:endParaRPr lang="en-US" sz="1200" dirty="0"/>
          </a:p>
        </p:txBody>
      </p:sp>
      <p:sp>
        <p:nvSpPr>
          <p:cNvPr id="39" name="Text 37"/>
          <p:cNvSpPr/>
          <p:nvPr/>
        </p:nvSpPr>
        <p:spPr>
          <a:xfrm>
            <a:off x="822960" y="4517136"/>
            <a:ext cx="7772400" cy="338328"/>
          </a:xfrm>
          <a:prstGeom prst="rect">
            <a:avLst/>
          </a:prstGeom>
          <a:noFill/>
          <a:ln/>
        </p:spPr>
        <p:txBody>
          <a:bodyPr wrap="square" lIns="0" tIns="0" rIns="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初めての発作と思われる（てんかんの診断がない人）</a:t>
            </a:r>
            <a:endParaRPr lang="en-US" sz="1200" dirty="0"/>
          </a:p>
        </p:txBody>
      </p:sp>
      <p:sp>
        <p:nvSpPr>
          <p:cNvPr id="40" name="Shape 38"/>
          <p:cNvSpPr/>
          <p:nvPr/>
        </p:nvSpPr>
        <p:spPr>
          <a:xfrm>
            <a:off x="457200" y="4855464"/>
            <a:ext cx="8229600" cy="338328"/>
          </a:xfrm>
          <a:prstGeom prst="rect">
            <a:avLst/>
          </a:prstGeom>
          <a:solidFill>
            <a:srgbClr val="FFF5F5"/>
          </a:solidFill>
          <a:ln/>
        </p:spPr>
      </p:sp>
      <p:sp>
        <p:nvSpPr>
          <p:cNvPr id="41" name="Shape 39"/>
          <p:cNvSpPr/>
          <p:nvPr/>
        </p:nvSpPr>
        <p:spPr>
          <a:xfrm>
            <a:off x="457200" y="4855464"/>
            <a:ext cx="274320" cy="338328"/>
          </a:xfrm>
          <a:prstGeom prst="rect">
            <a:avLst/>
          </a:prstGeom>
          <a:solidFill>
            <a:srgbClr val="DC3545"/>
          </a:solidFill>
          <a:ln/>
        </p:spPr>
      </p:sp>
      <p:sp>
        <p:nvSpPr>
          <p:cNvPr id="42" name="Text 40"/>
          <p:cNvSpPr/>
          <p:nvPr/>
        </p:nvSpPr>
        <p:spPr>
          <a:xfrm>
            <a:off x="457200" y="4855464"/>
            <a:ext cx="274320" cy="3383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t>
            </a:r>
            <a:endParaRPr lang="en-US" sz="1200" dirty="0"/>
          </a:p>
        </p:txBody>
      </p:sp>
      <p:sp>
        <p:nvSpPr>
          <p:cNvPr id="43" name="Text 41"/>
          <p:cNvSpPr/>
          <p:nvPr/>
        </p:nvSpPr>
        <p:spPr>
          <a:xfrm>
            <a:off x="822960" y="4855464"/>
            <a:ext cx="7772400" cy="338328"/>
          </a:xfrm>
          <a:prstGeom prst="rect">
            <a:avLst/>
          </a:prstGeom>
          <a:noFill/>
          <a:ln/>
        </p:spPr>
        <p:txBody>
          <a:bodyPr wrap="square" lIns="0" tIns="0" rIns="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発作後に麻痺・ろれつが回らないなど新たな神経症状がある</a:t>
            </a:r>
            <a:endParaRPr lang="en-US" sz="1200" dirty="0"/>
          </a:p>
        </p:txBody>
      </p:sp>
      <p:sp>
        <p:nvSpPr>
          <p:cNvPr id="44" name="Text 42"/>
          <p:cNvSpPr/>
          <p:nvPr/>
        </p:nvSpPr>
        <p:spPr>
          <a:xfrm>
            <a:off x="8229600" y="4754880"/>
            <a:ext cx="73152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5/10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救急隊員・医師への情報提供</a:t>
            </a:r>
            <a:endParaRPr lang="en-US" sz="24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目撃者の証言は診断に不可欠。次の情報をできる限り伝えてください。</a:t>
            </a:r>
            <a:endParaRPr lang="en-US" sz="1500" dirty="0"/>
          </a:p>
        </p:txBody>
      </p:sp>
      <p:sp>
        <p:nvSpPr>
          <p:cNvPr id="5" name="Shape 3"/>
          <p:cNvSpPr/>
          <p:nvPr/>
        </p:nvSpPr>
        <p:spPr>
          <a:xfrm>
            <a:off x="365760" y="1417320"/>
            <a:ext cx="2560320" cy="411480"/>
          </a:xfrm>
          <a:prstGeom prst="rect">
            <a:avLst/>
          </a:prstGeom>
          <a:solidFill>
            <a:srgbClr val="2C5AA0"/>
          </a:solidFill>
          <a:ln/>
        </p:spPr>
      </p:sp>
      <p:sp>
        <p:nvSpPr>
          <p:cNvPr id="6" name="Shape 4"/>
          <p:cNvSpPr/>
          <p:nvPr/>
        </p:nvSpPr>
        <p:spPr>
          <a:xfrm>
            <a:off x="2926080" y="1417320"/>
            <a:ext cx="5852160" cy="411480"/>
          </a:xfrm>
          <a:prstGeom prst="rect">
            <a:avLst/>
          </a:prstGeom>
          <a:solidFill>
            <a:srgbClr val="2C5AA0"/>
          </a:solidFill>
          <a:ln/>
        </p:spPr>
      </p:sp>
      <p:sp>
        <p:nvSpPr>
          <p:cNvPr id="7" name="Text 5"/>
          <p:cNvSpPr/>
          <p:nvPr/>
        </p:nvSpPr>
        <p:spPr>
          <a:xfrm>
            <a:off x="365760" y="1417320"/>
            <a:ext cx="25603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Gothic" pitchFamily="34" charset="0"/>
                <a:ea typeface="BIZ UDPGothic" pitchFamily="34" charset="-122"/>
                <a:cs typeface="BIZ UDPGothic" pitchFamily="34" charset="-120"/>
              </a:rPr>
              <a:t>確認項目</a:t>
            </a:r>
            <a:endParaRPr lang="en-US" sz="1300" dirty="0"/>
          </a:p>
        </p:txBody>
      </p:sp>
      <p:sp>
        <p:nvSpPr>
          <p:cNvPr id="8" name="Text 6"/>
          <p:cNvSpPr/>
          <p:nvPr/>
        </p:nvSpPr>
        <p:spPr>
          <a:xfrm>
            <a:off x="2926080" y="1417320"/>
            <a:ext cx="58521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Gothic" pitchFamily="34" charset="0"/>
                <a:ea typeface="BIZ UDPGothic" pitchFamily="34" charset="-122"/>
                <a:cs typeface="BIZ UDPGothic" pitchFamily="34" charset="-120"/>
              </a:rPr>
              <a:t>具体的に観察・記録するポイント</a:t>
            </a:r>
            <a:endParaRPr lang="en-US" sz="1300" dirty="0"/>
          </a:p>
        </p:txBody>
      </p:sp>
      <p:sp>
        <p:nvSpPr>
          <p:cNvPr id="9" name="Shape 7"/>
          <p:cNvSpPr/>
          <p:nvPr/>
        </p:nvSpPr>
        <p:spPr>
          <a:xfrm>
            <a:off x="365760" y="1828800"/>
            <a:ext cx="8412480" cy="448056"/>
          </a:xfrm>
          <a:prstGeom prst="rect">
            <a:avLst/>
          </a:prstGeom>
          <a:solidFill>
            <a:srgbClr val="F5F7FA"/>
          </a:solidFill>
          <a:ln/>
        </p:spPr>
      </p:sp>
      <p:sp>
        <p:nvSpPr>
          <p:cNvPr id="10" name="Text 8"/>
          <p:cNvSpPr/>
          <p:nvPr/>
        </p:nvSpPr>
        <p:spPr>
          <a:xfrm>
            <a:off x="457200" y="1828800"/>
            <a:ext cx="2377440" cy="448056"/>
          </a:xfrm>
          <a:prstGeom prst="rect">
            <a:avLst/>
          </a:prstGeom>
          <a:noFill/>
          <a:ln/>
        </p:spPr>
        <p:txBody>
          <a:bodyPr wrap="square" lIns="0" tIns="50800" rIns="50800" bIns="0" rtlCol="0" anchor="ctr"/>
          <a:lstStyle/>
          <a:p>
            <a:pPr indent="0" marL="0">
              <a:buNone/>
            </a:pPr>
            <a:r>
              <a:rPr lang="en-US" sz="1200" b="1" dirty="0">
                <a:solidFill>
                  <a:srgbClr val="2C5AA0"/>
                </a:solidFill>
                <a:latin typeface="BIZ UDPGothic" pitchFamily="34" charset="0"/>
                <a:ea typeface="BIZ UDPGothic" pitchFamily="34" charset="-122"/>
                <a:cs typeface="BIZ UDPGothic" pitchFamily="34" charset="-120"/>
              </a:rPr>
              <a:t>発作の始まり方</a:t>
            </a:r>
            <a:endParaRPr lang="en-US" sz="1200" dirty="0"/>
          </a:p>
        </p:txBody>
      </p:sp>
      <p:sp>
        <p:nvSpPr>
          <p:cNvPr id="11" name="Text 9"/>
          <p:cNvSpPr/>
          <p:nvPr/>
        </p:nvSpPr>
        <p:spPr>
          <a:xfrm>
            <a:off x="2926080" y="1828800"/>
            <a:ext cx="5669280" cy="448056"/>
          </a:xfrm>
          <a:prstGeom prst="rect">
            <a:avLst/>
          </a:prstGeom>
          <a:noFill/>
          <a:ln/>
        </p:spPr>
        <p:txBody>
          <a:bodyPr wrap="square" lIns="0" tIns="50800" rIns="5080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突然か、体の一部から始まったか。どの部位から始まったか</a:t>
            </a:r>
            <a:endParaRPr lang="en-US" sz="1200" dirty="0"/>
          </a:p>
        </p:txBody>
      </p:sp>
      <p:sp>
        <p:nvSpPr>
          <p:cNvPr id="12" name="Shape 10"/>
          <p:cNvSpPr/>
          <p:nvPr/>
        </p:nvSpPr>
        <p:spPr>
          <a:xfrm>
            <a:off x="365760" y="2276856"/>
            <a:ext cx="8412480" cy="448056"/>
          </a:xfrm>
          <a:prstGeom prst="rect">
            <a:avLst/>
          </a:prstGeom>
          <a:solidFill>
            <a:srgbClr val="FFFFFF"/>
          </a:solidFill>
          <a:ln/>
        </p:spPr>
      </p:sp>
      <p:sp>
        <p:nvSpPr>
          <p:cNvPr id="13" name="Text 11"/>
          <p:cNvSpPr/>
          <p:nvPr/>
        </p:nvSpPr>
        <p:spPr>
          <a:xfrm>
            <a:off x="457200" y="2276856"/>
            <a:ext cx="2377440" cy="448056"/>
          </a:xfrm>
          <a:prstGeom prst="rect">
            <a:avLst/>
          </a:prstGeom>
          <a:noFill/>
          <a:ln/>
        </p:spPr>
        <p:txBody>
          <a:bodyPr wrap="square" lIns="0" tIns="50800" rIns="50800" bIns="0" rtlCol="0" anchor="ctr"/>
          <a:lstStyle/>
          <a:p>
            <a:pPr indent="0" marL="0">
              <a:buNone/>
            </a:pPr>
            <a:r>
              <a:rPr lang="en-US" sz="1200" b="1" dirty="0">
                <a:solidFill>
                  <a:srgbClr val="2C5AA0"/>
                </a:solidFill>
                <a:latin typeface="BIZ UDPGothic" pitchFamily="34" charset="0"/>
                <a:ea typeface="BIZ UDPGothic" pitchFamily="34" charset="-122"/>
                <a:cs typeface="BIZ UDPGothic" pitchFamily="34" charset="-120"/>
              </a:rPr>
              <a:t>発作の持続時間</a:t>
            </a:r>
            <a:endParaRPr lang="en-US" sz="1200" dirty="0"/>
          </a:p>
        </p:txBody>
      </p:sp>
      <p:sp>
        <p:nvSpPr>
          <p:cNvPr id="14" name="Text 12"/>
          <p:cNvSpPr/>
          <p:nvPr/>
        </p:nvSpPr>
        <p:spPr>
          <a:xfrm>
            <a:off x="2926080" y="2276856"/>
            <a:ext cx="5669280" cy="448056"/>
          </a:xfrm>
          <a:prstGeom prst="rect">
            <a:avLst/>
          </a:prstGeom>
          <a:noFill/>
          <a:ln/>
        </p:spPr>
        <p:txBody>
          <a:bodyPr wrap="square" lIns="0" tIns="50800" rIns="5080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発作が始まった時刻・止まった時刻</a:t>
            </a:r>
            <a:endParaRPr lang="en-US" sz="1200" dirty="0"/>
          </a:p>
        </p:txBody>
      </p:sp>
      <p:sp>
        <p:nvSpPr>
          <p:cNvPr id="15" name="Shape 13"/>
          <p:cNvSpPr/>
          <p:nvPr/>
        </p:nvSpPr>
        <p:spPr>
          <a:xfrm>
            <a:off x="365760" y="2724912"/>
            <a:ext cx="8412480" cy="448056"/>
          </a:xfrm>
          <a:prstGeom prst="rect">
            <a:avLst/>
          </a:prstGeom>
          <a:solidFill>
            <a:srgbClr val="F5F7FA"/>
          </a:solidFill>
          <a:ln/>
        </p:spPr>
      </p:sp>
      <p:sp>
        <p:nvSpPr>
          <p:cNvPr id="16" name="Text 14"/>
          <p:cNvSpPr/>
          <p:nvPr/>
        </p:nvSpPr>
        <p:spPr>
          <a:xfrm>
            <a:off x="457200" y="2724912"/>
            <a:ext cx="2377440" cy="448056"/>
          </a:xfrm>
          <a:prstGeom prst="rect">
            <a:avLst/>
          </a:prstGeom>
          <a:noFill/>
          <a:ln/>
        </p:spPr>
        <p:txBody>
          <a:bodyPr wrap="square" lIns="0" tIns="50800" rIns="50800" bIns="0" rtlCol="0" anchor="ctr"/>
          <a:lstStyle/>
          <a:p>
            <a:pPr indent="0" marL="0">
              <a:buNone/>
            </a:pPr>
            <a:r>
              <a:rPr lang="en-US" sz="1200" b="1" dirty="0">
                <a:solidFill>
                  <a:srgbClr val="2C5AA0"/>
                </a:solidFill>
                <a:latin typeface="BIZ UDPGothic" pitchFamily="34" charset="0"/>
                <a:ea typeface="BIZ UDPGothic" pitchFamily="34" charset="-122"/>
                <a:cs typeface="BIZ UDPGothic" pitchFamily="34" charset="-120"/>
              </a:rPr>
              <a:t>体の動き</a:t>
            </a:r>
            <a:endParaRPr lang="en-US" sz="1200" dirty="0"/>
          </a:p>
        </p:txBody>
      </p:sp>
      <p:sp>
        <p:nvSpPr>
          <p:cNvPr id="17" name="Text 15"/>
          <p:cNvSpPr/>
          <p:nvPr/>
        </p:nvSpPr>
        <p:spPr>
          <a:xfrm>
            <a:off x="2926080" y="2724912"/>
            <a:ext cx="5669280" cy="448056"/>
          </a:xfrm>
          <a:prstGeom prst="rect">
            <a:avLst/>
          </a:prstGeom>
          <a:noFill/>
          <a:ln/>
        </p:spPr>
        <p:txBody>
          <a:bodyPr wrap="square" lIns="0" tIns="50800" rIns="5080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全身か、右半身か左半身か。硬直→ガクガクの順か</a:t>
            </a:r>
            <a:endParaRPr lang="en-US" sz="1200" dirty="0"/>
          </a:p>
        </p:txBody>
      </p:sp>
      <p:sp>
        <p:nvSpPr>
          <p:cNvPr id="18" name="Shape 16"/>
          <p:cNvSpPr/>
          <p:nvPr/>
        </p:nvSpPr>
        <p:spPr>
          <a:xfrm>
            <a:off x="365760" y="3172968"/>
            <a:ext cx="8412480" cy="448056"/>
          </a:xfrm>
          <a:prstGeom prst="rect">
            <a:avLst/>
          </a:prstGeom>
          <a:solidFill>
            <a:srgbClr val="FFFFFF"/>
          </a:solidFill>
          <a:ln/>
        </p:spPr>
      </p:sp>
      <p:sp>
        <p:nvSpPr>
          <p:cNvPr id="19" name="Text 17"/>
          <p:cNvSpPr/>
          <p:nvPr/>
        </p:nvSpPr>
        <p:spPr>
          <a:xfrm>
            <a:off x="457200" y="3172968"/>
            <a:ext cx="2377440" cy="448056"/>
          </a:xfrm>
          <a:prstGeom prst="rect">
            <a:avLst/>
          </a:prstGeom>
          <a:noFill/>
          <a:ln/>
        </p:spPr>
        <p:txBody>
          <a:bodyPr wrap="square" lIns="0" tIns="50800" rIns="50800" bIns="0" rtlCol="0" anchor="ctr"/>
          <a:lstStyle/>
          <a:p>
            <a:pPr indent="0" marL="0">
              <a:buNone/>
            </a:pPr>
            <a:r>
              <a:rPr lang="en-US" sz="1200" b="1" dirty="0">
                <a:solidFill>
                  <a:srgbClr val="2C5AA0"/>
                </a:solidFill>
                <a:latin typeface="BIZ UDPGothic" pitchFamily="34" charset="0"/>
                <a:ea typeface="BIZ UDPGothic" pitchFamily="34" charset="-122"/>
                <a:cs typeface="BIZ UDPGothic" pitchFamily="34" charset="-120"/>
              </a:rPr>
              <a:t>眼の動き</a:t>
            </a:r>
            <a:endParaRPr lang="en-US" sz="1200" dirty="0"/>
          </a:p>
        </p:txBody>
      </p:sp>
      <p:sp>
        <p:nvSpPr>
          <p:cNvPr id="20" name="Text 18"/>
          <p:cNvSpPr/>
          <p:nvPr/>
        </p:nvSpPr>
        <p:spPr>
          <a:xfrm>
            <a:off x="2926080" y="3172968"/>
            <a:ext cx="5669280" cy="448056"/>
          </a:xfrm>
          <a:prstGeom prst="rect">
            <a:avLst/>
          </a:prstGeom>
          <a:noFill/>
          <a:ln/>
        </p:spPr>
        <p:txBody>
          <a:bodyPr wrap="square" lIns="0" tIns="50800" rIns="5080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眼が白目を向いたか、どちらを向いていたか</a:t>
            </a:r>
            <a:endParaRPr lang="en-US" sz="1200" dirty="0"/>
          </a:p>
        </p:txBody>
      </p:sp>
      <p:sp>
        <p:nvSpPr>
          <p:cNvPr id="21" name="Shape 19"/>
          <p:cNvSpPr/>
          <p:nvPr/>
        </p:nvSpPr>
        <p:spPr>
          <a:xfrm>
            <a:off x="365760" y="3621024"/>
            <a:ext cx="8412480" cy="448056"/>
          </a:xfrm>
          <a:prstGeom prst="rect">
            <a:avLst/>
          </a:prstGeom>
          <a:solidFill>
            <a:srgbClr val="F5F7FA"/>
          </a:solidFill>
          <a:ln/>
        </p:spPr>
      </p:sp>
      <p:sp>
        <p:nvSpPr>
          <p:cNvPr id="22" name="Text 20"/>
          <p:cNvSpPr/>
          <p:nvPr/>
        </p:nvSpPr>
        <p:spPr>
          <a:xfrm>
            <a:off x="457200" y="3621024"/>
            <a:ext cx="2377440" cy="448056"/>
          </a:xfrm>
          <a:prstGeom prst="rect">
            <a:avLst/>
          </a:prstGeom>
          <a:noFill/>
          <a:ln/>
        </p:spPr>
        <p:txBody>
          <a:bodyPr wrap="square" lIns="0" tIns="50800" rIns="50800" bIns="0" rtlCol="0" anchor="ctr"/>
          <a:lstStyle/>
          <a:p>
            <a:pPr indent="0" marL="0">
              <a:buNone/>
            </a:pPr>
            <a:r>
              <a:rPr lang="en-US" sz="1200" b="1" dirty="0">
                <a:solidFill>
                  <a:srgbClr val="2C5AA0"/>
                </a:solidFill>
                <a:latin typeface="BIZ UDPGothic" pitchFamily="34" charset="0"/>
                <a:ea typeface="BIZ UDPGothic" pitchFamily="34" charset="-122"/>
                <a:cs typeface="BIZ UDPGothic" pitchFamily="34" charset="-120"/>
              </a:rPr>
              <a:t>意識の有無</a:t>
            </a:r>
            <a:endParaRPr lang="en-US" sz="1200" dirty="0"/>
          </a:p>
        </p:txBody>
      </p:sp>
      <p:sp>
        <p:nvSpPr>
          <p:cNvPr id="23" name="Text 21"/>
          <p:cNvSpPr/>
          <p:nvPr/>
        </p:nvSpPr>
        <p:spPr>
          <a:xfrm>
            <a:off x="2926080" y="3621024"/>
            <a:ext cx="5669280" cy="448056"/>
          </a:xfrm>
          <a:prstGeom prst="rect">
            <a:avLst/>
          </a:prstGeom>
          <a:noFill/>
          <a:ln/>
        </p:spPr>
        <p:txBody>
          <a:bodyPr wrap="square" lIns="0" tIns="50800" rIns="5080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声をかけて反応があったか、呼びかけに気づいていたか</a:t>
            </a:r>
            <a:endParaRPr lang="en-US" sz="1200" dirty="0"/>
          </a:p>
        </p:txBody>
      </p:sp>
      <p:sp>
        <p:nvSpPr>
          <p:cNvPr id="24" name="Shape 22"/>
          <p:cNvSpPr/>
          <p:nvPr/>
        </p:nvSpPr>
        <p:spPr>
          <a:xfrm>
            <a:off x="365760" y="4069080"/>
            <a:ext cx="8412480" cy="448056"/>
          </a:xfrm>
          <a:prstGeom prst="rect">
            <a:avLst/>
          </a:prstGeom>
          <a:solidFill>
            <a:srgbClr val="FFFFFF"/>
          </a:solidFill>
          <a:ln/>
        </p:spPr>
      </p:sp>
      <p:sp>
        <p:nvSpPr>
          <p:cNvPr id="25" name="Text 23"/>
          <p:cNvSpPr/>
          <p:nvPr/>
        </p:nvSpPr>
        <p:spPr>
          <a:xfrm>
            <a:off x="457200" y="4069080"/>
            <a:ext cx="2377440" cy="448056"/>
          </a:xfrm>
          <a:prstGeom prst="rect">
            <a:avLst/>
          </a:prstGeom>
          <a:noFill/>
          <a:ln/>
        </p:spPr>
        <p:txBody>
          <a:bodyPr wrap="square" lIns="0" tIns="50800" rIns="50800" bIns="0" rtlCol="0" anchor="ctr"/>
          <a:lstStyle/>
          <a:p>
            <a:pPr indent="0" marL="0">
              <a:buNone/>
            </a:pPr>
            <a:r>
              <a:rPr lang="en-US" sz="1200" b="1" dirty="0">
                <a:solidFill>
                  <a:srgbClr val="2C5AA0"/>
                </a:solidFill>
                <a:latin typeface="BIZ UDPGothic" pitchFamily="34" charset="0"/>
                <a:ea typeface="BIZ UDPGothic" pitchFamily="34" charset="-122"/>
                <a:cs typeface="BIZ UDPGothic" pitchFamily="34" charset="-120"/>
              </a:rPr>
              <a:t>発作後の状態</a:t>
            </a:r>
            <a:endParaRPr lang="en-US" sz="1200" dirty="0"/>
          </a:p>
        </p:txBody>
      </p:sp>
      <p:sp>
        <p:nvSpPr>
          <p:cNvPr id="26" name="Text 24"/>
          <p:cNvSpPr/>
          <p:nvPr/>
        </p:nvSpPr>
        <p:spPr>
          <a:xfrm>
            <a:off x="2926080" y="4069080"/>
            <a:ext cx="5669280" cy="448056"/>
          </a:xfrm>
          <a:prstGeom prst="rect">
            <a:avLst/>
          </a:prstGeom>
          <a:noFill/>
          <a:ln/>
        </p:spPr>
        <p:txBody>
          <a:bodyPr wrap="square" lIns="0" tIns="50800" rIns="5080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すぐに意識が戻ったか、麻痺や言語障害はないか</a:t>
            </a:r>
            <a:endParaRPr lang="en-US" sz="1200" dirty="0"/>
          </a:p>
        </p:txBody>
      </p:sp>
      <p:sp>
        <p:nvSpPr>
          <p:cNvPr id="27" name="Shape 25"/>
          <p:cNvSpPr/>
          <p:nvPr/>
        </p:nvSpPr>
        <p:spPr>
          <a:xfrm>
            <a:off x="365760" y="4517136"/>
            <a:ext cx="8412480" cy="448056"/>
          </a:xfrm>
          <a:prstGeom prst="rect">
            <a:avLst/>
          </a:prstGeom>
          <a:solidFill>
            <a:srgbClr val="F5F7FA"/>
          </a:solidFill>
          <a:ln/>
        </p:spPr>
      </p:sp>
      <p:sp>
        <p:nvSpPr>
          <p:cNvPr id="28" name="Text 26"/>
          <p:cNvSpPr/>
          <p:nvPr/>
        </p:nvSpPr>
        <p:spPr>
          <a:xfrm>
            <a:off x="457200" y="4517136"/>
            <a:ext cx="2377440" cy="448056"/>
          </a:xfrm>
          <a:prstGeom prst="rect">
            <a:avLst/>
          </a:prstGeom>
          <a:noFill/>
          <a:ln/>
        </p:spPr>
        <p:txBody>
          <a:bodyPr wrap="square" lIns="0" tIns="50800" rIns="50800" bIns="0" rtlCol="0" anchor="ctr"/>
          <a:lstStyle/>
          <a:p>
            <a:pPr indent="0" marL="0">
              <a:buNone/>
            </a:pPr>
            <a:r>
              <a:rPr lang="en-US" sz="1200" b="1" dirty="0">
                <a:solidFill>
                  <a:srgbClr val="2C5AA0"/>
                </a:solidFill>
                <a:latin typeface="BIZ UDPGothic" pitchFamily="34" charset="0"/>
                <a:ea typeface="BIZ UDPGothic" pitchFamily="34" charset="-122"/>
                <a:cs typeface="BIZ UDPGothic" pitchFamily="34" charset="-120"/>
              </a:rPr>
              <a:t>既往歴</a:t>
            </a:r>
            <a:endParaRPr lang="en-US" sz="1200" dirty="0"/>
          </a:p>
        </p:txBody>
      </p:sp>
      <p:sp>
        <p:nvSpPr>
          <p:cNvPr id="29" name="Text 27"/>
          <p:cNvSpPr/>
          <p:nvPr/>
        </p:nvSpPr>
        <p:spPr>
          <a:xfrm>
            <a:off x="2926080" y="4517136"/>
            <a:ext cx="5669280" cy="448056"/>
          </a:xfrm>
          <a:prstGeom prst="rect">
            <a:avLst/>
          </a:prstGeom>
          <a:noFill/>
          <a:ln/>
        </p:spPr>
        <p:txBody>
          <a:bodyPr wrap="square" lIns="0" tIns="50800" rIns="50800" bIns="0" rtlCol="0" anchor="ctr"/>
          <a:lstStyle/>
          <a:p>
            <a:pPr indent="0" marL="0">
              <a:buNone/>
            </a:pPr>
            <a:r>
              <a:rPr lang="en-US" sz="1200" dirty="0">
                <a:solidFill>
                  <a:srgbClr val="2D3436"/>
                </a:solidFill>
                <a:latin typeface="BIZ UDPGothic" pitchFamily="34" charset="0"/>
                <a:ea typeface="BIZ UDPGothic" pitchFamily="34" charset="-122"/>
                <a:cs typeface="BIZ UDPGothic" pitchFamily="34" charset="-120"/>
              </a:rPr>
              <a:t>てんかんや糖尿病の持病、内服薬（わかれば）</a:t>
            </a:r>
            <a:endParaRPr lang="en-US" sz="1200" dirty="0"/>
          </a:p>
        </p:txBody>
      </p:sp>
      <p:sp>
        <p:nvSpPr>
          <p:cNvPr id="30" name="Text 28"/>
          <p:cNvSpPr/>
          <p:nvPr/>
        </p:nvSpPr>
        <p:spPr>
          <a:xfrm>
            <a:off x="8229600" y="4754880"/>
            <a:ext cx="73152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6/10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よくある誤解を解く</a:t>
            </a:r>
            <a:endParaRPr lang="en-US" sz="2400" dirty="0"/>
          </a:p>
        </p:txBody>
      </p:sp>
      <p:sp>
        <p:nvSpPr>
          <p:cNvPr id="4" name="Shape 2"/>
          <p:cNvSpPr/>
          <p:nvPr/>
        </p:nvSpPr>
        <p:spPr>
          <a:xfrm>
            <a:off x="457200" y="1005840"/>
            <a:ext cx="822960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8229600" cy="457200"/>
          </a:xfrm>
          <a:prstGeom prst="rect">
            <a:avLst/>
          </a:prstGeom>
          <a:solidFill>
            <a:srgbClr val="DC3545"/>
          </a:solidFill>
          <a:ln/>
        </p:spPr>
      </p:sp>
      <p:sp>
        <p:nvSpPr>
          <p:cNvPr id="6" name="Text 4"/>
          <p:cNvSpPr/>
          <p:nvPr/>
        </p:nvSpPr>
        <p:spPr>
          <a:xfrm>
            <a:off x="640080" y="1005840"/>
            <a:ext cx="6858000" cy="45720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Q1: 「舌を飲み込む」のを防ぐために口に何かを入れるべき？</a:t>
            </a:r>
            <a:endParaRPr lang="en-US" sz="1400" dirty="0"/>
          </a:p>
        </p:txBody>
      </p:sp>
      <p:sp>
        <p:nvSpPr>
          <p:cNvPr id="7" name="Shape 5"/>
          <p:cNvSpPr/>
          <p:nvPr/>
        </p:nvSpPr>
        <p:spPr>
          <a:xfrm>
            <a:off x="7680960" y="1051560"/>
            <a:ext cx="914400" cy="365760"/>
          </a:xfrm>
          <a:prstGeom prst="rect">
            <a:avLst/>
          </a:prstGeom>
          <a:solidFill>
            <a:srgbClr val="F5C518"/>
          </a:solidFill>
          <a:ln/>
        </p:spPr>
      </p:sp>
      <p:sp>
        <p:nvSpPr>
          <p:cNvPr id="8" name="Text 6"/>
          <p:cNvSpPr/>
          <p:nvPr/>
        </p:nvSpPr>
        <p:spPr>
          <a:xfrm>
            <a:off x="7680960" y="1051560"/>
            <a:ext cx="914400" cy="365760"/>
          </a:xfrm>
          <a:prstGeom prst="rect">
            <a:avLst/>
          </a:prstGeom>
          <a:noFill/>
          <a:ln/>
        </p:spPr>
        <p:txBody>
          <a:bodyPr wrap="square" lIns="0" tIns="0" rIns="0" bIns="0" rtlCol="0" anchor="ctr"/>
          <a:lstStyle/>
          <a:p>
            <a:pPr algn="ctr" indent="0" marL="0">
              <a:buNone/>
            </a:pPr>
            <a:r>
              <a:rPr lang="en-US" sz="1200" b="1" dirty="0">
                <a:solidFill>
                  <a:srgbClr val="1B3A5C"/>
                </a:solidFill>
                <a:latin typeface="BIZ UDPGothic" pitchFamily="34" charset="0"/>
                <a:ea typeface="BIZ UDPGothic" pitchFamily="34" charset="-122"/>
                <a:cs typeface="BIZ UDPGothic" pitchFamily="34" charset="-120"/>
              </a:rPr>
              <a:t>誤りです</a:t>
            </a:r>
            <a:endParaRPr lang="en-US" sz="1200" dirty="0"/>
          </a:p>
        </p:txBody>
      </p:sp>
      <p:sp>
        <p:nvSpPr>
          <p:cNvPr id="9" name="Text 7"/>
          <p:cNvSpPr/>
          <p:nvPr/>
        </p:nvSpPr>
        <p:spPr>
          <a:xfrm>
            <a:off x="640080" y="1508760"/>
            <a:ext cx="7863840" cy="685800"/>
          </a:xfrm>
          <a:prstGeom prst="rect">
            <a:avLst/>
          </a:prstGeom>
          <a:noFill/>
          <a:ln/>
        </p:spPr>
        <p:txBody>
          <a:bodyPr wrap="square" lIns="0" tIns="0" rIns="0" bIns="0" rtlCol="0" anchor="t"/>
          <a:lstStyle/>
          <a:p>
            <a:pPr indent="0" marL="0">
              <a:lnSpc>
                <a:spcPct val="125000"/>
              </a:lnSpc>
              <a:buNone/>
            </a:pPr>
            <a:r>
              <a:rPr lang="en-US" sz="1300" dirty="0">
                <a:solidFill>
                  <a:srgbClr val="2D3436"/>
                </a:solidFill>
                <a:latin typeface="BIZ UDPGothic" pitchFamily="34" charset="0"/>
                <a:ea typeface="BIZ UDPGothic" pitchFamily="34" charset="-122"/>
                <a:cs typeface="BIZ UDPGothic" pitchFamily="34" charset="-120"/>
              </a:rPr>
              <a:t>舌は口腔底に固定されており飲み込まれることはありません。口に物を入れると歯の骨折・異物誤嚥・咬傷のリスクがあります。</a:t>
            </a:r>
            <a:endParaRPr lang="en-US" sz="1300" dirty="0"/>
          </a:p>
        </p:txBody>
      </p:sp>
      <p:sp>
        <p:nvSpPr>
          <p:cNvPr id="10" name="Shape 8"/>
          <p:cNvSpPr/>
          <p:nvPr/>
        </p:nvSpPr>
        <p:spPr>
          <a:xfrm>
            <a:off x="457200" y="2377440"/>
            <a:ext cx="822960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2377440"/>
            <a:ext cx="8229600" cy="457200"/>
          </a:xfrm>
          <a:prstGeom prst="rect">
            <a:avLst/>
          </a:prstGeom>
          <a:solidFill>
            <a:srgbClr val="E8850C"/>
          </a:solidFill>
          <a:ln/>
        </p:spPr>
      </p:sp>
      <p:sp>
        <p:nvSpPr>
          <p:cNvPr id="12" name="Text 10"/>
          <p:cNvSpPr/>
          <p:nvPr/>
        </p:nvSpPr>
        <p:spPr>
          <a:xfrm>
            <a:off x="640080" y="2377440"/>
            <a:ext cx="6858000" cy="45720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Q2: 体を押さえつけると発作が短くなる？</a:t>
            </a:r>
            <a:endParaRPr lang="en-US" sz="1400" dirty="0"/>
          </a:p>
        </p:txBody>
      </p:sp>
      <p:sp>
        <p:nvSpPr>
          <p:cNvPr id="13" name="Shape 11"/>
          <p:cNvSpPr/>
          <p:nvPr/>
        </p:nvSpPr>
        <p:spPr>
          <a:xfrm>
            <a:off x="7680960" y="2423160"/>
            <a:ext cx="914400" cy="365760"/>
          </a:xfrm>
          <a:prstGeom prst="rect">
            <a:avLst/>
          </a:prstGeom>
          <a:solidFill>
            <a:srgbClr val="F5C518"/>
          </a:solidFill>
          <a:ln/>
        </p:spPr>
      </p:sp>
      <p:sp>
        <p:nvSpPr>
          <p:cNvPr id="14" name="Text 12"/>
          <p:cNvSpPr/>
          <p:nvPr/>
        </p:nvSpPr>
        <p:spPr>
          <a:xfrm>
            <a:off x="7680960" y="2423160"/>
            <a:ext cx="914400" cy="365760"/>
          </a:xfrm>
          <a:prstGeom prst="rect">
            <a:avLst/>
          </a:prstGeom>
          <a:noFill/>
          <a:ln/>
        </p:spPr>
        <p:txBody>
          <a:bodyPr wrap="square" lIns="0" tIns="0" rIns="0" bIns="0" rtlCol="0" anchor="ctr"/>
          <a:lstStyle/>
          <a:p>
            <a:pPr algn="ctr" indent="0" marL="0">
              <a:buNone/>
            </a:pPr>
            <a:r>
              <a:rPr lang="en-US" sz="1200" b="1" dirty="0">
                <a:solidFill>
                  <a:srgbClr val="1B3A5C"/>
                </a:solidFill>
                <a:latin typeface="BIZ UDPGothic" pitchFamily="34" charset="0"/>
                <a:ea typeface="BIZ UDPGothic" pitchFamily="34" charset="-122"/>
                <a:cs typeface="BIZ UDPGothic" pitchFamily="34" charset="-120"/>
              </a:rPr>
              <a:t>誤りです</a:t>
            </a:r>
            <a:endParaRPr lang="en-US" sz="1200" dirty="0"/>
          </a:p>
        </p:txBody>
      </p:sp>
      <p:sp>
        <p:nvSpPr>
          <p:cNvPr id="15" name="Text 13"/>
          <p:cNvSpPr/>
          <p:nvPr/>
        </p:nvSpPr>
        <p:spPr>
          <a:xfrm>
            <a:off x="640080" y="2880360"/>
            <a:ext cx="7863840" cy="685800"/>
          </a:xfrm>
          <a:prstGeom prst="rect">
            <a:avLst/>
          </a:prstGeom>
          <a:noFill/>
          <a:ln/>
        </p:spPr>
        <p:txBody>
          <a:bodyPr wrap="square" lIns="0" tIns="0" rIns="0" bIns="0" rtlCol="0" anchor="t"/>
          <a:lstStyle/>
          <a:p>
            <a:pPr indent="0" marL="0">
              <a:lnSpc>
                <a:spcPct val="125000"/>
              </a:lnSpc>
              <a:buNone/>
            </a:pPr>
            <a:r>
              <a:rPr lang="en-US" sz="1300" dirty="0">
                <a:solidFill>
                  <a:srgbClr val="2D3436"/>
                </a:solidFill>
                <a:latin typeface="BIZ UDPGothic" pitchFamily="34" charset="0"/>
                <a:ea typeface="BIZ UDPGothic" pitchFamily="34" charset="-122"/>
                <a:cs typeface="BIZ UDPGothic" pitchFamily="34" charset="-120"/>
              </a:rPr>
              <a:t>発作は脳内の電気的現象。体を固定しても止まりません。むしろ肩関節脱臼・肋骨骨折などの二次的損傷が生じます。</a:t>
            </a:r>
            <a:endParaRPr lang="en-US" sz="1300" dirty="0"/>
          </a:p>
        </p:txBody>
      </p:sp>
      <p:sp>
        <p:nvSpPr>
          <p:cNvPr id="16" name="Shape 14"/>
          <p:cNvSpPr/>
          <p:nvPr/>
        </p:nvSpPr>
        <p:spPr>
          <a:xfrm>
            <a:off x="457200" y="3749040"/>
            <a:ext cx="822960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749040"/>
            <a:ext cx="8229600" cy="457200"/>
          </a:xfrm>
          <a:prstGeom prst="rect">
            <a:avLst/>
          </a:prstGeom>
          <a:solidFill>
            <a:srgbClr val="2C5AA0"/>
          </a:solidFill>
          <a:ln/>
        </p:spPr>
      </p:sp>
      <p:sp>
        <p:nvSpPr>
          <p:cNvPr id="18" name="Text 16"/>
          <p:cNvSpPr/>
          <p:nvPr/>
        </p:nvSpPr>
        <p:spPr>
          <a:xfrm>
            <a:off x="640080" y="3749040"/>
            <a:ext cx="6858000" cy="45720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Q3: けいれん中に水を飲ませるとよい？</a:t>
            </a:r>
            <a:endParaRPr lang="en-US" sz="1400" dirty="0"/>
          </a:p>
        </p:txBody>
      </p:sp>
      <p:sp>
        <p:nvSpPr>
          <p:cNvPr id="19" name="Shape 17"/>
          <p:cNvSpPr/>
          <p:nvPr/>
        </p:nvSpPr>
        <p:spPr>
          <a:xfrm>
            <a:off x="7680960" y="3794760"/>
            <a:ext cx="914400" cy="365760"/>
          </a:xfrm>
          <a:prstGeom prst="rect">
            <a:avLst/>
          </a:prstGeom>
          <a:solidFill>
            <a:srgbClr val="F5C518"/>
          </a:solidFill>
          <a:ln/>
        </p:spPr>
      </p:sp>
      <p:sp>
        <p:nvSpPr>
          <p:cNvPr id="20" name="Text 18"/>
          <p:cNvSpPr/>
          <p:nvPr/>
        </p:nvSpPr>
        <p:spPr>
          <a:xfrm>
            <a:off x="7680960" y="3794760"/>
            <a:ext cx="914400" cy="365760"/>
          </a:xfrm>
          <a:prstGeom prst="rect">
            <a:avLst/>
          </a:prstGeom>
          <a:noFill/>
          <a:ln/>
        </p:spPr>
        <p:txBody>
          <a:bodyPr wrap="square" lIns="0" tIns="0" rIns="0" bIns="0" rtlCol="0" anchor="ctr"/>
          <a:lstStyle/>
          <a:p>
            <a:pPr algn="ctr" indent="0" marL="0">
              <a:buNone/>
            </a:pPr>
            <a:r>
              <a:rPr lang="en-US" sz="1200" b="1" dirty="0">
                <a:solidFill>
                  <a:srgbClr val="1B3A5C"/>
                </a:solidFill>
                <a:latin typeface="BIZ UDPGothic" pitchFamily="34" charset="0"/>
                <a:ea typeface="BIZ UDPGothic" pitchFamily="34" charset="-122"/>
                <a:cs typeface="BIZ UDPGothic" pitchFamily="34" charset="-120"/>
              </a:rPr>
              <a:t>誤りです</a:t>
            </a:r>
            <a:endParaRPr lang="en-US" sz="1200" dirty="0"/>
          </a:p>
        </p:txBody>
      </p:sp>
      <p:sp>
        <p:nvSpPr>
          <p:cNvPr id="21" name="Text 19"/>
          <p:cNvSpPr/>
          <p:nvPr/>
        </p:nvSpPr>
        <p:spPr>
          <a:xfrm>
            <a:off x="640080" y="4251960"/>
            <a:ext cx="7863840" cy="685800"/>
          </a:xfrm>
          <a:prstGeom prst="rect">
            <a:avLst/>
          </a:prstGeom>
          <a:noFill/>
          <a:ln/>
        </p:spPr>
        <p:txBody>
          <a:bodyPr wrap="square" lIns="0" tIns="0" rIns="0" bIns="0" rtlCol="0" anchor="t"/>
          <a:lstStyle/>
          <a:p>
            <a:pPr indent="0" marL="0">
              <a:lnSpc>
                <a:spcPct val="125000"/>
              </a:lnSpc>
              <a:buNone/>
            </a:pPr>
            <a:r>
              <a:rPr lang="en-US" sz="1300" dirty="0">
                <a:solidFill>
                  <a:srgbClr val="2D3436"/>
                </a:solidFill>
                <a:latin typeface="BIZ UDPGothic" pitchFamily="34" charset="0"/>
                <a:ea typeface="BIZ UDPGothic" pitchFamily="34" charset="-122"/>
                <a:cs typeface="BIZ UDPGothic" pitchFamily="34" charset="-120"/>
              </a:rPr>
              <a:t>意識のない状態での飲水は誤嚥の危険があります。完全に意識が回復してから本人が希望する場合にのみ行ってください。</a:t>
            </a:r>
            <a:endParaRPr lang="en-US" sz="1300" dirty="0"/>
          </a:p>
        </p:txBody>
      </p:sp>
      <p:sp>
        <p:nvSpPr>
          <p:cNvPr id="22" name="Text 20"/>
          <p:cNvSpPr/>
          <p:nvPr/>
        </p:nvSpPr>
        <p:spPr>
          <a:xfrm>
            <a:off x="8229600" y="4754880"/>
            <a:ext cx="73152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7/10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発作後の対応 ― 発作後朦朧状態（Postictal state）</a:t>
            </a:r>
            <a:endParaRPr lang="en-US" sz="2400" dirty="0"/>
          </a:p>
        </p:txBody>
      </p:sp>
      <p:sp>
        <p:nvSpPr>
          <p:cNvPr id="4" name="Shape 2"/>
          <p:cNvSpPr/>
          <p:nvPr/>
        </p:nvSpPr>
        <p:spPr>
          <a:xfrm>
            <a:off x="457200" y="1005840"/>
            <a:ext cx="8229600" cy="11887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731520" y="1051560"/>
            <a:ext cx="7680960" cy="45720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発作が終わると脳は「発作後朦朧状態（postictal state）」に入ります</a:t>
            </a:r>
            <a:endParaRPr lang="en-US" sz="1500" dirty="0"/>
          </a:p>
        </p:txBody>
      </p:sp>
      <p:sp>
        <p:nvSpPr>
          <p:cNvPr id="6" name="Text 4"/>
          <p:cNvSpPr/>
          <p:nvPr/>
        </p:nvSpPr>
        <p:spPr>
          <a:xfrm>
            <a:off x="731520" y="1554480"/>
            <a:ext cx="7680960" cy="54864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本人はぼんやり・眠る・何が起きたか覚えていない ― これは正常な経過です</a:t>
            </a:r>
            <a:endParaRPr lang="en-US" sz="1500" dirty="0"/>
          </a:p>
        </p:txBody>
      </p:sp>
      <p:sp>
        <p:nvSpPr>
          <p:cNvPr id="7" name="Shape 5"/>
          <p:cNvSpPr/>
          <p:nvPr/>
        </p:nvSpPr>
        <p:spPr>
          <a:xfrm>
            <a:off x="274320" y="2377440"/>
            <a:ext cx="2743200" cy="18288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Shape 6"/>
          <p:cNvSpPr/>
          <p:nvPr/>
        </p:nvSpPr>
        <p:spPr>
          <a:xfrm>
            <a:off x="1051560" y="2514600"/>
            <a:ext cx="1188720" cy="1188720"/>
          </a:xfrm>
          <a:prstGeom prst="ellipse">
            <a:avLst/>
          </a:prstGeom>
          <a:solidFill>
            <a:srgbClr val="28A745"/>
          </a:solidFill>
          <a:ln/>
        </p:spPr>
      </p:sp>
      <p:sp>
        <p:nvSpPr>
          <p:cNvPr id="9" name="Text 7"/>
          <p:cNvSpPr/>
          <p:nvPr/>
        </p:nvSpPr>
        <p:spPr>
          <a:xfrm>
            <a:off x="1051560" y="2514600"/>
            <a:ext cx="1188720" cy="1188720"/>
          </a:xfrm>
          <a:prstGeom prst="rect">
            <a:avLst/>
          </a:prstGeom>
          <a:noFill/>
          <a:ln/>
        </p:spPr>
        <p:txBody>
          <a:bodyPr wrap="square" lIns="0" tIns="0" rIns="0" bIns="0" rtlCol="0" anchor="ctr"/>
          <a:lstStyle/>
          <a:p>
            <a:pPr algn="ctr" indent="0" marL="0">
              <a:buNone/>
            </a:pPr>
            <a:r>
              <a:rPr lang="en-US" sz="3600" b="1" dirty="0">
                <a:solidFill>
                  <a:srgbClr val="FFFFFF"/>
                </a:solidFill>
                <a:latin typeface="Segoe UI" pitchFamily="34" charset="0"/>
                <a:ea typeface="Segoe UI" pitchFamily="34" charset="-122"/>
                <a:cs typeface="Segoe UI" pitchFamily="34" charset="-120"/>
              </a:rPr>
              <a:t>1</a:t>
            </a:r>
            <a:endParaRPr lang="en-US" sz="3600" dirty="0"/>
          </a:p>
        </p:txBody>
      </p:sp>
      <p:sp>
        <p:nvSpPr>
          <p:cNvPr id="10" name="Text 8"/>
          <p:cNvSpPr/>
          <p:nvPr/>
        </p:nvSpPr>
        <p:spPr>
          <a:xfrm>
            <a:off x="274320" y="3794760"/>
            <a:ext cx="2743200" cy="365760"/>
          </a:xfrm>
          <a:prstGeom prst="rect">
            <a:avLst/>
          </a:prstGeom>
          <a:noFill/>
          <a:ln/>
        </p:spPr>
        <p:txBody>
          <a:bodyPr wrap="square" lIns="0" tIns="0" rIns="0" bIns="0" rtlCol="0" anchor="ctr"/>
          <a:lstStyle/>
          <a:p>
            <a:pPr algn="ctr" indent="0" marL="0">
              <a:buNone/>
            </a:pPr>
            <a:r>
              <a:rPr lang="en-US" sz="1500" b="1" dirty="0">
                <a:solidFill>
                  <a:srgbClr val="2D3436"/>
                </a:solidFill>
                <a:latin typeface="BIZ UDPGothic" pitchFamily="34" charset="0"/>
                <a:ea typeface="BIZ UDPGothic" pitchFamily="34" charset="-122"/>
                <a:cs typeface="BIZ UDPGothic" pitchFamily="34" charset="-120"/>
              </a:rPr>
              <a:t>回復体位を保つ</a:t>
            </a:r>
            <a:endParaRPr lang="en-US" sz="1500" dirty="0"/>
          </a:p>
        </p:txBody>
      </p:sp>
      <p:sp>
        <p:nvSpPr>
          <p:cNvPr id="11" name="Text 9"/>
          <p:cNvSpPr/>
          <p:nvPr/>
        </p:nvSpPr>
        <p:spPr>
          <a:xfrm>
            <a:off x="274320" y="4160520"/>
            <a:ext cx="2743200" cy="365760"/>
          </a:xfrm>
          <a:prstGeom prst="rect">
            <a:avLst/>
          </a:prstGeom>
          <a:noFill/>
          <a:ln/>
        </p:spPr>
        <p:txBody>
          <a:bodyPr wrap="square" lIns="0" tIns="0" rIns="0" bIns="0" rtlCol="0" anchor="ctr"/>
          <a:lstStyle/>
          <a:p>
            <a:pPr algn="ctr" indent="0" marL="0">
              <a:buNone/>
            </a:pPr>
            <a:r>
              <a:rPr lang="en-US" sz="1200" dirty="0">
                <a:solidFill>
                  <a:srgbClr val="636E72"/>
                </a:solidFill>
                <a:latin typeface="BIZ UDPGothic" pitchFamily="34" charset="0"/>
                <a:ea typeface="BIZ UDPGothic" pitchFamily="34" charset="-122"/>
                <a:cs typeface="BIZ UDPGothic" pitchFamily="34" charset="-120"/>
              </a:rPr>
              <a:t>横向きのまま安静。嘔吐に備える</a:t>
            </a:r>
            <a:endParaRPr lang="en-US" sz="1200" dirty="0"/>
          </a:p>
        </p:txBody>
      </p:sp>
      <p:sp>
        <p:nvSpPr>
          <p:cNvPr id="12" name="Shape 10"/>
          <p:cNvSpPr/>
          <p:nvPr/>
        </p:nvSpPr>
        <p:spPr>
          <a:xfrm>
            <a:off x="3200400" y="2377440"/>
            <a:ext cx="2743200" cy="18288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3977640" y="2514600"/>
            <a:ext cx="1188720" cy="1188720"/>
          </a:xfrm>
          <a:prstGeom prst="ellipse">
            <a:avLst/>
          </a:prstGeom>
          <a:solidFill>
            <a:srgbClr val="4A90D9"/>
          </a:solidFill>
          <a:ln/>
        </p:spPr>
      </p:sp>
      <p:sp>
        <p:nvSpPr>
          <p:cNvPr id="14" name="Text 12"/>
          <p:cNvSpPr/>
          <p:nvPr/>
        </p:nvSpPr>
        <p:spPr>
          <a:xfrm>
            <a:off x="3977640" y="2514600"/>
            <a:ext cx="1188720" cy="1188720"/>
          </a:xfrm>
          <a:prstGeom prst="rect">
            <a:avLst/>
          </a:prstGeom>
          <a:noFill/>
          <a:ln/>
        </p:spPr>
        <p:txBody>
          <a:bodyPr wrap="square" lIns="0" tIns="0" rIns="0" bIns="0" rtlCol="0" anchor="ctr"/>
          <a:lstStyle/>
          <a:p>
            <a:pPr algn="ctr" indent="0" marL="0">
              <a:buNone/>
            </a:pPr>
            <a:r>
              <a:rPr lang="en-US" sz="3600" b="1" dirty="0">
                <a:solidFill>
                  <a:srgbClr val="FFFFFF"/>
                </a:solidFill>
                <a:latin typeface="Segoe UI" pitchFamily="34" charset="0"/>
                <a:ea typeface="Segoe UI" pitchFamily="34" charset="-122"/>
                <a:cs typeface="Segoe UI" pitchFamily="34" charset="-120"/>
              </a:rPr>
              <a:t>2</a:t>
            </a:r>
            <a:endParaRPr lang="en-US" sz="3600" dirty="0"/>
          </a:p>
        </p:txBody>
      </p:sp>
      <p:sp>
        <p:nvSpPr>
          <p:cNvPr id="15" name="Text 13"/>
          <p:cNvSpPr/>
          <p:nvPr/>
        </p:nvSpPr>
        <p:spPr>
          <a:xfrm>
            <a:off x="3200400" y="3794760"/>
            <a:ext cx="2743200" cy="365760"/>
          </a:xfrm>
          <a:prstGeom prst="rect">
            <a:avLst/>
          </a:prstGeom>
          <a:noFill/>
          <a:ln/>
        </p:spPr>
        <p:txBody>
          <a:bodyPr wrap="square" lIns="0" tIns="0" rIns="0" bIns="0" rtlCol="0" anchor="ctr"/>
          <a:lstStyle/>
          <a:p>
            <a:pPr algn="ctr" indent="0" marL="0">
              <a:buNone/>
            </a:pPr>
            <a:r>
              <a:rPr lang="en-US" sz="1500" b="1" dirty="0">
                <a:solidFill>
                  <a:srgbClr val="2D3436"/>
                </a:solidFill>
                <a:latin typeface="BIZ UDPGothic" pitchFamily="34" charset="0"/>
                <a:ea typeface="BIZ UDPGothic" pitchFamily="34" charset="-122"/>
                <a:cs typeface="BIZ UDPGothic" pitchFamily="34" charset="-120"/>
              </a:rPr>
              <a:t>意識の戻りを確認</a:t>
            </a:r>
            <a:endParaRPr lang="en-US" sz="1500" dirty="0"/>
          </a:p>
        </p:txBody>
      </p:sp>
      <p:sp>
        <p:nvSpPr>
          <p:cNvPr id="16" name="Text 14"/>
          <p:cNvSpPr/>
          <p:nvPr/>
        </p:nvSpPr>
        <p:spPr>
          <a:xfrm>
            <a:off x="3200400" y="4160520"/>
            <a:ext cx="2743200" cy="365760"/>
          </a:xfrm>
          <a:prstGeom prst="rect">
            <a:avLst/>
          </a:prstGeom>
          <a:noFill/>
          <a:ln/>
        </p:spPr>
        <p:txBody>
          <a:bodyPr wrap="square" lIns="0" tIns="0" rIns="0" bIns="0" rtlCol="0" anchor="ctr"/>
          <a:lstStyle/>
          <a:p>
            <a:pPr algn="ctr" indent="0" marL="0">
              <a:buNone/>
            </a:pPr>
            <a:r>
              <a:rPr lang="en-US" sz="1200" dirty="0">
                <a:solidFill>
                  <a:srgbClr val="636E72"/>
                </a:solidFill>
                <a:latin typeface="BIZ UDPGothic" pitchFamily="34" charset="0"/>
                <a:ea typeface="BIZ UDPGothic" pitchFamily="34" charset="-122"/>
                <a:cs typeface="BIZ UDPGothic" pitchFamily="34" charset="-120"/>
              </a:rPr>
              <a:t>声かけを続けながら反応を観察</a:t>
            </a:r>
            <a:endParaRPr lang="en-US" sz="1200" dirty="0"/>
          </a:p>
        </p:txBody>
      </p:sp>
      <p:sp>
        <p:nvSpPr>
          <p:cNvPr id="17" name="Shape 15"/>
          <p:cNvSpPr/>
          <p:nvPr/>
        </p:nvSpPr>
        <p:spPr>
          <a:xfrm>
            <a:off x="6126480" y="2377440"/>
            <a:ext cx="2743200" cy="18288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6903720" y="2514600"/>
            <a:ext cx="1188720" cy="1188720"/>
          </a:xfrm>
          <a:prstGeom prst="ellipse">
            <a:avLst/>
          </a:prstGeom>
          <a:solidFill>
            <a:srgbClr val="2C5AA0"/>
          </a:solidFill>
          <a:ln/>
        </p:spPr>
      </p:sp>
      <p:sp>
        <p:nvSpPr>
          <p:cNvPr id="19" name="Text 17"/>
          <p:cNvSpPr/>
          <p:nvPr/>
        </p:nvSpPr>
        <p:spPr>
          <a:xfrm>
            <a:off x="6903720" y="2514600"/>
            <a:ext cx="1188720" cy="1188720"/>
          </a:xfrm>
          <a:prstGeom prst="rect">
            <a:avLst/>
          </a:prstGeom>
          <a:noFill/>
          <a:ln/>
        </p:spPr>
        <p:txBody>
          <a:bodyPr wrap="square" lIns="0" tIns="0" rIns="0" bIns="0" rtlCol="0" anchor="ctr"/>
          <a:lstStyle/>
          <a:p>
            <a:pPr algn="ctr" indent="0" marL="0">
              <a:buNone/>
            </a:pPr>
            <a:r>
              <a:rPr lang="en-US" sz="3600" b="1" dirty="0">
                <a:solidFill>
                  <a:srgbClr val="FFFFFF"/>
                </a:solidFill>
                <a:latin typeface="Segoe UI" pitchFamily="34" charset="0"/>
                <a:ea typeface="Segoe UI" pitchFamily="34" charset="-122"/>
                <a:cs typeface="Segoe UI" pitchFamily="34" charset="-120"/>
              </a:rPr>
              <a:t>3</a:t>
            </a:r>
            <a:endParaRPr lang="en-US" sz="3600" dirty="0"/>
          </a:p>
        </p:txBody>
      </p:sp>
      <p:sp>
        <p:nvSpPr>
          <p:cNvPr id="20" name="Text 18"/>
          <p:cNvSpPr/>
          <p:nvPr/>
        </p:nvSpPr>
        <p:spPr>
          <a:xfrm>
            <a:off x="6126480" y="3794760"/>
            <a:ext cx="2743200" cy="365760"/>
          </a:xfrm>
          <a:prstGeom prst="rect">
            <a:avLst/>
          </a:prstGeom>
          <a:noFill/>
          <a:ln/>
        </p:spPr>
        <p:txBody>
          <a:bodyPr wrap="square" lIns="0" tIns="0" rIns="0" bIns="0" rtlCol="0" anchor="ctr"/>
          <a:lstStyle/>
          <a:p>
            <a:pPr algn="ctr" indent="0" marL="0">
              <a:buNone/>
            </a:pPr>
            <a:r>
              <a:rPr lang="en-US" sz="1500" b="1" dirty="0">
                <a:solidFill>
                  <a:srgbClr val="2D3436"/>
                </a:solidFill>
                <a:latin typeface="BIZ UDPGothic" pitchFamily="34" charset="0"/>
                <a:ea typeface="BIZ UDPGothic" pitchFamily="34" charset="-122"/>
                <a:cs typeface="BIZ UDPGothic" pitchFamily="34" charset="-120"/>
              </a:rPr>
              <a:t>慌てて揺り起こさない</a:t>
            </a:r>
            <a:endParaRPr lang="en-US" sz="1500" dirty="0"/>
          </a:p>
        </p:txBody>
      </p:sp>
      <p:sp>
        <p:nvSpPr>
          <p:cNvPr id="21" name="Text 19"/>
          <p:cNvSpPr/>
          <p:nvPr/>
        </p:nvSpPr>
        <p:spPr>
          <a:xfrm>
            <a:off x="6126480" y="4160520"/>
            <a:ext cx="2743200" cy="365760"/>
          </a:xfrm>
          <a:prstGeom prst="rect">
            <a:avLst/>
          </a:prstGeom>
          <a:noFill/>
          <a:ln/>
        </p:spPr>
        <p:txBody>
          <a:bodyPr wrap="square" lIns="0" tIns="0" rIns="0" bIns="0" rtlCol="0" anchor="ctr"/>
          <a:lstStyle/>
          <a:p>
            <a:pPr algn="ctr" indent="0" marL="0">
              <a:buNone/>
            </a:pPr>
            <a:r>
              <a:rPr lang="en-US" sz="1200" dirty="0">
                <a:solidFill>
                  <a:srgbClr val="636E72"/>
                </a:solidFill>
                <a:latin typeface="BIZ UDPGothic" pitchFamily="34" charset="0"/>
                <a:ea typeface="BIZ UDPGothic" pitchFamily="34" charset="-122"/>
                <a:cs typeface="BIZ UDPGothic" pitchFamily="34" charset="-120"/>
              </a:rPr>
              <a:t>意識回復を焦らず待つ</a:t>
            </a:r>
            <a:endParaRPr lang="en-US" sz="1200" dirty="0"/>
          </a:p>
        </p:txBody>
      </p:sp>
      <p:sp>
        <p:nvSpPr>
          <p:cNvPr id="22" name="Text 20"/>
          <p:cNvSpPr/>
          <p:nvPr/>
        </p:nvSpPr>
        <p:spPr>
          <a:xfrm>
            <a:off x="2834640" y="2926080"/>
            <a:ext cx="365760" cy="457200"/>
          </a:xfrm>
          <a:prstGeom prst="rect">
            <a:avLst/>
          </a:prstGeom>
          <a:noFill/>
          <a:ln/>
        </p:spPr>
        <p:txBody>
          <a:bodyPr wrap="square" lIns="0" tIns="0" rIns="0" bIns="0" rtlCol="0" anchor="ctr"/>
          <a:lstStyle/>
          <a:p>
            <a:pPr algn="ctr" indent="0" marL="0">
              <a:buNone/>
            </a:pPr>
            <a:r>
              <a:rPr lang="en-US" sz="2200" dirty="0">
                <a:solidFill>
                  <a:srgbClr val="636E72"/>
                </a:solidFill>
              </a:rPr>
              <a:t>→</a:t>
            </a:r>
            <a:endParaRPr lang="en-US" sz="2200" dirty="0"/>
          </a:p>
        </p:txBody>
      </p:sp>
      <p:sp>
        <p:nvSpPr>
          <p:cNvPr id="23" name="Text 21"/>
          <p:cNvSpPr/>
          <p:nvPr/>
        </p:nvSpPr>
        <p:spPr>
          <a:xfrm>
            <a:off x="5760720" y="2926080"/>
            <a:ext cx="365760" cy="457200"/>
          </a:xfrm>
          <a:prstGeom prst="rect">
            <a:avLst/>
          </a:prstGeom>
          <a:noFill/>
          <a:ln/>
        </p:spPr>
        <p:txBody>
          <a:bodyPr wrap="square" lIns="0" tIns="0" rIns="0" bIns="0" rtlCol="0" anchor="ctr"/>
          <a:lstStyle/>
          <a:p>
            <a:pPr algn="ctr" indent="0" marL="0">
              <a:buNone/>
            </a:pPr>
            <a:r>
              <a:rPr lang="en-US" sz="2200" dirty="0">
                <a:solidFill>
                  <a:srgbClr val="636E72"/>
                </a:solidFill>
              </a:rPr>
              <a:t>→</a:t>
            </a:r>
            <a:endParaRPr lang="en-US" sz="2200" dirty="0"/>
          </a:p>
        </p:txBody>
      </p:sp>
      <p:sp>
        <p:nvSpPr>
          <p:cNvPr id="24" name="Shape 22"/>
          <p:cNvSpPr/>
          <p:nvPr/>
        </p:nvSpPr>
        <p:spPr>
          <a:xfrm>
            <a:off x="457200" y="4681728"/>
            <a:ext cx="8229600" cy="411480"/>
          </a:xfrm>
          <a:prstGeom prst="rect">
            <a:avLst/>
          </a:prstGeom>
          <a:solidFill>
            <a:srgbClr val="E8F0FE"/>
          </a:solidFill>
          <a:ln/>
        </p:spPr>
      </p:sp>
      <p:sp>
        <p:nvSpPr>
          <p:cNvPr id="25" name="Text 23"/>
          <p:cNvSpPr/>
          <p:nvPr/>
        </p:nvSpPr>
        <p:spPr>
          <a:xfrm>
            <a:off x="731520" y="4681728"/>
            <a:ext cx="7680960" cy="411480"/>
          </a:xfrm>
          <a:prstGeom prst="rect">
            <a:avLst/>
          </a:prstGeom>
          <a:noFill/>
          <a:ln/>
        </p:spPr>
        <p:txBody>
          <a:bodyPr wrap="square" lIns="0" tIns="0" rIns="0" bIns="0" rtlCol="0" anchor="ctr"/>
          <a:lstStyle/>
          <a:p>
            <a:pPr algn="ctr" indent="0" marL="0">
              <a:buNone/>
            </a:pPr>
            <a:r>
              <a:rPr lang="en-US" sz="1400" b="1" dirty="0">
                <a:solidFill>
                  <a:srgbClr val="2C5AA0"/>
                </a:solidFill>
                <a:latin typeface="BIZ UDPGothic" pitchFamily="34" charset="0"/>
                <a:ea typeface="BIZ UDPGothic" pitchFamily="34" charset="-122"/>
                <a:cs typeface="BIZ UDPGothic" pitchFamily="34" charset="-120"/>
              </a:rPr>
              <a:t>意識が完全に戻るまでそばを離れない。一人にしない。</a:t>
            </a:r>
            <a:endParaRPr lang="en-US" sz="1400" dirty="0"/>
          </a:p>
        </p:txBody>
      </p:sp>
      <p:sp>
        <p:nvSpPr>
          <p:cNvPr id="26" name="Text 24"/>
          <p:cNvSpPr/>
          <p:nvPr/>
        </p:nvSpPr>
        <p:spPr>
          <a:xfrm>
            <a:off x="8229600" y="4754880"/>
            <a:ext cx="73152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8/10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けいれんに見える、でもてんかんではないかもしれない</a:t>
            </a:r>
            <a:endParaRPr lang="en-US" sz="24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indent="0" marL="0">
              <a:buNone/>
            </a:pPr>
            <a:r>
              <a:rPr lang="en-US" sz="1500" dirty="0">
                <a:solidFill>
                  <a:srgbClr val="636E72"/>
                </a:solidFill>
                <a:latin typeface="BIZ UDPGothic" pitchFamily="34" charset="0"/>
                <a:ea typeface="BIZ UDPGothic" pitchFamily="34" charset="-122"/>
                <a:cs typeface="BIZ UDPGothic" pitchFamily="34" charset="-120"/>
              </a:rPr>
              <a:t>目撃者にできることは変わりません。診断は医師が行います。</a:t>
            </a:r>
            <a:endParaRPr lang="en-US" sz="1500" dirty="0"/>
          </a:p>
        </p:txBody>
      </p:sp>
      <p:sp>
        <p:nvSpPr>
          <p:cNvPr id="5" name="Shape 3"/>
          <p:cNvSpPr/>
          <p:nvPr/>
        </p:nvSpPr>
        <p:spPr>
          <a:xfrm>
            <a:off x="457200" y="1463040"/>
            <a:ext cx="8229600" cy="7772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6" name="Shape 4"/>
          <p:cNvSpPr/>
          <p:nvPr/>
        </p:nvSpPr>
        <p:spPr>
          <a:xfrm>
            <a:off x="457200" y="1463040"/>
            <a:ext cx="2743200" cy="777240"/>
          </a:xfrm>
          <a:prstGeom prst="rect">
            <a:avLst/>
          </a:prstGeom>
          <a:solidFill>
            <a:srgbClr val="4A90D9"/>
          </a:solidFill>
          <a:ln/>
        </p:spPr>
      </p:sp>
      <p:sp>
        <p:nvSpPr>
          <p:cNvPr id="7" name="Text 5"/>
          <p:cNvSpPr/>
          <p:nvPr/>
        </p:nvSpPr>
        <p:spPr>
          <a:xfrm>
            <a:off x="548640" y="1463040"/>
            <a:ext cx="2560320" cy="777240"/>
          </a:xfrm>
          <a:prstGeom prst="rect">
            <a:avLst/>
          </a:prstGeom>
          <a:noFill/>
          <a:ln/>
        </p:spPr>
        <p:txBody>
          <a:bodyPr wrap="square" lIns="0" tIns="50800" rIns="50800" bIns="0" rtlCol="0" anchor="ctr"/>
          <a:lstStyle/>
          <a:p>
            <a:pPr indent="0" marL="0">
              <a:lnSpc>
                <a:spcPct val="110000"/>
              </a:lnSpc>
              <a:buNone/>
            </a:pPr>
            <a:r>
              <a:rPr lang="en-US" sz="1400" b="1" dirty="0">
                <a:solidFill>
                  <a:srgbClr val="FFFFFF"/>
                </a:solidFill>
                <a:latin typeface="BIZ UDPGothic" pitchFamily="34" charset="0"/>
                <a:ea typeface="BIZ UDPGothic" pitchFamily="34" charset="-122"/>
                <a:cs typeface="BIZ UDPGothic" pitchFamily="34" charset="-120"/>
              </a:rPr>
              <a:t>失神（syncope）</a:t>
            </a:r>
            <a:endParaRPr lang="en-US" sz="1400" dirty="0"/>
          </a:p>
        </p:txBody>
      </p:sp>
      <p:sp>
        <p:nvSpPr>
          <p:cNvPr id="8" name="Text 6"/>
          <p:cNvSpPr/>
          <p:nvPr/>
        </p:nvSpPr>
        <p:spPr>
          <a:xfrm>
            <a:off x="3337560" y="1463040"/>
            <a:ext cx="5212080" cy="777240"/>
          </a:xfrm>
          <a:prstGeom prst="rect">
            <a:avLst/>
          </a:prstGeom>
          <a:noFill/>
          <a:ln/>
        </p:spPr>
        <p:txBody>
          <a:bodyPr wrap="square" lIns="0" tIns="50800" rIns="50800" bIns="0" rtlCol="0" anchor="ctr"/>
          <a:lstStyle/>
          <a:p>
            <a:pPr indent="0" marL="0">
              <a:lnSpc>
                <a:spcPct val="110000"/>
              </a:lnSpc>
              <a:buNone/>
            </a:pPr>
            <a:r>
              <a:rPr lang="en-US" sz="1300" dirty="0">
                <a:solidFill>
                  <a:srgbClr val="2D3436"/>
                </a:solidFill>
                <a:latin typeface="BIZ UDPGothic" pitchFamily="34" charset="0"/>
                <a:ea typeface="BIZ UDPGothic" pitchFamily="34" charset="-122"/>
                <a:cs typeface="BIZ UDPGothic" pitchFamily="34" charset="-120"/>
              </a:rPr>
              <a:t>脳への血流低下で起こる意識消失。四肢がぴくっと動くことがあり発作と間違われやすい</a:t>
            </a:r>
            <a:endParaRPr lang="en-US" sz="1300" dirty="0"/>
          </a:p>
        </p:txBody>
      </p:sp>
      <p:sp>
        <p:nvSpPr>
          <p:cNvPr id="9" name="Shape 7"/>
          <p:cNvSpPr/>
          <p:nvPr/>
        </p:nvSpPr>
        <p:spPr>
          <a:xfrm>
            <a:off x="457200" y="2340864"/>
            <a:ext cx="8229600" cy="7772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340864"/>
            <a:ext cx="2743200" cy="777240"/>
          </a:xfrm>
          <a:prstGeom prst="rect">
            <a:avLst/>
          </a:prstGeom>
          <a:solidFill>
            <a:srgbClr val="E8850C"/>
          </a:solidFill>
          <a:ln/>
        </p:spPr>
      </p:sp>
      <p:sp>
        <p:nvSpPr>
          <p:cNvPr id="11" name="Text 9"/>
          <p:cNvSpPr/>
          <p:nvPr/>
        </p:nvSpPr>
        <p:spPr>
          <a:xfrm>
            <a:off x="548640" y="2340864"/>
            <a:ext cx="2560320" cy="777240"/>
          </a:xfrm>
          <a:prstGeom prst="rect">
            <a:avLst/>
          </a:prstGeom>
          <a:noFill/>
          <a:ln/>
        </p:spPr>
        <p:txBody>
          <a:bodyPr wrap="square" lIns="0" tIns="50800" rIns="50800" bIns="0" rtlCol="0" anchor="ctr"/>
          <a:lstStyle/>
          <a:p>
            <a:pPr indent="0" marL="0">
              <a:lnSpc>
                <a:spcPct val="110000"/>
              </a:lnSpc>
              <a:buNone/>
            </a:pPr>
            <a:r>
              <a:rPr lang="en-US" sz="1400" b="1" dirty="0">
                <a:solidFill>
                  <a:srgbClr val="FFFFFF"/>
                </a:solidFill>
                <a:latin typeface="BIZ UDPGothic" pitchFamily="34" charset="0"/>
                <a:ea typeface="BIZ UDPGothic" pitchFamily="34" charset="-122"/>
                <a:cs typeface="BIZ UDPGothic" pitchFamily="34" charset="-120"/>
              </a:rPr>
              <a:t>低血糖発作</a:t>
            </a:r>
            <a:endParaRPr lang="en-US" sz="1400" dirty="0"/>
          </a:p>
        </p:txBody>
      </p:sp>
      <p:sp>
        <p:nvSpPr>
          <p:cNvPr id="12" name="Text 10"/>
          <p:cNvSpPr/>
          <p:nvPr/>
        </p:nvSpPr>
        <p:spPr>
          <a:xfrm>
            <a:off x="3337560" y="2340864"/>
            <a:ext cx="5212080" cy="777240"/>
          </a:xfrm>
          <a:prstGeom prst="rect">
            <a:avLst/>
          </a:prstGeom>
          <a:noFill/>
          <a:ln/>
        </p:spPr>
        <p:txBody>
          <a:bodyPr wrap="square" lIns="0" tIns="50800" rIns="50800" bIns="0" rtlCol="0" anchor="ctr"/>
          <a:lstStyle/>
          <a:p>
            <a:pPr indent="0" marL="0">
              <a:lnSpc>
                <a:spcPct val="110000"/>
              </a:lnSpc>
              <a:buNone/>
            </a:pPr>
            <a:r>
              <a:rPr lang="en-US" sz="1300" dirty="0">
                <a:solidFill>
                  <a:srgbClr val="2D3436"/>
                </a:solidFill>
                <a:latin typeface="BIZ UDPGothic" pitchFamily="34" charset="0"/>
                <a:ea typeface="BIZ UDPGothic" pitchFamily="34" charset="-122"/>
                <a:cs typeface="BIZ UDPGothic" pitchFamily="34" charset="-120"/>
              </a:rPr>
              <a:t>糖尿病患者で血糖が著しく低下したときに起こる。意識障害・発作様症状が現れる</a:t>
            </a:r>
            <a:endParaRPr lang="en-US" sz="1300" dirty="0"/>
          </a:p>
        </p:txBody>
      </p:sp>
      <p:sp>
        <p:nvSpPr>
          <p:cNvPr id="13" name="Shape 11"/>
          <p:cNvSpPr/>
          <p:nvPr/>
        </p:nvSpPr>
        <p:spPr>
          <a:xfrm>
            <a:off x="457200" y="3218688"/>
            <a:ext cx="8229600" cy="7772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4" name="Shape 12"/>
          <p:cNvSpPr/>
          <p:nvPr/>
        </p:nvSpPr>
        <p:spPr>
          <a:xfrm>
            <a:off x="457200" y="3218688"/>
            <a:ext cx="2743200" cy="777240"/>
          </a:xfrm>
          <a:prstGeom prst="rect">
            <a:avLst/>
          </a:prstGeom>
          <a:solidFill>
            <a:srgbClr val="2C5AA0"/>
          </a:solidFill>
          <a:ln/>
        </p:spPr>
      </p:sp>
      <p:sp>
        <p:nvSpPr>
          <p:cNvPr id="15" name="Text 13"/>
          <p:cNvSpPr/>
          <p:nvPr/>
        </p:nvSpPr>
        <p:spPr>
          <a:xfrm>
            <a:off x="548640" y="3218688"/>
            <a:ext cx="2560320" cy="777240"/>
          </a:xfrm>
          <a:prstGeom prst="rect">
            <a:avLst/>
          </a:prstGeom>
          <a:noFill/>
          <a:ln/>
        </p:spPr>
        <p:txBody>
          <a:bodyPr wrap="square" lIns="0" tIns="50800" rIns="50800" bIns="0" rtlCol="0" anchor="ctr"/>
          <a:lstStyle/>
          <a:p>
            <a:pPr indent="0" marL="0">
              <a:lnSpc>
                <a:spcPct val="110000"/>
              </a:lnSpc>
              <a:buNone/>
            </a:pPr>
            <a:r>
              <a:rPr lang="en-US" sz="1400" b="1" dirty="0">
                <a:solidFill>
                  <a:srgbClr val="FFFFFF"/>
                </a:solidFill>
                <a:latin typeface="BIZ UDPGothic" pitchFamily="34" charset="0"/>
                <a:ea typeface="BIZ UDPGothic" pitchFamily="34" charset="-122"/>
                <a:cs typeface="BIZ UDPGothic" pitchFamily="34" charset="-120"/>
              </a:rPr>
              <a:t>解離性（心因性）非てんかん発作（PNES）</a:t>
            </a:r>
            <a:endParaRPr lang="en-US" sz="1400" dirty="0"/>
          </a:p>
        </p:txBody>
      </p:sp>
      <p:sp>
        <p:nvSpPr>
          <p:cNvPr id="16" name="Text 14"/>
          <p:cNvSpPr/>
          <p:nvPr/>
        </p:nvSpPr>
        <p:spPr>
          <a:xfrm>
            <a:off x="3337560" y="3218688"/>
            <a:ext cx="5212080" cy="777240"/>
          </a:xfrm>
          <a:prstGeom prst="rect">
            <a:avLst/>
          </a:prstGeom>
          <a:noFill/>
          <a:ln/>
        </p:spPr>
        <p:txBody>
          <a:bodyPr wrap="square" lIns="0" tIns="50800" rIns="50800" bIns="0" rtlCol="0" anchor="ctr"/>
          <a:lstStyle/>
          <a:p>
            <a:pPr indent="0" marL="0">
              <a:lnSpc>
                <a:spcPct val="110000"/>
              </a:lnSpc>
              <a:buNone/>
            </a:pPr>
            <a:r>
              <a:rPr lang="en-US" sz="1300" dirty="0">
                <a:solidFill>
                  <a:srgbClr val="2D3436"/>
                </a:solidFill>
                <a:latin typeface="BIZ UDPGothic" pitchFamily="34" charset="0"/>
                <a:ea typeface="BIZ UDPGothic" pitchFamily="34" charset="-122"/>
                <a:cs typeface="BIZ UDPGothic" pitchFamily="34" charset="-120"/>
              </a:rPr>
              <a:t>脳波上の異常なく発作様症状が出る。ストレス関連のことが多い</a:t>
            </a:r>
            <a:endParaRPr lang="en-US" sz="1300" dirty="0"/>
          </a:p>
        </p:txBody>
      </p:sp>
      <p:sp>
        <p:nvSpPr>
          <p:cNvPr id="17" name="Shape 15"/>
          <p:cNvSpPr/>
          <p:nvPr/>
        </p:nvSpPr>
        <p:spPr>
          <a:xfrm>
            <a:off x="457200" y="4096512"/>
            <a:ext cx="8229600" cy="7772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457200" y="4096512"/>
            <a:ext cx="2743200" cy="777240"/>
          </a:xfrm>
          <a:prstGeom prst="rect">
            <a:avLst/>
          </a:prstGeom>
          <a:solidFill>
            <a:srgbClr val="F5C518"/>
          </a:solidFill>
          <a:ln/>
        </p:spPr>
      </p:sp>
      <p:sp>
        <p:nvSpPr>
          <p:cNvPr id="19" name="Text 17"/>
          <p:cNvSpPr/>
          <p:nvPr/>
        </p:nvSpPr>
        <p:spPr>
          <a:xfrm>
            <a:off x="548640" y="4096512"/>
            <a:ext cx="2560320" cy="777240"/>
          </a:xfrm>
          <a:prstGeom prst="rect">
            <a:avLst/>
          </a:prstGeom>
          <a:noFill/>
          <a:ln/>
        </p:spPr>
        <p:txBody>
          <a:bodyPr wrap="square" lIns="0" tIns="50800" rIns="50800" bIns="0" rtlCol="0" anchor="ctr"/>
          <a:lstStyle/>
          <a:p>
            <a:pPr indent="0" marL="0">
              <a:lnSpc>
                <a:spcPct val="110000"/>
              </a:lnSpc>
              <a:buNone/>
            </a:pPr>
            <a:r>
              <a:rPr lang="en-US" sz="1400" b="1" dirty="0">
                <a:solidFill>
                  <a:srgbClr val="FFFFFF"/>
                </a:solidFill>
                <a:latin typeface="BIZ UDPGothic" pitchFamily="34" charset="0"/>
                <a:ea typeface="BIZ UDPGothic" pitchFamily="34" charset="-122"/>
                <a:cs typeface="BIZ UDPGothic" pitchFamily="34" charset="-120"/>
              </a:rPr>
              <a:t>熱性けいれん</a:t>
            </a:r>
            <a:endParaRPr lang="en-US" sz="1400" dirty="0"/>
          </a:p>
        </p:txBody>
      </p:sp>
      <p:sp>
        <p:nvSpPr>
          <p:cNvPr id="20" name="Text 18"/>
          <p:cNvSpPr/>
          <p:nvPr/>
        </p:nvSpPr>
        <p:spPr>
          <a:xfrm>
            <a:off x="3337560" y="4096512"/>
            <a:ext cx="5212080" cy="777240"/>
          </a:xfrm>
          <a:prstGeom prst="rect">
            <a:avLst/>
          </a:prstGeom>
          <a:noFill/>
          <a:ln/>
        </p:spPr>
        <p:txBody>
          <a:bodyPr wrap="square" lIns="0" tIns="50800" rIns="50800" bIns="0" rtlCol="0" anchor="ctr"/>
          <a:lstStyle/>
          <a:p>
            <a:pPr indent="0" marL="0">
              <a:lnSpc>
                <a:spcPct val="110000"/>
              </a:lnSpc>
              <a:buNone/>
            </a:pPr>
            <a:r>
              <a:rPr lang="en-US" sz="1300" dirty="0">
                <a:solidFill>
                  <a:srgbClr val="2D3436"/>
                </a:solidFill>
                <a:latin typeface="BIZ UDPGothic" pitchFamily="34" charset="0"/>
                <a:ea typeface="BIZ UDPGothic" pitchFamily="34" charset="-122"/>
                <a:cs typeface="BIZ UDPGothic" pitchFamily="34" charset="-120"/>
              </a:rPr>
              <a:t>乳幼児に多い。高熱（38°C以上）に伴って起きるが、ほとんどは数分で自然に止まる</a:t>
            </a:r>
            <a:endParaRPr lang="en-US" sz="1300" dirty="0"/>
          </a:p>
        </p:txBody>
      </p:sp>
      <p:sp>
        <p:nvSpPr>
          <p:cNvPr id="21" name="Shape 19"/>
          <p:cNvSpPr/>
          <p:nvPr/>
        </p:nvSpPr>
        <p:spPr>
          <a:xfrm>
            <a:off x="457200" y="4956048"/>
            <a:ext cx="8229600" cy="137160"/>
          </a:xfrm>
          <a:prstGeom prst="rect">
            <a:avLst/>
          </a:prstGeom>
          <a:solidFill>
            <a:srgbClr val="E8F0FE"/>
          </a:solidFill>
          <a:ln/>
        </p:spPr>
      </p:sp>
      <p:sp>
        <p:nvSpPr>
          <p:cNvPr id="22" name="Text 20"/>
          <p:cNvSpPr/>
          <p:nvPr/>
        </p:nvSpPr>
        <p:spPr>
          <a:xfrm>
            <a:off x="8229600" y="4754880"/>
            <a:ext cx="73152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9/10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まとめ ― Take Home Message</a:t>
            </a:r>
            <a:endParaRPr lang="en-US" sz="2400" dirty="0"/>
          </a:p>
        </p:txBody>
      </p:sp>
      <p:sp>
        <p:nvSpPr>
          <p:cNvPr id="4" name="Shape 2"/>
          <p:cNvSpPr/>
          <p:nvPr/>
        </p:nvSpPr>
        <p:spPr>
          <a:xfrm>
            <a:off x="457200" y="960120"/>
            <a:ext cx="8229600" cy="713232"/>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94360" y="996696"/>
            <a:ext cx="640080" cy="640080"/>
          </a:xfrm>
          <a:prstGeom prst="ellipse">
            <a:avLst/>
          </a:prstGeom>
          <a:solidFill>
            <a:srgbClr val="2C5AA0"/>
          </a:solidFill>
          <a:ln/>
        </p:spPr>
      </p:sp>
      <p:sp>
        <p:nvSpPr>
          <p:cNvPr id="6" name="Text 4"/>
          <p:cNvSpPr/>
          <p:nvPr/>
        </p:nvSpPr>
        <p:spPr>
          <a:xfrm>
            <a:off x="594360" y="996696"/>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7" name="Text 5"/>
          <p:cNvSpPr/>
          <p:nvPr/>
        </p:nvSpPr>
        <p:spPr>
          <a:xfrm>
            <a:off x="1417320" y="960120"/>
            <a:ext cx="7132320" cy="713232"/>
          </a:xfrm>
          <a:prstGeom prst="rect">
            <a:avLst/>
          </a:prstGeom>
          <a:noFill/>
          <a:ln/>
        </p:spPr>
        <p:txBody>
          <a:bodyPr wrap="square" lIns="0" tIns="0" rIns="101600" bIns="0" rtlCol="0" anchor="ctr"/>
          <a:lstStyle/>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けいれん中、脳では神経細胞の電気的な嵐が起きている。発作は通常2〜3分で自然に止まる</a:t>
            </a:r>
            <a:endParaRPr lang="en-US" sz="1500" dirty="0"/>
          </a:p>
        </p:txBody>
      </p:sp>
      <p:sp>
        <p:nvSpPr>
          <p:cNvPr id="8" name="Shape 6"/>
          <p:cNvSpPr/>
          <p:nvPr/>
        </p:nvSpPr>
        <p:spPr>
          <a:xfrm>
            <a:off x="457200" y="1764792"/>
            <a:ext cx="8229600" cy="713232"/>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594360" y="1801368"/>
            <a:ext cx="640080" cy="640080"/>
          </a:xfrm>
          <a:prstGeom prst="ellipse">
            <a:avLst/>
          </a:prstGeom>
          <a:solidFill>
            <a:srgbClr val="28A745"/>
          </a:solidFill>
          <a:ln/>
        </p:spPr>
      </p:sp>
      <p:sp>
        <p:nvSpPr>
          <p:cNvPr id="10" name="Text 8"/>
          <p:cNvSpPr/>
          <p:nvPr/>
        </p:nvSpPr>
        <p:spPr>
          <a:xfrm>
            <a:off x="594360" y="18013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1" name="Text 9"/>
          <p:cNvSpPr/>
          <p:nvPr/>
        </p:nvSpPr>
        <p:spPr>
          <a:xfrm>
            <a:off x="1417320" y="1764792"/>
            <a:ext cx="7132320" cy="713232"/>
          </a:xfrm>
          <a:prstGeom prst="rect">
            <a:avLst/>
          </a:prstGeom>
          <a:noFill/>
          <a:ln/>
        </p:spPr>
        <p:txBody>
          <a:bodyPr wrap="square" lIns="0" tIns="0" rIns="101600" bIns="0" rtlCol="0" anchor="ctr"/>
          <a:lstStyle/>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やるべきことは「安全な環境・回復体位・時間計測・観察」の4つ</a:t>
            </a:r>
            <a:endParaRPr lang="en-US" sz="1500" dirty="0"/>
          </a:p>
        </p:txBody>
      </p:sp>
      <p:sp>
        <p:nvSpPr>
          <p:cNvPr id="12" name="Shape 10"/>
          <p:cNvSpPr/>
          <p:nvPr/>
        </p:nvSpPr>
        <p:spPr>
          <a:xfrm>
            <a:off x="457200" y="2569464"/>
            <a:ext cx="8229600" cy="713232"/>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594360" y="2606040"/>
            <a:ext cx="640080" cy="640080"/>
          </a:xfrm>
          <a:prstGeom prst="ellipse">
            <a:avLst/>
          </a:prstGeom>
          <a:solidFill>
            <a:srgbClr val="DC3545"/>
          </a:solidFill>
          <a:ln/>
        </p:spPr>
      </p:sp>
      <p:sp>
        <p:nvSpPr>
          <p:cNvPr id="14" name="Text 12"/>
          <p:cNvSpPr/>
          <p:nvPr/>
        </p:nvSpPr>
        <p:spPr>
          <a:xfrm>
            <a:off x="594360" y="2606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15" name="Text 13"/>
          <p:cNvSpPr/>
          <p:nvPr/>
        </p:nvSpPr>
        <p:spPr>
          <a:xfrm>
            <a:off x="1417320" y="2569464"/>
            <a:ext cx="7132320" cy="713232"/>
          </a:xfrm>
          <a:prstGeom prst="rect">
            <a:avLst/>
          </a:prstGeom>
          <a:noFill/>
          <a:ln/>
        </p:spPr>
        <p:txBody>
          <a:bodyPr wrap="square" lIns="0" tIns="0" rIns="101600" bIns="0" rtlCol="0" anchor="ctr"/>
          <a:lstStyle/>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口に何かを入れることは最も危険な誤った行動。絶対にしない</a:t>
            </a:r>
            <a:endParaRPr lang="en-US" sz="1500" dirty="0"/>
          </a:p>
        </p:txBody>
      </p:sp>
      <p:sp>
        <p:nvSpPr>
          <p:cNvPr id="16" name="Shape 14"/>
          <p:cNvSpPr/>
          <p:nvPr/>
        </p:nvSpPr>
        <p:spPr>
          <a:xfrm>
            <a:off x="457200" y="3374136"/>
            <a:ext cx="8229600" cy="713232"/>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594360" y="3410712"/>
            <a:ext cx="640080" cy="640080"/>
          </a:xfrm>
          <a:prstGeom prst="ellipse">
            <a:avLst/>
          </a:prstGeom>
          <a:solidFill>
            <a:srgbClr val="DC3545"/>
          </a:solidFill>
          <a:ln/>
        </p:spPr>
      </p:sp>
      <p:sp>
        <p:nvSpPr>
          <p:cNvPr id="18" name="Text 16"/>
          <p:cNvSpPr/>
          <p:nvPr/>
        </p:nvSpPr>
        <p:spPr>
          <a:xfrm>
            <a:off x="594360" y="341071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4</a:t>
            </a:r>
            <a:endParaRPr lang="en-US" sz="2200" dirty="0"/>
          </a:p>
        </p:txBody>
      </p:sp>
      <p:sp>
        <p:nvSpPr>
          <p:cNvPr id="19" name="Text 17"/>
          <p:cNvSpPr/>
          <p:nvPr/>
        </p:nvSpPr>
        <p:spPr>
          <a:xfrm>
            <a:off x="1417320" y="3374136"/>
            <a:ext cx="7132320" cy="713232"/>
          </a:xfrm>
          <a:prstGeom prst="rect">
            <a:avLst/>
          </a:prstGeom>
          <a:noFill/>
          <a:ln/>
        </p:spPr>
        <p:txBody>
          <a:bodyPr wrap="square" lIns="0" tIns="0" rIns="101600" bIns="0" rtlCol="0" anchor="ctr"/>
          <a:lstStyle/>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5分以上続く・意識が戻らない・繰り返すなどの場合は即119番</a:t>
            </a:r>
            <a:endParaRPr lang="en-US" sz="1500" dirty="0"/>
          </a:p>
        </p:txBody>
      </p:sp>
      <p:sp>
        <p:nvSpPr>
          <p:cNvPr id="20" name="Shape 18"/>
          <p:cNvSpPr/>
          <p:nvPr/>
        </p:nvSpPr>
        <p:spPr>
          <a:xfrm>
            <a:off x="457200" y="4178808"/>
            <a:ext cx="8229600" cy="713232"/>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594360" y="4215384"/>
            <a:ext cx="640080" cy="640080"/>
          </a:xfrm>
          <a:prstGeom prst="ellipse">
            <a:avLst/>
          </a:prstGeom>
          <a:solidFill>
            <a:srgbClr val="4A90D9"/>
          </a:solidFill>
          <a:ln/>
        </p:spPr>
      </p:sp>
      <p:sp>
        <p:nvSpPr>
          <p:cNvPr id="22" name="Text 20"/>
          <p:cNvSpPr/>
          <p:nvPr/>
        </p:nvSpPr>
        <p:spPr>
          <a:xfrm>
            <a:off x="594360" y="4215384"/>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5</a:t>
            </a:r>
            <a:endParaRPr lang="en-US" sz="2200" dirty="0"/>
          </a:p>
        </p:txBody>
      </p:sp>
      <p:sp>
        <p:nvSpPr>
          <p:cNvPr id="23" name="Text 21"/>
          <p:cNvSpPr/>
          <p:nvPr/>
        </p:nvSpPr>
        <p:spPr>
          <a:xfrm>
            <a:off x="1417320" y="4178808"/>
            <a:ext cx="7132320" cy="713232"/>
          </a:xfrm>
          <a:prstGeom prst="rect">
            <a:avLst/>
          </a:prstGeom>
          <a:noFill/>
          <a:ln/>
        </p:spPr>
        <p:txBody>
          <a:bodyPr wrap="square" lIns="0" tIns="0" rIns="101600" bIns="0" rtlCol="0" anchor="ctr"/>
          <a:lstStyle/>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目撃者の「発作の様子」の情報は診断に不可欠。できる限りメモしておく</a:t>
            </a:r>
            <a:endParaRPr lang="en-US" sz="1500" dirty="0"/>
          </a:p>
        </p:txBody>
      </p:sp>
      <p:sp>
        <p:nvSpPr>
          <p:cNvPr id="24" name="Text 22"/>
          <p:cNvSpPr/>
          <p:nvPr/>
        </p:nvSpPr>
        <p:spPr>
          <a:xfrm>
            <a:off x="457200" y="4800600"/>
            <a:ext cx="8229600" cy="320040"/>
          </a:xfrm>
          <a:prstGeom prst="rect">
            <a:avLst/>
          </a:prstGeom>
          <a:noFill/>
          <a:ln/>
        </p:spPr>
        <p:txBody>
          <a:bodyPr wrap="square" lIns="0" tIns="0" rIns="0" bIns="0" rtlCol="0" anchor="ctr"/>
          <a:lstStyle/>
          <a:p>
            <a:pPr algn="ctr" indent="0" marL="0">
              <a:buNone/>
            </a:pPr>
            <a:r>
              <a:rPr lang="en-US" sz="1200" i="1" dirty="0">
                <a:solidFill>
                  <a:srgbClr val="636E72"/>
                </a:solidFill>
                <a:latin typeface="BIZ UDPGothic" pitchFamily="34" charset="0"/>
                <a:ea typeface="BIZ UDPGothic" pitchFamily="34" charset="-122"/>
                <a:cs typeface="BIZ UDPGothic" pitchFamily="34" charset="-120"/>
              </a:rPr>
              <a:t>医知創造ラボ ― 脳神経内科医がAIで紡ぐ最新医療情報</a:t>
            </a:r>
            <a:endParaRPr lang="en-US" sz="1200" dirty="0"/>
          </a:p>
        </p:txBody>
      </p:sp>
      <p:sp>
        <p:nvSpPr>
          <p:cNvPr id="25" name="Text 23"/>
          <p:cNvSpPr/>
          <p:nvPr/>
        </p:nvSpPr>
        <p:spPr>
          <a:xfrm>
            <a:off x="8229600" y="4754880"/>
            <a:ext cx="73152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10/10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けいれんを目撃したときの正しい対応 ― 脳神経内科医が解説【からだの不思議 #16】</dc:title>
  <dc:subject>PptxGenJS Presentation</dc:subject>
  <dc:creator>今村久司</dc:creator>
  <cp:lastModifiedBy>今村久司</cp:lastModifiedBy>
  <cp:revision>1</cp:revision>
  <dcterms:created xsi:type="dcterms:W3CDTF">2026-04-02T02:40:36Z</dcterms:created>
  <dcterms:modified xsi:type="dcterms:W3CDTF">2026-04-02T02:40:36Z</dcterms:modified>
</cp:coreProperties>
</file>