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脳神経内科医が解説する MRI講座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ASL MRI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造影剤なしの脳血流評価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PLD設定 / 1.5T vs 3T / Multi-PLD / 脳梗塞 / てんかん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0" y="3383280"/>
            <a:ext cx="3657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脳神経内科専門医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ASLとは ― 造影剤なしの脳灌流画像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ASL = Arterial Spin Labeling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MRIの高周波パルスで動脈血中の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プロトンを磁気的に標識し、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脳組織への血流を画像化する方法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💉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94960" y="1051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造影剤不要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40880" y="1051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腎機能障害でも安全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64592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☢️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691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被曝ゼロ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880" y="1691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繰り返し撮像が可能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228600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9496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数分で撮像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088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ルーチンに追加しやすい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108960"/>
            <a:ext cx="8412480" cy="4572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1089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SPECT（放射性トレーサー必要）や CT perfusion（造影剤+被曝）に対する大きな利点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374904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3794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現在の臨床標準: pCASL（pseudo-Continuous ASL）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2015年ISMRM合意で推奨 ― SNRと定量精度のバランスが最良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2/12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ASLの原理 ― 3つのステップ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0" y="1005840"/>
            <a:ext cx="640080" cy="64008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ラベリング（標識）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頸部で動脈血のプロトンに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高周波パルスを照射し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スピンを反転させる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005840"/>
            <a:ext cx="640080" cy="6400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291840" y="182880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待機（PLD）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24688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標識された血液が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脳実質に到達するまで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一定時間待つ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23760" y="1005840"/>
            <a:ext cx="640080" cy="64008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217920" y="182880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撮像・差分計算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24688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Label画像とControl画像の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差分を計算して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灌流画像を得る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26080" y="1051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852160" y="1051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365760" y="4389120"/>
            <a:ext cx="8412480" cy="4572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389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差分信号は脳組織信号のわずか 0.5〜1.5% → 十分な加算が必要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3/12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PLD（Post Labeling Delay）― ASL最重要パラメータ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PLDとは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ラベリング終了から撮像開始までの待ち時間。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標識血液が脳実質に到達するために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必要な時間を確保する。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137160" cy="6858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033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短すぎ: Bright Vessel Artifact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3533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標識血液が血管内に滞留、灌流過小評価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828800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828800"/>
            <a:ext cx="137160" cy="68580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8562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長すぎ: SNR低下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1762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T1緩和で標識信号が減衰、画質劣化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6974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2015年 ISMRM合意 推奨PLD（pCASL）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63240"/>
          <a:ext cx="84124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4688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対象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推奨PLD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LD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小児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1500 ms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1800 ms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健常成人（&lt;70歳）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1800 ms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1800 ms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健常成人（≧70歳）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2000 ms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1800 ms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AA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臨床患者（成人）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35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2000 ms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1800 ms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4/12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1.5T vs 3T ― 磁場強度の影響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ISMRM合意: 「3Tが利用可能な場合は3Tを推奨」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45920"/>
          <a:ext cx="8412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834640"/>
                <a:gridCol w="28346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パラメータ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1.5T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3T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血液T1値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約1350 ms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約1650 ms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SNR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基準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約1.5〜2倍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ラベリング効率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やや低い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高い・安定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SAR（比吸収率）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低い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850C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高い（要注意）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磁場不均一性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小さい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850C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大きい（頭蓋底注意）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撮像時間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長め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8A7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短縮可能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97764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1.5Tでも使える！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926080" y="40233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加算回数を増やす（撮像5〜6分）/ Background suppression最適化 / 3D readout使用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5/12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Single-PLD vs Multi-PLD ― 最新トレンド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41148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Single-PLD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1つの固定PLDで撮像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○ シンプル・撮像時間短い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○ 読影が容易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× ATTの影響を受けやすい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× 側副路の遅い血流を見逃す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0233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Multi-PLD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複数のPLDで撮像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783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○ CBF + ATT 同時定量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2103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○ ATA軽減、定量精度向上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423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× 撮像時間やや長い（5〜7分）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743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× 解析ソフトが必要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474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Multi-PLD 推奨プロトコル例（Woods et al. 2024）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84048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383280"/>
                <a:gridCol w="3383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若年健常者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高齢者・臨床患者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ATTカバー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0.5〜1.8 s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0.5〜2.5 s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PLD数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4〜8ポイント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4〜8ポイント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代表的PLD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0.5/1.0/1.5/2.0 s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0.5/1.0/1.5/2.0/2.5/3.0 s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6/12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脳梗塞でのASL ― DWIより早い？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発症からの時間軸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645920"/>
            <a:ext cx="7315200" cy="137160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645920"/>
            <a:ext cx="1828800" cy="1371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ASL: 灌流低下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057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発症直後〜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645920"/>
            <a:ext cx="1828800" cy="13716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DWI: 高信号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2057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〜30分以降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560320"/>
            <a:ext cx="4023360" cy="3657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560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ASAP-ASL（超急性期プロトコル）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撮像時間: 1分17秒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319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PLD: 1232 ms（短縮）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621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撮像範囲: 基底核レベル限定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9227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目的: 3分で灌流評価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224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   → 血栓回収の適応判断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560320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560320"/>
            <a:ext cx="4023360" cy="3657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560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OTAL法（2相ASL）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37760" y="301752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第1相: PLD 1200 ms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→ 主幹動脈閉塞の検出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第2相: PLD 2200 ms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→ 側副路経由の遅い血流検出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約90%の患者で十分な灌流評価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7/12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脳梗塞ASL ― 4つの読影パターン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137160" cy="77724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170432"/>
            <a:ext cx="457200" cy="45720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0972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灌流低下（DWI陽性域一致）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10972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梗塞コアの灌流障害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901952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01952"/>
            <a:ext cx="137160" cy="77724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066544"/>
            <a:ext cx="457200" cy="457200"/>
          </a:xfrm>
          <a:prstGeom prst="ellipse">
            <a:avLst/>
          </a:prstGeom>
          <a:solidFill>
            <a:srgbClr val="E8850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199339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灌流低下（DWI陰性域）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199339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ペナンブラの可能性 → 治療介入の根拠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98064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98064"/>
            <a:ext cx="137160" cy="7772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2962656"/>
            <a:ext cx="457200" cy="45720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288950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Bright Vessel（高信号血管）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63440" y="288950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側副路の存在を示唆。灌流正常と誤読しない！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694176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694176"/>
            <a:ext cx="137160" cy="7772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3858768"/>
            <a:ext cx="457200" cy="45720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378561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再灌流後の高灌流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63440" y="3785616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tPA/血栓回収後の再開通。出血性変化リスク評価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8/12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てんかんでのASL ― SPECTに代わる非侵襲評価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4114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発作時（ictal）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ASL所見: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焦点の高灌流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焦点の局在同定に有用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SPECTの代替として期待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7432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05840"/>
            <a:ext cx="2743200" cy="41148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発作直後（postictal）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ASL所見: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高灌流→低灌流へ移行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2286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タイミング依存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撮像時の状態把握が重要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27432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05840"/>
            <a:ext cx="2743200" cy="4114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発作間欠期（interictal）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ASL所見: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焦点の軽度低灌流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2286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構造MRI正常例で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補助情報として価値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611880"/>
            <a:ext cx="8595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657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てんかん重積状態（SE）の評価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4005072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SEと自然消退する発作の鑑別にASLは最も感度が高いとの報告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233672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非けいれん性SE（NCSE）でも高灌流パターンで診断補助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462272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高灌流消失 = SE離脱の客観的指標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9/12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脳梗塞 vs てんかん ― ASLで鑑別のヒント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急性片麻痺・失語 → 脳梗塞？ Todd麻痺？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40233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45920"/>
            <a:ext cx="4023360" cy="4114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45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脳梗塞を示唆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ASL: 灌流低下 ⬇️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DWI: 高信号（拡散制限）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虚血性脳血管障害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 血栓溶解・回収の適応を検討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60520" y="2468880"/>
            <a:ext cx="822960" cy="82296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416052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54880" y="1645920"/>
            <a:ext cx="40233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645920"/>
            <a:ext cx="4023360" cy="4114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645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てんかん（Todd麻痺）を示唆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21945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ASL: 高灌流 ⬆️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DWI: 正常〜軽度変化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てんかん発作後の一過性症状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 抗てんかん薬の調整を検討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4114800"/>
            <a:ext cx="8412480" cy="64008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DWI + ASL の併用で鑑別精度が向上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ただし ASL 単独での確定診断は避け、臨床情報と総合的に判断する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10/12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ASL読影の5つのピットフォール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06424"/>
            <a:ext cx="457200" cy="45720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06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0515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Bright Vessel Artifact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023360" y="10515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血管内高信号 ≠ 灌流正常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側副路の遅い血流を反映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55648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856232"/>
            <a:ext cx="457200" cy="457200"/>
          </a:xfrm>
          <a:prstGeom prst="ellipse">
            <a:avLst/>
          </a:prstGeom>
          <a:solidFill>
            <a:srgbClr val="E8850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18013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Border Zone Artifact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23360" y="180136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分水嶺領域はATTが長く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灌流過小評価されやすい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505456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E8850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255117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ラベリング面の設定不良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023360" y="255117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Willis動脈輪に近すぎると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ラベリング効率が低下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255264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355848"/>
            <a:ext cx="457200" cy="45720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88720" y="330098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年齢によるATT変化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023360" y="330098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高齢者はATT延長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PLD延長が必要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005072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105656"/>
            <a:ext cx="457200" cy="45720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88720" y="40507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動きアーチファクト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023360" y="405079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Label/Control間の頭部移動で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差分画像に大きなノイズ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11/12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 ― 明日からのASL活用チェックリスト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2412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02412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撮像法: pCASL を第一選択（ISMRM合意推奨）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36192"/>
            <a:ext cx="84124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55448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55448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PLD設定: 成人臨床 → PLD 2000 ms / LD 1800 ms を基本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066544"/>
            <a:ext cx="84124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08483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084832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磁場強度: 3Tが望ましいが 1.5Tでも実用可能（撮像時間延長）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596896"/>
            <a:ext cx="84124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61518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2615184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Multi-PLD: 脳血管疾患が多い施設では ATT情報の恩恵大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127248"/>
            <a:ext cx="84124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14553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3145536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脳梗塞: DWI + ASL で ペナンブラ評価・側副路評価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657600"/>
            <a:ext cx="84124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67588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97280" y="367588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てんかん: 撮像時の臨床状態を記録し灌流所見と対照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4187952"/>
            <a:ext cx="84124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42062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97280" y="420624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ピットフォール: ATA誤読・高齢者PLD延長を忘れない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造影剤なし・被曝なし・繰り返し可能 ― ルーチンMRIに数分追加するだけ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12/12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ASL MRI ― 造影剤なしの脳血流評価を徹底解説｜PLD設定・1.5T vs 3T・Multi-PLD</dc:title>
  <dc:subject>PptxGenJS Presentation</dc:subject>
  <dc:creator>今村久司</dc:creator>
  <cp:lastModifiedBy>今村久司</cp:lastModifiedBy>
  <cp:revision>1</cp:revision>
  <dcterms:created xsi:type="dcterms:W3CDTF">2026-04-07T15:47:40Z</dcterms:created>
  <dcterms:modified xsi:type="dcterms:W3CDTF">2026-04-07T15:47:40Z</dcterms:modified>
</cp:coreProperties>
</file>