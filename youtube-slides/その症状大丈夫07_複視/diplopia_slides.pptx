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850C"/>
          </a:solidFill>
          <a:ln/>
        </p:spPr>
      </p:sp>
      <p:sp>
        <p:nvSpPr>
          <p:cNvPr id="3" name="Shape 1"/>
          <p:cNvSpPr/>
          <p:nvPr/>
        </p:nvSpPr>
        <p:spPr>
          <a:xfrm>
            <a:off x="0" y="5088636"/>
            <a:ext cx="9144000" cy="54864"/>
          </a:xfrm>
          <a:prstGeom prst="rect">
            <a:avLst/>
          </a:prstGeom>
          <a:solidFill>
            <a:srgbClr val="E8850C"/>
          </a:solidFill>
          <a:ln/>
        </p:spPr>
      </p:sp>
      <p:sp>
        <p:nvSpPr>
          <p:cNvPr id="4" name="Text 2"/>
          <p:cNvSpPr/>
          <p:nvPr/>
        </p:nvSpPr>
        <p:spPr>
          <a:xfrm>
            <a:off x="548640" y="365760"/>
            <a:ext cx="8046720" cy="822960"/>
          </a:xfrm>
          <a:prstGeom prst="rect">
            <a:avLst/>
          </a:prstGeom>
          <a:noFill/>
          <a:ln/>
        </p:spPr>
        <p:txBody>
          <a:bodyPr wrap="square" lIns="0" tIns="0" rIns="0" bIns="0" rtlCol="0" anchor="ctr"/>
          <a:lstStyle/>
          <a:p>
            <a:pPr algn="ctr" indent="0" marL="0">
              <a:buNone/>
            </a:pPr>
            <a:r>
              <a:rPr lang="en-US" sz="5200" dirty="0">
                <a:solidFill>
                  <a:srgbClr val="000000"/>
                </a:solidFill>
              </a:rPr>
              <a:t>👁️</a:t>
            </a:r>
            <a:endParaRPr lang="en-US" sz="5200" dirty="0"/>
          </a:p>
        </p:txBody>
      </p:sp>
      <p:sp>
        <p:nvSpPr>
          <p:cNvPr id="5" name="Text 3"/>
          <p:cNvSpPr/>
          <p:nvPr/>
        </p:nvSpPr>
        <p:spPr>
          <a:xfrm>
            <a:off x="548640" y="1188720"/>
            <a:ext cx="8046720" cy="1280160"/>
          </a:xfrm>
          <a:prstGeom prst="rect">
            <a:avLst/>
          </a:prstGeom>
          <a:noFill/>
          <a:ln/>
        </p:spPr>
        <p:txBody>
          <a:bodyPr wrap="square" lIns="0" tIns="0" rIns="0" bIns="0" rtlCol="0" anchor="ctr"/>
          <a:lstStyle/>
          <a:p>
            <a:pPr algn="ctr" indent="0" marL="0">
              <a:lnSpc>
                <a:spcPct val="120000"/>
              </a:lnSpc>
              <a:buNone/>
            </a:pPr>
            <a:r>
              <a:rPr lang="en-US" sz="3600" b="1" dirty="0">
                <a:solidFill>
                  <a:srgbClr val="FFFFFF"/>
                </a:solidFill>
                <a:latin typeface="BIZ UDPGothic" pitchFamily="34" charset="0"/>
                <a:ea typeface="BIZ UDPGothic" pitchFamily="34" charset="-122"/>
                <a:cs typeface="BIZ UDPGothic" pitchFamily="34" charset="-120"/>
              </a:rPr>
              <a:t>物が二重に見えたら</a:t>
            </a:r>
            <a:endParaRPr lang="en-US" sz="3600" dirty="0"/>
          </a:p>
          <a:p>
            <a:pPr algn="ctr" indent="0" marL="0">
              <a:lnSpc>
                <a:spcPct val="120000"/>
              </a:lnSpc>
              <a:buNone/>
            </a:pPr>
            <a:r>
              <a:rPr lang="en-US" sz="3600" b="1" dirty="0">
                <a:solidFill>
                  <a:srgbClr val="FFFFFF"/>
                </a:solidFill>
                <a:latin typeface="BIZ UDPGothic" pitchFamily="34" charset="0"/>
                <a:ea typeface="BIZ UDPGothic" pitchFamily="34" charset="-122"/>
                <a:cs typeface="BIZ UDPGothic" pitchFamily="34" charset="-120"/>
              </a:rPr>
              <a:t>要注意</a:t>
            </a:r>
            <a:endParaRPr lang="en-US" sz="3600" dirty="0"/>
          </a:p>
        </p:txBody>
      </p:sp>
      <p:sp>
        <p:nvSpPr>
          <p:cNvPr id="6" name="Shape 4"/>
          <p:cNvSpPr/>
          <p:nvPr/>
        </p:nvSpPr>
        <p:spPr>
          <a:xfrm>
            <a:off x="2286000" y="2651760"/>
            <a:ext cx="4572000" cy="0"/>
          </a:xfrm>
          <a:prstGeom prst="line">
            <a:avLst/>
          </a:prstGeom>
          <a:noFill/>
          <a:ln w="25400">
            <a:solidFill>
              <a:srgbClr val="E8850C"/>
            </a:solidFill>
            <a:prstDash val="solid"/>
          </a:ln>
        </p:spPr>
      </p:sp>
      <p:sp>
        <p:nvSpPr>
          <p:cNvPr id="7" name="Text 5"/>
          <p:cNvSpPr/>
          <p:nvPr/>
        </p:nvSpPr>
        <p:spPr>
          <a:xfrm>
            <a:off x="548640" y="2834640"/>
            <a:ext cx="8046720" cy="822960"/>
          </a:xfrm>
          <a:prstGeom prst="rect">
            <a:avLst/>
          </a:prstGeom>
          <a:noFill/>
          <a:ln/>
        </p:spPr>
        <p:txBody>
          <a:bodyPr wrap="square" lIns="0" tIns="0" rIns="0" bIns="0" rtlCol="0" anchor="ctr"/>
          <a:lstStyle/>
          <a:p>
            <a:pPr algn="ctr" indent="0" marL="0">
              <a:lnSpc>
                <a:spcPct val="120000"/>
              </a:lnSpc>
              <a:buNone/>
            </a:pPr>
            <a:r>
              <a:rPr lang="en-US" sz="2200" dirty="0">
                <a:solidFill>
                  <a:srgbClr val="E8850C"/>
                </a:solidFill>
                <a:latin typeface="BIZ UDPGothic" pitchFamily="34" charset="0"/>
                <a:ea typeface="BIZ UDPGothic" pitchFamily="34" charset="-122"/>
                <a:cs typeface="BIZ UDPGothic" pitchFamily="34" charset="-120"/>
              </a:rPr>
              <a:t>複視の原因と受診すべき科を</a:t>
            </a:r>
            <a:endParaRPr lang="en-US" sz="2200" dirty="0"/>
          </a:p>
          <a:p>
            <a:pPr algn="ctr" indent="0" marL="0">
              <a:lnSpc>
                <a:spcPct val="120000"/>
              </a:lnSpc>
              <a:buNone/>
            </a:pPr>
            <a:r>
              <a:rPr lang="en-US" sz="2200" dirty="0">
                <a:solidFill>
                  <a:srgbClr val="E8850C"/>
                </a:solidFill>
                <a:latin typeface="BIZ UDPGothic" pitchFamily="34" charset="0"/>
                <a:ea typeface="BIZ UDPGothic" pitchFamily="34" charset="-122"/>
                <a:cs typeface="BIZ UDPGothic" pitchFamily="34" charset="-120"/>
              </a:rPr>
              <a:t>脳神経内科医が解説</a:t>
            </a:r>
            <a:endParaRPr lang="en-US" sz="2200" dirty="0"/>
          </a:p>
        </p:txBody>
      </p:sp>
      <p:sp>
        <p:nvSpPr>
          <p:cNvPr id="8" name="Text 6"/>
          <p:cNvSpPr/>
          <p:nvPr/>
        </p:nvSpPr>
        <p:spPr>
          <a:xfrm>
            <a:off x="548640" y="3840480"/>
            <a:ext cx="8046720" cy="365760"/>
          </a:xfrm>
          <a:prstGeom prst="rect">
            <a:avLst/>
          </a:prstGeom>
          <a:noFill/>
          <a:ln/>
        </p:spPr>
        <p:txBody>
          <a:bodyPr wrap="square" lIns="0" tIns="0" rIns="0" bIns="0" rtlCol="0" anchor="ctr"/>
          <a:lstStyle/>
          <a:p>
            <a:pPr algn="ctr" indent="0" marL="0">
              <a:buNone/>
            </a:pPr>
            <a:r>
              <a:rPr lang="en-US" sz="1600" dirty="0">
                <a:solidFill>
                  <a:srgbClr val="90A4AE"/>
                </a:solidFill>
                <a:latin typeface="BIZ UDPGothic" pitchFamily="34" charset="0"/>
                <a:ea typeface="BIZ UDPGothic" pitchFamily="34" charset="-122"/>
                <a:cs typeface="BIZ UDPGothic" pitchFamily="34" charset="-120"/>
              </a:rPr>
              <a:t>その症状、大丈夫？ #07</a:t>
            </a:r>
            <a:endParaRPr lang="en-US" sz="1600" dirty="0"/>
          </a:p>
        </p:txBody>
      </p:sp>
      <p:sp>
        <p:nvSpPr>
          <p:cNvPr id="9" name="Text 7"/>
          <p:cNvSpPr/>
          <p:nvPr/>
        </p:nvSpPr>
        <p:spPr>
          <a:xfrm>
            <a:off x="548640" y="4297680"/>
            <a:ext cx="8046720" cy="365760"/>
          </a:xfrm>
          <a:prstGeom prst="rect">
            <a:avLst/>
          </a:prstGeom>
          <a:noFill/>
          <a:ln/>
        </p:spPr>
        <p:txBody>
          <a:bodyPr wrap="square" lIns="0" tIns="0" rIns="0" bIns="0" rtlCol="0" anchor="ctr"/>
          <a:lstStyle/>
          <a:p>
            <a:pPr algn="ctr" indent="0" marL="0">
              <a:buNone/>
            </a:pPr>
            <a:r>
              <a:rPr lang="en-US" sz="1200" dirty="0">
                <a:solidFill>
                  <a:srgbClr val="78909C"/>
                </a:solidFill>
                <a:latin typeface="BIZ UDPGothic" pitchFamily="34" charset="0"/>
                <a:ea typeface="BIZ UDPGothic" pitchFamily="34" charset="-122"/>
                <a:cs typeface="BIZ UDPGothic" pitchFamily="34" charset="-120"/>
              </a:rPr>
              <a:t>医知創造ラボ ～脳神経内科医がAIで紡ぐ最新医療情報～</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こんな経験、ありませんか？</a:t>
            </a:r>
            <a:endParaRPr lang="en-US" sz="2600" dirty="0"/>
          </a:p>
        </p:txBody>
      </p:sp>
      <p:sp>
        <p:nvSpPr>
          <p:cNvPr id="4" name="Shape 2"/>
          <p:cNvSpPr/>
          <p:nvPr/>
        </p:nvSpPr>
        <p:spPr>
          <a:xfrm>
            <a:off x="548640" y="1097280"/>
            <a:ext cx="8046720" cy="731520"/>
          </a:xfrm>
          <a:prstGeom prst="rect">
            <a:avLst>
              <a:gd name="adj" fmla="val 12500"/>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548640" y="1097280"/>
            <a:ext cx="109728" cy="731520"/>
          </a:xfrm>
          <a:prstGeom prst="rect">
            <a:avLst>
              <a:gd name="adj" fmla="val 41667"/>
            </a:avLst>
          </a:prstGeom>
          <a:solidFill>
            <a:srgbClr val="2C5AA0"/>
          </a:solidFill>
          <a:ln/>
        </p:spPr>
      </p:sp>
      <p:sp>
        <p:nvSpPr>
          <p:cNvPr id="6" name="Text 4"/>
          <p:cNvSpPr/>
          <p:nvPr/>
        </p:nvSpPr>
        <p:spPr>
          <a:xfrm>
            <a:off x="777240" y="1188720"/>
            <a:ext cx="64008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7" name="Text 5"/>
          <p:cNvSpPr/>
          <p:nvPr/>
        </p:nvSpPr>
        <p:spPr>
          <a:xfrm>
            <a:off x="1463040" y="1188720"/>
            <a:ext cx="6858000" cy="548640"/>
          </a:xfrm>
          <a:prstGeom prst="rect">
            <a:avLst/>
          </a:prstGeom>
          <a:noFill/>
          <a:ln/>
        </p:spPr>
        <p:txBody>
          <a:bodyPr wrap="square" lIns="0" tIns="0" rIns="0" bIns="0" rtlCol="0" anchor="ctr"/>
          <a:lstStyle/>
          <a:p>
            <a:pPr indent="0" marL="0">
              <a:buNone/>
            </a:pPr>
            <a:r>
              <a:rPr lang="en-US" sz="2200" dirty="0">
                <a:solidFill>
                  <a:srgbClr val="2D3436"/>
                </a:solidFill>
                <a:latin typeface="BIZ UDPGothic" pitchFamily="34" charset="0"/>
                <a:ea typeface="BIZ UDPGothic" pitchFamily="34" charset="-122"/>
                <a:cs typeface="BIZ UDPGothic" pitchFamily="34" charset="-120"/>
              </a:rPr>
              <a:t>文字や景色が二重に見える</a:t>
            </a:r>
            <a:endParaRPr lang="en-US" sz="2200" dirty="0"/>
          </a:p>
        </p:txBody>
      </p:sp>
      <p:sp>
        <p:nvSpPr>
          <p:cNvPr id="8" name="Shape 6"/>
          <p:cNvSpPr/>
          <p:nvPr/>
        </p:nvSpPr>
        <p:spPr>
          <a:xfrm>
            <a:off x="548640" y="1965960"/>
            <a:ext cx="8046720" cy="731520"/>
          </a:xfrm>
          <a:prstGeom prst="rect">
            <a:avLst>
              <a:gd name="adj" fmla="val 12500"/>
            </a:avLst>
          </a:prstGeom>
          <a:solidFill>
            <a:srgbClr val="FFFFFF"/>
          </a:solidFill>
          <a:ln/>
          <a:effectLst>
            <a:outerShdw sx="100000" sy="100000" kx="0" ky="0" algn="bl" rotWithShape="0" blurRad="50800" dist="25400" dir="8100000">
              <a:srgbClr val="000000">
                <a:alpha val="12000"/>
              </a:srgbClr>
            </a:outerShdw>
          </a:effectLst>
        </p:spPr>
      </p:sp>
      <p:sp>
        <p:nvSpPr>
          <p:cNvPr id="9" name="Shape 7"/>
          <p:cNvSpPr/>
          <p:nvPr/>
        </p:nvSpPr>
        <p:spPr>
          <a:xfrm>
            <a:off x="548640" y="1965960"/>
            <a:ext cx="109728" cy="731520"/>
          </a:xfrm>
          <a:prstGeom prst="rect">
            <a:avLst>
              <a:gd name="adj" fmla="val 41667"/>
            </a:avLst>
          </a:prstGeom>
          <a:solidFill>
            <a:srgbClr val="2C5AA0"/>
          </a:solidFill>
          <a:ln/>
        </p:spPr>
      </p:sp>
      <p:sp>
        <p:nvSpPr>
          <p:cNvPr id="10" name="Text 8"/>
          <p:cNvSpPr/>
          <p:nvPr/>
        </p:nvSpPr>
        <p:spPr>
          <a:xfrm>
            <a:off x="777240" y="2057400"/>
            <a:ext cx="64008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1" name="Text 9"/>
          <p:cNvSpPr/>
          <p:nvPr/>
        </p:nvSpPr>
        <p:spPr>
          <a:xfrm>
            <a:off x="1463040" y="2057400"/>
            <a:ext cx="6858000" cy="548640"/>
          </a:xfrm>
          <a:prstGeom prst="rect">
            <a:avLst/>
          </a:prstGeom>
          <a:noFill/>
          <a:ln/>
        </p:spPr>
        <p:txBody>
          <a:bodyPr wrap="square" lIns="0" tIns="0" rIns="0" bIns="0" rtlCol="0" anchor="ctr"/>
          <a:lstStyle/>
          <a:p>
            <a:pPr indent="0" marL="0">
              <a:buNone/>
            </a:pPr>
            <a:r>
              <a:rPr lang="en-US" sz="2200" dirty="0">
                <a:solidFill>
                  <a:srgbClr val="2D3436"/>
                </a:solidFill>
                <a:latin typeface="BIZ UDPGothic" pitchFamily="34" charset="0"/>
                <a:ea typeface="BIZ UDPGothic" pitchFamily="34" charset="-122"/>
                <a:cs typeface="BIZ UDPGothic" pitchFamily="34" charset="-120"/>
              </a:rPr>
              <a:t>片目をつぶると1つに見える</a:t>
            </a:r>
            <a:endParaRPr lang="en-US" sz="2200" dirty="0"/>
          </a:p>
        </p:txBody>
      </p:sp>
      <p:sp>
        <p:nvSpPr>
          <p:cNvPr id="12" name="Shape 10"/>
          <p:cNvSpPr/>
          <p:nvPr/>
        </p:nvSpPr>
        <p:spPr>
          <a:xfrm>
            <a:off x="548640" y="2834640"/>
            <a:ext cx="8046720" cy="731520"/>
          </a:xfrm>
          <a:prstGeom prst="rect">
            <a:avLst>
              <a:gd name="adj" fmla="val 12500"/>
            </a:avLst>
          </a:prstGeom>
          <a:solidFill>
            <a:srgbClr val="FFFFFF"/>
          </a:solidFill>
          <a:ln/>
          <a:effectLst>
            <a:outerShdw sx="100000" sy="100000" kx="0" ky="0" algn="bl" rotWithShape="0" blurRad="50800" dist="25400" dir="8100000">
              <a:srgbClr val="000000">
                <a:alpha val="12000"/>
              </a:srgbClr>
            </a:outerShdw>
          </a:effectLst>
        </p:spPr>
      </p:sp>
      <p:sp>
        <p:nvSpPr>
          <p:cNvPr id="13" name="Shape 11"/>
          <p:cNvSpPr/>
          <p:nvPr/>
        </p:nvSpPr>
        <p:spPr>
          <a:xfrm>
            <a:off x="548640" y="2834640"/>
            <a:ext cx="109728" cy="731520"/>
          </a:xfrm>
          <a:prstGeom prst="rect">
            <a:avLst>
              <a:gd name="adj" fmla="val 41667"/>
            </a:avLst>
          </a:prstGeom>
          <a:solidFill>
            <a:srgbClr val="2C5AA0"/>
          </a:solidFill>
          <a:ln/>
        </p:spPr>
      </p:sp>
      <p:sp>
        <p:nvSpPr>
          <p:cNvPr id="14" name="Text 12"/>
          <p:cNvSpPr/>
          <p:nvPr/>
        </p:nvSpPr>
        <p:spPr>
          <a:xfrm>
            <a:off x="777240" y="2926080"/>
            <a:ext cx="64008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5" name="Text 13"/>
          <p:cNvSpPr/>
          <p:nvPr/>
        </p:nvSpPr>
        <p:spPr>
          <a:xfrm>
            <a:off x="1463040" y="2926080"/>
            <a:ext cx="6858000" cy="548640"/>
          </a:xfrm>
          <a:prstGeom prst="rect">
            <a:avLst/>
          </a:prstGeom>
          <a:noFill/>
          <a:ln/>
        </p:spPr>
        <p:txBody>
          <a:bodyPr wrap="square" lIns="0" tIns="0" rIns="0" bIns="0" rtlCol="0" anchor="ctr"/>
          <a:lstStyle/>
          <a:p>
            <a:pPr indent="0" marL="0">
              <a:buNone/>
            </a:pPr>
            <a:r>
              <a:rPr lang="en-US" sz="2200" dirty="0">
                <a:solidFill>
                  <a:srgbClr val="2D3436"/>
                </a:solidFill>
                <a:latin typeface="BIZ UDPGothic" pitchFamily="34" charset="0"/>
                <a:ea typeface="BIZ UDPGothic" pitchFamily="34" charset="-122"/>
                <a:cs typeface="BIZ UDPGothic" pitchFamily="34" charset="-120"/>
              </a:rPr>
              <a:t>運転中に信号が2つに見えてヒヤッとした</a:t>
            </a:r>
            <a:endParaRPr lang="en-US" sz="2200" dirty="0"/>
          </a:p>
        </p:txBody>
      </p:sp>
      <p:sp>
        <p:nvSpPr>
          <p:cNvPr id="16" name="Shape 14"/>
          <p:cNvSpPr/>
          <p:nvPr/>
        </p:nvSpPr>
        <p:spPr>
          <a:xfrm>
            <a:off x="548640" y="3703320"/>
            <a:ext cx="8046720" cy="731520"/>
          </a:xfrm>
          <a:prstGeom prst="rect">
            <a:avLst>
              <a:gd name="adj" fmla="val 12500"/>
            </a:avLst>
          </a:prstGeom>
          <a:solidFill>
            <a:srgbClr val="FFFFFF"/>
          </a:solidFill>
          <a:ln/>
          <a:effectLst>
            <a:outerShdw sx="100000" sy="100000" kx="0" ky="0" algn="bl" rotWithShape="0" blurRad="50800" dist="25400" dir="8100000">
              <a:srgbClr val="000000">
                <a:alpha val="12000"/>
              </a:srgbClr>
            </a:outerShdw>
          </a:effectLst>
        </p:spPr>
      </p:sp>
      <p:sp>
        <p:nvSpPr>
          <p:cNvPr id="17" name="Shape 15"/>
          <p:cNvSpPr/>
          <p:nvPr/>
        </p:nvSpPr>
        <p:spPr>
          <a:xfrm>
            <a:off x="548640" y="3703320"/>
            <a:ext cx="109728" cy="731520"/>
          </a:xfrm>
          <a:prstGeom prst="rect">
            <a:avLst>
              <a:gd name="adj" fmla="val 41667"/>
            </a:avLst>
          </a:prstGeom>
          <a:solidFill>
            <a:srgbClr val="2C5AA0"/>
          </a:solidFill>
          <a:ln/>
        </p:spPr>
      </p:sp>
      <p:sp>
        <p:nvSpPr>
          <p:cNvPr id="18" name="Text 16"/>
          <p:cNvSpPr/>
          <p:nvPr/>
        </p:nvSpPr>
        <p:spPr>
          <a:xfrm>
            <a:off x="777240" y="3794760"/>
            <a:ext cx="64008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9" name="Text 17"/>
          <p:cNvSpPr/>
          <p:nvPr/>
        </p:nvSpPr>
        <p:spPr>
          <a:xfrm>
            <a:off x="1463040" y="3794760"/>
            <a:ext cx="6858000" cy="548640"/>
          </a:xfrm>
          <a:prstGeom prst="rect">
            <a:avLst/>
          </a:prstGeom>
          <a:noFill/>
          <a:ln/>
        </p:spPr>
        <p:txBody>
          <a:bodyPr wrap="square" lIns="0" tIns="0" rIns="0" bIns="0" rtlCol="0" anchor="ctr"/>
          <a:lstStyle/>
          <a:p>
            <a:pPr indent="0" marL="0">
              <a:buNone/>
            </a:pPr>
            <a:r>
              <a:rPr lang="en-US" sz="2200" dirty="0">
                <a:solidFill>
                  <a:srgbClr val="2D3436"/>
                </a:solidFill>
                <a:latin typeface="BIZ UDPGothic" pitchFamily="34" charset="0"/>
                <a:ea typeface="BIZ UDPGothic" pitchFamily="34" charset="-122"/>
                <a:cs typeface="BIZ UDPGothic" pitchFamily="34" charset="-120"/>
              </a:rPr>
              <a:t>夕方になると物がダブって見える</a:t>
            </a:r>
            <a:endParaRPr lang="en-US" sz="2200" dirty="0"/>
          </a:p>
        </p:txBody>
      </p:sp>
      <p:sp>
        <p:nvSpPr>
          <p:cNvPr id="20" name="Shape 18"/>
          <p:cNvSpPr/>
          <p:nvPr/>
        </p:nvSpPr>
        <p:spPr>
          <a:xfrm>
            <a:off x="1371600" y="4572000"/>
            <a:ext cx="6400800" cy="182880"/>
          </a:xfrm>
          <a:prstGeom prst="rect">
            <a:avLst>
              <a:gd name="adj" fmla="val 50000"/>
            </a:avLst>
          </a:prstGeom>
          <a:solidFill>
            <a:srgbClr val="E8850C"/>
          </a:solidFill>
          <a:ln/>
          <a:effectLst>
            <a:outerShdw sx="100000" sy="100000" kx="0" ky="0" algn="bl" rotWithShape="0" blurRad="50800" dist="25400" dir="8100000">
              <a:srgbClr val="000000">
                <a:alpha val="12000"/>
              </a:srgbClr>
            </a:outerShdw>
          </a:effectLst>
        </p:spPr>
      </p:sp>
      <p:sp>
        <p:nvSpPr>
          <p:cNvPr id="21" name="Shape 19"/>
          <p:cNvSpPr/>
          <p:nvPr/>
        </p:nvSpPr>
        <p:spPr>
          <a:xfrm>
            <a:off x="0" y="4800600"/>
            <a:ext cx="9144000" cy="347472"/>
          </a:xfrm>
          <a:prstGeom prst="rect">
            <a:avLst/>
          </a:prstGeom>
          <a:solidFill>
            <a:srgbClr val="1B3A5C"/>
          </a:solidFill>
          <a:ln/>
        </p:spPr>
      </p:sp>
      <p:sp>
        <p:nvSpPr>
          <p:cNvPr id="22" name="Text 20"/>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#07</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「複視」とは？ ― 2つのタイプ</a:t>
            </a:r>
            <a:endParaRPr lang="en-US" sz="2600" dirty="0"/>
          </a:p>
        </p:txBody>
      </p:sp>
      <p:sp>
        <p:nvSpPr>
          <p:cNvPr id="4" name="Shape 2"/>
          <p:cNvSpPr/>
          <p:nvPr/>
        </p:nvSpPr>
        <p:spPr>
          <a:xfrm>
            <a:off x="457200" y="1005840"/>
            <a:ext cx="8229600" cy="640080"/>
          </a:xfrm>
          <a:prstGeom prst="rect">
            <a:avLst>
              <a:gd name="adj" fmla="val 14286"/>
            </a:avLst>
          </a:prstGeom>
          <a:solidFill>
            <a:srgbClr val="E8F4FD"/>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05840"/>
            <a:ext cx="109728" cy="640080"/>
          </a:xfrm>
          <a:prstGeom prst="rect">
            <a:avLst>
              <a:gd name="adj" fmla="val 41667"/>
            </a:avLst>
          </a:prstGeom>
          <a:solidFill>
            <a:srgbClr val="2C5AA0"/>
          </a:solidFill>
          <a:ln/>
        </p:spPr>
      </p:sp>
      <p:sp>
        <p:nvSpPr>
          <p:cNvPr id="6" name="Text 4"/>
          <p:cNvSpPr/>
          <p:nvPr/>
        </p:nvSpPr>
        <p:spPr>
          <a:xfrm>
            <a:off x="731520" y="1051560"/>
            <a:ext cx="7772400" cy="548640"/>
          </a:xfrm>
          <a:prstGeom prst="rect">
            <a:avLst/>
          </a:prstGeom>
          <a:noFill/>
          <a:ln/>
        </p:spPr>
        <p:txBody>
          <a:bodyPr wrap="square" lIns="0" tIns="0" rIns="0" bIns="0" rtlCol="0" anchor="ctr"/>
          <a:lstStyle/>
          <a:p>
            <a:pPr indent="0" marL="0">
              <a:buNone/>
            </a:pPr>
            <a:r>
              <a:rPr lang="en-US" sz="2200" b="1" dirty="0">
                <a:solidFill>
                  <a:srgbClr val="2C5AA0"/>
                </a:solidFill>
                <a:latin typeface="BIZ UDPGothic" pitchFamily="34" charset="0"/>
                <a:ea typeface="BIZ UDPGothic" pitchFamily="34" charset="-122"/>
                <a:cs typeface="BIZ UDPGothic" pitchFamily="34" charset="-120"/>
              </a:rPr>
              <a:t>複視（ふくし）＝ 物が二重に見える症状</a:t>
            </a:r>
            <a:endParaRPr lang="en-US" sz="2200" dirty="0"/>
          </a:p>
        </p:txBody>
      </p:sp>
      <p:sp>
        <p:nvSpPr>
          <p:cNvPr id="7" name="Shape 5"/>
          <p:cNvSpPr/>
          <p:nvPr/>
        </p:nvSpPr>
        <p:spPr>
          <a:xfrm>
            <a:off x="365760" y="1920240"/>
            <a:ext cx="4023360" cy="2468880"/>
          </a:xfrm>
          <a:prstGeom prst="rect">
            <a:avLst>
              <a:gd name="adj" fmla="val 3704"/>
            </a:avLst>
          </a:prstGeom>
          <a:solidFill>
            <a:srgbClr val="D4EDDA"/>
          </a:solidFill>
          <a:ln/>
          <a:effectLst>
            <a:outerShdw sx="100000" sy="100000" kx="0" ky="0" algn="bl" rotWithShape="0" blurRad="50800" dist="25400" dir="8100000">
              <a:srgbClr val="000000">
                <a:alpha val="12000"/>
              </a:srgbClr>
            </a:outerShdw>
          </a:effectLst>
        </p:spPr>
      </p:sp>
      <p:sp>
        <p:nvSpPr>
          <p:cNvPr id="8" name="Shape 6"/>
          <p:cNvSpPr/>
          <p:nvPr/>
        </p:nvSpPr>
        <p:spPr>
          <a:xfrm>
            <a:off x="365760" y="1920240"/>
            <a:ext cx="109728" cy="2468880"/>
          </a:xfrm>
          <a:prstGeom prst="rect">
            <a:avLst>
              <a:gd name="adj" fmla="val 41667"/>
            </a:avLst>
          </a:prstGeom>
          <a:solidFill>
            <a:srgbClr val="28A745"/>
          </a:solidFill>
          <a:ln/>
        </p:spPr>
      </p:sp>
      <p:sp>
        <p:nvSpPr>
          <p:cNvPr id="9" name="Text 7"/>
          <p:cNvSpPr/>
          <p:nvPr/>
        </p:nvSpPr>
        <p:spPr>
          <a:xfrm>
            <a:off x="640080" y="2011680"/>
            <a:ext cx="3474720" cy="457200"/>
          </a:xfrm>
          <a:prstGeom prst="rect">
            <a:avLst/>
          </a:prstGeom>
          <a:noFill/>
          <a:ln/>
        </p:spPr>
        <p:txBody>
          <a:bodyPr wrap="square" lIns="0" tIns="0" rIns="0" bIns="0" rtlCol="0" anchor="ctr"/>
          <a:lstStyle/>
          <a:p>
            <a:pPr indent="0" marL="0">
              <a:buNone/>
            </a:pPr>
            <a:r>
              <a:rPr lang="en-US" sz="2100" b="1" dirty="0">
                <a:solidFill>
                  <a:srgbClr val="28A745"/>
                </a:solidFill>
                <a:latin typeface="BIZ UDPGothic" pitchFamily="34" charset="0"/>
                <a:ea typeface="BIZ UDPGothic" pitchFamily="34" charset="-122"/>
                <a:cs typeface="BIZ UDPGothic" pitchFamily="34" charset="-120"/>
              </a:rPr>
              <a:t>👁️ 単眼性複視</a:t>
            </a:r>
            <a:endParaRPr lang="en-US" sz="2100" dirty="0"/>
          </a:p>
        </p:txBody>
      </p:sp>
      <p:sp>
        <p:nvSpPr>
          <p:cNvPr id="10" name="Text 8"/>
          <p:cNvSpPr/>
          <p:nvPr/>
        </p:nvSpPr>
        <p:spPr>
          <a:xfrm>
            <a:off x="640080" y="2468880"/>
            <a:ext cx="3474720" cy="320040"/>
          </a:xfrm>
          <a:prstGeom prst="rect">
            <a:avLst/>
          </a:prstGeom>
          <a:noFill/>
          <a:ln/>
        </p:spPr>
        <p:txBody>
          <a:bodyPr wrap="square" lIns="0" tIns="0" rIns="0" bIns="0" rtlCol="0" anchor="ctr"/>
          <a:lstStyle/>
          <a:p>
            <a:pPr indent="0" marL="0">
              <a:buNone/>
            </a:pPr>
            <a:r>
              <a:rPr lang="en-US" sz="1700" dirty="0">
                <a:solidFill>
                  <a:srgbClr val="2D3436"/>
                </a:solidFill>
                <a:latin typeface="BIZ UDPGothic" pitchFamily="34" charset="0"/>
                <a:ea typeface="BIZ UDPGothic" pitchFamily="34" charset="-122"/>
                <a:cs typeface="BIZ UDPGothic" pitchFamily="34" charset="-120"/>
              </a:rPr>
              <a:t>片目だけで見ても二重</a:t>
            </a:r>
            <a:endParaRPr lang="en-US" sz="1700" dirty="0"/>
          </a:p>
        </p:txBody>
      </p:sp>
      <p:sp>
        <p:nvSpPr>
          <p:cNvPr id="11" name="Text 9"/>
          <p:cNvSpPr/>
          <p:nvPr/>
        </p:nvSpPr>
        <p:spPr>
          <a:xfrm>
            <a:off x="731520" y="2926080"/>
            <a:ext cx="3474720" cy="301752"/>
          </a:xfrm>
          <a:prstGeom prst="rect">
            <a:avLst/>
          </a:prstGeom>
          <a:noFill/>
          <a:ln/>
        </p:spPr>
        <p:txBody>
          <a:bodyPr wrap="square" lIns="0" tIns="0" rIns="0" bIns="0" rtlCol="0" anchor="ctr"/>
          <a:lstStyle/>
          <a:p>
            <a:pPr indent="0" marL="0">
              <a:buNone/>
            </a:pPr>
            <a:r>
              <a:rPr lang="en-US" sz="1600" dirty="0">
                <a:solidFill>
                  <a:srgbClr val="2D3436"/>
                </a:solidFill>
                <a:latin typeface="BIZ UDPGothic" pitchFamily="34" charset="0"/>
                <a:ea typeface="BIZ UDPGothic" pitchFamily="34" charset="-122"/>
                <a:cs typeface="BIZ UDPGothic" pitchFamily="34" charset="-120"/>
              </a:rPr>
              <a:t>・目そのものの問題</a:t>
            </a:r>
            <a:endParaRPr lang="en-US" sz="1600" dirty="0"/>
          </a:p>
        </p:txBody>
      </p:sp>
      <p:sp>
        <p:nvSpPr>
          <p:cNvPr id="12" name="Text 10"/>
          <p:cNvSpPr/>
          <p:nvPr/>
        </p:nvSpPr>
        <p:spPr>
          <a:xfrm>
            <a:off x="731520" y="3273552"/>
            <a:ext cx="3474720" cy="301752"/>
          </a:xfrm>
          <a:prstGeom prst="rect">
            <a:avLst/>
          </a:prstGeom>
          <a:noFill/>
          <a:ln/>
        </p:spPr>
        <p:txBody>
          <a:bodyPr wrap="square" lIns="0" tIns="0" rIns="0" bIns="0" rtlCol="0" anchor="ctr"/>
          <a:lstStyle/>
          <a:p>
            <a:pPr indent="0" marL="0">
              <a:buNone/>
            </a:pPr>
            <a:r>
              <a:rPr lang="en-US" sz="1600" dirty="0">
                <a:solidFill>
                  <a:srgbClr val="2D3436"/>
                </a:solidFill>
                <a:latin typeface="BIZ UDPGothic" pitchFamily="34" charset="0"/>
                <a:ea typeface="BIZ UDPGothic" pitchFamily="34" charset="-122"/>
                <a:cs typeface="BIZ UDPGothic" pitchFamily="34" charset="-120"/>
              </a:rPr>
              <a:t>・乱視・白内障・ドライアイ</a:t>
            </a:r>
            <a:endParaRPr lang="en-US" sz="1600" dirty="0"/>
          </a:p>
        </p:txBody>
      </p:sp>
      <p:sp>
        <p:nvSpPr>
          <p:cNvPr id="13" name="Text 11"/>
          <p:cNvSpPr/>
          <p:nvPr/>
        </p:nvSpPr>
        <p:spPr>
          <a:xfrm>
            <a:off x="731520" y="3621024"/>
            <a:ext cx="3474720" cy="301752"/>
          </a:xfrm>
          <a:prstGeom prst="rect">
            <a:avLst/>
          </a:prstGeom>
          <a:noFill/>
          <a:ln/>
        </p:spPr>
        <p:txBody>
          <a:bodyPr wrap="square" lIns="0" tIns="0" rIns="0" bIns="0" rtlCol="0" anchor="ctr"/>
          <a:lstStyle/>
          <a:p>
            <a:pPr indent="0" marL="0">
              <a:buNone/>
            </a:pPr>
            <a:r>
              <a:rPr lang="en-US" sz="1600" dirty="0">
                <a:solidFill>
                  <a:srgbClr val="2D3436"/>
                </a:solidFill>
                <a:latin typeface="BIZ UDPGothic" pitchFamily="34" charset="0"/>
                <a:ea typeface="BIZ UDPGothic" pitchFamily="34" charset="-122"/>
                <a:cs typeface="BIZ UDPGothic" pitchFamily="34" charset="-120"/>
              </a:rPr>
              <a:t>・→ 眼科を受診</a:t>
            </a:r>
            <a:endParaRPr lang="en-US" sz="1600" dirty="0"/>
          </a:p>
        </p:txBody>
      </p:sp>
      <p:sp>
        <p:nvSpPr>
          <p:cNvPr id="14" name="Shape 12"/>
          <p:cNvSpPr/>
          <p:nvPr/>
        </p:nvSpPr>
        <p:spPr>
          <a:xfrm>
            <a:off x="4754880" y="1920240"/>
            <a:ext cx="4023360" cy="2468880"/>
          </a:xfrm>
          <a:prstGeom prst="rect">
            <a:avLst>
              <a:gd name="adj" fmla="val 3704"/>
            </a:avLst>
          </a:prstGeom>
          <a:solidFill>
            <a:srgbClr val="F8D7DA"/>
          </a:solidFill>
          <a:ln/>
          <a:effectLst>
            <a:outerShdw sx="100000" sy="100000" kx="0" ky="0" algn="bl" rotWithShape="0" blurRad="50800" dist="25400" dir="8100000">
              <a:srgbClr val="000000">
                <a:alpha val="12000"/>
              </a:srgbClr>
            </a:outerShdw>
          </a:effectLst>
        </p:spPr>
      </p:sp>
      <p:sp>
        <p:nvSpPr>
          <p:cNvPr id="15" name="Shape 13"/>
          <p:cNvSpPr/>
          <p:nvPr/>
        </p:nvSpPr>
        <p:spPr>
          <a:xfrm>
            <a:off x="4754880" y="1920240"/>
            <a:ext cx="109728" cy="2468880"/>
          </a:xfrm>
          <a:prstGeom prst="rect">
            <a:avLst>
              <a:gd name="adj" fmla="val 41667"/>
            </a:avLst>
          </a:prstGeom>
          <a:solidFill>
            <a:srgbClr val="DC3545"/>
          </a:solidFill>
          <a:ln/>
        </p:spPr>
      </p:sp>
      <p:sp>
        <p:nvSpPr>
          <p:cNvPr id="16" name="Text 14"/>
          <p:cNvSpPr/>
          <p:nvPr/>
        </p:nvSpPr>
        <p:spPr>
          <a:xfrm>
            <a:off x="5029200" y="2011680"/>
            <a:ext cx="3474720" cy="457200"/>
          </a:xfrm>
          <a:prstGeom prst="rect">
            <a:avLst/>
          </a:prstGeom>
          <a:noFill/>
          <a:ln/>
        </p:spPr>
        <p:txBody>
          <a:bodyPr wrap="square" lIns="0" tIns="0" rIns="0" bIns="0" rtlCol="0" anchor="ctr"/>
          <a:lstStyle/>
          <a:p>
            <a:pPr indent="0" marL="0">
              <a:buNone/>
            </a:pPr>
            <a:r>
              <a:rPr lang="en-US" sz="2100" b="1" dirty="0">
                <a:solidFill>
                  <a:srgbClr val="DC3545"/>
                </a:solidFill>
                <a:latin typeface="BIZ UDPGothic" pitchFamily="34" charset="0"/>
                <a:ea typeface="BIZ UDPGothic" pitchFamily="34" charset="-122"/>
                <a:cs typeface="BIZ UDPGothic" pitchFamily="34" charset="-120"/>
              </a:rPr>
              <a:t>👁️👁️ 両眼性複視</a:t>
            </a:r>
            <a:endParaRPr lang="en-US" sz="2100" dirty="0"/>
          </a:p>
        </p:txBody>
      </p:sp>
      <p:sp>
        <p:nvSpPr>
          <p:cNvPr id="17" name="Text 15"/>
          <p:cNvSpPr/>
          <p:nvPr/>
        </p:nvSpPr>
        <p:spPr>
          <a:xfrm>
            <a:off x="5029200" y="2468880"/>
            <a:ext cx="3474720" cy="320040"/>
          </a:xfrm>
          <a:prstGeom prst="rect">
            <a:avLst/>
          </a:prstGeom>
          <a:noFill/>
          <a:ln/>
        </p:spPr>
        <p:txBody>
          <a:bodyPr wrap="square" lIns="0" tIns="0" rIns="0" bIns="0" rtlCol="0" anchor="ctr"/>
          <a:lstStyle/>
          <a:p>
            <a:pPr indent="0" marL="0">
              <a:buNone/>
            </a:pPr>
            <a:r>
              <a:rPr lang="en-US" sz="1700" dirty="0">
                <a:solidFill>
                  <a:srgbClr val="2D3436"/>
                </a:solidFill>
                <a:latin typeface="BIZ UDPGothic" pitchFamily="34" charset="0"/>
                <a:ea typeface="BIZ UDPGothic" pitchFamily="34" charset="-122"/>
                <a:cs typeface="BIZ UDPGothic" pitchFamily="34" charset="-120"/>
              </a:rPr>
              <a:t>両目で見ると二重、片目だと1つ</a:t>
            </a:r>
            <a:endParaRPr lang="en-US" sz="1700" dirty="0"/>
          </a:p>
        </p:txBody>
      </p:sp>
      <p:sp>
        <p:nvSpPr>
          <p:cNvPr id="18" name="Text 16"/>
          <p:cNvSpPr/>
          <p:nvPr/>
        </p:nvSpPr>
        <p:spPr>
          <a:xfrm>
            <a:off x="5120640" y="2926080"/>
            <a:ext cx="3474720" cy="301752"/>
          </a:xfrm>
          <a:prstGeom prst="rect">
            <a:avLst/>
          </a:prstGeom>
          <a:noFill/>
          <a:ln/>
        </p:spPr>
        <p:txBody>
          <a:bodyPr wrap="square" lIns="0" tIns="0" rIns="0" bIns="0" rtlCol="0" anchor="ctr"/>
          <a:lstStyle/>
          <a:p>
            <a:pPr indent="0" marL="0">
              <a:buNone/>
            </a:pPr>
            <a:r>
              <a:rPr lang="en-US" sz="1600" dirty="0">
                <a:solidFill>
                  <a:srgbClr val="2D3436"/>
                </a:solidFill>
                <a:latin typeface="BIZ UDPGothic" pitchFamily="34" charset="0"/>
                <a:ea typeface="BIZ UDPGothic" pitchFamily="34" charset="-122"/>
                <a:cs typeface="BIZ UDPGothic" pitchFamily="34" charset="-120"/>
              </a:rPr>
              <a:t>・目を動かす神経や筋肉の問題</a:t>
            </a:r>
            <a:endParaRPr lang="en-US" sz="1600" dirty="0"/>
          </a:p>
        </p:txBody>
      </p:sp>
      <p:sp>
        <p:nvSpPr>
          <p:cNvPr id="19" name="Text 17"/>
          <p:cNvSpPr/>
          <p:nvPr/>
        </p:nvSpPr>
        <p:spPr>
          <a:xfrm>
            <a:off x="5120640" y="3273552"/>
            <a:ext cx="3474720" cy="301752"/>
          </a:xfrm>
          <a:prstGeom prst="rect">
            <a:avLst/>
          </a:prstGeom>
          <a:noFill/>
          <a:ln/>
        </p:spPr>
        <p:txBody>
          <a:bodyPr wrap="square" lIns="0" tIns="0" rIns="0" bIns="0" rtlCol="0" anchor="ctr"/>
          <a:lstStyle/>
          <a:p>
            <a:pPr indent="0" marL="0">
              <a:buNone/>
            </a:pPr>
            <a:r>
              <a:rPr lang="en-US" sz="1600" dirty="0">
                <a:solidFill>
                  <a:srgbClr val="2D3436"/>
                </a:solidFill>
                <a:latin typeface="BIZ UDPGothic" pitchFamily="34" charset="0"/>
                <a:ea typeface="BIZ UDPGothic" pitchFamily="34" charset="-122"/>
                <a:cs typeface="BIZ UDPGothic" pitchFamily="34" charset="-120"/>
              </a:rPr>
              <a:t>・脳の病気が原因のことも</a:t>
            </a:r>
            <a:endParaRPr lang="en-US" sz="1600" dirty="0"/>
          </a:p>
        </p:txBody>
      </p:sp>
      <p:sp>
        <p:nvSpPr>
          <p:cNvPr id="20" name="Text 18"/>
          <p:cNvSpPr/>
          <p:nvPr/>
        </p:nvSpPr>
        <p:spPr>
          <a:xfrm>
            <a:off x="5120640" y="3621024"/>
            <a:ext cx="3474720" cy="301752"/>
          </a:xfrm>
          <a:prstGeom prst="rect">
            <a:avLst/>
          </a:prstGeom>
          <a:noFill/>
          <a:ln/>
        </p:spPr>
        <p:txBody>
          <a:bodyPr wrap="square" lIns="0" tIns="0" rIns="0" bIns="0" rtlCol="0" anchor="ctr"/>
          <a:lstStyle/>
          <a:p>
            <a:pPr indent="0" marL="0">
              <a:buNone/>
            </a:pPr>
            <a:r>
              <a:rPr lang="en-US" sz="1600" dirty="0">
                <a:solidFill>
                  <a:srgbClr val="2D3436"/>
                </a:solidFill>
                <a:latin typeface="BIZ UDPGothic" pitchFamily="34" charset="0"/>
                <a:ea typeface="BIZ UDPGothic" pitchFamily="34" charset="-122"/>
                <a:cs typeface="BIZ UDPGothic" pitchFamily="34" charset="-120"/>
              </a:rPr>
              <a:t>・→ 脳神経内科を受診</a:t>
            </a:r>
            <a:endParaRPr lang="en-US" sz="1600" dirty="0"/>
          </a:p>
        </p:txBody>
      </p:sp>
      <p:sp>
        <p:nvSpPr>
          <p:cNvPr id="21" name="Text 19"/>
          <p:cNvSpPr/>
          <p:nvPr/>
        </p:nvSpPr>
        <p:spPr>
          <a:xfrm>
            <a:off x="457200" y="4526280"/>
            <a:ext cx="8229600" cy="274320"/>
          </a:xfrm>
          <a:prstGeom prst="rect">
            <a:avLst/>
          </a:prstGeom>
          <a:noFill/>
          <a:ln/>
        </p:spPr>
        <p:txBody>
          <a:bodyPr wrap="square" lIns="0" tIns="0" rIns="0" bIns="0" rtlCol="0" anchor="ctr"/>
          <a:lstStyle/>
          <a:p>
            <a:pPr indent="0" marL="0">
              <a:buNone/>
            </a:pPr>
            <a:r>
              <a:rPr lang="en-US" sz="1400" b="1" dirty="0">
                <a:solidFill>
                  <a:srgbClr val="DC3545"/>
                </a:solidFill>
                <a:latin typeface="BIZ UDPGothic" pitchFamily="34" charset="0"/>
                <a:ea typeface="BIZ UDPGothic" pitchFamily="34" charset="-122"/>
                <a:cs typeface="BIZ UDPGothic" pitchFamily="34" charset="-120"/>
              </a:rPr>
              <a:t>⚠️ 両眼性複視は脳や神経の病気が隠れている可能性があります</a:t>
            </a:r>
            <a:endParaRPr lang="en-US" sz="1400" dirty="0"/>
          </a:p>
        </p:txBody>
      </p:sp>
      <p:sp>
        <p:nvSpPr>
          <p:cNvPr id="22" name="Shape 20"/>
          <p:cNvSpPr/>
          <p:nvPr/>
        </p:nvSpPr>
        <p:spPr>
          <a:xfrm>
            <a:off x="0" y="4800600"/>
            <a:ext cx="9144000" cy="347472"/>
          </a:xfrm>
          <a:prstGeom prst="rect">
            <a:avLst/>
          </a:prstGeom>
          <a:solidFill>
            <a:srgbClr val="1B3A5C"/>
          </a:solidFill>
          <a:ln/>
        </p:spPr>
      </p:sp>
      <p:sp>
        <p:nvSpPr>
          <p:cNvPr id="23" name="Text 21"/>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#07</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目を動かす3本の脳神経</a:t>
            </a:r>
            <a:endParaRPr lang="en-US" sz="2600" dirty="0"/>
          </a:p>
        </p:txBody>
      </p:sp>
      <p:sp>
        <p:nvSpPr>
          <p:cNvPr id="4" name="Shape 2"/>
          <p:cNvSpPr/>
          <p:nvPr/>
        </p:nvSpPr>
        <p:spPr>
          <a:xfrm>
            <a:off x="457200" y="1005840"/>
            <a:ext cx="8229600" cy="640080"/>
          </a:xfrm>
          <a:prstGeom prst="rect">
            <a:avLst>
              <a:gd name="adj" fmla="val 14286"/>
            </a:avLst>
          </a:prstGeom>
          <a:solidFill>
            <a:srgbClr val="E8F4FD"/>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05840"/>
            <a:ext cx="109728" cy="640080"/>
          </a:xfrm>
          <a:prstGeom prst="rect">
            <a:avLst>
              <a:gd name="adj" fmla="val 41667"/>
            </a:avLst>
          </a:prstGeom>
          <a:solidFill>
            <a:srgbClr val="2C5AA0"/>
          </a:solidFill>
          <a:ln/>
        </p:spPr>
      </p:sp>
      <p:sp>
        <p:nvSpPr>
          <p:cNvPr id="6" name="Text 4"/>
          <p:cNvSpPr/>
          <p:nvPr/>
        </p:nvSpPr>
        <p:spPr>
          <a:xfrm>
            <a:off x="731520" y="1051560"/>
            <a:ext cx="7772400" cy="548640"/>
          </a:xfrm>
          <a:prstGeom prst="rect">
            <a:avLst/>
          </a:prstGeom>
          <a:noFill/>
          <a:ln/>
        </p:spPr>
        <p:txBody>
          <a:bodyPr wrap="square" lIns="0" tIns="0" rIns="0" bIns="0" rtlCol="0" anchor="ctr"/>
          <a:lstStyle/>
          <a:p>
            <a:pPr indent="0" marL="0">
              <a:buNone/>
            </a:pPr>
            <a:r>
              <a:rPr lang="en-US" sz="1800" b="1" dirty="0">
                <a:solidFill>
                  <a:srgbClr val="2C5AA0"/>
                </a:solidFill>
                <a:latin typeface="BIZ UDPGothic" pitchFamily="34" charset="0"/>
                <a:ea typeface="BIZ UDPGothic" pitchFamily="34" charset="-122"/>
                <a:cs typeface="BIZ UDPGothic" pitchFamily="34" charset="-120"/>
              </a:rPr>
              <a:t>眼球は6つの筋肉で動き、3本の脳神経がコントロールしています</a:t>
            </a:r>
            <a:endParaRPr lang="en-US" sz="1800" dirty="0"/>
          </a:p>
        </p:txBody>
      </p:sp>
      <p:sp>
        <p:nvSpPr>
          <p:cNvPr id="7" name="Shape 5"/>
          <p:cNvSpPr/>
          <p:nvPr/>
        </p:nvSpPr>
        <p:spPr>
          <a:xfrm>
            <a:off x="457200" y="1874520"/>
            <a:ext cx="8229600" cy="777240"/>
          </a:xfrm>
          <a:prstGeom prst="rect">
            <a:avLst>
              <a:gd name="adj" fmla="val 11765"/>
            </a:avLst>
          </a:prstGeom>
          <a:solidFill>
            <a:srgbClr val="FFFFFF"/>
          </a:solidFill>
          <a:ln/>
          <a:effectLst>
            <a:outerShdw sx="100000" sy="100000" kx="0" ky="0" algn="bl" rotWithShape="0" blurRad="50800" dist="25400" dir="8100000">
              <a:srgbClr val="000000">
                <a:alpha val="12000"/>
              </a:srgbClr>
            </a:outerShdw>
          </a:effectLst>
        </p:spPr>
      </p:sp>
      <p:sp>
        <p:nvSpPr>
          <p:cNvPr id="8" name="Shape 6"/>
          <p:cNvSpPr/>
          <p:nvPr/>
        </p:nvSpPr>
        <p:spPr>
          <a:xfrm>
            <a:off x="457200" y="1874520"/>
            <a:ext cx="109728" cy="777240"/>
          </a:xfrm>
          <a:prstGeom prst="rect">
            <a:avLst>
              <a:gd name="adj" fmla="val 41667"/>
            </a:avLst>
          </a:prstGeom>
          <a:solidFill>
            <a:srgbClr val="2C5AA0"/>
          </a:solidFill>
          <a:ln/>
        </p:spPr>
      </p:sp>
      <p:sp>
        <p:nvSpPr>
          <p:cNvPr id="9" name="Text 7"/>
          <p:cNvSpPr/>
          <p:nvPr/>
        </p:nvSpPr>
        <p:spPr>
          <a:xfrm>
            <a:off x="731520" y="1920240"/>
            <a:ext cx="3200400" cy="320040"/>
          </a:xfrm>
          <a:prstGeom prst="rect">
            <a:avLst/>
          </a:prstGeom>
          <a:noFill/>
          <a:ln/>
        </p:spPr>
        <p:txBody>
          <a:bodyPr wrap="square" lIns="0" tIns="0" rIns="0" bIns="0" rtlCol="0" anchor="ctr"/>
          <a:lstStyle/>
          <a:p>
            <a:pPr indent="0" marL="0">
              <a:buNone/>
            </a:pPr>
            <a:r>
              <a:rPr lang="en-US" sz="1700" b="1" dirty="0">
                <a:solidFill>
                  <a:srgbClr val="2C5AA0"/>
                </a:solidFill>
                <a:latin typeface="BIZ UDPGothic" pitchFamily="34" charset="0"/>
                <a:ea typeface="BIZ UDPGothic" pitchFamily="34" charset="-122"/>
                <a:cs typeface="BIZ UDPGothic" pitchFamily="34" charset="-120"/>
              </a:rPr>
              <a:t>動眼神経（第III脳神経）</a:t>
            </a:r>
            <a:endParaRPr lang="en-US" sz="1700" dirty="0"/>
          </a:p>
        </p:txBody>
      </p:sp>
      <p:sp>
        <p:nvSpPr>
          <p:cNvPr id="10" name="Text 8"/>
          <p:cNvSpPr/>
          <p:nvPr/>
        </p:nvSpPr>
        <p:spPr>
          <a:xfrm>
            <a:off x="731520" y="2240280"/>
            <a:ext cx="4114800" cy="365760"/>
          </a:xfrm>
          <a:prstGeom prst="rect">
            <a:avLst/>
          </a:prstGeom>
          <a:noFill/>
          <a:ln/>
        </p:spPr>
        <p:txBody>
          <a:bodyPr wrap="square" lIns="0" tIns="0" rIns="0" bIns="0" rtlCol="0" anchor="ctr"/>
          <a:lstStyle/>
          <a:p>
            <a:pPr indent="0" marL="0">
              <a:lnSpc>
                <a:spcPct val="110000"/>
              </a:lnSpc>
              <a:buNone/>
            </a:pPr>
            <a:r>
              <a:rPr lang="en-US" sz="1400" dirty="0">
                <a:solidFill>
                  <a:srgbClr val="2D3436"/>
                </a:solidFill>
                <a:latin typeface="BIZ UDPGothic" pitchFamily="34" charset="0"/>
                <a:ea typeface="BIZ UDPGothic" pitchFamily="34" charset="-122"/>
                <a:cs typeface="BIZ UDPGothic" pitchFamily="34" charset="-120"/>
              </a:rPr>
              <a:t>上・下・内側への眼球運動</a:t>
            </a:r>
            <a:endParaRPr lang="en-US" sz="1400" dirty="0"/>
          </a:p>
          <a:p>
            <a:pPr indent="0" marL="0">
              <a:lnSpc>
                <a:spcPct val="110000"/>
              </a:lnSpc>
              <a:buNone/>
            </a:pPr>
            <a:r>
              <a:rPr lang="en-US" sz="1400" dirty="0">
                <a:solidFill>
                  <a:srgbClr val="2D3436"/>
                </a:solidFill>
                <a:latin typeface="BIZ UDPGothic" pitchFamily="34" charset="0"/>
                <a:ea typeface="BIZ UDPGothic" pitchFamily="34" charset="-122"/>
                <a:cs typeface="BIZ UDPGothic" pitchFamily="34" charset="-120"/>
              </a:rPr>
              <a:t>まぶたを上げる・瞳孔を縮める</a:t>
            </a:r>
            <a:endParaRPr lang="en-US" sz="1400" dirty="0"/>
          </a:p>
        </p:txBody>
      </p:sp>
      <p:sp>
        <p:nvSpPr>
          <p:cNvPr id="11" name="Text 9"/>
          <p:cNvSpPr/>
          <p:nvPr/>
        </p:nvSpPr>
        <p:spPr>
          <a:xfrm>
            <a:off x="5029200" y="1947672"/>
            <a:ext cx="3474720" cy="640080"/>
          </a:xfrm>
          <a:prstGeom prst="rect">
            <a:avLst/>
          </a:prstGeom>
          <a:noFill/>
          <a:ln/>
        </p:spPr>
        <p:txBody>
          <a:bodyPr wrap="square" lIns="0" tIns="0" rIns="0" bIns="0" rtlCol="0" anchor="ctr"/>
          <a:lstStyle/>
          <a:p>
            <a:pPr indent="0" marL="0">
              <a:lnSpc>
                <a:spcPct val="115000"/>
              </a:lnSpc>
              <a:buNone/>
            </a:pPr>
            <a:r>
              <a:rPr lang="en-US" sz="1400" dirty="0">
                <a:solidFill>
                  <a:srgbClr val="636E72"/>
                </a:solidFill>
                <a:latin typeface="BIZ UDPGothic" pitchFamily="34" charset="0"/>
                <a:ea typeface="BIZ UDPGothic" pitchFamily="34" charset="-122"/>
                <a:cs typeface="BIZ UDPGothic" pitchFamily="34" charset="-120"/>
              </a:rPr>
              <a:t>麻痺→目が外向き＋まぶた下垂</a:t>
            </a:r>
            <a:endParaRPr lang="en-US" sz="1400" dirty="0"/>
          </a:p>
        </p:txBody>
      </p:sp>
      <p:sp>
        <p:nvSpPr>
          <p:cNvPr id="12" name="Shape 10"/>
          <p:cNvSpPr/>
          <p:nvPr/>
        </p:nvSpPr>
        <p:spPr>
          <a:xfrm>
            <a:off x="457200" y="2788920"/>
            <a:ext cx="8229600" cy="777240"/>
          </a:xfrm>
          <a:prstGeom prst="rect">
            <a:avLst>
              <a:gd name="adj" fmla="val 11765"/>
            </a:avLst>
          </a:prstGeom>
          <a:solidFill>
            <a:srgbClr val="FFFFFF"/>
          </a:solidFill>
          <a:ln/>
          <a:effectLst>
            <a:outerShdw sx="100000" sy="100000" kx="0" ky="0" algn="bl" rotWithShape="0" blurRad="50800" dist="25400" dir="8100000">
              <a:srgbClr val="000000">
                <a:alpha val="12000"/>
              </a:srgbClr>
            </a:outerShdw>
          </a:effectLst>
        </p:spPr>
      </p:sp>
      <p:sp>
        <p:nvSpPr>
          <p:cNvPr id="13" name="Shape 11"/>
          <p:cNvSpPr/>
          <p:nvPr/>
        </p:nvSpPr>
        <p:spPr>
          <a:xfrm>
            <a:off x="457200" y="2788920"/>
            <a:ext cx="109728" cy="777240"/>
          </a:xfrm>
          <a:prstGeom prst="rect">
            <a:avLst>
              <a:gd name="adj" fmla="val 41667"/>
            </a:avLst>
          </a:prstGeom>
          <a:solidFill>
            <a:srgbClr val="E8850C"/>
          </a:solidFill>
          <a:ln/>
        </p:spPr>
      </p:sp>
      <p:sp>
        <p:nvSpPr>
          <p:cNvPr id="14" name="Text 12"/>
          <p:cNvSpPr/>
          <p:nvPr/>
        </p:nvSpPr>
        <p:spPr>
          <a:xfrm>
            <a:off x="731520" y="2834640"/>
            <a:ext cx="3200400" cy="320040"/>
          </a:xfrm>
          <a:prstGeom prst="rect">
            <a:avLst/>
          </a:prstGeom>
          <a:noFill/>
          <a:ln/>
        </p:spPr>
        <p:txBody>
          <a:bodyPr wrap="square" lIns="0" tIns="0" rIns="0" bIns="0" rtlCol="0" anchor="ctr"/>
          <a:lstStyle/>
          <a:p>
            <a:pPr indent="0" marL="0">
              <a:buNone/>
            </a:pPr>
            <a:r>
              <a:rPr lang="en-US" sz="1700" b="1" dirty="0">
                <a:solidFill>
                  <a:srgbClr val="E8850C"/>
                </a:solidFill>
                <a:latin typeface="BIZ UDPGothic" pitchFamily="34" charset="0"/>
                <a:ea typeface="BIZ UDPGothic" pitchFamily="34" charset="-122"/>
                <a:cs typeface="BIZ UDPGothic" pitchFamily="34" charset="-120"/>
              </a:rPr>
              <a:t>滑車神経（第IV脳神経）</a:t>
            </a:r>
            <a:endParaRPr lang="en-US" sz="1700" dirty="0"/>
          </a:p>
        </p:txBody>
      </p:sp>
      <p:sp>
        <p:nvSpPr>
          <p:cNvPr id="15" name="Text 13"/>
          <p:cNvSpPr/>
          <p:nvPr/>
        </p:nvSpPr>
        <p:spPr>
          <a:xfrm>
            <a:off x="731520" y="3154680"/>
            <a:ext cx="4114800" cy="365760"/>
          </a:xfrm>
          <a:prstGeom prst="rect">
            <a:avLst/>
          </a:prstGeom>
          <a:noFill/>
          <a:ln/>
        </p:spPr>
        <p:txBody>
          <a:bodyPr wrap="square" lIns="0" tIns="0" rIns="0" bIns="0" rtlCol="0" anchor="ctr"/>
          <a:lstStyle/>
          <a:p>
            <a:pPr indent="0" marL="0">
              <a:lnSpc>
                <a:spcPct val="110000"/>
              </a:lnSpc>
              <a:buNone/>
            </a:pPr>
            <a:r>
              <a:rPr lang="en-US" sz="1400" dirty="0">
                <a:solidFill>
                  <a:srgbClr val="2D3436"/>
                </a:solidFill>
                <a:latin typeface="BIZ UDPGothic" pitchFamily="34" charset="0"/>
                <a:ea typeface="BIZ UDPGothic" pitchFamily="34" charset="-122"/>
                <a:cs typeface="BIZ UDPGothic" pitchFamily="34" charset="-120"/>
              </a:rPr>
              <a:t>眼球を内下方に向ける</a:t>
            </a:r>
            <a:endParaRPr lang="en-US" sz="1400" dirty="0"/>
          </a:p>
          <a:p>
            <a:pPr indent="0" marL="0">
              <a:lnSpc>
                <a:spcPct val="110000"/>
              </a:lnSpc>
              <a:buNone/>
            </a:pPr>
            <a:r>
              <a:rPr lang="en-US" sz="1400" dirty="0">
                <a:solidFill>
                  <a:srgbClr val="2D3436"/>
                </a:solidFill>
                <a:latin typeface="BIZ UDPGothic" pitchFamily="34" charset="0"/>
                <a:ea typeface="BIZ UDPGothic" pitchFamily="34" charset="-122"/>
                <a:cs typeface="BIZ UDPGothic" pitchFamily="34" charset="-120"/>
              </a:rPr>
              <a:t>（階段を下りるとき等）</a:t>
            </a:r>
            <a:endParaRPr lang="en-US" sz="1400" dirty="0"/>
          </a:p>
        </p:txBody>
      </p:sp>
      <p:sp>
        <p:nvSpPr>
          <p:cNvPr id="16" name="Text 14"/>
          <p:cNvSpPr/>
          <p:nvPr/>
        </p:nvSpPr>
        <p:spPr>
          <a:xfrm>
            <a:off x="5029200" y="2862072"/>
            <a:ext cx="3474720" cy="640080"/>
          </a:xfrm>
          <a:prstGeom prst="rect">
            <a:avLst/>
          </a:prstGeom>
          <a:noFill/>
          <a:ln/>
        </p:spPr>
        <p:txBody>
          <a:bodyPr wrap="square" lIns="0" tIns="0" rIns="0" bIns="0" rtlCol="0" anchor="ctr"/>
          <a:lstStyle/>
          <a:p>
            <a:pPr indent="0" marL="0">
              <a:lnSpc>
                <a:spcPct val="115000"/>
              </a:lnSpc>
              <a:buNone/>
            </a:pPr>
            <a:r>
              <a:rPr lang="en-US" sz="1400" dirty="0">
                <a:solidFill>
                  <a:srgbClr val="636E72"/>
                </a:solidFill>
                <a:latin typeface="BIZ UDPGothic" pitchFamily="34" charset="0"/>
                <a:ea typeface="BIZ UDPGothic" pitchFamily="34" charset="-122"/>
                <a:cs typeface="BIZ UDPGothic" pitchFamily="34" charset="-120"/>
              </a:rPr>
              <a:t>麻痺→階段でものが二重に</a:t>
            </a:r>
            <a:endParaRPr lang="en-US" sz="1400" dirty="0"/>
          </a:p>
        </p:txBody>
      </p:sp>
      <p:sp>
        <p:nvSpPr>
          <p:cNvPr id="17" name="Shape 15"/>
          <p:cNvSpPr/>
          <p:nvPr/>
        </p:nvSpPr>
        <p:spPr>
          <a:xfrm>
            <a:off x="457200" y="3703320"/>
            <a:ext cx="8229600" cy="777240"/>
          </a:xfrm>
          <a:prstGeom prst="rect">
            <a:avLst>
              <a:gd name="adj" fmla="val 11765"/>
            </a:avLst>
          </a:prstGeom>
          <a:solidFill>
            <a:srgbClr val="FFFFFF"/>
          </a:solidFill>
          <a:ln/>
          <a:effectLst>
            <a:outerShdw sx="100000" sy="100000" kx="0" ky="0" algn="bl" rotWithShape="0" blurRad="50800" dist="25400" dir="8100000">
              <a:srgbClr val="000000">
                <a:alpha val="12000"/>
              </a:srgbClr>
            </a:outerShdw>
          </a:effectLst>
        </p:spPr>
      </p:sp>
      <p:sp>
        <p:nvSpPr>
          <p:cNvPr id="18" name="Shape 16"/>
          <p:cNvSpPr/>
          <p:nvPr/>
        </p:nvSpPr>
        <p:spPr>
          <a:xfrm>
            <a:off x="457200" y="3703320"/>
            <a:ext cx="109728" cy="777240"/>
          </a:xfrm>
          <a:prstGeom prst="rect">
            <a:avLst>
              <a:gd name="adj" fmla="val 41667"/>
            </a:avLst>
          </a:prstGeom>
          <a:solidFill>
            <a:srgbClr val="DC3545"/>
          </a:solidFill>
          <a:ln/>
        </p:spPr>
      </p:sp>
      <p:sp>
        <p:nvSpPr>
          <p:cNvPr id="19" name="Text 17"/>
          <p:cNvSpPr/>
          <p:nvPr/>
        </p:nvSpPr>
        <p:spPr>
          <a:xfrm>
            <a:off x="731520" y="3749040"/>
            <a:ext cx="3200400" cy="320040"/>
          </a:xfrm>
          <a:prstGeom prst="rect">
            <a:avLst/>
          </a:prstGeom>
          <a:noFill/>
          <a:ln/>
        </p:spPr>
        <p:txBody>
          <a:bodyPr wrap="square" lIns="0" tIns="0" rIns="0" bIns="0" rtlCol="0" anchor="ctr"/>
          <a:lstStyle/>
          <a:p>
            <a:pPr indent="0" marL="0">
              <a:buNone/>
            </a:pPr>
            <a:r>
              <a:rPr lang="en-US" sz="1700" b="1" dirty="0">
                <a:solidFill>
                  <a:srgbClr val="DC3545"/>
                </a:solidFill>
                <a:latin typeface="BIZ UDPGothic" pitchFamily="34" charset="0"/>
                <a:ea typeface="BIZ UDPGothic" pitchFamily="34" charset="-122"/>
                <a:cs typeface="BIZ UDPGothic" pitchFamily="34" charset="-120"/>
              </a:rPr>
              <a:t>外転神経（第VI脳神経）</a:t>
            </a:r>
            <a:endParaRPr lang="en-US" sz="1700" dirty="0"/>
          </a:p>
        </p:txBody>
      </p:sp>
      <p:sp>
        <p:nvSpPr>
          <p:cNvPr id="20" name="Text 18"/>
          <p:cNvSpPr/>
          <p:nvPr/>
        </p:nvSpPr>
        <p:spPr>
          <a:xfrm>
            <a:off x="731520" y="4069080"/>
            <a:ext cx="4114800" cy="365760"/>
          </a:xfrm>
          <a:prstGeom prst="rect">
            <a:avLst/>
          </a:prstGeom>
          <a:noFill/>
          <a:ln/>
        </p:spPr>
        <p:txBody>
          <a:bodyPr wrap="square" lIns="0" tIns="0" rIns="0" bIns="0" rtlCol="0" anchor="ctr"/>
          <a:lstStyle/>
          <a:p>
            <a:pPr indent="0" marL="0">
              <a:lnSpc>
                <a:spcPct val="110000"/>
              </a:lnSpc>
              <a:buNone/>
            </a:pPr>
            <a:r>
              <a:rPr lang="en-US" sz="1400" dirty="0">
                <a:solidFill>
                  <a:srgbClr val="2D3436"/>
                </a:solidFill>
                <a:latin typeface="BIZ UDPGothic" pitchFamily="34" charset="0"/>
                <a:ea typeface="BIZ UDPGothic" pitchFamily="34" charset="-122"/>
                <a:cs typeface="BIZ UDPGothic" pitchFamily="34" charset="-120"/>
              </a:rPr>
              <a:t>眼球を外側に向ける</a:t>
            </a:r>
            <a:endParaRPr lang="en-US" sz="1400" dirty="0"/>
          </a:p>
        </p:txBody>
      </p:sp>
      <p:sp>
        <p:nvSpPr>
          <p:cNvPr id="21" name="Text 19"/>
          <p:cNvSpPr/>
          <p:nvPr/>
        </p:nvSpPr>
        <p:spPr>
          <a:xfrm>
            <a:off x="5029200" y="3776472"/>
            <a:ext cx="3474720" cy="640080"/>
          </a:xfrm>
          <a:prstGeom prst="rect">
            <a:avLst/>
          </a:prstGeom>
          <a:noFill/>
          <a:ln/>
        </p:spPr>
        <p:txBody>
          <a:bodyPr wrap="square" lIns="0" tIns="0" rIns="0" bIns="0" rtlCol="0" anchor="ctr"/>
          <a:lstStyle/>
          <a:p>
            <a:pPr indent="0" marL="0">
              <a:lnSpc>
                <a:spcPct val="115000"/>
              </a:lnSpc>
              <a:buNone/>
            </a:pPr>
            <a:r>
              <a:rPr lang="en-US" sz="1400" dirty="0">
                <a:solidFill>
                  <a:srgbClr val="636E72"/>
                </a:solidFill>
                <a:latin typeface="BIZ UDPGothic" pitchFamily="34" charset="0"/>
                <a:ea typeface="BIZ UDPGothic" pitchFamily="34" charset="-122"/>
                <a:cs typeface="BIZ UDPGothic" pitchFamily="34" charset="-120"/>
              </a:rPr>
              <a:t>麻痺→目が内側に寄る</a:t>
            </a:r>
            <a:endParaRPr lang="en-US" sz="1400" dirty="0"/>
          </a:p>
          <a:p>
            <a:pPr indent="0" marL="0">
              <a:lnSpc>
                <a:spcPct val="115000"/>
              </a:lnSpc>
              <a:buNone/>
            </a:pPr>
            <a:r>
              <a:rPr lang="en-US" sz="1400" dirty="0">
                <a:solidFill>
                  <a:srgbClr val="636E72"/>
                </a:solidFill>
                <a:latin typeface="BIZ UDPGothic" pitchFamily="34" charset="0"/>
                <a:ea typeface="BIZ UDPGothic" pitchFamily="34" charset="-122"/>
                <a:cs typeface="BIZ UDPGothic" pitchFamily="34" charset="-120"/>
              </a:rPr>
              <a:t>最も多い眼球運動神経麻痺</a:t>
            </a:r>
            <a:endParaRPr lang="en-US" sz="1400" dirty="0"/>
          </a:p>
        </p:txBody>
      </p:sp>
      <p:sp>
        <p:nvSpPr>
          <p:cNvPr id="22" name="Shape 20"/>
          <p:cNvSpPr/>
          <p:nvPr/>
        </p:nvSpPr>
        <p:spPr>
          <a:xfrm>
            <a:off x="0" y="4800600"/>
            <a:ext cx="9144000" cy="347472"/>
          </a:xfrm>
          <a:prstGeom prst="rect">
            <a:avLst/>
          </a:prstGeom>
          <a:solidFill>
            <a:srgbClr val="1B3A5C"/>
          </a:solidFill>
          <a:ln/>
        </p:spPr>
      </p:sp>
      <p:sp>
        <p:nvSpPr>
          <p:cNvPr id="23" name="Text 21"/>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#07</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複視の原因 ― 心配度で分類</a:t>
            </a:r>
            <a:endParaRPr lang="en-US" sz="2600" dirty="0"/>
          </a:p>
        </p:txBody>
      </p:sp>
      <p:sp>
        <p:nvSpPr>
          <p:cNvPr id="4" name="Shape 2"/>
          <p:cNvSpPr/>
          <p:nvPr/>
        </p:nvSpPr>
        <p:spPr>
          <a:xfrm>
            <a:off x="457200" y="1005840"/>
            <a:ext cx="8229600" cy="612648"/>
          </a:xfrm>
          <a:prstGeom prst="rect">
            <a:avLst>
              <a:gd name="adj" fmla="val 14925"/>
            </a:avLst>
          </a:prstGeom>
          <a:solidFill>
            <a:srgbClr val="D4EDDA"/>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05840"/>
            <a:ext cx="109728" cy="612648"/>
          </a:xfrm>
          <a:prstGeom prst="rect">
            <a:avLst>
              <a:gd name="adj" fmla="val 41667"/>
            </a:avLst>
          </a:prstGeom>
          <a:solidFill>
            <a:srgbClr val="28A745"/>
          </a:solidFill>
          <a:ln/>
        </p:spPr>
      </p:sp>
      <p:sp>
        <p:nvSpPr>
          <p:cNvPr id="6" name="Text 4"/>
          <p:cNvSpPr/>
          <p:nvPr/>
        </p:nvSpPr>
        <p:spPr>
          <a:xfrm>
            <a:off x="640080" y="1051560"/>
            <a:ext cx="1188720" cy="502920"/>
          </a:xfrm>
          <a:prstGeom prst="rect">
            <a:avLst/>
          </a:prstGeom>
          <a:noFill/>
          <a:ln/>
        </p:spPr>
        <p:txBody>
          <a:bodyPr wrap="square" lIns="0" tIns="0" rIns="0" bIns="0" rtlCol="0" anchor="ctr"/>
          <a:lstStyle/>
          <a:p>
            <a:pPr indent="0" marL="0">
              <a:buNone/>
            </a:pPr>
            <a:r>
              <a:rPr lang="en-US" sz="1500" b="1" dirty="0">
                <a:solidFill>
                  <a:srgbClr val="28A745"/>
                </a:solidFill>
                <a:latin typeface="BIZ UDPGothic" pitchFamily="34" charset="0"/>
                <a:ea typeface="BIZ UDPGothic" pitchFamily="34" charset="-122"/>
                <a:cs typeface="BIZ UDPGothic" pitchFamily="34" charset="-120"/>
              </a:rPr>
              <a:t>🟢 軽度</a:t>
            </a:r>
            <a:endParaRPr lang="en-US" sz="1500" dirty="0"/>
          </a:p>
        </p:txBody>
      </p:sp>
      <p:sp>
        <p:nvSpPr>
          <p:cNvPr id="7" name="Text 5"/>
          <p:cNvSpPr/>
          <p:nvPr/>
        </p:nvSpPr>
        <p:spPr>
          <a:xfrm>
            <a:off x="1828800" y="1051560"/>
            <a:ext cx="2743200" cy="502920"/>
          </a:xfrm>
          <a:prstGeom prst="rect">
            <a:avLst/>
          </a:prstGeom>
          <a:noFill/>
          <a:ln/>
        </p:spPr>
        <p:txBody>
          <a:bodyPr wrap="square" lIns="0" tIns="0" rIns="0" bIns="0" rtlCol="0" anchor="ctr"/>
          <a:lstStyle/>
          <a:p>
            <a:pPr indent="0" marL="0">
              <a:buNone/>
            </a:pPr>
            <a:r>
              <a:rPr lang="en-US" sz="1700" b="1" dirty="0">
                <a:solidFill>
                  <a:srgbClr val="2D3436"/>
                </a:solidFill>
                <a:latin typeface="BIZ UDPGothic" pitchFamily="34" charset="0"/>
                <a:ea typeface="BIZ UDPGothic" pitchFamily="34" charset="-122"/>
                <a:cs typeface="BIZ UDPGothic" pitchFamily="34" charset="-120"/>
              </a:rPr>
              <a:t>疲労・ドライアイ・老眼</a:t>
            </a:r>
            <a:endParaRPr lang="en-US" sz="1700" dirty="0"/>
          </a:p>
        </p:txBody>
      </p:sp>
      <p:sp>
        <p:nvSpPr>
          <p:cNvPr id="8" name="Text 6"/>
          <p:cNvSpPr/>
          <p:nvPr/>
        </p:nvSpPr>
        <p:spPr>
          <a:xfrm>
            <a:off x="4663440" y="1051560"/>
            <a:ext cx="3840480" cy="502920"/>
          </a:xfrm>
          <a:prstGeom prst="rect">
            <a:avLst/>
          </a:prstGeom>
          <a:noFill/>
          <a:ln/>
        </p:spPr>
        <p:txBody>
          <a:bodyPr wrap="square" lIns="0" tIns="0" rIns="0" bIns="0" rtlCol="0" anchor="ctr"/>
          <a:lstStyle/>
          <a:p>
            <a:pPr indent="0" marL="0">
              <a:lnSpc>
                <a:spcPct val="110000"/>
              </a:lnSpc>
              <a:buNone/>
            </a:pPr>
            <a:r>
              <a:rPr lang="en-US" sz="1400" dirty="0">
                <a:solidFill>
                  <a:srgbClr val="636E72"/>
                </a:solidFill>
                <a:latin typeface="BIZ UDPGothic" pitchFamily="34" charset="0"/>
                <a:ea typeface="BIZ UDPGothic" pitchFamily="34" charset="-122"/>
                <a:cs typeface="BIZ UDPGothic" pitchFamily="34" charset="-120"/>
              </a:rPr>
              <a:t>疲れ目や加齢による調節機能の低下。休息で改善</a:t>
            </a:r>
            <a:endParaRPr lang="en-US" sz="1400" dirty="0"/>
          </a:p>
        </p:txBody>
      </p:sp>
      <p:sp>
        <p:nvSpPr>
          <p:cNvPr id="9" name="Shape 7"/>
          <p:cNvSpPr/>
          <p:nvPr/>
        </p:nvSpPr>
        <p:spPr>
          <a:xfrm>
            <a:off x="457200" y="1737360"/>
            <a:ext cx="8229600" cy="612648"/>
          </a:xfrm>
          <a:prstGeom prst="rect">
            <a:avLst>
              <a:gd name="adj" fmla="val 14925"/>
            </a:avLst>
          </a:prstGeom>
          <a:solidFill>
            <a:srgbClr val="FFF3CD"/>
          </a:solidFill>
          <a:ln/>
          <a:effectLst>
            <a:outerShdw sx="100000" sy="100000" kx="0" ky="0" algn="bl" rotWithShape="0" blurRad="50800" dist="25400" dir="8100000">
              <a:srgbClr val="000000">
                <a:alpha val="12000"/>
              </a:srgbClr>
            </a:outerShdw>
          </a:effectLst>
        </p:spPr>
      </p:sp>
      <p:sp>
        <p:nvSpPr>
          <p:cNvPr id="10" name="Shape 8"/>
          <p:cNvSpPr/>
          <p:nvPr/>
        </p:nvSpPr>
        <p:spPr>
          <a:xfrm>
            <a:off x="457200" y="1737360"/>
            <a:ext cx="109728" cy="612648"/>
          </a:xfrm>
          <a:prstGeom prst="rect">
            <a:avLst>
              <a:gd name="adj" fmla="val 41667"/>
            </a:avLst>
          </a:prstGeom>
          <a:solidFill>
            <a:srgbClr val="856404"/>
          </a:solidFill>
          <a:ln/>
        </p:spPr>
      </p:sp>
      <p:sp>
        <p:nvSpPr>
          <p:cNvPr id="11" name="Text 9"/>
          <p:cNvSpPr/>
          <p:nvPr/>
        </p:nvSpPr>
        <p:spPr>
          <a:xfrm>
            <a:off x="640080" y="1783080"/>
            <a:ext cx="1188720" cy="502920"/>
          </a:xfrm>
          <a:prstGeom prst="rect">
            <a:avLst/>
          </a:prstGeom>
          <a:noFill/>
          <a:ln/>
        </p:spPr>
        <p:txBody>
          <a:bodyPr wrap="square" lIns="0" tIns="0" rIns="0" bIns="0" rtlCol="0" anchor="ctr"/>
          <a:lstStyle/>
          <a:p>
            <a:pPr indent="0" marL="0">
              <a:buNone/>
            </a:pPr>
            <a:r>
              <a:rPr lang="en-US" sz="1500" b="1" dirty="0">
                <a:solidFill>
                  <a:srgbClr val="856404"/>
                </a:solidFill>
                <a:latin typeface="BIZ UDPGothic" pitchFamily="34" charset="0"/>
                <a:ea typeface="BIZ UDPGothic" pitchFamily="34" charset="-122"/>
                <a:cs typeface="BIZ UDPGothic" pitchFamily="34" charset="-120"/>
              </a:rPr>
              <a:t>🟡 要注意</a:t>
            </a:r>
            <a:endParaRPr lang="en-US" sz="1500" dirty="0"/>
          </a:p>
        </p:txBody>
      </p:sp>
      <p:sp>
        <p:nvSpPr>
          <p:cNvPr id="12" name="Text 10"/>
          <p:cNvSpPr/>
          <p:nvPr/>
        </p:nvSpPr>
        <p:spPr>
          <a:xfrm>
            <a:off x="1828800" y="1783080"/>
            <a:ext cx="2743200" cy="502920"/>
          </a:xfrm>
          <a:prstGeom prst="rect">
            <a:avLst/>
          </a:prstGeom>
          <a:noFill/>
          <a:ln/>
        </p:spPr>
        <p:txBody>
          <a:bodyPr wrap="square" lIns="0" tIns="0" rIns="0" bIns="0" rtlCol="0" anchor="ctr"/>
          <a:lstStyle/>
          <a:p>
            <a:pPr indent="0" marL="0">
              <a:buNone/>
            </a:pPr>
            <a:r>
              <a:rPr lang="en-US" sz="1700" b="1" dirty="0">
                <a:solidFill>
                  <a:srgbClr val="2D3436"/>
                </a:solidFill>
                <a:latin typeface="BIZ UDPGothic" pitchFamily="34" charset="0"/>
                <a:ea typeface="BIZ UDPGothic" pitchFamily="34" charset="-122"/>
                <a:cs typeface="BIZ UDPGothic" pitchFamily="34" charset="-120"/>
              </a:rPr>
              <a:t>糖尿病性神経障害</a:t>
            </a:r>
            <a:endParaRPr lang="en-US" sz="1700" dirty="0"/>
          </a:p>
        </p:txBody>
      </p:sp>
      <p:sp>
        <p:nvSpPr>
          <p:cNvPr id="13" name="Text 11"/>
          <p:cNvSpPr/>
          <p:nvPr/>
        </p:nvSpPr>
        <p:spPr>
          <a:xfrm>
            <a:off x="4663440" y="1783080"/>
            <a:ext cx="3840480" cy="502920"/>
          </a:xfrm>
          <a:prstGeom prst="rect">
            <a:avLst/>
          </a:prstGeom>
          <a:noFill/>
          <a:ln/>
        </p:spPr>
        <p:txBody>
          <a:bodyPr wrap="square" lIns="0" tIns="0" rIns="0" bIns="0" rtlCol="0" anchor="ctr"/>
          <a:lstStyle/>
          <a:p>
            <a:pPr indent="0" marL="0">
              <a:lnSpc>
                <a:spcPct val="110000"/>
              </a:lnSpc>
              <a:buNone/>
            </a:pPr>
            <a:r>
              <a:rPr lang="en-US" sz="1400" dirty="0">
                <a:solidFill>
                  <a:srgbClr val="636E72"/>
                </a:solidFill>
                <a:latin typeface="BIZ UDPGothic" pitchFamily="34" charset="0"/>
                <a:ea typeface="BIZ UDPGothic" pitchFamily="34" charset="-122"/>
                <a:cs typeface="BIZ UDPGothic" pitchFamily="34" charset="-120"/>
              </a:rPr>
              <a:t>高血糖が眼球運動神経を障害。糖尿病の合併症で最多</a:t>
            </a:r>
            <a:endParaRPr lang="en-US" sz="1400" dirty="0"/>
          </a:p>
        </p:txBody>
      </p:sp>
      <p:sp>
        <p:nvSpPr>
          <p:cNvPr id="14" name="Shape 12"/>
          <p:cNvSpPr/>
          <p:nvPr/>
        </p:nvSpPr>
        <p:spPr>
          <a:xfrm>
            <a:off x="457200" y="2468880"/>
            <a:ext cx="8229600" cy="612648"/>
          </a:xfrm>
          <a:prstGeom prst="rect">
            <a:avLst>
              <a:gd name="adj" fmla="val 14925"/>
            </a:avLst>
          </a:prstGeom>
          <a:solidFill>
            <a:srgbClr val="FFF3CD"/>
          </a:solidFill>
          <a:ln/>
          <a:effectLst>
            <a:outerShdw sx="100000" sy="100000" kx="0" ky="0" algn="bl" rotWithShape="0" blurRad="50800" dist="25400" dir="8100000">
              <a:srgbClr val="000000">
                <a:alpha val="12000"/>
              </a:srgbClr>
            </a:outerShdw>
          </a:effectLst>
        </p:spPr>
      </p:sp>
      <p:sp>
        <p:nvSpPr>
          <p:cNvPr id="15" name="Shape 13"/>
          <p:cNvSpPr/>
          <p:nvPr/>
        </p:nvSpPr>
        <p:spPr>
          <a:xfrm>
            <a:off x="457200" y="2468880"/>
            <a:ext cx="109728" cy="612648"/>
          </a:xfrm>
          <a:prstGeom prst="rect">
            <a:avLst>
              <a:gd name="adj" fmla="val 41667"/>
            </a:avLst>
          </a:prstGeom>
          <a:solidFill>
            <a:srgbClr val="856404"/>
          </a:solidFill>
          <a:ln/>
        </p:spPr>
      </p:sp>
      <p:sp>
        <p:nvSpPr>
          <p:cNvPr id="16" name="Text 14"/>
          <p:cNvSpPr/>
          <p:nvPr/>
        </p:nvSpPr>
        <p:spPr>
          <a:xfrm>
            <a:off x="640080" y="2514600"/>
            <a:ext cx="1188720" cy="502920"/>
          </a:xfrm>
          <a:prstGeom prst="rect">
            <a:avLst/>
          </a:prstGeom>
          <a:noFill/>
          <a:ln/>
        </p:spPr>
        <p:txBody>
          <a:bodyPr wrap="square" lIns="0" tIns="0" rIns="0" bIns="0" rtlCol="0" anchor="ctr"/>
          <a:lstStyle/>
          <a:p>
            <a:pPr indent="0" marL="0">
              <a:buNone/>
            </a:pPr>
            <a:r>
              <a:rPr lang="en-US" sz="1500" b="1" dirty="0">
                <a:solidFill>
                  <a:srgbClr val="856404"/>
                </a:solidFill>
                <a:latin typeface="BIZ UDPGothic" pitchFamily="34" charset="0"/>
                <a:ea typeface="BIZ UDPGothic" pitchFamily="34" charset="-122"/>
                <a:cs typeface="BIZ UDPGothic" pitchFamily="34" charset="-120"/>
              </a:rPr>
              <a:t>🟡 要注意</a:t>
            </a:r>
            <a:endParaRPr lang="en-US" sz="1500" dirty="0"/>
          </a:p>
        </p:txBody>
      </p:sp>
      <p:sp>
        <p:nvSpPr>
          <p:cNvPr id="17" name="Text 15"/>
          <p:cNvSpPr/>
          <p:nvPr/>
        </p:nvSpPr>
        <p:spPr>
          <a:xfrm>
            <a:off x="1828800" y="2514600"/>
            <a:ext cx="2743200" cy="502920"/>
          </a:xfrm>
          <a:prstGeom prst="rect">
            <a:avLst/>
          </a:prstGeom>
          <a:noFill/>
          <a:ln/>
        </p:spPr>
        <p:txBody>
          <a:bodyPr wrap="square" lIns="0" tIns="0" rIns="0" bIns="0" rtlCol="0" anchor="ctr"/>
          <a:lstStyle/>
          <a:p>
            <a:pPr indent="0" marL="0">
              <a:buNone/>
            </a:pPr>
            <a:r>
              <a:rPr lang="en-US" sz="1700" b="1" dirty="0">
                <a:solidFill>
                  <a:srgbClr val="2D3436"/>
                </a:solidFill>
                <a:latin typeface="BIZ UDPGothic" pitchFamily="34" charset="0"/>
                <a:ea typeface="BIZ UDPGothic" pitchFamily="34" charset="-122"/>
                <a:cs typeface="BIZ UDPGothic" pitchFamily="34" charset="-120"/>
              </a:rPr>
              <a:t>甲状腺眼症（バセドウ病眼症）</a:t>
            </a:r>
            <a:endParaRPr lang="en-US" sz="1700" dirty="0"/>
          </a:p>
        </p:txBody>
      </p:sp>
      <p:sp>
        <p:nvSpPr>
          <p:cNvPr id="18" name="Text 16"/>
          <p:cNvSpPr/>
          <p:nvPr/>
        </p:nvSpPr>
        <p:spPr>
          <a:xfrm>
            <a:off x="4663440" y="2514600"/>
            <a:ext cx="3840480" cy="502920"/>
          </a:xfrm>
          <a:prstGeom prst="rect">
            <a:avLst/>
          </a:prstGeom>
          <a:noFill/>
          <a:ln/>
        </p:spPr>
        <p:txBody>
          <a:bodyPr wrap="square" lIns="0" tIns="0" rIns="0" bIns="0" rtlCol="0" anchor="ctr"/>
          <a:lstStyle/>
          <a:p>
            <a:pPr indent="0" marL="0">
              <a:lnSpc>
                <a:spcPct val="110000"/>
              </a:lnSpc>
              <a:buNone/>
            </a:pPr>
            <a:r>
              <a:rPr lang="en-US" sz="1400" dirty="0">
                <a:solidFill>
                  <a:srgbClr val="636E72"/>
                </a:solidFill>
                <a:latin typeface="BIZ UDPGothic" pitchFamily="34" charset="0"/>
                <a:ea typeface="BIZ UDPGothic" pitchFamily="34" charset="-122"/>
                <a:cs typeface="BIZ UDPGothic" pitchFamily="34" charset="-120"/>
              </a:rPr>
              <a:t>甲状腺の異常で眼球周囲の筋肉が腫れる</a:t>
            </a:r>
            <a:endParaRPr lang="en-US" sz="1400" dirty="0"/>
          </a:p>
        </p:txBody>
      </p:sp>
      <p:sp>
        <p:nvSpPr>
          <p:cNvPr id="19" name="Shape 17"/>
          <p:cNvSpPr/>
          <p:nvPr/>
        </p:nvSpPr>
        <p:spPr>
          <a:xfrm>
            <a:off x="457200" y="3200400"/>
            <a:ext cx="8229600" cy="612648"/>
          </a:xfrm>
          <a:prstGeom prst="rect">
            <a:avLst>
              <a:gd name="adj" fmla="val 14925"/>
            </a:avLst>
          </a:prstGeom>
          <a:solidFill>
            <a:srgbClr val="FFF3CD"/>
          </a:solidFill>
          <a:ln/>
          <a:effectLst>
            <a:outerShdw sx="100000" sy="100000" kx="0" ky="0" algn="bl" rotWithShape="0" blurRad="50800" dist="25400" dir="8100000">
              <a:srgbClr val="000000">
                <a:alpha val="12000"/>
              </a:srgbClr>
            </a:outerShdw>
          </a:effectLst>
        </p:spPr>
      </p:sp>
      <p:sp>
        <p:nvSpPr>
          <p:cNvPr id="20" name="Shape 18"/>
          <p:cNvSpPr/>
          <p:nvPr/>
        </p:nvSpPr>
        <p:spPr>
          <a:xfrm>
            <a:off x="457200" y="3200400"/>
            <a:ext cx="109728" cy="612648"/>
          </a:xfrm>
          <a:prstGeom prst="rect">
            <a:avLst>
              <a:gd name="adj" fmla="val 41667"/>
            </a:avLst>
          </a:prstGeom>
          <a:solidFill>
            <a:srgbClr val="856404"/>
          </a:solidFill>
          <a:ln/>
        </p:spPr>
      </p:sp>
      <p:sp>
        <p:nvSpPr>
          <p:cNvPr id="21" name="Text 19"/>
          <p:cNvSpPr/>
          <p:nvPr/>
        </p:nvSpPr>
        <p:spPr>
          <a:xfrm>
            <a:off x="640080" y="3246120"/>
            <a:ext cx="1188720" cy="502920"/>
          </a:xfrm>
          <a:prstGeom prst="rect">
            <a:avLst/>
          </a:prstGeom>
          <a:noFill/>
          <a:ln/>
        </p:spPr>
        <p:txBody>
          <a:bodyPr wrap="square" lIns="0" tIns="0" rIns="0" bIns="0" rtlCol="0" anchor="ctr"/>
          <a:lstStyle/>
          <a:p>
            <a:pPr indent="0" marL="0">
              <a:buNone/>
            </a:pPr>
            <a:r>
              <a:rPr lang="en-US" sz="1500" b="1" dirty="0">
                <a:solidFill>
                  <a:srgbClr val="856404"/>
                </a:solidFill>
                <a:latin typeface="BIZ UDPGothic" pitchFamily="34" charset="0"/>
                <a:ea typeface="BIZ UDPGothic" pitchFamily="34" charset="-122"/>
                <a:cs typeface="BIZ UDPGothic" pitchFamily="34" charset="-120"/>
              </a:rPr>
              <a:t>🟡 要注意</a:t>
            </a:r>
            <a:endParaRPr lang="en-US" sz="1500" dirty="0"/>
          </a:p>
        </p:txBody>
      </p:sp>
      <p:sp>
        <p:nvSpPr>
          <p:cNvPr id="22" name="Text 20"/>
          <p:cNvSpPr/>
          <p:nvPr/>
        </p:nvSpPr>
        <p:spPr>
          <a:xfrm>
            <a:off x="1828800" y="3246120"/>
            <a:ext cx="2743200" cy="502920"/>
          </a:xfrm>
          <a:prstGeom prst="rect">
            <a:avLst/>
          </a:prstGeom>
          <a:noFill/>
          <a:ln/>
        </p:spPr>
        <p:txBody>
          <a:bodyPr wrap="square" lIns="0" tIns="0" rIns="0" bIns="0" rtlCol="0" anchor="ctr"/>
          <a:lstStyle/>
          <a:p>
            <a:pPr indent="0" marL="0">
              <a:buNone/>
            </a:pPr>
            <a:r>
              <a:rPr lang="en-US" sz="1700" b="1" dirty="0">
                <a:solidFill>
                  <a:srgbClr val="2D3436"/>
                </a:solidFill>
                <a:latin typeface="BIZ UDPGothic" pitchFamily="34" charset="0"/>
                <a:ea typeface="BIZ UDPGothic" pitchFamily="34" charset="-122"/>
                <a:cs typeface="BIZ UDPGothic" pitchFamily="34" charset="-120"/>
              </a:rPr>
              <a:t>重症筋無力症</a:t>
            </a:r>
            <a:endParaRPr lang="en-US" sz="1700" dirty="0"/>
          </a:p>
        </p:txBody>
      </p:sp>
      <p:sp>
        <p:nvSpPr>
          <p:cNvPr id="23" name="Text 21"/>
          <p:cNvSpPr/>
          <p:nvPr/>
        </p:nvSpPr>
        <p:spPr>
          <a:xfrm>
            <a:off x="4663440" y="3246120"/>
            <a:ext cx="3840480" cy="502920"/>
          </a:xfrm>
          <a:prstGeom prst="rect">
            <a:avLst/>
          </a:prstGeom>
          <a:noFill/>
          <a:ln/>
        </p:spPr>
        <p:txBody>
          <a:bodyPr wrap="square" lIns="0" tIns="0" rIns="0" bIns="0" rtlCol="0" anchor="ctr"/>
          <a:lstStyle/>
          <a:p>
            <a:pPr indent="0" marL="0">
              <a:lnSpc>
                <a:spcPct val="110000"/>
              </a:lnSpc>
              <a:buNone/>
            </a:pPr>
            <a:r>
              <a:rPr lang="en-US" sz="1400" dirty="0">
                <a:solidFill>
                  <a:srgbClr val="636E72"/>
                </a:solidFill>
                <a:latin typeface="BIZ UDPGothic" pitchFamily="34" charset="0"/>
                <a:ea typeface="BIZ UDPGothic" pitchFamily="34" charset="-122"/>
                <a:cs typeface="BIZ UDPGothic" pitchFamily="34" charset="-120"/>
              </a:rPr>
              <a:t>夕方に悪化する複視＋まぶた下垂が特徴</a:t>
            </a:r>
            <a:endParaRPr lang="en-US" sz="1400" dirty="0"/>
          </a:p>
        </p:txBody>
      </p:sp>
      <p:sp>
        <p:nvSpPr>
          <p:cNvPr id="24" name="Shape 22"/>
          <p:cNvSpPr/>
          <p:nvPr/>
        </p:nvSpPr>
        <p:spPr>
          <a:xfrm>
            <a:off x="457200" y="3931920"/>
            <a:ext cx="8229600" cy="612648"/>
          </a:xfrm>
          <a:prstGeom prst="rect">
            <a:avLst>
              <a:gd name="adj" fmla="val 14925"/>
            </a:avLst>
          </a:prstGeom>
          <a:solidFill>
            <a:srgbClr val="F8D7DA"/>
          </a:solidFill>
          <a:ln/>
          <a:effectLst>
            <a:outerShdw sx="100000" sy="100000" kx="0" ky="0" algn="bl" rotWithShape="0" blurRad="50800" dist="25400" dir="8100000">
              <a:srgbClr val="000000">
                <a:alpha val="12000"/>
              </a:srgbClr>
            </a:outerShdw>
          </a:effectLst>
        </p:spPr>
      </p:sp>
      <p:sp>
        <p:nvSpPr>
          <p:cNvPr id="25" name="Shape 23"/>
          <p:cNvSpPr/>
          <p:nvPr/>
        </p:nvSpPr>
        <p:spPr>
          <a:xfrm>
            <a:off x="457200" y="3931920"/>
            <a:ext cx="109728" cy="612648"/>
          </a:xfrm>
          <a:prstGeom prst="rect">
            <a:avLst>
              <a:gd name="adj" fmla="val 41667"/>
            </a:avLst>
          </a:prstGeom>
          <a:solidFill>
            <a:srgbClr val="DC3545"/>
          </a:solidFill>
          <a:ln/>
        </p:spPr>
      </p:sp>
      <p:sp>
        <p:nvSpPr>
          <p:cNvPr id="26" name="Text 24"/>
          <p:cNvSpPr/>
          <p:nvPr/>
        </p:nvSpPr>
        <p:spPr>
          <a:xfrm>
            <a:off x="640080" y="3977640"/>
            <a:ext cx="1188720" cy="502920"/>
          </a:xfrm>
          <a:prstGeom prst="rect">
            <a:avLst/>
          </a:prstGeom>
          <a:noFill/>
          <a:ln/>
        </p:spPr>
        <p:txBody>
          <a:bodyPr wrap="square" lIns="0" tIns="0" rIns="0" bIns="0" rtlCol="0" anchor="ctr"/>
          <a:lstStyle/>
          <a:p>
            <a:pPr indent="0" marL="0">
              <a:buNone/>
            </a:pPr>
            <a:r>
              <a:rPr lang="en-US" sz="1500" b="1" dirty="0">
                <a:solidFill>
                  <a:srgbClr val="DC3545"/>
                </a:solidFill>
                <a:latin typeface="BIZ UDPGothic" pitchFamily="34" charset="0"/>
                <a:ea typeface="BIZ UDPGothic" pitchFamily="34" charset="-122"/>
                <a:cs typeface="BIZ UDPGothic" pitchFamily="34" charset="-120"/>
              </a:rPr>
              <a:t>🔴 緊急</a:t>
            </a:r>
            <a:endParaRPr lang="en-US" sz="1500" dirty="0"/>
          </a:p>
        </p:txBody>
      </p:sp>
      <p:sp>
        <p:nvSpPr>
          <p:cNvPr id="27" name="Text 25"/>
          <p:cNvSpPr/>
          <p:nvPr/>
        </p:nvSpPr>
        <p:spPr>
          <a:xfrm>
            <a:off x="1828800" y="3977640"/>
            <a:ext cx="2743200" cy="502920"/>
          </a:xfrm>
          <a:prstGeom prst="rect">
            <a:avLst/>
          </a:prstGeom>
          <a:noFill/>
          <a:ln/>
        </p:spPr>
        <p:txBody>
          <a:bodyPr wrap="square" lIns="0" tIns="0" rIns="0" bIns="0" rtlCol="0" anchor="ctr"/>
          <a:lstStyle/>
          <a:p>
            <a:pPr indent="0" marL="0">
              <a:buNone/>
            </a:pPr>
            <a:r>
              <a:rPr lang="en-US" sz="1700" b="1" dirty="0">
                <a:solidFill>
                  <a:srgbClr val="2D3436"/>
                </a:solidFill>
                <a:latin typeface="BIZ UDPGothic" pitchFamily="34" charset="0"/>
                <a:ea typeface="BIZ UDPGothic" pitchFamily="34" charset="-122"/>
                <a:cs typeface="BIZ UDPGothic" pitchFamily="34" charset="-120"/>
              </a:rPr>
              <a:t>脳動脈瘤・脳卒中・脳腫瘍</a:t>
            </a:r>
            <a:endParaRPr lang="en-US" sz="1700" dirty="0"/>
          </a:p>
        </p:txBody>
      </p:sp>
      <p:sp>
        <p:nvSpPr>
          <p:cNvPr id="28" name="Text 26"/>
          <p:cNvSpPr/>
          <p:nvPr/>
        </p:nvSpPr>
        <p:spPr>
          <a:xfrm>
            <a:off x="4663440" y="3977640"/>
            <a:ext cx="3840480" cy="502920"/>
          </a:xfrm>
          <a:prstGeom prst="rect">
            <a:avLst/>
          </a:prstGeom>
          <a:noFill/>
          <a:ln/>
        </p:spPr>
        <p:txBody>
          <a:bodyPr wrap="square" lIns="0" tIns="0" rIns="0" bIns="0" rtlCol="0" anchor="ctr"/>
          <a:lstStyle/>
          <a:p>
            <a:pPr indent="0" marL="0">
              <a:lnSpc>
                <a:spcPct val="110000"/>
              </a:lnSpc>
              <a:buNone/>
            </a:pPr>
            <a:r>
              <a:rPr lang="en-US" sz="1400" dirty="0">
                <a:solidFill>
                  <a:srgbClr val="636E72"/>
                </a:solidFill>
                <a:latin typeface="BIZ UDPGothic" pitchFamily="34" charset="0"/>
                <a:ea typeface="BIZ UDPGothic" pitchFamily="34" charset="-122"/>
                <a:cs typeface="BIZ UDPGothic" pitchFamily="34" charset="-120"/>
              </a:rPr>
              <a:t>突然の複視＋頭痛・瞳孔異常は緊急。脳の血管や腫瘍が原因</a:t>
            </a:r>
            <a:endParaRPr lang="en-US" sz="1400" dirty="0"/>
          </a:p>
        </p:txBody>
      </p:sp>
      <p:sp>
        <p:nvSpPr>
          <p:cNvPr id="29" name="Shape 27"/>
          <p:cNvSpPr/>
          <p:nvPr/>
        </p:nvSpPr>
        <p:spPr>
          <a:xfrm>
            <a:off x="0" y="4800600"/>
            <a:ext cx="9144000" cy="347472"/>
          </a:xfrm>
          <a:prstGeom prst="rect">
            <a:avLst/>
          </a:prstGeom>
          <a:solidFill>
            <a:srgbClr val="1B3A5C"/>
          </a:solidFill>
          <a:ln/>
        </p:spPr>
      </p:sp>
      <p:sp>
        <p:nvSpPr>
          <p:cNvPr id="30" name="Text 28"/>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#07</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見逃されやすい原因 ― 重症筋無力症</a:t>
            </a:r>
            <a:endParaRPr lang="en-US" sz="2600" dirty="0"/>
          </a:p>
        </p:txBody>
      </p:sp>
      <p:sp>
        <p:nvSpPr>
          <p:cNvPr id="4" name="Shape 2"/>
          <p:cNvSpPr/>
          <p:nvPr/>
        </p:nvSpPr>
        <p:spPr>
          <a:xfrm>
            <a:off x="457200" y="1005840"/>
            <a:ext cx="8229600" cy="731520"/>
          </a:xfrm>
          <a:prstGeom prst="rect">
            <a:avLst>
              <a:gd name="adj" fmla="val 12500"/>
            </a:avLst>
          </a:prstGeom>
          <a:solidFill>
            <a:srgbClr val="FFF3CD"/>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05840"/>
            <a:ext cx="109728" cy="731520"/>
          </a:xfrm>
          <a:prstGeom prst="rect">
            <a:avLst>
              <a:gd name="adj" fmla="val 41667"/>
            </a:avLst>
          </a:prstGeom>
          <a:solidFill>
            <a:srgbClr val="E8850C"/>
          </a:solidFill>
          <a:ln/>
        </p:spPr>
      </p:sp>
      <p:sp>
        <p:nvSpPr>
          <p:cNvPr id="6" name="Text 4"/>
          <p:cNvSpPr/>
          <p:nvPr/>
        </p:nvSpPr>
        <p:spPr>
          <a:xfrm>
            <a:off x="731520" y="1051560"/>
            <a:ext cx="7772400" cy="320040"/>
          </a:xfrm>
          <a:prstGeom prst="rect">
            <a:avLst/>
          </a:prstGeom>
          <a:noFill/>
          <a:ln/>
        </p:spPr>
        <p:txBody>
          <a:bodyPr wrap="square" lIns="0" tIns="0" rIns="0" bIns="0" rtlCol="0" anchor="ctr"/>
          <a:lstStyle/>
          <a:p>
            <a:pPr indent="0" marL="0">
              <a:buNone/>
            </a:pPr>
            <a:r>
              <a:rPr lang="en-US" sz="1900" b="1" dirty="0">
                <a:solidFill>
                  <a:srgbClr val="E8850C"/>
                </a:solidFill>
                <a:latin typeface="BIZ UDPGothic" pitchFamily="34" charset="0"/>
                <a:ea typeface="BIZ UDPGothic" pitchFamily="34" charset="-122"/>
                <a:cs typeface="BIZ UDPGothic" pitchFamily="34" charset="-120"/>
              </a:rPr>
              <a:t>複視＋まぶた下垂が夕方に悪化 → 重症筋無力症を疑う</a:t>
            </a:r>
            <a:endParaRPr lang="en-US" sz="1900" dirty="0"/>
          </a:p>
        </p:txBody>
      </p:sp>
      <p:sp>
        <p:nvSpPr>
          <p:cNvPr id="7" name="Text 5"/>
          <p:cNvSpPr/>
          <p:nvPr/>
        </p:nvSpPr>
        <p:spPr>
          <a:xfrm>
            <a:off x="731520" y="1417320"/>
            <a:ext cx="7772400" cy="274320"/>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神経と筋肉の接合部（神経筋接合部）に自己抗体ができる自己免疫疾患</a:t>
            </a:r>
            <a:endParaRPr lang="en-US" sz="1500" dirty="0"/>
          </a:p>
        </p:txBody>
      </p:sp>
      <p:sp>
        <p:nvSpPr>
          <p:cNvPr id="8" name="Shape 6"/>
          <p:cNvSpPr/>
          <p:nvPr/>
        </p:nvSpPr>
        <p:spPr>
          <a:xfrm>
            <a:off x="365760" y="1965960"/>
            <a:ext cx="4114800" cy="1097280"/>
          </a:xfrm>
          <a:prstGeom prst="rect">
            <a:avLst>
              <a:gd name="adj" fmla="val 8333"/>
            </a:avLst>
          </a:prstGeom>
          <a:solidFill>
            <a:srgbClr val="FFFFFF"/>
          </a:solidFill>
          <a:ln/>
          <a:effectLst>
            <a:outerShdw sx="100000" sy="100000" kx="0" ky="0" algn="bl" rotWithShape="0" blurRad="50800" dist="25400" dir="8100000">
              <a:srgbClr val="000000">
                <a:alpha val="12000"/>
              </a:srgbClr>
            </a:outerShdw>
          </a:effectLst>
        </p:spPr>
      </p:sp>
      <p:sp>
        <p:nvSpPr>
          <p:cNvPr id="9" name="Shape 7"/>
          <p:cNvSpPr/>
          <p:nvPr/>
        </p:nvSpPr>
        <p:spPr>
          <a:xfrm>
            <a:off x="365760" y="1965960"/>
            <a:ext cx="109728" cy="1097280"/>
          </a:xfrm>
          <a:prstGeom prst="rect">
            <a:avLst>
              <a:gd name="adj" fmla="val 41667"/>
            </a:avLst>
          </a:prstGeom>
          <a:solidFill>
            <a:srgbClr val="2C5AA0"/>
          </a:solidFill>
          <a:ln/>
        </p:spPr>
      </p:sp>
      <p:sp>
        <p:nvSpPr>
          <p:cNvPr id="10" name="Text 8"/>
          <p:cNvSpPr/>
          <p:nvPr/>
        </p:nvSpPr>
        <p:spPr>
          <a:xfrm>
            <a:off x="548640" y="2039112"/>
            <a:ext cx="54864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1" name="Text 9"/>
          <p:cNvSpPr/>
          <p:nvPr/>
        </p:nvSpPr>
        <p:spPr>
          <a:xfrm>
            <a:off x="1097280" y="2039112"/>
            <a:ext cx="3108960" cy="365760"/>
          </a:xfrm>
          <a:prstGeom prst="rect">
            <a:avLst/>
          </a:prstGeom>
          <a:noFill/>
          <a:ln/>
        </p:spPr>
        <p:txBody>
          <a:bodyPr wrap="square" lIns="0" tIns="0" rIns="0" bIns="0" rtlCol="0" anchor="ctr"/>
          <a:lstStyle/>
          <a:p>
            <a:pPr indent="0" marL="0">
              <a:buNone/>
            </a:pPr>
            <a:r>
              <a:rPr lang="en-US" sz="1700" b="1" dirty="0">
                <a:solidFill>
                  <a:srgbClr val="2C5AA0"/>
                </a:solidFill>
                <a:latin typeface="BIZ UDPGothic" pitchFamily="34" charset="0"/>
                <a:ea typeface="BIZ UDPGothic" pitchFamily="34" charset="-122"/>
                <a:cs typeface="BIZ UDPGothic" pitchFamily="34" charset="-120"/>
              </a:rPr>
              <a:t>夕方に悪化（日内変動）</a:t>
            </a:r>
            <a:endParaRPr lang="en-US" sz="1700" dirty="0"/>
          </a:p>
        </p:txBody>
      </p:sp>
      <p:sp>
        <p:nvSpPr>
          <p:cNvPr id="12" name="Text 10"/>
          <p:cNvSpPr/>
          <p:nvPr/>
        </p:nvSpPr>
        <p:spPr>
          <a:xfrm>
            <a:off x="1097280" y="2423160"/>
            <a:ext cx="3108960" cy="548640"/>
          </a:xfrm>
          <a:prstGeom prst="rect">
            <a:avLst/>
          </a:prstGeom>
          <a:noFill/>
          <a:ln/>
        </p:spPr>
        <p:txBody>
          <a:bodyPr wrap="square" lIns="0" tIns="0" rIns="0" bIns="0" rtlCol="0" anchor="ctr"/>
          <a:lstStyle/>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朝は比較的良く、夕方〜夜に</a:t>
            </a:r>
            <a:endParaRPr lang="en-US" sz="1400" dirty="0"/>
          </a:p>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症状が悪化するのが特徴的</a:t>
            </a:r>
            <a:endParaRPr lang="en-US" sz="1400" dirty="0"/>
          </a:p>
        </p:txBody>
      </p:sp>
      <p:sp>
        <p:nvSpPr>
          <p:cNvPr id="13" name="Shape 11"/>
          <p:cNvSpPr/>
          <p:nvPr/>
        </p:nvSpPr>
        <p:spPr>
          <a:xfrm>
            <a:off x="4754880" y="1965960"/>
            <a:ext cx="4114800" cy="1097280"/>
          </a:xfrm>
          <a:prstGeom prst="rect">
            <a:avLst>
              <a:gd name="adj" fmla="val 8333"/>
            </a:avLst>
          </a:prstGeom>
          <a:solidFill>
            <a:srgbClr val="FFFFFF"/>
          </a:solidFill>
          <a:ln/>
          <a:effectLst>
            <a:outerShdw sx="100000" sy="100000" kx="0" ky="0" algn="bl" rotWithShape="0" blurRad="50800" dist="25400" dir="8100000">
              <a:srgbClr val="000000">
                <a:alpha val="12000"/>
              </a:srgbClr>
            </a:outerShdw>
          </a:effectLst>
        </p:spPr>
      </p:sp>
      <p:sp>
        <p:nvSpPr>
          <p:cNvPr id="14" name="Shape 12"/>
          <p:cNvSpPr/>
          <p:nvPr/>
        </p:nvSpPr>
        <p:spPr>
          <a:xfrm>
            <a:off x="4754880" y="1965960"/>
            <a:ext cx="109728" cy="1097280"/>
          </a:xfrm>
          <a:prstGeom prst="rect">
            <a:avLst>
              <a:gd name="adj" fmla="val 41667"/>
            </a:avLst>
          </a:prstGeom>
          <a:solidFill>
            <a:srgbClr val="2C5AA0"/>
          </a:solidFill>
          <a:ln/>
        </p:spPr>
      </p:sp>
      <p:sp>
        <p:nvSpPr>
          <p:cNvPr id="15" name="Text 13"/>
          <p:cNvSpPr/>
          <p:nvPr/>
        </p:nvSpPr>
        <p:spPr>
          <a:xfrm>
            <a:off x="4937760" y="2039112"/>
            <a:ext cx="54864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Text 14"/>
          <p:cNvSpPr/>
          <p:nvPr/>
        </p:nvSpPr>
        <p:spPr>
          <a:xfrm>
            <a:off x="5486400" y="2039112"/>
            <a:ext cx="3108960" cy="365760"/>
          </a:xfrm>
          <a:prstGeom prst="rect">
            <a:avLst/>
          </a:prstGeom>
          <a:noFill/>
          <a:ln/>
        </p:spPr>
        <p:txBody>
          <a:bodyPr wrap="square" lIns="0" tIns="0" rIns="0" bIns="0" rtlCol="0" anchor="ctr"/>
          <a:lstStyle/>
          <a:p>
            <a:pPr indent="0" marL="0">
              <a:buNone/>
            </a:pPr>
            <a:r>
              <a:rPr lang="en-US" sz="1700" b="1" dirty="0">
                <a:solidFill>
                  <a:srgbClr val="2C5AA0"/>
                </a:solidFill>
                <a:latin typeface="BIZ UDPGothic" pitchFamily="34" charset="0"/>
                <a:ea typeface="BIZ UDPGothic" pitchFamily="34" charset="-122"/>
                <a:cs typeface="BIZ UDPGothic" pitchFamily="34" charset="-120"/>
              </a:rPr>
              <a:t>休むと改善</a:t>
            </a:r>
            <a:endParaRPr lang="en-US" sz="1700" dirty="0"/>
          </a:p>
        </p:txBody>
      </p:sp>
      <p:sp>
        <p:nvSpPr>
          <p:cNvPr id="17" name="Text 15"/>
          <p:cNvSpPr/>
          <p:nvPr/>
        </p:nvSpPr>
        <p:spPr>
          <a:xfrm>
            <a:off x="5486400" y="2423160"/>
            <a:ext cx="3108960" cy="548640"/>
          </a:xfrm>
          <a:prstGeom prst="rect">
            <a:avLst/>
          </a:prstGeom>
          <a:noFill/>
          <a:ln/>
        </p:spPr>
        <p:txBody>
          <a:bodyPr wrap="square" lIns="0" tIns="0" rIns="0" bIns="0" rtlCol="0" anchor="ctr"/>
          <a:lstStyle/>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目を閉じて休憩すると</a:t>
            </a:r>
            <a:endParaRPr lang="en-US" sz="1400" dirty="0"/>
          </a:p>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一時的に症状が軽くなる</a:t>
            </a:r>
            <a:endParaRPr lang="en-US" sz="1400" dirty="0"/>
          </a:p>
        </p:txBody>
      </p:sp>
      <p:sp>
        <p:nvSpPr>
          <p:cNvPr id="18" name="Shape 16"/>
          <p:cNvSpPr/>
          <p:nvPr/>
        </p:nvSpPr>
        <p:spPr>
          <a:xfrm>
            <a:off x="365760" y="3246120"/>
            <a:ext cx="4114800" cy="1097280"/>
          </a:xfrm>
          <a:prstGeom prst="rect">
            <a:avLst>
              <a:gd name="adj" fmla="val 8333"/>
            </a:avLst>
          </a:prstGeom>
          <a:solidFill>
            <a:srgbClr val="FFFFFF"/>
          </a:solidFill>
          <a:ln/>
          <a:effectLst>
            <a:outerShdw sx="100000" sy="100000" kx="0" ky="0" algn="bl" rotWithShape="0" blurRad="50800" dist="25400" dir="8100000">
              <a:srgbClr val="000000">
                <a:alpha val="12000"/>
              </a:srgbClr>
            </a:outerShdw>
          </a:effectLst>
        </p:spPr>
      </p:sp>
      <p:sp>
        <p:nvSpPr>
          <p:cNvPr id="19" name="Shape 17"/>
          <p:cNvSpPr/>
          <p:nvPr/>
        </p:nvSpPr>
        <p:spPr>
          <a:xfrm>
            <a:off x="365760" y="3246120"/>
            <a:ext cx="109728" cy="1097280"/>
          </a:xfrm>
          <a:prstGeom prst="rect">
            <a:avLst>
              <a:gd name="adj" fmla="val 41667"/>
            </a:avLst>
          </a:prstGeom>
          <a:solidFill>
            <a:srgbClr val="2C5AA0"/>
          </a:solidFill>
          <a:ln/>
        </p:spPr>
      </p:sp>
      <p:sp>
        <p:nvSpPr>
          <p:cNvPr id="20" name="Text 18"/>
          <p:cNvSpPr/>
          <p:nvPr/>
        </p:nvSpPr>
        <p:spPr>
          <a:xfrm>
            <a:off x="548640" y="3319272"/>
            <a:ext cx="54864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1" name="Text 19"/>
          <p:cNvSpPr/>
          <p:nvPr/>
        </p:nvSpPr>
        <p:spPr>
          <a:xfrm>
            <a:off x="1097280" y="3319272"/>
            <a:ext cx="3108960" cy="365760"/>
          </a:xfrm>
          <a:prstGeom prst="rect">
            <a:avLst/>
          </a:prstGeom>
          <a:noFill/>
          <a:ln/>
        </p:spPr>
        <p:txBody>
          <a:bodyPr wrap="square" lIns="0" tIns="0" rIns="0" bIns="0" rtlCol="0" anchor="ctr"/>
          <a:lstStyle/>
          <a:p>
            <a:pPr indent="0" marL="0">
              <a:buNone/>
            </a:pPr>
            <a:r>
              <a:rPr lang="en-US" sz="1700" b="1" dirty="0">
                <a:solidFill>
                  <a:srgbClr val="2C5AA0"/>
                </a:solidFill>
                <a:latin typeface="BIZ UDPGothic" pitchFamily="34" charset="0"/>
                <a:ea typeface="BIZ UDPGothic" pitchFamily="34" charset="-122"/>
                <a:cs typeface="BIZ UDPGothic" pitchFamily="34" charset="-120"/>
              </a:rPr>
              <a:t>まぶた下垂を伴う</a:t>
            </a:r>
            <a:endParaRPr lang="en-US" sz="1700" dirty="0"/>
          </a:p>
        </p:txBody>
      </p:sp>
      <p:sp>
        <p:nvSpPr>
          <p:cNvPr id="22" name="Text 20"/>
          <p:cNvSpPr/>
          <p:nvPr/>
        </p:nvSpPr>
        <p:spPr>
          <a:xfrm>
            <a:off x="1097280" y="3703320"/>
            <a:ext cx="3108960" cy="548640"/>
          </a:xfrm>
          <a:prstGeom prst="rect">
            <a:avLst/>
          </a:prstGeom>
          <a:noFill/>
          <a:ln/>
        </p:spPr>
        <p:txBody>
          <a:bodyPr wrap="square" lIns="0" tIns="0" rIns="0" bIns="0" rtlCol="0" anchor="ctr"/>
          <a:lstStyle/>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片側または両側のまぶたが</a:t>
            </a:r>
            <a:endParaRPr lang="en-US" sz="1400" dirty="0"/>
          </a:p>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下がってくる（眼瞼下垂）</a:t>
            </a:r>
            <a:endParaRPr lang="en-US" sz="1400" dirty="0"/>
          </a:p>
        </p:txBody>
      </p:sp>
      <p:sp>
        <p:nvSpPr>
          <p:cNvPr id="23" name="Shape 21"/>
          <p:cNvSpPr/>
          <p:nvPr/>
        </p:nvSpPr>
        <p:spPr>
          <a:xfrm>
            <a:off x="4754880" y="3246120"/>
            <a:ext cx="4114800" cy="1097280"/>
          </a:xfrm>
          <a:prstGeom prst="rect">
            <a:avLst>
              <a:gd name="adj" fmla="val 8333"/>
            </a:avLst>
          </a:prstGeom>
          <a:solidFill>
            <a:srgbClr val="FFFFFF"/>
          </a:solidFill>
          <a:ln/>
          <a:effectLst>
            <a:outerShdw sx="100000" sy="100000" kx="0" ky="0" algn="bl" rotWithShape="0" blurRad="50800" dist="25400" dir="8100000">
              <a:srgbClr val="000000">
                <a:alpha val="12000"/>
              </a:srgbClr>
            </a:outerShdw>
          </a:effectLst>
        </p:spPr>
      </p:sp>
      <p:sp>
        <p:nvSpPr>
          <p:cNvPr id="24" name="Shape 22"/>
          <p:cNvSpPr/>
          <p:nvPr/>
        </p:nvSpPr>
        <p:spPr>
          <a:xfrm>
            <a:off x="4754880" y="3246120"/>
            <a:ext cx="109728" cy="1097280"/>
          </a:xfrm>
          <a:prstGeom prst="rect">
            <a:avLst>
              <a:gd name="adj" fmla="val 41667"/>
            </a:avLst>
          </a:prstGeom>
          <a:solidFill>
            <a:srgbClr val="2C5AA0"/>
          </a:solidFill>
          <a:ln/>
        </p:spPr>
      </p:sp>
      <p:sp>
        <p:nvSpPr>
          <p:cNvPr id="25" name="Text 23"/>
          <p:cNvSpPr/>
          <p:nvPr/>
        </p:nvSpPr>
        <p:spPr>
          <a:xfrm>
            <a:off x="4937760" y="3319272"/>
            <a:ext cx="54864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6" name="Text 24"/>
          <p:cNvSpPr/>
          <p:nvPr/>
        </p:nvSpPr>
        <p:spPr>
          <a:xfrm>
            <a:off x="5486400" y="3319272"/>
            <a:ext cx="3108960" cy="365760"/>
          </a:xfrm>
          <a:prstGeom prst="rect">
            <a:avLst/>
          </a:prstGeom>
          <a:noFill/>
          <a:ln/>
        </p:spPr>
        <p:txBody>
          <a:bodyPr wrap="square" lIns="0" tIns="0" rIns="0" bIns="0" rtlCol="0" anchor="ctr"/>
          <a:lstStyle/>
          <a:p>
            <a:pPr indent="0" marL="0">
              <a:buNone/>
            </a:pPr>
            <a:r>
              <a:rPr lang="en-US" sz="1700" b="1" dirty="0">
                <a:solidFill>
                  <a:srgbClr val="2C5AA0"/>
                </a:solidFill>
                <a:latin typeface="BIZ UDPGothic" pitchFamily="34" charset="0"/>
                <a:ea typeface="BIZ UDPGothic" pitchFamily="34" charset="-122"/>
                <a:cs typeface="BIZ UDPGothic" pitchFamily="34" charset="-120"/>
              </a:rPr>
              <a:t>全身型に進行することも</a:t>
            </a:r>
            <a:endParaRPr lang="en-US" sz="1700" dirty="0"/>
          </a:p>
        </p:txBody>
      </p:sp>
      <p:sp>
        <p:nvSpPr>
          <p:cNvPr id="27" name="Text 25"/>
          <p:cNvSpPr/>
          <p:nvPr/>
        </p:nvSpPr>
        <p:spPr>
          <a:xfrm>
            <a:off x="5486400" y="3703320"/>
            <a:ext cx="3108960" cy="548640"/>
          </a:xfrm>
          <a:prstGeom prst="rect">
            <a:avLst/>
          </a:prstGeom>
          <a:noFill/>
          <a:ln/>
        </p:spPr>
        <p:txBody>
          <a:bodyPr wrap="square" lIns="0" tIns="0" rIns="0" bIns="0" rtlCol="0" anchor="ctr"/>
          <a:lstStyle/>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眼症状から始まり、嚥下障害や</a:t>
            </a:r>
            <a:endParaRPr lang="en-US" sz="1400" dirty="0"/>
          </a:p>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四肢の筋力低下に広がることも</a:t>
            </a:r>
            <a:endParaRPr lang="en-US" sz="1400" dirty="0"/>
          </a:p>
        </p:txBody>
      </p:sp>
      <p:sp>
        <p:nvSpPr>
          <p:cNvPr id="28" name="Shape 26"/>
          <p:cNvSpPr/>
          <p:nvPr/>
        </p:nvSpPr>
        <p:spPr>
          <a:xfrm>
            <a:off x="0" y="4800600"/>
            <a:ext cx="9144000" cy="347472"/>
          </a:xfrm>
          <a:prstGeom prst="rect">
            <a:avLst/>
          </a:prstGeom>
          <a:solidFill>
            <a:srgbClr val="1B3A5C"/>
          </a:solidFill>
          <a:ln/>
        </p:spPr>
      </p:sp>
      <p:sp>
        <p:nvSpPr>
          <p:cNvPr id="29" name="Text 27"/>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#07</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自分でできるチェック ― 片目テスト</a:t>
            </a:r>
            <a:endParaRPr lang="en-US" sz="2600" dirty="0"/>
          </a:p>
        </p:txBody>
      </p:sp>
      <p:sp>
        <p:nvSpPr>
          <p:cNvPr id="4" name="Shape 2"/>
          <p:cNvSpPr/>
          <p:nvPr/>
        </p:nvSpPr>
        <p:spPr>
          <a:xfrm>
            <a:off x="457200" y="1005840"/>
            <a:ext cx="8229600" cy="960120"/>
          </a:xfrm>
          <a:prstGeom prst="rect">
            <a:avLst>
              <a:gd name="adj" fmla="val 9524"/>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05840"/>
            <a:ext cx="109728" cy="960120"/>
          </a:xfrm>
          <a:prstGeom prst="rect">
            <a:avLst>
              <a:gd name="adj" fmla="val 41667"/>
            </a:avLst>
          </a:prstGeom>
          <a:solidFill>
            <a:srgbClr val="2C5AA0"/>
          </a:solidFill>
          <a:ln/>
        </p:spPr>
      </p:sp>
      <p:sp>
        <p:nvSpPr>
          <p:cNvPr id="6" name="Text 4"/>
          <p:cNvSpPr/>
          <p:nvPr/>
        </p:nvSpPr>
        <p:spPr>
          <a:xfrm>
            <a:off x="640080" y="1097280"/>
            <a:ext cx="640080" cy="777240"/>
          </a:xfrm>
          <a:prstGeom prst="rect">
            <a:avLst/>
          </a:prstGeom>
          <a:noFill/>
          <a:ln/>
        </p:spPr>
        <p:txBody>
          <a:bodyPr wrap="square" lIns="0" tIns="0" rIns="0" bIns="0" rtlCol="0" anchor="ctr"/>
          <a:lstStyle/>
          <a:p>
            <a:pPr algn="ctr" indent="0" marL="0">
              <a:buNone/>
            </a:pPr>
            <a:r>
              <a:rPr lang="en-US" sz="3600" b="1" dirty="0">
                <a:solidFill>
                  <a:srgbClr val="2C5AA0"/>
                </a:solidFill>
                <a:latin typeface="Segoe UI" pitchFamily="34" charset="0"/>
                <a:ea typeface="Segoe UI" pitchFamily="34" charset="-122"/>
                <a:cs typeface="Segoe UI" pitchFamily="34" charset="-120"/>
              </a:rPr>
              <a:t>1</a:t>
            </a:r>
            <a:endParaRPr lang="en-US" sz="3600" dirty="0"/>
          </a:p>
        </p:txBody>
      </p:sp>
      <p:sp>
        <p:nvSpPr>
          <p:cNvPr id="7" name="Text 5"/>
          <p:cNvSpPr/>
          <p:nvPr/>
        </p:nvSpPr>
        <p:spPr>
          <a:xfrm>
            <a:off x="1371600" y="1143000"/>
            <a:ext cx="640080" cy="64008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8" name="Text 6"/>
          <p:cNvSpPr/>
          <p:nvPr/>
        </p:nvSpPr>
        <p:spPr>
          <a:xfrm>
            <a:off x="2103120" y="1097280"/>
            <a:ext cx="2743200" cy="411480"/>
          </a:xfrm>
          <a:prstGeom prst="rect">
            <a:avLst/>
          </a:prstGeom>
          <a:noFill/>
          <a:ln/>
        </p:spPr>
        <p:txBody>
          <a:bodyPr wrap="square" lIns="0" tIns="0" rIns="0" bIns="0" rtlCol="0" anchor="ctr"/>
          <a:lstStyle/>
          <a:p>
            <a:pPr indent="0" marL="0">
              <a:buNone/>
            </a:pPr>
            <a:r>
              <a:rPr lang="en-US" sz="2100" b="1" dirty="0">
                <a:solidFill>
                  <a:srgbClr val="2C5AA0"/>
                </a:solidFill>
                <a:latin typeface="BIZ UDPGothic" pitchFamily="34" charset="0"/>
                <a:ea typeface="BIZ UDPGothic" pitchFamily="34" charset="-122"/>
                <a:cs typeface="BIZ UDPGothic" pitchFamily="34" charset="-120"/>
              </a:rPr>
              <a:t>片目を手で覆う</a:t>
            </a:r>
            <a:endParaRPr lang="en-US" sz="2100" dirty="0"/>
          </a:p>
        </p:txBody>
      </p:sp>
      <p:sp>
        <p:nvSpPr>
          <p:cNvPr id="9" name="Text 7"/>
          <p:cNvSpPr/>
          <p:nvPr/>
        </p:nvSpPr>
        <p:spPr>
          <a:xfrm>
            <a:off x="2103120" y="1508760"/>
            <a:ext cx="5943600" cy="411480"/>
          </a:xfrm>
          <a:prstGeom prst="rect">
            <a:avLst/>
          </a:prstGeom>
          <a:noFill/>
          <a:ln/>
        </p:spPr>
        <p:txBody>
          <a:bodyPr wrap="square" lIns="0" tIns="0" rIns="0" bIns="0" rtlCol="0" anchor="ctr"/>
          <a:lstStyle/>
          <a:p>
            <a:pPr indent="0" marL="0">
              <a:lnSpc>
                <a:spcPct val="110000"/>
              </a:lnSpc>
              <a:buNone/>
            </a:pPr>
            <a:r>
              <a:rPr lang="en-US" sz="1600" dirty="0">
                <a:solidFill>
                  <a:srgbClr val="2D3436"/>
                </a:solidFill>
                <a:latin typeface="BIZ UDPGothic" pitchFamily="34" charset="0"/>
                <a:ea typeface="BIZ UDPGothic" pitchFamily="34" charset="-122"/>
                <a:cs typeface="BIZ UDPGothic" pitchFamily="34" charset="-120"/>
              </a:rPr>
              <a:t>右目を隠して左目だけで見る</a:t>
            </a:r>
            <a:endParaRPr lang="en-US" sz="1600" dirty="0"/>
          </a:p>
          <a:p>
            <a:pPr indent="0" marL="0">
              <a:lnSpc>
                <a:spcPct val="110000"/>
              </a:lnSpc>
              <a:buNone/>
            </a:pPr>
            <a:r>
              <a:rPr lang="en-US" sz="1600" dirty="0">
                <a:solidFill>
                  <a:srgbClr val="2D3436"/>
                </a:solidFill>
                <a:latin typeface="BIZ UDPGothic" pitchFamily="34" charset="0"/>
                <a:ea typeface="BIZ UDPGothic" pitchFamily="34" charset="-122"/>
                <a:cs typeface="BIZ UDPGothic" pitchFamily="34" charset="-120"/>
              </a:rPr>
              <a:t>次に左目を隠して右目だけで見る</a:t>
            </a:r>
            <a:endParaRPr lang="en-US" sz="1600" dirty="0"/>
          </a:p>
        </p:txBody>
      </p:sp>
      <p:sp>
        <p:nvSpPr>
          <p:cNvPr id="10" name="Shape 8"/>
          <p:cNvSpPr/>
          <p:nvPr/>
        </p:nvSpPr>
        <p:spPr>
          <a:xfrm>
            <a:off x="457200" y="2148840"/>
            <a:ext cx="8229600" cy="960120"/>
          </a:xfrm>
          <a:prstGeom prst="rect">
            <a:avLst>
              <a:gd name="adj" fmla="val 9524"/>
            </a:avLst>
          </a:prstGeom>
          <a:solidFill>
            <a:srgbClr val="FFFFFF"/>
          </a:solidFill>
          <a:ln/>
          <a:effectLst>
            <a:outerShdw sx="100000" sy="100000" kx="0" ky="0" algn="bl" rotWithShape="0" blurRad="50800" dist="25400" dir="8100000">
              <a:srgbClr val="000000">
                <a:alpha val="12000"/>
              </a:srgbClr>
            </a:outerShdw>
          </a:effectLst>
        </p:spPr>
      </p:sp>
      <p:sp>
        <p:nvSpPr>
          <p:cNvPr id="11" name="Shape 9"/>
          <p:cNvSpPr/>
          <p:nvPr/>
        </p:nvSpPr>
        <p:spPr>
          <a:xfrm>
            <a:off x="457200" y="2148840"/>
            <a:ext cx="109728" cy="960120"/>
          </a:xfrm>
          <a:prstGeom prst="rect">
            <a:avLst>
              <a:gd name="adj" fmla="val 41667"/>
            </a:avLst>
          </a:prstGeom>
          <a:solidFill>
            <a:srgbClr val="2C5AA0"/>
          </a:solidFill>
          <a:ln/>
        </p:spPr>
      </p:sp>
      <p:sp>
        <p:nvSpPr>
          <p:cNvPr id="12" name="Text 10"/>
          <p:cNvSpPr/>
          <p:nvPr/>
        </p:nvSpPr>
        <p:spPr>
          <a:xfrm>
            <a:off x="640080" y="2240280"/>
            <a:ext cx="640080" cy="777240"/>
          </a:xfrm>
          <a:prstGeom prst="rect">
            <a:avLst/>
          </a:prstGeom>
          <a:noFill/>
          <a:ln/>
        </p:spPr>
        <p:txBody>
          <a:bodyPr wrap="square" lIns="0" tIns="0" rIns="0" bIns="0" rtlCol="0" anchor="ctr"/>
          <a:lstStyle/>
          <a:p>
            <a:pPr algn="ctr" indent="0" marL="0">
              <a:buNone/>
            </a:pPr>
            <a:r>
              <a:rPr lang="en-US" sz="3600" b="1" dirty="0">
                <a:solidFill>
                  <a:srgbClr val="2C5AA0"/>
                </a:solidFill>
                <a:latin typeface="Segoe UI" pitchFamily="34" charset="0"/>
                <a:ea typeface="Segoe UI" pitchFamily="34" charset="-122"/>
                <a:cs typeface="Segoe UI" pitchFamily="34" charset="-120"/>
              </a:rPr>
              <a:t>2</a:t>
            </a:r>
            <a:endParaRPr lang="en-US" sz="3600" dirty="0"/>
          </a:p>
        </p:txBody>
      </p:sp>
      <p:sp>
        <p:nvSpPr>
          <p:cNvPr id="13" name="Text 11"/>
          <p:cNvSpPr/>
          <p:nvPr/>
        </p:nvSpPr>
        <p:spPr>
          <a:xfrm>
            <a:off x="1371600" y="2286000"/>
            <a:ext cx="640080" cy="64008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14" name="Text 12"/>
          <p:cNvSpPr/>
          <p:nvPr/>
        </p:nvSpPr>
        <p:spPr>
          <a:xfrm>
            <a:off x="2103120" y="2240280"/>
            <a:ext cx="2743200" cy="411480"/>
          </a:xfrm>
          <a:prstGeom prst="rect">
            <a:avLst/>
          </a:prstGeom>
          <a:noFill/>
          <a:ln/>
        </p:spPr>
        <p:txBody>
          <a:bodyPr wrap="square" lIns="0" tIns="0" rIns="0" bIns="0" rtlCol="0" anchor="ctr"/>
          <a:lstStyle/>
          <a:p>
            <a:pPr indent="0" marL="0">
              <a:buNone/>
            </a:pPr>
            <a:r>
              <a:rPr lang="en-US" sz="2100" b="1" dirty="0">
                <a:solidFill>
                  <a:srgbClr val="2C5AA0"/>
                </a:solidFill>
                <a:latin typeface="BIZ UDPGothic" pitchFamily="34" charset="0"/>
                <a:ea typeface="BIZ UDPGothic" pitchFamily="34" charset="-122"/>
                <a:cs typeface="BIZ UDPGothic" pitchFamily="34" charset="-120"/>
              </a:rPr>
              <a:t>結果を確認</a:t>
            </a:r>
            <a:endParaRPr lang="en-US" sz="2100" dirty="0"/>
          </a:p>
        </p:txBody>
      </p:sp>
      <p:sp>
        <p:nvSpPr>
          <p:cNvPr id="15" name="Text 13"/>
          <p:cNvSpPr/>
          <p:nvPr/>
        </p:nvSpPr>
        <p:spPr>
          <a:xfrm>
            <a:off x="2103120" y="2651760"/>
            <a:ext cx="5943600" cy="411480"/>
          </a:xfrm>
          <a:prstGeom prst="rect">
            <a:avLst/>
          </a:prstGeom>
          <a:noFill/>
          <a:ln/>
        </p:spPr>
        <p:txBody>
          <a:bodyPr wrap="square" lIns="0" tIns="0" rIns="0" bIns="0" rtlCol="0" anchor="ctr"/>
          <a:lstStyle/>
          <a:p>
            <a:pPr indent="0" marL="0">
              <a:lnSpc>
                <a:spcPct val="110000"/>
              </a:lnSpc>
              <a:buNone/>
            </a:pPr>
            <a:r>
              <a:rPr lang="en-US" sz="1600" dirty="0">
                <a:solidFill>
                  <a:srgbClr val="2D3436"/>
                </a:solidFill>
                <a:latin typeface="BIZ UDPGothic" pitchFamily="34" charset="0"/>
                <a:ea typeface="BIZ UDPGothic" pitchFamily="34" charset="-122"/>
                <a:cs typeface="BIZ UDPGothic" pitchFamily="34" charset="-120"/>
              </a:rPr>
              <a:t>片目だと1つに見える → 両眼性複視</a:t>
            </a:r>
            <a:endParaRPr lang="en-US" sz="1600" dirty="0"/>
          </a:p>
          <a:p>
            <a:pPr indent="0" marL="0">
              <a:lnSpc>
                <a:spcPct val="110000"/>
              </a:lnSpc>
              <a:buNone/>
            </a:pPr>
            <a:r>
              <a:rPr lang="en-US" sz="1600" dirty="0">
                <a:solidFill>
                  <a:srgbClr val="2D3436"/>
                </a:solidFill>
                <a:latin typeface="BIZ UDPGothic" pitchFamily="34" charset="0"/>
                <a:ea typeface="BIZ UDPGothic" pitchFamily="34" charset="-122"/>
                <a:cs typeface="BIZ UDPGothic" pitchFamily="34" charset="-120"/>
              </a:rPr>
              <a:t>片目でも二重に見える → 単眼性複視</a:t>
            </a:r>
            <a:endParaRPr lang="en-US" sz="1600" dirty="0"/>
          </a:p>
        </p:txBody>
      </p:sp>
      <p:sp>
        <p:nvSpPr>
          <p:cNvPr id="16" name="Shape 14"/>
          <p:cNvSpPr/>
          <p:nvPr/>
        </p:nvSpPr>
        <p:spPr>
          <a:xfrm>
            <a:off x="457200" y="3291840"/>
            <a:ext cx="8229600" cy="960120"/>
          </a:xfrm>
          <a:prstGeom prst="rect">
            <a:avLst>
              <a:gd name="adj" fmla="val 9524"/>
            </a:avLst>
          </a:prstGeom>
          <a:solidFill>
            <a:srgbClr val="FFFFFF"/>
          </a:solidFill>
          <a:ln/>
          <a:effectLst>
            <a:outerShdw sx="100000" sy="100000" kx="0" ky="0" algn="bl" rotWithShape="0" blurRad="50800" dist="25400" dir="8100000">
              <a:srgbClr val="000000">
                <a:alpha val="12000"/>
              </a:srgbClr>
            </a:outerShdw>
          </a:effectLst>
        </p:spPr>
      </p:sp>
      <p:sp>
        <p:nvSpPr>
          <p:cNvPr id="17" name="Shape 15"/>
          <p:cNvSpPr/>
          <p:nvPr/>
        </p:nvSpPr>
        <p:spPr>
          <a:xfrm>
            <a:off x="457200" y="3291840"/>
            <a:ext cx="109728" cy="960120"/>
          </a:xfrm>
          <a:prstGeom prst="rect">
            <a:avLst>
              <a:gd name="adj" fmla="val 41667"/>
            </a:avLst>
          </a:prstGeom>
          <a:solidFill>
            <a:srgbClr val="2C5AA0"/>
          </a:solidFill>
          <a:ln/>
        </p:spPr>
      </p:sp>
      <p:sp>
        <p:nvSpPr>
          <p:cNvPr id="18" name="Text 16"/>
          <p:cNvSpPr/>
          <p:nvPr/>
        </p:nvSpPr>
        <p:spPr>
          <a:xfrm>
            <a:off x="640080" y="3383280"/>
            <a:ext cx="640080" cy="777240"/>
          </a:xfrm>
          <a:prstGeom prst="rect">
            <a:avLst/>
          </a:prstGeom>
          <a:noFill/>
          <a:ln/>
        </p:spPr>
        <p:txBody>
          <a:bodyPr wrap="square" lIns="0" tIns="0" rIns="0" bIns="0" rtlCol="0" anchor="ctr"/>
          <a:lstStyle/>
          <a:p>
            <a:pPr algn="ctr" indent="0" marL="0">
              <a:buNone/>
            </a:pPr>
            <a:r>
              <a:rPr lang="en-US" sz="3600" b="1" dirty="0">
                <a:solidFill>
                  <a:srgbClr val="2C5AA0"/>
                </a:solidFill>
                <a:latin typeface="Segoe UI" pitchFamily="34" charset="0"/>
                <a:ea typeface="Segoe UI" pitchFamily="34" charset="-122"/>
                <a:cs typeface="Segoe UI" pitchFamily="34" charset="-120"/>
              </a:rPr>
              <a:t>3</a:t>
            </a:r>
            <a:endParaRPr lang="en-US" sz="3600" dirty="0"/>
          </a:p>
        </p:txBody>
      </p:sp>
      <p:sp>
        <p:nvSpPr>
          <p:cNvPr id="19" name="Text 17"/>
          <p:cNvSpPr/>
          <p:nvPr/>
        </p:nvSpPr>
        <p:spPr>
          <a:xfrm>
            <a:off x="1371600" y="3429000"/>
            <a:ext cx="640080" cy="64008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20" name="Text 18"/>
          <p:cNvSpPr/>
          <p:nvPr/>
        </p:nvSpPr>
        <p:spPr>
          <a:xfrm>
            <a:off x="2103120" y="3383280"/>
            <a:ext cx="2743200" cy="411480"/>
          </a:xfrm>
          <a:prstGeom prst="rect">
            <a:avLst/>
          </a:prstGeom>
          <a:noFill/>
          <a:ln/>
        </p:spPr>
        <p:txBody>
          <a:bodyPr wrap="square" lIns="0" tIns="0" rIns="0" bIns="0" rtlCol="0" anchor="ctr"/>
          <a:lstStyle/>
          <a:p>
            <a:pPr indent="0" marL="0">
              <a:buNone/>
            </a:pPr>
            <a:r>
              <a:rPr lang="en-US" sz="2100" b="1" dirty="0">
                <a:solidFill>
                  <a:srgbClr val="2C5AA0"/>
                </a:solidFill>
                <a:latin typeface="BIZ UDPGothic" pitchFamily="34" charset="0"/>
                <a:ea typeface="BIZ UDPGothic" pitchFamily="34" charset="-122"/>
                <a:cs typeface="BIZ UDPGothic" pitchFamily="34" charset="-120"/>
              </a:rPr>
              <a:t>どの方向で二重になるか</a:t>
            </a:r>
            <a:endParaRPr lang="en-US" sz="2100" dirty="0"/>
          </a:p>
        </p:txBody>
      </p:sp>
      <p:sp>
        <p:nvSpPr>
          <p:cNvPr id="21" name="Text 19"/>
          <p:cNvSpPr/>
          <p:nvPr/>
        </p:nvSpPr>
        <p:spPr>
          <a:xfrm>
            <a:off x="2103120" y="3794760"/>
            <a:ext cx="5943600" cy="411480"/>
          </a:xfrm>
          <a:prstGeom prst="rect">
            <a:avLst/>
          </a:prstGeom>
          <a:noFill/>
          <a:ln/>
        </p:spPr>
        <p:txBody>
          <a:bodyPr wrap="square" lIns="0" tIns="0" rIns="0" bIns="0" rtlCol="0" anchor="ctr"/>
          <a:lstStyle/>
          <a:p>
            <a:pPr indent="0" marL="0">
              <a:lnSpc>
                <a:spcPct val="110000"/>
              </a:lnSpc>
              <a:buNone/>
            </a:pPr>
            <a:r>
              <a:rPr lang="en-US" sz="1600" dirty="0">
                <a:solidFill>
                  <a:srgbClr val="2D3436"/>
                </a:solidFill>
                <a:latin typeface="BIZ UDPGothic" pitchFamily="34" charset="0"/>
                <a:ea typeface="BIZ UDPGothic" pitchFamily="34" charset="-122"/>
                <a:cs typeface="BIZ UDPGothic" pitchFamily="34" charset="-120"/>
              </a:rPr>
              <a:t>上下左右どの方向を見た時に</a:t>
            </a:r>
            <a:endParaRPr lang="en-US" sz="1600" dirty="0"/>
          </a:p>
          <a:p>
            <a:pPr indent="0" marL="0">
              <a:lnSpc>
                <a:spcPct val="110000"/>
              </a:lnSpc>
              <a:buNone/>
            </a:pPr>
            <a:r>
              <a:rPr lang="en-US" sz="1600" dirty="0">
                <a:solidFill>
                  <a:srgbClr val="2D3436"/>
                </a:solidFill>
                <a:latin typeface="BIZ UDPGothic" pitchFamily="34" charset="0"/>
                <a:ea typeface="BIZ UDPGothic" pitchFamily="34" charset="-122"/>
                <a:cs typeface="BIZ UDPGothic" pitchFamily="34" charset="-120"/>
              </a:rPr>
              <a:t>二重が強くなるかを確認する</a:t>
            </a:r>
            <a:endParaRPr lang="en-US" sz="1600" dirty="0"/>
          </a:p>
        </p:txBody>
      </p:sp>
      <p:sp>
        <p:nvSpPr>
          <p:cNvPr id="22" name="Text 20"/>
          <p:cNvSpPr/>
          <p:nvPr/>
        </p:nvSpPr>
        <p:spPr>
          <a:xfrm>
            <a:off x="457200" y="4434840"/>
            <a:ext cx="8229600" cy="320040"/>
          </a:xfrm>
          <a:prstGeom prst="rect">
            <a:avLst/>
          </a:prstGeom>
          <a:noFill/>
          <a:ln/>
        </p:spPr>
        <p:txBody>
          <a:bodyPr wrap="square" lIns="0" tIns="0" rIns="0" bIns="0" rtlCol="0" anchor="ctr"/>
          <a:lstStyle/>
          <a:p>
            <a:pPr indent="0" marL="0">
              <a:buNone/>
            </a:pPr>
            <a:r>
              <a:rPr lang="en-US" sz="1300" dirty="0">
                <a:solidFill>
                  <a:srgbClr val="636E72"/>
                </a:solidFill>
                <a:latin typeface="BIZ UDPGothic" pitchFamily="34" charset="0"/>
                <a:ea typeface="BIZ UDPGothic" pitchFamily="34" charset="-122"/>
                <a:cs typeface="BIZ UDPGothic" pitchFamily="34" charset="-120"/>
              </a:rPr>
              <a:t>※ 結果は受診時に医師に伝えてください。診断の参考になります</a:t>
            </a:r>
            <a:endParaRPr lang="en-US" sz="1300" dirty="0"/>
          </a:p>
        </p:txBody>
      </p:sp>
      <p:sp>
        <p:nvSpPr>
          <p:cNvPr id="23" name="Shape 21"/>
          <p:cNvSpPr/>
          <p:nvPr/>
        </p:nvSpPr>
        <p:spPr>
          <a:xfrm>
            <a:off x="0" y="4800600"/>
            <a:ext cx="9144000" cy="347472"/>
          </a:xfrm>
          <a:prstGeom prst="rect">
            <a:avLst/>
          </a:prstGeom>
          <a:solidFill>
            <a:srgbClr val="1B3A5C"/>
          </a:solidFill>
          <a:ln/>
        </p:spPr>
      </p:sp>
      <p:sp>
        <p:nvSpPr>
          <p:cNvPr id="24" name="Text 22"/>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DC3545"/>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こんな場合はすぐ受診 ― 危険なサイン</a:t>
            </a:r>
            <a:endParaRPr lang="en-US" sz="2600" dirty="0"/>
          </a:p>
        </p:txBody>
      </p:sp>
      <p:sp>
        <p:nvSpPr>
          <p:cNvPr id="4" name="Shape 2"/>
          <p:cNvSpPr/>
          <p:nvPr/>
        </p:nvSpPr>
        <p:spPr>
          <a:xfrm>
            <a:off x="457200" y="1051560"/>
            <a:ext cx="8229600" cy="594360"/>
          </a:xfrm>
          <a:prstGeom prst="rect">
            <a:avLst>
              <a:gd name="adj" fmla="val 15385"/>
            </a:avLst>
          </a:prstGeom>
          <a:solidFill>
            <a:srgbClr val="F8D7DA"/>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51560"/>
            <a:ext cx="109728" cy="594360"/>
          </a:xfrm>
          <a:prstGeom prst="rect">
            <a:avLst>
              <a:gd name="adj" fmla="val 41667"/>
            </a:avLst>
          </a:prstGeom>
          <a:solidFill>
            <a:srgbClr val="DC3545"/>
          </a:solidFill>
          <a:ln/>
        </p:spPr>
      </p:sp>
      <p:sp>
        <p:nvSpPr>
          <p:cNvPr id="6" name="Text 4"/>
          <p:cNvSpPr/>
          <p:nvPr/>
        </p:nvSpPr>
        <p:spPr>
          <a:xfrm>
            <a:off x="731520" y="1097280"/>
            <a:ext cx="548640" cy="50292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7" name="Text 5"/>
          <p:cNvSpPr/>
          <p:nvPr/>
        </p:nvSpPr>
        <p:spPr>
          <a:xfrm>
            <a:off x="1371600" y="1097280"/>
            <a:ext cx="7040880" cy="502920"/>
          </a:xfrm>
          <a:prstGeom prst="rect">
            <a:avLst/>
          </a:prstGeom>
          <a:noFill/>
          <a:ln/>
        </p:spPr>
        <p:txBody>
          <a:bodyPr wrap="square" lIns="0" tIns="0" rIns="0" bIns="0" rtlCol="0" anchor="ctr"/>
          <a:lstStyle/>
          <a:p>
            <a:pPr indent="0" marL="0">
              <a:buNone/>
            </a:pPr>
            <a:r>
              <a:rPr lang="en-US" sz="1900" dirty="0">
                <a:solidFill>
                  <a:srgbClr val="2D3436"/>
                </a:solidFill>
                <a:latin typeface="BIZ UDPGothic" pitchFamily="34" charset="0"/>
                <a:ea typeface="BIZ UDPGothic" pitchFamily="34" charset="-122"/>
                <a:cs typeface="BIZ UDPGothic" pitchFamily="34" charset="-120"/>
              </a:rPr>
              <a:t>突然の複視＋激しい頭痛（脳動脈瘤破裂の可能性）</a:t>
            </a:r>
            <a:endParaRPr lang="en-US" sz="1900" dirty="0"/>
          </a:p>
        </p:txBody>
      </p:sp>
      <p:sp>
        <p:nvSpPr>
          <p:cNvPr id="8" name="Shape 6"/>
          <p:cNvSpPr/>
          <p:nvPr/>
        </p:nvSpPr>
        <p:spPr>
          <a:xfrm>
            <a:off x="457200" y="1764792"/>
            <a:ext cx="8229600" cy="594360"/>
          </a:xfrm>
          <a:prstGeom prst="rect">
            <a:avLst>
              <a:gd name="adj" fmla="val 15385"/>
            </a:avLst>
          </a:prstGeom>
          <a:solidFill>
            <a:srgbClr val="F8D7DA"/>
          </a:solidFill>
          <a:ln/>
          <a:effectLst>
            <a:outerShdw sx="100000" sy="100000" kx="0" ky="0" algn="bl" rotWithShape="0" blurRad="50800" dist="25400" dir="8100000">
              <a:srgbClr val="000000">
                <a:alpha val="12000"/>
              </a:srgbClr>
            </a:outerShdw>
          </a:effectLst>
        </p:spPr>
      </p:sp>
      <p:sp>
        <p:nvSpPr>
          <p:cNvPr id="9" name="Shape 7"/>
          <p:cNvSpPr/>
          <p:nvPr/>
        </p:nvSpPr>
        <p:spPr>
          <a:xfrm>
            <a:off x="457200" y="1764792"/>
            <a:ext cx="109728" cy="594360"/>
          </a:xfrm>
          <a:prstGeom prst="rect">
            <a:avLst>
              <a:gd name="adj" fmla="val 41667"/>
            </a:avLst>
          </a:prstGeom>
          <a:solidFill>
            <a:srgbClr val="DC3545"/>
          </a:solidFill>
          <a:ln/>
        </p:spPr>
      </p:sp>
      <p:sp>
        <p:nvSpPr>
          <p:cNvPr id="10" name="Text 8"/>
          <p:cNvSpPr/>
          <p:nvPr/>
        </p:nvSpPr>
        <p:spPr>
          <a:xfrm>
            <a:off x="731520" y="1810512"/>
            <a:ext cx="548640" cy="50292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1" name="Text 9"/>
          <p:cNvSpPr/>
          <p:nvPr/>
        </p:nvSpPr>
        <p:spPr>
          <a:xfrm>
            <a:off x="1371600" y="1810512"/>
            <a:ext cx="7040880" cy="502920"/>
          </a:xfrm>
          <a:prstGeom prst="rect">
            <a:avLst/>
          </a:prstGeom>
          <a:noFill/>
          <a:ln/>
        </p:spPr>
        <p:txBody>
          <a:bodyPr wrap="square" lIns="0" tIns="0" rIns="0" bIns="0" rtlCol="0" anchor="ctr"/>
          <a:lstStyle/>
          <a:p>
            <a:pPr indent="0" marL="0">
              <a:buNone/>
            </a:pPr>
            <a:r>
              <a:rPr lang="en-US" sz="1900" dirty="0">
                <a:solidFill>
                  <a:srgbClr val="2D3436"/>
                </a:solidFill>
                <a:latin typeface="BIZ UDPGothic" pitchFamily="34" charset="0"/>
                <a:ea typeface="BIZ UDPGothic" pitchFamily="34" charset="-122"/>
                <a:cs typeface="BIZ UDPGothic" pitchFamily="34" charset="-120"/>
              </a:rPr>
              <a:t>瞳孔の大きさが左右で違う（動眼神経の圧迫）</a:t>
            </a:r>
            <a:endParaRPr lang="en-US" sz="1900" dirty="0"/>
          </a:p>
        </p:txBody>
      </p:sp>
      <p:sp>
        <p:nvSpPr>
          <p:cNvPr id="12" name="Shape 10"/>
          <p:cNvSpPr/>
          <p:nvPr/>
        </p:nvSpPr>
        <p:spPr>
          <a:xfrm>
            <a:off x="457200" y="2478024"/>
            <a:ext cx="8229600" cy="594360"/>
          </a:xfrm>
          <a:prstGeom prst="rect">
            <a:avLst>
              <a:gd name="adj" fmla="val 15385"/>
            </a:avLst>
          </a:prstGeom>
          <a:solidFill>
            <a:srgbClr val="F8D7DA"/>
          </a:solidFill>
          <a:ln/>
          <a:effectLst>
            <a:outerShdw sx="100000" sy="100000" kx="0" ky="0" algn="bl" rotWithShape="0" blurRad="50800" dist="25400" dir="8100000">
              <a:srgbClr val="000000">
                <a:alpha val="12000"/>
              </a:srgbClr>
            </a:outerShdw>
          </a:effectLst>
        </p:spPr>
      </p:sp>
      <p:sp>
        <p:nvSpPr>
          <p:cNvPr id="13" name="Shape 11"/>
          <p:cNvSpPr/>
          <p:nvPr/>
        </p:nvSpPr>
        <p:spPr>
          <a:xfrm>
            <a:off x="457200" y="2478024"/>
            <a:ext cx="109728" cy="594360"/>
          </a:xfrm>
          <a:prstGeom prst="rect">
            <a:avLst>
              <a:gd name="adj" fmla="val 41667"/>
            </a:avLst>
          </a:prstGeom>
          <a:solidFill>
            <a:srgbClr val="DC3545"/>
          </a:solidFill>
          <a:ln/>
        </p:spPr>
      </p:sp>
      <p:sp>
        <p:nvSpPr>
          <p:cNvPr id="14" name="Text 12"/>
          <p:cNvSpPr/>
          <p:nvPr/>
        </p:nvSpPr>
        <p:spPr>
          <a:xfrm>
            <a:off x="731520" y="2523744"/>
            <a:ext cx="548640" cy="50292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5" name="Text 13"/>
          <p:cNvSpPr/>
          <p:nvPr/>
        </p:nvSpPr>
        <p:spPr>
          <a:xfrm>
            <a:off x="1371600" y="2523744"/>
            <a:ext cx="7040880" cy="502920"/>
          </a:xfrm>
          <a:prstGeom prst="rect">
            <a:avLst/>
          </a:prstGeom>
          <a:noFill/>
          <a:ln/>
        </p:spPr>
        <p:txBody>
          <a:bodyPr wrap="square" lIns="0" tIns="0" rIns="0" bIns="0" rtlCol="0" anchor="ctr"/>
          <a:lstStyle/>
          <a:p>
            <a:pPr indent="0" marL="0">
              <a:buNone/>
            </a:pPr>
            <a:r>
              <a:rPr lang="en-US" sz="1900" dirty="0">
                <a:solidFill>
                  <a:srgbClr val="2D3436"/>
                </a:solidFill>
                <a:latin typeface="BIZ UDPGothic" pitchFamily="34" charset="0"/>
                <a:ea typeface="BIZ UDPGothic" pitchFamily="34" charset="-122"/>
                <a:cs typeface="BIZ UDPGothic" pitchFamily="34" charset="-120"/>
              </a:rPr>
              <a:t>複視＋まぶた下垂＋瞳孔散大（脳動脈瘤を強く疑う）</a:t>
            </a:r>
            <a:endParaRPr lang="en-US" sz="1900" dirty="0"/>
          </a:p>
        </p:txBody>
      </p:sp>
      <p:sp>
        <p:nvSpPr>
          <p:cNvPr id="16" name="Shape 14"/>
          <p:cNvSpPr/>
          <p:nvPr/>
        </p:nvSpPr>
        <p:spPr>
          <a:xfrm>
            <a:off x="457200" y="3191256"/>
            <a:ext cx="8229600" cy="594360"/>
          </a:xfrm>
          <a:prstGeom prst="rect">
            <a:avLst>
              <a:gd name="adj" fmla="val 15385"/>
            </a:avLst>
          </a:prstGeom>
          <a:solidFill>
            <a:srgbClr val="F8D7DA"/>
          </a:solidFill>
          <a:ln/>
          <a:effectLst>
            <a:outerShdw sx="100000" sy="100000" kx="0" ky="0" algn="bl" rotWithShape="0" blurRad="50800" dist="25400" dir="8100000">
              <a:srgbClr val="000000">
                <a:alpha val="12000"/>
              </a:srgbClr>
            </a:outerShdw>
          </a:effectLst>
        </p:spPr>
      </p:sp>
      <p:sp>
        <p:nvSpPr>
          <p:cNvPr id="17" name="Shape 15"/>
          <p:cNvSpPr/>
          <p:nvPr/>
        </p:nvSpPr>
        <p:spPr>
          <a:xfrm>
            <a:off x="457200" y="3191256"/>
            <a:ext cx="109728" cy="594360"/>
          </a:xfrm>
          <a:prstGeom prst="rect">
            <a:avLst>
              <a:gd name="adj" fmla="val 41667"/>
            </a:avLst>
          </a:prstGeom>
          <a:solidFill>
            <a:srgbClr val="DC3545"/>
          </a:solidFill>
          <a:ln/>
        </p:spPr>
      </p:sp>
      <p:sp>
        <p:nvSpPr>
          <p:cNvPr id="18" name="Text 16"/>
          <p:cNvSpPr/>
          <p:nvPr/>
        </p:nvSpPr>
        <p:spPr>
          <a:xfrm>
            <a:off x="731520" y="3236976"/>
            <a:ext cx="548640" cy="50292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9" name="Text 17"/>
          <p:cNvSpPr/>
          <p:nvPr/>
        </p:nvSpPr>
        <p:spPr>
          <a:xfrm>
            <a:off x="1371600" y="3236976"/>
            <a:ext cx="7040880" cy="502920"/>
          </a:xfrm>
          <a:prstGeom prst="rect">
            <a:avLst/>
          </a:prstGeom>
          <a:noFill/>
          <a:ln/>
        </p:spPr>
        <p:txBody>
          <a:bodyPr wrap="square" lIns="0" tIns="0" rIns="0" bIns="0" rtlCol="0" anchor="ctr"/>
          <a:lstStyle/>
          <a:p>
            <a:pPr indent="0" marL="0">
              <a:buNone/>
            </a:pPr>
            <a:r>
              <a:rPr lang="en-US" sz="1900" dirty="0">
                <a:solidFill>
                  <a:srgbClr val="2D3436"/>
                </a:solidFill>
                <a:latin typeface="BIZ UDPGothic" pitchFamily="34" charset="0"/>
                <a:ea typeface="BIZ UDPGothic" pitchFamily="34" charset="-122"/>
                <a:cs typeface="BIZ UDPGothic" pitchFamily="34" charset="-120"/>
              </a:rPr>
              <a:t>複視＋ろれつ障害＋片側の麻痺（脳卒中の可能性）</a:t>
            </a:r>
            <a:endParaRPr lang="en-US" sz="1900" dirty="0"/>
          </a:p>
        </p:txBody>
      </p:sp>
      <p:sp>
        <p:nvSpPr>
          <p:cNvPr id="20" name="Shape 18"/>
          <p:cNvSpPr/>
          <p:nvPr/>
        </p:nvSpPr>
        <p:spPr>
          <a:xfrm>
            <a:off x="457200" y="3904488"/>
            <a:ext cx="8229600" cy="594360"/>
          </a:xfrm>
          <a:prstGeom prst="rect">
            <a:avLst>
              <a:gd name="adj" fmla="val 15385"/>
            </a:avLst>
          </a:prstGeom>
          <a:solidFill>
            <a:srgbClr val="F8D7DA"/>
          </a:solidFill>
          <a:ln/>
          <a:effectLst>
            <a:outerShdw sx="100000" sy="100000" kx="0" ky="0" algn="bl" rotWithShape="0" blurRad="50800" dist="25400" dir="8100000">
              <a:srgbClr val="000000">
                <a:alpha val="12000"/>
              </a:srgbClr>
            </a:outerShdw>
          </a:effectLst>
        </p:spPr>
      </p:sp>
      <p:sp>
        <p:nvSpPr>
          <p:cNvPr id="21" name="Shape 19"/>
          <p:cNvSpPr/>
          <p:nvPr/>
        </p:nvSpPr>
        <p:spPr>
          <a:xfrm>
            <a:off x="457200" y="3904488"/>
            <a:ext cx="109728" cy="594360"/>
          </a:xfrm>
          <a:prstGeom prst="rect">
            <a:avLst>
              <a:gd name="adj" fmla="val 41667"/>
            </a:avLst>
          </a:prstGeom>
          <a:solidFill>
            <a:srgbClr val="DC3545"/>
          </a:solidFill>
          <a:ln/>
        </p:spPr>
      </p:sp>
      <p:sp>
        <p:nvSpPr>
          <p:cNvPr id="22" name="Text 20"/>
          <p:cNvSpPr/>
          <p:nvPr/>
        </p:nvSpPr>
        <p:spPr>
          <a:xfrm>
            <a:off x="731520" y="3950208"/>
            <a:ext cx="548640" cy="50292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23" name="Text 21"/>
          <p:cNvSpPr/>
          <p:nvPr/>
        </p:nvSpPr>
        <p:spPr>
          <a:xfrm>
            <a:off x="1371600" y="3950208"/>
            <a:ext cx="7040880" cy="502920"/>
          </a:xfrm>
          <a:prstGeom prst="rect">
            <a:avLst/>
          </a:prstGeom>
          <a:noFill/>
          <a:ln/>
        </p:spPr>
        <p:txBody>
          <a:bodyPr wrap="square" lIns="0" tIns="0" rIns="0" bIns="0" rtlCol="0" anchor="ctr"/>
          <a:lstStyle/>
          <a:p>
            <a:pPr indent="0" marL="0">
              <a:buNone/>
            </a:pPr>
            <a:r>
              <a:rPr lang="en-US" sz="1900" dirty="0">
                <a:solidFill>
                  <a:srgbClr val="2D3436"/>
                </a:solidFill>
                <a:latin typeface="BIZ UDPGothic" pitchFamily="34" charset="0"/>
                <a:ea typeface="BIZ UDPGothic" pitchFamily="34" charset="-122"/>
                <a:cs typeface="BIZ UDPGothic" pitchFamily="34" charset="-120"/>
              </a:rPr>
              <a:t>複視が急速に悪化している（数時間〜数日で進行）</a:t>
            </a:r>
            <a:endParaRPr lang="en-US" sz="1900" dirty="0"/>
          </a:p>
        </p:txBody>
      </p:sp>
      <p:sp>
        <p:nvSpPr>
          <p:cNvPr id="24" name="Shape 22"/>
          <p:cNvSpPr/>
          <p:nvPr/>
        </p:nvSpPr>
        <p:spPr>
          <a:xfrm>
            <a:off x="914400" y="4572000"/>
            <a:ext cx="7315200" cy="182880"/>
          </a:xfrm>
          <a:prstGeom prst="rect">
            <a:avLst>
              <a:gd name="adj" fmla="val 50000"/>
            </a:avLst>
          </a:prstGeom>
          <a:solidFill>
            <a:srgbClr val="DC3545"/>
          </a:solidFill>
          <a:ln/>
          <a:effectLst>
            <a:outerShdw sx="100000" sy="100000" kx="0" ky="0" algn="bl" rotWithShape="0" blurRad="50800" dist="25400" dir="8100000">
              <a:srgbClr val="000000">
                <a:alpha val="12000"/>
              </a:srgbClr>
            </a:outerShdw>
          </a:effectLst>
        </p:spPr>
      </p:sp>
      <p:sp>
        <p:nvSpPr>
          <p:cNvPr id="25" name="Shape 23"/>
          <p:cNvSpPr/>
          <p:nvPr/>
        </p:nvSpPr>
        <p:spPr>
          <a:xfrm>
            <a:off x="0" y="4800600"/>
            <a:ext cx="9144000" cy="347472"/>
          </a:xfrm>
          <a:prstGeom prst="rect">
            <a:avLst/>
          </a:prstGeom>
          <a:solidFill>
            <a:srgbClr val="1B3A5C"/>
          </a:solidFill>
          <a:ln/>
        </p:spPr>
      </p:sp>
      <p:sp>
        <p:nvSpPr>
          <p:cNvPr id="26" name="Text 24"/>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#07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受診の目安 ― 緊急度3段階</a:t>
            </a:r>
            <a:endParaRPr lang="en-US" sz="2600" dirty="0"/>
          </a:p>
        </p:txBody>
      </p:sp>
      <p:sp>
        <p:nvSpPr>
          <p:cNvPr id="4" name="Shape 2"/>
          <p:cNvSpPr/>
          <p:nvPr/>
        </p:nvSpPr>
        <p:spPr>
          <a:xfrm>
            <a:off x="457200" y="1051560"/>
            <a:ext cx="8229600" cy="1005840"/>
          </a:xfrm>
          <a:prstGeom prst="rect">
            <a:avLst>
              <a:gd name="adj" fmla="val 9091"/>
            </a:avLst>
          </a:prstGeom>
          <a:solidFill>
            <a:srgbClr val="F8D7DA"/>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51560"/>
            <a:ext cx="109728" cy="1005840"/>
          </a:xfrm>
          <a:prstGeom prst="rect">
            <a:avLst>
              <a:gd name="adj" fmla="val 41667"/>
            </a:avLst>
          </a:prstGeom>
          <a:solidFill>
            <a:srgbClr val="DC3545"/>
          </a:solidFill>
          <a:ln/>
        </p:spPr>
      </p:sp>
      <p:sp>
        <p:nvSpPr>
          <p:cNvPr id="6" name="Text 4"/>
          <p:cNvSpPr/>
          <p:nvPr/>
        </p:nvSpPr>
        <p:spPr>
          <a:xfrm>
            <a:off x="731520" y="1097280"/>
            <a:ext cx="2743200" cy="411480"/>
          </a:xfrm>
          <a:prstGeom prst="rect">
            <a:avLst/>
          </a:prstGeom>
          <a:noFill/>
          <a:ln/>
        </p:spPr>
        <p:txBody>
          <a:bodyPr wrap="square" lIns="0" tIns="0" rIns="0" bIns="0" rtlCol="0" anchor="ctr"/>
          <a:lstStyle/>
          <a:p>
            <a:pPr indent="0" marL="0">
              <a:buNone/>
            </a:pPr>
            <a:r>
              <a:rPr lang="en-US" sz="2100" b="1" dirty="0">
                <a:solidFill>
                  <a:srgbClr val="DC3545"/>
                </a:solidFill>
                <a:latin typeface="BIZ UDPGothic" pitchFamily="34" charset="0"/>
                <a:ea typeface="BIZ UDPGothic" pitchFamily="34" charset="-122"/>
                <a:cs typeface="BIZ UDPGothic" pitchFamily="34" charset="-120"/>
              </a:rPr>
              <a:t>🔴 すぐ受診</a:t>
            </a:r>
            <a:endParaRPr lang="en-US" sz="2100" dirty="0"/>
          </a:p>
        </p:txBody>
      </p:sp>
      <p:sp>
        <p:nvSpPr>
          <p:cNvPr id="7" name="Text 5"/>
          <p:cNvSpPr/>
          <p:nvPr/>
        </p:nvSpPr>
        <p:spPr>
          <a:xfrm>
            <a:off x="731520" y="1508760"/>
            <a:ext cx="4572000" cy="502920"/>
          </a:xfrm>
          <a:prstGeom prst="rect">
            <a:avLst/>
          </a:prstGeom>
          <a:noFill/>
          <a:ln/>
        </p:spPr>
        <p:txBody>
          <a:bodyPr wrap="square" lIns="0" tIns="0" rIns="0" bIns="0" rtlCol="0" anchor="ctr"/>
          <a:lstStyle/>
          <a:p>
            <a:pPr indent="0" marL="0">
              <a:lnSpc>
                <a:spcPct val="115000"/>
              </a:lnSpc>
              <a:buNone/>
            </a:pPr>
            <a:r>
              <a:rPr lang="en-US" sz="1600" dirty="0">
                <a:solidFill>
                  <a:srgbClr val="2D3436"/>
                </a:solidFill>
                <a:latin typeface="BIZ UDPGothic" pitchFamily="34" charset="0"/>
                <a:ea typeface="BIZ UDPGothic" pitchFamily="34" charset="-122"/>
                <a:cs typeface="BIZ UDPGothic" pitchFamily="34" charset="-120"/>
              </a:rPr>
              <a:t>突然の複視＋頭痛 / 瞳孔異常</a:t>
            </a:r>
            <a:endParaRPr lang="en-US" sz="1600" dirty="0"/>
          </a:p>
          <a:p>
            <a:pPr indent="0" marL="0">
              <a:lnSpc>
                <a:spcPct val="115000"/>
              </a:lnSpc>
              <a:buNone/>
            </a:pPr>
            <a:r>
              <a:rPr lang="en-US" sz="1600" dirty="0">
                <a:solidFill>
                  <a:srgbClr val="2D3436"/>
                </a:solidFill>
                <a:latin typeface="BIZ UDPGothic" pitchFamily="34" charset="0"/>
                <a:ea typeface="BIZ UDPGothic" pitchFamily="34" charset="-122"/>
                <a:cs typeface="BIZ UDPGothic" pitchFamily="34" charset="-120"/>
              </a:rPr>
              <a:t>ろれつ障害・片側麻痺を伴う</a:t>
            </a:r>
            <a:endParaRPr lang="en-US" sz="1600" dirty="0"/>
          </a:p>
        </p:txBody>
      </p:sp>
      <p:sp>
        <p:nvSpPr>
          <p:cNvPr id="8" name="Text 6"/>
          <p:cNvSpPr/>
          <p:nvPr/>
        </p:nvSpPr>
        <p:spPr>
          <a:xfrm>
            <a:off x="5486400" y="1188720"/>
            <a:ext cx="3017520" cy="731520"/>
          </a:xfrm>
          <a:prstGeom prst="rect">
            <a:avLst/>
          </a:prstGeom>
          <a:noFill/>
          <a:ln/>
        </p:spPr>
        <p:txBody>
          <a:bodyPr wrap="square" lIns="0" tIns="0" rIns="0" bIns="0" rtlCol="0" anchor="ctr"/>
          <a:lstStyle/>
          <a:p>
            <a:pPr indent="0" marL="0">
              <a:lnSpc>
                <a:spcPct val="115000"/>
              </a:lnSpc>
              <a:buNone/>
            </a:pPr>
            <a:r>
              <a:rPr lang="en-US" sz="1600" b="1" dirty="0">
                <a:solidFill>
                  <a:srgbClr val="DC3545"/>
                </a:solidFill>
                <a:latin typeface="BIZ UDPGothic" pitchFamily="34" charset="0"/>
                <a:ea typeface="BIZ UDPGothic" pitchFamily="34" charset="-122"/>
                <a:cs typeface="BIZ UDPGothic" pitchFamily="34" charset="-120"/>
              </a:rPr>
              <a:t>脳動脈瘤・脳卒中の</a:t>
            </a:r>
            <a:endParaRPr lang="en-US" sz="1600" dirty="0"/>
          </a:p>
          <a:p>
            <a:pPr indent="0" marL="0">
              <a:lnSpc>
                <a:spcPct val="115000"/>
              </a:lnSpc>
              <a:buNone/>
            </a:pPr>
            <a:r>
              <a:rPr lang="en-US" sz="1600" b="1" dirty="0">
                <a:solidFill>
                  <a:srgbClr val="DC3545"/>
                </a:solidFill>
                <a:latin typeface="BIZ UDPGothic" pitchFamily="34" charset="0"/>
                <a:ea typeface="BIZ UDPGothic" pitchFamily="34" charset="-122"/>
                <a:cs typeface="BIZ UDPGothic" pitchFamily="34" charset="-120"/>
              </a:rPr>
              <a:t>可能性→119番</a:t>
            </a:r>
            <a:endParaRPr lang="en-US" sz="1600" dirty="0"/>
          </a:p>
        </p:txBody>
      </p:sp>
      <p:sp>
        <p:nvSpPr>
          <p:cNvPr id="9" name="Shape 7"/>
          <p:cNvSpPr/>
          <p:nvPr/>
        </p:nvSpPr>
        <p:spPr>
          <a:xfrm>
            <a:off x="457200" y="2240280"/>
            <a:ext cx="8229600" cy="1005840"/>
          </a:xfrm>
          <a:prstGeom prst="rect">
            <a:avLst>
              <a:gd name="adj" fmla="val 9091"/>
            </a:avLst>
          </a:prstGeom>
          <a:solidFill>
            <a:srgbClr val="FFF3CD"/>
          </a:solidFill>
          <a:ln/>
          <a:effectLst>
            <a:outerShdw sx="100000" sy="100000" kx="0" ky="0" algn="bl" rotWithShape="0" blurRad="50800" dist="25400" dir="8100000">
              <a:srgbClr val="000000">
                <a:alpha val="12000"/>
              </a:srgbClr>
            </a:outerShdw>
          </a:effectLst>
        </p:spPr>
      </p:sp>
      <p:sp>
        <p:nvSpPr>
          <p:cNvPr id="10" name="Shape 8"/>
          <p:cNvSpPr/>
          <p:nvPr/>
        </p:nvSpPr>
        <p:spPr>
          <a:xfrm>
            <a:off x="457200" y="2240280"/>
            <a:ext cx="109728" cy="1005840"/>
          </a:xfrm>
          <a:prstGeom prst="rect">
            <a:avLst>
              <a:gd name="adj" fmla="val 41667"/>
            </a:avLst>
          </a:prstGeom>
          <a:solidFill>
            <a:srgbClr val="856404"/>
          </a:solidFill>
          <a:ln/>
        </p:spPr>
      </p:sp>
      <p:sp>
        <p:nvSpPr>
          <p:cNvPr id="11" name="Text 9"/>
          <p:cNvSpPr/>
          <p:nvPr/>
        </p:nvSpPr>
        <p:spPr>
          <a:xfrm>
            <a:off x="731520" y="2286000"/>
            <a:ext cx="2743200" cy="411480"/>
          </a:xfrm>
          <a:prstGeom prst="rect">
            <a:avLst/>
          </a:prstGeom>
          <a:noFill/>
          <a:ln/>
        </p:spPr>
        <p:txBody>
          <a:bodyPr wrap="square" lIns="0" tIns="0" rIns="0" bIns="0" rtlCol="0" anchor="ctr"/>
          <a:lstStyle/>
          <a:p>
            <a:pPr indent="0" marL="0">
              <a:buNone/>
            </a:pPr>
            <a:r>
              <a:rPr lang="en-US" sz="2100" b="1" dirty="0">
                <a:solidFill>
                  <a:srgbClr val="856404"/>
                </a:solidFill>
                <a:latin typeface="BIZ UDPGothic" pitchFamily="34" charset="0"/>
                <a:ea typeface="BIZ UDPGothic" pitchFamily="34" charset="-122"/>
                <a:cs typeface="BIZ UDPGothic" pitchFamily="34" charset="-120"/>
              </a:rPr>
              <a:t>🟡 早めに受診</a:t>
            </a:r>
            <a:endParaRPr lang="en-US" sz="2100" dirty="0"/>
          </a:p>
        </p:txBody>
      </p:sp>
      <p:sp>
        <p:nvSpPr>
          <p:cNvPr id="12" name="Text 10"/>
          <p:cNvSpPr/>
          <p:nvPr/>
        </p:nvSpPr>
        <p:spPr>
          <a:xfrm>
            <a:off x="731520" y="2697480"/>
            <a:ext cx="4572000" cy="502920"/>
          </a:xfrm>
          <a:prstGeom prst="rect">
            <a:avLst/>
          </a:prstGeom>
          <a:noFill/>
          <a:ln/>
        </p:spPr>
        <p:txBody>
          <a:bodyPr wrap="square" lIns="0" tIns="0" rIns="0" bIns="0" rtlCol="0" anchor="ctr"/>
          <a:lstStyle/>
          <a:p>
            <a:pPr indent="0" marL="0">
              <a:lnSpc>
                <a:spcPct val="115000"/>
              </a:lnSpc>
              <a:buNone/>
            </a:pPr>
            <a:r>
              <a:rPr lang="en-US" sz="1600" dirty="0">
                <a:solidFill>
                  <a:srgbClr val="2D3436"/>
                </a:solidFill>
                <a:latin typeface="BIZ UDPGothic" pitchFamily="34" charset="0"/>
                <a:ea typeface="BIZ UDPGothic" pitchFamily="34" charset="-122"/>
                <a:cs typeface="BIZ UDPGothic" pitchFamily="34" charset="-120"/>
              </a:rPr>
              <a:t>数日以上続く / 悪化傾向</a:t>
            </a:r>
            <a:endParaRPr lang="en-US" sz="1600" dirty="0"/>
          </a:p>
          <a:p>
            <a:pPr indent="0" marL="0">
              <a:lnSpc>
                <a:spcPct val="115000"/>
              </a:lnSpc>
              <a:buNone/>
            </a:pPr>
            <a:r>
              <a:rPr lang="en-US" sz="1600" dirty="0">
                <a:solidFill>
                  <a:srgbClr val="2D3436"/>
                </a:solidFill>
                <a:latin typeface="BIZ UDPGothic" pitchFamily="34" charset="0"/>
                <a:ea typeface="BIZ UDPGothic" pitchFamily="34" charset="-122"/>
                <a:cs typeface="BIZ UDPGothic" pitchFamily="34" charset="-120"/>
              </a:rPr>
              <a:t>まぶた下垂を伴う</a:t>
            </a:r>
            <a:endParaRPr lang="en-US" sz="1600" dirty="0"/>
          </a:p>
        </p:txBody>
      </p:sp>
      <p:sp>
        <p:nvSpPr>
          <p:cNvPr id="13" name="Text 11"/>
          <p:cNvSpPr/>
          <p:nvPr/>
        </p:nvSpPr>
        <p:spPr>
          <a:xfrm>
            <a:off x="5486400" y="2377440"/>
            <a:ext cx="3017520" cy="731520"/>
          </a:xfrm>
          <a:prstGeom prst="rect">
            <a:avLst/>
          </a:prstGeom>
          <a:noFill/>
          <a:ln/>
        </p:spPr>
        <p:txBody>
          <a:bodyPr wrap="square" lIns="0" tIns="0" rIns="0" bIns="0" rtlCol="0" anchor="ctr"/>
          <a:lstStyle/>
          <a:p>
            <a:pPr indent="0" marL="0">
              <a:lnSpc>
                <a:spcPct val="115000"/>
              </a:lnSpc>
              <a:buNone/>
            </a:pPr>
            <a:r>
              <a:rPr lang="en-US" sz="1600" b="1" dirty="0">
                <a:solidFill>
                  <a:srgbClr val="856404"/>
                </a:solidFill>
                <a:latin typeface="BIZ UDPGothic" pitchFamily="34" charset="0"/>
                <a:ea typeface="BIZ UDPGothic" pitchFamily="34" charset="-122"/>
                <a:cs typeface="BIZ UDPGothic" pitchFamily="34" charset="-120"/>
              </a:rPr>
              <a:t>脳神経内科を受診</a:t>
            </a:r>
            <a:endParaRPr lang="en-US" sz="1600" dirty="0"/>
          </a:p>
          <a:p>
            <a:pPr indent="0" marL="0">
              <a:lnSpc>
                <a:spcPct val="115000"/>
              </a:lnSpc>
              <a:buNone/>
            </a:pPr>
            <a:r>
              <a:rPr lang="en-US" sz="1600" b="1" dirty="0">
                <a:solidFill>
                  <a:srgbClr val="856404"/>
                </a:solidFill>
                <a:latin typeface="BIZ UDPGothic" pitchFamily="34" charset="0"/>
                <a:ea typeface="BIZ UDPGothic" pitchFamily="34" charset="-122"/>
                <a:cs typeface="BIZ UDPGothic" pitchFamily="34" charset="-120"/>
              </a:rPr>
              <a:t>原因精査が必要</a:t>
            </a:r>
            <a:endParaRPr lang="en-US" sz="1600" dirty="0"/>
          </a:p>
        </p:txBody>
      </p:sp>
      <p:sp>
        <p:nvSpPr>
          <p:cNvPr id="14" name="Shape 12"/>
          <p:cNvSpPr/>
          <p:nvPr/>
        </p:nvSpPr>
        <p:spPr>
          <a:xfrm>
            <a:off x="457200" y="3429000"/>
            <a:ext cx="8229600" cy="1005840"/>
          </a:xfrm>
          <a:prstGeom prst="rect">
            <a:avLst>
              <a:gd name="adj" fmla="val 9091"/>
            </a:avLst>
          </a:prstGeom>
          <a:solidFill>
            <a:srgbClr val="D4EDDA"/>
          </a:solidFill>
          <a:ln/>
          <a:effectLst>
            <a:outerShdw sx="100000" sy="100000" kx="0" ky="0" algn="bl" rotWithShape="0" blurRad="50800" dist="25400" dir="8100000">
              <a:srgbClr val="000000">
                <a:alpha val="12000"/>
              </a:srgbClr>
            </a:outerShdw>
          </a:effectLst>
        </p:spPr>
      </p:sp>
      <p:sp>
        <p:nvSpPr>
          <p:cNvPr id="15" name="Shape 13"/>
          <p:cNvSpPr/>
          <p:nvPr/>
        </p:nvSpPr>
        <p:spPr>
          <a:xfrm>
            <a:off x="457200" y="3429000"/>
            <a:ext cx="109728" cy="1005840"/>
          </a:xfrm>
          <a:prstGeom prst="rect">
            <a:avLst>
              <a:gd name="adj" fmla="val 41667"/>
            </a:avLst>
          </a:prstGeom>
          <a:solidFill>
            <a:srgbClr val="28A745"/>
          </a:solidFill>
          <a:ln/>
        </p:spPr>
      </p:sp>
      <p:sp>
        <p:nvSpPr>
          <p:cNvPr id="16" name="Text 14"/>
          <p:cNvSpPr/>
          <p:nvPr/>
        </p:nvSpPr>
        <p:spPr>
          <a:xfrm>
            <a:off x="731520" y="3474720"/>
            <a:ext cx="2743200" cy="411480"/>
          </a:xfrm>
          <a:prstGeom prst="rect">
            <a:avLst/>
          </a:prstGeom>
          <a:noFill/>
          <a:ln/>
        </p:spPr>
        <p:txBody>
          <a:bodyPr wrap="square" lIns="0" tIns="0" rIns="0" bIns="0" rtlCol="0" anchor="ctr"/>
          <a:lstStyle/>
          <a:p>
            <a:pPr indent="0" marL="0">
              <a:buNone/>
            </a:pPr>
            <a:r>
              <a:rPr lang="en-US" sz="2100" b="1" dirty="0">
                <a:solidFill>
                  <a:srgbClr val="28A745"/>
                </a:solidFill>
                <a:latin typeface="BIZ UDPGothic" pitchFamily="34" charset="0"/>
                <a:ea typeface="BIZ UDPGothic" pitchFamily="34" charset="-122"/>
                <a:cs typeface="BIZ UDPGothic" pitchFamily="34" charset="-120"/>
              </a:rPr>
              <a:t>🟢 様子見OK</a:t>
            </a:r>
            <a:endParaRPr lang="en-US" sz="2100" dirty="0"/>
          </a:p>
        </p:txBody>
      </p:sp>
      <p:sp>
        <p:nvSpPr>
          <p:cNvPr id="17" name="Text 15"/>
          <p:cNvSpPr/>
          <p:nvPr/>
        </p:nvSpPr>
        <p:spPr>
          <a:xfrm>
            <a:off x="731520" y="3886200"/>
            <a:ext cx="4572000" cy="502920"/>
          </a:xfrm>
          <a:prstGeom prst="rect">
            <a:avLst/>
          </a:prstGeom>
          <a:noFill/>
          <a:ln/>
        </p:spPr>
        <p:txBody>
          <a:bodyPr wrap="square" lIns="0" tIns="0" rIns="0" bIns="0" rtlCol="0" anchor="ctr"/>
          <a:lstStyle/>
          <a:p>
            <a:pPr indent="0" marL="0">
              <a:lnSpc>
                <a:spcPct val="115000"/>
              </a:lnSpc>
              <a:buNone/>
            </a:pPr>
            <a:r>
              <a:rPr lang="en-US" sz="1600" dirty="0">
                <a:solidFill>
                  <a:srgbClr val="2D3436"/>
                </a:solidFill>
                <a:latin typeface="BIZ UDPGothic" pitchFamily="34" charset="0"/>
                <a:ea typeface="BIZ UDPGothic" pitchFamily="34" charset="-122"/>
                <a:cs typeface="BIZ UDPGothic" pitchFamily="34" charset="-120"/>
              </a:rPr>
              <a:t>疲れた時だけ一時的に見える</a:t>
            </a:r>
            <a:endParaRPr lang="en-US" sz="1600" dirty="0"/>
          </a:p>
          <a:p>
            <a:pPr indent="0" marL="0">
              <a:lnSpc>
                <a:spcPct val="115000"/>
              </a:lnSpc>
              <a:buNone/>
            </a:pPr>
            <a:r>
              <a:rPr lang="en-US" sz="1600" dirty="0">
                <a:solidFill>
                  <a:srgbClr val="2D3436"/>
                </a:solidFill>
                <a:latin typeface="BIZ UDPGothic" pitchFamily="34" charset="0"/>
                <a:ea typeface="BIZ UDPGothic" pitchFamily="34" charset="-122"/>
                <a:cs typeface="BIZ UDPGothic" pitchFamily="34" charset="-120"/>
              </a:rPr>
              <a:t>片目でも二重（乱視など）</a:t>
            </a:r>
            <a:endParaRPr lang="en-US" sz="1600" dirty="0"/>
          </a:p>
        </p:txBody>
      </p:sp>
      <p:sp>
        <p:nvSpPr>
          <p:cNvPr id="18" name="Text 16"/>
          <p:cNvSpPr/>
          <p:nvPr/>
        </p:nvSpPr>
        <p:spPr>
          <a:xfrm>
            <a:off x="5486400" y="3566160"/>
            <a:ext cx="3017520" cy="731520"/>
          </a:xfrm>
          <a:prstGeom prst="rect">
            <a:avLst/>
          </a:prstGeom>
          <a:noFill/>
          <a:ln/>
        </p:spPr>
        <p:txBody>
          <a:bodyPr wrap="square" lIns="0" tIns="0" rIns="0" bIns="0" rtlCol="0" anchor="ctr"/>
          <a:lstStyle/>
          <a:p>
            <a:pPr indent="0" marL="0">
              <a:lnSpc>
                <a:spcPct val="115000"/>
              </a:lnSpc>
              <a:buNone/>
            </a:pPr>
            <a:r>
              <a:rPr lang="en-US" sz="1600" b="1" dirty="0">
                <a:solidFill>
                  <a:srgbClr val="28A745"/>
                </a:solidFill>
                <a:latin typeface="BIZ UDPGothic" pitchFamily="34" charset="0"/>
                <a:ea typeface="BIZ UDPGothic" pitchFamily="34" charset="-122"/>
                <a:cs typeface="BIZ UDPGothic" pitchFamily="34" charset="-120"/>
              </a:rPr>
              <a:t>眼科で視力チェック</a:t>
            </a:r>
            <a:endParaRPr lang="en-US" sz="1600" dirty="0"/>
          </a:p>
          <a:p>
            <a:pPr indent="0" marL="0">
              <a:lnSpc>
                <a:spcPct val="115000"/>
              </a:lnSpc>
              <a:buNone/>
            </a:pPr>
            <a:r>
              <a:rPr lang="en-US" sz="1600" b="1" dirty="0">
                <a:solidFill>
                  <a:srgbClr val="28A745"/>
                </a:solidFill>
                <a:latin typeface="BIZ UDPGothic" pitchFamily="34" charset="0"/>
                <a:ea typeface="BIZ UDPGothic" pitchFamily="34" charset="-122"/>
                <a:cs typeface="BIZ UDPGothic" pitchFamily="34" charset="-120"/>
              </a:rPr>
              <a:t>悪化したら再受診</a:t>
            </a:r>
            <a:endParaRPr lang="en-US" sz="1600" dirty="0"/>
          </a:p>
        </p:txBody>
      </p:sp>
      <p:sp>
        <p:nvSpPr>
          <p:cNvPr id="19" name="Shape 17"/>
          <p:cNvSpPr/>
          <p:nvPr/>
        </p:nvSpPr>
        <p:spPr>
          <a:xfrm>
            <a:off x="0" y="4800600"/>
            <a:ext cx="9144000" cy="347472"/>
          </a:xfrm>
          <a:prstGeom prst="rect">
            <a:avLst/>
          </a:prstGeom>
          <a:solidFill>
            <a:srgbClr val="1B3A5C"/>
          </a:solidFill>
          <a:ln/>
        </p:spPr>
      </p:sp>
      <p:sp>
        <p:nvSpPr>
          <p:cNvPr id="20" name="Text 18"/>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#07</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複視の原因を調べる検査</a:t>
            </a:r>
            <a:endParaRPr lang="en-US" sz="2600" dirty="0"/>
          </a:p>
        </p:txBody>
      </p:sp>
      <p:sp>
        <p:nvSpPr>
          <p:cNvPr id="4" name="Shape 2"/>
          <p:cNvSpPr/>
          <p:nvPr/>
        </p:nvSpPr>
        <p:spPr>
          <a:xfrm>
            <a:off x="457200" y="960120"/>
            <a:ext cx="8229600" cy="640080"/>
          </a:xfrm>
          <a:prstGeom prst="rect">
            <a:avLst>
              <a:gd name="adj" fmla="val 14286"/>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457200" y="960120"/>
            <a:ext cx="109728" cy="640080"/>
          </a:xfrm>
          <a:prstGeom prst="rect">
            <a:avLst>
              <a:gd name="adj" fmla="val 41667"/>
            </a:avLst>
          </a:prstGeom>
          <a:solidFill>
            <a:srgbClr val="2C5AA0"/>
          </a:solidFill>
          <a:ln/>
        </p:spPr>
      </p:sp>
      <p:sp>
        <p:nvSpPr>
          <p:cNvPr id="6" name="Text 4"/>
          <p:cNvSpPr/>
          <p:nvPr/>
        </p:nvSpPr>
        <p:spPr>
          <a:xfrm>
            <a:off x="640080" y="1033272"/>
            <a:ext cx="54864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1280160" y="1033272"/>
            <a:ext cx="2560320" cy="502920"/>
          </a:xfrm>
          <a:prstGeom prst="rect">
            <a:avLst/>
          </a:prstGeom>
          <a:noFill/>
          <a:ln/>
        </p:spPr>
        <p:txBody>
          <a:bodyPr wrap="square" lIns="0" tIns="0" rIns="0" bIns="0" rtlCol="0" anchor="ctr"/>
          <a:lstStyle/>
          <a:p>
            <a:pPr indent="0" marL="0">
              <a:buNone/>
            </a:pPr>
            <a:r>
              <a:rPr lang="en-US" sz="1800" b="1" dirty="0">
                <a:solidFill>
                  <a:srgbClr val="2C5AA0"/>
                </a:solidFill>
                <a:latin typeface="BIZ UDPGothic" pitchFamily="34" charset="0"/>
                <a:ea typeface="BIZ UDPGothic" pitchFamily="34" charset="-122"/>
                <a:cs typeface="BIZ UDPGothic" pitchFamily="34" charset="-120"/>
              </a:rPr>
              <a:t>頭部MRI / MRA</a:t>
            </a:r>
            <a:endParaRPr lang="en-US" sz="1800" dirty="0"/>
          </a:p>
        </p:txBody>
      </p:sp>
      <p:sp>
        <p:nvSpPr>
          <p:cNvPr id="8" name="Text 6"/>
          <p:cNvSpPr/>
          <p:nvPr/>
        </p:nvSpPr>
        <p:spPr>
          <a:xfrm>
            <a:off x="3931920" y="1033272"/>
            <a:ext cx="3657600" cy="320040"/>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脳動脈瘤・脳腫瘍・脳卒中の評価</a:t>
            </a:r>
            <a:endParaRPr lang="en-US" sz="1400" dirty="0"/>
          </a:p>
        </p:txBody>
      </p:sp>
      <p:sp>
        <p:nvSpPr>
          <p:cNvPr id="9" name="Text 7"/>
          <p:cNvSpPr/>
          <p:nvPr/>
        </p:nvSpPr>
        <p:spPr>
          <a:xfrm>
            <a:off x="3931920" y="1325880"/>
            <a:ext cx="3657600" cy="228600"/>
          </a:xfrm>
          <a:prstGeom prst="rect">
            <a:avLst/>
          </a:prstGeom>
          <a:noFill/>
          <a:ln/>
        </p:spPr>
        <p:txBody>
          <a:bodyPr wrap="square" lIns="0" tIns="0" rIns="0" bIns="0" rtlCol="0" anchor="ctr"/>
          <a:lstStyle/>
          <a:p>
            <a:pPr indent="0" marL="0">
              <a:buNone/>
            </a:pPr>
            <a:r>
              <a:rPr lang="en-US" sz="1200" dirty="0">
                <a:solidFill>
                  <a:srgbClr val="636E72"/>
                </a:solidFill>
                <a:latin typeface="BIZ UDPGothic" pitchFamily="34" charset="0"/>
                <a:ea typeface="BIZ UDPGothic" pitchFamily="34" charset="-122"/>
                <a:cs typeface="BIZ UDPGothic" pitchFamily="34" charset="-120"/>
              </a:rPr>
              <a:t>両眼性複視では必須</a:t>
            </a:r>
            <a:endParaRPr lang="en-US" sz="1200" dirty="0"/>
          </a:p>
        </p:txBody>
      </p:sp>
      <p:sp>
        <p:nvSpPr>
          <p:cNvPr id="10" name="Shape 8"/>
          <p:cNvSpPr/>
          <p:nvPr/>
        </p:nvSpPr>
        <p:spPr>
          <a:xfrm>
            <a:off x="457200" y="1709928"/>
            <a:ext cx="8229600" cy="640080"/>
          </a:xfrm>
          <a:prstGeom prst="rect">
            <a:avLst>
              <a:gd name="adj" fmla="val 14286"/>
            </a:avLst>
          </a:prstGeom>
          <a:solidFill>
            <a:srgbClr val="FFFFFF"/>
          </a:solidFill>
          <a:ln/>
          <a:effectLst>
            <a:outerShdw sx="100000" sy="100000" kx="0" ky="0" algn="bl" rotWithShape="0" blurRad="50800" dist="25400" dir="8100000">
              <a:srgbClr val="000000">
                <a:alpha val="12000"/>
              </a:srgbClr>
            </a:outerShdw>
          </a:effectLst>
        </p:spPr>
      </p:sp>
      <p:sp>
        <p:nvSpPr>
          <p:cNvPr id="11" name="Shape 9"/>
          <p:cNvSpPr/>
          <p:nvPr/>
        </p:nvSpPr>
        <p:spPr>
          <a:xfrm>
            <a:off x="457200" y="1709928"/>
            <a:ext cx="109728" cy="640080"/>
          </a:xfrm>
          <a:prstGeom prst="rect">
            <a:avLst>
              <a:gd name="adj" fmla="val 41667"/>
            </a:avLst>
          </a:prstGeom>
          <a:solidFill>
            <a:srgbClr val="2C5AA0"/>
          </a:solidFill>
          <a:ln/>
        </p:spPr>
      </p:sp>
      <p:sp>
        <p:nvSpPr>
          <p:cNvPr id="12" name="Text 10"/>
          <p:cNvSpPr/>
          <p:nvPr/>
        </p:nvSpPr>
        <p:spPr>
          <a:xfrm>
            <a:off x="640080" y="1783080"/>
            <a:ext cx="54864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3" name="Text 11"/>
          <p:cNvSpPr/>
          <p:nvPr/>
        </p:nvSpPr>
        <p:spPr>
          <a:xfrm>
            <a:off x="1280160" y="1783080"/>
            <a:ext cx="2560320" cy="502920"/>
          </a:xfrm>
          <a:prstGeom prst="rect">
            <a:avLst/>
          </a:prstGeom>
          <a:noFill/>
          <a:ln/>
        </p:spPr>
        <p:txBody>
          <a:bodyPr wrap="square" lIns="0" tIns="0" rIns="0" bIns="0" rtlCol="0" anchor="ctr"/>
          <a:lstStyle/>
          <a:p>
            <a:pPr indent="0" marL="0">
              <a:buNone/>
            </a:pPr>
            <a:r>
              <a:rPr lang="en-US" sz="1800" b="1" dirty="0">
                <a:solidFill>
                  <a:srgbClr val="2C5AA0"/>
                </a:solidFill>
                <a:latin typeface="BIZ UDPGothic" pitchFamily="34" charset="0"/>
                <a:ea typeface="BIZ UDPGothic" pitchFamily="34" charset="-122"/>
                <a:cs typeface="BIZ UDPGothic" pitchFamily="34" charset="-120"/>
              </a:rPr>
              <a:t>血液検査</a:t>
            </a:r>
            <a:endParaRPr lang="en-US" sz="1800" dirty="0"/>
          </a:p>
        </p:txBody>
      </p:sp>
      <p:sp>
        <p:nvSpPr>
          <p:cNvPr id="14" name="Text 12"/>
          <p:cNvSpPr/>
          <p:nvPr/>
        </p:nvSpPr>
        <p:spPr>
          <a:xfrm>
            <a:off x="3931920" y="1783080"/>
            <a:ext cx="3657600" cy="320040"/>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糖尿病・甲状腺機能・抗AChR抗体</a:t>
            </a:r>
            <a:endParaRPr lang="en-US" sz="1400" dirty="0"/>
          </a:p>
        </p:txBody>
      </p:sp>
      <p:sp>
        <p:nvSpPr>
          <p:cNvPr id="15" name="Text 13"/>
          <p:cNvSpPr/>
          <p:nvPr/>
        </p:nvSpPr>
        <p:spPr>
          <a:xfrm>
            <a:off x="3931920" y="2075688"/>
            <a:ext cx="3657600" cy="228600"/>
          </a:xfrm>
          <a:prstGeom prst="rect">
            <a:avLst/>
          </a:prstGeom>
          <a:noFill/>
          <a:ln/>
        </p:spPr>
        <p:txBody>
          <a:bodyPr wrap="square" lIns="0" tIns="0" rIns="0" bIns="0" rtlCol="0" anchor="ctr"/>
          <a:lstStyle/>
          <a:p>
            <a:pPr indent="0" marL="0">
              <a:buNone/>
            </a:pPr>
            <a:r>
              <a:rPr lang="en-US" sz="1200" dirty="0">
                <a:solidFill>
                  <a:srgbClr val="636E72"/>
                </a:solidFill>
                <a:latin typeface="BIZ UDPGothic" pitchFamily="34" charset="0"/>
                <a:ea typeface="BIZ UDPGothic" pitchFamily="34" charset="-122"/>
                <a:cs typeface="BIZ UDPGothic" pitchFamily="34" charset="-120"/>
              </a:rPr>
              <a:t>重症筋無力症の抗体検査</a:t>
            </a:r>
            <a:endParaRPr lang="en-US" sz="1200" dirty="0"/>
          </a:p>
        </p:txBody>
      </p:sp>
      <p:sp>
        <p:nvSpPr>
          <p:cNvPr id="16" name="Shape 14"/>
          <p:cNvSpPr/>
          <p:nvPr/>
        </p:nvSpPr>
        <p:spPr>
          <a:xfrm>
            <a:off x="457200" y="2459736"/>
            <a:ext cx="8229600" cy="640080"/>
          </a:xfrm>
          <a:prstGeom prst="rect">
            <a:avLst>
              <a:gd name="adj" fmla="val 14286"/>
            </a:avLst>
          </a:prstGeom>
          <a:solidFill>
            <a:srgbClr val="FFFFFF"/>
          </a:solidFill>
          <a:ln/>
          <a:effectLst>
            <a:outerShdw sx="100000" sy="100000" kx="0" ky="0" algn="bl" rotWithShape="0" blurRad="50800" dist="25400" dir="8100000">
              <a:srgbClr val="000000">
                <a:alpha val="12000"/>
              </a:srgbClr>
            </a:outerShdw>
          </a:effectLst>
        </p:spPr>
      </p:sp>
      <p:sp>
        <p:nvSpPr>
          <p:cNvPr id="17" name="Shape 15"/>
          <p:cNvSpPr/>
          <p:nvPr/>
        </p:nvSpPr>
        <p:spPr>
          <a:xfrm>
            <a:off x="457200" y="2459736"/>
            <a:ext cx="109728" cy="640080"/>
          </a:xfrm>
          <a:prstGeom prst="rect">
            <a:avLst>
              <a:gd name="adj" fmla="val 41667"/>
            </a:avLst>
          </a:prstGeom>
          <a:solidFill>
            <a:srgbClr val="2C5AA0"/>
          </a:solidFill>
          <a:ln/>
        </p:spPr>
      </p:sp>
      <p:sp>
        <p:nvSpPr>
          <p:cNvPr id="18" name="Text 16"/>
          <p:cNvSpPr/>
          <p:nvPr/>
        </p:nvSpPr>
        <p:spPr>
          <a:xfrm>
            <a:off x="640080" y="2532888"/>
            <a:ext cx="54864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9" name="Text 17"/>
          <p:cNvSpPr/>
          <p:nvPr/>
        </p:nvSpPr>
        <p:spPr>
          <a:xfrm>
            <a:off x="1280160" y="2532888"/>
            <a:ext cx="2560320" cy="502920"/>
          </a:xfrm>
          <a:prstGeom prst="rect">
            <a:avLst/>
          </a:prstGeom>
          <a:noFill/>
          <a:ln/>
        </p:spPr>
        <p:txBody>
          <a:bodyPr wrap="square" lIns="0" tIns="0" rIns="0" bIns="0" rtlCol="0" anchor="ctr"/>
          <a:lstStyle/>
          <a:p>
            <a:pPr indent="0" marL="0">
              <a:buNone/>
            </a:pPr>
            <a:r>
              <a:rPr lang="en-US" sz="1800" b="1" dirty="0">
                <a:solidFill>
                  <a:srgbClr val="2C5AA0"/>
                </a:solidFill>
                <a:latin typeface="BIZ UDPGothic" pitchFamily="34" charset="0"/>
                <a:ea typeface="BIZ UDPGothic" pitchFamily="34" charset="-122"/>
                <a:cs typeface="BIZ UDPGothic" pitchFamily="34" charset="-120"/>
              </a:rPr>
              <a:t>眼科検査</a:t>
            </a:r>
            <a:endParaRPr lang="en-US" sz="1800" dirty="0"/>
          </a:p>
        </p:txBody>
      </p:sp>
      <p:sp>
        <p:nvSpPr>
          <p:cNvPr id="20" name="Text 18"/>
          <p:cNvSpPr/>
          <p:nvPr/>
        </p:nvSpPr>
        <p:spPr>
          <a:xfrm>
            <a:off x="3931920" y="2532888"/>
            <a:ext cx="3657600" cy="320040"/>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視力・眼位・眼球運動の評価</a:t>
            </a:r>
            <a:endParaRPr lang="en-US" sz="1400" dirty="0"/>
          </a:p>
        </p:txBody>
      </p:sp>
      <p:sp>
        <p:nvSpPr>
          <p:cNvPr id="21" name="Text 19"/>
          <p:cNvSpPr/>
          <p:nvPr/>
        </p:nvSpPr>
        <p:spPr>
          <a:xfrm>
            <a:off x="3931920" y="2825496"/>
            <a:ext cx="3657600" cy="228600"/>
          </a:xfrm>
          <a:prstGeom prst="rect">
            <a:avLst/>
          </a:prstGeom>
          <a:noFill/>
          <a:ln/>
        </p:spPr>
        <p:txBody>
          <a:bodyPr wrap="square" lIns="0" tIns="0" rIns="0" bIns="0" rtlCol="0" anchor="ctr"/>
          <a:lstStyle/>
          <a:p>
            <a:pPr indent="0" marL="0">
              <a:buNone/>
            </a:pPr>
            <a:r>
              <a:rPr lang="en-US" sz="1200" dirty="0">
                <a:solidFill>
                  <a:srgbClr val="636E72"/>
                </a:solidFill>
                <a:latin typeface="BIZ UDPGothic" pitchFamily="34" charset="0"/>
                <a:ea typeface="BIZ UDPGothic" pitchFamily="34" charset="-122"/>
                <a:cs typeface="BIZ UDPGothic" pitchFamily="34" charset="-120"/>
              </a:rPr>
              <a:t>単眼性/両眼性の鑑別</a:t>
            </a:r>
            <a:endParaRPr lang="en-US" sz="1200" dirty="0"/>
          </a:p>
        </p:txBody>
      </p:sp>
      <p:sp>
        <p:nvSpPr>
          <p:cNvPr id="22" name="Shape 20"/>
          <p:cNvSpPr/>
          <p:nvPr/>
        </p:nvSpPr>
        <p:spPr>
          <a:xfrm>
            <a:off x="457200" y="3209544"/>
            <a:ext cx="8229600" cy="640080"/>
          </a:xfrm>
          <a:prstGeom prst="rect">
            <a:avLst>
              <a:gd name="adj" fmla="val 14286"/>
            </a:avLst>
          </a:prstGeom>
          <a:solidFill>
            <a:srgbClr val="FFFFFF"/>
          </a:solidFill>
          <a:ln/>
          <a:effectLst>
            <a:outerShdw sx="100000" sy="100000" kx="0" ky="0" algn="bl" rotWithShape="0" blurRad="50800" dist="25400" dir="8100000">
              <a:srgbClr val="000000">
                <a:alpha val="12000"/>
              </a:srgbClr>
            </a:outerShdw>
          </a:effectLst>
        </p:spPr>
      </p:sp>
      <p:sp>
        <p:nvSpPr>
          <p:cNvPr id="23" name="Shape 21"/>
          <p:cNvSpPr/>
          <p:nvPr/>
        </p:nvSpPr>
        <p:spPr>
          <a:xfrm>
            <a:off x="457200" y="3209544"/>
            <a:ext cx="109728" cy="640080"/>
          </a:xfrm>
          <a:prstGeom prst="rect">
            <a:avLst>
              <a:gd name="adj" fmla="val 41667"/>
            </a:avLst>
          </a:prstGeom>
          <a:solidFill>
            <a:srgbClr val="2C5AA0"/>
          </a:solidFill>
          <a:ln/>
        </p:spPr>
      </p:sp>
      <p:sp>
        <p:nvSpPr>
          <p:cNvPr id="24" name="Text 22"/>
          <p:cNvSpPr/>
          <p:nvPr/>
        </p:nvSpPr>
        <p:spPr>
          <a:xfrm>
            <a:off x="640080" y="3282696"/>
            <a:ext cx="54864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5" name="Text 23"/>
          <p:cNvSpPr/>
          <p:nvPr/>
        </p:nvSpPr>
        <p:spPr>
          <a:xfrm>
            <a:off x="1280160" y="3282696"/>
            <a:ext cx="2560320" cy="502920"/>
          </a:xfrm>
          <a:prstGeom prst="rect">
            <a:avLst/>
          </a:prstGeom>
          <a:noFill/>
          <a:ln/>
        </p:spPr>
        <p:txBody>
          <a:bodyPr wrap="square" lIns="0" tIns="0" rIns="0" bIns="0" rtlCol="0" anchor="ctr"/>
          <a:lstStyle/>
          <a:p>
            <a:pPr indent="0" marL="0">
              <a:buNone/>
            </a:pPr>
            <a:r>
              <a:rPr lang="en-US" sz="1800" b="1" dirty="0">
                <a:solidFill>
                  <a:srgbClr val="2C5AA0"/>
                </a:solidFill>
                <a:latin typeface="BIZ UDPGothic" pitchFamily="34" charset="0"/>
                <a:ea typeface="BIZ UDPGothic" pitchFamily="34" charset="-122"/>
                <a:cs typeface="BIZ UDPGothic" pitchFamily="34" charset="-120"/>
              </a:rPr>
              <a:t>反復刺激試験</a:t>
            </a:r>
            <a:endParaRPr lang="en-US" sz="1800" dirty="0"/>
          </a:p>
        </p:txBody>
      </p:sp>
      <p:sp>
        <p:nvSpPr>
          <p:cNvPr id="26" name="Text 24"/>
          <p:cNvSpPr/>
          <p:nvPr/>
        </p:nvSpPr>
        <p:spPr>
          <a:xfrm>
            <a:off x="3931920" y="3282696"/>
            <a:ext cx="3657600" cy="320040"/>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神経筋接合部の伝達障害</a:t>
            </a:r>
            <a:endParaRPr lang="en-US" sz="1400" dirty="0"/>
          </a:p>
        </p:txBody>
      </p:sp>
      <p:sp>
        <p:nvSpPr>
          <p:cNvPr id="27" name="Text 25"/>
          <p:cNvSpPr/>
          <p:nvPr/>
        </p:nvSpPr>
        <p:spPr>
          <a:xfrm>
            <a:off x="3931920" y="3575304"/>
            <a:ext cx="3657600" cy="228600"/>
          </a:xfrm>
          <a:prstGeom prst="rect">
            <a:avLst/>
          </a:prstGeom>
          <a:noFill/>
          <a:ln/>
        </p:spPr>
        <p:txBody>
          <a:bodyPr wrap="square" lIns="0" tIns="0" rIns="0" bIns="0" rtlCol="0" anchor="ctr"/>
          <a:lstStyle/>
          <a:p>
            <a:pPr indent="0" marL="0">
              <a:buNone/>
            </a:pPr>
            <a:r>
              <a:rPr lang="en-US" sz="1200" dirty="0">
                <a:solidFill>
                  <a:srgbClr val="636E72"/>
                </a:solidFill>
                <a:latin typeface="BIZ UDPGothic" pitchFamily="34" charset="0"/>
                <a:ea typeface="BIZ UDPGothic" pitchFamily="34" charset="-122"/>
                <a:cs typeface="BIZ UDPGothic" pitchFamily="34" charset="-120"/>
              </a:rPr>
              <a:t>重症筋無力症の電気生理検査</a:t>
            </a:r>
            <a:endParaRPr lang="en-US" sz="1200" dirty="0"/>
          </a:p>
        </p:txBody>
      </p:sp>
      <p:sp>
        <p:nvSpPr>
          <p:cNvPr id="28" name="Shape 26"/>
          <p:cNvSpPr/>
          <p:nvPr/>
        </p:nvSpPr>
        <p:spPr>
          <a:xfrm>
            <a:off x="457200" y="3959352"/>
            <a:ext cx="8229600" cy="640080"/>
          </a:xfrm>
          <a:prstGeom prst="rect">
            <a:avLst>
              <a:gd name="adj" fmla="val 14286"/>
            </a:avLst>
          </a:prstGeom>
          <a:solidFill>
            <a:srgbClr val="FFFFFF"/>
          </a:solidFill>
          <a:ln/>
          <a:effectLst>
            <a:outerShdw sx="100000" sy="100000" kx="0" ky="0" algn="bl" rotWithShape="0" blurRad="50800" dist="25400" dir="8100000">
              <a:srgbClr val="000000">
                <a:alpha val="12000"/>
              </a:srgbClr>
            </a:outerShdw>
          </a:effectLst>
        </p:spPr>
      </p:sp>
      <p:sp>
        <p:nvSpPr>
          <p:cNvPr id="29" name="Shape 27"/>
          <p:cNvSpPr/>
          <p:nvPr/>
        </p:nvSpPr>
        <p:spPr>
          <a:xfrm>
            <a:off x="457200" y="3959352"/>
            <a:ext cx="109728" cy="640080"/>
          </a:xfrm>
          <a:prstGeom prst="rect">
            <a:avLst>
              <a:gd name="adj" fmla="val 41667"/>
            </a:avLst>
          </a:prstGeom>
          <a:solidFill>
            <a:srgbClr val="2C5AA0"/>
          </a:solidFill>
          <a:ln/>
        </p:spPr>
      </p:sp>
      <p:sp>
        <p:nvSpPr>
          <p:cNvPr id="30" name="Text 28"/>
          <p:cNvSpPr/>
          <p:nvPr/>
        </p:nvSpPr>
        <p:spPr>
          <a:xfrm>
            <a:off x="640080" y="4032504"/>
            <a:ext cx="54864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1" name="Text 29"/>
          <p:cNvSpPr/>
          <p:nvPr/>
        </p:nvSpPr>
        <p:spPr>
          <a:xfrm>
            <a:off x="1280160" y="4032504"/>
            <a:ext cx="2560320" cy="502920"/>
          </a:xfrm>
          <a:prstGeom prst="rect">
            <a:avLst/>
          </a:prstGeom>
          <a:noFill/>
          <a:ln/>
        </p:spPr>
        <p:txBody>
          <a:bodyPr wrap="square" lIns="0" tIns="0" rIns="0" bIns="0" rtlCol="0" anchor="ctr"/>
          <a:lstStyle/>
          <a:p>
            <a:pPr indent="0" marL="0">
              <a:buNone/>
            </a:pPr>
            <a:r>
              <a:rPr lang="en-US" sz="1800" b="1" dirty="0">
                <a:solidFill>
                  <a:srgbClr val="2C5AA0"/>
                </a:solidFill>
                <a:latin typeface="BIZ UDPGothic" pitchFamily="34" charset="0"/>
                <a:ea typeface="BIZ UDPGothic" pitchFamily="34" charset="-122"/>
                <a:cs typeface="BIZ UDPGothic" pitchFamily="34" charset="-120"/>
              </a:rPr>
              <a:t>テンシロンテスト</a:t>
            </a:r>
            <a:endParaRPr lang="en-US" sz="1800" dirty="0"/>
          </a:p>
        </p:txBody>
      </p:sp>
      <p:sp>
        <p:nvSpPr>
          <p:cNvPr id="32" name="Text 30"/>
          <p:cNvSpPr/>
          <p:nvPr/>
        </p:nvSpPr>
        <p:spPr>
          <a:xfrm>
            <a:off x="3931920" y="4032504"/>
            <a:ext cx="3657600" cy="320040"/>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抗コリンエステラーゼ薬の効果確認</a:t>
            </a:r>
            <a:endParaRPr lang="en-US" sz="1400" dirty="0"/>
          </a:p>
        </p:txBody>
      </p:sp>
      <p:sp>
        <p:nvSpPr>
          <p:cNvPr id="33" name="Text 31"/>
          <p:cNvSpPr/>
          <p:nvPr/>
        </p:nvSpPr>
        <p:spPr>
          <a:xfrm>
            <a:off x="3931920" y="4325112"/>
            <a:ext cx="3657600" cy="228600"/>
          </a:xfrm>
          <a:prstGeom prst="rect">
            <a:avLst/>
          </a:prstGeom>
          <a:noFill/>
          <a:ln/>
        </p:spPr>
        <p:txBody>
          <a:bodyPr wrap="square" lIns="0" tIns="0" rIns="0" bIns="0" rtlCol="0" anchor="ctr"/>
          <a:lstStyle/>
          <a:p>
            <a:pPr indent="0" marL="0">
              <a:buNone/>
            </a:pPr>
            <a:r>
              <a:rPr lang="en-US" sz="1200" dirty="0">
                <a:solidFill>
                  <a:srgbClr val="636E72"/>
                </a:solidFill>
                <a:latin typeface="BIZ UDPGothic" pitchFamily="34" charset="0"/>
                <a:ea typeface="BIZ UDPGothic" pitchFamily="34" charset="-122"/>
                <a:cs typeface="BIZ UDPGothic" pitchFamily="34" charset="-120"/>
              </a:rPr>
              <a:t>重症筋無力症の確認</a:t>
            </a:r>
            <a:endParaRPr lang="en-US" sz="1200" dirty="0"/>
          </a:p>
        </p:txBody>
      </p:sp>
      <p:sp>
        <p:nvSpPr>
          <p:cNvPr id="34" name="Shape 32"/>
          <p:cNvSpPr/>
          <p:nvPr/>
        </p:nvSpPr>
        <p:spPr>
          <a:xfrm>
            <a:off x="0" y="4800600"/>
            <a:ext cx="9144000" cy="347472"/>
          </a:xfrm>
          <a:prstGeom prst="rect">
            <a:avLst/>
          </a:prstGeom>
          <a:solidFill>
            <a:srgbClr val="1B3A5C"/>
          </a:solidFill>
          <a:ln/>
        </p:spPr>
      </p:sp>
      <p:sp>
        <p:nvSpPr>
          <p:cNvPr id="35" name="Text 33"/>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#07</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よくある質問 Q&amp;A</a:t>
            </a:r>
            <a:endParaRPr lang="en-US" sz="2600" dirty="0"/>
          </a:p>
        </p:txBody>
      </p:sp>
      <p:sp>
        <p:nvSpPr>
          <p:cNvPr id="4" name="Shape 2"/>
          <p:cNvSpPr/>
          <p:nvPr/>
        </p:nvSpPr>
        <p:spPr>
          <a:xfrm>
            <a:off x="457200" y="1005840"/>
            <a:ext cx="8229600" cy="1051560"/>
          </a:xfrm>
          <a:prstGeom prst="rect">
            <a:avLst>
              <a:gd name="adj" fmla="val 8696"/>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05840"/>
            <a:ext cx="109728" cy="1051560"/>
          </a:xfrm>
          <a:prstGeom prst="rect">
            <a:avLst>
              <a:gd name="adj" fmla="val 41667"/>
            </a:avLst>
          </a:prstGeom>
          <a:solidFill>
            <a:srgbClr val="E8850C"/>
          </a:solidFill>
          <a:ln/>
        </p:spPr>
      </p:sp>
      <p:sp>
        <p:nvSpPr>
          <p:cNvPr id="6" name="Text 4"/>
          <p:cNvSpPr/>
          <p:nvPr/>
        </p:nvSpPr>
        <p:spPr>
          <a:xfrm>
            <a:off x="731520" y="1051560"/>
            <a:ext cx="457200" cy="411480"/>
          </a:xfrm>
          <a:prstGeom prst="rect">
            <a:avLst/>
          </a:prstGeom>
          <a:noFill/>
          <a:ln/>
        </p:spPr>
        <p:txBody>
          <a:bodyPr wrap="square" lIns="0" tIns="0" rIns="0" bIns="0" rtlCol="0" anchor="ctr"/>
          <a:lstStyle/>
          <a:p>
            <a:pPr indent="0" marL="0">
              <a:buNone/>
            </a:pPr>
            <a:r>
              <a:rPr lang="en-US" sz="2200" b="1" dirty="0">
                <a:solidFill>
                  <a:srgbClr val="E8850C"/>
                </a:solidFill>
                <a:latin typeface="Segoe UI" pitchFamily="34" charset="0"/>
                <a:ea typeface="Segoe UI" pitchFamily="34" charset="-122"/>
                <a:cs typeface="Segoe UI" pitchFamily="34" charset="-120"/>
              </a:rPr>
              <a:t>Q.</a:t>
            </a:r>
            <a:endParaRPr lang="en-US" sz="2200" dirty="0"/>
          </a:p>
        </p:txBody>
      </p:sp>
      <p:sp>
        <p:nvSpPr>
          <p:cNvPr id="7" name="Text 5"/>
          <p:cNvSpPr/>
          <p:nvPr/>
        </p:nvSpPr>
        <p:spPr>
          <a:xfrm>
            <a:off x="1188720" y="1051560"/>
            <a:ext cx="7315200" cy="411480"/>
          </a:xfrm>
          <a:prstGeom prst="rect">
            <a:avLst/>
          </a:prstGeom>
          <a:noFill/>
          <a:ln/>
        </p:spPr>
        <p:txBody>
          <a:bodyPr wrap="square" lIns="0" tIns="0" rIns="0" bIns="0" rtlCol="0" anchor="ctr"/>
          <a:lstStyle/>
          <a:p>
            <a:pPr indent="0" marL="0">
              <a:buNone/>
            </a:pPr>
            <a:r>
              <a:rPr lang="en-US" sz="1800" b="1" dirty="0">
                <a:solidFill>
                  <a:srgbClr val="E8850C"/>
                </a:solidFill>
                <a:latin typeface="BIZ UDPGothic" pitchFamily="34" charset="0"/>
                <a:ea typeface="BIZ UDPGothic" pitchFamily="34" charset="-122"/>
                <a:cs typeface="BIZ UDPGothic" pitchFamily="34" charset="-120"/>
              </a:rPr>
              <a:t>疲れると物が二重に見えるのは病気ですか？</a:t>
            </a:r>
            <a:endParaRPr lang="en-US" sz="1800" dirty="0"/>
          </a:p>
        </p:txBody>
      </p:sp>
      <p:sp>
        <p:nvSpPr>
          <p:cNvPr id="8" name="Text 6"/>
          <p:cNvSpPr/>
          <p:nvPr/>
        </p:nvSpPr>
        <p:spPr>
          <a:xfrm>
            <a:off x="731520" y="1508760"/>
            <a:ext cx="457200" cy="457200"/>
          </a:xfrm>
          <a:prstGeom prst="rect">
            <a:avLst/>
          </a:prstGeom>
          <a:noFill/>
          <a:ln/>
        </p:spPr>
        <p:txBody>
          <a:bodyPr wrap="square" lIns="0" tIns="0" rIns="0" bIns="0" rtlCol="0" anchor="ctr"/>
          <a:lstStyle/>
          <a:p>
            <a:pPr indent="0" marL="0">
              <a:buNone/>
            </a:pPr>
            <a:r>
              <a:rPr lang="en-US" sz="2200" b="1" dirty="0">
                <a:solidFill>
                  <a:srgbClr val="2C5AA0"/>
                </a:solidFill>
                <a:latin typeface="Segoe UI" pitchFamily="34" charset="0"/>
                <a:ea typeface="Segoe UI" pitchFamily="34" charset="-122"/>
                <a:cs typeface="Segoe UI" pitchFamily="34" charset="-120"/>
              </a:rPr>
              <a:t>A.</a:t>
            </a:r>
            <a:endParaRPr lang="en-US" sz="2200" dirty="0"/>
          </a:p>
        </p:txBody>
      </p:sp>
      <p:sp>
        <p:nvSpPr>
          <p:cNvPr id="9" name="Text 7"/>
          <p:cNvSpPr/>
          <p:nvPr/>
        </p:nvSpPr>
        <p:spPr>
          <a:xfrm>
            <a:off x="1188720" y="1508760"/>
            <a:ext cx="7315200" cy="502920"/>
          </a:xfrm>
          <a:prstGeom prst="rect">
            <a:avLst/>
          </a:prstGeom>
          <a:noFill/>
          <a:ln/>
        </p:spPr>
        <p:txBody>
          <a:bodyPr wrap="square" lIns="0" tIns="0" rIns="0" bIns="0" rtlCol="0" anchor="ctr"/>
          <a:lstStyle/>
          <a:p>
            <a:pPr indent="0" marL="0">
              <a:lnSpc>
                <a:spcPct val="110000"/>
              </a:lnSpc>
              <a:buNone/>
            </a:pPr>
            <a:r>
              <a:rPr lang="en-US" sz="1400" dirty="0">
                <a:solidFill>
                  <a:srgbClr val="2D3436"/>
                </a:solidFill>
                <a:latin typeface="BIZ UDPGothic" pitchFamily="34" charset="0"/>
                <a:ea typeface="BIZ UDPGothic" pitchFamily="34" charset="-122"/>
                <a:cs typeface="BIZ UDPGothic" pitchFamily="34" charset="-120"/>
              </a:rPr>
              <a:t>疲労による一時的な複視は多くの場合心配不要です。ただし頻繁に繰り返す、夕方に悪化する場合は重症筋無力症の可能性があり受診をおすすめします</a:t>
            </a:r>
            <a:endParaRPr lang="en-US" sz="1400" dirty="0"/>
          </a:p>
        </p:txBody>
      </p:sp>
      <p:sp>
        <p:nvSpPr>
          <p:cNvPr id="10" name="Shape 8"/>
          <p:cNvSpPr/>
          <p:nvPr/>
        </p:nvSpPr>
        <p:spPr>
          <a:xfrm>
            <a:off x="457200" y="2240280"/>
            <a:ext cx="8229600" cy="1051560"/>
          </a:xfrm>
          <a:prstGeom prst="rect">
            <a:avLst>
              <a:gd name="adj" fmla="val 8696"/>
            </a:avLst>
          </a:prstGeom>
          <a:solidFill>
            <a:srgbClr val="FFFFFF"/>
          </a:solidFill>
          <a:ln/>
          <a:effectLst>
            <a:outerShdw sx="100000" sy="100000" kx="0" ky="0" algn="bl" rotWithShape="0" blurRad="50800" dist="25400" dir="8100000">
              <a:srgbClr val="000000">
                <a:alpha val="12000"/>
              </a:srgbClr>
            </a:outerShdw>
          </a:effectLst>
        </p:spPr>
      </p:sp>
      <p:sp>
        <p:nvSpPr>
          <p:cNvPr id="11" name="Shape 9"/>
          <p:cNvSpPr/>
          <p:nvPr/>
        </p:nvSpPr>
        <p:spPr>
          <a:xfrm>
            <a:off x="457200" y="2240280"/>
            <a:ext cx="109728" cy="1051560"/>
          </a:xfrm>
          <a:prstGeom prst="rect">
            <a:avLst>
              <a:gd name="adj" fmla="val 41667"/>
            </a:avLst>
          </a:prstGeom>
          <a:solidFill>
            <a:srgbClr val="E8850C"/>
          </a:solidFill>
          <a:ln/>
        </p:spPr>
      </p:sp>
      <p:sp>
        <p:nvSpPr>
          <p:cNvPr id="12" name="Text 10"/>
          <p:cNvSpPr/>
          <p:nvPr/>
        </p:nvSpPr>
        <p:spPr>
          <a:xfrm>
            <a:off x="731520" y="2286000"/>
            <a:ext cx="457200" cy="411480"/>
          </a:xfrm>
          <a:prstGeom prst="rect">
            <a:avLst/>
          </a:prstGeom>
          <a:noFill/>
          <a:ln/>
        </p:spPr>
        <p:txBody>
          <a:bodyPr wrap="square" lIns="0" tIns="0" rIns="0" bIns="0" rtlCol="0" anchor="ctr"/>
          <a:lstStyle/>
          <a:p>
            <a:pPr indent="0" marL="0">
              <a:buNone/>
            </a:pPr>
            <a:r>
              <a:rPr lang="en-US" sz="2200" b="1" dirty="0">
                <a:solidFill>
                  <a:srgbClr val="E8850C"/>
                </a:solidFill>
                <a:latin typeface="Segoe UI" pitchFamily="34" charset="0"/>
                <a:ea typeface="Segoe UI" pitchFamily="34" charset="-122"/>
                <a:cs typeface="Segoe UI" pitchFamily="34" charset="-120"/>
              </a:rPr>
              <a:t>Q.</a:t>
            </a:r>
            <a:endParaRPr lang="en-US" sz="2200" dirty="0"/>
          </a:p>
        </p:txBody>
      </p:sp>
      <p:sp>
        <p:nvSpPr>
          <p:cNvPr id="13" name="Text 11"/>
          <p:cNvSpPr/>
          <p:nvPr/>
        </p:nvSpPr>
        <p:spPr>
          <a:xfrm>
            <a:off x="1188720" y="2286000"/>
            <a:ext cx="7315200" cy="411480"/>
          </a:xfrm>
          <a:prstGeom prst="rect">
            <a:avLst/>
          </a:prstGeom>
          <a:noFill/>
          <a:ln/>
        </p:spPr>
        <p:txBody>
          <a:bodyPr wrap="square" lIns="0" tIns="0" rIns="0" bIns="0" rtlCol="0" anchor="ctr"/>
          <a:lstStyle/>
          <a:p>
            <a:pPr indent="0" marL="0">
              <a:buNone/>
            </a:pPr>
            <a:r>
              <a:rPr lang="en-US" sz="1800" b="1" dirty="0">
                <a:solidFill>
                  <a:srgbClr val="E8850C"/>
                </a:solidFill>
                <a:latin typeface="BIZ UDPGothic" pitchFamily="34" charset="0"/>
                <a:ea typeface="BIZ UDPGothic" pitchFamily="34" charset="-122"/>
                <a:cs typeface="BIZ UDPGothic" pitchFamily="34" charset="-120"/>
              </a:rPr>
              <a:t>糖尿病で目が二重に見えることがありますか？</a:t>
            </a:r>
            <a:endParaRPr lang="en-US" sz="1800" dirty="0"/>
          </a:p>
        </p:txBody>
      </p:sp>
      <p:sp>
        <p:nvSpPr>
          <p:cNvPr id="14" name="Text 12"/>
          <p:cNvSpPr/>
          <p:nvPr/>
        </p:nvSpPr>
        <p:spPr>
          <a:xfrm>
            <a:off x="731520" y="2743200"/>
            <a:ext cx="457200" cy="457200"/>
          </a:xfrm>
          <a:prstGeom prst="rect">
            <a:avLst/>
          </a:prstGeom>
          <a:noFill/>
          <a:ln/>
        </p:spPr>
        <p:txBody>
          <a:bodyPr wrap="square" lIns="0" tIns="0" rIns="0" bIns="0" rtlCol="0" anchor="ctr"/>
          <a:lstStyle/>
          <a:p>
            <a:pPr indent="0" marL="0">
              <a:buNone/>
            </a:pPr>
            <a:r>
              <a:rPr lang="en-US" sz="2200" b="1" dirty="0">
                <a:solidFill>
                  <a:srgbClr val="2C5AA0"/>
                </a:solidFill>
                <a:latin typeface="Segoe UI" pitchFamily="34" charset="0"/>
                <a:ea typeface="Segoe UI" pitchFamily="34" charset="-122"/>
                <a:cs typeface="Segoe UI" pitchFamily="34" charset="-120"/>
              </a:rPr>
              <a:t>A.</a:t>
            </a:r>
            <a:endParaRPr lang="en-US" sz="2200" dirty="0"/>
          </a:p>
        </p:txBody>
      </p:sp>
      <p:sp>
        <p:nvSpPr>
          <p:cNvPr id="15" name="Text 13"/>
          <p:cNvSpPr/>
          <p:nvPr/>
        </p:nvSpPr>
        <p:spPr>
          <a:xfrm>
            <a:off x="1188720" y="2743200"/>
            <a:ext cx="7315200" cy="502920"/>
          </a:xfrm>
          <a:prstGeom prst="rect">
            <a:avLst/>
          </a:prstGeom>
          <a:noFill/>
          <a:ln/>
        </p:spPr>
        <p:txBody>
          <a:bodyPr wrap="square" lIns="0" tIns="0" rIns="0" bIns="0" rtlCol="0" anchor="ctr"/>
          <a:lstStyle/>
          <a:p>
            <a:pPr indent="0" marL="0">
              <a:lnSpc>
                <a:spcPct val="110000"/>
              </a:lnSpc>
              <a:buNone/>
            </a:pPr>
            <a:r>
              <a:rPr lang="en-US" sz="1400" dirty="0">
                <a:solidFill>
                  <a:srgbClr val="2D3436"/>
                </a:solidFill>
                <a:latin typeface="BIZ UDPGothic" pitchFamily="34" charset="0"/>
                <a:ea typeface="BIZ UDPGothic" pitchFamily="34" charset="-122"/>
                <a:cs typeface="BIZ UDPGothic" pitchFamily="34" charset="-120"/>
              </a:rPr>
              <a:t>はい。糖尿病性の眼球運動神経麻痺は比較的多く、特に外転神経麻痺が起きやすいです。多くは3〜6ヶ月で自然回復しますが、血糖コントロールが重要です</a:t>
            </a:r>
            <a:endParaRPr lang="en-US" sz="1400" dirty="0"/>
          </a:p>
        </p:txBody>
      </p:sp>
      <p:sp>
        <p:nvSpPr>
          <p:cNvPr id="16" name="Shape 14"/>
          <p:cNvSpPr/>
          <p:nvPr/>
        </p:nvSpPr>
        <p:spPr>
          <a:xfrm>
            <a:off x="457200" y="3474720"/>
            <a:ext cx="8229600" cy="1051560"/>
          </a:xfrm>
          <a:prstGeom prst="rect">
            <a:avLst>
              <a:gd name="adj" fmla="val 8696"/>
            </a:avLst>
          </a:prstGeom>
          <a:solidFill>
            <a:srgbClr val="FFFFFF"/>
          </a:solidFill>
          <a:ln/>
          <a:effectLst>
            <a:outerShdw sx="100000" sy="100000" kx="0" ky="0" algn="bl" rotWithShape="0" blurRad="50800" dist="25400" dir="8100000">
              <a:srgbClr val="000000">
                <a:alpha val="12000"/>
              </a:srgbClr>
            </a:outerShdw>
          </a:effectLst>
        </p:spPr>
      </p:sp>
      <p:sp>
        <p:nvSpPr>
          <p:cNvPr id="17" name="Shape 15"/>
          <p:cNvSpPr/>
          <p:nvPr/>
        </p:nvSpPr>
        <p:spPr>
          <a:xfrm>
            <a:off x="457200" y="3474720"/>
            <a:ext cx="109728" cy="1051560"/>
          </a:xfrm>
          <a:prstGeom prst="rect">
            <a:avLst>
              <a:gd name="adj" fmla="val 41667"/>
            </a:avLst>
          </a:prstGeom>
          <a:solidFill>
            <a:srgbClr val="E8850C"/>
          </a:solidFill>
          <a:ln/>
        </p:spPr>
      </p:sp>
      <p:sp>
        <p:nvSpPr>
          <p:cNvPr id="18" name="Text 16"/>
          <p:cNvSpPr/>
          <p:nvPr/>
        </p:nvSpPr>
        <p:spPr>
          <a:xfrm>
            <a:off x="731520" y="3520440"/>
            <a:ext cx="457200" cy="411480"/>
          </a:xfrm>
          <a:prstGeom prst="rect">
            <a:avLst/>
          </a:prstGeom>
          <a:noFill/>
          <a:ln/>
        </p:spPr>
        <p:txBody>
          <a:bodyPr wrap="square" lIns="0" tIns="0" rIns="0" bIns="0" rtlCol="0" anchor="ctr"/>
          <a:lstStyle/>
          <a:p>
            <a:pPr indent="0" marL="0">
              <a:buNone/>
            </a:pPr>
            <a:r>
              <a:rPr lang="en-US" sz="2200" b="1" dirty="0">
                <a:solidFill>
                  <a:srgbClr val="E8850C"/>
                </a:solidFill>
                <a:latin typeface="Segoe UI" pitchFamily="34" charset="0"/>
                <a:ea typeface="Segoe UI" pitchFamily="34" charset="-122"/>
                <a:cs typeface="Segoe UI" pitchFamily="34" charset="-120"/>
              </a:rPr>
              <a:t>Q.</a:t>
            </a:r>
            <a:endParaRPr lang="en-US" sz="2200" dirty="0"/>
          </a:p>
        </p:txBody>
      </p:sp>
      <p:sp>
        <p:nvSpPr>
          <p:cNvPr id="19" name="Text 17"/>
          <p:cNvSpPr/>
          <p:nvPr/>
        </p:nvSpPr>
        <p:spPr>
          <a:xfrm>
            <a:off x="1188720" y="3520440"/>
            <a:ext cx="7315200" cy="411480"/>
          </a:xfrm>
          <a:prstGeom prst="rect">
            <a:avLst/>
          </a:prstGeom>
          <a:noFill/>
          <a:ln/>
        </p:spPr>
        <p:txBody>
          <a:bodyPr wrap="square" lIns="0" tIns="0" rIns="0" bIns="0" rtlCol="0" anchor="ctr"/>
          <a:lstStyle/>
          <a:p>
            <a:pPr indent="0" marL="0">
              <a:buNone/>
            </a:pPr>
            <a:r>
              <a:rPr lang="en-US" sz="1800" b="1" dirty="0">
                <a:solidFill>
                  <a:srgbClr val="E8850C"/>
                </a:solidFill>
                <a:latin typeface="BIZ UDPGothic" pitchFamily="34" charset="0"/>
                <a:ea typeface="BIZ UDPGothic" pitchFamily="34" charset="-122"/>
                <a:cs typeface="BIZ UDPGothic" pitchFamily="34" charset="-120"/>
              </a:rPr>
              <a:t>複視は治りますか？</a:t>
            </a:r>
            <a:endParaRPr lang="en-US" sz="1800" dirty="0"/>
          </a:p>
        </p:txBody>
      </p:sp>
      <p:sp>
        <p:nvSpPr>
          <p:cNvPr id="20" name="Text 18"/>
          <p:cNvSpPr/>
          <p:nvPr/>
        </p:nvSpPr>
        <p:spPr>
          <a:xfrm>
            <a:off x="731520" y="3977640"/>
            <a:ext cx="457200" cy="457200"/>
          </a:xfrm>
          <a:prstGeom prst="rect">
            <a:avLst/>
          </a:prstGeom>
          <a:noFill/>
          <a:ln/>
        </p:spPr>
        <p:txBody>
          <a:bodyPr wrap="square" lIns="0" tIns="0" rIns="0" bIns="0" rtlCol="0" anchor="ctr"/>
          <a:lstStyle/>
          <a:p>
            <a:pPr indent="0" marL="0">
              <a:buNone/>
            </a:pPr>
            <a:r>
              <a:rPr lang="en-US" sz="2200" b="1" dirty="0">
                <a:solidFill>
                  <a:srgbClr val="2C5AA0"/>
                </a:solidFill>
                <a:latin typeface="Segoe UI" pitchFamily="34" charset="0"/>
                <a:ea typeface="Segoe UI" pitchFamily="34" charset="-122"/>
                <a:cs typeface="Segoe UI" pitchFamily="34" charset="-120"/>
              </a:rPr>
              <a:t>A.</a:t>
            </a:r>
            <a:endParaRPr lang="en-US" sz="2200" dirty="0"/>
          </a:p>
        </p:txBody>
      </p:sp>
      <p:sp>
        <p:nvSpPr>
          <p:cNvPr id="21" name="Text 19"/>
          <p:cNvSpPr/>
          <p:nvPr/>
        </p:nvSpPr>
        <p:spPr>
          <a:xfrm>
            <a:off x="1188720" y="3977640"/>
            <a:ext cx="7315200" cy="502920"/>
          </a:xfrm>
          <a:prstGeom prst="rect">
            <a:avLst/>
          </a:prstGeom>
          <a:noFill/>
          <a:ln/>
        </p:spPr>
        <p:txBody>
          <a:bodyPr wrap="square" lIns="0" tIns="0" rIns="0" bIns="0" rtlCol="0" anchor="ctr"/>
          <a:lstStyle/>
          <a:p>
            <a:pPr indent="0" marL="0">
              <a:lnSpc>
                <a:spcPct val="110000"/>
              </a:lnSpc>
              <a:buNone/>
            </a:pPr>
            <a:r>
              <a:rPr lang="en-US" sz="1400" dirty="0">
                <a:solidFill>
                  <a:srgbClr val="2D3436"/>
                </a:solidFill>
                <a:latin typeface="BIZ UDPGothic" pitchFamily="34" charset="0"/>
                <a:ea typeface="BIZ UDPGothic" pitchFamily="34" charset="-122"/>
                <a:cs typeface="BIZ UDPGothic" pitchFamily="34" charset="-120"/>
              </a:rPr>
              <a:t>原因によります。糖尿病性は自然回復が多く、重症筋無力症は薬で改善、脳動脈瘤は手術で治療できます。原因の特定が治療の第一歩です</a:t>
            </a:r>
            <a:endParaRPr lang="en-US" sz="1400" dirty="0"/>
          </a:p>
        </p:txBody>
      </p:sp>
      <p:sp>
        <p:nvSpPr>
          <p:cNvPr id="22" name="Shape 20"/>
          <p:cNvSpPr/>
          <p:nvPr/>
        </p:nvSpPr>
        <p:spPr>
          <a:xfrm>
            <a:off x="0" y="4800600"/>
            <a:ext cx="9144000" cy="347472"/>
          </a:xfrm>
          <a:prstGeom prst="rect">
            <a:avLst/>
          </a:prstGeom>
          <a:solidFill>
            <a:srgbClr val="1B3A5C"/>
          </a:solidFill>
          <a:ln/>
        </p:spPr>
      </p:sp>
      <p:sp>
        <p:nvSpPr>
          <p:cNvPr id="23" name="Text 21"/>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#07</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まとめ ― 物が二重に見えたら</a:t>
            </a:r>
            <a:endParaRPr lang="en-US" sz="2600" dirty="0"/>
          </a:p>
        </p:txBody>
      </p:sp>
      <p:sp>
        <p:nvSpPr>
          <p:cNvPr id="4" name="Shape 2"/>
          <p:cNvSpPr/>
          <p:nvPr/>
        </p:nvSpPr>
        <p:spPr>
          <a:xfrm>
            <a:off x="457200" y="1051560"/>
            <a:ext cx="8229600" cy="1005840"/>
          </a:xfrm>
          <a:prstGeom prst="rect">
            <a:avLst>
              <a:gd name="adj" fmla="val 9091"/>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51560"/>
            <a:ext cx="109728" cy="1005840"/>
          </a:xfrm>
          <a:prstGeom prst="rect">
            <a:avLst>
              <a:gd name="adj" fmla="val 41667"/>
            </a:avLst>
          </a:prstGeom>
          <a:solidFill>
            <a:srgbClr val="2C5AA0"/>
          </a:solidFill>
          <a:ln/>
        </p:spPr>
      </p:sp>
      <p:sp>
        <p:nvSpPr>
          <p:cNvPr id="6" name="Text 4"/>
          <p:cNvSpPr/>
          <p:nvPr/>
        </p:nvSpPr>
        <p:spPr>
          <a:xfrm>
            <a:off x="640080" y="1143000"/>
            <a:ext cx="640080" cy="822960"/>
          </a:xfrm>
          <a:prstGeom prst="rect">
            <a:avLst/>
          </a:prstGeom>
          <a:noFill/>
          <a:ln/>
        </p:spPr>
        <p:txBody>
          <a:bodyPr wrap="square" lIns="0" tIns="0" rIns="0" bIns="0" rtlCol="0" anchor="ctr"/>
          <a:lstStyle/>
          <a:p>
            <a:pPr algn="ctr" indent="0" marL="0">
              <a:buNone/>
            </a:pPr>
            <a:r>
              <a:rPr lang="en-US" sz="3600" b="1" dirty="0">
                <a:solidFill>
                  <a:srgbClr val="2C5AA0"/>
                </a:solidFill>
                <a:latin typeface="Segoe UI" pitchFamily="34" charset="0"/>
                <a:ea typeface="Segoe UI" pitchFamily="34" charset="-122"/>
                <a:cs typeface="Segoe UI" pitchFamily="34" charset="-120"/>
              </a:rPr>
              <a:t>1</a:t>
            </a:r>
            <a:endParaRPr lang="en-US" sz="3600" dirty="0"/>
          </a:p>
        </p:txBody>
      </p:sp>
      <p:sp>
        <p:nvSpPr>
          <p:cNvPr id="7" name="Text 5"/>
          <p:cNvSpPr/>
          <p:nvPr/>
        </p:nvSpPr>
        <p:spPr>
          <a:xfrm>
            <a:off x="1371600" y="1097280"/>
            <a:ext cx="3474720" cy="868680"/>
          </a:xfrm>
          <a:prstGeom prst="rect">
            <a:avLst/>
          </a:prstGeom>
          <a:noFill/>
          <a:ln/>
        </p:spPr>
        <p:txBody>
          <a:bodyPr wrap="square" lIns="0" tIns="0" rIns="0" bIns="0" rtlCol="0" anchor="ctr"/>
          <a:lstStyle/>
          <a:p>
            <a:pPr indent="0" marL="0">
              <a:lnSpc>
                <a:spcPct val="110000"/>
              </a:lnSpc>
              <a:buNone/>
            </a:pPr>
            <a:r>
              <a:rPr lang="en-US" sz="1900" b="1" dirty="0">
                <a:solidFill>
                  <a:srgbClr val="2D3436"/>
                </a:solidFill>
                <a:latin typeface="BIZ UDPGothic" pitchFamily="34" charset="0"/>
                <a:ea typeface="BIZ UDPGothic" pitchFamily="34" charset="-122"/>
                <a:cs typeface="BIZ UDPGothic" pitchFamily="34" charset="-120"/>
              </a:rPr>
              <a:t>片目テストで</a:t>
            </a:r>
            <a:endParaRPr lang="en-US" sz="1900" dirty="0"/>
          </a:p>
          <a:p>
            <a:pPr indent="0" marL="0">
              <a:lnSpc>
                <a:spcPct val="110000"/>
              </a:lnSpc>
              <a:buNone/>
            </a:pPr>
            <a:r>
              <a:rPr lang="en-US" sz="1900" b="1" dirty="0">
                <a:solidFill>
                  <a:srgbClr val="2D3436"/>
                </a:solidFill>
                <a:latin typeface="BIZ UDPGothic" pitchFamily="34" charset="0"/>
                <a:ea typeface="BIZ UDPGothic" pitchFamily="34" charset="-122"/>
                <a:cs typeface="BIZ UDPGothic" pitchFamily="34" charset="-120"/>
              </a:rPr>
              <a:t>タイプを確認</a:t>
            </a:r>
            <a:endParaRPr lang="en-US" sz="1900" dirty="0"/>
          </a:p>
        </p:txBody>
      </p:sp>
      <p:sp>
        <p:nvSpPr>
          <p:cNvPr id="8" name="Text 6"/>
          <p:cNvSpPr/>
          <p:nvPr/>
        </p:nvSpPr>
        <p:spPr>
          <a:xfrm>
            <a:off x="5029200" y="1143000"/>
            <a:ext cx="3474720" cy="822960"/>
          </a:xfrm>
          <a:prstGeom prst="rect">
            <a:avLst/>
          </a:prstGeom>
          <a:noFill/>
          <a:ln/>
        </p:spPr>
        <p:txBody>
          <a:bodyPr wrap="square" lIns="0" tIns="0" rIns="0" bIns="0" rtlCol="0" anchor="ctr"/>
          <a:lstStyle/>
          <a:p>
            <a:pPr indent="0" marL="0">
              <a:lnSpc>
                <a:spcPct val="120000"/>
              </a:lnSpc>
              <a:buNone/>
            </a:pPr>
            <a:r>
              <a:rPr lang="en-US" sz="1500" dirty="0">
                <a:solidFill>
                  <a:srgbClr val="636E72"/>
                </a:solidFill>
                <a:latin typeface="BIZ UDPGothic" pitchFamily="34" charset="0"/>
                <a:ea typeface="BIZ UDPGothic" pitchFamily="34" charset="-122"/>
                <a:cs typeface="BIZ UDPGothic" pitchFamily="34" charset="-120"/>
              </a:rPr>
              <a:t>片目で1つに見える→両眼性</a:t>
            </a:r>
            <a:endParaRPr lang="en-US" sz="1500" dirty="0"/>
          </a:p>
          <a:p>
            <a:pPr indent="0" marL="0">
              <a:lnSpc>
                <a:spcPct val="120000"/>
              </a:lnSpc>
              <a:buNone/>
            </a:pPr>
            <a:r>
              <a:rPr lang="en-US" sz="1500" dirty="0">
                <a:solidFill>
                  <a:srgbClr val="636E72"/>
                </a:solidFill>
                <a:latin typeface="BIZ UDPGothic" pitchFamily="34" charset="0"/>
                <a:ea typeface="BIZ UDPGothic" pitchFamily="34" charset="-122"/>
                <a:cs typeface="BIZ UDPGothic" pitchFamily="34" charset="-120"/>
              </a:rPr>
              <a:t>脳や神経の問題の可能性</a:t>
            </a:r>
            <a:endParaRPr lang="en-US" sz="1500" dirty="0"/>
          </a:p>
        </p:txBody>
      </p:sp>
      <p:sp>
        <p:nvSpPr>
          <p:cNvPr id="9" name="Shape 7"/>
          <p:cNvSpPr/>
          <p:nvPr/>
        </p:nvSpPr>
        <p:spPr>
          <a:xfrm>
            <a:off x="457200" y="2240280"/>
            <a:ext cx="8229600" cy="1005840"/>
          </a:xfrm>
          <a:prstGeom prst="rect">
            <a:avLst>
              <a:gd name="adj" fmla="val 9091"/>
            </a:avLst>
          </a:prstGeom>
          <a:solidFill>
            <a:srgbClr val="FFFFFF"/>
          </a:solidFill>
          <a:ln/>
          <a:effectLst>
            <a:outerShdw sx="100000" sy="100000" kx="0" ky="0" algn="bl" rotWithShape="0" blurRad="50800" dist="25400" dir="8100000">
              <a:srgbClr val="000000">
                <a:alpha val="12000"/>
              </a:srgbClr>
            </a:outerShdw>
          </a:effectLst>
        </p:spPr>
      </p:sp>
      <p:sp>
        <p:nvSpPr>
          <p:cNvPr id="10" name="Shape 8"/>
          <p:cNvSpPr/>
          <p:nvPr/>
        </p:nvSpPr>
        <p:spPr>
          <a:xfrm>
            <a:off x="457200" y="2240280"/>
            <a:ext cx="109728" cy="1005840"/>
          </a:xfrm>
          <a:prstGeom prst="rect">
            <a:avLst>
              <a:gd name="adj" fmla="val 41667"/>
            </a:avLst>
          </a:prstGeom>
          <a:solidFill>
            <a:srgbClr val="2C5AA0"/>
          </a:solidFill>
          <a:ln/>
        </p:spPr>
      </p:sp>
      <p:sp>
        <p:nvSpPr>
          <p:cNvPr id="11" name="Text 9"/>
          <p:cNvSpPr/>
          <p:nvPr/>
        </p:nvSpPr>
        <p:spPr>
          <a:xfrm>
            <a:off x="640080" y="2331720"/>
            <a:ext cx="640080" cy="822960"/>
          </a:xfrm>
          <a:prstGeom prst="rect">
            <a:avLst/>
          </a:prstGeom>
          <a:noFill/>
          <a:ln/>
        </p:spPr>
        <p:txBody>
          <a:bodyPr wrap="square" lIns="0" tIns="0" rIns="0" bIns="0" rtlCol="0" anchor="ctr"/>
          <a:lstStyle/>
          <a:p>
            <a:pPr algn="ctr" indent="0" marL="0">
              <a:buNone/>
            </a:pPr>
            <a:r>
              <a:rPr lang="en-US" sz="3600" b="1" dirty="0">
                <a:solidFill>
                  <a:srgbClr val="2C5AA0"/>
                </a:solidFill>
                <a:latin typeface="Segoe UI" pitchFamily="34" charset="0"/>
                <a:ea typeface="Segoe UI" pitchFamily="34" charset="-122"/>
                <a:cs typeface="Segoe UI" pitchFamily="34" charset="-120"/>
              </a:rPr>
              <a:t>2</a:t>
            </a:r>
            <a:endParaRPr lang="en-US" sz="3600" dirty="0"/>
          </a:p>
        </p:txBody>
      </p:sp>
      <p:sp>
        <p:nvSpPr>
          <p:cNvPr id="12" name="Text 10"/>
          <p:cNvSpPr/>
          <p:nvPr/>
        </p:nvSpPr>
        <p:spPr>
          <a:xfrm>
            <a:off x="1371600" y="2286000"/>
            <a:ext cx="3474720" cy="868680"/>
          </a:xfrm>
          <a:prstGeom prst="rect">
            <a:avLst/>
          </a:prstGeom>
          <a:noFill/>
          <a:ln/>
        </p:spPr>
        <p:txBody>
          <a:bodyPr wrap="square" lIns="0" tIns="0" rIns="0" bIns="0" rtlCol="0" anchor="ctr"/>
          <a:lstStyle/>
          <a:p>
            <a:pPr indent="0" marL="0">
              <a:lnSpc>
                <a:spcPct val="110000"/>
              </a:lnSpc>
              <a:buNone/>
            </a:pPr>
            <a:r>
              <a:rPr lang="en-US" sz="1900" b="1" dirty="0">
                <a:solidFill>
                  <a:srgbClr val="2D3436"/>
                </a:solidFill>
                <a:latin typeface="BIZ UDPGothic" pitchFamily="34" charset="0"/>
                <a:ea typeface="BIZ UDPGothic" pitchFamily="34" charset="-122"/>
                <a:cs typeface="BIZ UDPGothic" pitchFamily="34" charset="-120"/>
              </a:rPr>
              <a:t>突然の複視＋頭痛は</a:t>
            </a:r>
            <a:endParaRPr lang="en-US" sz="1900" dirty="0"/>
          </a:p>
          <a:p>
            <a:pPr indent="0" marL="0">
              <a:lnSpc>
                <a:spcPct val="110000"/>
              </a:lnSpc>
              <a:buNone/>
            </a:pPr>
            <a:r>
              <a:rPr lang="en-US" sz="1900" b="1" dirty="0">
                <a:solidFill>
                  <a:srgbClr val="2D3436"/>
                </a:solidFill>
                <a:latin typeface="BIZ UDPGothic" pitchFamily="34" charset="0"/>
                <a:ea typeface="BIZ UDPGothic" pitchFamily="34" charset="-122"/>
                <a:cs typeface="BIZ UDPGothic" pitchFamily="34" charset="-120"/>
              </a:rPr>
              <a:t>緊急のサイン</a:t>
            </a:r>
            <a:endParaRPr lang="en-US" sz="1900" dirty="0"/>
          </a:p>
        </p:txBody>
      </p:sp>
      <p:sp>
        <p:nvSpPr>
          <p:cNvPr id="13" name="Text 11"/>
          <p:cNvSpPr/>
          <p:nvPr/>
        </p:nvSpPr>
        <p:spPr>
          <a:xfrm>
            <a:off x="5029200" y="2331720"/>
            <a:ext cx="3474720" cy="822960"/>
          </a:xfrm>
          <a:prstGeom prst="rect">
            <a:avLst/>
          </a:prstGeom>
          <a:noFill/>
          <a:ln/>
        </p:spPr>
        <p:txBody>
          <a:bodyPr wrap="square" lIns="0" tIns="0" rIns="0" bIns="0" rtlCol="0" anchor="ctr"/>
          <a:lstStyle/>
          <a:p>
            <a:pPr indent="0" marL="0">
              <a:lnSpc>
                <a:spcPct val="120000"/>
              </a:lnSpc>
              <a:buNone/>
            </a:pPr>
            <a:r>
              <a:rPr lang="en-US" sz="1500" dirty="0">
                <a:solidFill>
                  <a:srgbClr val="636E72"/>
                </a:solidFill>
                <a:latin typeface="BIZ UDPGothic" pitchFamily="34" charset="0"/>
                <a:ea typeface="BIZ UDPGothic" pitchFamily="34" charset="-122"/>
                <a:cs typeface="BIZ UDPGothic" pitchFamily="34" charset="-120"/>
              </a:rPr>
              <a:t>脳動脈瘤・脳卒中の可能性</a:t>
            </a:r>
            <a:endParaRPr lang="en-US" sz="1500" dirty="0"/>
          </a:p>
          <a:p>
            <a:pPr indent="0" marL="0">
              <a:lnSpc>
                <a:spcPct val="120000"/>
              </a:lnSpc>
              <a:buNone/>
            </a:pPr>
            <a:r>
              <a:rPr lang="en-US" sz="1500" dirty="0">
                <a:solidFill>
                  <a:srgbClr val="636E72"/>
                </a:solidFill>
                <a:latin typeface="BIZ UDPGothic" pitchFamily="34" charset="0"/>
                <a:ea typeface="BIZ UDPGothic" pitchFamily="34" charset="-122"/>
                <a:cs typeface="BIZ UDPGothic" pitchFamily="34" charset="-120"/>
              </a:rPr>
              <a:t>すぐに119番</a:t>
            </a:r>
            <a:endParaRPr lang="en-US" sz="1500" dirty="0"/>
          </a:p>
        </p:txBody>
      </p:sp>
      <p:sp>
        <p:nvSpPr>
          <p:cNvPr id="14" name="Shape 12"/>
          <p:cNvSpPr/>
          <p:nvPr/>
        </p:nvSpPr>
        <p:spPr>
          <a:xfrm>
            <a:off x="457200" y="3429000"/>
            <a:ext cx="8229600" cy="1005840"/>
          </a:xfrm>
          <a:prstGeom prst="rect">
            <a:avLst>
              <a:gd name="adj" fmla="val 9091"/>
            </a:avLst>
          </a:prstGeom>
          <a:solidFill>
            <a:srgbClr val="FFFFFF"/>
          </a:solidFill>
          <a:ln/>
          <a:effectLst>
            <a:outerShdw sx="100000" sy="100000" kx="0" ky="0" algn="bl" rotWithShape="0" blurRad="50800" dist="25400" dir="8100000">
              <a:srgbClr val="000000">
                <a:alpha val="12000"/>
              </a:srgbClr>
            </a:outerShdw>
          </a:effectLst>
        </p:spPr>
      </p:sp>
      <p:sp>
        <p:nvSpPr>
          <p:cNvPr id="15" name="Shape 13"/>
          <p:cNvSpPr/>
          <p:nvPr/>
        </p:nvSpPr>
        <p:spPr>
          <a:xfrm>
            <a:off x="457200" y="3429000"/>
            <a:ext cx="109728" cy="1005840"/>
          </a:xfrm>
          <a:prstGeom prst="rect">
            <a:avLst>
              <a:gd name="adj" fmla="val 41667"/>
            </a:avLst>
          </a:prstGeom>
          <a:solidFill>
            <a:srgbClr val="2C5AA0"/>
          </a:solidFill>
          <a:ln/>
        </p:spPr>
      </p:sp>
      <p:sp>
        <p:nvSpPr>
          <p:cNvPr id="16" name="Text 14"/>
          <p:cNvSpPr/>
          <p:nvPr/>
        </p:nvSpPr>
        <p:spPr>
          <a:xfrm>
            <a:off x="640080" y="3520440"/>
            <a:ext cx="640080" cy="822960"/>
          </a:xfrm>
          <a:prstGeom prst="rect">
            <a:avLst/>
          </a:prstGeom>
          <a:noFill/>
          <a:ln/>
        </p:spPr>
        <p:txBody>
          <a:bodyPr wrap="square" lIns="0" tIns="0" rIns="0" bIns="0" rtlCol="0" anchor="ctr"/>
          <a:lstStyle/>
          <a:p>
            <a:pPr algn="ctr" indent="0" marL="0">
              <a:buNone/>
            </a:pPr>
            <a:r>
              <a:rPr lang="en-US" sz="3600" b="1" dirty="0">
                <a:solidFill>
                  <a:srgbClr val="2C5AA0"/>
                </a:solidFill>
                <a:latin typeface="Segoe UI" pitchFamily="34" charset="0"/>
                <a:ea typeface="Segoe UI" pitchFamily="34" charset="-122"/>
                <a:cs typeface="Segoe UI" pitchFamily="34" charset="-120"/>
              </a:rPr>
              <a:t>3</a:t>
            </a:r>
            <a:endParaRPr lang="en-US" sz="3600" dirty="0"/>
          </a:p>
        </p:txBody>
      </p:sp>
      <p:sp>
        <p:nvSpPr>
          <p:cNvPr id="17" name="Text 15"/>
          <p:cNvSpPr/>
          <p:nvPr/>
        </p:nvSpPr>
        <p:spPr>
          <a:xfrm>
            <a:off x="1371600" y="3474720"/>
            <a:ext cx="3474720" cy="868680"/>
          </a:xfrm>
          <a:prstGeom prst="rect">
            <a:avLst/>
          </a:prstGeom>
          <a:noFill/>
          <a:ln/>
        </p:spPr>
        <p:txBody>
          <a:bodyPr wrap="square" lIns="0" tIns="0" rIns="0" bIns="0" rtlCol="0" anchor="ctr"/>
          <a:lstStyle/>
          <a:p>
            <a:pPr indent="0" marL="0">
              <a:lnSpc>
                <a:spcPct val="110000"/>
              </a:lnSpc>
              <a:buNone/>
            </a:pPr>
            <a:r>
              <a:rPr lang="en-US" sz="1900" b="1" dirty="0">
                <a:solidFill>
                  <a:srgbClr val="2D3436"/>
                </a:solidFill>
                <a:latin typeface="BIZ UDPGothic" pitchFamily="34" charset="0"/>
                <a:ea typeface="BIZ UDPGothic" pitchFamily="34" charset="-122"/>
                <a:cs typeface="BIZ UDPGothic" pitchFamily="34" charset="-120"/>
              </a:rPr>
              <a:t>夕方に悪化する複視は</a:t>
            </a:r>
            <a:endParaRPr lang="en-US" sz="1900" dirty="0"/>
          </a:p>
          <a:p>
            <a:pPr indent="0" marL="0">
              <a:lnSpc>
                <a:spcPct val="110000"/>
              </a:lnSpc>
              <a:buNone/>
            </a:pPr>
            <a:r>
              <a:rPr lang="en-US" sz="1900" b="1" dirty="0">
                <a:solidFill>
                  <a:srgbClr val="2D3436"/>
                </a:solidFill>
                <a:latin typeface="BIZ UDPGothic" pitchFamily="34" charset="0"/>
                <a:ea typeface="BIZ UDPGothic" pitchFamily="34" charset="-122"/>
                <a:cs typeface="BIZ UDPGothic" pitchFamily="34" charset="-120"/>
              </a:rPr>
              <a:t>重症筋無力症かも</a:t>
            </a:r>
            <a:endParaRPr lang="en-US" sz="1900" dirty="0"/>
          </a:p>
        </p:txBody>
      </p:sp>
      <p:sp>
        <p:nvSpPr>
          <p:cNvPr id="18" name="Text 16"/>
          <p:cNvSpPr/>
          <p:nvPr/>
        </p:nvSpPr>
        <p:spPr>
          <a:xfrm>
            <a:off x="5029200" y="3520440"/>
            <a:ext cx="3474720" cy="822960"/>
          </a:xfrm>
          <a:prstGeom prst="rect">
            <a:avLst/>
          </a:prstGeom>
          <a:noFill/>
          <a:ln/>
        </p:spPr>
        <p:txBody>
          <a:bodyPr wrap="square" lIns="0" tIns="0" rIns="0" bIns="0" rtlCol="0" anchor="ctr"/>
          <a:lstStyle/>
          <a:p>
            <a:pPr indent="0" marL="0">
              <a:lnSpc>
                <a:spcPct val="120000"/>
              </a:lnSpc>
              <a:buNone/>
            </a:pPr>
            <a:r>
              <a:rPr lang="en-US" sz="1500" dirty="0">
                <a:solidFill>
                  <a:srgbClr val="636E72"/>
                </a:solidFill>
                <a:latin typeface="BIZ UDPGothic" pitchFamily="34" charset="0"/>
                <a:ea typeface="BIZ UDPGothic" pitchFamily="34" charset="-122"/>
                <a:cs typeface="BIZ UDPGothic" pitchFamily="34" charset="-120"/>
              </a:rPr>
              <a:t>まぶた下垂を伴うなら</a:t>
            </a:r>
            <a:endParaRPr lang="en-US" sz="1500" dirty="0"/>
          </a:p>
          <a:p>
            <a:pPr indent="0" marL="0">
              <a:lnSpc>
                <a:spcPct val="120000"/>
              </a:lnSpc>
              <a:buNone/>
            </a:pPr>
            <a:r>
              <a:rPr lang="en-US" sz="1500" dirty="0">
                <a:solidFill>
                  <a:srgbClr val="636E72"/>
                </a:solidFill>
                <a:latin typeface="BIZ UDPGothic" pitchFamily="34" charset="0"/>
                <a:ea typeface="BIZ UDPGothic" pitchFamily="34" charset="-122"/>
                <a:cs typeface="BIZ UDPGothic" pitchFamily="34" charset="-120"/>
              </a:rPr>
              <a:t>脳神経内科で精査を</a:t>
            </a:r>
            <a:endParaRPr lang="en-US" sz="1500" dirty="0"/>
          </a:p>
        </p:txBody>
      </p:sp>
      <p:sp>
        <p:nvSpPr>
          <p:cNvPr id="19" name="Shape 17"/>
          <p:cNvSpPr/>
          <p:nvPr/>
        </p:nvSpPr>
        <p:spPr>
          <a:xfrm>
            <a:off x="0" y="4800600"/>
            <a:ext cx="9144000" cy="347472"/>
          </a:xfrm>
          <a:prstGeom prst="rect">
            <a:avLst/>
          </a:prstGeom>
          <a:solidFill>
            <a:srgbClr val="1B3A5C"/>
          </a:solidFill>
          <a:ln/>
        </p:spPr>
      </p:sp>
      <p:sp>
        <p:nvSpPr>
          <p:cNvPr id="20" name="Text 18"/>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#07</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850C"/>
          </a:solidFill>
          <a:ln/>
        </p:spPr>
      </p:sp>
      <p:sp>
        <p:nvSpPr>
          <p:cNvPr id="3" name="Shape 1"/>
          <p:cNvSpPr/>
          <p:nvPr/>
        </p:nvSpPr>
        <p:spPr>
          <a:xfrm>
            <a:off x="0" y="5088636"/>
            <a:ext cx="9144000" cy="54864"/>
          </a:xfrm>
          <a:prstGeom prst="rect">
            <a:avLst/>
          </a:prstGeom>
          <a:solidFill>
            <a:srgbClr val="E8850C"/>
          </a:solidFill>
          <a:ln/>
        </p:spPr>
      </p:sp>
      <p:sp>
        <p:nvSpPr>
          <p:cNvPr id="4" name="Text 2"/>
          <p:cNvSpPr/>
          <p:nvPr/>
        </p:nvSpPr>
        <p:spPr>
          <a:xfrm>
            <a:off x="548640" y="731520"/>
            <a:ext cx="8046720" cy="640080"/>
          </a:xfrm>
          <a:prstGeom prst="rect">
            <a:avLst/>
          </a:prstGeom>
          <a:noFill/>
          <a:ln/>
        </p:spPr>
        <p:txBody>
          <a:bodyPr wrap="square" lIns="0" tIns="0" rIns="0" bIns="0" rtlCol="0" anchor="ctr"/>
          <a:lstStyle/>
          <a:p>
            <a:pPr algn="ctr" indent="0" marL="0">
              <a:buNone/>
            </a:pPr>
            <a:r>
              <a:rPr lang="en-US" sz="3000" b="1" dirty="0">
                <a:solidFill>
                  <a:srgbClr val="FFFFFF"/>
                </a:solidFill>
                <a:latin typeface="BIZ UDPGothic" pitchFamily="34" charset="0"/>
                <a:ea typeface="BIZ UDPGothic" pitchFamily="34" charset="-122"/>
                <a:cs typeface="BIZ UDPGothic" pitchFamily="34" charset="-120"/>
              </a:rPr>
              <a:t>ご視聴ありがとうございました</a:t>
            </a:r>
            <a:endParaRPr lang="en-US" sz="3000" dirty="0"/>
          </a:p>
        </p:txBody>
      </p:sp>
      <p:sp>
        <p:nvSpPr>
          <p:cNvPr id="5" name="Shape 3"/>
          <p:cNvSpPr/>
          <p:nvPr/>
        </p:nvSpPr>
        <p:spPr>
          <a:xfrm>
            <a:off x="2286000" y="1554480"/>
            <a:ext cx="4572000" cy="0"/>
          </a:xfrm>
          <a:prstGeom prst="line">
            <a:avLst/>
          </a:prstGeom>
          <a:noFill/>
          <a:ln w="25400">
            <a:solidFill>
              <a:srgbClr val="E8850C"/>
            </a:solidFill>
            <a:prstDash val="solid"/>
          </a:ln>
        </p:spPr>
      </p:sp>
      <p:sp>
        <p:nvSpPr>
          <p:cNvPr id="6" name="Text 4"/>
          <p:cNvSpPr/>
          <p:nvPr/>
        </p:nvSpPr>
        <p:spPr>
          <a:xfrm>
            <a:off x="548640" y="1828800"/>
            <a:ext cx="8046720" cy="457200"/>
          </a:xfrm>
          <a:prstGeom prst="rect">
            <a:avLst/>
          </a:prstGeom>
          <a:noFill/>
          <a:ln/>
        </p:spPr>
        <p:txBody>
          <a:bodyPr wrap="square" lIns="0" tIns="0" rIns="0" bIns="0" rtlCol="0" anchor="ctr"/>
          <a:lstStyle/>
          <a:p>
            <a:pPr algn="ctr" indent="0" marL="0">
              <a:buNone/>
            </a:pPr>
            <a:r>
              <a:rPr lang="en-US" sz="2000" dirty="0">
                <a:solidFill>
                  <a:srgbClr val="E8850C"/>
                </a:solidFill>
                <a:latin typeface="BIZ UDPGothic" pitchFamily="34" charset="0"/>
                <a:ea typeface="BIZ UDPGothic" pitchFamily="34" charset="-122"/>
                <a:cs typeface="BIZ UDPGothic" pitchFamily="34" charset="-120"/>
              </a:rPr>
              <a:t>チャンネル登録・高評価よろしくお願いします！</a:t>
            </a:r>
            <a:endParaRPr lang="en-US" sz="2000" dirty="0"/>
          </a:p>
        </p:txBody>
      </p:sp>
      <p:sp>
        <p:nvSpPr>
          <p:cNvPr id="7" name="Text 5"/>
          <p:cNvSpPr/>
          <p:nvPr/>
        </p:nvSpPr>
        <p:spPr>
          <a:xfrm>
            <a:off x="1371600" y="2651760"/>
            <a:ext cx="6400800" cy="411480"/>
          </a:xfrm>
          <a:prstGeom prst="rect">
            <a:avLst/>
          </a:prstGeom>
          <a:noFill/>
          <a:ln/>
        </p:spPr>
        <p:txBody>
          <a:bodyPr wrap="square" lIns="0" tIns="0" rIns="0" bIns="0" rtlCol="0" anchor="ctr"/>
          <a:lstStyle/>
          <a:p>
            <a:pPr algn="l" indent="0" marL="0">
              <a:buNone/>
            </a:pPr>
            <a:r>
              <a:rPr lang="en-US" sz="1700" dirty="0">
                <a:solidFill>
                  <a:srgbClr val="B0BEC5"/>
                </a:solidFill>
                <a:latin typeface="BIZ UDPGothic" pitchFamily="34" charset="0"/>
                <a:ea typeface="BIZ UDPGothic" pitchFamily="34" charset="-122"/>
                <a:cs typeface="BIZ UDPGothic" pitchFamily="34" charset="-120"/>
              </a:rPr>
              <a:t>🔗 ブログ記事で詳しく読む（概要欄にリンク）</a:t>
            </a:r>
            <a:endParaRPr lang="en-US" sz="1700" dirty="0"/>
          </a:p>
        </p:txBody>
      </p:sp>
      <p:sp>
        <p:nvSpPr>
          <p:cNvPr id="8" name="Text 6"/>
          <p:cNvSpPr/>
          <p:nvPr/>
        </p:nvSpPr>
        <p:spPr>
          <a:xfrm>
            <a:off x="1371600" y="3154680"/>
            <a:ext cx="6400800" cy="411480"/>
          </a:xfrm>
          <a:prstGeom prst="rect">
            <a:avLst/>
          </a:prstGeom>
          <a:noFill/>
          <a:ln/>
        </p:spPr>
        <p:txBody>
          <a:bodyPr wrap="square" lIns="0" tIns="0" rIns="0" bIns="0" rtlCol="0" anchor="ctr"/>
          <a:lstStyle/>
          <a:p>
            <a:pPr algn="l" indent="0" marL="0">
              <a:buNone/>
            </a:pPr>
            <a:r>
              <a:rPr lang="en-US" sz="1700" dirty="0">
                <a:solidFill>
                  <a:srgbClr val="B0BEC5"/>
                </a:solidFill>
                <a:latin typeface="BIZ UDPGothic" pitchFamily="34" charset="0"/>
                <a:ea typeface="BIZ UDPGothic" pitchFamily="34" charset="-122"/>
                <a:cs typeface="BIZ UDPGothic" pitchFamily="34" charset="-120"/>
              </a:rPr>
              <a:t>🔍 見え方セルフチェックツール（概要欄にリンク）</a:t>
            </a:r>
            <a:endParaRPr lang="en-US" sz="1700" dirty="0"/>
          </a:p>
        </p:txBody>
      </p:sp>
      <p:sp>
        <p:nvSpPr>
          <p:cNvPr id="9" name="Text 7"/>
          <p:cNvSpPr/>
          <p:nvPr/>
        </p:nvSpPr>
        <p:spPr>
          <a:xfrm>
            <a:off x="1371600" y="3657600"/>
            <a:ext cx="6400800" cy="411480"/>
          </a:xfrm>
          <a:prstGeom prst="rect">
            <a:avLst/>
          </a:prstGeom>
          <a:noFill/>
          <a:ln/>
        </p:spPr>
        <p:txBody>
          <a:bodyPr wrap="square" lIns="0" tIns="0" rIns="0" bIns="0" rtlCol="0" anchor="ctr"/>
          <a:lstStyle/>
          <a:p>
            <a:pPr algn="l" indent="0" marL="0">
              <a:buNone/>
            </a:pPr>
            <a:r>
              <a:rPr lang="en-US" sz="1700" dirty="0">
                <a:solidFill>
                  <a:srgbClr val="B0BEC5"/>
                </a:solidFill>
                <a:latin typeface="BIZ UDPGothic" pitchFamily="34" charset="0"/>
                <a:ea typeface="BIZ UDPGothic" pitchFamily="34" charset="-122"/>
                <a:cs typeface="BIZ UDPGothic" pitchFamily="34" charset="-120"/>
              </a:rPr>
              <a:t>📺 次回：「むせやすくなった」は老化のせい？ ― 嚥下障害の早期サイン</a:t>
            </a:r>
            <a:endParaRPr lang="en-US" sz="1700" dirty="0"/>
          </a:p>
        </p:txBody>
      </p:sp>
      <p:sp>
        <p:nvSpPr>
          <p:cNvPr id="10" name="Text 8"/>
          <p:cNvSpPr/>
          <p:nvPr/>
        </p:nvSpPr>
        <p:spPr>
          <a:xfrm>
            <a:off x="548640" y="4389120"/>
            <a:ext cx="8046720" cy="365760"/>
          </a:xfrm>
          <a:prstGeom prst="rect">
            <a:avLst/>
          </a:prstGeom>
          <a:noFill/>
          <a:ln/>
        </p:spPr>
        <p:txBody>
          <a:bodyPr wrap="square" lIns="0" tIns="0" rIns="0" bIns="0" rtlCol="0" anchor="ctr"/>
          <a:lstStyle/>
          <a:p>
            <a:pPr algn="ctr" indent="0" marL="0">
              <a:buNone/>
            </a:pPr>
            <a:r>
              <a:rPr lang="en-US" sz="1400" dirty="0">
                <a:solidFill>
                  <a:srgbClr val="78909C"/>
                </a:solidFill>
                <a:latin typeface="BIZ UDPGothic" pitchFamily="34" charset="0"/>
                <a:ea typeface="BIZ UDPGothic" pitchFamily="34" charset="-122"/>
                <a:cs typeface="BIZ UDPGothic" pitchFamily="34" charset="-120"/>
              </a:rPr>
              <a:t>医知創造ラボ</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【その症状、大丈夫？#07】物が二重に見えたら要注意</dc:title>
  <dc:subject>PptxGenJS Presentation</dc:subject>
  <dc:creator>今村久司</dc:creator>
  <cp:lastModifiedBy>今村久司</cp:lastModifiedBy>
  <cp:revision>1</cp:revision>
  <dcterms:created xsi:type="dcterms:W3CDTF">2026-04-13T05:45:23Z</dcterms:created>
  <dcterms:modified xsi:type="dcterms:W3CDTF">2026-04-13T05:45:23Z</dcterms:modified>
</cp:coreProperties>
</file>