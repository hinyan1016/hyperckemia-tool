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小脳梗塞後のリハビリテーション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Cerebellar Stroke Rehabilitation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エビデンスに基づく回復戦略と最新治療 ―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0" y="3200400"/>
            <a:ext cx="3657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最新ガイドライン・RCT・メタアナリシスに基づく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本日のアウトライン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2/17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365760" cy="36576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小脳梗塞の臨床的特徴と後遺症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365760" cy="36576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1600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予後と回復の時間経過（KOSCOスタディ）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2148840"/>
            <a:ext cx="365760" cy="36576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103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失調の評価スケール（SARA）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" y="2651760"/>
            <a:ext cx="365760" cy="36576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従来型リハビリテーション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520" y="3154680"/>
            <a:ext cx="365760" cy="36576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非侵襲的脳刺激療法（NIBS）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1520" y="3657600"/>
            <a:ext cx="365760" cy="36576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新規治療（DBS・VR）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31520" y="4160520"/>
            <a:ext cx="365760" cy="36576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まとめ：5つの臨床ポイント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小脳梗塞の疫学と臨床的特徴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3/17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疫学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全脳卒中の 2〜3%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比較的まれだが特有の後遺症パターン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責任血管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6002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PICA / AICA / SCA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SCA: 急性期最重度だが3ヶ月で差消失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主な後遺症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運動失調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011680" y="3246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体幹・四肢の協調運動障害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703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歩行障害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011680" y="3703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ワイドベース歩行、速度低下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4160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姿勢障害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011680" y="4160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バランス障害、体幹動揺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32461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めまい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43600" y="3246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前庭系障害、眼振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0" y="3703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構音障害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943600" y="3703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断綴性発語（scanning speech）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0" y="4160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嚥下障害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943600" y="4160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虫部・両側病変で出現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KOSCOスタディ：機能ドメイン別の回復時間経過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4/17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Lee HS et al. Front Neurol 2025 | 孤立性小脳梗塞 183例 | 36ヶ月追跡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28A74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83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3ヶ月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417320" y="2331720"/>
            <a:ext cx="0" cy="228600"/>
          </a:xfrm>
          <a:prstGeom prst="line">
            <a:avLst/>
          </a:prstGeom>
          <a:noFill/>
          <a:ln w="25400">
            <a:solidFill>
              <a:srgbClr val="636E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77440" y="1737360"/>
            <a:ext cx="6217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0" y="17830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認知（K-MMSE 27.6）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嚥下機能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256032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560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6ヶ月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417320" y="3108960"/>
            <a:ext cx="0" cy="228600"/>
          </a:xfrm>
          <a:prstGeom prst="line">
            <a:avLst/>
          </a:prstGeom>
          <a:noFill/>
          <a:ln w="25400">
            <a:solidFill>
              <a:srgbClr val="636E7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2514600"/>
            <a:ext cx="6217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60320" y="25603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運動（FMA 98.8）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言語機能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333756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37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12ヶ月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417320" y="3886200"/>
            <a:ext cx="0" cy="228600"/>
          </a:xfrm>
          <a:prstGeom prst="line">
            <a:avLst/>
          </a:prstGeom>
          <a:noFill/>
          <a:ln w="25400">
            <a:solidFill>
              <a:srgbClr val="636E7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3291840"/>
            <a:ext cx="6217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60320" y="333756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歩行（FAC 4.7）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機能的自立度（FIM 122.2）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31520" y="411480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114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36ヶ月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377440" y="4069080"/>
            <a:ext cx="6217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560320" y="41148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安定した予後を維持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57200" y="4572000"/>
            <a:ext cx="8229600" cy="18288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予後不良因子: SCA領域 / 高齢 / 女性 / 初期重症度高 / 併存疾患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リハビリ後の機能回復（Kelly et al. 2001）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5/17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小脳脳卒中 58例（梗塞49、出血9）| 平均年齢 69.2歳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65.5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入院時FIM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566160" y="15544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89.8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566160" y="2514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退院時FIM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0" y="15544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123.5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400800" y="2514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F/U FIM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108960" y="1828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943600" y="1828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独立した予後予測因子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37490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1. 入院時FIM（機能的自立度）  ← 最大の予測因子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2. Charlson併存疾患スコア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3. 初期症候群（めまい/嘔吐/失調/頭痛 → 良好転帰）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4. SCA梗塞 → 予後不良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失調の評価：SARA（Scale for Assessment and Rating of Ataxia）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6/17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40点満点（0=正常 / 40=最重度失調）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18点が姿勢・歩行関連項目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840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005840"/>
            <a:ext cx="3840480" cy="32004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臨床カットオフ値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≥ 5.5: ADL依存 | ≥ 14.25: 重度依存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項目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配点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97680" y="1920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評価内容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240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歩行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0" y="2240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0-8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97680" y="2240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歩行パターン、安定性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立位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26080" y="2560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0-6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0" y="2560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閉眼立位、タンデム立位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座位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926080" y="2880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0-4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97680" y="2880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座位バランス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言語障害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926080" y="3200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0-6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297680" y="3200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構音障害の程度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指追い試験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926080" y="3520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0-4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297680" y="3520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上肢測定障害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鼻指試験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92608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0-4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297680" y="38404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企図振戦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手の回内外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292608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0-4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297680" y="41605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変換運動障害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4480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踵すね試験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926080" y="4480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0-4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297680" y="4480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下肢協調運動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BBS との相関: r = -0.946  →  SARAはNIHSSで捉えきれない後方循環障害を評価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従来型リハビリテーションの柱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7/17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3840480" cy="32004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Frenkel体操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視覚FBを用いた協調運動訓練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31720"/>
            <a:ext cx="3840480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331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PNF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固有受容性神経筋促通法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体幹・骨盤の固有受容覚強化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566160"/>
            <a:ext cx="3840480" cy="3200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566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バランス訓練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3931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静的→動的バランスの段階的負荷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109728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1097280"/>
            <a:ext cx="3840480" cy="32004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歩行訓練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83480" y="14630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ロフストランドクラッチ使用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重錘負荷訓練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233172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331720"/>
            <a:ext cx="3840480" cy="32004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2331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体重免荷TM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83480" y="2697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安全な環境での歩行練習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トレッドミル訓練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Marquer et al. 2014: バランス・協調訓練の集中的プログラムが有効（中等度エビデンス）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回復パターン：姿勢障害 vs 歩行失調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8/17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Bultmann et al. Gait Posture 2014 | 急性小脳梗塞 23例 | 3ヶ月追跡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3840480" cy="3657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姿勢障害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3ヶ月で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完全回復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✔ 回復しやすい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46320" y="155448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554480"/>
            <a:ext cx="3840480" cy="36576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歩行失調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21031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軽度の失調が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残存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02920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特に歩行速度の低下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小脳小葉 IV-VI の病変 → 立位・歩行・下肢失調と関連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梗塞体積が大きいほど失調が重度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訓練強度のエビデンス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9/17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Lubetzky-Vilnai &amp; Kartin. J Neurol Phys Ther 2010 | 22研究のSR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急性期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週 2-3 回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個別バランス訓練で十分な効果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（中等度エビデンス）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554480"/>
            <a:ext cx="3931920" cy="3657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亜急性期/慢性期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2103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個別 or グループ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937760" y="2697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個別訓練またはグループ療法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が有効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注意：過剰な訓練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1日 90分以上 x 週5日 の訓練は逆効果の可能性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適切な強度設定（overwork weaknessの回避）が重要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非侵襲的脳刺激療法（NIBS）：なぜ小脳？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10/17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88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小脳-視床-皮質路（cerebello-thalamo-cortical pathway）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運動制御・運動学習の中枢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皮質との豊富な結合 → 間接的な皮質可塑性修飾が可能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刺激標的として安全かつアクセスしやすい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743200"/>
            <a:ext cx="3931920" cy="4114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743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iTBS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間欠的シータバースト刺激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36118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TMS（経頭蓋磁気刺激）の一種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短時間（約3分）で小脳興奮性を増加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743200"/>
            <a:ext cx="3931920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2743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tDCS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9204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経頭蓋直流電気刺激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36118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微弱直流電流（1-2mA）で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神経活動を修飾（20分程度）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小脳iTBSの歩行・バランス回復（Koch et al. JAMA Neurol 2019）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11/17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二重盲検RCT | 慢性MCA脳梗塞 34例 | 小脳iTBS+PT 3週間 vs sham+PT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4864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BBS（Berg Balance Scale）の変化  p &lt; 0.001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34.5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ベースライン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3120" y="21031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468880" y="2103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43.4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468880" y="2697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3週後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21031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206240" y="2103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47.5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206240" y="2697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6週後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1554480"/>
            <a:ext cx="24688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554480"/>
            <a:ext cx="2468880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歩幅（cm）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2103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16.8 → 14.3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0" y="2697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 &lt; 0.05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メカニズム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小脳-皮質可塑性の促進（cerebello-cortical plasticity）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後頭頂皮質（PPC）の神経活動増加を確認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歩行自立度の向上 + 転倒リスク低減に寄与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M1 vs 小脳iTBS（Liao et al. Stroke 2024）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12/17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二重盲検RCT | 亜急性脳卒中 36例 | M1群 vs 小脳群 vs sham群（各12例）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926080" y="1600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M1-iTBS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600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小脳-iTBS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49440" y="16002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BBS改善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26080" y="2103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+10.7*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2103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+14.2*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0" y="2103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基準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8229600" cy="50292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FMA-LE改善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926080" y="2606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2606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+7.8*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49440" y="2606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基準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p &lt; 0.05 vs sham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56616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Finding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" y="40233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バランス改善: M1-iTBSと小脳-iTBSの両方で有効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下肢運動回復: 小脳-iTBSのみが有意な効果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→ 小脳iTBSは歩行バランスに加え運動回復にも有効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→ M1より優位な可能性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小脳NIBSのメタアナリシス（Jiang et al. 2025）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13/17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14 RCT / 382例 | Eur J Phys Rehabil Med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01168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評価指標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68880" y="1554480"/>
            <a:ext cx="164592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効果量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0" y="1554480"/>
            <a:ext cx="201168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95% CI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109728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554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23760" y="1554480"/>
            <a:ext cx="109728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1554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確実性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011680"/>
            <a:ext cx="20116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011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バランス（BBS）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468880" y="2011680"/>
            <a:ext cx="1645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0" y="2011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 = 4.17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0" y="2011680"/>
            <a:ext cx="20116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206240" y="2011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2.28 - 6.05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26480" y="2011680"/>
            <a:ext cx="10972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2011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0.01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23760" y="2011680"/>
            <a:ext cx="10972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0" y="2011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低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2514600"/>
            <a:ext cx="2011680" cy="50292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514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歩行速度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468880" y="2514600"/>
            <a:ext cx="1645920" cy="50292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29" name="Text 27"/>
          <p:cNvSpPr/>
          <p:nvPr/>
        </p:nvSpPr>
        <p:spPr>
          <a:xfrm>
            <a:off x="2560320" y="2514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SMD = -0.36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114800" y="2514600"/>
            <a:ext cx="2011680" cy="50292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1" name="Text 29"/>
          <p:cNvSpPr/>
          <p:nvPr/>
        </p:nvSpPr>
        <p:spPr>
          <a:xfrm>
            <a:off x="4206240" y="2514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-0.68 to -0.03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126480" y="2514600"/>
            <a:ext cx="1097280" cy="50292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2514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0.03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223760" y="2514600"/>
            <a:ext cx="1097280" cy="50292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0" y="2514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中等度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57200" y="3017520"/>
            <a:ext cx="20116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017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移動性（TUG）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468880" y="3017520"/>
            <a:ext cx="1645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2560320" y="3017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 = -3.34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114800" y="3017520"/>
            <a:ext cx="20116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4206240" y="3017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-5.14 to -1.54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126480" y="3017520"/>
            <a:ext cx="10972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217920" y="30175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0.01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223760" y="3017520"/>
            <a:ext cx="10972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0" y="30175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低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40080" y="3840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小脳NIBS（tDCS + TMS）はバランス・歩行・機能的移動性を改善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エビデンスの確実性は低〜中等度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今後の課題：最適な刺激プロトコルの確立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行動介入（PT）との併用が効果を最大化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小脳tDCSの上肢運動機能回復（Gong et al. 2023）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14/17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二重盲検RCT | 脳卒中 77例 | 陽極 2mA/20分 x 4週間 vs sham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1645920" cy="3657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4週後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86000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tDCS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+10.7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0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+5.8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 = 4.9  p = 0.013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743200"/>
            <a:ext cx="1645920" cy="3657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60日後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28600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tDCS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+18.9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6576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0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+12.7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943600" y="3017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 = 6.2  p = 0.043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臨床的有意改善（MCID）達成率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tDCS群: 70.3%  vs  Sham群: 34.3%   (p = 0.002)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小脳深部脳刺激 DBS（Baker et al. Nat Med 2023）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15/17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Phase I / 非盲検 / 慢性期（1-3年後）中等度〜重度上肢障害 12例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方法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小脳歯状核（dentate nucleus）に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電極留置 + リハビリテーション併用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554480"/>
            <a:ext cx="3931920" cy="3657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結果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2011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FMA-UE 中央値 7点改善（全体）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遠位運動保存例: 15点改善（全例MCID超）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画期的な知見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3832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慢性期（1-3年後）の「回復プラトー」を打破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機能改善は同側皮質代謝増加と有意に相関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→ late-stage neuroplasticity の修飾が可能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重篤な周術期・刺激関連有害事象なし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Phase II/III試験の結果が待たれる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VRリハビリテーション（Takimoto et al. BMJ Case Rep 2021）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16/17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岸和田リハビリテーション病院 | 右小脳・脳幹梗塞後失調 | 40代男性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従来型PT 3週間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FIM: 101 → 124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ADLは改善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しかし高次バランスはプラトー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（フォークリフト復職に不十分）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554480"/>
            <a:ext cx="3931920" cy="3657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VRバランス訓練 2週間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20116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平日40分のVR介入で：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SARA: 5 →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FBS: 48 → 56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Mini-BESTest: 20 → 28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転帰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体幹動揺消失 → 自信回復 → フォークリフト運転手として復職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従来療法でプラトーに達した症例にVRが追加効果を発揮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VRリハビリは、従来療法で改善が頭打ちとなった小脳失調患者への有力な選択肢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Home Message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457200" cy="45720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914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回復は12ヶ月まで続く ― 機能ドメインで回復時期が異なる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1691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姿勢障害は回復しやすい、歩行失調は残りやすい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SARAで評価 ― NIHSSだけでは後方循環障害を過小評価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3246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小脳NIBS（iTBS/tDCS）は有望な補助療法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4023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適切な訓練強度（急性期: 週2-3回）― 過剰訓練を避ける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828800" y="4663440"/>
            <a:ext cx="5486400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17/17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小脳梗塞後のリハビリテーション ― エビデンスに基づく回復戦略</dc:title>
  <dc:subject>PptxGenJS Presentation</dc:subject>
  <dc:creator>今村久司</dc:creator>
  <cp:lastModifiedBy>今村久司</cp:lastModifiedBy>
  <cp:revision>1</cp:revision>
  <dcterms:created xsi:type="dcterms:W3CDTF">2026-03-31T05:44:29Z</dcterms:created>
  <dcterms:modified xsi:type="dcterms:W3CDTF">2026-03-31T05:44:29Z</dcterms:modified>
</cp:coreProperties>
</file>