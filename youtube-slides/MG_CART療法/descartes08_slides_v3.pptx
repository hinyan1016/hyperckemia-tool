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1137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undo custSel modSld">
      <pc:chgData name="久司 今村" userId="1c5d66dd010fbc96" providerId="LiveId" clId="{17FB10CB-4D7A-4D51-827D-8C222DDB014F}" dt="2026-03-11T03:25:06.507" v="20" actId="14100"/>
      <pc:docMkLst>
        <pc:docMk/>
      </pc:docMkLst>
      <pc:sldChg chg="addSp delSp modSp mod">
        <pc:chgData name="久司 今村" userId="1c5d66dd010fbc96" providerId="LiveId" clId="{17FB10CB-4D7A-4D51-827D-8C222DDB014F}" dt="2026-03-11T03:24:21.522" v="13" actId="1076"/>
        <pc:sldMkLst>
          <pc:docMk/>
          <pc:sldMk cId="0" sldId="261"/>
        </pc:sldMkLst>
        <pc:spChg chg="add del mod">
          <ac:chgData name="久司 今村" userId="1c5d66dd010fbc96" providerId="LiveId" clId="{17FB10CB-4D7A-4D51-827D-8C222DDB014F}" dt="2026-03-11T03:24:17.302" v="12" actId="14100"/>
          <ac:spMkLst>
            <pc:docMk/>
            <pc:sldMk cId="0" sldId="261"/>
            <ac:spMk id="6" creationId="{00000000-0000-0000-0000-000000000000}"/>
          </ac:spMkLst>
        </pc:spChg>
        <pc:spChg chg="mod">
          <ac:chgData name="久司 今村" userId="1c5d66dd010fbc96" providerId="LiveId" clId="{17FB10CB-4D7A-4D51-827D-8C222DDB014F}" dt="2026-03-11T03:24:21.522" v="13" actId="1076"/>
          <ac:spMkLst>
            <pc:docMk/>
            <pc:sldMk cId="0" sldId="261"/>
            <ac:spMk id="8" creationId="{00000000-0000-0000-0000-000000000000}"/>
          </ac:spMkLst>
        </pc:spChg>
        <pc:picChg chg="del mod">
          <ac:chgData name="久司 今村" userId="1c5d66dd010fbc96" providerId="LiveId" clId="{17FB10CB-4D7A-4D51-827D-8C222DDB014F}" dt="2026-03-11T03:23:47.720" v="4" actId="478"/>
          <ac:picMkLst>
            <pc:docMk/>
            <pc:sldMk cId="0" sldId="261"/>
            <ac:picMk id="7" creationId="{00000000-0000-0000-0000-000000000000}"/>
          </ac:picMkLst>
        </pc:picChg>
        <pc:picChg chg="add mod">
          <ac:chgData name="久司 今村" userId="1c5d66dd010fbc96" providerId="LiveId" clId="{17FB10CB-4D7A-4D51-827D-8C222DDB014F}" dt="2026-03-11T03:24:09.807" v="11" actId="1076"/>
          <ac:picMkLst>
            <pc:docMk/>
            <pc:sldMk cId="0" sldId="261"/>
            <ac:picMk id="12" creationId="{D9347451-719F-C85C-AA28-A3E1F5AAEC5C}"/>
          </ac:picMkLst>
        </pc:picChg>
      </pc:sldChg>
      <pc:sldChg chg="addSp delSp modSp mod">
        <pc:chgData name="久司 今村" userId="1c5d66dd010fbc96" providerId="LiveId" clId="{17FB10CB-4D7A-4D51-827D-8C222DDB014F}" dt="2026-03-11T03:25:06.507" v="20" actId="14100"/>
        <pc:sldMkLst>
          <pc:docMk/>
          <pc:sldMk cId="0" sldId="263"/>
        </pc:sldMkLst>
        <pc:spChg chg="mod">
          <ac:chgData name="久司 今村" userId="1c5d66dd010fbc96" providerId="LiveId" clId="{17FB10CB-4D7A-4D51-827D-8C222DDB014F}" dt="2026-03-11T03:25:01.241" v="19" actId="1076"/>
          <ac:spMkLst>
            <pc:docMk/>
            <pc:sldMk cId="0" sldId="263"/>
            <ac:spMk id="10" creationId="{00000000-0000-0000-0000-000000000000}"/>
          </ac:spMkLst>
        </pc:spChg>
        <pc:picChg chg="del">
          <ac:chgData name="久司 今村" userId="1c5d66dd010fbc96" providerId="LiveId" clId="{17FB10CB-4D7A-4D51-827D-8C222DDB014F}" dt="2026-03-11T03:24:39.782" v="14" actId="478"/>
          <ac:picMkLst>
            <pc:docMk/>
            <pc:sldMk cId="0" sldId="263"/>
            <ac:picMk id="9" creationId="{00000000-0000-0000-0000-000000000000}"/>
          </ac:picMkLst>
        </pc:picChg>
        <pc:picChg chg="add mod">
          <ac:chgData name="久司 今村" userId="1c5d66dd010fbc96" providerId="LiveId" clId="{17FB10CB-4D7A-4D51-827D-8C222DDB014F}" dt="2026-03-11T03:25:06.507" v="20" actId="14100"/>
          <ac:picMkLst>
            <pc:docMk/>
            <pc:sldMk cId="0" sldId="263"/>
            <ac:picMk id="14" creationId="{19283E31-C16C-0894-C4CE-167E5CAF28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14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73152" cy="201168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重症筋無力症に対する</a:t>
            </a:r>
            <a:endParaRPr lang="en-US" sz="4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CAR-T療法の新時代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D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Descartes-08（AURORA試験）解説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2286000" cy="0"/>
          </a:xfrm>
          <a:prstGeom prst="line">
            <a:avLst/>
          </a:prstGeom>
          <a:noFill/>
          <a:ln w="254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  |  2026年3月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重症筋無力症（MG）とは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自己免疫が原因で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神経筋接合部の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信号伝達が障害される疾患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免疫系がAChRを異物と誤認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自己抗体を産生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信号が遮断される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03520" y="914400"/>
            <a:ext cx="3474720" cy="3291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C:/Users/jsber/OneDrive/Documents/Claude_task/img_mg_nmj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0" y="1005840"/>
            <a:ext cx="310896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神経筋接合部の異常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MGの主な症状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眼瞼下垂（まぶたが下がる）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複視（ものが二重に見える）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四肢筋力低下・嚥下障害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重症例では呼吸筋麻痺（クリーゼ）に至る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従来の治療法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9260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治療法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抗コリンエステラーゼ薬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対症療法（症状改善のみ）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ステロイド / 免疫抑制薬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長期副作用・効果発現に時間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IVIg / 血漿交換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効果は一時的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FcRn / 補体阻害薬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新規薬剤（高コスト）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17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従来治療の根本的な問題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原因となるB細胞を除去できない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既存治療は「免疫を弱める」「抗体を一時的に減らす」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治療中止で再燃リスク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長期的な免疫抑制療法が必要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17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CAR-T細胞療法とは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患者自身のT細胞を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遺伝子改変し標的細胞を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攻撃させる治療法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CARを装着したT細胞が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標的を効率的に攻撃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血液がんで承認済み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自己免疫疾患へ応用が進展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52513" y="1005840"/>
            <a:ext cx="4125727" cy="3200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5037036" y="351425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CAR-T細胞療法の概要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17</a:t>
            </a:r>
            <a:endParaRPr lang="en-US" sz="18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D9347451-719F-C85C-AA28-A3E1F5AAE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552" y="1990378"/>
            <a:ext cx="4007688" cy="1255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CAR-T療法の5ステップ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T細胞採取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606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214884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24028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遺伝子改変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9768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297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4048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体外増殖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53212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53212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62356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患者に再投与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68096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680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22376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722376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31520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標的細胞を破壊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なぜMGにCAR-Tを使うのか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「免疫を抑える」から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「原因細胞を除去する」へ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B細胞表面のBCMAを標的に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自己反応性B細胞を除去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自己抗体の産生が停止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症状改善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45720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BCMA = B cell maturation antigen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3474720" cy="32918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03520" y="4251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B細胞の活性化と分化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17</a:t>
            </a:r>
            <a:endParaRPr lang="en-US" sz="18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19283E31-C16C-0894-C4CE-167E5CAF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811" y="850392"/>
            <a:ext cx="2183973" cy="3358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 ― RNA-CAR-T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mRNAで一時的にCAR機能を付与する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「可逆的」CAR-T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従来CAR-T：DNAをゲノムに永久導入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Descartes-08：mRNAで一時的に機能付与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自然分解で効果が制御可能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17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RNA-CAR-Tの4つの利点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効果が制御可能（mRNAは自然分解）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化学前処置（lymphodepletion）が不要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CRS・ICANSの重篤副作用リスクが低い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外来で投与可能（入院不要）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従来CAR-T vs Descartes-08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154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従来CAR-T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Descartes-08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遺伝子導入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DNA（永久）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C5AA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mRNA（一時的）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化学前処置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DC3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外来で可能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CRSリスク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DC3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第2相試験の結果 ― 有効性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MG-ADLスコア</a:t>
            </a: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の有意な改善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QMGスコアも改善を確認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効果は1年以上持続する例もあり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難治性MG患者を対象に実施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第2相試験の結果 ― 安全性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F0FF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CRS（サイトカイン放出症候群）</a:t>
            </a:r>
            <a:endParaRPr lang="en-US" sz="2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軽度またはなし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8046720" cy="1188720"/>
          </a:xfrm>
          <a:prstGeom prst="rect">
            <a:avLst/>
          </a:prstGeom>
          <a:solidFill>
            <a:srgbClr val="F0FF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4864" cy="1188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ICANS（神経毒性症候群）</a:t>
            </a:r>
            <a:endParaRPr lang="en-US" sz="22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軽度またはなし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RNA-CAR-Tの設計により重篤な副作用リスクが大幅に低減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第3相 AURORA試験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0" y="1005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AChR抗体陽性の全身型MG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無作為化二重盲検プラセボ対照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約100名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主要評価項目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MG-ADLスコアの改善（4か月時点）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FDA指定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Special Protocol Assessment承認済み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化学前処置なしCAR-Tの自己免疫疾患における初の大規模RCT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治療パラダイムの転換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657600" cy="54864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免疫抑制を継続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症状コントロール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治療中止で再燃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0" y="1097280"/>
            <a:ext cx="731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3657600" cy="22860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657600" cy="54864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1783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原因B細胞を除去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機能的治癒へ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免疫抑制からの解放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他の自己免疫疾患でも研究が進行中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SLE（著効例報告済み）/ 多発性硬化症 / 全身性強皮症 / 炎症性筋疾患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残る課題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がん領域では1回数千万円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RNA-CAR-Tはコスト削減の可能性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長期安全性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B細胞除去による感染リスク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免疫グロブリン低下への注意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再投与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3429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効果は一時的 → 繰り返し投与の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安全性・有効性の確認が必要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AURORA試験の結果が上記すべての課題に重要データを提供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MGは自己抗体によるAChR障害が原因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病態の本質は自己反応性B細胞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CAR-TはB細胞を直接攻撃する新アプローチ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312724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Descartes-08はmRNA型「可逆的」CAR-T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76732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097280" y="3657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第3相AURORA試験が進行中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243B5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「免疫を抑える」時代から「原因細胞を除去する」時代へ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447</Words>
  <Application>Microsoft Office PowerPoint</Application>
  <PresentationFormat>画面に合わせる (16:9)</PresentationFormat>
  <Paragraphs>188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重症筋無力症に対するCAR-T療法の新時代 ― Descartes-08</dc:title>
  <dc:subject>PptxGenJS Presentation</dc:subject>
  <dc:creator>医知創造ラボ</dc:creator>
  <cp:lastModifiedBy>久司 今村</cp:lastModifiedBy>
  <cp:revision>1</cp:revision>
  <dcterms:created xsi:type="dcterms:W3CDTF">2026-03-11T03:21:28Z</dcterms:created>
  <dcterms:modified xsi:type="dcterms:W3CDTF">2026-03-11T03:25:07Z</dcterms:modified>
</cp:coreProperties>
</file>