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73152" cy="201168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重症筋無力症に対する</a:t>
            </a:r>
            <a:endParaRPr lang="en-US" sz="4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CAR-T療法の新時代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D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Descartes-08（AURORA試験）解説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3931920"/>
            <a:ext cx="2286000" cy="0"/>
          </a:xfrm>
          <a:prstGeom prst="line">
            <a:avLst/>
          </a:prstGeom>
          <a:noFill/>
          <a:ln w="25400">
            <a:solidFill>
              <a:srgbClr val="2C5A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医知創造ラボ  |  2026年3月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重症筋無力症（MG）とは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自己免疫が原因で神経筋接合部の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信号伝達が障害される疾患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免疫系がアセチルコリン受容体（AChR）を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異物と誤認し、自己抗体を産生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神経から筋肉への信号が遮断される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17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MGの主な症状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眼瞼下垂（まぶたが下がる）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複視（ものが二重に見える）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6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四肢筋力低下・嚥下障害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8046720" cy="822960"/>
          </a:xfrm>
          <a:prstGeom prst="rect">
            <a:avLst/>
          </a:prstGeom>
          <a:solidFill>
            <a:srgbClr val="FFF0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840480"/>
            <a:ext cx="73152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4048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3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重症例では呼吸筋麻痺（クリーゼ）に至る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17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従来の治療法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0233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治療法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特徴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抗コリンエステラーゼ薬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対症療法（症状改善のみ）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ステロイド / 免疫抑制薬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長期副作用・効果発現に時間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IVIg / 血漿交換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効果は一時的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FcRn / 補体阻害薬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新規薬剤（高コスト）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17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従来治療の根本的な問題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原因となるB細胞を除去できない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既存治療は「免疫を弱める」「抗体を一時的に減らす」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DC3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治療中止で再燃リスク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DC3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長期的な免疫抑制療法が必要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17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CAR-T細胞療法とは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患者自身のT細胞を遺伝子改変し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特定の標的細胞を攻撃させる治療法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CAR（キメラ抗原受容体）を装着したT細胞が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狙った細胞だけを効率的に攻撃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白血病・悪性リンパ腫で承認済み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近年、自己免疫疾患への応用が急速に進展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17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CAR-T療法の5ステップ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463040" cy="1463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146304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T細胞採取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20240" y="1828800"/>
            <a:ext cx="228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148840" y="1828800"/>
            <a:ext cx="1463040" cy="1463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2148840" y="1828800"/>
            <a:ext cx="146304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2240280" y="19202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遺伝子改変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611880" y="1828800"/>
            <a:ext cx="228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297680" y="1097280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3840480" y="1828800"/>
            <a:ext cx="1463040" cy="1463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0" y="1828800"/>
            <a:ext cx="146304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19202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体外増殖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03520" y="1828800"/>
            <a:ext cx="228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989320" y="1097280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5532120" y="1828800"/>
            <a:ext cx="1463040" cy="1463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5532120" y="1828800"/>
            <a:ext cx="146304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6" name="Text 24"/>
          <p:cNvSpPr/>
          <p:nvPr/>
        </p:nvSpPr>
        <p:spPr>
          <a:xfrm>
            <a:off x="5623560" y="19202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患者に再投与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995160" y="1828800"/>
            <a:ext cx="228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7680960" y="1097280"/>
            <a:ext cx="548640" cy="54864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223760" y="1828800"/>
            <a:ext cx="1463040" cy="14630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1" name="Shape 29"/>
          <p:cNvSpPr/>
          <p:nvPr/>
        </p:nvSpPr>
        <p:spPr>
          <a:xfrm>
            <a:off x="7223760" y="1828800"/>
            <a:ext cx="1463040" cy="54864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0" y="19202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標的細胞を破壊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なぜMGにCAR-Tを使うのか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「免疫を抑える」から「原因細胞を除去する」へ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B細胞（形質細胞）表面のBCMAを標的に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自己反応性B細胞を選択的に除去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自己抗体の産生が停止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症状改善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8046720" cy="6400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BCMA = B cell maturation antigen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17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Descartes-08 ― RNA-CAR-T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mRNAで一時的にCAR機能を付与する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「可逆的」CAR-T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従来CAR-T：</a:t>
            </a:r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DNAをゲノムに永久導入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Descartes-08：</a:t>
            </a:r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mRNAで一時的に機能付与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自然分解で効果が制御可能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17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RNA-CAR-Tの4つの利点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731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51560"/>
            <a:ext cx="54864" cy="7315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5156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効果が制御可能（mRNAは自然分解）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80467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20240"/>
            <a:ext cx="54864" cy="7315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202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化学前処置（lymphodepletion）が不要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8046720" cy="731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788920"/>
            <a:ext cx="54864" cy="7315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8892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CRS・ICANSの重篤副作用リスクが低い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657600"/>
            <a:ext cx="54864" cy="7315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576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外来で投与可能（入院不要）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17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従来CAR-T vs Descartes-08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292608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従来CAR-T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Descartes-08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遺伝子導入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DNA（永久）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2C5AA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mRNA（一時的）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化学前処置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DC354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必要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28A74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不要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入院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必要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28A74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外来で可能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CRSリスク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DC354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高い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28A745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低い</a:t>
                      </a:r>
                      <a:endParaRPr lang="en-US" sz="2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17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第2相試験の結果 ― 有効性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MG-ADLスコア</a:t>
            </a:r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の有意な改善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QMGスコアも改善を確認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効果は1年以上持続する例もあり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難治性MG患者を対象に実施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17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第2相試験の結果 ― 安全性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11887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CRS（サイトカイン放出症候群）</a:t>
            </a:r>
            <a:endParaRPr lang="en-US" sz="22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8A7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軽度またはなし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8046720" cy="1188720"/>
          </a:xfrm>
          <a:prstGeom prst="rect">
            <a:avLst/>
          </a:prstGeom>
          <a:solidFill>
            <a:srgbClr val="F0FFF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560320"/>
            <a:ext cx="54864" cy="11887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51760"/>
            <a:ext cx="7589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ICANS（神経毒性症候群）</a:t>
            </a:r>
            <a:endParaRPr lang="en-US" sz="2200" dirty="0"/>
          </a:p>
          <a:p>
            <a:pPr indent="0" marL="0">
              <a:buNone/>
            </a:pPr>
            <a:r>
              <a:rPr lang="en-US" sz="2800" b="1" dirty="0">
                <a:solidFill>
                  <a:srgbClr val="28A7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軽度またはなし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RNA-CAR-Tの設計により重篤な副作用リスクが大幅に低減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17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第3相 AURORA試験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594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0" y="10058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AChR抗体陽性の全身型MG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916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91840" y="16916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無作為化二重盲検プラセボ対照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8046720" cy="594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774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患者数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23774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約100名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632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主要評価項目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30632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MG-ADLスコアの改善（4か月時点）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8046720" cy="5943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49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FDA指定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91840" y="37490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Special Protocol Assessment承認済み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化学前処置なしCAR-Tの自己免疫疾患における初の大規模RCT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17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治療パラダイムの転換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657600" cy="2286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3657600" cy="5486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免疫抑制を継続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6666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症状コントロール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DC35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治療中止で再燃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206240" y="1097280"/>
            <a:ext cx="731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937760" y="1097280"/>
            <a:ext cx="3657600" cy="2286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1097280"/>
            <a:ext cx="3657600" cy="54864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234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A7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CAR-T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20640" y="178308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原因B細胞を除去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8A7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機能的治癒へ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28A7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免疫抑制からの解放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他の自己免疫疾患でも研究が進行中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SLE（著効例報告済み）/ 多発性硬化症 / 全身性強皮症 / 炎症性筋疾患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17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残る課題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54864" cy="10058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188720"/>
            <a:ext cx="502920" cy="50292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0515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91840" y="10515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がん領域では1回数千万円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RNA-CAR-Tはコスト削減の可能性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4864" cy="10058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63040" y="2240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長期安全性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91840" y="22402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B細胞除去による感染リスク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免疫グロブリン低下への注意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864" cy="10058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3429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再投与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291840" y="34290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効果は一時的 → 繰り返し投与の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安全性・有効性の確認が必要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AURORA試験の結果が上記すべての課題に重要データを提供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17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MGは自己抗体によるAChR障害が原因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847088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7373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病態の本質は自己反応性B細胞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31520" y="2487168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3774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CAR-TはB細胞を直接攻撃する新アプローチ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1520" y="3127248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0175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Descartes-08はmRNA型「可逆的」CAR-T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31520" y="3767328"/>
            <a:ext cx="164592" cy="164592"/>
          </a:xfrm>
          <a:prstGeom prst="ellipse">
            <a:avLst/>
          </a:prstGeom>
          <a:solidFill>
            <a:srgbClr val="FFD70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657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第3相AURORA試験が進行中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243B5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97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「免疫を抑える」時代から「原因細胞を除去する」時代へ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4709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17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重症筋無力症に対するCAR-T療法の新時代 ― Descartes-08</dc:title>
  <dc:subject>PptxGenJS Presentation</dc:subject>
  <dc:creator>医知創造ラボ</dc:creator>
  <cp:lastModifiedBy>医知創造ラボ</cp:lastModifiedBy>
  <cp:revision>1</cp:revision>
  <dcterms:created xsi:type="dcterms:W3CDTF">2026-03-11T02:36:58Z</dcterms:created>
  <dcterms:modified xsi:type="dcterms:W3CDTF">2026-03-11T02:36:58Z</dcterms:modified>
</cp:coreProperties>
</file>