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914400"/>
            <a:ext cx="73152" cy="23774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重症筋無力症に対する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CAR-T療法の新時代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E4F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Descartes-08（AURORA試験）をわかりやすく解説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566160"/>
            <a:ext cx="2286000" cy="0"/>
          </a:xfrm>
          <a:prstGeom prst="line">
            <a:avLst/>
          </a:prstGeom>
          <a:noFill/>
          <a:ln w="25400">
            <a:solidFill>
              <a:srgbClr val="2C5A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医知創造ラボ  |  2026年3月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重症筋無力症（MG）とは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100584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自己免疫が原因で</a:t>
            </a:r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神経筋接合部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の信号伝達が障害される疾患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発症メカニズム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22860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834640"/>
            <a:ext cx="54864" cy="10515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1. 免疫の誤認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AChRを異物と判断し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自己抗体を産生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88920" y="2834640"/>
            <a:ext cx="457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291840" y="2834640"/>
            <a:ext cx="22860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834640"/>
            <a:ext cx="54864" cy="105156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92608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2. 伝達障害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受容体破壊により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神経→筋肉の信号が遮断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23560" y="2834640"/>
            <a:ext cx="457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126480" y="283464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834640"/>
            <a:ext cx="54864" cy="10515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9260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3. 筋力低下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眼瞼下垂、嚥下障害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重症例では呼吸不全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主な症状：眼瞼下垂 / 複視 / 四肢筋力低下 / 嚥下障害 / 呼吸筋麻痺（クリーゼ）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従来の治療法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治療法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内容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特徴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抗コリンエステラーゼ薬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対症療法（ピリドスチグミン等）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症状改善のみ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ステロイド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免疫抑制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長期使用で副作用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免疫抑制薬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タクロリムス等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効果発現に時間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IVIg / 血漿交換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急性増悪時の治療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効果は一時的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FcRn / 補体阻害薬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新規薬剤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高コスト・限定的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749040"/>
            <a:ext cx="54864" cy="1005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7" name="Shape 4"/>
          <p:cNvSpPr/>
          <p:nvPr/>
        </p:nvSpPr>
        <p:spPr>
          <a:xfrm>
            <a:off x="512064" y="3749040"/>
            <a:ext cx="457200" cy="100584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8" name="Text 5"/>
          <p:cNvSpPr/>
          <p:nvPr/>
        </p:nvSpPr>
        <p:spPr>
          <a:xfrm>
            <a:off x="512064" y="374904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51560" y="379476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従来治療の根本的問題：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原因となるB細胞を除去できず、免疫抑制を長期継続する必要がある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CAR-T細胞療法とは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12801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CAR-T細胞療法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患者自身のT細胞を遺伝子改変し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特定の標的細胞を攻撃させる治療法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005840"/>
            <a:ext cx="54864" cy="12801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0972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これまでの実績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白血病・悪性リンパ腫で承認済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近年は自己免疫疾患への応用が進展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CAR-T療法の5ステップ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64692" y="3108960"/>
            <a:ext cx="402336" cy="402336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964692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14173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" y="3657600"/>
            <a:ext cx="1271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T細胞採取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患者血液から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74520" y="3611880"/>
            <a:ext cx="320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2702052" y="3108960"/>
            <a:ext cx="402336" cy="402336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7" name="Text 15"/>
          <p:cNvSpPr/>
          <p:nvPr/>
        </p:nvSpPr>
        <p:spPr>
          <a:xfrm>
            <a:off x="2702052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194560" y="3611880"/>
            <a:ext cx="14173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67712" y="3657600"/>
            <a:ext cx="1271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遺伝子改変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CARを装着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11880" y="3611880"/>
            <a:ext cx="320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439412" y="3108960"/>
            <a:ext cx="402336" cy="402336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22" name="Text 20"/>
          <p:cNvSpPr/>
          <p:nvPr/>
        </p:nvSpPr>
        <p:spPr>
          <a:xfrm>
            <a:off x="4439412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931920" y="3611880"/>
            <a:ext cx="14173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005072" y="3657600"/>
            <a:ext cx="1271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体外増殖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大量に培養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49240" y="3611880"/>
            <a:ext cx="320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6176772" y="3108960"/>
            <a:ext cx="402336" cy="402336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27" name="Text 25"/>
          <p:cNvSpPr/>
          <p:nvPr/>
        </p:nvSpPr>
        <p:spPr>
          <a:xfrm>
            <a:off x="6176772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669280" y="3611880"/>
            <a:ext cx="14173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742432" y="3657600"/>
            <a:ext cx="1271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再投与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患者に戻す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86600" y="3611880"/>
            <a:ext cx="320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7914132" y="3108960"/>
            <a:ext cx="402336" cy="402336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32" name="Text 30"/>
          <p:cNvSpPr/>
          <p:nvPr/>
        </p:nvSpPr>
        <p:spPr>
          <a:xfrm>
            <a:off x="7914132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406640" y="3611880"/>
            <a:ext cx="14173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479792" y="3657600"/>
            <a:ext cx="1271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標的破壊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B細胞を攻撃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なぜMGにCAR-Tを使うのか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11887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治療コンセプトの転換：</a:t>
            </a:r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「免疫を抑える」から「原因細胞を除去する」へ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BCMA標的によるB細胞除去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1828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3017520"/>
            <a:ext cx="54864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0632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CAR-TがBCMAを認識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86000" y="301752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606040" y="3017520"/>
            <a:ext cx="1828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3017520"/>
            <a:ext cx="54864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30632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自己反応性B細胞を破壊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34840" y="301752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1828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54864" cy="82296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0632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自己抗体の産生停止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301752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903720" y="3017520"/>
            <a:ext cx="1828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3017520"/>
            <a:ext cx="54864" cy="8229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30632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症状改善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41605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BCMA（B cell maturation antigen）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：B細胞（特に形質細胞）表面に発現する分子。これを標的にすることで自己抗体産生細胞を選択的に除去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Descartes-08 ― RNA-CAR-Tという新アプローチ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100584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従来CAR-T：</a:t>
            </a:r>
            <a:pPr indent="0" marL="0">
              <a:buNone/>
            </a:pPr>
            <a:r>
              <a:rPr lang="en-US" sz="1800" b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DNA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をゲノムに永久導入　→　</a:t>
            </a:r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Descartes-08：</a:t>
            </a:r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mRNA</a:t>
            </a:r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で一時的に機能付与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331720"/>
            <a:ext cx="54864" cy="12344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720340"/>
            <a:ext cx="457200" cy="45720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203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4231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効果が制御可能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mRNAは自然分解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過剰反応を回避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233172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331720"/>
            <a:ext cx="54864" cy="123444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2720340"/>
            <a:ext cx="457200" cy="45720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7203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32120" y="24231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前処置不要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リンパ球除去化学療法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（lymphodepletion）が不要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749040"/>
            <a:ext cx="54864" cy="123444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4137660"/>
            <a:ext cx="457200" cy="45720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376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384048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高い安全性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CRS・ICANS等の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重篤な副作用リスクが低い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754880" y="374904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749040"/>
            <a:ext cx="54864" cy="12344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413766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41376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🏥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32120" y="384048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外来投与可能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入院不要で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患者負担が少ない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従来CAR-T vs Descartes-08（比較）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項目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従来のCAR-T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Descartes-08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遺伝子導入法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DNA（永久導入）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C5AA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mRNA（一時的）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効果の持続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長期間〜半永久的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一時的（数週〜数か月）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化学療法前処置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C3545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必要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8A745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不要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入院の要否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入院が必要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8A745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外来で投与可能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CRSリスク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C3545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高い（重篤例あり）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8A745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低い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0690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4069080"/>
            <a:ext cx="54864" cy="8229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「可逆的CAR-T」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― がんのように完全消滅を目指す必要がない自己免疫疾患では、安全性と利便性に大きな利点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第2相試験の結果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31089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有効性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MG-ADLスコア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有意な改善を確認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QMGスコア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改善を確認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効果持続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1年以上持続する例あり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05840"/>
            <a:ext cx="54864" cy="310896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97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安全性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029200" y="1737360"/>
            <a:ext cx="3474720" cy="91440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7830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CRS（サイトカイン放出症候群）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8A74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軽度またはなし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2834640"/>
            <a:ext cx="3474720" cy="91440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28803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ICANS（神経毒性症候群）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8A74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軽度またはなし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RNA-CAR-Tの設計により、従来のCAR-Tで最も懸念されるCRS・ICANSのリスクが大幅に低減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第3相 AURORA試験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9601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78992"/>
            <a:ext cx="118872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対象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1078992"/>
            <a:ext cx="22860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AChR抗体陽性の全身型MG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54864" cy="9601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78992"/>
            <a:ext cx="118872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デザイン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1078992"/>
            <a:ext cx="22860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無作為化二重盲検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プラセボ対照試験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103120"/>
            <a:ext cx="54864" cy="9601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176272"/>
            <a:ext cx="118872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2176272"/>
            <a:ext cx="22860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約100名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210312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03120"/>
            <a:ext cx="54864" cy="9601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176272"/>
            <a:ext cx="118872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主要評価項目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2176272"/>
            <a:ext cx="22860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MG-ADLスコアの改善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200400"/>
            <a:ext cx="54864" cy="9601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73552"/>
            <a:ext cx="118872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評価時点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28800" y="3273552"/>
            <a:ext cx="22860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投与後4か月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320040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200400"/>
            <a:ext cx="54864" cy="9601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273552"/>
            <a:ext cx="118872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FDA指定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3273552"/>
            <a:ext cx="22860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Special Protocol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Assessment承認済み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40690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069080"/>
            <a:ext cx="54864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AURORA試験の意義：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化学前処置なしCAR-Tが自己免疫疾患で有効であることを示す初の大規模RCT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自己免疫疾患治療のパラダイムシフト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164592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6" name="Shape 4"/>
          <p:cNvSpPr/>
          <p:nvPr/>
        </p:nvSpPr>
        <p:spPr>
          <a:xfrm>
            <a:off x="512064" y="1005840"/>
            <a:ext cx="3602736" cy="41148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241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従来のアプローチ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免疫抑制を継続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症状をコントロール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DC354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治療中止で再燃リスク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60520" y="1005840"/>
            <a:ext cx="548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54864" cy="16459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2" name="Shape 10"/>
          <p:cNvSpPr/>
          <p:nvPr/>
        </p:nvSpPr>
        <p:spPr>
          <a:xfrm>
            <a:off x="4809744" y="1005840"/>
            <a:ext cx="3877056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241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A74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新しいアプローチ（CAR-T）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原因B細胞を除去</a:t>
            </a:r>
            <a:endParaRPr lang="en-US" sz="18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機能的治癒（functional cure）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28A74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免疫抑制からの解放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CAR-T応用が研究される他の自己免疫疾患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520440"/>
            <a:ext cx="54864" cy="10972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6118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全身性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エリテマトーデス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CD19標的で著効例報告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606040" y="352044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06040" y="3520440"/>
            <a:ext cx="54864" cy="10972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0" y="36118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多発性硬化症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研究進行中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880" y="352044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520440"/>
            <a:ext cx="54864" cy="10972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6118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全身性強皮症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研究進行中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903720" y="352044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03720" y="3520440"/>
            <a:ext cx="54864" cy="10972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36118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炎症性筋疾患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研究進行中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残る課題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25603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1280160"/>
            <a:ext cx="548640" cy="54864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コスト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がん領域では1回数千万円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RNA-CAR-Tは製造簡略化で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コスト削減の可能性あり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97280"/>
            <a:ext cx="54864" cy="256032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1280160"/>
            <a:ext cx="548640" cy="54864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20440" y="2011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長期安全性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20440" y="24688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B細胞除去による感染リスク増大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免疫グロブリン低下に伴う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日和見感染への注意が必要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97280"/>
            <a:ext cx="54864" cy="256032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8" name="Shape 16"/>
          <p:cNvSpPr/>
          <p:nvPr/>
        </p:nvSpPr>
        <p:spPr>
          <a:xfrm>
            <a:off x="7223760" y="1280160"/>
            <a:ext cx="548640" cy="54864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00800" y="2011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再発と再投与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0" y="24688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RNA-CAR-Tは効果が一時的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繰り返し投与の安全性・有効性の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確認が求められる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931920"/>
            <a:ext cx="54864" cy="9144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9776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AURORA試験の結果が鍵：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効果の持続期間と反復投与の安全性は臨床上の最重要関心事項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まとめ ― エッセンシャル・ポイント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61288"/>
            <a:ext cx="164592" cy="164592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5156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MGは自己抗体によるAChR障害が原因の自己免疫疾患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0"/>
            <a:ext cx="7589520" cy="0"/>
          </a:xfrm>
          <a:prstGeom prst="line">
            <a:avLst/>
          </a:prstGeom>
          <a:noFill/>
          <a:ln w="6350">
            <a:solidFill>
              <a:srgbClr val="3D5A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47088"/>
            <a:ext cx="164592" cy="164592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73736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病態の本質は自己反応性B細胞 ― 従来治療では根治が困難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05840" y="2331720"/>
            <a:ext cx="7589520" cy="0"/>
          </a:xfrm>
          <a:prstGeom prst="line">
            <a:avLst/>
          </a:prstGeom>
          <a:noFill/>
          <a:ln w="6350">
            <a:solidFill>
              <a:srgbClr val="3D5A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532888"/>
            <a:ext cx="164592" cy="164592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42316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CAR-T療法はB細胞を直接攻撃する革新的アプローチ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005840" y="3017520"/>
            <a:ext cx="7589520" cy="0"/>
          </a:xfrm>
          <a:prstGeom prst="line">
            <a:avLst/>
          </a:prstGeom>
          <a:noFill/>
          <a:ln w="6350">
            <a:solidFill>
              <a:srgbClr val="3D5A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18688"/>
            <a:ext cx="164592" cy="164592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10896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Descartes-08はmRNAベース「可逆的」CAR-T ― 前処置不要・外来可能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1005840" y="3703320"/>
            <a:ext cx="7589520" cy="0"/>
          </a:xfrm>
          <a:prstGeom prst="line">
            <a:avLst/>
          </a:prstGeom>
          <a:noFill/>
          <a:ln w="6350">
            <a:solidFill>
              <a:srgbClr val="3D5A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904488"/>
            <a:ext cx="164592" cy="164592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79476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第3相AURORA試験が進行中 ― MG治療のパラダイム転換の鍵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243B5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「免疫を抑える」時代から「原因細胞を除去する」時代へ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重症筋無力症に対するCAR-T療法の新時代 ― Descartes-08</dc:title>
  <dc:subject>PptxGenJS Presentation</dc:subject>
  <dc:creator>医知創造ラボ</dc:creator>
  <cp:lastModifiedBy>医知創造ラボ</cp:lastModifiedBy>
  <cp:revision>1</cp:revision>
  <dcterms:created xsi:type="dcterms:W3CDTF">2026-03-11T02:08:27Z</dcterms:created>
  <dcterms:modified xsi:type="dcterms:W3CDTF">2026-03-11T02:08:27Z</dcterms:modified>
</cp:coreProperties>
</file>