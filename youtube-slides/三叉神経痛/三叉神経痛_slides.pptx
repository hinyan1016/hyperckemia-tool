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4" d="100"/>
          <a:sy n="64" d="100"/>
        </p:scale>
        <p:origin x="89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久司 今村" userId="1c5d66dd010fbc96" providerId="LiveId" clId="{062EBC09-E340-429A-A48C-2ED253578334}"/>
    <pc:docChg chg="modSld">
      <pc:chgData name="久司 今村" userId="1c5d66dd010fbc96" providerId="LiveId" clId="{062EBC09-E340-429A-A48C-2ED253578334}" dt="2026-03-30T20:42:28.377" v="2" actId="14100"/>
      <pc:docMkLst>
        <pc:docMk/>
      </pc:docMkLst>
      <pc:sldChg chg="modSp mod">
        <pc:chgData name="久司 今村" userId="1c5d66dd010fbc96" providerId="LiveId" clId="{062EBC09-E340-429A-A48C-2ED253578334}" dt="2026-03-30T20:42:28.377" v="2" actId="14100"/>
        <pc:sldMkLst>
          <pc:docMk/>
          <pc:sldMk cId="0" sldId="272"/>
        </pc:sldMkLst>
        <pc:spChg chg="mod">
          <ac:chgData name="久司 今村" userId="1c5d66dd010fbc96" providerId="LiveId" clId="{062EBC09-E340-429A-A48C-2ED253578334}" dt="2026-03-30T20:42:28.377" v="2" actId="14100"/>
          <ac:spMkLst>
            <pc:docMk/>
            <pc:sldMk cId="0" sldId="272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01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三叉神経痛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Trigeminal Neuralgia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神経内科医視点の鑑別診断と治療戦略 ―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320040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最新レビュー・ガイドラインに基づく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三叉神経痛とは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三叉神経（第V脳神経）の支配領域に生じる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発作性の電撃様激痛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274320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4-5.5/10万人・年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3566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発症率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68880" y="274320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246888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F:M=3:2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68880" y="3566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男女比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66344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50歳〜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3566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好発年齢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0" y="274320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85800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0.1-0.3%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0" y="3566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生涯有病率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2/18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三叉神経の解剖 ― V1 / V2 / V3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V1 眼神経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通過孔: 上眼窩裂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前頭部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上眼瞼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鼻背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TN頻度: &lt;5%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V2 上顎神経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通過孔: 正円孔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頬部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上唇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上歯列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TN頻度: 35%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743200" cy="45720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12648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V3 下顎神経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通過孔: 卵円孔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0116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下唇・下顎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下歯列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舌前2/3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TN頻度: 30%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V2+V3の複合: 約30%  ｜  V1単独は5%未満 → 腫瘍・TACsを鑑別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3/18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病態生理 ― 神経血管圧迫説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21031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60120" y="1188720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01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血管圧迫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REZで動脈が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三叉神経を圧迫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23160" y="1097280"/>
            <a:ext cx="21031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2004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1460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局所脱髄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1460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持続的圧迫により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神経鞘が障害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21031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5440680" y="1188720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4406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異所性発火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脱髄部位で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自発的インパルス発生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03720" y="1097280"/>
            <a:ext cx="21031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7680960" y="1188720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6809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9516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エファプティック伝導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2194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触覚信号が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疼痛信号に変換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31720" y="1645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72000" y="1645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12280" y="1645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責任血管の頻度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" y="3749040"/>
            <a:ext cx="3429000" cy="201168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4343400" y="37307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SCA（上小脳動脈） 75-80%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005072"/>
            <a:ext cx="1143000" cy="201168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2057400" y="39867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AICA（前下小脳動脈） 10-15%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" y="4261104"/>
            <a:ext cx="685800" cy="201168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1600200" y="4242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椎骨脳底動脈系 5-10%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" y="4517136"/>
            <a:ext cx="365760" cy="201168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1280160" y="44988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静脈単独 &lt;5%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4/18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ICHD-3に基づく臨床分類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54864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典型的TN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(Classical)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1828800"/>
            <a:ext cx="1097280" cy="73152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70-80%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MRI/手術で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神経血管圧迫を確認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純粋発作型 / 持続性疼痛併存型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二次性TN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(Secondary)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23360" y="1828800"/>
            <a:ext cx="1097280" cy="73152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023360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8328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基礎疾患に起因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MS・腫瘍・AVM等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若年・両側性・感覚障害に注意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2743200" cy="548640"/>
          </a:xfrm>
          <a:prstGeom prst="rect">
            <a:avLst/>
          </a:prstGeom>
          <a:solidFill>
            <a:srgbClr val="636E7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12648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特発性TN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(Idiopathic)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949440" y="1828800"/>
            <a:ext cx="1097280" cy="731520"/>
          </a:xfrm>
          <a:prstGeom prst="ellipse">
            <a:avLst/>
          </a:prstGeom>
          <a:solidFill>
            <a:srgbClr val="636E7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949440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10-15%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0936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血管圧迫なし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基礎疾患なし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3474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臨床的にTNの特徴を満たす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5/18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典型的な症状 ― 「稲妻が走る」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痛みの性質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電撃様・刺すような激痛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81912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持続時間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16276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数秒〜2分（通常1分以内）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12264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40080" y="21579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頻度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215798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1日数回〜数百回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42616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6883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部位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6883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片側性（右側60%）、V2/V3領域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172968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40080" y="32186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トリガー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32186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咀嚼・会話・洗顔・歯磨き・冷風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不応期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7520" y="37490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発作後に短い無痛期間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233672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640080" y="42793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寛解期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17520" y="42793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数週〜数ヶ月（経過とともに短縮）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Pearl: 診断はほぼ病歴のみで可能 ― 電撃様発作痛 + 三叉神経領域 + トリガー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6/18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診断基準 ― ICHD-3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典型的三叉神経痛の診断基準（ICHD-3: 13.1.1）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320040" cy="32004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A. 三叉神経の1枝以上の支配領域に生じる発作性顔面痛で、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 基準B-Dを満たす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320040" cy="32004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3317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B. 痛みは以下の特徴をすべて持つ: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 1) 数秒〜2分持続  2) 激痛  3) 電撃様・刺痛・鋭い性質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2971800"/>
            <a:ext cx="320040" cy="32004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926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C. 患側の三叉神経支配領域への無害刺激により誘発される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566160"/>
            <a:ext cx="320040" cy="32004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82296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5204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D. 他の ICHD-3 診断では説明できない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160520"/>
            <a:ext cx="320040" cy="320040"/>
          </a:xfrm>
          <a:prstGeom prst="ellipse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2296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1148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E. MRIまたは手術により神経血管圧迫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 （三叉神経根の形態変化を伴う）が実証されている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7/18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トリガーゾーンと誘発因子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トリガーゾーン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鼻唇溝（最多）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99339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上唇 / 下唇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40864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歯肉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88336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頬部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035808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鼻翼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3383280" cy="45720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82296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軽い触覚で発作が誘発される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（痛覚刺激は不要）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029200" y="1188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誘発因子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咀嚼（そしゃく）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19476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会話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22494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洗顔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5511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歯磨き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2852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冷風に当たる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3154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化粧・ひげ剃り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3520440"/>
            <a:ext cx="3383280" cy="45720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12064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発作後に不応期あり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（一定時間誘発されない）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8/18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Red Flags ― 二次性TNを疑う所見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75488"/>
          </a:xfrm>
          <a:prstGeom prst="rect">
            <a:avLst/>
          </a:prstGeom>
          <a:solidFill>
            <a:srgbClr val="FDF2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640080" y="1124712"/>
            <a:ext cx="329184" cy="329184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40080" y="1124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両側性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0" y="1097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多発性硬化症（MS）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581912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40080" y="1655064"/>
            <a:ext cx="329184" cy="329184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40080" y="1655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6276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V1領域単独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89120" y="16276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小脳橋角部腫瘍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112264"/>
            <a:ext cx="8229600" cy="475488"/>
          </a:xfrm>
          <a:prstGeom prst="rect">
            <a:avLst/>
          </a:prstGeom>
          <a:solidFill>
            <a:srgbClr val="FDF2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2185416"/>
            <a:ext cx="329184" cy="329184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1579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感覚低下・運動障害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89120" y="21579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構造的病変（腫瘍等）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642616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2715768"/>
            <a:ext cx="329184" cy="329184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4008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26883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若年発症（&lt;40歳）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89120" y="26883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MSの検索が必須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172968"/>
            <a:ext cx="8229600" cy="475488"/>
          </a:xfrm>
          <a:prstGeom prst="rect">
            <a:avLst/>
          </a:prstGeom>
          <a:solidFill>
            <a:srgbClr val="FDF2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640080" y="3246120"/>
            <a:ext cx="329184" cy="329184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640080" y="3246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32186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難聴・めまい合併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89120" y="3218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聴神経鞘腫・髄膜腫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640080" y="3776472"/>
            <a:ext cx="329184" cy="329184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4008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7280" y="37490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CBZ無効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389120" y="37490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診断の再評価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4233672"/>
            <a:ext cx="8229600" cy="475488"/>
          </a:xfrm>
          <a:prstGeom prst="rect">
            <a:avLst/>
          </a:prstGeom>
          <a:solidFill>
            <a:srgbClr val="FDF2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640080" y="4306824"/>
            <a:ext cx="329184" cy="329184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640080" y="4306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97280" y="42793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進行性（持続痛へ移行）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389120" y="42793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二次性の可能性を再検討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9/18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顔面痛の鑑別診断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103120" cy="457200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疾患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005840"/>
            <a:ext cx="2011680" cy="457200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65176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痛みの特徴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1645920" cy="457200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66344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持続時間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2468880" cy="457200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309360" y="1005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鑑別ポイント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48640" y="1508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歯原性疼痛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150876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651760" y="1508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拍動性・持続性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50876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66344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持続〜数時間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30936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歯科検査で原因歯同定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011680"/>
            <a:ext cx="210312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4864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帯状疱疹後神経痛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2011680"/>
            <a:ext cx="201168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2651760" y="2011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灼熱感・アロディニア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011680"/>
            <a:ext cx="164592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66344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持続（慢性）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2011680"/>
            <a:ext cx="246888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30936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水疱既往・皮疹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51460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54864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群発頭痛(TACs)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0" y="251460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2651760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激痛+自律神経症状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251460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66344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15-180分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251460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309360" y="2514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流涙・鼻閉・縮瞳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017520"/>
            <a:ext cx="210312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48640" y="3017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SUNCT/SUNA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60320" y="3017520"/>
            <a:ext cx="201168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265176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刺痛+結膜充血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3017520"/>
            <a:ext cx="164592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466344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1-600秒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3017520"/>
            <a:ext cx="246888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630936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自律神経症状が顕著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352044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548640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PIFP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60320" y="352044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265176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鈍痛・漠然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0" y="352044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466344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持続（慢性）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17920" y="352044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30936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局在不明瞭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4023360"/>
            <a:ext cx="210312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548640" y="4023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顎関節症(TMD)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560320" y="4023360"/>
            <a:ext cx="201168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265176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鈍痛・咀嚼時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0" y="4023360"/>
            <a:ext cx="164592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466344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持続〜数時間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217920" y="4023360"/>
            <a:ext cx="246888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630936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開口制限・関節雑音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" y="452628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548640" y="4526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舌咽神経痛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560320" y="4526280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2651760" y="4526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電撃様・咽頭耳放散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572000" y="4526280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4663440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数秒〜2分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217920" y="4526280"/>
            <a:ext cx="24688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/>
          <p:nvPr/>
        </p:nvSpPr>
        <p:spPr>
          <a:xfrm>
            <a:off x="630936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嚥下がトリガー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10/18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SUNCT/SUNA vs 三叉神経痛 ― 最重要鑑別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286000" cy="457200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005840"/>
            <a:ext cx="3200400" cy="457200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834640" y="1005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三叉神経痛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005840"/>
            <a:ext cx="2743200" cy="457200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035040" y="1005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SUNCT/SUNA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864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持続時間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50876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83464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数秒〜2分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150876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035040" y="1508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1-600秒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22860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自律神経症状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2011680"/>
            <a:ext cx="32004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2834640" y="2011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通常なし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011680"/>
            <a:ext cx="27432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03504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必発（充血・流涙）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864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不応期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0" y="251460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2834640" y="2514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あり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251460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03504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22860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54864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トリガー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0" y="3017520"/>
            <a:ext cx="32004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283464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軽触覚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0" y="3017520"/>
            <a:ext cx="27432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03504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皮膚刺激（不応期なし）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52044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54864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CBZ反応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352044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2834640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著効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943600" y="352044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03504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無効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023360"/>
            <a:ext cx="22860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548640" y="4023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有効薬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0" y="4023360"/>
            <a:ext cx="32004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283464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CBZ / OXC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43600" y="4023360"/>
            <a:ext cx="2743200" cy="4572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035040" y="4023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ラモトリギン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4526280"/>
            <a:ext cx="2286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548640" y="4526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好発部位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743200" y="4526280"/>
            <a:ext cx="3200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2834640" y="4526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V2 / V3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943600" y="4526280"/>
            <a:ext cx="2743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035040" y="4526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V1（眼窩部）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Key: 自律神経症状の有無 + CBZへの反応性 が最大の鑑別ポイント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11/18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画像検査 ― MRI/MRA/3D-FIESTA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103120" cy="8686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MRI（通常撮像）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097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二次性TNの除外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腫瘍、MS plaque、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血管奇形の検出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0" y="10972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全例で推奨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(AAN Level B)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2103120" cy="8686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0574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責任血管の同定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SCA等の走行異常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三叉神経との接触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20574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MVD検討時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2103120" cy="8686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3D-FIESTA/CISS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3017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神経-血管関係の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精密評価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017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REZでの圧迫・変形を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高分解能で描出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30175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MVD術前評価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に必須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2103120" cy="86868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48640" y="4023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造影MRI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51760" y="3977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腫瘍性病変の評価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977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聴神経鞘腫・髄膜腫の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造影効果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3977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二次性TN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疑い時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12/18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薬物治療 ① ― 第一選択薬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カルバマゼピン (CBZ)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用量: </a:t>
            </a: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200-1200 mg/日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エビデンス: </a:t>
            </a:r>
            <a:r>
              <a:rPr lang="en-US" sz="13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Level A (AAN)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奏効率: </a:t>
            </a: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初期88%, NNT 1.7-1.8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副作用: </a:t>
            </a:r>
            <a:r>
              <a:rPr lang="en-US" sz="13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眠気, ふらつき, 低Na,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SJS/TEN, 肝障害 (44%)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オキシカルバゼピン (OXC)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用量: </a:t>
            </a: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600-1800 mg/日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エビデンス: </a:t>
            </a:r>
            <a:r>
              <a:rPr lang="en-US" sz="13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Level B (AAN)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奏効率: </a:t>
            </a: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初期91%, CBZと同等効果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副作用: </a:t>
            </a:r>
            <a:r>
              <a:rPr lang="en-US" sz="13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CBZより少ない (30%),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低Na血症に注意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8D7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137160" cy="91440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2296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HLA-B*1502検査（アジア人で必須）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CBZ/OXC開始前にSJS/TENリスク評価。日本人&lt;1%だが台湾~10%・東南アジア&gt;15%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陽性者ではCBZ/OXCは禁忌 → プレガバリン・ミロガバリン等を代替使用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13/18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薬物治療 ② ― 第二選択薬・補助薬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286000" cy="475488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005840"/>
            <a:ext cx="2286000" cy="475488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834640" y="10058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用量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005840"/>
            <a:ext cx="3657600" cy="475488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120640" y="10058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備考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8640" y="15361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ラモトリギン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536192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2834640" y="153619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200-400 mg/日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536192"/>
            <a:ext cx="3657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120640" y="153619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Level C, 皮疹に注意（漸増必須）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066544"/>
            <a:ext cx="228600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0665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バクロフェン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0" y="2066544"/>
            <a:ext cx="228600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2834640" y="20665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40-80 mg/日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066544"/>
            <a:ext cx="365760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120640" y="206654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CBZ併用で有効性のエビデンスあり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596896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48640" y="25968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プレガバリン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0" y="2596896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2834640" y="25968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150-600 mg/日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2596896"/>
            <a:ext cx="3657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5120640" y="259689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CBZアレルギー時の代替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127248"/>
            <a:ext cx="228600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548640" y="31272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ミロガバリン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0" y="3127248"/>
            <a:ext cx="228600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2834640" y="31272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10-30 mg/日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3127248"/>
            <a:ext cx="365760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5120640" y="312724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日本で使用可能なCa2+チャネルリガンド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548640" y="36576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フェニトイン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3657600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2834640" y="36576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静注250mg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3657600"/>
            <a:ext cx="3657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5120640" y="36576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急性期の疼痛コントロール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187952"/>
            <a:ext cx="228600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548640" y="41879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ボツリヌス毒素A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0" y="4187952"/>
            <a:ext cx="228600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2834640" y="418795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皮下注射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29200" y="4187952"/>
            <a:ext cx="3657600" cy="475488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5120640" y="41879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新規エビデンス蓄積中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Pearl: CBZへの劇的反応（NNT 1.7-1.8）は三叉神経痛の診断を強く支持する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14/18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外科治療の種類と比較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585216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17520" y="1005840"/>
            <a:ext cx="1371600" cy="585216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3108960" y="1005840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疼痛軽減率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005840"/>
            <a:ext cx="1645920" cy="585216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480560" y="100584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再発率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005840"/>
            <a:ext cx="2651760" cy="585216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126480" y="100584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2560320" cy="585216"/>
          </a:xfrm>
          <a:prstGeom prst="rect">
            <a:avLst/>
          </a:prstGeom>
          <a:solidFill>
            <a:srgbClr val="E8F0FE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48640" y="164592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MVD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1645920"/>
            <a:ext cx="1371600" cy="585216"/>
          </a:xfrm>
          <a:prstGeom prst="rect">
            <a:avLst/>
          </a:prstGeom>
          <a:solidFill>
            <a:srgbClr val="E8F0FE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108960" y="1645920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90-95%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1645920"/>
            <a:ext cx="1645920" cy="585216"/>
          </a:xfrm>
          <a:prstGeom prst="rect">
            <a:avLst/>
          </a:prstGeom>
          <a:solidFill>
            <a:srgbClr val="E8F0FE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480560" y="164592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15-25%/10年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645920"/>
            <a:ext cx="2651760" cy="585216"/>
          </a:xfrm>
          <a:prstGeom prst="rect">
            <a:avLst/>
          </a:prstGeom>
          <a:solidFill>
            <a:srgbClr val="E8F0FE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126480" y="164592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唯一の原因治療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286000"/>
            <a:ext cx="2560320" cy="585216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48640" y="22860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高周波熱凝固術(RF)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17520" y="2286000"/>
            <a:ext cx="1371600" cy="585216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3108960" y="2286000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90-97%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89120" y="2286000"/>
            <a:ext cx="1645920" cy="585216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480560" y="228600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20-30%/5年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2286000"/>
            <a:ext cx="2651760" cy="585216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126480" y="228600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顔面しびれ必発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25603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548640" y="292608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バルーン圧迫術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17520" y="2926080"/>
            <a:ext cx="13716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3108960" y="2926080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80-90%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89120" y="2926080"/>
            <a:ext cx="16459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4480560" y="292608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20-30%/5年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0" y="2926080"/>
            <a:ext cx="26517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126480" y="292608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全身麻酔不要のオプション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566160"/>
            <a:ext cx="2560320" cy="585216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548640" y="356616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グリセロール注入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017520" y="3566160"/>
            <a:ext cx="1371600" cy="585216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3108960" y="3566160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70-90%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0" y="3566160"/>
            <a:ext cx="1645920" cy="585216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4480560" y="356616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30-50%/5年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35040" y="3566160"/>
            <a:ext cx="2651760" cy="585216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6126480" y="356616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顔面しびれ比較的少ない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4206240"/>
            <a:ext cx="25603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548640" y="420624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ガンマナイフ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017520" y="4206240"/>
            <a:ext cx="13716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3108960" y="4206240"/>
            <a:ext cx="1188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70-90%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389120" y="4206240"/>
            <a:ext cx="16459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4480560" y="4206240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30-50%/5年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035040" y="4206240"/>
            <a:ext cx="26517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126480" y="420624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非侵襲, 効果発現に時間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MVDは原因治療（血管を移動）、他は対症治療（神経を破壊/損傷）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15/18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MVD（微小血管減圧術）― 詳細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後頭蓋窩開頭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責任血管をテフロンフェルトで移動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三叉神経への圧迫を解除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唯一の原因治療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02920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治療成績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初期成功率: 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90-95%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長期5年: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80%+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内視鏡MVD: 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90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同等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再発率10年: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15-25%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3152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合併症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35661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聴力障害: 1-4%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顔面しびれ: 1-10%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髄液漏: 1-2%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• 死亡: &lt;0.5%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5029200" y="3200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予後因子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0" y="35661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良好: </a:t>
            </a: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動脈圧迫、典型的TN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不良: </a:t>
            </a: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静脈のみ圧迫、持続痛併存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二次性TN（MS）ではMVDの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成績はやや劣る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16/18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治療アルゴリズム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960120"/>
            <a:ext cx="4572000" cy="502920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2286000" y="960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1: 診断・MRI・HLA-B*1502検査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1444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1664208"/>
            <a:ext cx="4572000" cy="5029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2286000" y="16642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2: CBZ or OXC で薬物治療開始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00200" y="2167128"/>
            <a:ext cx="0" cy="301752"/>
          </a:xfrm>
          <a:prstGeom prst="line">
            <a:avLst/>
          </a:prstGeom>
          <a:noFill/>
          <a:ln w="254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286000" cy="438912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✔ 有効 → 継続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167128"/>
            <a:ext cx="0" cy="301752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3200400" y="2468880"/>
            <a:ext cx="2743200" cy="438912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200400" y="24688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不十分 → 2nd line追加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43800" y="2167128"/>
            <a:ext cx="0" cy="301752"/>
          </a:xfrm>
          <a:prstGeom prst="line">
            <a:avLst/>
          </a:prstGeom>
          <a:noFill/>
          <a:ln w="254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400800" y="2468880"/>
            <a:ext cx="2286000" cy="438912"/>
          </a:xfrm>
          <a:prstGeom prst="rect">
            <a:avLst/>
          </a:prstGeom>
          <a:solidFill>
            <a:srgbClr val="F8D7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抵抗性/副作用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28895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28895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600200" y="3108960"/>
            <a:ext cx="6217919" cy="4572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182880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Step 3: 外科治療の検討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874520" y="3566160"/>
            <a:ext cx="0" cy="228600"/>
          </a:xfrm>
          <a:prstGeom prst="line">
            <a:avLst/>
          </a:prstGeom>
          <a:noFill/>
          <a:ln w="2540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640080" y="3794760"/>
            <a:ext cx="24688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640080" y="3794760"/>
            <a:ext cx="2468880" cy="256032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40080" y="3794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MVD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全身状態良好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+ 典型的TN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566160"/>
            <a:ext cx="0" cy="22860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3474720" y="3794760"/>
            <a:ext cx="24688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3474720" y="3794760"/>
            <a:ext cx="2468880" cy="256032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3474720" y="3794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ガンマナイフ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6616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 or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手術リスク高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43800" y="3566160"/>
            <a:ext cx="0" cy="22860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6309360" y="3794760"/>
            <a:ext cx="24688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6309360" y="3794760"/>
            <a:ext cx="2468880" cy="256032"/>
          </a:xfrm>
          <a:prstGeom prst="rect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6309360" y="3794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経皮的手技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4069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MVD不適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or 再発例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17/18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三叉神経痛の診断はほぼ病歴のみで可能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電撃様発作痛 + 三叉神経領域 + トリガー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F5C51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8745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ICHD-3分類: 典型的 / 二次性 / 特発性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Red Flagsを見逃さない（両側性、V1単独、若年）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E8850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6517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SUNCT/SUNAとの鑑別が最重要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自律神経症状の有無 + CBZへの反応性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4290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第一選択薬はCBZ（Level A）/ OXC（Level B）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アジア人ではHLA-B*1502検査が必須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2062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MVDは唯一の原因治療（成功率90-95%）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薬剤抵抗性では早期に外科コンサルト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18/18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1084</Words>
  <Application>Microsoft Office PowerPoint</Application>
  <PresentationFormat>画面に合わせる (16:9)</PresentationFormat>
  <Paragraphs>396</Paragraphs>
  <Slides>18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2" baseType="lpstr">
      <vt:lpstr>BIZ UDPGothic</vt:lpstr>
      <vt:lpstr>Arial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三叉神経痛 ― 神経内科医視点の鑑別診断と治療戦略</dc:title>
  <dc:subject>PptxGenJS Presentation</dc:subject>
  <dc:creator>今村久司</dc:creator>
  <cp:lastModifiedBy>久司 今村</cp:lastModifiedBy>
  <cp:revision>1</cp:revision>
  <dcterms:created xsi:type="dcterms:W3CDTF">2026-03-30T20:10:24Z</dcterms:created>
  <dcterms:modified xsi:type="dcterms:W3CDTF">2026-03-30T20:42:33Z</dcterms:modified>
</cp:coreProperties>
</file>