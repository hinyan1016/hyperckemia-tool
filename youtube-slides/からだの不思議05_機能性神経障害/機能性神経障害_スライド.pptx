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脳神経内科医が答える からだの不思議 #05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ストレスで本当に</a:t>
            </a:r>
            <a:endParaRPr lang="en-US" sz="3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体は動かなくなるのか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― 機能性神経障害（FND）の真実 ―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0" y="3520440"/>
            <a:ext cx="36576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749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 今村久司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4251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脳神経内科専門医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こんな話を聞いたことはありませんか？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76809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005840"/>
            <a:ext cx="164592" cy="100584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078992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「急に足が動かなくなった。でもMRIでは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何も映っていなかった」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2240280"/>
            <a:ext cx="76809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240280"/>
            <a:ext cx="164592" cy="100584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313432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「大事な場面で突然声が出なくなった。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精神的なものと言われた」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1520" y="3474720"/>
            <a:ext cx="76809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3474720"/>
            <a:ext cx="164592" cy="100584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547872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「手が震えて止まらない。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検査では異常がないと言われた」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46177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これ、「気のせい」でも「仮病」でもありません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機能性神経障害（FND）とは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8412480" cy="73152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8755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定義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神経系の「構造」には明らかな損傷がないにもかかわらず、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神経学的な症状（麻痺・感覚障害・けいれんなど）が出現する疾患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8412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286000"/>
            <a:ext cx="109728" cy="137160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3172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💡 コンピュータに例えると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274320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「ハードウェア（神経・脳の構造）」は正常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31520" y="312724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「ソフトウェア（脳の処理プログラム）」に問題が起きている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365760" y="3794760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3840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かつての呼び名：「転換性障害」「ヒステリー」「心身症」→ 現在は FND が正式名称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FNDはどれくらい多いのか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371600" y="1005840"/>
            <a:ext cx="6400800" cy="1463040"/>
          </a:xfrm>
          <a:prstGeom prst="rect">
            <a:avLst/>
          </a:prstGeom>
          <a:solidFill>
            <a:srgbClr val="2C5AA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10972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脳神経内科外来で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1572768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C51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2番目に多い疾患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371600" y="2514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（1位：頭痛）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4320" y="2926080"/>
            <a:ext cx="27432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30175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多発性硬化症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3547872"/>
            <a:ext cx="1645920" cy="2743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36118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より多い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0" y="2926080"/>
            <a:ext cx="27432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91840" y="30175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パーキンソン病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749040" y="3547872"/>
            <a:ext cx="1645920" cy="2743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6" name="Text 14"/>
          <p:cNvSpPr/>
          <p:nvPr/>
        </p:nvSpPr>
        <p:spPr>
          <a:xfrm>
            <a:off x="3291840" y="36118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より多い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26480" y="2926080"/>
            <a:ext cx="27432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17920" y="30175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年間新規発症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675120" y="3547872"/>
            <a:ext cx="1645920" cy="2743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36118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10万人あたり4〜12人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「まれな病気」ではなく、外来でよく出会う神経疾患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脳の中で何が起きているか ― 最新の神経科学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841248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058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fMRI・PET研究で、脳の特定回路に機能的変化が確認されている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402336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828800"/>
            <a:ext cx="4023360" cy="41148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8470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関与する脳領域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前補足運動野（運動の準備）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27889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島皮質（身体感覚の統合）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3246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扁桃体（情動・ストレス応答）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754880" y="1828800"/>
            <a:ext cx="402336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828800"/>
            <a:ext cx="4023360" cy="41148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8470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引き金となる要因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3776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強いストレス・トラウマ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37760" y="27889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身体的イベント（けが・感染症）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37760" y="3246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不安・注意の過剰集中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65760" y="3886200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886200"/>
            <a:ext cx="91440" cy="68580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931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注意の向け方が症状を維持させる ― 治療では「注意の分散」が重要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「心の病気」ではない、という意味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594360" cy="164592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508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97280" y="11430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心理的背景が「必ず」あるわけではない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16916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すべてのFND患者に明確な心理的ストレスが特定できるわけではありません。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大規模研究でも、トラウマや精神疾患が必須ではないことが示されています。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834640"/>
            <a:ext cx="8412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834640"/>
            <a:ext cx="594360" cy="164592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3337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097280" y="29718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「作っている」「弱い」ではない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35204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「心の病気」という言葉は患者さんに誤解を与えます。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FNDは意図して症状を作り出しているわけではありません。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65760" y="4663440"/>
            <a:ext cx="8412480" cy="4114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681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C51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FNDは脳のソフトウェアに生じた、実在する神経疾患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FNDの症状サブタイプ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605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4160520" cy="457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5156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🦵 機能性運動障害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脱力・麻痺・振戦（ふるえ）・異常姿勢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注意を向けると悪化、分散すると軽減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41605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005840"/>
            <a:ext cx="4160520" cy="45720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05156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⚡ 解離性発作（PNES）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46320" y="155448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てんかん様発作だが脳波は正常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てんかん外来受診患者の15〜30%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" y="2880360"/>
            <a:ext cx="41605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880360"/>
            <a:ext cx="4160520" cy="45720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92608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✋ 機能性感覚障害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1480" y="342900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感覚消失・しびれ・過敏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正中線で左右に分かれるパターンが特徴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09160" y="2880360"/>
            <a:ext cx="41605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880360"/>
            <a:ext cx="4160520" cy="45720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292608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🗣️ 機能性言語障害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46320" y="342900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機能性失声・機能性発語障害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声が出ない・ことばが出にくい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FND・脳卒中・心因反応の違い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2011680" cy="457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" y="9144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比較項目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011680" y="914400"/>
            <a:ext cx="2377440" cy="457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8" name="Text 6"/>
          <p:cNvSpPr/>
          <p:nvPr/>
        </p:nvSpPr>
        <p:spPr>
          <a:xfrm>
            <a:off x="2057400" y="9144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FND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914400"/>
            <a:ext cx="2377440" cy="457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0" name="Text 8"/>
          <p:cNvSpPr/>
          <p:nvPr/>
        </p:nvSpPr>
        <p:spPr>
          <a:xfrm>
            <a:off x="4434840" y="9144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脳卒中・器質性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766560" y="914400"/>
            <a:ext cx="2377440" cy="457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2" name="Text 10"/>
          <p:cNvSpPr/>
          <p:nvPr/>
        </p:nvSpPr>
        <p:spPr>
          <a:xfrm>
            <a:off x="6812280" y="9144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一般的な心因反応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1371600"/>
            <a:ext cx="2011680" cy="841248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" y="1371600"/>
            <a:ext cx="1965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神経症状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011680" y="1371600"/>
            <a:ext cx="2377440" cy="841248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6" name="Text 14"/>
          <p:cNvSpPr/>
          <p:nvPr/>
        </p:nvSpPr>
        <p:spPr>
          <a:xfrm>
            <a:off x="2057400" y="1371600"/>
            <a:ext cx="2331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麻痺・感覚障害・発作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（明確あり）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89120" y="1371600"/>
            <a:ext cx="2377440" cy="841248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8" name="Text 16"/>
          <p:cNvSpPr/>
          <p:nvPr/>
        </p:nvSpPr>
        <p:spPr>
          <a:xfrm>
            <a:off x="4434840" y="1371600"/>
            <a:ext cx="2331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麻痺・言語障害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（明確あり）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66560" y="1371600"/>
            <a:ext cx="2377440" cy="841248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0" name="Text 18"/>
          <p:cNvSpPr/>
          <p:nvPr/>
        </p:nvSpPr>
        <p:spPr>
          <a:xfrm>
            <a:off x="6812280" y="1371600"/>
            <a:ext cx="2331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神経症状は通常なし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2212848"/>
            <a:ext cx="2011680" cy="8412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" y="2212848"/>
            <a:ext cx="1965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画像・検査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011680" y="2212848"/>
            <a:ext cx="2377440" cy="8412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2057400" y="2212848"/>
            <a:ext cx="2331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正常または症状と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不一致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89120" y="2212848"/>
            <a:ext cx="2377440" cy="8412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4434840" y="2212848"/>
            <a:ext cx="2331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明確な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異常所見あり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766560" y="2212848"/>
            <a:ext cx="2377440" cy="8412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6812280" y="2212848"/>
            <a:ext cx="2331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正常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3054096"/>
            <a:ext cx="2011680" cy="841248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" y="3054096"/>
            <a:ext cx="1965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診察所見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011680" y="3054096"/>
            <a:ext cx="2377440" cy="841248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2" name="Text 30"/>
          <p:cNvSpPr/>
          <p:nvPr/>
        </p:nvSpPr>
        <p:spPr>
          <a:xfrm>
            <a:off x="2057400" y="3054096"/>
            <a:ext cx="2331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Hoover徴候など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FND特有サイン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389120" y="3054096"/>
            <a:ext cx="2377440" cy="841248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4" name="Text 32"/>
          <p:cNvSpPr/>
          <p:nvPr/>
        </p:nvSpPr>
        <p:spPr>
          <a:xfrm>
            <a:off x="4434840" y="3054096"/>
            <a:ext cx="2331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上位・下位MN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障害パターン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766560" y="3054096"/>
            <a:ext cx="2377440" cy="841248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6" name="Text 34"/>
          <p:cNvSpPr/>
          <p:nvPr/>
        </p:nvSpPr>
        <p:spPr>
          <a:xfrm>
            <a:off x="6812280" y="3054096"/>
            <a:ext cx="2331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神経学的異常なし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0" y="3895344"/>
            <a:ext cx="2011680" cy="8412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" y="3895344"/>
            <a:ext cx="1965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心理的背景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011680" y="3895344"/>
            <a:ext cx="2377440" cy="8412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2057400" y="3895344"/>
            <a:ext cx="2331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必ずしも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必要でない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389120" y="3895344"/>
            <a:ext cx="2377440" cy="8412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4434840" y="3895344"/>
            <a:ext cx="2331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通常は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直接関係しない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766560" y="3895344"/>
            <a:ext cx="2377440" cy="8412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6812280" y="3895344"/>
            <a:ext cx="2331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ストレスが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直接原因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74320" y="4754880"/>
            <a:ext cx="8595360" cy="3474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365760" y="47731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Hoover徴候：健側を屈曲すると麻痺側に力が入る ― FNDのポジティブサインで診断に使用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治療と回復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6858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14400"/>
            <a:ext cx="91440" cy="6858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987552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最初かつ最重要：正確な診断と説明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1783080"/>
            <a:ext cx="84124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783080"/>
            <a:ext cx="64008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892808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43000" y="18470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神経リハビリテーション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222199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FND特化の理学療法・作業療法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注意の分散を使った動作課題が特に有効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743200"/>
            <a:ext cx="84124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743200"/>
            <a:ext cx="640080" cy="8229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852928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43000" y="28072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認知行動療法（CBT）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318211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症状を維持させる思考パターン・行動を変える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無作為化比較試験（RCT）で有効性確認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703320"/>
            <a:ext cx="84124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703320"/>
            <a:ext cx="640080" cy="82296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813048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143000" y="37673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患者教育・自己管理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43000" y="414223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neurosymptoms.org など信頼できる情報源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「脳のソフトウェアの問題」と理解することが第一歩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予後と早期診断の重要性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1188720"/>
          </a:xfrm>
          <a:prstGeom prst="rect">
            <a:avLst/>
          </a:prstGeom>
          <a:solidFill>
            <a:srgbClr val="2C5AA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適切な診断・治療を受ければ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C51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症状が改善・安定する患者さんは相当数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84124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331720"/>
            <a:ext cx="91440" cy="77724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39572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⚠ 診断が遅れると予後が悪化。PNESでは診断まで平均7年以上かかることも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3246120"/>
            <a:ext cx="8412480" cy="384048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27355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急いで受診が必要なケース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3703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突然の片側の脱力・感覚障害（脳卒中との鑑別が必要）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40507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意識を失うエピソードが繰り返す（てんかん・PNESの鑑別が必要）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439826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症状が急速に進行している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まとめ　Take Home Message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457200" cy="77724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6012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560" y="91440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FNDは「仮病」でも「心の病気」でもなく、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脳のソフトウェアに生じた実在する神経疾患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457200" cy="7772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92024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51560" y="187452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脳神経内科外来で2番目に多い ― 決して「まれ」ではない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457200" cy="77724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88036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51560" y="283464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Hoover徴候などのポジティブサインで診断する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（消去法ではない）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749040"/>
            <a:ext cx="457200" cy="77724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84048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51560" y="379476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早期の正確な診断と治療（神経リハビリ・CBT）で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改善の可能性がある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47091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/ チャンネル登録・コメントお待ちしています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ストレスで本当に体は動かなくなるのか ― 機能性神経障害（FND）の真実</dc:title>
  <dc:subject>PptxGenJS Presentation</dc:subject>
  <dc:creator>今村久司</dc:creator>
  <cp:lastModifiedBy>今村久司</cp:lastModifiedBy>
  <cp:revision>1</cp:revision>
  <dcterms:created xsi:type="dcterms:W3CDTF">2026-04-01T03:25:49Z</dcterms:created>
  <dcterms:modified xsi:type="dcterms:W3CDTF">2026-04-01T03:25:49Z</dcterms:modified>
</cp:coreProperties>
</file>