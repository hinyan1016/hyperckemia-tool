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sp>
      <p:sp>
        <p:nvSpPr>
          <p:cNvPr id="3" name="Shape 1"/>
          <p:cNvSpPr/>
          <p:nvPr/>
        </p:nvSpPr>
        <p:spPr>
          <a:xfrm>
            <a:off x="0" y="5088636"/>
            <a:ext cx="9144000" cy="54864"/>
          </a:xfrm>
          <a:prstGeom prst="rect">
            <a:avLst/>
          </a:prstGeom>
          <a:solidFill>
            <a:srgbClr val="4A90D9"/>
          </a:solidFill>
          <a:ln/>
        </p:spPr>
      </p:sp>
      <p:sp>
        <p:nvSpPr>
          <p:cNvPr id="4" name="Text 2"/>
          <p:cNvSpPr/>
          <p:nvPr/>
        </p:nvSpPr>
        <p:spPr>
          <a:xfrm>
            <a:off x="731520" y="457200"/>
            <a:ext cx="7680960" cy="457200"/>
          </a:xfrm>
          <a:prstGeom prst="rect">
            <a:avLst/>
          </a:prstGeom>
          <a:noFill/>
          <a:ln/>
        </p:spPr>
        <p:txBody>
          <a:bodyPr wrap="square" lIns="0" tIns="0" rIns="0" bIns="0" rtlCol="0" anchor="ctr"/>
          <a:lstStyle/>
          <a:p>
            <a:pPr algn="ctr" indent="0" marL="0">
              <a:buNone/>
            </a:pPr>
            <a:r>
              <a:rPr lang="en-US" sz="1600" dirty="0">
                <a:solidFill>
                  <a:srgbClr val="4A90D9"/>
                </a:solidFill>
                <a:latin typeface="BIZ UDPGothic" pitchFamily="34" charset="0"/>
                <a:ea typeface="BIZ UDPGothic" pitchFamily="34" charset="-122"/>
                <a:cs typeface="BIZ UDPGothic" pitchFamily="34" charset="-120"/>
              </a:rPr>
              <a:t>脳神経内科医が答える からだの不思議 #11</a:t>
            </a:r>
            <a:endParaRPr lang="en-US" sz="1600" dirty="0"/>
          </a:p>
        </p:txBody>
      </p:sp>
      <p:sp>
        <p:nvSpPr>
          <p:cNvPr id="5" name="Text 3"/>
          <p:cNvSpPr/>
          <p:nvPr/>
        </p:nvSpPr>
        <p:spPr>
          <a:xfrm>
            <a:off x="731520" y="1097280"/>
            <a:ext cx="7680960"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BIZ UDPGothic" pitchFamily="34" charset="0"/>
                <a:ea typeface="BIZ UDPGothic" pitchFamily="34" charset="-122"/>
                <a:cs typeface="BIZ UDPGothic" pitchFamily="34" charset="-120"/>
              </a:rPr>
              <a:t>利き手はなぜ決まるのか？</a:t>
            </a:r>
            <a:endParaRPr lang="en-US" sz="4000" dirty="0"/>
          </a:p>
        </p:txBody>
      </p:sp>
      <p:sp>
        <p:nvSpPr>
          <p:cNvPr id="6" name="Text 4"/>
          <p:cNvSpPr/>
          <p:nvPr/>
        </p:nvSpPr>
        <p:spPr>
          <a:xfrm>
            <a:off x="731520" y="2103120"/>
            <a:ext cx="7680960" cy="548640"/>
          </a:xfrm>
          <a:prstGeom prst="rect">
            <a:avLst/>
          </a:prstGeom>
          <a:noFill/>
          <a:ln/>
        </p:spPr>
        <p:txBody>
          <a:bodyPr wrap="square" lIns="0" tIns="0" rIns="0" bIns="0" rtlCol="0" anchor="ctr"/>
          <a:lstStyle/>
          <a:p>
            <a:pPr algn="ctr" indent="0" marL="0">
              <a:buNone/>
            </a:pPr>
            <a:r>
              <a:rPr lang="en-US" sz="2200" dirty="0">
                <a:solidFill>
                  <a:srgbClr val="4A90D9"/>
                </a:solidFill>
                <a:latin typeface="BIZ UDPGothic" pitchFamily="34" charset="0"/>
                <a:ea typeface="BIZ UDPGothic" pitchFamily="34" charset="-122"/>
                <a:cs typeface="BIZ UDPGothic" pitchFamily="34" charset="-120"/>
              </a:rPr>
              <a:t>― 脳の左右非対称と遺伝のしくみ ―</a:t>
            </a:r>
            <a:endParaRPr lang="en-US" sz="2200" dirty="0"/>
          </a:p>
        </p:txBody>
      </p:sp>
      <p:sp>
        <p:nvSpPr>
          <p:cNvPr id="7" name="Shape 5"/>
          <p:cNvSpPr/>
          <p:nvPr/>
        </p:nvSpPr>
        <p:spPr>
          <a:xfrm>
            <a:off x="2743200" y="2880360"/>
            <a:ext cx="3657600" cy="0"/>
          </a:xfrm>
          <a:prstGeom prst="line">
            <a:avLst/>
          </a:prstGeom>
          <a:noFill/>
          <a:ln w="25400">
            <a:solidFill>
              <a:srgbClr val="4A90D9"/>
            </a:solidFill>
            <a:prstDash val="solid"/>
          </a:ln>
        </p:spPr>
      </p:sp>
      <p:sp>
        <p:nvSpPr>
          <p:cNvPr id="8" name="Text 6"/>
          <p:cNvSpPr/>
          <p:nvPr/>
        </p:nvSpPr>
        <p:spPr>
          <a:xfrm>
            <a:off x="731520" y="3108960"/>
            <a:ext cx="7680960" cy="457200"/>
          </a:xfrm>
          <a:prstGeom prst="rect">
            <a:avLst/>
          </a:prstGeom>
          <a:noFill/>
          <a:ln/>
        </p:spPr>
        <p:txBody>
          <a:bodyPr wrap="square" lIns="0" tIns="0" rIns="0" bIns="0" rtlCol="0" anchor="ctr"/>
          <a:lstStyle/>
          <a:p>
            <a:pPr algn="ctr" indent="0" marL="0">
              <a:buNone/>
            </a:pPr>
            <a:r>
              <a:rPr lang="en-US" sz="2000" dirty="0">
                <a:solidFill>
                  <a:srgbClr val="E8F0FE"/>
                </a:solidFill>
                <a:latin typeface="BIZ UDPGothic" pitchFamily="34" charset="0"/>
                <a:ea typeface="BIZ UDPGothic" pitchFamily="34" charset="-122"/>
                <a:cs typeface="BIZ UDPGothic" pitchFamily="34" charset="-120"/>
              </a:rPr>
              <a:t>医知創造ラボ  今村久司</a:t>
            </a:r>
            <a:endParaRPr lang="en-US" sz="2000" dirty="0"/>
          </a:p>
        </p:txBody>
      </p:sp>
      <p:sp>
        <p:nvSpPr>
          <p:cNvPr id="9" name="Text 7"/>
          <p:cNvSpPr/>
          <p:nvPr/>
        </p:nvSpPr>
        <p:spPr>
          <a:xfrm>
            <a:off x="731520" y="3657600"/>
            <a:ext cx="7680960" cy="365760"/>
          </a:xfrm>
          <a:prstGeom prst="rect">
            <a:avLst/>
          </a:prstGeom>
          <a:noFill/>
          <a:ln/>
        </p:spPr>
        <p:txBody>
          <a:bodyPr wrap="square" lIns="0" tIns="0" rIns="0" bIns="0" rtlCol="0" anchor="ctr"/>
          <a:lstStyle/>
          <a:p>
            <a:pPr algn="ctr" indent="0" marL="0">
              <a:buNone/>
            </a:pPr>
            <a:r>
              <a:rPr lang="en-US" sz="1400" i="1" dirty="0">
                <a:solidFill>
                  <a:srgbClr val="636E72"/>
                </a:solidFill>
                <a:latin typeface="BIZ UDPGothic" pitchFamily="34" charset="0"/>
                <a:ea typeface="BIZ UDPGothic" pitchFamily="34" charset="-122"/>
                <a:cs typeface="BIZ UDPGothic" pitchFamily="34" charset="-120"/>
              </a:rPr>
              <a:t>脳神経内科専門医</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左利きの割合 ― 世界的な偏り</a:t>
            </a:r>
            <a:endParaRPr lang="en-US" sz="2400" dirty="0"/>
          </a:p>
        </p:txBody>
      </p:sp>
      <p:sp>
        <p:nvSpPr>
          <p:cNvPr id="4" name="Shape 2"/>
          <p:cNvSpPr/>
          <p:nvPr/>
        </p:nvSpPr>
        <p:spPr>
          <a:xfrm>
            <a:off x="457200" y="1005840"/>
            <a:ext cx="8229600" cy="13716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8229600" cy="457200"/>
          </a:xfrm>
          <a:prstGeom prst="rect">
            <a:avLst/>
          </a:prstGeom>
          <a:solidFill>
            <a:srgbClr val="2C5AA0"/>
          </a:solidFill>
          <a:ln/>
        </p:spPr>
      </p:sp>
      <p:sp>
        <p:nvSpPr>
          <p:cNvPr id="6" name="Text 4"/>
          <p:cNvSpPr/>
          <p:nvPr/>
        </p:nvSpPr>
        <p:spPr>
          <a:xfrm>
            <a:off x="731520" y="1005840"/>
            <a:ext cx="7680960" cy="457200"/>
          </a:xfrm>
          <a:prstGeom prst="rect">
            <a:avLst/>
          </a:prstGeom>
          <a:noFill/>
          <a:ln/>
        </p:spPr>
        <p:txBody>
          <a:bodyPr wrap="square" lIns="0" tIns="0" rIns="0" bIns="0" rtlCol="0" anchor="ctr"/>
          <a:lstStyle/>
          <a:p>
            <a:pPr indent="0" marL="0">
              <a:buNone/>
            </a:pPr>
            <a:r>
              <a:rPr lang="en-US" sz="1600" b="1" dirty="0">
                <a:solidFill>
                  <a:srgbClr val="FFFFFF"/>
                </a:solidFill>
                <a:latin typeface="BIZ UDPGothic" pitchFamily="34" charset="0"/>
                <a:ea typeface="BIZ UDPGothic" pitchFamily="34" charset="-122"/>
                <a:cs typeface="BIZ UDPGothic" pitchFamily="34" charset="-120"/>
              </a:rPr>
              <a:t>世界人口の利き手分布</a:t>
            </a:r>
            <a:endParaRPr lang="en-US" sz="1600" dirty="0"/>
          </a:p>
        </p:txBody>
      </p:sp>
      <p:sp>
        <p:nvSpPr>
          <p:cNvPr id="7" name="Text 5"/>
          <p:cNvSpPr/>
          <p:nvPr/>
        </p:nvSpPr>
        <p:spPr>
          <a:xfrm>
            <a:off x="731520" y="1508760"/>
            <a:ext cx="7680960" cy="822960"/>
          </a:xfrm>
          <a:prstGeom prst="rect">
            <a:avLst/>
          </a:prstGeom>
          <a:noFill/>
          <a:ln/>
        </p:spPr>
        <p:txBody>
          <a:bodyPr wrap="square" lIns="0" tIns="0" rIns="0" bIns="0" rtlCol="0" anchor="ctr"/>
          <a:lstStyle/>
          <a:p>
            <a:pPr algn="ctr" indent="0" marL="0">
              <a:buNone/>
            </a:pPr>
            <a:r>
              <a:rPr lang="en-US" sz="2800" b="1" dirty="0">
                <a:solidFill>
                  <a:srgbClr val="28A745"/>
                </a:solidFill>
                <a:latin typeface="BIZ UDPGothic" pitchFamily="34" charset="0"/>
                <a:ea typeface="BIZ UDPGothic" pitchFamily="34" charset="-122"/>
                <a:cs typeface="BIZ UDPGothic" pitchFamily="34" charset="-120"/>
              </a:rPr>
              <a:t>右利き</a:t>
            </a:r>
            <a:pPr algn="ctr" indent="0" marL="0">
              <a:buNone/>
            </a:pPr>
            <a:r>
              <a:rPr lang="en-US" sz="2200" b="1" dirty="0">
                <a:solidFill>
                  <a:srgbClr val="2D3436"/>
                </a:solidFill>
                <a:latin typeface="BIZ UDPGothic" pitchFamily="34" charset="0"/>
                <a:ea typeface="BIZ UDPGothic" pitchFamily="34" charset="-122"/>
                <a:cs typeface="BIZ UDPGothic" pitchFamily="34" charset="-120"/>
              </a:rPr>
              <a:t>  約88〜90%</a:t>
            </a:r>
            <a:pPr algn="ctr" indent="0" marL="0">
              <a:buNone/>
            </a:pPr>
            <a:r>
              <a:rPr lang="en-US" sz="2200" dirty="0">
                <a:solidFill>
                  <a:srgbClr val="000000"/>
                </a:solidFill>
                <a:latin typeface="BIZ UDPGothic" pitchFamily="34" charset="0"/>
                <a:ea typeface="BIZ UDPGothic" pitchFamily="34" charset="-122"/>
                <a:cs typeface="BIZ UDPGothic" pitchFamily="34" charset="-120"/>
              </a:rPr>
              <a:t>　　</a:t>
            </a:r>
            <a:pPr algn="ctr" indent="0" marL="0">
              <a:buNone/>
            </a:pPr>
            <a:r>
              <a:rPr lang="en-US" sz="2800" b="1" dirty="0">
                <a:solidFill>
                  <a:srgbClr val="E8850C"/>
                </a:solidFill>
                <a:latin typeface="BIZ UDPGothic" pitchFamily="34" charset="0"/>
                <a:ea typeface="BIZ UDPGothic" pitchFamily="34" charset="-122"/>
                <a:cs typeface="BIZ UDPGothic" pitchFamily="34" charset="-120"/>
              </a:rPr>
              <a:t>左利き</a:t>
            </a:r>
            <a:pPr algn="ctr" indent="0" marL="0">
              <a:buNone/>
            </a:pPr>
            <a:r>
              <a:rPr lang="en-US" sz="2200" b="1" dirty="0">
                <a:solidFill>
                  <a:srgbClr val="2D3436"/>
                </a:solidFill>
                <a:latin typeface="BIZ UDPGothic" pitchFamily="34" charset="0"/>
                <a:ea typeface="BIZ UDPGothic" pitchFamily="34" charset="-122"/>
                <a:cs typeface="BIZ UDPGothic" pitchFamily="34" charset="-120"/>
              </a:rPr>
              <a:t>  約10〜12%</a:t>
            </a:r>
            <a:endParaRPr lang="en-US" sz="2800" dirty="0"/>
          </a:p>
        </p:txBody>
      </p:sp>
      <p:sp>
        <p:nvSpPr>
          <p:cNvPr id="8" name="Shape 6"/>
          <p:cNvSpPr/>
          <p:nvPr/>
        </p:nvSpPr>
        <p:spPr>
          <a:xfrm>
            <a:off x="274320" y="2651760"/>
            <a:ext cx="2743200" cy="2194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Text 7"/>
          <p:cNvSpPr/>
          <p:nvPr/>
        </p:nvSpPr>
        <p:spPr>
          <a:xfrm>
            <a:off x="274320" y="2743200"/>
            <a:ext cx="274320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0" name="Shape 8"/>
          <p:cNvSpPr/>
          <p:nvPr/>
        </p:nvSpPr>
        <p:spPr>
          <a:xfrm>
            <a:off x="457200" y="3337560"/>
            <a:ext cx="2377440" cy="411480"/>
          </a:xfrm>
          <a:prstGeom prst="rect">
            <a:avLst/>
          </a:prstGeom>
          <a:solidFill>
            <a:srgbClr val="2C5AA0"/>
          </a:solidFill>
          <a:ln/>
        </p:spPr>
      </p:sp>
      <p:sp>
        <p:nvSpPr>
          <p:cNvPr id="11" name="Text 9"/>
          <p:cNvSpPr/>
          <p:nvPr/>
        </p:nvSpPr>
        <p:spPr>
          <a:xfrm>
            <a:off x="457200" y="3337560"/>
            <a:ext cx="23774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Gothic" pitchFamily="34" charset="0"/>
                <a:ea typeface="BIZ UDPGothic" pitchFamily="34" charset="-122"/>
                <a:cs typeface="BIZ UDPGothic" pitchFamily="34" charset="-120"/>
              </a:rPr>
              <a:t>文化・時代を超えて一定</a:t>
            </a:r>
            <a:endParaRPr lang="en-US" sz="1300" dirty="0"/>
          </a:p>
        </p:txBody>
      </p:sp>
      <p:sp>
        <p:nvSpPr>
          <p:cNvPr id="12" name="Text 10"/>
          <p:cNvSpPr/>
          <p:nvPr/>
        </p:nvSpPr>
        <p:spPr>
          <a:xfrm>
            <a:off x="365760" y="3794760"/>
            <a:ext cx="2560320" cy="914400"/>
          </a:xfrm>
          <a:prstGeom prst="rect">
            <a:avLst/>
          </a:prstGeom>
          <a:noFill/>
          <a:ln/>
        </p:spPr>
        <p:txBody>
          <a:bodyPr wrap="square" lIns="0" tIns="0" rIns="0" bIns="0" rtlCol="0" anchor="t"/>
          <a:lstStyle/>
          <a:p>
            <a:pPr algn="ct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古代の壁画・石器の使用痕にも右利き優位</a:t>
            </a:r>
            <a:endParaRPr lang="en-US" sz="1200" dirty="0"/>
          </a:p>
          <a:p>
            <a:pPr algn="ct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 人類共通の生物学的傾向</a:t>
            </a:r>
            <a:endParaRPr lang="en-US" sz="1200" dirty="0"/>
          </a:p>
        </p:txBody>
      </p:sp>
      <p:sp>
        <p:nvSpPr>
          <p:cNvPr id="13" name="Shape 11"/>
          <p:cNvSpPr/>
          <p:nvPr/>
        </p:nvSpPr>
        <p:spPr>
          <a:xfrm>
            <a:off x="3200400" y="2651760"/>
            <a:ext cx="2743200" cy="2194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4" name="Text 12"/>
          <p:cNvSpPr/>
          <p:nvPr/>
        </p:nvSpPr>
        <p:spPr>
          <a:xfrm>
            <a:off x="3200400" y="2743200"/>
            <a:ext cx="274320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Shape 13"/>
          <p:cNvSpPr/>
          <p:nvPr/>
        </p:nvSpPr>
        <p:spPr>
          <a:xfrm>
            <a:off x="3383280" y="3337560"/>
            <a:ext cx="2377440" cy="411480"/>
          </a:xfrm>
          <a:prstGeom prst="rect">
            <a:avLst/>
          </a:prstGeom>
          <a:solidFill>
            <a:srgbClr val="2C5AA0"/>
          </a:solidFill>
          <a:ln/>
        </p:spPr>
      </p:sp>
      <p:sp>
        <p:nvSpPr>
          <p:cNvPr id="16" name="Text 14"/>
          <p:cNvSpPr/>
          <p:nvPr/>
        </p:nvSpPr>
        <p:spPr>
          <a:xfrm>
            <a:off x="3383280" y="3337560"/>
            <a:ext cx="23774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Gothic" pitchFamily="34" charset="0"/>
                <a:ea typeface="BIZ UDPGothic" pitchFamily="34" charset="-122"/>
                <a:cs typeface="BIZ UDPGothic" pitchFamily="34" charset="-120"/>
              </a:rPr>
              <a:t>遺伝だけでは説明できない</a:t>
            </a:r>
            <a:endParaRPr lang="en-US" sz="1300" dirty="0"/>
          </a:p>
        </p:txBody>
      </p:sp>
      <p:sp>
        <p:nvSpPr>
          <p:cNvPr id="17" name="Text 15"/>
          <p:cNvSpPr/>
          <p:nvPr/>
        </p:nvSpPr>
        <p:spPr>
          <a:xfrm>
            <a:off x="3291840" y="3794760"/>
            <a:ext cx="2560320" cy="914400"/>
          </a:xfrm>
          <a:prstGeom prst="rect">
            <a:avLst/>
          </a:prstGeom>
          <a:noFill/>
          <a:ln/>
        </p:spPr>
        <p:txBody>
          <a:bodyPr wrap="square" lIns="0" tIns="0" rIns="0" bIns="0" rtlCol="0" anchor="t"/>
          <a:lstStyle/>
          <a:p>
            <a:pPr algn="ct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一卵性双生児でも25%は利き手が不一致</a:t>
            </a:r>
            <a:endParaRPr lang="en-US" sz="1200" dirty="0"/>
          </a:p>
          <a:p>
            <a:pPr algn="ct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 遺伝寄与率は約25%にとどまる</a:t>
            </a:r>
            <a:endParaRPr lang="en-US" sz="1200" dirty="0"/>
          </a:p>
        </p:txBody>
      </p:sp>
      <p:sp>
        <p:nvSpPr>
          <p:cNvPr id="18" name="Shape 16"/>
          <p:cNvSpPr/>
          <p:nvPr/>
        </p:nvSpPr>
        <p:spPr>
          <a:xfrm>
            <a:off x="6126480" y="2651760"/>
            <a:ext cx="2743200" cy="2194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9" name="Text 17"/>
          <p:cNvSpPr/>
          <p:nvPr/>
        </p:nvSpPr>
        <p:spPr>
          <a:xfrm>
            <a:off x="6126480" y="2743200"/>
            <a:ext cx="274320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0" name="Shape 18"/>
          <p:cNvSpPr/>
          <p:nvPr/>
        </p:nvSpPr>
        <p:spPr>
          <a:xfrm>
            <a:off x="6309360" y="3337560"/>
            <a:ext cx="2377440" cy="411480"/>
          </a:xfrm>
          <a:prstGeom prst="rect">
            <a:avLst/>
          </a:prstGeom>
          <a:solidFill>
            <a:srgbClr val="2C5AA0"/>
          </a:solidFill>
          <a:ln/>
        </p:spPr>
      </p:sp>
      <p:sp>
        <p:nvSpPr>
          <p:cNvPr id="21" name="Text 19"/>
          <p:cNvSpPr/>
          <p:nvPr/>
        </p:nvSpPr>
        <p:spPr>
          <a:xfrm>
            <a:off x="6309360" y="3337560"/>
            <a:ext cx="23774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Gothic" pitchFamily="34" charset="0"/>
                <a:ea typeface="BIZ UDPGothic" pitchFamily="34" charset="-122"/>
                <a:cs typeface="BIZ UDPGothic" pitchFamily="34" charset="-120"/>
              </a:rPr>
              <a:t>脳の非対称性が根底にある</a:t>
            </a:r>
            <a:endParaRPr lang="en-US" sz="1300" dirty="0"/>
          </a:p>
        </p:txBody>
      </p:sp>
      <p:sp>
        <p:nvSpPr>
          <p:cNvPr id="22" name="Text 20"/>
          <p:cNvSpPr/>
          <p:nvPr/>
        </p:nvSpPr>
        <p:spPr>
          <a:xfrm>
            <a:off x="6217920" y="3794760"/>
            <a:ext cx="2560320" cy="914400"/>
          </a:xfrm>
          <a:prstGeom prst="rect">
            <a:avLst/>
          </a:prstGeom>
          <a:noFill/>
          <a:ln/>
        </p:spPr>
        <p:txBody>
          <a:bodyPr wrap="square" lIns="0" tIns="0" rIns="0" bIns="0" rtlCol="0" anchor="t"/>
          <a:lstStyle/>
          <a:p>
            <a:pPr algn="ct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生まれつきの神経回路の偏りが</a:t>
            </a:r>
            <a:endParaRPr lang="en-US" sz="1200" dirty="0"/>
          </a:p>
          <a:p>
            <a:pPr algn="ct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「利き手」として現れる</a:t>
            </a:r>
            <a:endParaRPr lang="en-US" sz="1200" dirty="0"/>
          </a:p>
        </p:txBody>
      </p:sp>
      <p:sp>
        <p:nvSpPr>
          <p:cNvPr id="23" name="Text 21"/>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2/10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脳の対側支配 ― 右手を動かすのは左脳</a:t>
            </a:r>
            <a:endParaRPr lang="en-US" sz="2400" dirty="0"/>
          </a:p>
        </p:txBody>
      </p:sp>
      <p:sp>
        <p:nvSpPr>
          <p:cNvPr id="4" name="Shape 2"/>
          <p:cNvSpPr/>
          <p:nvPr/>
        </p:nvSpPr>
        <p:spPr>
          <a:xfrm>
            <a:off x="457200" y="1005840"/>
            <a:ext cx="8229600" cy="12801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731520" y="1051560"/>
            <a:ext cx="7680960" cy="457200"/>
          </a:xfrm>
          <a:prstGeom prst="rect">
            <a:avLst/>
          </a:prstGeom>
          <a:noFill/>
          <a:ln/>
        </p:spPr>
        <p:txBody>
          <a:bodyPr wrap="square" lIns="0" tIns="0" rIns="0" bIns="0" rtlCol="0" anchor="ctr"/>
          <a:lstStyle/>
          <a:p>
            <a:pPr indent="0" marL="0">
              <a:buNone/>
            </a:pPr>
            <a:r>
              <a:rPr lang="en-US" sz="2000" b="1" i="1" dirty="0">
                <a:solidFill>
                  <a:srgbClr val="2C5AA0"/>
                </a:solidFill>
                <a:latin typeface="Segoe UI" pitchFamily="34" charset="0"/>
                <a:ea typeface="Segoe UI" pitchFamily="34" charset="-122"/>
                <a:cs typeface="Segoe UI" pitchFamily="34" charset="-120"/>
              </a:rPr>
              <a:t>大脳半球優位性（laterality）</a:t>
            </a:r>
            <a:endParaRPr lang="en-US" sz="2000" dirty="0"/>
          </a:p>
        </p:txBody>
      </p:sp>
      <p:sp>
        <p:nvSpPr>
          <p:cNvPr id="6" name="Text 4"/>
          <p:cNvSpPr/>
          <p:nvPr/>
        </p:nvSpPr>
        <p:spPr>
          <a:xfrm>
            <a:off x="731520" y="1536192"/>
            <a:ext cx="7680960" cy="64008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脳は外から見ると左右対称に見えるが、機能は大きく非対称。この非対称性を「大脳半球優位性」と呼ぶ。</a:t>
            </a:r>
            <a:endParaRPr lang="en-US" sz="1500" dirty="0"/>
          </a:p>
        </p:txBody>
      </p:sp>
      <p:sp>
        <p:nvSpPr>
          <p:cNvPr id="7" name="Shape 5"/>
          <p:cNvSpPr/>
          <p:nvPr/>
        </p:nvSpPr>
        <p:spPr>
          <a:xfrm>
            <a:off x="457200" y="2560320"/>
            <a:ext cx="4023360" cy="22860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Shape 6"/>
          <p:cNvSpPr/>
          <p:nvPr/>
        </p:nvSpPr>
        <p:spPr>
          <a:xfrm>
            <a:off x="457200" y="2560320"/>
            <a:ext cx="4023360" cy="502920"/>
          </a:xfrm>
          <a:prstGeom prst="rect">
            <a:avLst/>
          </a:prstGeom>
          <a:solidFill>
            <a:srgbClr val="2C5AA0"/>
          </a:solidFill>
          <a:ln/>
        </p:spPr>
      </p:sp>
      <p:sp>
        <p:nvSpPr>
          <p:cNvPr id="9" name="Text 7"/>
          <p:cNvSpPr/>
          <p:nvPr/>
        </p:nvSpPr>
        <p:spPr>
          <a:xfrm>
            <a:off x="457200" y="2560320"/>
            <a:ext cx="402336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BIZ UDPGothic" pitchFamily="34" charset="0"/>
                <a:ea typeface="BIZ UDPGothic" pitchFamily="34" charset="-122"/>
                <a:cs typeface="BIZ UDPGothic" pitchFamily="34" charset="-120"/>
              </a:rPr>
              <a:t>左脳</a:t>
            </a:r>
            <a:endParaRPr lang="en-US" sz="2000" dirty="0"/>
          </a:p>
        </p:txBody>
      </p:sp>
      <p:sp>
        <p:nvSpPr>
          <p:cNvPr id="10" name="Text 8"/>
          <p:cNvSpPr/>
          <p:nvPr/>
        </p:nvSpPr>
        <p:spPr>
          <a:xfrm>
            <a:off x="640080" y="3108960"/>
            <a:ext cx="3657600" cy="1005840"/>
          </a:xfrm>
          <a:prstGeom prst="rect">
            <a:avLst/>
          </a:prstGeom>
          <a:noFill/>
          <a:ln/>
        </p:spPr>
        <p:txBody>
          <a:bodyPr wrap="square" lIns="0" tIns="0" rIns="0" bIns="0" rtlCol="0" anchor="t"/>
          <a:lstStyle/>
          <a:p>
            <a:pPr indent="0" marL="0">
              <a:lnSpc>
                <a:spcPct val="130000"/>
              </a:lnSpc>
              <a:buNone/>
            </a:pPr>
            <a:r>
              <a:rPr lang="en-US" sz="1400" dirty="0">
                <a:solidFill>
                  <a:srgbClr val="2D3436"/>
                </a:solidFill>
                <a:latin typeface="BIZ UDPGothic" pitchFamily="34" charset="0"/>
                <a:ea typeface="BIZ UDPGothic" pitchFamily="34" charset="-122"/>
                <a:cs typeface="BIZ UDPGothic" pitchFamily="34" charset="-120"/>
              </a:rPr>
              <a:t>右手・右足を制御</a:t>
            </a:r>
            <a:endParaRPr lang="en-US" sz="1400" dirty="0"/>
          </a:p>
          <a:p>
            <a:pPr indent="0" marL="0">
              <a:lnSpc>
                <a:spcPct val="130000"/>
              </a:lnSpc>
              <a:buNone/>
            </a:pPr>
            <a:r>
              <a:rPr lang="en-US" sz="1400" dirty="0">
                <a:solidFill>
                  <a:srgbClr val="2D3436"/>
                </a:solidFill>
                <a:latin typeface="BIZ UDPGothic" pitchFamily="34" charset="0"/>
                <a:ea typeface="BIZ UDPGothic" pitchFamily="34" charset="-122"/>
                <a:cs typeface="BIZ UDPGothic" pitchFamily="34" charset="-120"/>
              </a:rPr>
              <a:t>言語機能（ブローカ野・ウェルニッケ野）</a:t>
            </a:r>
            <a:endParaRPr lang="en-US" sz="1400" dirty="0"/>
          </a:p>
          <a:p>
            <a:pPr indent="0" marL="0">
              <a:lnSpc>
                <a:spcPct val="130000"/>
              </a:lnSpc>
              <a:buNone/>
            </a:pPr>
            <a:r>
              <a:rPr lang="en-US" sz="1400" dirty="0">
                <a:solidFill>
                  <a:srgbClr val="2D3436"/>
                </a:solidFill>
                <a:latin typeface="BIZ UDPGothic" pitchFamily="34" charset="0"/>
                <a:ea typeface="BIZ UDPGothic" pitchFamily="34" charset="-122"/>
                <a:cs typeface="BIZ UDPGothic" pitchFamily="34" charset="-120"/>
              </a:rPr>
              <a:t>細かい手指の運動</a:t>
            </a:r>
            <a:endParaRPr lang="en-US" sz="1400" dirty="0"/>
          </a:p>
        </p:txBody>
      </p:sp>
      <p:sp>
        <p:nvSpPr>
          <p:cNvPr id="11" name="Shape 9"/>
          <p:cNvSpPr/>
          <p:nvPr/>
        </p:nvSpPr>
        <p:spPr>
          <a:xfrm>
            <a:off x="457200" y="4526280"/>
            <a:ext cx="4023360" cy="320040"/>
          </a:xfrm>
          <a:prstGeom prst="rect">
            <a:avLst/>
          </a:prstGeom>
          <a:solidFill>
            <a:srgbClr val="E8F0FE"/>
          </a:solidFill>
          <a:ln/>
        </p:spPr>
      </p:sp>
      <p:sp>
        <p:nvSpPr>
          <p:cNvPr id="12" name="Text 10"/>
          <p:cNvSpPr/>
          <p:nvPr/>
        </p:nvSpPr>
        <p:spPr>
          <a:xfrm>
            <a:off x="457200" y="4526280"/>
            <a:ext cx="4023360" cy="320040"/>
          </a:xfrm>
          <a:prstGeom prst="rect">
            <a:avLst/>
          </a:prstGeom>
          <a:noFill/>
          <a:ln/>
        </p:spPr>
        <p:txBody>
          <a:bodyPr wrap="square" lIns="0" tIns="0" rIns="0" bIns="0" rtlCol="0" anchor="ctr"/>
          <a:lstStyle/>
          <a:p>
            <a:pPr algn="ctr" indent="0" marL="0">
              <a:buNone/>
            </a:pPr>
            <a:r>
              <a:rPr lang="en-US" sz="1200" b="1" dirty="0">
                <a:solidFill>
                  <a:srgbClr val="2C5AA0"/>
                </a:solidFill>
                <a:latin typeface="BIZ UDPGothic" pitchFamily="34" charset="0"/>
                <a:ea typeface="BIZ UDPGothic" pitchFamily="34" charset="-122"/>
                <a:cs typeface="BIZ UDPGothic" pitchFamily="34" charset="-120"/>
              </a:rPr>
              <a:t>右利きの96%で言語優位</a:t>
            </a:r>
            <a:endParaRPr lang="en-US" sz="1200" dirty="0"/>
          </a:p>
        </p:txBody>
      </p:sp>
      <p:sp>
        <p:nvSpPr>
          <p:cNvPr id="13" name="Shape 11"/>
          <p:cNvSpPr/>
          <p:nvPr/>
        </p:nvSpPr>
        <p:spPr>
          <a:xfrm>
            <a:off x="4846320" y="2560320"/>
            <a:ext cx="4023360" cy="22860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4" name="Shape 12"/>
          <p:cNvSpPr/>
          <p:nvPr/>
        </p:nvSpPr>
        <p:spPr>
          <a:xfrm>
            <a:off x="4846320" y="2560320"/>
            <a:ext cx="4023360" cy="502920"/>
          </a:xfrm>
          <a:prstGeom prst="rect">
            <a:avLst/>
          </a:prstGeom>
          <a:solidFill>
            <a:srgbClr val="E8850C"/>
          </a:solidFill>
          <a:ln/>
        </p:spPr>
      </p:sp>
      <p:sp>
        <p:nvSpPr>
          <p:cNvPr id="15" name="Text 13"/>
          <p:cNvSpPr/>
          <p:nvPr/>
        </p:nvSpPr>
        <p:spPr>
          <a:xfrm>
            <a:off x="4846320" y="2560320"/>
            <a:ext cx="402336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BIZ UDPGothic" pitchFamily="34" charset="0"/>
                <a:ea typeface="BIZ UDPGothic" pitchFamily="34" charset="-122"/>
                <a:cs typeface="BIZ UDPGothic" pitchFamily="34" charset="-120"/>
              </a:rPr>
              <a:t>右脳</a:t>
            </a:r>
            <a:endParaRPr lang="en-US" sz="2000" dirty="0"/>
          </a:p>
        </p:txBody>
      </p:sp>
      <p:sp>
        <p:nvSpPr>
          <p:cNvPr id="16" name="Text 14"/>
          <p:cNvSpPr/>
          <p:nvPr/>
        </p:nvSpPr>
        <p:spPr>
          <a:xfrm>
            <a:off x="5029200" y="3108960"/>
            <a:ext cx="3657600" cy="1005840"/>
          </a:xfrm>
          <a:prstGeom prst="rect">
            <a:avLst/>
          </a:prstGeom>
          <a:noFill/>
          <a:ln/>
        </p:spPr>
        <p:txBody>
          <a:bodyPr wrap="square" lIns="0" tIns="0" rIns="0" bIns="0" rtlCol="0" anchor="t"/>
          <a:lstStyle/>
          <a:p>
            <a:pPr indent="0" marL="0">
              <a:lnSpc>
                <a:spcPct val="130000"/>
              </a:lnSpc>
              <a:buNone/>
            </a:pPr>
            <a:r>
              <a:rPr lang="en-US" sz="1400" dirty="0">
                <a:solidFill>
                  <a:srgbClr val="2D3436"/>
                </a:solidFill>
                <a:latin typeface="BIZ UDPGothic" pitchFamily="34" charset="0"/>
                <a:ea typeface="BIZ UDPGothic" pitchFamily="34" charset="-122"/>
                <a:cs typeface="BIZ UDPGothic" pitchFamily="34" charset="-120"/>
              </a:rPr>
              <a:t>左手・左足を制御</a:t>
            </a:r>
            <a:endParaRPr lang="en-US" sz="1400" dirty="0"/>
          </a:p>
          <a:p>
            <a:pPr indent="0" marL="0">
              <a:lnSpc>
                <a:spcPct val="130000"/>
              </a:lnSpc>
              <a:buNone/>
            </a:pPr>
            <a:r>
              <a:rPr lang="en-US" sz="1400" dirty="0">
                <a:solidFill>
                  <a:srgbClr val="2D3436"/>
                </a:solidFill>
                <a:latin typeface="BIZ UDPGothic" pitchFamily="34" charset="0"/>
                <a:ea typeface="BIZ UDPGothic" pitchFamily="34" charset="-122"/>
                <a:cs typeface="BIZ UDPGothic" pitchFamily="34" charset="-120"/>
              </a:rPr>
              <a:t>空間認識・顔認識</a:t>
            </a:r>
            <a:endParaRPr lang="en-US" sz="1400" dirty="0"/>
          </a:p>
          <a:p>
            <a:pPr indent="0" marL="0">
              <a:lnSpc>
                <a:spcPct val="130000"/>
              </a:lnSpc>
              <a:buNone/>
            </a:pPr>
            <a:r>
              <a:rPr lang="en-US" sz="1400" dirty="0">
                <a:solidFill>
                  <a:srgbClr val="2D3436"/>
                </a:solidFill>
                <a:latin typeface="BIZ UDPGothic" pitchFamily="34" charset="0"/>
                <a:ea typeface="BIZ UDPGothic" pitchFamily="34" charset="-122"/>
                <a:cs typeface="BIZ UDPGothic" pitchFamily="34" charset="-120"/>
              </a:rPr>
              <a:t>全体的なパターン処理</a:t>
            </a:r>
            <a:endParaRPr lang="en-US" sz="1400" dirty="0"/>
          </a:p>
        </p:txBody>
      </p:sp>
      <p:sp>
        <p:nvSpPr>
          <p:cNvPr id="17" name="Shape 15"/>
          <p:cNvSpPr/>
          <p:nvPr/>
        </p:nvSpPr>
        <p:spPr>
          <a:xfrm>
            <a:off x="4846320" y="4526280"/>
            <a:ext cx="4023360" cy="320040"/>
          </a:xfrm>
          <a:prstGeom prst="rect">
            <a:avLst/>
          </a:prstGeom>
          <a:solidFill>
            <a:srgbClr val="E8F0FE"/>
          </a:solidFill>
          <a:ln/>
        </p:spPr>
      </p:sp>
      <p:sp>
        <p:nvSpPr>
          <p:cNvPr id="18" name="Text 16"/>
          <p:cNvSpPr/>
          <p:nvPr/>
        </p:nvSpPr>
        <p:spPr>
          <a:xfrm>
            <a:off x="4846320" y="4526280"/>
            <a:ext cx="4023360" cy="320040"/>
          </a:xfrm>
          <a:prstGeom prst="rect">
            <a:avLst/>
          </a:prstGeom>
          <a:noFill/>
          <a:ln/>
        </p:spPr>
        <p:txBody>
          <a:bodyPr wrap="square" lIns="0" tIns="0" rIns="0" bIns="0" rtlCol="0" anchor="ctr"/>
          <a:lstStyle/>
          <a:p>
            <a:pPr algn="ctr" indent="0" marL="0">
              <a:buNone/>
            </a:pPr>
            <a:r>
              <a:rPr lang="en-US" sz="1200" b="1" dirty="0">
                <a:solidFill>
                  <a:srgbClr val="2C5AA0"/>
                </a:solidFill>
                <a:latin typeface="BIZ UDPGothic" pitchFamily="34" charset="0"/>
                <a:ea typeface="BIZ UDPGothic" pitchFamily="34" charset="-122"/>
                <a:cs typeface="BIZ UDPGothic" pitchFamily="34" charset="-120"/>
              </a:rPr>
              <a:t>左利きでも70%は左脳言語優位</a:t>
            </a:r>
            <a:endParaRPr lang="en-US" sz="1200" dirty="0"/>
          </a:p>
        </p:txBody>
      </p:sp>
      <p:sp>
        <p:nvSpPr>
          <p:cNvPr id="19" name="Text 17"/>
          <p:cNvSpPr/>
          <p:nvPr/>
        </p:nvSpPr>
        <p:spPr>
          <a:xfrm>
            <a:off x="4206240" y="3108960"/>
            <a:ext cx="731520" cy="548640"/>
          </a:xfrm>
          <a:prstGeom prst="rect">
            <a:avLst/>
          </a:prstGeom>
          <a:noFill/>
          <a:ln/>
        </p:spPr>
        <p:txBody>
          <a:bodyPr wrap="square" lIns="0" tIns="0" rIns="0" bIns="0" rtlCol="0" anchor="ctr"/>
          <a:lstStyle/>
          <a:p>
            <a:pPr algn="ctr" indent="0" marL="0">
              <a:buNone/>
            </a:pPr>
            <a:r>
              <a:rPr lang="en-US" sz="1400" b="1" dirty="0">
                <a:solidFill>
                  <a:srgbClr val="4A90D9"/>
                </a:solidFill>
                <a:latin typeface="BIZ UDPGothic" pitchFamily="34" charset="0"/>
                <a:ea typeface="BIZ UDPGothic" pitchFamily="34" charset="-122"/>
                <a:cs typeface="BIZ UDPGothic" pitchFamily="34" charset="-120"/>
              </a:rPr>
              <a:t>交差</a:t>
            </a:r>
            <a:endParaRPr lang="en-US" sz="1400" dirty="0"/>
          </a:p>
        </p:txBody>
      </p:sp>
      <p:sp>
        <p:nvSpPr>
          <p:cNvPr id="20" name="Text 18"/>
          <p:cNvSpPr/>
          <p:nvPr/>
        </p:nvSpPr>
        <p:spPr>
          <a:xfrm>
            <a:off x="4160520" y="3566160"/>
            <a:ext cx="822960" cy="457200"/>
          </a:xfrm>
          <a:prstGeom prst="rect">
            <a:avLst/>
          </a:prstGeom>
          <a:noFill/>
          <a:ln/>
        </p:spPr>
        <p:txBody>
          <a:bodyPr wrap="square" lIns="0" tIns="0" rIns="0" bIns="0" rtlCol="0" anchor="ctr"/>
          <a:lstStyle/>
          <a:p>
            <a:pPr algn="ctr" indent="0" marL="0">
              <a:buNone/>
            </a:pPr>
            <a:r>
              <a:rPr lang="en-US" sz="2200" dirty="0">
                <a:solidFill>
                  <a:srgbClr val="4A90D9"/>
                </a:solidFill>
              </a:rPr>
              <a:t>⇌</a:t>
            </a:r>
            <a:endParaRPr lang="en-US" sz="2200" dirty="0"/>
          </a:p>
        </p:txBody>
      </p:sp>
      <p:sp>
        <p:nvSpPr>
          <p:cNvPr id="21" name="Text 19"/>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3/10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遺伝と利き手 ― どこまで「生まれつき」か</a:t>
            </a:r>
            <a:endParaRPr lang="en-US" sz="2400" dirty="0"/>
          </a:p>
        </p:txBody>
      </p:sp>
      <p:sp>
        <p:nvSpPr>
          <p:cNvPr id="4" name="Shape 2"/>
          <p:cNvSpPr/>
          <p:nvPr/>
        </p:nvSpPr>
        <p:spPr>
          <a:xfrm>
            <a:off x="274320" y="1005840"/>
            <a:ext cx="2560320" cy="457200"/>
          </a:xfrm>
          <a:prstGeom prst="rect">
            <a:avLst/>
          </a:prstGeom>
          <a:solidFill>
            <a:srgbClr val="1B3A5C"/>
          </a:solidFill>
          <a:ln/>
        </p:spPr>
      </p:sp>
      <p:sp>
        <p:nvSpPr>
          <p:cNvPr id="5" name="Shape 3"/>
          <p:cNvSpPr/>
          <p:nvPr/>
        </p:nvSpPr>
        <p:spPr>
          <a:xfrm>
            <a:off x="2834640" y="1005840"/>
            <a:ext cx="6035040" cy="457200"/>
          </a:xfrm>
          <a:prstGeom prst="rect">
            <a:avLst/>
          </a:prstGeom>
          <a:solidFill>
            <a:srgbClr val="2C5AA0"/>
          </a:solidFill>
          <a:ln/>
        </p:spPr>
      </p:sp>
      <p:sp>
        <p:nvSpPr>
          <p:cNvPr id="6" name="Text 4"/>
          <p:cNvSpPr/>
          <p:nvPr/>
        </p:nvSpPr>
        <p:spPr>
          <a:xfrm>
            <a:off x="274320" y="1005840"/>
            <a:ext cx="25603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要因</a:t>
            </a:r>
            <a:endParaRPr lang="en-US" sz="1400" dirty="0"/>
          </a:p>
        </p:txBody>
      </p:sp>
      <p:sp>
        <p:nvSpPr>
          <p:cNvPr id="7" name="Text 5"/>
          <p:cNvSpPr/>
          <p:nvPr/>
        </p:nvSpPr>
        <p:spPr>
          <a:xfrm>
            <a:off x="2834640" y="1005840"/>
            <a:ext cx="6035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利き手への影響</a:t>
            </a:r>
            <a:endParaRPr lang="en-US" sz="1400" dirty="0"/>
          </a:p>
        </p:txBody>
      </p:sp>
      <p:sp>
        <p:nvSpPr>
          <p:cNvPr id="8" name="Shape 6"/>
          <p:cNvSpPr/>
          <p:nvPr/>
        </p:nvSpPr>
        <p:spPr>
          <a:xfrm>
            <a:off x="274320" y="1508760"/>
            <a:ext cx="8595360" cy="804672"/>
          </a:xfrm>
          <a:prstGeom prst="rect">
            <a:avLst/>
          </a:prstGeom>
          <a:solidFill>
            <a:srgbClr val="F5F7FA"/>
          </a:solidFill>
          <a:ln/>
        </p:spPr>
      </p:sp>
      <p:sp>
        <p:nvSpPr>
          <p:cNvPr id="9" name="Shape 7"/>
          <p:cNvSpPr/>
          <p:nvPr/>
        </p:nvSpPr>
        <p:spPr>
          <a:xfrm>
            <a:off x="274320" y="1508760"/>
            <a:ext cx="109728" cy="804672"/>
          </a:xfrm>
          <a:prstGeom prst="rect">
            <a:avLst/>
          </a:prstGeom>
          <a:solidFill>
            <a:srgbClr val="DC3545"/>
          </a:solidFill>
          <a:ln/>
        </p:spPr>
      </p:sp>
      <p:sp>
        <p:nvSpPr>
          <p:cNvPr id="10" name="Text 8"/>
          <p:cNvSpPr/>
          <p:nvPr/>
        </p:nvSpPr>
        <p:spPr>
          <a:xfrm>
            <a:off x="384048" y="1508760"/>
            <a:ext cx="2340864" cy="804672"/>
          </a:xfrm>
          <a:prstGeom prst="rect">
            <a:avLst/>
          </a:prstGeom>
          <a:noFill/>
          <a:ln/>
        </p:spPr>
        <p:txBody>
          <a:bodyPr wrap="square" lIns="25400" tIns="25400" rIns="25400" bIns="2540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遺伝</a:t>
            </a:r>
            <a:endParaRPr lang="en-US" sz="1300" dirty="0"/>
          </a:p>
        </p:txBody>
      </p:sp>
      <p:sp>
        <p:nvSpPr>
          <p:cNvPr id="11" name="Text 9"/>
          <p:cNvSpPr/>
          <p:nvPr/>
        </p:nvSpPr>
        <p:spPr>
          <a:xfrm>
            <a:off x="2834640" y="1508760"/>
            <a:ext cx="5852160" cy="804672"/>
          </a:xfrm>
          <a:prstGeom prst="rect">
            <a:avLst/>
          </a:prstGeom>
          <a:noFill/>
          <a:ln/>
        </p:spPr>
        <p:txBody>
          <a:bodyPr wrap="square" lIns="0" tIns="76200" rIns="76200" bIns="0" rtlCol="0" anchor="ctr"/>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寄与率は約25%。単一の「利き手遺伝子」はなく、PCSK6・LRRTM1・MHC領域など多数の遺伝子座が微小な影響を積み重ねる多遺伝子形質（GWAS研究）</a:t>
            </a:r>
            <a:endParaRPr lang="en-US" sz="1200" dirty="0"/>
          </a:p>
        </p:txBody>
      </p:sp>
      <p:sp>
        <p:nvSpPr>
          <p:cNvPr id="12" name="Shape 10"/>
          <p:cNvSpPr/>
          <p:nvPr/>
        </p:nvSpPr>
        <p:spPr>
          <a:xfrm>
            <a:off x="274320" y="2331720"/>
            <a:ext cx="8595360" cy="804672"/>
          </a:xfrm>
          <a:prstGeom prst="rect">
            <a:avLst/>
          </a:prstGeom>
          <a:solidFill>
            <a:srgbClr val="FFFFFF"/>
          </a:solidFill>
          <a:ln/>
        </p:spPr>
      </p:sp>
      <p:sp>
        <p:nvSpPr>
          <p:cNvPr id="13" name="Shape 11"/>
          <p:cNvSpPr/>
          <p:nvPr/>
        </p:nvSpPr>
        <p:spPr>
          <a:xfrm>
            <a:off x="274320" y="2331720"/>
            <a:ext cx="109728" cy="804672"/>
          </a:xfrm>
          <a:prstGeom prst="rect">
            <a:avLst/>
          </a:prstGeom>
          <a:solidFill>
            <a:srgbClr val="E8850C"/>
          </a:solidFill>
          <a:ln/>
        </p:spPr>
      </p:sp>
      <p:sp>
        <p:nvSpPr>
          <p:cNvPr id="14" name="Text 12"/>
          <p:cNvSpPr/>
          <p:nvPr/>
        </p:nvSpPr>
        <p:spPr>
          <a:xfrm>
            <a:off x="384048" y="2331720"/>
            <a:ext cx="2340864" cy="804672"/>
          </a:xfrm>
          <a:prstGeom prst="rect">
            <a:avLst/>
          </a:prstGeom>
          <a:noFill/>
          <a:ln/>
        </p:spPr>
        <p:txBody>
          <a:bodyPr wrap="square" lIns="25400" tIns="25400" rIns="25400" bIns="2540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胎児期環境</a:t>
            </a:r>
            <a:endParaRPr lang="en-US" sz="1300" dirty="0"/>
          </a:p>
        </p:txBody>
      </p:sp>
      <p:sp>
        <p:nvSpPr>
          <p:cNvPr id="15" name="Text 13"/>
          <p:cNvSpPr/>
          <p:nvPr/>
        </p:nvSpPr>
        <p:spPr>
          <a:xfrm>
            <a:off x="2834640" y="2331720"/>
            <a:ext cx="5852160" cy="804672"/>
          </a:xfrm>
          <a:prstGeom prst="rect">
            <a:avLst/>
          </a:prstGeom>
          <a:noFill/>
          <a:ln/>
        </p:spPr>
        <p:txBody>
          <a:bodyPr wrap="square" lIns="0" tIns="76200" rIns="76200" bIns="0" rtlCol="0" anchor="ctr"/>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子宮内の位置・ホルモン環境（テストステロン等）・脊髄の左右差形成が関与。妊娠10週ごろから右手を口に近づける動作を好む</a:t>
            </a:r>
            <a:endParaRPr lang="en-US" sz="1200" dirty="0"/>
          </a:p>
        </p:txBody>
      </p:sp>
      <p:sp>
        <p:nvSpPr>
          <p:cNvPr id="16" name="Shape 14"/>
          <p:cNvSpPr/>
          <p:nvPr/>
        </p:nvSpPr>
        <p:spPr>
          <a:xfrm>
            <a:off x="274320" y="3154680"/>
            <a:ext cx="8595360" cy="804672"/>
          </a:xfrm>
          <a:prstGeom prst="rect">
            <a:avLst/>
          </a:prstGeom>
          <a:solidFill>
            <a:srgbClr val="F5F7FA"/>
          </a:solidFill>
          <a:ln/>
        </p:spPr>
      </p:sp>
      <p:sp>
        <p:nvSpPr>
          <p:cNvPr id="17" name="Shape 15"/>
          <p:cNvSpPr/>
          <p:nvPr/>
        </p:nvSpPr>
        <p:spPr>
          <a:xfrm>
            <a:off x="274320" y="3154680"/>
            <a:ext cx="109728" cy="804672"/>
          </a:xfrm>
          <a:prstGeom prst="rect">
            <a:avLst/>
          </a:prstGeom>
          <a:solidFill>
            <a:srgbClr val="28A745"/>
          </a:solidFill>
          <a:ln/>
        </p:spPr>
      </p:sp>
      <p:sp>
        <p:nvSpPr>
          <p:cNvPr id="18" name="Text 16"/>
          <p:cNvSpPr/>
          <p:nvPr/>
        </p:nvSpPr>
        <p:spPr>
          <a:xfrm>
            <a:off x="384048" y="3154680"/>
            <a:ext cx="2340864" cy="804672"/>
          </a:xfrm>
          <a:prstGeom prst="rect">
            <a:avLst/>
          </a:prstGeom>
          <a:noFill/>
          <a:ln/>
        </p:spPr>
        <p:txBody>
          <a:bodyPr wrap="square" lIns="25400" tIns="25400" rIns="25400" bIns="2540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出生後の学習・文化</a:t>
            </a:r>
            <a:endParaRPr lang="en-US" sz="1300" dirty="0"/>
          </a:p>
        </p:txBody>
      </p:sp>
      <p:sp>
        <p:nvSpPr>
          <p:cNvPr id="19" name="Text 17"/>
          <p:cNvSpPr/>
          <p:nvPr/>
        </p:nvSpPr>
        <p:spPr>
          <a:xfrm>
            <a:off x="2834640" y="3154680"/>
            <a:ext cx="5852160" cy="804672"/>
          </a:xfrm>
          <a:prstGeom prst="rect">
            <a:avLst/>
          </a:prstGeom>
          <a:noFill/>
          <a:ln/>
        </p:spPr>
        <p:txBody>
          <a:bodyPr wrap="square" lIns="0" tIns="76200" rIns="76200" bIns="0" rtlCol="0" anchor="ctr"/>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道具・文字・習慣による強化。強い矯正圧があれば外見上の利き手は変わりうる</a:t>
            </a:r>
            <a:endParaRPr lang="en-US" sz="1200" dirty="0"/>
          </a:p>
        </p:txBody>
      </p:sp>
      <p:sp>
        <p:nvSpPr>
          <p:cNvPr id="20" name="Shape 18"/>
          <p:cNvSpPr/>
          <p:nvPr/>
        </p:nvSpPr>
        <p:spPr>
          <a:xfrm>
            <a:off x="274320" y="3977640"/>
            <a:ext cx="8595360" cy="804672"/>
          </a:xfrm>
          <a:prstGeom prst="rect">
            <a:avLst/>
          </a:prstGeom>
          <a:solidFill>
            <a:srgbClr val="FFFFFF"/>
          </a:solidFill>
          <a:ln/>
        </p:spPr>
      </p:sp>
      <p:sp>
        <p:nvSpPr>
          <p:cNvPr id="21" name="Shape 19"/>
          <p:cNvSpPr/>
          <p:nvPr/>
        </p:nvSpPr>
        <p:spPr>
          <a:xfrm>
            <a:off x="274320" y="3977640"/>
            <a:ext cx="109728" cy="804672"/>
          </a:xfrm>
          <a:prstGeom prst="rect">
            <a:avLst/>
          </a:prstGeom>
          <a:solidFill>
            <a:srgbClr val="4A90D9"/>
          </a:solidFill>
          <a:ln/>
        </p:spPr>
      </p:sp>
      <p:sp>
        <p:nvSpPr>
          <p:cNvPr id="22" name="Text 20"/>
          <p:cNvSpPr/>
          <p:nvPr/>
        </p:nvSpPr>
        <p:spPr>
          <a:xfrm>
            <a:off x="384048" y="3977640"/>
            <a:ext cx="2340864" cy="804672"/>
          </a:xfrm>
          <a:prstGeom prst="rect">
            <a:avLst/>
          </a:prstGeom>
          <a:noFill/>
          <a:ln/>
        </p:spPr>
        <p:txBody>
          <a:bodyPr wrap="square" lIns="25400" tIns="25400" rIns="25400" bIns="2540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確率的揺らぎ</a:t>
            </a:r>
            <a:endParaRPr lang="en-US" sz="1300" dirty="0"/>
          </a:p>
        </p:txBody>
      </p:sp>
      <p:sp>
        <p:nvSpPr>
          <p:cNvPr id="23" name="Text 21"/>
          <p:cNvSpPr/>
          <p:nvPr/>
        </p:nvSpPr>
        <p:spPr>
          <a:xfrm>
            <a:off x="2834640" y="3977640"/>
            <a:ext cx="5852160" cy="804672"/>
          </a:xfrm>
          <a:prstGeom prst="rect">
            <a:avLst/>
          </a:prstGeom>
          <a:noFill/>
          <a:ln/>
        </p:spPr>
        <p:txBody>
          <a:bodyPr wrap="square" lIns="0" tIns="76200" rIns="76200" bIns="0" rtlCol="0" anchor="ctr"/>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一卵性双生児の25%に利き手の不一致あり。発生の「偶然性」も影響する</a:t>
            </a:r>
            <a:endParaRPr lang="en-US" sz="1200" dirty="0"/>
          </a:p>
        </p:txBody>
      </p:sp>
      <p:sp>
        <p:nvSpPr>
          <p:cNvPr id="24" name="Shape 22"/>
          <p:cNvSpPr/>
          <p:nvPr/>
        </p:nvSpPr>
        <p:spPr>
          <a:xfrm>
            <a:off x="274320" y="4800600"/>
            <a:ext cx="8595360" cy="320040"/>
          </a:xfrm>
          <a:prstGeom prst="rect">
            <a:avLst/>
          </a:prstGeom>
          <a:solidFill>
            <a:srgbClr val="E8F0FE"/>
          </a:solidFill>
          <a:ln/>
        </p:spPr>
      </p:sp>
      <p:sp>
        <p:nvSpPr>
          <p:cNvPr id="25" name="Text 23"/>
          <p:cNvSpPr/>
          <p:nvPr/>
        </p:nvSpPr>
        <p:spPr>
          <a:xfrm>
            <a:off x="457200" y="4800600"/>
            <a:ext cx="8229600" cy="320040"/>
          </a:xfrm>
          <a:prstGeom prst="rect">
            <a:avLst/>
          </a:prstGeom>
          <a:noFill/>
          <a:ln/>
        </p:spPr>
        <p:txBody>
          <a:bodyPr wrap="square" lIns="0" tIns="0" rIns="0" bIns="0" rtlCol="0" anchor="ctr"/>
          <a:lstStyle/>
          <a:p>
            <a:pPr indent="0" marL="0">
              <a:buNone/>
            </a:pPr>
            <a:r>
              <a:rPr lang="en-US" sz="1300" b="1" dirty="0">
                <a:solidFill>
                  <a:srgbClr val="2C5AA0"/>
                </a:solidFill>
                <a:latin typeface="BIZ UDPGothic" pitchFamily="34" charset="0"/>
                <a:ea typeface="BIZ UDPGothic" pitchFamily="34" charset="-122"/>
                <a:cs typeface="BIZ UDPGothic" pitchFamily="34" charset="-120"/>
              </a:rPr>
              <a:t>両親とも右利きでも、左利きの子が生まれる確率は約9〜10%</a:t>
            </a:r>
            <a:endParaRPr lang="en-US" sz="1300" dirty="0"/>
          </a:p>
        </p:txBody>
      </p:sp>
      <p:sp>
        <p:nvSpPr>
          <p:cNvPr id="26" name="Text 24"/>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4/10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胎児期にすでに決まっている？</a:t>
            </a:r>
            <a:endParaRPr lang="en-US" sz="2400" dirty="0"/>
          </a:p>
        </p:txBody>
      </p:sp>
      <p:sp>
        <p:nvSpPr>
          <p:cNvPr id="4" name="Shape 2"/>
          <p:cNvSpPr/>
          <p:nvPr/>
        </p:nvSpPr>
        <p:spPr>
          <a:xfrm>
            <a:off x="457200" y="1005840"/>
            <a:ext cx="8229600" cy="804672"/>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554480" cy="804672"/>
          </a:xfrm>
          <a:prstGeom prst="rect">
            <a:avLst/>
          </a:prstGeom>
          <a:solidFill>
            <a:srgbClr val="28A745"/>
          </a:solidFill>
          <a:ln/>
        </p:spPr>
      </p:sp>
      <p:sp>
        <p:nvSpPr>
          <p:cNvPr id="6" name="Text 4"/>
          <p:cNvSpPr/>
          <p:nvPr/>
        </p:nvSpPr>
        <p:spPr>
          <a:xfrm>
            <a:off x="457200" y="1005840"/>
            <a:ext cx="1554480" cy="804672"/>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Gothic" pitchFamily="34" charset="0"/>
                <a:ea typeface="BIZ UDPGothic" pitchFamily="34" charset="-122"/>
                <a:cs typeface="BIZ UDPGothic" pitchFamily="34" charset="-120"/>
              </a:rPr>
              <a:t>妊娠10週</a:t>
            </a:r>
            <a:endParaRPr lang="en-US" sz="1300" dirty="0"/>
          </a:p>
        </p:txBody>
      </p:sp>
      <p:sp>
        <p:nvSpPr>
          <p:cNvPr id="7" name="Text 5"/>
          <p:cNvSpPr/>
          <p:nvPr/>
        </p:nvSpPr>
        <p:spPr>
          <a:xfrm>
            <a:off x="2194560" y="1051560"/>
            <a:ext cx="2560320" cy="36576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右手優位の動作</a:t>
            </a:r>
            <a:endParaRPr lang="en-US" sz="1500" dirty="0"/>
          </a:p>
        </p:txBody>
      </p:sp>
      <p:sp>
        <p:nvSpPr>
          <p:cNvPr id="8" name="Text 6"/>
          <p:cNvSpPr/>
          <p:nvPr/>
        </p:nvSpPr>
        <p:spPr>
          <a:xfrm>
            <a:off x="2194560" y="1417320"/>
            <a:ext cx="6309360" cy="365760"/>
          </a:xfrm>
          <a:prstGeom prst="rect">
            <a:avLst/>
          </a:prstGeom>
          <a:noFill/>
          <a:ln/>
        </p:spPr>
        <p:txBody>
          <a:bodyPr wrap="square" lIns="0" tIns="0" rIns="0" bIns="0" rtlCol="0" anchor="t"/>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超音波研究で胎児が右手を口に近づける動作を好むことが確認。生後の利き手と高い一致率</a:t>
            </a:r>
            <a:endParaRPr lang="en-US" sz="1200" dirty="0"/>
          </a:p>
        </p:txBody>
      </p:sp>
      <p:sp>
        <p:nvSpPr>
          <p:cNvPr id="9" name="Shape 7"/>
          <p:cNvSpPr/>
          <p:nvPr/>
        </p:nvSpPr>
        <p:spPr>
          <a:xfrm>
            <a:off x="457200" y="1965960"/>
            <a:ext cx="8229600" cy="804672"/>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1965960"/>
            <a:ext cx="1554480" cy="804672"/>
          </a:xfrm>
          <a:prstGeom prst="rect">
            <a:avLst/>
          </a:prstGeom>
          <a:solidFill>
            <a:srgbClr val="4A90D9"/>
          </a:solidFill>
          <a:ln/>
        </p:spPr>
      </p:sp>
      <p:sp>
        <p:nvSpPr>
          <p:cNvPr id="11" name="Text 9"/>
          <p:cNvSpPr/>
          <p:nvPr/>
        </p:nvSpPr>
        <p:spPr>
          <a:xfrm>
            <a:off x="457200" y="1965960"/>
            <a:ext cx="1554480" cy="804672"/>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Gothic" pitchFamily="34" charset="0"/>
                <a:ea typeface="BIZ UDPGothic" pitchFamily="34" charset="-122"/>
                <a:cs typeface="BIZ UDPGothic" pitchFamily="34" charset="-120"/>
              </a:rPr>
              <a:t>妊娠〜出生</a:t>
            </a:r>
            <a:endParaRPr lang="en-US" sz="1300" dirty="0"/>
          </a:p>
        </p:txBody>
      </p:sp>
      <p:sp>
        <p:nvSpPr>
          <p:cNvPr id="12" name="Text 10"/>
          <p:cNvSpPr/>
          <p:nvPr/>
        </p:nvSpPr>
        <p:spPr>
          <a:xfrm>
            <a:off x="2194560" y="2011680"/>
            <a:ext cx="2560320" cy="36576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脊髄の左右差形成</a:t>
            </a:r>
            <a:endParaRPr lang="en-US" sz="1500" dirty="0"/>
          </a:p>
        </p:txBody>
      </p:sp>
      <p:sp>
        <p:nvSpPr>
          <p:cNvPr id="13" name="Text 11"/>
          <p:cNvSpPr/>
          <p:nvPr/>
        </p:nvSpPr>
        <p:spPr>
          <a:xfrm>
            <a:off x="2194560" y="2377440"/>
            <a:ext cx="6309360" cy="365760"/>
          </a:xfrm>
          <a:prstGeom prst="rect">
            <a:avLst/>
          </a:prstGeom>
          <a:noFill/>
          <a:ln/>
        </p:spPr>
        <p:txBody>
          <a:bodyPr wrap="square" lIns="0" tIns="0" rIns="0" bIns="0" rtlCol="0" anchor="t"/>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大脳の指令より先に脊髄レベルで非対称性が出現。末梢神経系からのボトムアップ的な形成</a:t>
            </a:r>
            <a:endParaRPr lang="en-US" sz="1200" dirty="0"/>
          </a:p>
        </p:txBody>
      </p:sp>
      <p:sp>
        <p:nvSpPr>
          <p:cNvPr id="14" name="Shape 12"/>
          <p:cNvSpPr/>
          <p:nvPr/>
        </p:nvSpPr>
        <p:spPr>
          <a:xfrm>
            <a:off x="457200" y="2926080"/>
            <a:ext cx="8229600" cy="804672"/>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2926080"/>
            <a:ext cx="1554480" cy="804672"/>
          </a:xfrm>
          <a:prstGeom prst="rect">
            <a:avLst/>
          </a:prstGeom>
          <a:solidFill>
            <a:srgbClr val="2C5AA0"/>
          </a:solidFill>
          <a:ln/>
        </p:spPr>
      </p:sp>
      <p:sp>
        <p:nvSpPr>
          <p:cNvPr id="16" name="Text 14"/>
          <p:cNvSpPr/>
          <p:nvPr/>
        </p:nvSpPr>
        <p:spPr>
          <a:xfrm>
            <a:off x="457200" y="2926080"/>
            <a:ext cx="1554480" cy="804672"/>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Gothic" pitchFamily="34" charset="0"/>
                <a:ea typeface="BIZ UDPGothic" pitchFamily="34" charset="-122"/>
                <a:cs typeface="BIZ UDPGothic" pitchFamily="34" charset="-120"/>
              </a:rPr>
              <a:t>出生後2〜5歳</a:t>
            </a:r>
            <a:endParaRPr lang="en-US" sz="1300" dirty="0"/>
          </a:p>
        </p:txBody>
      </p:sp>
      <p:sp>
        <p:nvSpPr>
          <p:cNvPr id="17" name="Text 15"/>
          <p:cNvSpPr/>
          <p:nvPr/>
        </p:nvSpPr>
        <p:spPr>
          <a:xfrm>
            <a:off x="2194560" y="2971800"/>
            <a:ext cx="2560320" cy="36576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利き手の確立</a:t>
            </a:r>
            <a:endParaRPr lang="en-US" sz="1500" dirty="0"/>
          </a:p>
        </p:txBody>
      </p:sp>
      <p:sp>
        <p:nvSpPr>
          <p:cNvPr id="18" name="Text 16"/>
          <p:cNvSpPr/>
          <p:nvPr/>
        </p:nvSpPr>
        <p:spPr>
          <a:xfrm>
            <a:off x="2194560" y="3337560"/>
            <a:ext cx="6309360" cy="365760"/>
          </a:xfrm>
          <a:prstGeom prst="rect">
            <a:avLst/>
          </a:prstGeom>
          <a:noFill/>
          <a:ln/>
        </p:spPr>
        <p:txBody>
          <a:bodyPr wrap="square" lIns="0" tIns="0" rIns="0" bIns="0" rtlCol="0" anchor="t"/>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道具・文字との接触で強化され、利き手が安定する。5〜6歳を過ぎても安定しない場合は個人差の範囲が多い</a:t>
            </a:r>
            <a:endParaRPr lang="en-US" sz="1200" dirty="0"/>
          </a:p>
        </p:txBody>
      </p:sp>
      <p:sp>
        <p:nvSpPr>
          <p:cNvPr id="19" name="Shape 17"/>
          <p:cNvSpPr/>
          <p:nvPr/>
        </p:nvSpPr>
        <p:spPr>
          <a:xfrm>
            <a:off x="457200" y="3886200"/>
            <a:ext cx="8229600" cy="804672"/>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0" name="Shape 18"/>
          <p:cNvSpPr/>
          <p:nvPr/>
        </p:nvSpPr>
        <p:spPr>
          <a:xfrm>
            <a:off x="457200" y="3886200"/>
            <a:ext cx="1554480" cy="804672"/>
          </a:xfrm>
          <a:prstGeom prst="rect">
            <a:avLst/>
          </a:prstGeom>
          <a:solidFill>
            <a:srgbClr val="DC3545"/>
          </a:solidFill>
          <a:ln/>
        </p:spPr>
      </p:sp>
      <p:sp>
        <p:nvSpPr>
          <p:cNvPr id="21" name="Text 19"/>
          <p:cNvSpPr/>
          <p:nvPr/>
        </p:nvSpPr>
        <p:spPr>
          <a:xfrm>
            <a:off x="457200" y="3886200"/>
            <a:ext cx="1554480" cy="804672"/>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Gothic" pitchFamily="34" charset="0"/>
                <a:ea typeface="BIZ UDPGothic" pitchFamily="34" charset="-122"/>
                <a:cs typeface="BIZ UDPGothic" pitchFamily="34" charset="-120"/>
              </a:rPr>
              <a:t>成人以降</a:t>
            </a:r>
            <a:endParaRPr lang="en-US" sz="1300" dirty="0"/>
          </a:p>
        </p:txBody>
      </p:sp>
      <p:sp>
        <p:nvSpPr>
          <p:cNvPr id="22" name="Text 20"/>
          <p:cNvSpPr/>
          <p:nvPr/>
        </p:nvSpPr>
        <p:spPr>
          <a:xfrm>
            <a:off x="2194560" y="3931920"/>
            <a:ext cx="2560320" cy="36576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利き手は固定</a:t>
            </a:r>
            <a:endParaRPr lang="en-US" sz="1500" dirty="0"/>
          </a:p>
        </p:txBody>
      </p:sp>
      <p:sp>
        <p:nvSpPr>
          <p:cNvPr id="23" name="Text 21"/>
          <p:cNvSpPr/>
          <p:nvPr/>
        </p:nvSpPr>
        <p:spPr>
          <a:xfrm>
            <a:off x="2194560" y="4297680"/>
            <a:ext cx="6309360" cy="365760"/>
          </a:xfrm>
          <a:prstGeom prst="rect">
            <a:avLst/>
          </a:prstGeom>
          <a:noFill/>
          <a:ln/>
        </p:spPr>
        <p:txBody>
          <a:bodyPr wrap="square" lIns="0" tIns="0" rIns="0" bIns="0" rtlCol="0" anchor="t"/>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成人後に利き手が変わる場合は脳卒中・神経疾患の可能性。「急な変化」は受診のサイン</a:t>
            </a:r>
            <a:endParaRPr lang="en-US" sz="1200" dirty="0"/>
          </a:p>
        </p:txBody>
      </p:sp>
      <p:sp>
        <p:nvSpPr>
          <p:cNvPr id="24" name="Shape 22"/>
          <p:cNvSpPr/>
          <p:nvPr/>
        </p:nvSpPr>
        <p:spPr>
          <a:xfrm>
            <a:off x="457200" y="4800600"/>
            <a:ext cx="8229600" cy="320040"/>
          </a:xfrm>
          <a:prstGeom prst="rect">
            <a:avLst/>
          </a:prstGeom>
          <a:solidFill>
            <a:srgbClr val="E8F0FE"/>
          </a:solidFill>
          <a:ln/>
        </p:spPr>
      </p:sp>
      <p:sp>
        <p:nvSpPr>
          <p:cNvPr id="25" name="Text 23"/>
          <p:cNvSpPr/>
          <p:nvPr/>
        </p:nvSpPr>
        <p:spPr>
          <a:xfrm>
            <a:off x="640080" y="4800600"/>
            <a:ext cx="7863840" cy="320040"/>
          </a:xfrm>
          <a:prstGeom prst="rect">
            <a:avLst/>
          </a:prstGeom>
          <a:noFill/>
          <a:ln/>
        </p:spPr>
        <p:txBody>
          <a:bodyPr wrap="square" lIns="0" tIns="0" rIns="0" bIns="0" rtlCol="0" anchor="ctr"/>
          <a:lstStyle/>
          <a:p>
            <a:pPr indent="0" marL="0">
              <a:buNone/>
            </a:pPr>
            <a:r>
              <a:rPr lang="en-US" sz="1300" b="1" dirty="0">
                <a:solidFill>
                  <a:srgbClr val="2C5AA0"/>
                </a:solidFill>
                <a:latin typeface="BIZ UDPGothic" pitchFamily="34" charset="0"/>
                <a:ea typeface="BIZ UDPGothic" pitchFamily="34" charset="-122"/>
                <a:cs typeface="BIZ UDPGothic" pitchFamily="34" charset="-120"/>
              </a:rPr>
              <a:t>利き手は「習慣」ではなく、胎児期の神経発達が土台 ― 生まれつきの特性</a:t>
            </a:r>
            <a:endParaRPr lang="en-US" sz="1300" dirty="0"/>
          </a:p>
        </p:txBody>
      </p:sp>
      <p:sp>
        <p:nvSpPr>
          <p:cNvPr id="26" name="Text 24"/>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5/10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言語優位半球との関係</a:t>
            </a:r>
            <a:endParaRPr lang="en-US" sz="2400" dirty="0"/>
          </a:p>
        </p:txBody>
      </p:sp>
      <p:sp>
        <p:nvSpPr>
          <p:cNvPr id="4" name="Shape 2"/>
          <p:cNvSpPr/>
          <p:nvPr/>
        </p:nvSpPr>
        <p:spPr>
          <a:xfrm>
            <a:off x="457200" y="1005840"/>
            <a:ext cx="8229600" cy="9144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731520" y="1051560"/>
            <a:ext cx="7680960" cy="365760"/>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ブローカ野（発話）・ウェルニッケ野（言語理解）は多くの人で</a:t>
            </a:r>
            <a:endParaRPr lang="en-US" sz="1600" dirty="0"/>
          </a:p>
        </p:txBody>
      </p:sp>
      <p:sp>
        <p:nvSpPr>
          <p:cNvPr id="6" name="Text 4"/>
          <p:cNvSpPr/>
          <p:nvPr/>
        </p:nvSpPr>
        <p:spPr>
          <a:xfrm>
            <a:off x="731520" y="1417320"/>
            <a:ext cx="7680960" cy="41148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左半球に存在する（左半球言語優位）</a:t>
            </a:r>
            <a:endParaRPr lang="en-US" sz="1800" dirty="0"/>
          </a:p>
        </p:txBody>
      </p:sp>
      <p:sp>
        <p:nvSpPr>
          <p:cNvPr id="7" name="Shape 5"/>
          <p:cNvSpPr/>
          <p:nvPr/>
        </p:nvSpPr>
        <p:spPr>
          <a:xfrm>
            <a:off x="365760" y="2103120"/>
            <a:ext cx="4023360" cy="26517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Shape 6"/>
          <p:cNvSpPr/>
          <p:nvPr/>
        </p:nvSpPr>
        <p:spPr>
          <a:xfrm>
            <a:off x="365760" y="2103120"/>
            <a:ext cx="4023360" cy="457200"/>
          </a:xfrm>
          <a:prstGeom prst="rect">
            <a:avLst/>
          </a:prstGeom>
          <a:solidFill>
            <a:srgbClr val="28A745"/>
          </a:solidFill>
          <a:ln/>
        </p:spPr>
      </p:sp>
      <p:sp>
        <p:nvSpPr>
          <p:cNvPr id="9" name="Text 7"/>
          <p:cNvSpPr/>
          <p:nvPr/>
        </p:nvSpPr>
        <p:spPr>
          <a:xfrm>
            <a:off x="365760" y="2103120"/>
            <a:ext cx="40233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Gothic" pitchFamily="34" charset="0"/>
                <a:ea typeface="BIZ UDPGothic" pitchFamily="34" charset="-122"/>
                <a:cs typeface="BIZ UDPGothic" pitchFamily="34" charset="-120"/>
              </a:rPr>
              <a:t>右利き</a:t>
            </a:r>
            <a:endParaRPr lang="en-US" sz="1800" dirty="0"/>
          </a:p>
        </p:txBody>
      </p:sp>
      <p:sp>
        <p:nvSpPr>
          <p:cNvPr id="10" name="Text 8"/>
          <p:cNvSpPr/>
          <p:nvPr/>
        </p:nvSpPr>
        <p:spPr>
          <a:xfrm>
            <a:off x="548640" y="2697480"/>
            <a:ext cx="1280160" cy="548640"/>
          </a:xfrm>
          <a:prstGeom prst="rect">
            <a:avLst/>
          </a:prstGeom>
          <a:noFill/>
          <a:ln/>
        </p:spPr>
        <p:txBody>
          <a:bodyPr wrap="square" lIns="0" tIns="0" rIns="0" bIns="0" rtlCol="0" anchor="ctr"/>
          <a:lstStyle/>
          <a:p>
            <a:pPr algn="ctr" indent="0" marL="0">
              <a:buNone/>
            </a:pPr>
            <a:r>
              <a:rPr lang="en-US" sz="2200" b="1" dirty="0">
                <a:solidFill>
                  <a:srgbClr val="2C5AA0"/>
                </a:solidFill>
                <a:latin typeface="BIZ UDPGothic" pitchFamily="34" charset="0"/>
                <a:ea typeface="BIZ UDPGothic" pitchFamily="34" charset="-122"/>
                <a:cs typeface="BIZ UDPGothic" pitchFamily="34" charset="-120"/>
              </a:rPr>
              <a:t>約96%</a:t>
            </a:r>
            <a:endParaRPr lang="en-US" sz="2200" dirty="0"/>
          </a:p>
        </p:txBody>
      </p:sp>
      <p:sp>
        <p:nvSpPr>
          <p:cNvPr id="11" name="Text 9"/>
          <p:cNvSpPr/>
          <p:nvPr/>
        </p:nvSpPr>
        <p:spPr>
          <a:xfrm>
            <a:off x="1920240" y="2697480"/>
            <a:ext cx="2286000" cy="5486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左半球言語優位</a:t>
            </a:r>
            <a:endParaRPr lang="en-US" sz="1400" dirty="0"/>
          </a:p>
        </p:txBody>
      </p:sp>
      <p:sp>
        <p:nvSpPr>
          <p:cNvPr id="12" name="Text 10"/>
          <p:cNvSpPr/>
          <p:nvPr/>
        </p:nvSpPr>
        <p:spPr>
          <a:xfrm>
            <a:off x="548640" y="3355848"/>
            <a:ext cx="1280160" cy="548640"/>
          </a:xfrm>
          <a:prstGeom prst="rect">
            <a:avLst/>
          </a:prstGeom>
          <a:noFill/>
          <a:ln/>
        </p:spPr>
        <p:txBody>
          <a:bodyPr wrap="square" lIns="0" tIns="0" rIns="0" bIns="0" rtlCol="0" anchor="ctr"/>
          <a:lstStyle/>
          <a:p>
            <a:pPr algn="ctr" indent="0" marL="0">
              <a:buNone/>
            </a:pPr>
            <a:r>
              <a:rPr lang="en-US" sz="2200" b="1" dirty="0">
                <a:solidFill>
                  <a:srgbClr val="636E72"/>
                </a:solidFill>
                <a:latin typeface="BIZ UDPGothic" pitchFamily="34" charset="0"/>
                <a:ea typeface="BIZ UDPGothic" pitchFamily="34" charset="-122"/>
                <a:cs typeface="BIZ UDPGothic" pitchFamily="34" charset="-120"/>
              </a:rPr>
              <a:t>約4%</a:t>
            </a:r>
            <a:endParaRPr lang="en-US" sz="2200" dirty="0"/>
          </a:p>
        </p:txBody>
      </p:sp>
      <p:sp>
        <p:nvSpPr>
          <p:cNvPr id="13" name="Text 11"/>
          <p:cNvSpPr/>
          <p:nvPr/>
        </p:nvSpPr>
        <p:spPr>
          <a:xfrm>
            <a:off x="1920240" y="3355848"/>
            <a:ext cx="2286000" cy="5486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右半球 or 両側</a:t>
            </a:r>
            <a:endParaRPr lang="en-US" sz="1400" dirty="0"/>
          </a:p>
        </p:txBody>
      </p:sp>
      <p:sp>
        <p:nvSpPr>
          <p:cNvPr id="14" name="Shape 12"/>
          <p:cNvSpPr/>
          <p:nvPr/>
        </p:nvSpPr>
        <p:spPr>
          <a:xfrm>
            <a:off x="4663440" y="2103120"/>
            <a:ext cx="4023360" cy="26517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663440" y="2103120"/>
            <a:ext cx="4023360" cy="457200"/>
          </a:xfrm>
          <a:prstGeom prst="rect">
            <a:avLst/>
          </a:prstGeom>
          <a:solidFill>
            <a:srgbClr val="E8850C"/>
          </a:solidFill>
          <a:ln/>
        </p:spPr>
      </p:sp>
      <p:sp>
        <p:nvSpPr>
          <p:cNvPr id="16" name="Text 14"/>
          <p:cNvSpPr/>
          <p:nvPr/>
        </p:nvSpPr>
        <p:spPr>
          <a:xfrm>
            <a:off x="4663440" y="2103120"/>
            <a:ext cx="40233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Gothic" pitchFamily="34" charset="0"/>
                <a:ea typeface="BIZ UDPGothic" pitchFamily="34" charset="-122"/>
                <a:cs typeface="BIZ UDPGothic" pitchFamily="34" charset="-120"/>
              </a:rPr>
              <a:t>左利き</a:t>
            </a:r>
            <a:endParaRPr lang="en-US" sz="1800" dirty="0"/>
          </a:p>
        </p:txBody>
      </p:sp>
      <p:sp>
        <p:nvSpPr>
          <p:cNvPr id="17" name="Text 15"/>
          <p:cNvSpPr/>
          <p:nvPr/>
        </p:nvSpPr>
        <p:spPr>
          <a:xfrm>
            <a:off x="4846320" y="2697480"/>
            <a:ext cx="1280160" cy="548640"/>
          </a:xfrm>
          <a:prstGeom prst="rect">
            <a:avLst/>
          </a:prstGeom>
          <a:noFill/>
          <a:ln/>
        </p:spPr>
        <p:txBody>
          <a:bodyPr wrap="square" lIns="0" tIns="0" rIns="0" bIns="0" rtlCol="0" anchor="ctr"/>
          <a:lstStyle/>
          <a:p>
            <a:pPr algn="ctr" indent="0" marL="0">
              <a:buNone/>
            </a:pPr>
            <a:r>
              <a:rPr lang="en-US" sz="2200" b="1" dirty="0">
                <a:solidFill>
                  <a:srgbClr val="2C5AA0"/>
                </a:solidFill>
                <a:latin typeface="BIZ UDPGothic" pitchFamily="34" charset="0"/>
                <a:ea typeface="BIZ UDPGothic" pitchFamily="34" charset="-122"/>
                <a:cs typeface="BIZ UDPGothic" pitchFamily="34" charset="-120"/>
              </a:rPr>
              <a:t>約70%</a:t>
            </a:r>
            <a:endParaRPr lang="en-US" sz="2200" dirty="0"/>
          </a:p>
        </p:txBody>
      </p:sp>
      <p:sp>
        <p:nvSpPr>
          <p:cNvPr id="18" name="Text 16"/>
          <p:cNvSpPr/>
          <p:nvPr/>
        </p:nvSpPr>
        <p:spPr>
          <a:xfrm>
            <a:off x="6217920" y="2697480"/>
            <a:ext cx="2286000" cy="5486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左半球言語優位</a:t>
            </a:r>
            <a:endParaRPr lang="en-US" sz="1400" dirty="0"/>
          </a:p>
        </p:txBody>
      </p:sp>
      <p:sp>
        <p:nvSpPr>
          <p:cNvPr id="19" name="Text 17"/>
          <p:cNvSpPr/>
          <p:nvPr/>
        </p:nvSpPr>
        <p:spPr>
          <a:xfrm>
            <a:off x="4846320" y="3355848"/>
            <a:ext cx="1280160" cy="548640"/>
          </a:xfrm>
          <a:prstGeom prst="rect">
            <a:avLst/>
          </a:prstGeom>
          <a:noFill/>
          <a:ln/>
        </p:spPr>
        <p:txBody>
          <a:bodyPr wrap="square" lIns="0" tIns="0" rIns="0" bIns="0" rtlCol="0" anchor="ctr"/>
          <a:lstStyle/>
          <a:p>
            <a:pPr algn="ctr" indent="0" marL="0">
              <a:buNone/>
            </a:pPr>
            <a:r>
              <a:rPr lang="en-US" sz="2200" b="1" dirty="0">
                <a:solidFill>
                  <a:srgbClr val="E8850C"/>
                </a:solidFill>
                <a:latin typeface="BIZ UDPGothic" pitchFamily="34" charset="0"/>
                <a:ea typeface="BIZ UDPGothic" pitchFamily="34" charset="-122"/>
                <a:cs typeface="BIZ UDPGothic" pitchFamily="34" charset="-120"/>
              </a:rPr>
              <a:t>約15%</a:t>
            </a:r>
            <a:endParaRPr lang="en-US" sz="2200" dirty="0"/>
          </a:p>
        </p:txBody>
      </p:sp>
      <p:sp>
        <p:nvSpPr>
          <p:cNvPr id="20" name="Text 18"/>
          <p:cNvSpPr/>
          <p:nvPr/>
        </p:nvSpPr>
        <p:spPr>
          <a:xfrm>
            <a:off x="6217920" y="3355848"/>
            <a:ext cx="2286000" cy="5486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右半球言語優位</a:t>
            </a:r>
            <a:endParaRPr lang="en-US" sz="1400" dirty="0"/>
          </a:p>
        </p:txBody>
      </p:sp>
      <p:sp>
        <p:nvSpPr>
          <p:cNvPr id="21" name="Text 19"/>
          <p:cNvSpPr/>
          <p:nvPr/>
        </p:nvSpPr>
        <p:spPr>
          <a:xfrm>
            <a:off x="4846320" y="4014216"/>
            <a:ext cx="1280160" cy="548640"/>
          </a:xfrm>
          <a:prstGeom prst="rect">
            <a:avLst/>
          </a:prstGeom>
          <a:noFill/>
          <a:ln/>
        </p:spPr>
        <p:txBody>
          <a:bodyPr wrap="square" lIns="0" tIns="0" rIns="0" bIns="0" rtlCol="0" anchor="ctr"/>
          <a:lstStyle/>
          <a:p>
            <a:pPr algn="ctr" indent="0" marL="0">
              <a:buNone/>
            </a:pPr>
            <a:r>
              <a:rPr lang="en-US" sz="2200" b="1" dirty="0">
                <a:solidFill>
                  <a:srgbClr val="4A90D9"/>
                </a:solidFill>
                <a:latin typeface="BIZ UDPGothic" pitchFamily="34" charset="0"/>
                <a:ea typeface="BIZ UDPGothic" pitchFamily="34" charset="-122"/>
                <a:cs typeface="BIZ UDPGothic" pitchFamily="34" charset="-120"/>
              </a:rPr>
              <a:t>約15%</a:t>
            </a:r>
            <a:endParaRPr lang="en-US" sz="2200" dirty="0"/>
          </a:p>
        </p:txBody>
      </p:sp>
      <p:sp>
        <p:nvSpPr>
          <p:cNvPr id="22" name="Text 20"/>
          <p:cNvSpPr/>
          <p:nvPr/>
        </p:nvSpPr>
        <p:spPr>
          <a:xfrm>
            <a:off x="6217920" y="4014216"/>
            <a:ext cx="2286000" cy="5486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両半球</a:t>
            </a:r>
            <a:endParaRPr lang="en-US" sz="1400" dirty="0"/>
          </a:p>
        </p:txBody>
      </p:sp>
      <p:sp>
        <p:nvSpPr>
          <p:cNvPr id="23" name="Shape 21"/>
          <p:cNvSpPr/>
          <p:nvPr/>
        </p:nvSpPr>
        <p:spPr>
          <a:xfrm>
            <a:off x="457200" y="4617720"/>
            <a:ext cx="8229600" cy="4572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4" name="Shape 22"/>
          <p:cNvSpPr/>
          <p:nvPr/>
        </p:nvSpPr>
        <p:spPr>
          <a:xfrm>
            <a:off x="457200" y="4617720"/>
            <a:ext cx="109728" cy="457200"/>
          </a:xfrm>
          <a:prstGeom prst="rect">
            <a:avLst/>
          </a:prstGeom>
          <a:solidFill>
            <a:srgbClr val="DC3545"/>
          </a:solidFill>
          <a:ln/>
        </p:spPr>
      </p:sp>
      <p:sp>
        <p:nvSpPr>
          <p:cNvPr id="25" name="Text 23"/>
          <p:cNvSpPr/>
          <p:nvPr/>
        </p:nvSpPr>
        <p:spPr>
          <a:xfrm>
            <a:off x="685800" y="4617720"/>
            <a:ext cx="7863840" cy="457200"/>
          </a:xfrm>
          <a:prstGeom prst="rect">
            <a:avLst/>
          </a:prstGeom>
          <a:noFill/>
          <a:ln/>
        </p:spPr>
        <p:txBody>
          <a:bodyPr wrap="square" lIns="0" tIns="0" rIns="0" bIns="0" rtlCol="0" anchor="ctr"/>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臨床的注意：脳卒中・てんかん手術では利き手だけで言語優位半球を決定できない → fMRI・Wada試験で個別評価</a:t>
            </a:r>
            <a:endParaRPr lang="en-US" sz="1200" dirty="0"/>
          </a:p>
        </p:txBody>
      </p:sp>
      <p:sp>
        <p:nvSpPr>
          <p:cNvPr id="26" name="Text 24"/>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6/10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左利きにまつわる誤解と事実</a:t>
            </a:r>
            <a:endParaRPr lang="en-US" sz="2400" dirty="0"/>
          </a:p>
        </p:txBody>
      </p:sp>
      <p:sp>
        <p:nvSpPr>
          <p:cNvPr id="4" name="Shape 2"/>
          <p:cNvSpPr/>
          <p:nvPr/>
        </p:nvSpPr>
        <p:spPr>
          <a:xfrm>
            <a:off x="457200" y="1005840"/>
            <a:ext cx="8229600" cy="10972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3474720" cy="411480"/>
          </a:xfrm>
          <a:prstGeom prst="rect">
            <a:avLst/>
          </a:prstGeom>
          <a:solidFill>
            <a:srgbClr val="FFEBEE"/>
          </a:solidFill>
          <a:ln/>
        </p:spPr>
      </p:sp>
      <p:sp>
        <p:nvSpPr>
          <p:cNvPr id="6" name="Text 4"/>
          <p:cNvSpPr/>
          <p:nvPr/>
        </p:nvSpPr>
        <p:spPr>
          <a:xfrm>
            <a:off x="640080" y="1005840"/>
            <a:ext cx="3291840" cy="411480"/>
          </a:xfrm>
          <a:prstGeom prst="rect">
            <a:avLst/>
          </a:prstGeom>
          <a:noFill/>
          <a:ln/>
        </p:spPr>
        <p:txBody>
          <a:bodyPr wrap="square" lIns="0" tIns="0" rIns="0" bIns="0" rtlCol="0" anchor="ctr"/>
          <a:lstStyle/>
          <a:p>
            <a:pPr indent="0" marL="0">
              <a:buNone/>
            </a:pPr>
            <a:r>
              <a:rPr lang="en-US" sz="1400" b="1" dirty="0">
                <a:solidFill>
                  <a:srgbClr val="DC3545"/>
                </a:solidFill>
                <a:latin typeface="BIZ UDPGothic" pitchFamily="34" charset="0"/>
                <a:ea typeface="BIZ UDPGothic" pitchFamily="34" charset="-122"/>
                <a:cs typeface="BIZ UDPGothic" pitchFamily="34" charset="-120"/>
              </a:rPr>
              <a:t>✗  誤解  「左利きは右脳人間」</a:t>
            </a:r>
            <a:endParaRPr lang="en-US" sz="1400" dirty="0"/>
          </a:p>
        </p:txBody>
      </p:sp>
      <p:sp>
        <p:nvSpPr>
          <p:cNvPr id="7" name="Shape 5"/>
          <p:cNvSpPr/>
          <p:nvPr/>
        </p:nvSpPr>
        <p:spPr>
          <a:xfrm>
            <a:off x="457200" y="1417320"/>
            <a:ext cx="8229600" cy="685800"/>
          </a:xfrm>
          <a:prstGeom prst="rect">
            <a:avLst/>
          </a:prstGeom>
          <a:solidFill>
            <a:srgbClr val="E8F4FD"/>
          </a:solidFill>
          <a:ln/>
        </p:spPr>
      </p:sp>
      <p:sp>
        <p:nvSpPr>
          <p:cNvPr id="8" name="Text 6"/>
          <p:cNvSpPr/>
          <p:nvPr/>
        </p:nvSpPr>
        <p:spPr>
          <a:xfrm>
            <a:off x="640080" y="1417320"/>
            <a:ext cx="7863840" cy="685800"/>
          </a:xfrm>
          <a:prstGeom prst="rect">
            <a:avLst/>
          </a:prstGeom>
          <a:noFill/>
          <a:ln/>
        </p:spPr>
        <p:txBody>
          <a:bodyPr wrap="square" lIns="0" tIns="50800" rIns="50800" bIns="0" rtlCol="0" anchor="ctr"/>
          <a:lstStyle/>
          <a:p>
            <a:pPr indent="0" marL="0">
              <a:lnSpc>
                <a:spcPct val="120000"/>
              </a:lnSpc>
              <a:buNone/>
            </a:pPr>
            <a:r>
              <a:rPr lang="en-US" sz="1300" b="1" dirty="0">
                <a:solidFill>
                  <a:srgbClr val="2C5AA0"/>
                </a:solidFill>
                <a:latin typeface="BIZ UDPGothic" pitchFamily="34" charset="0"/>
                <a:ea typeface="BIZ UDPGothic" pitchFamily="34" charset="-122"/>
                <a:cs typeface="BIZ UDPGothic" pitchFamily="34" charset="-120"/>
              </a:rPr>
              <a:t>事実  </a:t>
            </a:r>
            <a:pP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左利きの約70%は右利きと同じく左脳で言語処理。大規模研究では利き手と創造性・IQ・芸術的才能に有意な相関なし</a:t>
            </a:r>
            <a:endParaRPr lang="en-US" sz="1300" dirty="0"/>
          </a:p>
        </p:txBody>
      </p:sp>
      <p:sp>
        <p:nvSpPr>
          <p:cNvPr id="9" name="Shape 7"/>
          <p:cNvSpPr/>
          <p:nvPr/>
        </p:nvSpPr>
        <p:spPr>
          <a:xfrm>
            <a:off x="457200" y="2286000"/>
            <a:ext cx="8229600" cy="10972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86000"/>
            <a:ext cx="3474720" cy="411480"/>
          </a:xfrm>
          <a:prstGeom prst="rect">
            <a:avLst/>
          </a:prstGeom>
          <a:solidFill>
            <a:srgbClr val="FFEBEE"/>
          </a:solidFill>
          <a:ln/>
        </p:spPr>
      </p:sp>
      <p:sp>
        <p:nvSpPr>
          <p:cNvPr id="11" name="Text 9"/>
          <p:cNvSpPr/>
          <p:nvPr/>
        </p:nvSpPr>
        <p:spPr>
          <a:xfrm>
            <a:off x="640080" y="2286000"/>
            <a:ext cx="3291840" cy="411480"/>
          </a:xfrm>
          <a:prstGeom prst="rect">
            <a:avLst/>
          </a:prstGeom>
          <a:noFill/>
          <a:ln/>
        </p:spPr>
        <p:txBody>
          <a:bodyPr wrap="square" lIns="0" tIns="0" rIns="0" bIns="0" rtlCol="0" anchor="ctr"/>
          <a:lstStyle/>
          <a:p>
            <a:pPr indent="0" marL="0">
              <a:buNone/>
            </a:pPr>
            <a:r>
              <a:rPr lang="en-US" sz="1400" b="1" dirty="0">
                <a:solidFill>
                  <a:srgbClr val="DC3545"/>
                </a:solidFill>
                <a:latin typeface="BIZ UDPGothic" pitchFamily="34" charset="0"/>
                <a:ea typeface="BIZ UDPGothic" pitchFamily="34" charset="-122"/>
                <a:cs typeface="BIZ UDPGothic" pitchFamily="34" charset="-120"/>
              </a:rPr>
              <a:t>✗  誤解  「左利きは矯正すべき」</a:t>
            </a:r>
            <a:endParaRPr lang="en-US" sz="1400" dirty="0"/>
          </a:p>
        </p:txBody>
      </p:sp>
      <p:sp>
        <p:nvSpPr>
          <p:cNvPr id="12" name="Shape 10"/>
          <p:cNvSpPr/>
          <p:nvPr/>
        </p:nvSpPr>
        <p:spPr>
          <a:xfrm>
            <a:off x="457200" y="2697480"/>
            <a:ext cx="8229600" cy="685800"/>
          </a:xfrm>
          <a:prstGeom prst="rect">
            <a:avLst/>
          </a:prstGeom>
          <a:solidFill>
            <a:srgbClr val="E8F4FD"/>
          </a:solidFill>
          <a:ln/>
        </p:spPr>
      </p:sp>
      <p:sp>
        <p:nvSpPr>
          <p:cNvPr id="13" name="Text 11"/>
          <p:cNvSpPr/>
          <p:nvPr/>
        </p:nvSpPr>
        <p:spPr>
          <a:xfrm>
            <a:off x="640080" y="2697480"/>
            <a:ext cx="7863840" cy="685800"/>
          </a:xfrm>
          <a:prstGeom prst="rect">
            <a:avLst/>
          </a:prstGeom>
          <a:noFill/>
          <a:ln/>
        </p:spPr>
        <p:txBody>
          <a:bodyPr wrap="square" lIns="0" tIns="50800" rIns="50800" bIns="0" rtlCol="0" anchor="ctr"/>
          <a:lstStyle/>
          <a:p>
            <a:pPr indent="0" marL="0">
              <a:lnSpc>
                <a:spcPct val="120000"/>
              </a:lnSpc>
              <a:buNone/>
            </a:pPr>
            <a:r>
              <a:rPr lang="en-US" sz="1300" b="1" dirty="0">
                <a:solidFill>
                  <a:srgbClr val="2C5AA0"/>
                </a:solidFill>
                <a:latin typeface="BIZ UDPGothic" pitchFamily="34" charset="0"/>
                <a:ea typeface="BIZ UDPGothic" pitchFamily="34" charset="-122"/>
                <a:cs typeface="BIZ UDPGothic" pitchFamily="34" charset="-120"/>
              </a:rPr>
              <a:t>事実  </a:t>
            </a:r>
            <a:pP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強制的な矯正は吃音・情緒不安定・学習困難のリスクを高める可能性が指摘されており、現在では推奨されない</a:t>
            </a:r>
            <a:endParaRPr lang="en-US" sz="1300" dirty="0"/>
          </a:p>
        </p:txBody>
      </p:sp>
      <p:sp>
        <p:nvSpPr>
          <p:cNvPr id="14" name="Shape 12"/>
          <p:cNvSpPr/>
          <p:nvPr/>
        </p:nvSpPr>
        <p:spPr>
          <a:xfrm>
            <a:off x="457200" y="3566160"/>
            <a:ext cx="8229600" cy="10972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566160"/>
            <a:ext cx="3474720" cy="411480"/>
          </a:xfrm>
          <a:prstGeom prst="rect">
            <a:avLst/>
          </a:prstGeom>
          <a:solidFill>
            <a:srgbClr val="FFEBEE"/>
          </a:solidFill>
          <a:ln/>
        </p:spPr>
      </p:sp>
      <p:sp>
        <p:nvSpPr>
          <p:cNvPr id="16" name="Text 14"/>
          <p:cNvSpPr/>
          <p:nvPr/>
        </p:nvSpPr>
        <p:spPr>
          <a:xfrm>
            <a:off x="640080" y="3566160"/>
            <a:ext cx="3291840" cy="411480"/>
          </a:xfrm>
          <a:prstGeom prst="rect">
            <a:avLst/>
          </a:prstGeom>
          <a:noFill/>
          <a:ln/>
        </p:spPr>
        <p:txBody>
          <a:bodyPr wrap="square" lIns="0" tIns="0" rIns="0" bIns="0" rtlCol="0" anchor="ctr"/>
          <a:lstStyle/>
          <a:p>
            <a:pPr indent="0" marL="0">
              <a:buNone/>
            </a:pPr>
            <a:r>
              <a:rPr lang="en-US" sz="1400" b="1" dirty="0">
                <a:solidFill>
                  <a:srgbClr val="DC3545"/>
                </a:solidFill>
                <a:latin typeface="BIZ UDPGothic" pitchFamily="34" charset="0"/>
                <a:ea typeface="BIZ UDPGothic" pitchFamily="34" charset="-122"/>
                <a:cs typeface="BIZ UDPGothic" pitchFamily="34" charset="-120"/>
              </a:rPr>
              <a:t>✗  誤解  「左利きは少数派＝異常」</a:t>
            </a:r>
            <a:endParaRPr lang="en-US" sz="1400" dirty="0"/>
          </a:p>
        </p:txBody>
      </p:sp>
      <p:sp>
        <p:nvSpPr>
          <p:cNvPr id="17" name="Shape 15"/>
          <p:cNvSpPr/>
          <p:nvPr/>
        </p:nvSpPr>
        <p:spPr>
          <a:xfrm>
            <a:off x="457200" y="3977640"/>
            <a:ext cx="8229600" cy="685800"/>
          </a:xfrm>
          <a:prstGeom prst="rect">
            <a:avLst/>
          </a:prstGeom>
          <a:solidFill>
            <a:srgbClr val="E8F4FD"/>
          </a:solidFill>
          <a:ln/>
        </p:spPr>
      </p:sp>
      <p:sp>
        <p:nvSpPr>
          <p:cNvPr id="18" name="Text 16"/>
          <p:cNvSpPr/>
          <p:nvPr/>
        </p:nvSpPr>
        <p:spPr>
          <a:xfrm>
            <a:off x="640080" y="3977640"/>
            <a:ext cx="7863840" cy="685800"/>
          </a:xfrm>
          <a:prstGeom prst="rect">
            <a:avLst/>
          </a:prstGeom>
          <a:noFill/>
          <a:ln/>
        </p:spPr>
        <p:txBody>
          <a:bodyPr wrap="square" lIns="0" tIns="50800" rIns="50800" bIns="0" rtlCol="0" anchor="ctr"/>
          <a:lstStyle/>
          <a:p>
            <a:pPr indent="0" marL="0">
              <a:lnSpc>
                <a:spcPct val="120000"/>
              </a:lnSpc>
              <a:buNone/>
            </a:pPr>
            <a:r>
              <a:rPr lang="en-US" sz="1300" b="1" dirty="0">
                <a:solidFill>
                  <a:srgbClr val="2C5AA0"/>
                </a:solidFill>
                <a:latin typeface="BIZ UDPGothic" pitchFamily="34" charset="0"/>
                <a:ea typeface="BIZ UDPGothic" pitchFamily="34" charset="-122"/>
                <a:cs typeface="BIZ UDPGothic" pitchFamily="34" charset="-120"/>
              </a:rPr>
              <a:t>事実  </a:t>
            </a:r>
            <a:pP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約10%という割合は何千年もの人類史を通じてほぼ一定。進化的に淘汰されなかったことは左利きに適応的優位性がある可能性を示す（サウスポー効果）</a:t>
            </a:r>
            <a:endParaRPr lang="en-US" sz="1300" dirty="0"/>
          </a:p>
        </p:txBody>
      </p:sp>
      <p:sp>
        <p:nvSpPr>
          <p:cNvPr id="19" name="Text 17"/>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7/10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矯正の問題 ― なぜ左利きを直さないのか</a:t>
            </a:r>
            <a:endParaRPr lang="en-US" sz="2400" dirty="0"/>
          </a:p>
        </p:txBody>
      </p:sp>
      <p:sp>
        <p:nvSpPr>
          <p:cNvPr id="4" name="Shape 2"/>
          <p:cNvSpPr/>
          <p:nvPr/>
        </p:nvSpPr>
        <p:spPr>
          <a:xfrm>
            <a:off x="457200" y="1005840"/>
            <a:ext cx="8229600" cy="9144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731520" y="1051560"/>
            <a:ext cx="3657600" cy="36576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かつての矯正の歴史</a:t>
            </a:r>
            <a:endParaRPr lang="en-US" sz="1600" dirty="0"/>
          </a:p>
        </p:txBody>
      </p:sp>
      <p:sp>
        <p:nvSpPr>
          <p:cNvPr id="6" name="Text 4"/>
          <p:cNvSpPr/>
          <p:nvPr/>
        </p:nvSpPr>
        <p:spPr>
          <a:xfrm>
            <a:off x="731520" y="1417320"/>
            <a:ext cx="7680960" cy="457200"/>
          </a:xfrm>
          <a:prstGeom prst="rect">
            <a:avLst/>
          </a:prstGeom>
          <a:noFill/>
          <a:ln/>
        </p:spPr>
        <p:txBody>
          <a:bodyPr wrap="square" lIns="0" tIns="0" rIns="0" bIns="0" rtlCol="0" anchor="ctr"/>
          <a:lstStyle/>
          <a:p>
            <a:pPr indent="0" marL="0">
              <a:lnSpc>
                <a:spcPct val="130000"/>
              </a:lnSpc>
              <a:buNone/>
            </a:pPr>
            <a:r>
              <a:rPr lang="en-US" sz="1300" dirty="0">
                <a:solidFill>
                  <a:srgbClr val="2D3436"/>
                </a:solidFill>
                <a:latin typeface="BIZ UDPGothic" pitchFamily="34" charset="0"/>
                <a:ea typeface="BIZ UDPGothic" pitchFamily="34" charset="-122"/>
                <a:cs typeface="BIZ UDPGothic" pitchFamily="34" charset="-120"/>
              </a:rPr>
              <a:t>多くの国で20世紀中盤まで学校・家庭での左手矯正が行われていた。</a:t>
            </a:r>
            <a:endParaRPr lang="en-US" sz="1300" dirty="0"/>
          </a:p>
          <a:p>
            <a:pPr indent="0" marL="0">
              <a:lnSpc>
                <a:spcPct val="130000"/>
              </a:lnSpc>
              <a:buNone/>
            </a:pPr>
            <a:r>
              <a:rPr lang="en-US" sz="1300" dirty="0">
                <a:solidFill>
                  <a:srgbClr val="2D3436"/>
                </a:solidFill>
                <a:latin typeface="BIZ UDPGothic" pitchFamily="34" charset="0"/>
                <a:ea typeface="BIZ UDPGothic" pitchFamily="34" charset="-122"/>
                <a:cs typeface="BIZ UDPGothic" pitchFamily="34" charset="-120"/>
              </a:rPr>
              <a:t>現在は神経発達的根拠から「矯正しない」が国際的標準</a:t>
            </a:r>
            <a:endParaRPr lang="en-US" sz="1300" dirty="0"/>
          </a:p>
        </p:txBody>
      </p:sp>
      <p:sp>
        <p:nvSpPr>
          <p:cNvPr id="7" name="Shape 5"/>
          <p:cNvSpPr/>
          <p:nvPr/>
        </p:nvSpPr>
        <p:spPr>
          <a:xfrm>
            <a:off x="365760" y="2194560"/>
            <a:ext cx="2651760" cy="19202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Text 6"/>
          <p:cNvSpPr/>
          <p:nvPr/>
        </p:nvSpPr>
        <p:spPr>
          <a:xfrm>
            <a:off x="365760" y="2286000"/>
            <a:ext cx="265176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9" name="Shape 7"/>
          <p:cNvSpPr/>
          <p:nvPr/>
        </p:nvSpPr>
        <p:spPr>
          <a:xfrm>
            <a:off x="365760" y="2880360"/>
            <a:ext cx="2651760" cy="411480"/>
          </a:xfrm>
          <a:prstGeom prst="rect">
            <a:avLst/>
          </a:prstGeom>
          <a:solidFill>
            <a:srgbClr val="DC3545"/>
          </a:solidFill>
          <a:ln/>
        </p:spPr>
      </p:sp>
      <p:sp>
        <p:nvSpPr>
          <p:cNvPr id="10" name="Text 8"/>
          <p:cNvSpPr/>
          <p:nvPr/>
        </p:nvSpPr>
        <p:spPr>
          <a:xfrm>
            <a:off x="365760" y="2880360"/>
            <a:ext cx="26517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吃音リスク</a:t>
            </a:r>
            <a:endParaRPr lang="en-US" sz="1400" dirty="0"/>
          </a:p>
        </p:txBody>
      </p:sp>
      <p:sp>
        <p:nvSpPr>
          <p:cNvPr id="11" name="Text 9"/>
          <p:cNvSpPr/>
          <p:nvPr/>
        </p:nvSpPr>
        <p:spPr>
          <a:xfrm>
            <a:off x="457200" y="3337560"/>
            <a:ext cx="2468880" cy="731520"/>
          </a:xfrm>
          <a:prstGeom prst="rect">
            <a:avLst/>
          </a:prstGeom>
          <a:noFill/>
          <a:ln/>
        </p:spPr>
        <p:txBody>
          <a:bodyPr wrap="square" lIns="0" tIns="0" rIns="0" bIns="0" rtlCol="0" anchor="t"/>
          <a:lstStyle/>
          <a:p>
            <a:pPr algn="ct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強制矯正と吃音発症の関連が報告されている。言語野への影響が示唆される</a:t>
            </a:r>
            <a:endParaRPr lang="en-US" sz="1200" dirty="0"/>
          </a:p>
        </p:txBody>
      </p:sp>
      <p:sp>
        <p:nvSpPr>
          <p:cNvPr id="12" name="Shape 10"/>
          <p:cNvSpPr/>
          <p:nvPr/>
        </p:nvSpPr>
        <p:spPr>
          <a:xfrm>
            <a:off x="3200400" y="2194560"/>
            <a:ext cx="2651760" cy="19202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Text 11"/>
          <p:cNvSpPr/>
          <p:nvPr/>
        </p:nvSpPr>
        <p:spPr>
          <a:xfrm>
            <a:off x="3200400" y="2286000"/>
            <a:ext cx="265176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4" name="Shape 12"/>
          <p:cNvSpPr/>
          <p:nvPr/>
        </p:nvSpPr>
        <p:spPr>
          <a:xfrm>
            <a:off x="3200400" y="2880360"/>
            <a:ext cx="2651760" cy="411480"/>
          </a:xfrm>
          <a:prstGeom prst="rect">
            <a:avLst/>
          </a:prstGeom>
          <a:solidFill>
            <a:srgbClr val="DC3545"/>
          </a:solidFill>
          <a:ln/>
        </p:spPr>
      </p:sp>
      <p:sp>
        <p:nvSpPr>
          <p:cNvPr id="15" name="Text 13"/>
          <p:cNvSpPr/>
          <p:nvPr/>
        </p:nvSpPr>
        <p:spPr>
          <a:xfrm>
            <a:off x="3200400" y="2880360"/>
            <a:ext cx="26517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情緒不安定</a:t>
            </a:r>
            <a:endParaRPr lang="en-US" sz="1400" dirty="0"/>
          </a:p>
        </p:txBody>
      </p:sp>
      <p:sp>
        <p:nvSpPr>
          <p:cNvPr id="16" name="Text 14"/>
          <p:cNvSpPr/>
          <p:nvPr/>
        </p:nvSpPr>
        <p:spPr>
          <a:xfrm>
            <a:off x="3291840" y="3337560"/>
            <a:ext cx="2468880" cy="731520"/>
          </a:xfrm>
          <a:prstGeom prst="rect">
            <a:avLst/>
          </a:prstGeom>
          <a:noFill/>
          <a:ln/>
        </p:spPr>
        <p:txBody>
          <a:bodyPr wrap="square" lIns="0" tIns="0" rIns="0" bIns="0" rtlCol="0" anchor="t"/>
          <a:lstStyle/>
          <a:p>
            <a:pPr algn="ct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矯正ストレスにより情緒的な問題が生じる可能性が指摘されている</a:t>
            </a:r>
            <a:endParaRPr lang="en-US" sz="1200" dirty="0"/>
          </a:p>
        </p:txBody>
      </p:sp>
      <p:sp>
        <p:nvSpPr>
          <p:cNvPr id="17" name="Shape 15"/>
          <p:cNvSpPr/>
          <p:nvPr/>
        </p:nvSpPr>
        <p:spPr>
          <a:xfrm>
            <a:off x="6035040" y="2194560"/>
            <a:ext cx="2651760" cy="19202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8" name="Text 16"/>
          <p:cNvSpPr/>
          <p:nvPr/>
        </p:nvSpPr>
        <p:spPr>
          <a:xfrm>
            <a:off x="6035040" y="2286000"/>
            <a:ext cx="265176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9" name="Shape 17"/>
          <p:cNvSpPr/>
          <p:nvPr/>
        </p:nvSpPr>
        <p:spPr>
          <a:xfrm>
            <a:off x="6035040" y="2880360"/>
            <a:ext cx="2651760" cy="411480"/>
          </a:xfrm>
          <a:prstGeom prst="rect">
            <a:avLst/>
          </a:prstGeom>
          <a:solidFill>
            <a:srgbClr val="DC3545"/>
          </a:solidFill>
          <a:ln/>
        </p:spPr>
      </p:sp>
      <p:sp>
        <p:nvSpPr>
          <p:cNvPr id="20" name="Text 18"/>
          <p:cNvSpPr/>
          <p:nvPr/>
        </p:nvSpPr>
        <p:spPr>
          <a:xfrm>
            <a:off x="6035040" y="2880360"/>
            <a:ext cx="26517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学習困難</a:t>
            </a:r>
            <a:endParaRPr lang="en-US" sz="1400" dirty="0"/>
          </a:p>
        </p:txBody>
      </p:sp>
      <p:sp>
        <p:nvSpPr>
          <p:cNvPr id="21" name="Text 19"/>
          <p:cNvSpPr/>
          <p:nvPr/>
        </p:nvSpPr>
        <p:spPr>
          <a:xfrm>
            <a:off x="6126480" y="3337560"/>
            <a:ext cx="2468880" cy="731520"/>
          </a:xfrm>
          <a:prstGeom prst="rect">
            <a:avLst/>
          </a:prstGeom>
          <a:noFill/>
          <a:ln/>
        </p:spPr>
        <p:txBody>
          <a:bodyPr wrap="square" lIns="0" tIns="0" rIns="0" bIns="0" rtlCol="0" anchor="t"/>
          <a:lstStyle/>
          <a:p>
            <a:pPr algn="ct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利き手と異なる手の使用強制が学習への集中を妨げることがある</a:t>
            </a:r>
            <a:endParaRPr lang="en-US" sz="1200" dirty="0"/>
          </a:p>
        </p:txBody>
      </p:sp>
      <p:sp>
        <p:nvSpPr>
          <p:cNvPr id="22" name="Shape 20"/>
          <p:cNvSpPr/>
          <p:nvPr/>
        </p:nvSpPr>
        <p:spPr>
          <a:xfrm>
            <a:off x="457200" y="4343400"/>
            <a:ext cx="8229600" cy="6858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3" name="Shape 21"/>
          <p:cNvSpPr/>
          <p:nvPr/>
        </p:nvSpPr>
        <p:spPr>
          <a:xfrm>
            <a:off x="457200" y="4343400"/>
            <a:ext cx="109728" cy="685800"/>
          </a:xfrm>
          <a:prstGeom prst="rect">
            <a:avLst/>
          </a:prstGeom>
          <a:solidFill>
            <a:srgbClr val="28A745"/>
          </a:solidFill>
          <a:ln/>
        </p:spPr>
      </p:sp>
      <p:sp>
        <p:nvSpPr>
          <p:cNvPr id="24" name="Text 22"/>
          <p:cNvSpPr/>
          <p:nvPr/>
        </p:nvSpPr>
        <p:spPr>
          <a:xfrm>
            <a:off x="731520" y="4343400"/>
            <a:ext cx="7863840" cy="68580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左利きのままでよい。</a:t>
            </a:r>
            <a:pPr indent="0" marL="0">
              <a:buNone/>
            </a:pPr>
            <a:r>
              <a:rPr lang="en-US" sz="1400" dirty="0">
                <a:solidFill>
                  <a:srgbClr val="2D3436"/>
                </a:solidFill>
                <a:latin typeface="BIZ UDPGothic" pitchFamily="34" charset="0"/>
                <a:ea typeface="BIZ UDPGothic" pitchFamily="34" charset="-122"/>
                <a:cs typeface="BIZ UDPGothic" pitchFamily="34" charset="-120"/>
              </a:rPr>
              <a:t> 日常生活・学業・スポーツに支障なし。左利き用道具も充実している。</a:t>
            </a:r>
            <a:endParaRPr lang="en-US" sz="1600" dirty="0"/>
          </a:p>
        </p:txBody>
      </p:sp>
      <p:sp>
        <p:nvSpPr>
          <p:cNvPr id="25" name="Text 23"/>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8/10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こんなときは要注意 ― 利き手が変わる場合</a:t>
            </a:r>
            <a:endParaRPr lang="en-US" sz="2400" dirty="0"/>
          </a:p>
        </p:txBody>
      </p:sp>
      <p:sp>
        <p:nvSpPr>
          <p:cNvPr id="4" name="Text 2"/>
          <p:cNvSpPr/>
          <p:nvPr/>
        </p:nvSpPr>
        <p:spPr>
          <a:xfrm>
            <a:off x="457200" y="960120"/>
            <a:ext cx="8229600" cy="594360"/>
          </a:xfrm>
          <a:prstGeom prst="rect">
            <a:avLst/>
          </a:prstGeom>
          <a:noFill/>
          <a:ln/>
        </p:spPr>
        <p:txBody>
          <a:bodyPr wrap="square" lIns="0" tIns="0" rIns="0" bIns="0" rtlCol="0" anchor="ctr"/>
          <a:lstStyle/>
          <a:p>
            <a:pPr indent="0" marL="0">
              <a:lnSpc>
                <a:spcPct val="130000"/>
              </a:lnSpc>
              <a:buNone/>
            </a:pPr>
            <a:r>
              <a:rPr lang="en-US" sz="1400" dirty="0">
                <a:solidFill>
                  <a:srgbClr val="2D3436"/>
                </a:solidFill>
                <a:latin typeface="BIZ UDPGothic" pitchFamily="34" charset="0"/>
                <a:ea typeface="BIZ UDPGothic" pitchFamily="34" charset="-122"/>
                <a:cs typeface="BIZ UDPGothic" pitchFamily="34" charset="-120"/>
              </a:rPr>
              <a:t>利き手は通常、幼少期に確立すると生涯変わりません。成人後に利き手が変わる・変わった感じがする場合は神経疾患のサインの可能性があります。</a:t>
            </a:r>
            <a:endParaRPr lang="en-US" sz="1400" dirty="0"/>
          </a:p>
        </p:txBody>
      </p:sp>
      <p:sp>
        <p:nvSpPr>
          <p:cNvPr id="5" name="Shape 3"/>
          <p:cNvSpPr/>
          <p:nvPr/>
        </p:nvSpPr>
        <p:spPr>
          <a:xfrm>
            <a:off x="457200" y="1737360"/>
            <a:ext cx="8229600" cy="457200"/>
          </a:xfrm>
          <a:prstGeom prst="rect">
            <a:avLst/>
          </a:prstGeom>
          <a:solidFill>
            <a:srgbClr val="DC3545"/>
          </a:solidFill>
          <a:ln/>
        </p:spPr>
      </p:sp>
      <p:sp>
        <p:nvSpPr>
          <p:cNvPr id="6" name="Text 4"/>
          <p:cNvSpPr/>
          <p:nvPr/>
        </p:nvSpPr>
        <p:spPr>
          <a:xfrm>
            <a:off x="640080" y="1737360"/>
            <a:ext cx="7863840" cy="457200"/>
          </a:xfrm>
          <a:prstGeom prst="rect">
            <a:avLst/>
          </a:prstGeom>
          <a:noFill/>
          <a:ln/>
        </p:spPr>
        <p:txBody>
          <a:bodyPr wrap="square" lIns="0" tIns="0" rIns="0" bIns="0" rtlCol="0" anchor="ctr"/>
          <a:lstStyle/>
          <a:p>
            <a:pPr indent="0" marL="0">
              <a:buNone/>
            </a:pPr>
            <a:r>
              <a:rPr lang="en-US" sz="1600" b="1" dirty="0">
                <a:solidFill>
                  <a:srgbClr val="FFFFFF"/>
                </a:solidFill>
                <a:latin typeface="BIZ UDPGothic" pitchFamily="34" charset="0"/>
                <a:ea typeface="BIZ UDPGothic" pitchFamily="34" charset="-122"/>
                <a:cs typeface="BIZ UDPGothic" pitchFamily="34" charset="-120"/>
              </a:rPr>
              <a:t>受診を考えたほうがよい「利き手の変化」</a:t>
            </a:r>
            <a:endParaRPr lang="en-US" sz="1600" dirty="0"/>
          </a:p>
        </p:txBody>
      </p:sp>
      <p:sp>
        <p:nvSpPr>
          <p:cNvPr id="7" name="Shape 5"/>
          <p:cNvSpPr/>
          <p:nvPr/>
        </p:nvSpPr>
        <p:spPr>
          <a:xfrm>
            <a:off x="457200" y="2286000"/>
            <a:ext cx="8229600" cy="438912"/>
          </a:xfrm>
          <a:prstGeom prst="rect">
            <a:avLst/>
          </a:prstGeom>
          <a:solidFill>
            <a:srgbClr val="FFF5F5"/>
          </a:solidFill>
          <a:ln/>
        </p:spPr>
      </p:sp>
      <p:sp>
        <p:nvSpPr>
          <p:cNvPr id="8" name="Shape 6"/>
          <p:cNvSpPr/>
          <p:nvPr/>
        </p:nvSpPr>
        <p:spPr>
          <a:xfrm>
            <a:off x="594360" y="2368296"/>
            <a:ext cx="274320" cy="274320"/>
          </a:xfrm>
          <a:prstGeom prst="ellipse">
            <a:avLst/>
          </a:prstGeom>
          <a:solidFill>
            <a:srgbClr val="DC3545"/>
          </a:solidFill>
          <a:ln/>
        </p:spPr>
      </p:sp>
      <p:sp>
        <p:nvSpPr>
          <p:cNvPr id="9" name="Text 7"/>
          <p:cNvSpPr/>
          <p:nvPr/>
        </p:nvSpPr>
        <p:spPr>
          <a:xfrm>
            <a:off x="1005840" y="2286000"/>
            <a:ext cx="7498080" cy="438912"/>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以前は問題なく使えていた利き手が急に不器用になった</a:t>
            </a:r>
            <a:endParaRPr lang="en-US" sz="1300" dirty="0"/>
          </a:p>
        </p:txBody>
      </p:sp>
      <p:sp>
        <p:nvSpPr>
          <p:cNvPr id="10" name="Shape 8"/>
          <p:cNvSpPr/>
          <p:nvPr/>
        </p:nvSpPr>
        <p:spPr>
          <a:xfrm>
            <a:off x="457200" y="2761488"/>
            <a:ext cx="8229600" cy="438912"/>
          </a:xfrm>
          <a:prstGeom prst="rect">
            <a:avLst/>
          </a:prstGeom>
          <a:solidFill>
            <a:srgbClr val="FFFFFF"/>
          </a:solidFill>
          <a:ln/>
        </p:spPr>
      </p:sp>
      <p:sp>
        <p:nvSpPr>
          <p:cNvPr id="11" name="Shape 9"/>
          <p:cNvSpPr/>
          <p:nvPr/>
        </p:nvSpPr>
        <p:spPr>
          <a:xfrm>
            <a:off x="594360" y="2843784"/>
            <a:ext cx="274320" cy="274320"/>
          </a:xfrm>
          <a:prstGeom prst="ellipse">
            <a:avLst/>
          </a:prstGeom>
          <a:solidFill>
            <a:srgbClr val="DC3545"/>
          </a:solidFill>
          <a:ln/>
        </p:spPr>
      </p:sp>
      <p:sp>
        <p:nvSpPr>
          <p:cNvPr id="12" name="Text 10"/>
          <p:cNvSpPr/>
          <p:nvPr/>
        </p:nvSpPr>
        <p:spPr>
          <a:xfrm>
            <a:off x="1005840" y="2761488"/>
            <a:ext cx="7498080" cy="438912"/>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利き手の手・腕に力が入らない、または震える</a:t>
            </a:r>
            <a:endParaRPr lang="en-US" sz="1300" dirty="0"/>
          </a:p>
        </p:txBody>
      </p:sp>
      <p:sp>
        <p:nvSpPr>
          <p:cNvPr id="13" name="Shape 11"/>
          <p:cNvSpPr/>
          <p:nvPr/>
        </p:nvSpPr>
        <p:spPr>
          <a:xfrm>
            <a:off x="457200" y="3236976"/>
            <a:ext cx="8229600" cy="438912"/>
          </a:xfrm>
          <a:prstGeom prst="rect">
            <a:avLst/>
          </a:prstGeom>
          <a:solidFill>
            <a:srgbClr val="FFF5F5"/>
          </a:solidFill>
          <a:ln/>
        </p:spPr>
      </p:sp>
      <p:sp>
        <p:nvSpPr>
          <p:cNvPr id="14" name="Shape 12"/>
          <p:cNvSpPr/>
          <p:nvPr/>
        </p:nvSpPr>
        <p:spPr>
          <a:xfrm>
            <a:off x="594360" y="3319272"/>
            <a:ext cx="274320" cy="274320"/>
          </a:xfrm>
          <a:prstGeom prst="ellipse">
            <a:avLst/>
          </a:prstGeom>
          <a:solidFill>
            <a:srgbClr val="DC3545"/>
          </a:solidFill>
          <a:ln/>
        </p:spPr>
      </p:sp>
      <p:sp>
        <p:nvSpPr>
          <p:cNvPr id="15" name="Text 13"/>
          <p:cNvSpPr/>
          <p:nvPr/>
        </p:nvSpPr>
        <p:spPr>
          <a:xfrm>
            <a:off x="1005840" y="3236976"/>
            <a:ext cx="7498080" cy="438912"/>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細かい作業（箸・ボタン・字を書く）が急に難しくなった</a:t>
            </a:r>
            <a:endParaRPr lang="en-US" sz="1300" dirty="0"/>
          </a:p>
        </p:txBody>
      </p:sp>
      <p:sp>
        <p:nvSpPr>
          <p:cNvPr id="16" name="Shape 14"/>
          <p:cNvSpPr/>
          <p:nvPr/>
        </p:nvSpPr>
        <p:spPr>
          <a:xfrm>
            <a:off x="457200" y="3712464"/>
            <a:ext cx="8229600" cy="438912"/>
          </a:xfrm>
          <a:prstGeom prst="rect">
            <a:avLst/>
          </a:prstGeom>
          <a:solidFill>
            <a:srgbClr val="FFFFFF"/>
          </a:solidFill>
          <a:ln/>
        </p:spPr>
      </p:sp>
      <p:sp>
        <p:nvSpPr>
          <p:cNvPr id="17" name="Shape 15"/>
          <p:cNvSpPr/>
          <p:nvPr/>
        </p:nvSpPr>
        <p:spPr>
          <a:xfrm>
            <a:off x="594360" y="3794760"/>
            <a:ext cx="274320" cy="274320"/>
          </a:xfrm>
          <a:prstGeom prst="ellipse">
            <a:avLst/>
          </a:prstGeom>
          <a:solidFill>
            <a:srgbClr val="DC3545"/>
          </a:solidFill>
          <a:ln/>
        </p:spPr>
      </p:sp>
      <p:sp>
        <p:nvSpPr>
          <p:cNvPr id="18" name="Text 16"/>
          <p:cNvSpPr/>
          <p:nvPr/>
        </p:nvSpPr>
        <p:spPr>
          <a:xfrm>
            <a:off x="1005840" y="3712464"/>
            <a:ext cx="7498080" cy="438912"/>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利き手側の感覚がおかしい（しびれ・違和感）</a:t>
            </a:r>
            <a:endParaRPr lang="en-US" sz="1300" dirty="0"/>
          </a:p>
        </p:txBody>
      </p:sp>
      <p:sp>
        <p:nvSpPr>
          <p:cNvPr id="19" name="Shape 17"/>
          <p:cNvSpPr/>
          <p:nvPr/>
        </p:nvSpPr>
        <p:spPr>
          <a:xfrm>
            <a:off x="457200" y="4187952"/>
            <a:ext cx="8229600" cy="438912"/>
          </a:xfrm>
          <a:prstGeom prst="rect">
            <a:avLst/>
          </a:prstGeom>
          <a:solidFill>
            <a:srgbClr val="FFF5F5"/>
          </a:solidFill>
          <a:ln/>
        </p:spPr>
      </p:sp>
      <p:sp>
        <p:nvSpPr>
          <p:cNvPr id="20" name="Shape 18"/>
          <p:cNvSpPr/>
          <p:nvPr/>
        </p:nvSpPr>
        <p:spPr>
          <a:xfrm>
            <a:off x="594360" y="4270248"/>
            <a:ext cx="274320" cy="274320"/>
          </a:xfrm>
          <a:prstGeom prst="ellipse">
            <a:avLst/>
          </a:prstGeom>
          <a:solidFill>
            <a:srgbClr val="DC3545"/>
          </a:solidFill>
          <a:ln/>
        </p:spPr>
      </p:sp>
      <p:sp>
        <p:nvSpPr>
          <p:cNvPr id="21" name="Text 19"/>
          <p:cNvSpPr/>
          <p:nvPr/>
        </p:nvSpPr>
        <p:spPr>
          <a:xfrm>
            <a:off x="1005840" y="4187952"/>
            <a:ext cx="7498080" cy="438912"/>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利き手とあわせて言葉が出にくい・ろれつが回らないがある</a:t>
            </a:r>
            <a:endParaRPr lang="en-US" sz="1300" dirty="0"/>
          </a:p>
        </p:txBody>
      </p:sp>
      <p:sp>
        <p:nvSpPr>
          <p:cNvPr id="22" name="Shape 20"/>
          <p:cNvSpPr/>
          <p:nvPr/>
        </p:nvSpPr>
        <p:spPr>
          <a:xfrm>
            <a:off x="457200" y="4709160"/>
            <a:ext cx="8229600" cy="365760"/>
          </a:xfrm>
          <a:prstGeom prst="rect">
            <a:avLst/>
          </a:prstGeom>
          <a:solidFill>
            <a:srgbClr val="FFEBEE"/>
          </a:solidFill>
          <a:ln/>
        </p:spPr>
      </p:sp>
      <p:sp>
        <p:nvSpPr>
          <p:cNvPr id="23" name="Text 21"/>
          <p:cNvSpPr/>
          <p:nvPr/>
        </p:nvSpPr>
        <p:spPr>
          <a:xfrm>
            <a:off x="640080" y="4709160"/>
            <a:ext cx="7863840" cy="365760"/>
          </a:xfrm>
          <a:prstGeom prst="rect">
            <a:avLst/>
          </a:prstGeom>
          <a:noFill/>
          <a:ln/>
        </p:spPr>
        <p:txBody>
          <a:bodyPr wrap="square" lIns="0" tIns="0" rIns="0" bIns="0" rtlCol="0" anchor="ctr"/>
          <a:lstStyle/>
          <a:p>
            <a:pPr indent="0" marL="0">
              <a:buNone/>
            </a:pPr>
            <a:r>
              <a:rPr lang="en-US" sz="1300" b="1" dirty="0">
                <a:solidFill>
                  <a:srgbClr val="DC3545"/>
                </a:solidFill>
                <a:latin typeface="BIZ UDPGothic" pitchFamily="34" charset="0"/>
                <a:ea typeface="BIZ UDPGothic" pitchFamily="34" charset="-122"/>
                <a:cs typeface="BIZ UDPGothic" pitchFamily="34" charset="-120"/>
              </a:rPr>
              <a:t>特に急性の変化は脳卒中の可能性あり → ためらわず速やかに受診</a:t>
            </a:r>
            <a:endParaRPr lang="en-US" sz="1300" dirty="0"/>
          </a:p>
        </p:txBody>
      </p:sp>
      <p:sp>
        <p:nvSpPr>
          <p:cNvPr id="24" name="Text 22"/>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9/10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Take Home Message</a:t>
            </a:r>
            <a:endParaRPr lang="en-US" sz="2600" dirty="0"/>
          </a:p>
        </p:txBody>
      </p:sp>
      <p:sp>
        <p:nvSpPr>
          <p:cNvPr id="4" name="Shape 2"/>
          <p:cNvSpPr/>
          <p:nvPr/>
        </p:nvSpPr>
        <p:spPr>
          <a:xfrm>
            <a:off x="731520" y="960120"/>
            <a:ext cx="7680960" cy="685800"/>
          </a:xfrm>
          <a:prstGeom prst="roundRect">
            <a:avLst>
              <a:gd name="adj" fmla="val 13333"/>
            </a:avLst>
          </a:prstGeom>
          <a:solidFill>
            <a:srgbClr val="243B5C"/>
          </a:solidFill>
          <a:ln/>
        </p:spPr>
      </p:sp>
      <p:sp>
        <p:nvSpPr>
          <p:cNvPr id="5" name="Shape 3"/>
          <p:cNvSpPr/>
          <p:nvPr/>
        </p:nvSpPr>
        <p:spPr>
          <a:xfrm>
            <a:off x="914400" y="1069848"/>
            <a:ext cx="457200" cy="457200"/>
          </a:xfrm>
          <a:prstGeom prst="ellipse">
            <a:avLst/>
          </a:prstGeom>
          <a:solidFill>
            <a:srgbClr val="4A90D9"/>
          </a:solidFill>
          <a:ln/>
        </p:spPr>
      </p:sp>
      <p:sp>
        <p:nvSpPr>
          <p:cNvPr id="6" name="Text 4"/>
          <p:cNvSpPr/>
          <p:nvPr/>
        </p:nvSpPr>
        <p:spPr>
          <a:xfrm>
            <a:off x="914400" y="10698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7" name="Text 5"/>
          <p:cNvSpPr/>
          <p:nvPr/>
        </p:nvSpPr>
        <p:spPr>
          <a:xfrm>
            <a:off x="1554480" y="960120"/>
            <a:ext cx="6583680" cy="68580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世界人口の約88〜90%が右利き。この偏りは人類史を通じてほぼ一定</a:t>
            </a:r>
            <a:endParaRPr lang="en-US" sz="1500" dirty="0"/>
          </a:p>
        </p:txBody>
      </p:sp>
      <p:sp>
        <p:nvSpPr>
          <p:cNvPr id="8" name="Shape 6"/>
          <p:cNvSpPr/>
          <p:nvPr/>
        </p:nvSpPr>
        <p:spPr>
          <a:xfrm>
            <a:off x="731520" y="1764792"/>
            <a:ext cx="7680960" cy="685800"/>
          </a:xfrm>
          <a:prstGeom prst="roundRect">
            <a:avLst>
              <a:gd name="adj" fmla="val 13333"/>
            </a:avLst>
          </a:prstGeom>
          <a:solidFill>
            <a:srgbClr val="243B5C"/>
          </a:solidFill>
          <a:ln/>
        </p:spPr>
      </p:sp>
      <p:sp>
        <p:nvSpPr>
          <p:cNvPr id="9" name="Shape 7"/>
          <p:cNvSpPr/>
          <p:nvPr/>
        </p:nvSpPr>
        <p:spPr>
          <a:xfrm>
            <a:off x="914400" y="1874520"/>
            <a:ext cx="457200" cy="457200"/>
          </a:xfrm>
          <a:prstGeom prst="ellipse">
            <a:avLst/>
          </a:prstGeom>
          <a:solidFill>
            <a:srgbClr val="4A90D9"/>
          </a:solidFill>
          <a:ln/>
        </p:spPr>
      </p:sp>
      <p:sp>
        <p:nvSpPr>
          <p:cNvPr id="10" name="Text 8"/>
          <p:cNvSpPr/>
          <p:nvPr/>
        </p:nvSpPr>
        <p:spPr>
          <a:xfrm>
            <a:off x="91440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11" name="Text 9"/>
          <p:cNvSpPr/>
          <p:nvPr/>
        </p:nvSpPr>
        <p:spPr>
          <a:xfrm>
            <a:off x="1554480" y="1764792"/>
            <a:ext cx="6583680" cy="68580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利き手は遺伝・胎児期環境・発生の確率的揺らぎの組み合わせで決まる。単一の「利き手遺伝子」はない</a:t>
            </a:r>
            <a:endParaRPr lang="en-US" sz="1500" dirty="0"/>
          </a:p>
        </p:txBody>
      </p:sp>
      <p:sp>
        <p:nvSpPr>
          <p:cNvPr id="12" name="Shape 10"/>
          <p:cNvSpPr/>
          <p:nvPr/>
        </p:nvSpPr>
        <p:spPr>
          <a:xfrm>
            <a:off x="731520" y="2569464"/>
            <a:ext cx="7680960" cy="685800"/>
          </a:xfrm>
          <a:prstGeom prst="roundRect">
            <a:avLst>
              <a:gd name="adj" fmla="val 13333"/>
            </a:avLst>
          </a:prstGeom>
          <a:solidFill>
            <a:srgbClr val="243B5C"/>
          </a:solidFill>
          <a:ln/>
        </p:spPr>
      </p:sp>
      <p:sp>
        <p:nvSpPr>
          <p:cNvPr id="13" name="Shape 11"/>
          <p:cNvSpPr/>
          <p:nvPr/>
        </p:nvSpPr>
        <p:spPr>
          <a:xfrm>
            <a:off x="914400" y="2679192"/>
            <a:ext cx="457200" cy="457200"/>
          </a:xfrm>
          <a:prstGeom prst="ellipse">
            <a:avLst/>
          </a:prstGeom>
          <a:solidFill>
            <a:srgbClr val="4A90D9"/>
          </a:solidFill>
          <a:ln/>
        </p:spPr>
      </p:sp>
      <p:sp>
        <p:nvSpPr>
          <p:cNvPr id="14" name="Text 12"/>
          <p:cNvSpPr/>
          <p:nvPr/>
        </p:nvSpPr>
        <p:spPr>
          <a:xfrm>
            <a:off x="914400" y="26791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5" name="Text 13"/>
          <p:cNvSpPr/>
          <p:nvPr/>
        </p:nvSpPr>
        <p:spPr>
          <a:xfrm>
            <a:off x="1554480" y="2569464"/>
            <a:ext cx="6583680" cy="68580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左利きの約70%は右利きと同じく左脳で言語処理。「左利き＝右脳人間」は誤解</a:t>
            </a:r>
            <a:endParaRPr lang="en-US" sz="1500" dirty="0"/>
          </a:p>
        </p:txBody>
      </p:sp>
      <p:sp>
        <p:nvSpPr>
          <p:cNvPr id="16" name="Shape 14"/>
          <p:cNvSpPr/>
          <p:nvPr/>
        </p:nvSpPr>
        <p:spPr>
          <a:xfrm>
            <a:off x="731520" y="3374136"/>
            <a:ext cx="7680960" cy="685800"/>
          </a:xfrm>
          <a:prstGeom prst="roundRect">
            <a:avLst>
              <a:gd name="adj" fmla="val 13333"/>
            </a:avLst>
          </a:prstGeom>
          <a:solidFill>
            <a:srgbClr val="243B5C"/>
          </a:solidFill>
          <a:ln/>
        </p:spPr>
      </p:sp>
      <p:sp>
        <p:nvSpPr>
          <p:cNvPr id="17" name="Shape 15"/>
          <p:cNvSpPr/>
          <p:nvPr/>
        </p:nvSpPr>
        <p:spPr>
          <a:xfrm>
            <a:off x="914400" y="3483864"/>
            <a:ext cx="457200" cy="457200"/>
          </a:xfrm>
          <a:prstGeom prst="ellipse">
            <a:avLst/>
          </a:prstGeom>
          <a:solidFill>
            <a:srgbClr val="4A90D9"/>
          </a:solidFill>
          <a:ln/>
        </p:spPr>
      </p:sp>
      <p:sp>
        <p:nvSpPr>
          <p:cNvPr id="18" name="Text 16"/>
          <p:cNvSpPr/>
          <p:nvPr/>
        </p:nvSpPr>
        <p:spPr>
          <a:xfrm>
            <a:off x="914400" y="348386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4</a:t>
            </a:r>
            <a:endParaRPr lang="en-US" sz="1800" dirty="0"/>
          </a:p>
        </p:txBody>
      </p:sp>
      <p:sp>
        <p:nvSpPr>
          <p:cNvPr id="19" name="Text 17"/>
          <p:cNvSpPr/>
          <p:nvPr/>
        </p:nvSpPr>
        <p:spPr>
          <a:xfrm>
            <a:off x="1554480" y="3374136"/>
            <a:ext cx="6583680" cy="68580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左利きの無理な矯正は推奨されない。吃音・情緒不安定のリスクがある</a:t>
            </a:r>
            <a:endParaRPr lang="en-US" sz="1500" dirty="0"/>
          </a:p>
        </p:txBody>
      </p:sp>
      <p:sp>
        <p:nvSpPr>
          <p:cNvPr id="20" name="Shape 18"/>
          <p:cNvSpPr/>
          <p:nvPr/>
        </p:nvSpPr>
        <p:spPr>
          <a:xfrm>
            <a:off x="731520" y="4178808"/>
            <a:ext cx="7680960" cy="685800"/>
          </a:xfrm>
          <a:prstGeom prst="roundRect">
            <a:avLst>
              <a:gd name="adj" fmla="val 13333"/>
            </a:avLst>
          </a:prstGeom>
          <a:solidFill>
            <a:srgbClr val="243B5C"/>
          </a:solidFill>
          <a:ln/>
        </p:spPr>
      </p:sp>
      <p:sp>
        <p:nvSpPr>
          <p:cNvPr id="21" name="Shape 19"/>
          <p:cNvSpPr/>
          <p:nvPr/>
        </p:nvSpPr>
        <p:spPr>
          <a:xfrm>
            <a:off x="914400" y="4288536"/>
            <a:ext cx="457200" cy="457200"/>
          </a:xfrm>
          <a:prstGeom prst="ellipse">
            <a:avLst/>
          </a:prstGeom>
          <a:solidFill>
            <a:srgbClr val="4A90D9"/>
          </a:solidFill>
          <a:ln/>
        </p:spPr>
      </p:sp>
      <p:sp>
        <p:nvSpPr>
          <p:cNvPr id="22" name="Text 20"/>
          <p:cNvSpPr/>
          <p:nvPr/>
        </p:nvSpPr>
        <p:spPr>
          <a:xfrm>
            <a:off x="914400" y="428853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5</a:t>
            </a:r>
            <a:endParaRPr lang="en-US" sz="1800" dirty="0"/>
          </a:p>
        </p:txBody>
      </p:sp>
      <p:sp>
        <p:nvSpPr>
          <p:cNvPr id="23" name="Text 21"/>
          <p:cNvSpPr/>
          <p:nvPr/>
        </p:nvSpPr>
        <p:spPr>
          <a:xfrm>
            <a:off x="1554480" y="4178808"/>
            <a:ext cx="6583680" cy="68580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成人後に突然利き手が不器用になったら脳卒中を疑い、速やかに受診</a:t>
            </a:r>
            <a:endParaRPr lang="en-US" sz="1500" dirty="0"/>
          </a:p>
        </p:txBody>
      </p:sp>
      <p:sp>
        <p:nvSpPr>
          <p:cNvPr id="24" name="Shape 22"/>
          <p:cNvSpPr/>
          <p:nvPr/>
        </p:nvSpPr>
        <p:spPr>
          <a:xfrm>
            <a:off x="1828800" y="4846320"/>
            <a:ext cx="5486400" cy="0"/>
          </a:xfrm>
          <a:prstGeom prst="line">
            <a:avLst/>
          </a:prstGeom>
          <a:noFill/>
          <a:ln w="12700">
            <a:solidFill>
              <a:srgbClr val="4A90D9"/>
            </a:solidFill>
            <a:prstDash val="solid"/>
          </a:ln>
        </p:spPr>
      </p:sp>
      <p:sp>
        <p:nvSpPr>
          <p:cNvPr id="25" name="Text 23"/>
          <p:cNvSpPr/>
          <p:nvPr/>
        </p:nvSpPr>
        <p:spPr>
          <a:xfrm>
            <a:off x="457200" y="4919472"/>
            <a:ext cx="8229600" cy="320040"/>
          </a:xfrm>
          <a:prstGeom prst="rect">
            <a:avLst/>
          </a:prstGeom>
          <a:noFill/>
          <a:ln/>
        </p:spPr>
        <p:txBody>
          <a:bodyPr wrap="square" lIns="0" tIns="0" rIns="0" bIns="0" rtlCol="0" anchor="ctr"/>
          <a:lstStyle/>
          <a:p>
            <a:pPr algn="ctr" indent="0" marL="0">
              <a:buNone/>
            </a:pPr>
            <a:r>
              <a:rPr lang="en-US" sz="1300" dirty="0">
                <a:solidFill>
                  <a:srgbClr val="636E72"/>
                </a:solidFill>
                <a:latin typeface="BIZ UDPGothic" pitchFamily="34" charset="0"/>
                <a:ea typeface="BIZ UDPGothic" pitchFamily="34" charset="-122"/>
                <a:cs typeface="BIZ UDPGothic" pitchFamily="34" charset="-120"/>
              </a:rPr>
              <a:t>医知創造ラボ  今村久司  ｜  チャンネル登録よろしくお願いします</a:t>
            </a:r>
            <a:endParaRPr lang="en-US" sz="1300" dirty="0"/>
          </a:p>
        </p:txBody>
      </p:sp>
      <p:sp>
        <p:nvSpPr>
          <p:cNvPr id="26" name="Text 24"/>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10/10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利き手はなぜ決まるのか？ ― 脳の左右非対称と遺伝のしくみ</dc:title>
  <dc:subject>PptxGenJS Presentation</dc:subject>
  <dc:creator>今村久司</dc:creator>
  <cp:lastModifiedBy>今村久司</cp:lastModifiedBy>
  <cp:revision>1</cp:revision>
  <dcterms:created xsi:type="dcterms:W3CDTF">2026-04-02T02:31:39Z</dcterms:created>
  <dcterms:modified xsi:type="dcterms:W3CDTF">2026-04-02T02:31:39Z</dcterms:modified>
</cp:coreProperties>
</file>