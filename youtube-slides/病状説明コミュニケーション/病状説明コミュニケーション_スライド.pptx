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Shape 1"/>
          <p:cNvSpPr/>
          <p:nvPr/>
        </p:nvSpPr>
        <p:spPr>
          <a:xfrm>
            <a:off x="0" y="5088636"/>
            <a:ext cx="9144000" cy="54864"/>
          </a:xfrm>
          <a:prstGeom prst="rect">
            <a:avLst/>
          </a:prstGeom>
          <a:solidFill>
            <a:srgbClr val="4A90D9"/>
          </a:solidFill>
          <a:ln/>
        </p:spPr>
      </p:sp>
      <p:sp>
        <p:nvSpPr>
          <p:cNvPr id="4" name="Text 2"/>
          <p:cNvSpPr/>
          <p:nvPr/>
        </p:nvSpPr>
        <p:spPr>
          <a:xfrm>
            <a:off x="731520" y="457200"/>
            <a:ext cx="7680960" cy="457200"/>
          </a:xfrm>
          <a:prstGeom prst="rect">
            <a:avLst/>
          </a:prstGeom>
          <a:noFill/>
          <a:ln/>
        </p:spPr>
        <p:txBody>
          <a:bodyPr wrap="square" lIns="0" tIns="0" rIns="0" bIns="0" rtlCol="0" anchor="ctr"/>
          <a:lstStyle/>
          <a:p>
            <a:pPr algn="ctr" indent="0" marL="0">
              <a:buNone/>
            </a:pPr>
            <a:r>
              <a:rPr lang="en-US" sz="1600" dirty="0">
                <a:solidFill>
                  <a:srgbClr val="4A90D9"/>
                </a:solidFill>
                <a:latin typeface="BIZ UDPGothic" pitchFamily="34" charset="0"/>
                <a:ea typeface="BIZ UDPGothic" pitchFamily="34" charset="-122"/>
                <a:cs typeface="BIZ UDPGothic" pitchFamily="34" charset="-120"/>
              </a:rPr>
              <a:t>脳神経内科医の視点</a:t>
            </a:r>
            <a:endParaRPr lang="en-US" sz="1600" dirty="0"/>
          </a:p>
        </p:txBody>
      </p:sp>
      <p:sp>
        <p:nvSpPr>
          <p:cNvPr id="5" name="Text 3"/>
          <p:cNvSpPr/>
          <p:nvPr/>
        </p:nvSpPr>
        <p:spPr>
          <a:xfrm>
            <a:off x="731520" y="1097280"/>
            <a:ext cx="7680960" cy="1097280"/>
          </a:xfrm>
          <a:prstGeom prst="rect">
            <a:avLst/>
          </a:prstGeom>
          <a:noFill/>
          <a:ln/>
        </p:spPr>
        <p:txBody>
          <a:bodyPr wrap="square" lIns="0" tIns="0" rIns="0" bIns="0" rtlCol="0" anchor="ctr"/>
          <a:lstStyle/>
          <a:p>
            <a:pPr algn="ctr" indent="0" marL="0">
              <a:lnSpc>
                <a:spcPct val="120000"/>
              </a:lnSpc>
              <a:buNone/>
            </a:pPr>
            <a:r>
              <a:rPr lang="en-US" sz="3600" b="1" dirty="0">
                <a:solidFill>
                  <a:srgbClr val="FFFFFF"/>
                </a:solidFill>
                <a:latin typeface="BIZ UDPGothic" pitchFamily="34" charset="0"/>
                <a:ea typeface="BIZ UDPGothic" pitchFamily="34" charset="-122"/>
                <a:cs typeface="BIZ UDPGothic" pitchFamily="34" charset="-120"/>
              </a:rPr>
              <a:t>理想的な病状説明とは何か</a:t>
            </a:r>
            <a:endParaRPr lang="en-US" sz="3600" dirty="0"/>
          </a:p>
        </p:txBody>
      </p:sp>
      <p:sp>
        <p:nvSpPr>
          <p:cNvPr id="6" name="Text 4"/>
          <p:cNvSpPr/>
          <p:nvPr/>
        </p:nvSpPr>
        <p:spPr>
          <a:xfrm>
            <a:off x="731520" y="2286000"/>
            <a:ext cx="7680960" cy="548640"/>
          </a:xfrm>
          <a:prstGeom prst="rect">
            <a:avLst/>
          </a:prstGeom>
          <a:noFill/>
          <a:ln/>
        </p:spPr>
        <p:txBody>
          <a:bodyPr wrap="square" lIns="0" tIns="0" rIns="0" bIns="0" rtlCol="0" anchor="ctr"/>
          <a:lstStyle/>
          <a:p>
            <a:pPr algn="ctr" indent="0" marL="0">
              <a:buNone/>
            </a:pPr>
            <a:r>
              <a:rPr lang="en-US" sz="2000" dirty="0">
                <a:solidFill>
                  <a:srgbClr val="4A90D9"/>
                </a:solidFill>
                <a:latin typeface="BIZ UDPGothic" pitchFamily="34" charset="0"/>
                <a:ea typeface="BIZ UDPGothic" pitchFamily="34" charset="-122"/>
                <a:cs typeface="BIZ UDPGothic" pitchFamily="34" charset="-120"/>
              </a:rPr>
              <a:t>― 「伝わる」コミュニケーションの技術 ―</a:t>
            </a:r>
            <a:endParaRPr lang="en-US" sz="2000" dirty="0"/>
          </a:p>
        </p:txBody>
      </p:sp>
      <p:sp>
        <p:nvSpPr>
          <p:cNvPr id="7" name="Shape 5"/>
          <p:cNvSpPr/>
          <p:nvPr/>
        </p:nvSpPr>
        <p:spPr>
          <a:xfrm>
            <a:off x="2743200" y="3017520"/>
            <a:ext cx="3657600" cy="0"/>
          </a:xfrm>
          <a:prstGeom prst="line">
            <a:avLst/>
          </a:prstGeom>
          <a:noFill/>
          <a:ln w="25400">
            <a:solidFill>
              <a:srgbClr val="4A90D9"/>
            </a:solidFill>
            <a:prstDash val="solid"/>
          </a:ln>
        </p:spPr>
      </p:sp>
      <p:sp>
        <p:nvSpPr>
          <p:cNvPr id="8" name="Shape 6"/>
          <p:cNvSpPr/>
          <p:nvPr/>
        </p:nvSpPr>
        <p:spPr>
          <a:xfrm>
            <a:off x="457200" y="3200400"/>
            <a:ext cx="2560320" cy="502920"/>
          </a:xfrm>
          <a:prstGeom prst="rect">
            <a:avLst/>
          </a:prstGeom>
          <a:solidFill>
            <a:srgbClr val="2C5AA0"/>
          </a:solidFill>
          <a:ln/>
        </p:spPr>
      </p:sp>
      <p:sp>
        <p:nvSpPr>
          <p:cNvPr id="9" name="Text 7"/>
          <p:cNvSpPr/>
          <p:nvPr/>
        </p:nvSpPr>
        <p:spPr>
          <a:xfrm>
            <a:off x="457200" y="3200400"/>
            <a:ext cx="25603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SPIKESプロトコル</a:t>
            </a:r>
            <a:endParaRPr lang="en-US" sz="1600" dirty="0"/>
          </a:p>
        </p:txBody>
      </p:sp>
      <p:sp>
        <p:nvSpPr>
          <p:cNvPr id="10" name="Shape 8"/>
          <p:cNvSpPr/>
          <p:nvPr/>
        </p:nvSpPr>
        <p:spPr>
          <a:xfrm>
            <a:off x="3291840" y="3200400"/>
            <a:ext cx="2560320" cy="502920"/>
          </a:xfrm>
          <a:prstGeom prst="rect">
            <a:avLst/>
          </a:prstGeom>
          <a:solidFill>
            <a:srgbClr val="28A745"/>
          </a:solidFill>
          <a:ln/>
        </p:spPr>
      </p:sp>
      <p:sp>
        <p:nvSpPr>
          <p:cNvPr id="11" name="Text 9"/>
          <p:cNvSpPr/>
          <p:nvPr/>
        </p:nvSpPr>
        <p:spPr>
          <a:xfrm>
            <a:off x="3291840" y="3200400"/>
            <a:ext cx="25603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3つの条件</a:t>
            </a:r>
            <a:endParaRPr lang="en-US" sz="1600" dirty="0"/>
          </a:p>
        </p:txBody>
      </p:sp>
      <p:sp>
        <p:nvSpPr>
          <p:cNvPr id="12" name="Shape 10"/>
          <p:cNvSpPr/>
          <p:nvPr/>
        </p:nvSpPr>
        <p:spPr>
          <a:xfrm>
            <a:off x="6126480" y="3200400"/>
            <a:ext cx="2560320" cy="502920"/>
          </a:xfrm>
          <a:prstGeom prst="rect">
            <a:avLst/>
          </a:prstGeom>
          <a:solidFill>
            <a:srgbClr val="E8850C"/>
          </a:solidFill>
          <a:ln/>
        </p:spPr>
      </p:sp>
      <p:sp>
        <p:nvSpPr>
          <p:cNvPr id="13" name="Text 11"/>
          <p:cNvSpPr/>
          <p:nvPr/>
        </p:nvSpPr>
        <p:spPr>
          <a:xfrm>
            <a:off x="6126480" y="3200400"/>
            <a:ext cx="25603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実践セリフ例</a:t>
            </a:r>
            <a:endParaRPr lang="en-US" sz="1600" dirty="0"/>
          </a:p>
        </p:txBody>
      </p:sp>
      <p:sp>
        <p:nvSpPr>
          <p:cNvPr id="14" name="Text 12"/>
          <p:cNvSpPr/>
          <p:nvPr/>
        </p:nvSpPr>
        <p:spPr>
          <a:xfrm>
            <a:off x="731520" y="3931920"/>
            <a:ext cx="7680960" cy="457200"/>
          </a:xfrm>
          <a:prstGeom prst="rect">
            <a:avLst/>
          </a:prstGeom>
          <a:noFill/>
          <a:ln/>
        </p:spPr>
        <p:txBody>
          <a:bodyPr wrap="square" lIns="0" tIns="0" rIns="0" bIns="0" rtlCol="0" anchor="ctr"/>
          <a:lstStyle/>
          <a:p>
            <a:pPr algn="ctr" indent="0" marL="0">
              <a:buNone/>
            </a:pPr>
            <a:r>
              <a:rPr lang="en-US" sz="2000" dirty="0">
                <a:solidFill>
                  <a:srgbClr val="E8F0FE"/>
                </a:solidFill>
                <a:latin typeface="BIZ UDPGothic" pitchFamily="34" charset="0"/>
                <a:ea typeface="BIZ UDPGothic" pitchFamily="34" charset="-122"/>
                <a:cs typeface="BIZ UDPGothic" pitchFamily="34" charset="-120"/>
              </a:rPr>
              <a:t>医知創造ラボ  今村久司</a:t>
            </a:r>
            <a:endParaRPr lang="en-US" sz="2000" dirty="0"/>
          </a:p>
        </p:txBody>
      </p:sp>
      <p:sp>
        <p:nvSpPr>
          <p:cNvPr id="15" name="Text 13"/>
          <p:cNvSpPr/>
          <p:nvPr/>
        </p:nvSpPr>
        <p:spPr>
          <a:xfrm>
            <a:off x="731520" y="4434840"/>
            <a:ext cx="7680960" cy="365760"/>
          </a:xfrm>
          <a:prstGeom prst="rect">
            <a:avLst/>
          </a:prstGeom>
          <a:noFill/>
          <a:ln/>
        </p:spPr>
        <p:txBody>
          <a:bodyPr wrap="square" lIns="0" tIns="0" rIns="0" bIns="0" rtlCol="0" anchor="ctr"/>
          <a:lstStyle/>
          <a:p>
            <a:pPr algn="ctr" indent="0" marL="0">
              <a:buNone/>
            </a:pPr>
            <a:r>
              <a:rPr lang="en-US" sz="1400" i="1" dirty="0">
                <a:solidFill>
                  <a:srgbClr val="636E72"/>
                </a:solidFill>
                <a:latin typeface="BIZ UDPGothic" pitchFamily="34" charset="0"/>
                <a:ea typeface="BIZ UDPGothic" pitchFamily="34" charset="-122"/>
                <a:cs typeface="BIZ UDPGothic" pitchFamily="34" charset="-120"/>
              </a:rPr>
              <a:t>脳神経内科専門医</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なぜ病状説明は難しいのか？</a:t>
            </a:r>
            <a:endParaRPr lang="en-US" sz="2400" dirty="0"/>
          </a:p>
        </p:txBody>
      </p:sp>
      <p:sp>
        <p:nvSpPr>
          <p:cNvPr id="4" name="Shape 2"/>
          <p:cNvSpPr/>
          <p:nvPr/>
        </p:nvSpPr>
        <p:spPr>
          <a:xfrm>
            <a:off x="365760" y="1005840"/>
            <a:ext cx="841248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170432"/>
            <a:ext cx="493776" cy="493776"/>
          </a:xfrm>
          <a:prstGeom prst="ellipse">
            <a:avLst/>
          </a:prstGeom>
          <a:solidFill>
            <a:srgbClr val="DC3545"/>
          </a:solidFill>
          <a:ln/>
        </p:spPr>
      </p:sp>
      <p:sp>
        <p:nvSpPr>
          <p:cNvPr id="6" name="Text 4"/>
          <p:cNvSpPr/>
          <p:nvPr/>
        </p:nvSpPr>
        <p:spPr>
          <a:xfrm>
            <a:off x="548640" y="117043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7" name="Text 5"/>
          <p:cNvSpPr/>
          <p:nvPr/>
        </p:nvSpPr>
        <p:spPr>
          <a:xfrm>
            <a:off x="1234440" y="1051560"/>
            <a:ext cx="6858000" cy="411480"/>
          </a:xfrm>
          <a:prstGeom prst="rect">
            <a:avLst/>
          </a:prstGeom>
          <a:noFill/>
          <a:ln/>
        </p:spPr>
        <p:txBody>
          <a:bodyPr wrap="square" lIns="0" tIns="0" rIns="0" bIns="0" rtlCol="0" anchor="ctr"/>
          <a:lstStyle/>
          <a:p>
            <a:pPr indent="0" marL="0">
              <a:buNone/>
            </a:pPr>
            <a:r>
              <a:rPr lang="en-US" sz="1600" b="1" dirty="0">
                <a:solidFill>
                  <a:srgbClr val="2D3436"/>
                </a:solidFill>
                <a:latin typeface="BIZ UDPGothic" pitchFamily="34" charset="0"/>
                <a:ea typeface="BIZ UDPGothic" pitchFamily="34" charset="-122"/>
                <a:cs typeface="BIZ UDPGothic" pitchFamily="34" charset="-120"/>
              </a:rPr>
              <a:t>正確な医学情報を伝えなければならない</a:t>
            </a:r>
            <a:endParaRPr lang="en-US" sz="1600" dirty="0"/>
          </a:p>
        </p:txBody>
      </p:sp>
      <p:sp>
        <p:nvSpPr>
          <p:cNvPr id="8" name="Text 6"/>
          <p:cNvSpPr/>
          <p:nvPr/>
        </p:nvSpPr>
        <p:spPr>
          <a:xfrm>
            <a:off x="1234440" y="1444752"/>
            <a:ext cx="68580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ガイドライン・エビデンスに基づく内容</a:t>
            </a:r>
            <a:endParaRPr lang="en-US" sz="1300" dirty="0"/>
          </a:p>
        </p:txBody>
      </p:sp>
      <p:sp>
        <p:nvSpPr>
          <p:cNvPr id="9" name="Shape 7"/>
          <p:cNvSpPr/>
          <p:nvPr/>
        </p:nvSpPr>
        <p:spPr>
          <a:xfrm>
            <a:off x="365760" y="1965960"/>
            <a:ext cx="841248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548640" y="2130552"/>
            <a:ext cx="493776" cy="493776"/>
          </a:xfrm>
          <a:prstGeom prst="ellipse">
            <a:avLst/>
          </a:prstGeom>
          <a:solidFill>
            <a:srgbClr val="DC3545"/>
          </a:solidFill>
          <a:ln/>
        </p:spPr>
      </p:sp>
      <p:sp>
        <p:nvSpPr>
          <p:cNvPr id="11" name="Text 9"/>
          <p:cNvSpPr/>
          <p:nvPr/>
        </p:nvSpPr>
        <p:spPr>
          <a:xfrm>
            <a:off x="548640" y="21305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2" name="Text 10"/>
          <p:cNvSpPr/>
          <p:nvPr/>
        </p:nvSpPr>
        <p:spPr>
          <a:xfrm>
            <a:off x="1234440" y="2011680"/>
            <a:ext cx="6858000" cy="411480"/>
          </a:xfrm>
          <a:prstGeom prst="rect">
            <a:avLst/>
          </a:prstGeom>
          <a:noFill/>
          <a:ln/>
        </p:spPr>
        <p:txBody>
          <a:bodyPr wrap="square" lIns="0" tIns="0" rIns="0" bIns="0" rtlCol="0" anchor="ctr"/>
          <a:lstStyle/>
          <a:p>
            <a:pPr indent="0" marL="0">
              <a:buNone/>
            </a:pPr>
            <a:r>
              <a:rPr lang="en-US" sz="1600" b="1" dirty="0">
                <a:solidFill>
                  <a:srgbClr val="2D3436"/>
                </a:solidFill>
                <a:latin typeface="BIZ UDPGothic" pitchFamily="34" charset="0"/>
                <a:ea typeface="BIZ UDPGothic" pitchFamily="34" charset="-122"/>
                <a:cs typeface="BIZ UDPGothic" pitchFamily="34" charset="-120"/>
              </a:rPr>
              <a:t>患者さん・ご家族は極度の不安の中にいる</a:t>
            </a:r>
            <a:endParaRPr lang="en-US" sz="1600" dirty="0"/>
          </a:p>
        </p:txBody>
      </p:sp>
      <p:sp>
        <p:nvSpPr>
          <p:cNvPr id="13" name="Text 11"/>
          <p:cNvSpPr/>
          <p:nvPr/>
        </p:nvSpPr>
        <p:spPr>
          <a:xfrm>
            <a:off x="1234440" y="2404872"/>
            <a:ext cx="68580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感情的な受容と心理的サポートが必要</a:t>
            </a:r>
            <a:endParaRPr lang="en-US" sz="1300" dirty="0"/>
          </a:p>
        </p:txBody>
      </p:sp>
      <p:sp>
        <p:nvSpPr>
          <p:cNvPr id="14" name="Shape 12"/>
          <p:cNvSpPr/>
          <p:nvPr/>
        </p:nvSpPr>
        <p:spPr>
          <a:xfrm>
            <a:off x="365760" y="2926080"/>
            <a:ext cx="841248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548640" y="3090672"/>
            <a:ext cx="493776" cy="493776"/>
          </a:xfrm>
          <a:prstGeom prst="ellipse">
            <a:avLst/>
          </a:prstGeom>
          <a:solidFill>
            <a:srgbClr val="DC3545"/>
          </a:solidFill>
          <a:ln/>
        </p:spPr>
      </p:sp>
      <p:sp>
        <p:nvSpPr>
          <p:cNvPr id="16" name="Text 14"/>
          <p:cNvSpPr/>
          <p:nvPr/>
        </p:nvSpPr>
        <p:spPr>
          <a:xfrm>
            <a:off x="548640" y="30906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7" name="Text 15"/>
          <p:cNvSpPr/>
          <p:nvPr/>
        </p:nvSpPr>
        <p:spPr>
          <a:xfrm>
            <a:off x="1234440" y="2971800"/>
            <a:ext cx="6858000" cy="411480"/>
          </a:xfrm>
          <a:prstGeom prst="rect">
            <a:avLst/>
          </a:prstGeom>
          <a:noFill/>
          <a:ln/>
        </p:spPr>
        <p:txBody>
          <a:bodyPr wrap="square" lIns="0" tIns="0" rIns="0" bIns="0" rtlCol="0" anchor="ctr"/>
          <a:lstStyle/>
          <a:p>
            <a:pPr indent="0" marL="0">
              <a:buNone/>
            </a:pPr>
            <a:r>
              <a:rPr lang="en-US" sz="1600" b="1" dirty="0">
                <a:solidFill>
                  <a:srgbClr val="2D3436"/>
                </a:solidFill>
                <a:latin typeface="BIZ UDPGothic" pitchFamily="34" charset="0"/>
                <a:ea typeface="BIZ UDPGothic" pitchFamily="34" charset="-122"/>
                <a:cs typeface="BIZ UDPGothic" pitchFamily="34" charset="-120"/>
              </a:rPr>
              <a:t>「今後どうなるのか」という見通しを求められる</a:t>
            </a:r>
            <a:endParaRPr lang="en-US" sz="1600" dirty="0"/>
          </a:p>
        </p:txBody>
      </p:sp>
      <p:sp>
        <p:nvSpPr>
          <p:cNvPr id="18" name="Text 16"/>
          <p:cNvSpPr/>
          <p:nvPr/>
        </p:nvSpPr>
        <p:spPr>
          <a:xfrm>
            <a:off x="1234440" y="3364992"/>
            <a:ext cx="68580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不確実性の中でも誠実に答える必要がある</a:t>
            </a:r>
            <a:endParaRPr lang="en-US" sz="1300" dirty="0"/>
          </a:p>
        </p:txBody>
      </p:sp>
      <p:sp>
        <p:nvSpPr>
          <p:cNvPr id="19" name="Shape 17"/>
          <p:cNvSpPr/>
          <p:nvPr/>
        </p:nvSpPr>
        <p:spPr>
          <a:xfrm>
            <a:off x="365760" y="3886200"/>
            <a:ext cx="8412480" cy="8229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548640" y="4050792"/>
            <a:ext cx="493776" cy="493776"/>
          </a:xfrm>
          <a:prstGeom prst="ellipse">
            <a:avLst/>
          </a:prstGeom>
          <a:solidFill>
            <a:srgbClr val="DC3545"/>
          </a:solidFill>
          <a:ln/>
        </p:spPr>
      </p:sp>
      <p:sp>
        <p:nvSpPr>
          <p:cNvPr id="21" name="Text 19"/>
          <p:cNvSpPr/>
          <p:nvPr/>
        </p:nvSpPr>
        <p:spPr>
          <a:xfrm>
            <a:off x="548640" y="40507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4</a:t>
            </a:r>
            <a:endParaRPr lang="en-US" sz="1800" dirty="0"/>
          </a:p>
        </p:txBody>
      </p:sp>
      <p:sp>
        <p:nvSpPr>
          <p:cNvPr id="22" name="Text 20"/>
          <p:cNvSpPr/>
          <p:nvPr/>
        </p:nvSpPr>
        <p:spPr>
          <a:xfrm>
            <a:off x="1234440" y="3931920"/>
            <a:ext cx="6858000" cy="411480"/>
          </a:xfrm>
          <a:prstGeom prst="rect">
            <a:avLst/>
          </a:prstGeom>
          <a:noFill/>
          <a:ln/>
        </p:spPr>
        <p:txBody>
          <a:bodyPr wrap="square" lIns="0" tIns="0" rIns="0" bIns="0" rtlCol="0" anchor="ctr"/>
          <a:lstStyle/>
          <a:p>
            <a:pPr indent="0" marL="0">
              <a:buNone/>
            </a:pPr>
            <a:r>
              <a:rPr lang="en-US" sz="1600" b="1" dirty="0">
                <a:solidFill>
                  <a:srgbClr val="2D3436"/>
                </a:solidFill>
                <a:latin typeface="BIZ UDPGothic" pitchFamily="34" charset="0"/>
                <a:ea typeface="BIZ UDPGothic" pitchFamily="34" charset="-122"/>
                <a:cs typeface="BIZ UDPGothic" pitchFamily="34" charset="-120"/>
              </a:rPr>
              <a:t>限られた時間の中で行わなければならない</a:t>
            </a:r>
            <a:endParaRPr lang="en-US" sz="1600" dirty="0"/>
          </a:p>
        </p:txBody>
      </p:sp>
      <p:sp>
        <p:nvSpPr>
          <p:cNvPr id="23" name="Text 21"/>
          <p:cNvSpPr/>
          <p:nvPr/>
        </p:nvSpPr>
        <p:spPr>
          <a:xfrm>
            <a:off x="1234440" y="4325112"/>
            <a:ext cx="68580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特に急性期は一刻を争う状況</a:t>
            </a:r>
            <a:endParaRPr lang="en-US" sz="1300" dirty="0"/>
          </a:p>
        </p:txBody>
      </p:sp>
      <p:sp>
        <p:nvSpPr>
          <p:cNvPr id="24" name="Shape 22"/>
          <p:cNvSpPr/>
          <p:nvPr/>
        </p:nvSpPr>
        <p:spPr>
          <a:xfrm>
            <a:off x="365760" y="4709160"/>
            <a:ext cx="8412480" cy="365760"/>
          </a:xfrm>
          <a:prstGeom prst="rect">
            <a:avLst/>
          </a:prstGeom>
          <a:solidFill>
            <a:srgbClr val="E8F0FE"/>
          </a:solidFill>
          <a:ln/>
        </p:spPr>
      </p:sp>
      <p:sp>
        <p:nvSpPr>
          <p:cNvPr id="25" name="Text 23"/>
          <p:cNvSpPr/>
          <p:nvPr/>
        </p:nvSpPr>
        <p:spPr>
          <a:xfrm>
            <a:off x="548640" y="4709160"/>
            <a:ext cx="8046720" cy="365760"/>
          </a:xfrm>
          <a:prstGeom prst="rect">
            <a:avLst/>
          </a:prstGeom>
          <a:noFill/>
          <a:ln/>
        </p:spPr>
        <p:txBody>
          <a:bodyPr wrap="square" lIns="0" tIns="0" rIns="0" bIns="0" rtlCol="0" anchor="ctr"/>
          <a:lstStyle/>
          <a:p>
            <a:pPr indent="0" marL="0">
              <a:buNone/>
            </a:pPr>
            <a:r>
              <a:rPr lang="en-US" sz="1400" b="1" dirty="0">
                <a:solidFill>
                  <a:srgbClr val="2C5AA0"/>
                </a:solidFill>
                <a:latin typeface="BIZ UDPGothic" pitchFamily="34" charset="0"/>
                <a:ea typeface="BIZ UDPGothic" pitchFamily="34" charset="-122"/>
                <a:cs typeface="BIZ UDPGothic" pitchFamily="34" charset="-120"/>
              </a:rPr>
              <a:t>→ エビデンスに基づいた「型」を学ぶことで、及第点の説明ができるようになる</a:t>
            </a:r>
            <a:endParaRPr lang="en-US" sz="1400" dirty="0"/>
          </a:p>
        </p:txBody>
      </p:sp>
      <p:sp>
        <p:nvSpPr>
          <p:cNvPr id="26" name="Text 24"/>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2/9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SPIKESプロトコル ― 6つのステップ</a:t>
            </a:r>
            <a:endParaRPr lang="en-US" sz="2400" dirty="0"/>
          </a:p>
        </p:txBody>
      </p:sp>
      <p:sp>
        <p:nvSpPr>
          <p:cNvPr id="4" name="Shape 2"/>
          <p:cNvSpPr/>
          <p:nvPr/>
        </p:nvSpPr>
        <p:spPr>
          <a:xfrm>
            <a:off x="274320" y="960120"/>
            <a:ext cx="8595360" cy="56692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274320" y="960120"/>
            <a:ext cx="594360" cy="566928"/>
          </a:xfrm>
          <a:prstGeom prst="rect">
            <a:avLst/>
          </a:prstGeom>
          <a:solidFill>
            <a:srgbClr val="2C5AA0"/>
          </a:solidFill>
          <a:ln/>
        </p:spPr>
      </p:sp>
      <p:sp>
        <p:nvSpPr>
          <p:cNvPr id="6" name="Text 4"/>
          <p:cNvSpPr/>
          <p:nvPr/>
        </p:nvSpPr>
        <p:spPr>
          <a:xfrm>
            <a:off x="274320" y="960120"/>
            <a:ext cx="5943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S</a:t>
            </a:r>
            <a:endParaRPr lang="en-US" sz="2400" dirty="0"/>
          </a:p>
        </p:txBody>
      </p:sp>
      <p:sp>
        <p:nvSpPr>
          <p:cNvPr id="7" name="Text 5"/>
          <p:cNvSpPr/>
          <p:nvPr/>
        </p:nvSpPr>
        <p:spPr>
          <a:xfrm>
            <a:off x="1005840" y="978408"/>
            <a:ext cx="1554480" cy="274320"/>
          </a:xfrm>
          <a:prstGeom prst="rect">
            <a:avLst/>
          </a:prstGeom>
          <a:noFill/>
          <a:ln/>
        </p:spPr>
        <p:txBody>
          <a:bodyPr wrap="square" lIns="0" tIns="0" rIns="0" bIns="0" rtlCol="0" anchor="ctr"/>
          <a:lstStyle/>
          <a:p>
            <a:pPr indent="0" marL="0">
              <a:buNone/>
            </a:pPr>
            <a:r>
              <a:rPr lang="en-US" sz="1400" b="1" dirty="0">
                <a:solidFill>
                  <a:srgbClr val="2C5AA0"/>
                </a:solidFill>
                <a:latin typeface="Segoe UI" pitchFamily="34" charset="0"/>
                <a:ea typeface="Segoe UI" pitchFamily="34" charset="-122"/>
                <a:cs typeface="Segoe UI" pitchFamily="34" charset="-120"/>
              </a:rPr>
              <a:t>Setting</a:t>
            </a:r>
            <a:endParaRPr lang="en-US" sz="1400" dirty="0"/>
          </a:p>
        </p:txBody>
      </p:sp>
      <p:sp>
        <p:nvSpPr>
          <p:cNvPr id="8" name="Text 6"/>
          <p:cNvSpPr/>
          <p:nvPr/>
        </p:nvSpPr>
        <p:spPr>
          <a:xfrm>
            <a:off x="1005840" y="1252728"/>
            <a:ext cx="1554480" cy="237744"/>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状況の設定</a:t>
            </a:r>
            <a:endParaRPr lang="en-US" sz="1200" dirty="0"/>
          </a:p>
        </p:txBody>
      </p:sp>
      <p:sp>
        <p:nvSpPr>
          <p:cNvPr id="9" name="Text 7"/>
          <p:cNvSpPr/>
          <p:nvPr/>
        </p:nvSpPr>
        <p:spPr>
          <a:xfrm>
            <a:off x="2743200" y="960120"/>
            <a:ext cx="5943600" cy="566928"/>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静かな環境、家族同席、座って話す</a:t>
            </a:r>
            <a:endParaRPr lang="en-US" sz="1400" dirty="0"/>
          </a:p>
        </p:txBody>
      </p:sp>
      <p:sp>
        <p:nvSpPr>
          <p:cNvPr id="10" name="Shape 8"/>
          <p:cNvSpPr/>
          <p:nvPr/>
        </p:nvSpPr>
        <p:spPr>
          <a:xfrm>
            <a:off x="274320" y="1618488"/>
            <a:ext cx="8595360" cy="56692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274320" y="1618488"/>
            <a:ext cx="594360" cy="566928"/>
          </a:xfrm>
          <a:prstGeom prst="rect">
            <a:avLst/>
          </a:prstGeom>
          <a:solidFill>
            <a:srgbClr val="17A2B8"/>
          </a:solidFill>
          <a:ln/>
        </p:spPr>
      </p:sp>
      <p:sp>
        <p:nvSpPr>
          <p:cNvPr id="12" name="Text 10"/>
          <p:cNvSpPr/>
          <p:nvPr/>
        </p:nvSpPr>
        <p:spPr>
          <a:xfrm>
            <a:off x="274320" y="1618488"/>
            <a:ext cx="5943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P</a:t>
            </a:r>
            <a:endParaRPr lang="en-US" sz="2400" dirty="0"/>
          </a:p>
        </p:txBody>
      </p:sp>
      <p:sp>
        <p:nvSpPr>
          <p:cNvPr id="13" name="Text 11"/>
          <p:cNvSpPr/>
          <p:nvPr/>
        </p:nvSpPr>
        <p:spPr>
          <a:xfrm>
            <a:off x="1005840" y="1636776"/>
            <a:ext cx="1554480" cy="274320"/>
          </a:xfrm>
          <a:prstGeom prst="rect">
            <a:avLst/>
          </a:prstGeom>
          <a:noFill/>
          <a:ln/>
        </p:spPr>
        <p:txBody>
          <a:bodyPr wrap="square" lIns="0" tIns="0" rIns="0" bIns="0" rtlCol="0" anchor="ctr"/>
          <a:lstStyle/>
          <a:p>
            <a:pPr indent="0" marL="0">
              <a:buNone/>
            </a:pPr>
            <a:r>
              <a:rPr lang="en-US" sz="1400" b="1" dirty="0">
                <a:solidFill>
                  <a:srgbClr val="17A2B8"/>
                </a:solidFill>
                <a:latin typeface="Segoe UI" pitchFamily="34" charset="0"/>
                <a:ea typeface="Segoe UI" pitchFamily="34" charset="-122"/>
                <a:cs typeface="Segoe UI" pitchFamily="34" charset="-120"/>
              </a:rPr>
              <a:t>Perception</a:t>
            </a:r>
            <a:endParaRPr lang="en-US" sz="1400" dirty="0"/>
          </a:p>
        </p:txBody>
      </p:sp>
      <p:sp>
        <p:nvSpPr>
          <p:cNvPr id="14" name="Text 12"/>
          <p:cNvSpPr/>
          <p:nvPr/>
        </p:nvSpPr>
        <p:spPr>
          <a:xfrm>
            <a:off x="1005840" y="1911096"/>
            <a:ext cx="1554480" cy="237744"/>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認識の確認</a:t>
            </a:r>
            <a:endParaRPr lang="en-US" sz="1200" dirty="0"/>
          </a:p>
        </p:txBody>
      </p:sp>
      <p:sp>
        <p:nvSpPr>
          <p:cNvPr id="15" name="Text 13"/>
          <p:cNvSpPr/>
          <p:nvPr/>
        </p:nvSpPr>
        <p:spPr>
          <a:xfrm>
            <a:off x="2743200" y="1618488"/>
            <a:ext cx="5943600" cy="566928"/>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相手の理解度・認識のズレを把握</a:t>
            </a:r>
            <a:endParaRPr lang="en-US" sz="1400" dirty="0"/>
          </a:p>
        </p:txBody>
      </p:sp>
      <p:sp>
        <p:nvSpPr>
          <p:cNvPr id="16" name="Shape 14"/>
          <p:cNvSpPr/>
          <p:nvPr/>
        </p:nvSpPr>
        <p:spPr>
          <a:xfrm>
            <a:off x="274320" y="2276856"/>
            <a:ext cx="8595360" cy="56692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274320" y="2276856"/>
            <a:ext cx="594360" cy="566928"/>
          </a:xfrm>
          <a:prstGeom prst="rect">
            <a:avLst/>
          </a:prstGeom>
          <a:solidFill>
            <a:srgbClr val="28A745"/>
          </a:solidFill>
          <a:ln/>
        </p:spPr>
      </p:sp>
      <p:sp>
        <p:nvSpPr>
          <p:cNvPr id="18" name="Text 16"/>
          <p:cNvSpPr/>
          <p:nvPr/>
        </p:nvSpPr>
        <p:spPr>
          <a:xfrm>
            <a:off x="274320" y="2276856"/>
            <a:ext cx="5943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I</a:t>
            </a:r>
            <a:endParaRPr lang="en-US" sz="2400" dirty="0"/>
          </a:p>
        </p:txBody>
      </p:sp>
      <p:sp>
        <p:nvSpPr>
          <p:cNvPr id="19" name="Text 17"/>
          <p:cNvSpPr/>
          <p:nvPr/>
        </p:nvSpPr>
        <p:spPr>
          <a:xfrm>
            <a:off x="1005840" y="2295144"/>
            <a:ext cx="1554480" cy="274320"/>
          </a:xfrm>
          <a:prstGeom prst="rect">
            <a:avLst/>
          </a:prstGeom>
          <a:noFill/>
          <a:ln/>
        </p:spPr>
        <p:txBody>
          <a:bodyPr wrap="square" lIns="0" tIns="0" rIns="0" bIns="0" rtlCol="0" anchor="ctr"/>
          <a:lstStyle/>
          <a:p>
            <a:pPr indent="0" marL="0">
              <a:buNone/>
            </a:pPr>
            <a:r>
              <a:rPr lang="en-US" sz="1400" b="1" dirty="0">
                <a:solidFill>
                  <a:srgbClr val="28A745"/>
                </a:solidFill>
                <a:latin typeface="Segoe UI" pitchFamily="34" charset="0"/>
                <a:ea typeface="Segoe UI" pitchFamily="34" charset="-122"/>
                <a:cs typeface="Segoe UI" pitchFamily="34" charset="-120"/>
              </a:rPr>
              <a:t>Invitation</a:t>
            </a:r>
            <a:endParaRPr lang="en-US" sz="1400" dirty="0"/>
          </a:p>
        </p:txBody>
      </p:sp>
      <p:sp>
        <p:nvSpPr>
          <p:cNvPr id="20" name="Text 18"/>
          <p:cNvSpPr/>
          <p:nvPr/>
        </p:nvSpPr>
        <p:spPr>
          <a:xfrm>
            <a:off x="1005840" y="2569464"/>
            <a:ext cx="1554480" cy="237744"/>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情報提供への招待</a:t>
            </a:r>
            <a:endParaRPr lang="en-US" sz="1200" dirty="0"/>
          </a:p>
        </p:txBody>
      </p:sp>
      <p:sp>
        <p:nvSpPr>
          <p:cNvPr id="21" name="Text 19"/>
          <p:cNvSpPr/>
          <p:nvPr/>
        </p:nvSpPr>
        <p:spPr>
          <a:xfrm>
            <a:off x="2743200" y="2276856"/>
            <a:ext cx="5943600" cy="566928"/>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どこまで知りたいかを確認する</a:t>
            </a:r>
            <a:endParaRPr lang="en-US" sz="1400" dirty="0"/>
          </a:p>
        </p:txBody>
      </p:sp>
      <p:sp>
        <p:nvSpPr>
          <p:cNvPr id="22" name="Shape 20"/>
          <p:cNvSpPr/>
          <p:nvPr/>
        </p:nvSpPr>
        <p:spPr>
          <a:xfrm>
            <a:off x="274320" y="2935224"/>
            <a:ext cx="8595360" cy="56692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3" name="Shape 21"/>
          <p:cNvSpPr/>
          <p:nvPr/>
        </p:nvSpPr>
        <p:spPr>
          <a:xfrm>
            <a:off x="274320" y="2935224"/>
            <a:ext cx="594360" cy="566928"/>
          </a:xfrm>
          <a:prstGeom prst="rect">
            <a:avLst/>
          </a:prstGeom>
          <a:solidFill>
            <a:srgbClr val="E8850C"/>
          </a:solidFill>
          <a:ln/>
        </p:spPr>
      </p:sp>
      <p:sp>
        <p:nvSpPr>
          <p:cNvPr id="24" name="Text 22"/>
          <p:cNvSpPr/>
          <p:nvPr/>
        </p:nvSpPr>
        <p:spPr>
          <a:xfrm>
            <a:off x="274320" y="2935224"/>
            <a:ext cx="5943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K</a:t>
            </a:r>
            <a:endParaRPr lang="en-US" sz="2400" dirty="0"/>
          </a:p>
        </p:txBody>
      </p:sp>
      <p:sp>
        <p:nvSpPr>
          <p:cNvPr id="25" name="Text 23"/>
          <p:cNvSpPr/>
          <p:nvPr/>
        </p:nvSpPr>
        <p:spPr>
          <a:xfrm>
            <a:off x="1005840" y="2953512"/>
            <a:ext cx="1554480" cy="274320"/>
          </a:xfrm>
          <a:prstGeom prst="rect">
            <a:avLst/>
          </a:prstGeom>
          <a:noFill/>
          <a:ln/>
        </p:spPr>
        <p:txBody>
          <a:bodyPr wrap="square" lIns="0" tIns="0" rIns="0" bIns="0" rtlCol="0" anchor="ctr"/>
          <a:lstStyle/>
          <a:p>
            <a:pPr indent="0" marL="0">
              <a:buNone/>
            </a:pPr>
            <a:r>
              <a:rPr lang="en-US" sz="1400" b="1" dirty="0">
                <a:solidFill>
                  <a:srgbClr val="E8850C"/>
                </a:solidFill>
                <a:latin typeface="Segoe UI" pitchFamily="34" charset="0"/>
                <a:ea typeface="Segoe UI" pitchFamily="34" charset="-122"/>
                <a:cs typeface="Segoe UI" pitchFamily="34" charset="-120"/>
              </a:rPr>
              <a:t>Knowledge</a:t>
            </a:r>
            <a:endParaRPr lang="en-US" sz="1400" dirty="0"/>
          </a:p>
        </p:txBody>
      </p:sp>
      <p:sp>
        <p:nvSpPr>
          <p:cNvPr id="26" name="Text 24"/>
          <p:cNvSpPr/>
          <p:nvPr/>
        </p:nvSpPr>
        <p:spPr>
          <a:xfrm>
            <a:off x="1005840" y="3227832"/>
            <a:ext cx="1554480" cy="237744"/>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知識の提供</a:t>
            </a:r>
            <a:endParaRPr lang="en-US" sz="1200" dirty="0"/>
          </a:p>
        </p:txBody>
      </p:sp>
      <p:sp>
        <p:nvSpPr>
          <p:cNvPr id="27" name="Text 25"/>
          <p:cNvSpPr/>
          <p:nvPr/>
        </p:nvSpPr>
        <p:spPr>
          <a:xfrm>
            <a:off x="2743200" y="2935224"/>
            <a:ext cx="5943600" cy="566928"/>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専門用語を避け、少しずつ伝える</a:t>
            </a:r>
            <a:endParaRPr lang="en-US" sz="1400" dirty="0"/>
          </a:p>
        </p:txBody>
      </p:sp>
      <p:sp>
        <p:nvSpPr>
          <p:cNvPr id="28" name="Shape 26"/>
          <p:cNvSpPr/>
          <p:nvPr/>
        </p:nvSpPr>
        <p:spPr>
          <a:xfrm>
            <a:off x="274320" y="3593592"/>
            <a:ext cx="8595360" cy="56692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9" name="Shape 27"/>
          <p:cNvSpPr/>
          <p:nvPr/>
        </p:nvSpPr>
        <p:spPr>
          <a:xfrm>
            <a:off x="274320" y="3593592"/>
            <a:ext cx="594360" cy="566928"/>
          </a:xfrm>
          <a:prstGeom prst="rect">
            <a:avLst/>
          </a:prstGeom>
          <a:solidFill>
            <a:srgbClr val="DC3545"/>
          </a:solidFill>
          <a:ln/>
        </p:spPr>
      </p:sp>
      <p:sp>
        <p:nvSpPr>
          <p:cNvPr id="30" name="Text 28"/>
          <p:cNvSpPr/>
          <p:nvPr/>
        </p:nvSpPr>
        <p:spPr>
          <a:xfrm>
            <a:off x="274320" y="3593592"/>
            <a:ext cx="5943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E</a:t>
            </a:r>
            <a:endParaRPr lang="en-US" sz="2400" dirty="0"/>
          </a:p>
        </p:txBody>
      </p:sp>
      <p:sp>
        <p:nvSpPr>
          <p:cNvPr id="31" name="Text 29"/>
          <p:cNvSpPr/>
          <p:nvPr/>
        </p:nvSpPr>
        <p:spPr>
          <a:xfrm>
            <a:off x="1005840" y="3611880"/>
            <a:ext cx="1554480" cy="274320"/>
          </a:xfrm>
          <a:prstGeom prst="rect">
            <a:avLst/>
          </a:prstGeom>
          <a:noFill/>
          <a:ln/>
        </p:spPr>
        <p:txBody>
          <a:bodyPr wrap="square" lIns="0" tIns="0" rIns="0" bIns="0" rtlCol="0" anchor="ctr"/>
          <a:lstStyle/>
          <a:p>
            <a:pPr indent="0" marL="0">
              <a:buNone/>
            </a:pPr>
            <a:r>
              <a:rPr lang="en-US" sz="1400" b="1" dirty="0">
                <a:solidFill>
                  <a:srgbClr val="DC3545"/>
                </a:solidFill>
                <a:latin typeface="Segoe UI" pitchFamily="34" charset="0"/>
                <a:ea typeface="Segoe UI" pitchFamily="34" charset="-122"/>
                <a:cs typeface="Segoe UI" pitchFamily="34" charset="-120"/>
              </a:rPr>
              <a:t>Emotions</a:t>
            </a:r>
            <a:endParaRPr lang="en-US" sz="1400" dirty="0"/>
          </a:p>
        </p:txBody>
      </p:sp>
      <p:sp>
        <p:nvSpPr>
          <p:cNvPr id="32" name="Text 30"/>
          <p:cNvSpPr/>
          <p:nvPr/>
        </p:nvSpPr>
        <p:spPr>
          <a:xfrm>
            <a:off x="1005840" y="3886200"/>
            <a:ext cx="1554480" cy="237744"/>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感情への共感</a:t>
            </a:r>
            <a:endParaRPr lang="en-US" sz="1200" dirty="0"/>
          </a:p>
        </p:txBody>
      </p:sp>
      <p:sp>
        <p:nvSpPr>
          <p:cNvPr id="33" name="Text 31"/>
          <p:cNvSpPr/>
          <p:nvPr/>
        </p:nvSpPr>
        <p:spPr>
          <a:xfrm>
            <a:off x="2743200" y="3593592"/>
            <a:ext cx="5943600" cy="566928"/>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感情を受け止め、言葉で寄り添う</a:t>
            </a:r>
            <a:endParaRPr lang="en-US" sz="1400" dirty="0"/>
          </a:p>
        </p:txBody>
      </p:sp>
      <p:sp>
        <p:nvSpPr>
          <p:cNvPr id="34" name="Shape 32"/>
          <p:cNvSpPr/>
          <p:nvPr/>
        </p:nvSpPr>
        <p:spPr>
          <a:xfrm>
            <a:off x="274320" y="4251960"/>
            <a:ext cx="8595360" cy="56692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5" name="Shape 33"/>
          <p:cNvSpPr/>
          <p:nvPr/>
        </p:nvSpPr>
        <p:spPr>
          <a:xfrm>
            <a:off x="274320" y="4251960"/>
            <a:ext cx="594360" cy="566928"/>
          </a:xfrm>
          <a:prstGeom prst="rect">
            <a:avLst/>
          </a:prstGeom>
          <a:solidFill>
            <a:srgbClr val="1B3A5C"/>
          </a:solidFill>
          <a:ln/>
        </p:spPr>
      </p:sp>
      <p:sp>
        <p:nvSpPr>
          <p:cNvPr id="36" name="Text 34"/>
          <p:cNvSpPr/>
          <p:nvPr/>
        </p:nvSpPr>
        <p:spPr>
          <a:xfrm>
            <a:off x="274320" y="4251960"/>
            <a:ext cx="5943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S</a:t>
            </a:r>
            <a:endParaRPr lang="en-US" sz="2400" dirty="0"/>
          </a:p>
        </p:txBody>
      </p:sp>
      <p:sp>
        <p:nvSpPr>
          <p:cNvPr id="37" name="Text 35"/>
          <p:cNvSpPr/>
          <p:nvPr/>
        </p:nvSpPr>
        <p:spPr>
          <a:xfrm>
            <a:off x="1005840" y="4270248"/>
            <a:ext cx="1554480" cy="274320"/>
          </a:xfrm>
          <a:prstGeom prst="rect">
            <a:avLst/>
          </a:prstGeom>
          <a:noFill/>
          <a:ln/>
        </p:spPr>
        <p:txBody>
          <a:bodyPr wrap="square" lIns="0" tIns="0" rIns="0" bIns="0" rtlCol="0" anchor="ctr"/>
          <a:lstStyle/>
          <a:p>
            <a:pPr indent="0" marL="0">
              <a:buNone/>
            </a:pPr>
            <a:r>
              <a:rPr lang="en-US" sz="1400" b="1" dirty="0">
                <a:solidFill>
                  <a:srgbClr val="1B3A5C"/>
                </a:solidFill>
                <a:latin typeface="Segoe UI" pitchFamily="34" charset="0"/>
                <a:ea typeface="Segoe UI" pitchFamily="34" charset="-122"/>
                <a:cs typeface="Segoe UI" pitchFamily="34" charset="-120"/>
              </a:rPr>
              <a:t>Strategy</a:t>
            </a:r>
            <a:endParaRPr lang="en-US" sz="1400" dirty="0"/>
          </a:p>
        </p:txBody>
      </p:sp>
      <p:sp>
        <p:nvSpPr>
          <p:cNvPr id="38" name="Text 36"/>
          <p:cNvSpPr/>
          <p:nvPr/>
        </p:nvSpPr>
        <p:spPr>
          <a:xfrm>
            <a:off x="1005840" y="4544568"/>
            <a:ext cx="1554480" cy="237744"/>
          </a:xfrm>
          <a:prstGeom prst="rect">
            <a:avLst/>
          </a:prstGeom>
          <a:noFill/>
          <a:ln/>
        </p:spPr>
        <p:txBody>
          <a:bodyPr wrap="square" lIns="0" tIns="0" rIns="0" bIns="0" rtlCol="0" anchor="ctr"/>
          <a:lstStyle/>
          <a:p>
            <a:pPr indent="0" marL="0">
              <a:buNone/>
            </a:pPr>
            <a:r>
              <a:rPr lang="en-US" sz="1200" dirty="0">
                <a:solidFill>
                  <a:srgbClr val="636E72"/>
                </a:solidFill>
                <a:latin typeface="BIZ UDPGothic" pitchFamily="34" charset="0"/>
                <a:ea typeface="BIZ UDPGothic" pitchFamily="34" charset="-122"/>
                <a:cs typeface="BIZ UDPGothic" pitchFamily="34" charset="-120"/>
              </a:rPr>
              <a:t>戦略と要約</a:t>
            </a:r>
            <a:endParaRPr lang="en-US" sz="1200" dirty="0"/>
          </a:p>
        </p:txBody>
      </p:sp>
      <p:sp>
        <p:nvSpPr>
          <p:cNvPr id="39" name="Text 37"/>
          <p:cNvSpPr/>
          <p:nvPr/>
        </p:nvSpPr>
        <p:spPr>
          <a:xfrm>
            <a:off x="2743200" y="4251960"/>
            <a:ext cx="5943600" cy="566928"/>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治療計画を話し合い、要約する</a:t>
            </a:r>
            <a:endParaRPr lang="en-US" sz="1400" dirty="0"/>
          </a:p>
        </p:txBody>
      </p:sp>
      <p:sp>
        <p:nvSpPr>
          <p:cNvPr id="40" name="Text 38"/>
          <p:cNvSpPr/>
          <p:nvPr/>
        </p:nvSpPr>
        <p:spPr>
          <a:xfrm>
            <a:off x="274320" y="4892040"/>
            <a:ext cx="8595360" cy="274320"/>
          </a:xfrm>
          <a:prstGeom prst="rect">
            <a:avLst/>
          </a:prstGeom>
          <a:noFill/>
          <a:ln/>
        </p:spPr>
        <p:txBody>
          <a:bodyPr wrap="square" lIns="0" tIns="0" rIns="0" bIns="0" rtlCol="0" anchor="ctr"/>
          <a:lstStyle/>
          <a:p>
            <a:pPr indent="0" marL="0">
              <a:buNone/>
            </a:pPr>
            <a:r>
              <a:rPr lang="en-US" sz="1000" i="1" dirty="0">
                <a:solidFill>
                  <a:srgbClr val="636E72"/>
                </a:solidFill>
                <a:latin typeface="Segoe UI" pitchFamily="34" charset="0"/>
                <a:ea typeface="Segoe UI" pitchFamily="34" charset="-122"/>
                <a:cs typeface="Segoe UI" pitchFamily="34" charset="-120"/>
              </a:rPr>
              <a:t>Baile WF, et al. Oncologist. 2000;5(4):302-311.</a:t>
            </a:r>
            <a:endParaRPr lang="en-US" sz="1000" dirty="0"/>
          </a:p>
        </p:txBody>
      </p:sp>
      <p:sp>
        <p:nvSpPr>
          <p:cNvPr id="41" name="Text 39"/>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3/9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SPIKES 前半 ― 準備と確認のステップ</a:t>
            </a:r>
            <a:endParaRPr lang="en-US" sz="2400" dirty="0"/>
          </a:p>
        </p:txBody>
      </p:sp>
      <p:sp>
        <p:nvSpPr>
          <p:cNvPr id="4" name="Shape 2"/>
          <p:cNvSpPr/>
          <p:nvPr/>
        </p:nvSpPr>
        <p:spPr>
          <a:xfrm>
            <a:off x="274320" y="960120"/>
            <a:ext cx="859536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274320" y="960120"/>
            <a:ext cx="548640" cy="1234440"/>
          </a:xfrm>
          <a:prstGeom prst="rect">
            <a:avLst/>
          </a:prstGeom>
          <a:solidFill>
            <a:srgbClr val="2C5AA0"/>
          </a:solidFill>
          <a:ln/>
        </p:spPr>
      </p:sp>
      <p:sp>
        <p:nvSpPr>
          <p:cNvPr id="6" name="Text 4"/>
          <p:cNvSpPr/>
          <p:nvPr/>
        </p:nvSpPr>
        <p:spPr>
          <a:xfrm>
            <a:off x="274320" y="96012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S</a:t>
            </a:r>
            <a:endParaRPr lang="en-US" sz="2600" dirty="0"/>
          </a:p>
        </p:txBody>
      </p:sp>
      <p:sp>
        <p:nvSpPr>
          <p:cNvPr id="7" name="Text 5"/>
          <p:cNvSpPr/>
          <p:nvPr/>
        </p:nvSpPr>
        <p:spPr>
          <a:xfrm>
            <a:off x="1005840" y="1005840"/>
            <a:ext cx="7680960" cy="32004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Setting（状況の設定）</a:t>
            </a:r>
            <a:endParaRPr lang="en-US" sz="1600" dirty="0"/>
          </a:p>
        </p:txBody>
      </p:sp>
      <p:sp>
        <p:nvSpPr>
          <p:cNvPr id="8" name="Text 6"/>
          <p:cNvSpPr/>
          <p:nvPr/>
        </p:nvSpPr>
        <p:spPr>
          <a:xfrm>
            <a:off x="1005840" y="134416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・プライバシーが保たれる静かな環境を用意</a:t>
            </a:r>
            <a:endParaRPr lang="en-US" sz="1300" dirty="0"/>
          </a:p>
        </p:txBody>
      </p:sp>
      <p:sp>
        <p:nvSpPr>
          <p:cNvPr id="9" name="Text 7"/>
          <p:cNvSpPr/>
          <p:nvPr/>
        </p:nvSpPr>
        <p:spPr>
          <a:xfrm>
            <a:off x="1005840" y="161848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・ご家族の同席を促し、全員が座れるようにする</a:t>
            </a:r>
            <a:endParaRPr lang="en-US" sz="1300" dirty="0"/>
          </a:p>
        </p:txBody>
      </p:sp>
      <p:sp>
        <p:nvSpPr>
          <p:cNvPr id="10" name="Text 8"/>
          <p:cNvSpPr/>
          <p:nvPr/>
        </p:nvSpPr>
        <p:spPr>
          <a:xfrm>
            <a:off x="1005840" y="189280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・時間的な制約や中断を最小限にする</a:t>
            </a:r>
            <a:endParaRPr lang="en-US" sz="1300" dirty="0"/>
          </a:p>
        </p:txBody>
      </p:sp>
      <p:sp>
        <p:nvSpPr>
          <p:cNvPr id="11" name="Shape 9"/>
          <p:cNvSpPr/>
          <p:nvPr/>
        </p:nvSpPr>
        <p:spPr>
          <a:xfrm>
            <a:off x="274320" y="2331720"/>
            <a:ext cx="859536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274320" y="2331720"/>
            <a:ext cx="548640" cy="1234440"/>
          </a:xfrm>
          <a:prstGeom prst="rect">
            <a:avLst/>
          </a:prstGeom>
          <a:solidFill>
            <a:srgbClr val="17A2B8"/>
          </a:solidFill>
          <a:ln/>
        </p:spPr>
      </p:sp>
      <p:sp>
        <p:nvSpPr>
          <p:cNvPr id="13" name="Text 11"/>
          <p:cNvSpPr/>
          <p:nvPr/>
        </p:nvSpPr>
        <p:spPr>
          <a:xfrm>
            <a:off x="274320" y="233172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P</a:t>
            </a:r>
            <a:endParaRPr lang="en-US" sz="2600" dirty="0"/>
          </a:p>
        </p:txBody>
      </p:sp>
      <p:sp>
        <p:nvSpPr>
          <p:cNvPr id="14" name="Text 12"/>
          <p:cNvSpPr/>
          <p:nvPr/>
        </p:nvSpPr>
        <p:spPr>
          <a:xfrm>
            <a:off x="1005840" y="2377440"/>
            <a:ext cx="7680960" cy="320040"/>
          </a:xfrm>
          <a:prstGeom prst="rect">
            <a:avLst/>
          </a:prstGeom>
          <a:noFill/>
          <a:ln/>
        </p:spPr>
        <p:txBody>
          <a:bodyPr wrap="square" lIns="0" tIns="0" rIns="0" bIns="0" rtlCol="0" anchor="ctr"/>
          <a:lstStyle/>
          <a:p>
            <a:pPr indent="0" marL="0">
              <a:buNone/>
            </a:pPr>
            <a:r>
              <a:rPr lang="en-US" sz="1600" b="1" dirty="0">
                <a:solidFill>
                  <a:srgbClr val="17A2B8"/>
                </a:solidFill>
                <a:latin typeface="BIZ UDPGothic" pitchFamily="34" charset="0"/>
                <a:ea typeface="BIZ UDPGothic" pitchFamily="34" charset="-122"/>
                <a:cs typeface="BIZ UDPGothic" pitchFamily="34" charset="-120"/>
              </a:rPr>
              <a:t>Perception（認識の確認）</a:t>
            </a:r>
            <a:endParaRPr lang="en-US" sz="1600" dirty="0"/>
          </a:p>
        </p:txBody>
      </p:sp>
      <p:sp>
        <p:nvSpPr>
          <p:cNvPr id="15" name="Text 13"/>
          <p:cNvSpPr/>
          <p:nvPr/>
        </p:nvSpPr>
        <p:spPr>
          <a:xfrm>
            <a:off x="1005840" y="271576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・「今のご本人の状態をどのようにお聞きですか？」</a:t>
            </a:r>
            <a:endParaRPr lang="en-US" sz="1300" dirty="0"/>
          </a:p>
        </p:txBody>
      </p:sp>
      <p:sp>
        <p:nvSpPr>
          <p:cNvPr id="16" name="Text 14"/>
          <p:cNvSpPr/>
          <p:nvPr/>
        </p:nvSpPr>
        <p:spPr>
          <a:xfrm>
            <a:off x="1005840" y="299008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・相手の理解度と認識のズレを把握する</a:t>
            </a:r>
            <a:endParaRPr lang="en-US" sz="1300" dirty="0"/>
          </a:p>
        </p:txBody>
      </p:sp>
      <p:sp>
        <p:nvSpPr>
          <p:cNvPr id="17" name="Text 15"/>
          <p:cNvSpPr/>
          <p:nvPr/>
        </p:nvSpPr>
        <p:spPr>
          <a:xfrm>
            <a:off x="1005840" y="326440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・医学知識のレベルに合わせた説明の出発点にする</a:t>
            </a:r>
            <a:endParaRPr lang="en-US" sz="1300" dirty="0"/>
          </a:p>
        </p:txBody>
      </p:sp>
      <p:sp>
        <p:nvSpPr>
          <p:cNvPr id="18" name="Shape 16"/>
          <p:cNvSpPr/>
          <p:nvPr/>
        </p:nvSpPr>
        <p:spPr>
          <a:xfrm>
            <a:off x="274320" y="3703320"/>
            <a:ext cx="859536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274320" y="3703320"/>
            <a:ext cx="548640" cy="1234440"/>
          </a:xfrm>
          <a:prstGeom prst="rect">
            <a:avLst/>
          </a:prstGeom>
          <a:solidFill>
            <a:srgbClr val="28A745"/>
          </a:solidFill>
          <a:ln/>
        </p:spPr>
      </p:sp>
      <p:sp>
        <p:nvSpPr>
          <p:cNvPr id="20" name="Text 18"/>
          <p:cNvSpPr/>
          <p:nvPr/>
        </p:nvSpPr>
        <p:spPr>
          <a:xfrm>
            <a:off x="274320" y="370332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I</a:t>
            </a:r>
            <a:endParaRPr lang="en-US" sz="2600" dirty="0"/>
          </a:p>
        </p:txBody>
      </p:sp>
      <p:sp>
        <p:nvSpPr>
          <p:cNvPr id="21" name="Text 19"/>
          <p:cNvSpPr/>
          <p:nvPr/>
        </p:nvSpPr>
        <p:spPr>
          <a:xfrm>
            <a:off x="1005840" y="3749040"/>
            <a:ext cx="7680960" cy="320040"/>
          </a:xfrm>
          <a:prstGeom prst="rect">
            <a:avLst/>
          </a:prstGeom>
          <a:noFill/>
          <a:ln/>
        </p:spPr>
        <p:txBody>
          <a:bodyPr wrap="square" lIns="0" tIns="0" rIns="0" bIns="0" rtlCol="0" anchor="ctr"/>
          <a:lstStyle/>
          <a:p>
            <a:pPr indent="0" marL="0">
              <a:buNone/>
            </a:pPr>
            <a:r>
              <a:rPr lang="en-US" sz="1600" b="1" dirty="0">
                <a:solidFill>
                  <a:srgbClr val="28A745"/>
                </a:solidFill>
                <a:latin typeface="BIZ UDPGothic" pitchFamily="34" charset="0"/>
                <a:ea typeface="BIZ UDPGothic" pitchFamily="34" charset="-122"/>
                <a:cs typeface="BIZ UDPGothic" pitchFamily="34" charset="-120"/>
              </a:rPr>
              <a:t>Invitation（情報提供への招待）</a:t>
            </a:r>
            <a:endParaRPr lang="en-US" sz="1600" dirty="0"/>
          </a:p>
        </p:txBody>
      </p:sp>
      <p:sp>
        <p:nvSpPr>
          <p:cNvPr id="22" name="Text 20"/>
          <p:cNvSpPr/>
          <p:nvPr/>
        </p:nvSpPr>
        <p:spPr>
          <a:xfrm>
            <a:off x="1005840" y="408736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・「詳しい検査結果をお伝えしてよろしいですか？」</a:t>
            </a:r>
            <a:endParaRPr lang="en-US" sz="1300" dirty="0"/>
          </a:p>
        </p:txBody>
      </p:sp>
      <p:sp>
        <p:nvSpPr>
          <p:cNvPr id="23" name="Text 21"/>
          <p:cNvSpPr/>
          <p:nvPr/>
        </p:nvSpPr>
        <p:spPr>
          <a:xfrm>
            <a:off x="1005840" y="436168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・詳細な予後を聞きたくない人もいることに配慮</a:t>
            </a:r>
            <a:endParaRPr lang="en-US" sz="1300" dirty="0"/>
          </a:p>
        </p:txBody>
      </p:sp>
      <p:sp>
        <p:nvSpPr>
          <p:cNvPr id="24" name="Text 22"/>
          <p:cNvSpPr/>
          <p:nvPr/>
        </p:nvSpPr>
        <p:spPr>
          <a:xfrm>
            <a:off x="1005840" y="463600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・情報の受け入れ態勢があるかを確認する</a:t>
            </a:r>
            <a:endParaRPr lang="en-US" sz="1300" dirty="0"/>
          </a:p>
        </p:txBody>
      </p:sp>
      <p:sp>
        <p:nvSpPr>
          <p:cNvPr id="25" name="Text 23"/>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4/9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SPIKES 後半 ― 伝達・共感・計画のステップ</a:t>
            </a:r>
            <a:endParaRPr lang="en-US" sz="2400" dirty="0"/>
          </a:p>
        </p:txBody>
      </p:sp>
      <p:sp>
        <p:nvSpPr>
          <p:cNvPr id="4" name="Shape 2"/>
          <p:cNvSpPr/>
          <p:nvPr/>
        </p:nvSpPr>
        <p:spPr>
          <a:xfrm>
            <a:off x="274320" y="960120"/>
            <a:ext cx="859536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274320" y="960120"/>
            <a:ext cx="548640" cy="1234440"/>
          </a:xfrm>
          <a:prstGeom prst="rect">
            <a:avLst/>
          </a:prstGeom>
          <a:solidFill>
            <a:srgbClr val="E8850C"/>
          </a:solidFill>
          <a:ln/>
        </p:spPr>
      </p:sp>
      <p:sp>
        <p:nvSpPr>
          <p:cNvPr id="6" name="Text 4"/>
          <p:cNvSpPr/>
          <p:nvPr/>
        </p:nvSpPr>
        <p:spPr>
          <a:xfrm>
            <a:off x="274320" y="96012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K</a:t>
            </a:r>
            <a:endParaRPr lang="en-US" sz="2600" dirty="0"/>
          </a:p>
        </p:txBody>
      </p:sp>
      <p:sp>
        <p:nvSpPr>
          <p:cNvPr id="7" name="Text 5"/>
          <p:cNvSpPr/>
          <p:nvPr/>
        </p:nvSpPr>
        <p:spPr>
          <a:xfrm>
            <a:off x="1005840" y="1005840"/>
            <a:ext cx="7680960" cy="320040"/>
          </a:xfrm>
          <a:prstGeom prst="rect">
            <a:avLst/>
          </a:prstGeom>
          <a:noFill/>
          <a:ln/>
        </p:spPr>
        <p:txBody>
          <a:bodyPr wrap="square" lIns="0" tIns="0" rIns="0" bIns="0" rtlCol="0" anchor="ctr"/>
          <a:lstStyle/>
          <a:p>
            <a:pPr indent="0" marL="0">
              <a:buNone/>
            </a:pPr>
            <a:r>
              <a:rPr lang="en-US" sz="1600" b="1" dirty="0">
                <a:solidFill>
                  <a:srgbClr val="E8850C"/>
                </a:solidFill>
                <a:latin typeface="BIZ UDPGothic" pitchFamily="34" charset="0"/>
                <a:ea typeface="BIZ UDPGothic" pitchFamily="34" charset="-122"/>
                <a:cs typeface="BIZ UDPGothic" pitchFamily="34" charset="-120"/>
              </a:rPr>
              <a:t>Knowledge（知識の提供）</a:t>
            </a:r>
            <a:endParaRPr lang="en-US" sz="1600" dirty="0"/>
          </a:p>
        </p:txBody>
      </p:sp>
      <p:sp>
        <p:nvSpPr>
          <p:cNvPr id="8" name="Text 6"/>
          <p:cNvSpPr/>
          <p:nvPr/>
        </p:nvSpPr>
        <p:spPr>
          <a:xfrm>
            <a:off x="1005840" y="134416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・専門用語を避け、わかりやすい言葉で伝える</a:t>
            </a:r>
            <a:endParaRPr lang="en-US" sz="1300" dirty="0"/>
          </a:p>
        </p:txBody>
      </p:sp>
      <p:sp>
        <p:nvSpPr>
          <p:cNvPr id="9" name="Text 7"/>
          <p:cNvSpPr/>
          <p:nvPr/>
        </p:nvSpPr>
        <p:spPr>
          <a:xfrm>
            <a:off x="1005840" y="161848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・一度に大量の情報を与えず、理解度を確認しながら</a:t>
            </a:r>
            <a:endParaRPr lang="en-US" sz="1300" dirty="0"/>
          </a:p>
        </p:txBody>
      </p:sp>
      <p:sp>
        <p:nvSpPr>
          <p:cNvPr id="10" name="Text 8"/>
          <p:cNvSpPr/>
          <p:nvPr/>
        </p:nvSpPr>
        <p:spPr>
          <a:xfrm>
            <a:off x="1005840" y="189280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・個別の状況に合わせてデータを「翻訳」する</a:t>
            </a:r>
            <a:endParaRPr lang="en-US" sz="1300" dirty="0"/>
          </a:p>
        </p:txBody>
      </p:sp>
      <p:sp>
        <p:nvSpPr>
          <p:cNvPr id="11" name="Shape 9"/>
          <p:cNvSpPr/>
          <p:nvPr/>
        </p:nvSpPr>
        <p:spPr>
          <a:xfrm>
            <a:off x="274320" y="2331720"/>
            <a:ext cx="859536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274320" y="2331720"/>
            <a:ext cx="548640" cy="1234440"/>
          </a:xfrm>
          <a:prstGeom prst="rect">
            <a:avLst/>
          </a:prstGeom>
          <a:solidFill>
            <a:srgbClr val="DC3545"/>
          </a:solidFill>
          <a:ln/>
        </p:spPr>
      </p:sp>
      <p:sp>
        <p:nvSpPr>
          <p:cNvPr id="13" name="Text 11"/>
          <p:cNvSpPr/>
          <p:nvPr/>
        </p:nvSpPr>
        <p:spPr>
          <a:xfrm>
            <a:off x="274320" y="233172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E</a:t>
            </a:r>
            <a:endParaRPr lang="en-US" sz="2600" dirty="0"/>
          </a:p>
        </p:txBody>
      </p:sp>
      <p:sp>
        <p:nvSpPr>
          <p:cNvPr id="14" name="Text 12"/>
          <p:cNvSpPr/>
          <p:nvPr/>
        </p:nvSpPr>
        <p:spPr>
          <a:xfrm>
            <a:off x="1005840" y="2377440"/>
            <a:ext cx="7680960" cy="32004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Emotions（感情への共感）</a:t>
            </a:r>
            <a:endParaRPr lang="en-US" sz="1600" dirty="0"/>
          </a:p>
        </p:txBody>
      </p:sp>
      <p:sp>
        <p:nvSpPr>
          <p:cNvPr id="15" name="Text 13"/>
          <p:cNvSpPr/>
          <p:nvPr/>
        </p:nvSpPr>
        <p:spPr>
          <a:xfrm>
            <a:off x="1005840" y="271576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・感情的反応（悲しみ・怒り・沈黙）を受け止める</a:t>
            </a:r>
            <a:endParaRPr lang="en-US" sz="1300" dirty="0"/>
          </a:p>
        </p:txBody>
      </p:sp>
      <p:sp>
        <p:nvSpPr>
          <p:cNvPr id="16" name="Text 14"/>
          <p:cNvSpPr/>
          <p:nvPr/>
        </p:nvSpPr>
        <p:spPr>
          <a:xfrm>
            <a:off x="1005840" y="299008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・「お辛いですね」「突然のことで驚かれますよね」</a:t>
            </a:r>
            <a:endParaRPr lang="en-US" sz="1300" dirty="0"/>
          </a:p>
        </p:txBody>
      </p:sp>
      <p:sp>
        <p:nvSpPr>
          <p:cNvPr id="17" name="Text 15"/>
          <p:cNvSpPr/>
          <p:nvPr/>
        </p:nvSpPr>
        <p:spPr>
          <a:xfrm>
            <a:off x="1005840" y="326440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・適度な間（ポーズ）を取り、感情の揺れに寄り添う</a:t>
            </a:r>
            <a:endParaRPr lang="en-US" sz="1300" dirty="0"/>
          </a:p>
        </p:txBody>
      </p:sp>
      <p:sp>
        <p:nvSpPr>
          <p:cNvPr id="18" name="Shape 16"/>
          <p:cNvSpPr/>
          <p:nvPr/>
        </p:nvSpPr>
        <p:spPr>
          <a:xfrm>
            <a:off x="274320" y="3703320"/>
            <a:ext cx="8595360" cy="1234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274320" y="3703320"/>
            <a:ext cx="548640" cy="1234440"/>
          </a:xfrm>
          <a:prstGeom prst="rect">
            <a:avLst/>
          </a:prstGeom>
          <a:solidFill>
            <a:srgbClr val="1B3A5C"/>
          </a:solidFill>
          <a:ln/>
        </p:spPr>
      </p:sp>
      <p:sp>
        <p:nvSpPr>
          <p:cNvPr id="20" name="Text 18"/>
          <p:cNvSpPr/>
          <p:nvPr/>
        </p:nvSpPr>
        <p:spPr>
          <a:xfrm>
            <a:off x="274320" y="370332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S</a:t>
            </a:r>
            <a:endParaRPr lang="en-US" sz="2600" dirty="0"/>
          </a:p>
        </p:txBody>
      </p:sp>
      <p:sp>
        <p:nvSpPr>
          <p:cNvPr id="21" name="Text 19"/>
          <p:cNvSpPr/>
          <p:nvPr/>
        </p:nvSpPr>
        <p:spPr>
          <a:xfrm>
            <a:off x="1005840" y="3749040"/>
            <a:ext cx="7680960" cy="320040"/>
          </a:xfrm>
          <a:prstGeom prst="rect">
            <a:avLst/>
          </a:prstGeom>
          <a:noFill/>
          <a:ln/>
        </p:spPr>
        <p:txBody>
          <a:bodyPr wrap="square" lIns="0" tIns="0" rIns="0" bIns="0" rtlCol="0" anchor="ctr"/>
          <a:lstStyle/>
          <a:p>
            <a:pPr indent="0" marL="0">
              <a:buNone/>
            </a:pPr>
            <a:r>
              <a:rPr lang="en-US" sz="1600" b="1" dirty="0">
                <a:solidFill>
                  <a:srgbClr val="1B3A5C"/>
                </a:solidFill>
                <a:latin typeface="BIZ UDPGothic" pitchFamily="34" charset="0"/>
                <a:ea typeface="BIZ UDPGothic" pitchFamily="34" charset="-122"/>
                <a:cs typeface="BIZ UDPGothic" pitchFamily="34" charset="-120"/>
              </a:rPr>
              <a:t>Strategy &amp; Summary（戦略と要約）</a:t>
            </a:r>
            <a:endParaRPr lang="en-US" sz="1600" dirty="0"/>
          </a:p>
        </p:txBody>
      </p:sp>
      <p:sp>
        <p:nvSpPr>
          <p:cNvPr id="22" name="Text 20"/>
          <p:cNvSpPr/>
          <p:nvPr/>
        </p:nvSpPr>
        <p:spPr>
          <a:xfrm>
            <a:off x="1005840" y="408736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・今後の治療方針・計画を一緒に話し合う</a:t>
            </a:r>
            <a:endParaRPr lang="en-US" sz="1300" dirty="0"/>
          </a:p>
        </p:txBody>
      </p:sp>
      <p:sp>
        <p:nvSpPr>
          <p:cNvPr id="23" name="Text 21"/>
          <p:cNvSpPr/>
          <p:nvPr/>
        </p:nvSpPr>
        <p:spPr>
          <a:xfrm>
            <a:off x="1005840" y="436168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・説明内容を3点程度に要約して確認する</a:t>
            </a:r>
            <a:endParaRPr lang="en-US" sz="1300" dirty="0"/>
          </a:p>
        </p:txBody>
      </p:sp>
      <p:sp>
        <p:nvSpPr>
          <p:cNvPr id="24" name="Text 22"/>
          <p:cNvSpPr/>
          <p:nvPr/>
        </p:nvSpPr>
        <p:spPr>
          <a:xfrm>
            <a:off x="1005840" y="4636008"/>
            <a:ext cx="7680960" cy="27432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・質問の機会を保証し、次回面談の予定を立てる</a:t>
            </a:r>
            <a:endParaRPr lang="en-US" sz="1300" dirty="0"/>
          </a:p>
        </p:txBody>
      </p:sp>
      <p:sp>
        <p:nvSpPr>
          <p:cNvPr id="25" name="Text 23"/>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5/9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理想的な病状説明の3つの条件</a:t>
            </a:r>
            <a:endParaRPr lang="en-US" sz="2400" dirty="0"/>
          </a:p>
        </p:txBody>
      </p:sp>
      <p:sp>
        <p:nvSpPr>
          <p:cNvPr id="4" name="Shape 2"/>
          <p:cNvSpPr/>
          <p:nvPr/>
        </p:nvSpPr>
        <p:spPr>
          <a:xfrm>
            <a:off x="182880" y="960120"/>
            <a:ext cx="2834640" cy="4023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182880" y="960120"/>
            <a:ext cx="2834640" cy="640080"/>
          </a:xfrm>
          <a:prstGeom prst="rect">
            <a:avLst/>
          </a:prstGeom>
          <a:solidFill>
            <a:srgbClr val="2C5AA0"/>
          </a:solidFill>
          <a:ln/>
        </p:spPr>
      </p:sp>
      <p:sp>
        <p:nvSpPr>
          <p:cNvPr id="6" name="Shape 4"/>
          <p:cNvSpPr/>
          <p:nvPr/>
        </p:nvSpPr>
        <p:spPr>
          <a:xfrm>
            <a:off x="274320" y="1024128"/>
            <a:ext cx="502920" cy="502920"/>
          </a:xfrm>
          <a:prstGeom prst="ellipse">
            <a:avLst/>
          </a:prstGeom>
          <a:solidFill>
            <a:srgbClr val="FFFFFF"/>
          </a:solidFill>
          <a:ln/>
        </p:spPr>
      </p:sp>
      <p:sp>
        <p:nvSpPr>
          <p:cNvPr id="7" name="Text 5"/>
          <p:cNvSpPr/>
          <p:nvPr/>
        </p:nvSpPr>
        <p:spPr>
          <a:xfrm>
            <a:off x="274320" y="1024128"/>
            <a:ext cx="502920" cy="502920"/>
          </a:xfrm>
          <a:prstGeom prst="rect">
            <a:avLst/>
          </a:prstGeom>
          <a:noFill/>
          <a:ln/>
        </p:spPr>
        <p:txBody>
          <a:bodyPr wrap="square" lIns="0" tIns="0" rIns="0" bIns="0" rtlCol="0" anchor="ctr"/>
          <a:lstStyle/>
          <a:p>
            <a:pPr algn="ctr" indent="0" marL="0">
              <a:buNone/>
            </a:pPr>
            <a:r>
              <a:rPr lang="en-US" sz="2200" b="1" dirty="0">
                <a:solidFill>
                  <a:srgbClr val="2C5AA0"/>
                </a:solidFill>
                <a:latin typeface="Segoe UI" pitchFamily="34" charset="0"/>
                <a:ea typeface="Segoe UI" pitchFamily="34" charset="-122"/>
                <a:cs typeface="Segoe UI" pitchFamily="34" charset="-120"/>
              </a:rPr>
              <a:t>1</a:t>
            </a:r>
            <a:endParaRPr lang="en-US" sz="2200" dirty="0"/>
          </a:p>
        </p:txBody>
      </p:sp>
      <p:sp>
        <p:nvSpPr>
          <p:cNvPr id="8" name="Text 6"/>
          <p:cNvSpPr/>
          <p:nvPr/>
        </p:nvSpPr>
        <p:spPr>
          <a:xfrm>
            <a:off x="822960" y="960120"/>
            <a:ext cx="2103120" cy="64008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情報の透明性と正確性</a:t>
            </a:r>
            <a:endParaRPr lang="en-US" sz="1400" dirty="0"/>
          </a:p>
        </p:txBody>
      </p:sp>
      <p:sp>
        <p:nvSpPr>
          <p:cNvPr id="9" name="Text 7"/>
          <p:cNvSpPr/>
          <p:nvPr/>
        </p:nvSpPr>
        <p:spPr>
          <a:xfrm>
            <a:off x="320040" y="1691640"/>
            <a:ext cx="2560320" cy="320040"/>
          </a:xfrm>
          <a:prstGeom prst="rect">
            <a:avLst/>
          </a:prstGeom>
          <a:noFill/>
          <a:ln/>
        </p:spPr>
        <p:txBody>
          <a:bodyPr wrap="square" lIns="0" tIns="0" rIns="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エビデンスに基づく説明</a:t>
            </a:r>
            <a:endParaRPr lang="en-US" sz="1200" dirty="0"/>
          </a:p>
        </p:txBody>
      </p:sp>
      <p:sp>
        <p:nvSpPr>
          <p:cNvPr id="10" name="Text 8"/>
          <p:cNvSpPr/>
          <p:nvPr/>
        </p:nvSpPr>
        <p:spPr>
          <a:xfrm>
            <a:off x="320040" y="2057400"/>
            <a:ext cx="2560320" cy="2743200"/>
          </a:xfrm>
          <a:prstGeom prst="rect">
            <a:avLst/>
          </a:prstGeom>
          <a:noFill/>
          <a:ln/>
        </p:spPr>
        <p:txBody>
          <a:bodyPr wrap="square" lIns="0" tIns="0" rIns="0" bIns="0" rtlCol="0" anchor="t"/>
          <a:lstStyle/>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最新のガイドラインに基づいた正確な内容</a:t>
            </a:r>
            <a:endParaRPr lang="en-US" sz="1200" dirty="0"/>
          </a:p>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個別の状況に合わせてデータを「翻訳」</a:t>
            </a:r>
            <a:endParaRPr lang="en-US" sz="1200" dirty="0"/>
          </a:p>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不確実性も誠実に伝え、信頼関係を構築</a:t>
            </a:r>
            <a:endParaRPr lang="en-US" sz="1200" dirty="0"/>
          </a:p>
        </p:txBody>
      </p:sp>
      <p:sp>
        <p:nvSpPr>
          <p:cNvPr id="11" name="Shape 9"/>
          <p:cNvSpPr/>
          <p:nvPr/>
        </p:nvSpPr>
        <p:spPr>
          <a:xfrm>
            <a:off x="3172968" y="960120"/>
            <a:ext cx="2834640" cy="4023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3172968" y="960120"/>
            <a:ext cx="2834640" cy="640080"/>
          </a:xfrm>
          <a:prstGeom prst="rect">
            <a:avLst/>
          </a:prstGeom>
          <a:solidFill>
            <a:srgbClr val="28A745"/>
          </a:solidFill>
          <a:ln/>
        </p:spPr>
      </p:sp>
      <p:sp>
        <p:nvSpPr>
          <p:cNvPr id="13" name="Shape 11"/>
          <p:cNvSpPr/>
          <p:nvPr/>
        </p:nvSpPr>
        <p:spPr>
          <a:xfrm>
            <a:off x="3264408" y="1024128"/>
            <a:ext cx="502920" cy="502920"/>
          </a:xfrm>
          <a:prstGeom prst="ellipse">
            <a:avLst/>
          </a:prstGeom>
          <a:solidFill>
            <a:srgbClr val="FFFFFF"/>
          </a:solidFill>
          <a:ln/>
        </p:spPr>
      </p:sp>
      <p:sp>
        <p:nvSpPr>
          <p:cNvPr id="14" name="Text 12"/>
          <p:cNvSpPr/>
          <p:nvPr/>
        </p:nvSpPr>
        <p:spPr>
          <a:xfrm>
            <a:off x="3264408" y="1024128"/>
            <a:ext cx="502920" cy="502920"/>
          </a:xfrm>
          <a:prstGeom prst="rect">
            <a:avLst/>
          </a:prstGeom>
          <a:noFill/>
          <a:ln/>
        </p:spPr>
        <p:txBody>
          <a:bodyPr wrap="square" lIns="0" tIns="0" rIns="0" bIns="0" rtlCol="0" anchor="ctr"/>
          <a:lstStyle/>
          <a:p>
            <a:pPr algn="ctr" indent="0" marL="0">
              <a:buNone/>
            </a:pPr>
            <a:r>
              <a:rPr lang="en-US" sz="2200" b="1" dirty="0">
                <a:solidFill>
                  <a:srgbClr val="28A745"/>
                </a:solidFill>
                <a:latin typeface="Segoe UI" pitchFamily="34" charset="0"/>
                <a:ea typeface="Segoe UI" pitchFamily="34" charset="-122"/>
                <a:cs typeface="Segoe UI" pitchFamily="34" charset="-120"/>
              </a:rPr>
              <a:t>2</a:t>
            </a:r>
            <a:endParaRPr lang="en-US" sz="2200" dirty="0"/>
          </a:p>
        </p:txBody>
      </p:sp>
      <p:sp>
        <p:nvSpPr>
          <p:cNvPr id="15" name="Text 13"/>
          <p:cNvSpPr/>
          <p:nvPr/>
        </p:nvSpPr>
        <p:spPr>
          <a:xfrm>
            <a:off x="3813048" y="960120"/>
            <a:ext cx="2103120" cy="64008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心理的安全性と共感的な態度</a:t>
            </a:r>
            <a:endParaRPr lang="en-US" sz="1400" dirty="0"/>
          </a:p>
        </p:txBody>
      </p:sp>
      <p:sp>
        <p:nvSpPr>
          <p:cNvPr id="16" name="Text 14"/>
          <p:cNvSpPr/>
          <p:nvPr/>
        </p:nvSpPr>
        <p:spPr>
          <a:xfrm>
            <a:off x="3310128" y="1691640"/>
            <a:ext cx="2560320" cy="320040"/>
          </a:xfrm>
          <a:prstGeom prst="rect">
            <a:avLst/>
          </a:prstGeom>
          <a:noFill/>
          <a:ln/>
        </p:spPr>
        <p:txBody>
          <a:bodyPr wrap="square" lIns="0" tIns="0" rIns="0" bIns="0" rtlCol="0" anchor="ctr"/>
          <a:lstStyle/>
          <a:p>
            <a:pPr indent="0" marL="0">
              <a:buNone/>
            </a:pPr>
            <a:r>
              <a:rPr lang="en-US" sz="1200" b="1" dirty="0">
                <a:solidFill>
                  <a:srgbClr val="28A745"/>
                </a:solidFill>
                <a:latin typeface="BIZ UDPGothic" pitchFamily="34" charset="0"/>
                <a:ea typeface="BIZ UDPGothic" pitchFamily="34" charset="-122"/>
                <a:cs typeface="BIZ UDPGothic" pitchFamily="34" charset="-120"/>
              </a:rPr>
              <a:t>感情に寄り添う姿勢</a:t>
            </a:r>
            <a:endParaRPr lang="en-US" sz="1200" dirty="0"/>
          </a:p>
        </p:txBody>
      </p:sp>
      <p:sp>
        <p:nvSpPr>
          <p:cNvPr id="17" name="Text 15"/>
          <p:cNvSpPr/>
          <p:nvPr/>
        </p:nvSpPr>
        <p:spPr>
          <a:xfrm>
            <a:off x="3310128" y="2057400"/>
            <a:ext cx="2560320" cy="2743200"/>
          </a:xfrm>
          <a:prstGeom prst="rect">
            <a:avLst/>
          </a:prstGeom>
          <a:noFill/>
          <a:ln/>
        </p:spPr>
        <p:txBody>
          <a:bodyPr wrap="square" lIns="0" tIns="0" rIns="0" bIns="0" rtlCol="0" anchor="t"/>
          <a:lstStyle/>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相手の目を見て話し、適度な間を取る</a:t>
            </a:r>
            <a:endParaRPr lang="en-US" sz="1200" dirty="0"/>
          </a:p>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「質問が思い浮かばなくても大丈夫」</a:t>
            </a:r>
            <a:endParaRPr lang="en-US" sz="1200" dirty="0"/>
          </a:p>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後で聞ける逃げ道を用意する</a:t>
            </a:r>
            <a:endParaRPr lang="en-US" sz="1200" dirty="0"/>
          </a:p>
        </p:txBody>
      </p:sp>
      <p:sp>
        <p:nvSpPr>
          <p:cNvPr id="18" name="Shape 16"/>
          <p:cNvSpPr/>
          <p:nvPr/>
        </p:nvSpPr>
        <p:spPr>
          <a:xfrm>
            <a:off x="6163056" y="960120"/>
            <a:ext cx="2834640" cy="40233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6163056" y="960120"/>
            <a:ext cx="2834640" cy="640080"/>
          </a:xfrm>
          <a:prstGeom prst="rect">
            <a:avLst/>
          </a:prstGeom>
          <a:solidFill>
            <a:srgbClr val="E8850C"/>
          </a:solidFill>
          <a:ln/>
        </p:spPr>
      </p:sp>
      <p:sp>
        <p:nvSpPr>
          <p:cNvPr id="20" name="Shape 18"/>
          <p:cNvSpPr/>
          <p:nvPr/>
        </p:nvSpPr>
        <p:spPr>
          <a:xfrm>
            <a:off x="6254496" y="1024128"/>
            <a:ext cx="502920" cy="502920"/>
          </a:xfrm>
          <a:prstGeom prst="ellipse">
            <a:avLst/>
          </a:prstGeom>
          <a:solidFill>
            <a:srgbClr val="FFFFFF"/>
          </a:solidFill>
          <a:ln/>
        </p:spPr>
      </p:sp>
      <p:sp>
        <p:nvSpPr>
          <p:cNvPr id="21" name="Text 19"/>
          <p:cNvSpPr/>
          <p:nvPr/>
        </p:nvSpPr>
        <p:spPr>
          <a:xfrm>
            <a:off x="6254496" y="1024128"/>
            <a:ext cx="502920" cy="502920"/>
          </a:xfrm>
          <a:prstGeom prst="rect">
            <a:avLst/>
          </a:prstGeom>
          <a:noFill/>
          <a:ln/>
        </p:spPr>
        <p:txBody>
          <a:bodyPr wrap="square" lIns="0" tIns="0" rIns="0" bIns="0" rtlCol="0" anchor="ctr"/>
          <a:lstStyle/>
          <a:p>
            <a:pPr algn="ctr" indent="0" marL="0">
              <a:buNone/>
            </a:pPr>
            <a:r>
              <a:rPr lang="en-US" sz="2200" b="1" dirty="0">
                <a:solidFill>
                  <a:srgbClr val="E8850C"/>
                </a:solidFill>
                <a:latin typeface="Segoe UI" pitchFamily="34" charset="0"/>
                <a:ea typeface="Segoe UI" pitchFamily="34" charset="-122"/>
                <a:cs typeface="Segoe UI" pitchFamily="34" charset="-120"/>
              </a:rPr>
              <a:t>3</a:t>
            </a:r>
            <a:endParaRPr lang="en-US" sz="2200" dirty="0"/>
          </a:p>
        </p:txBody>
      </p:sp>
      <p:sp>
        <p:nvSpPr>
          <p:cNvPr id="22" name="Text 20"/>
          <p:cNvSpPr/>
          <p:nvPr/>
        </p:nvSpPr>
        <p:spPr>
          <a:xfrm>
            <a:off x="6803136" y="960120"/>
            <a:ext cx="2103120" cy="64008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BIZ UDPGothic" pitchFamily="34" charset="0"/>
                <a:ea typeface="BIZ UDPGothic" pitchFamily="34" charset="-122"/>
                <a:cs typeface="BIZ UDPGothic" pitchFamily="34" charset="-120"/>
              </a:rPr>
              <a:t>生活を見据えた見通しの提示</a:t>
            </a:r>
            <a:endParaRPr lang="en-US" sz="1400" dirty="0"/>
          </a:p>
        </p:txBody>
      </p:sp>
      <p:sp>
        <p:nvSpPr>
          <p:cNvPr id="23" name="Text 21"/>
          <p:cNvSpPr/>
          <p:nvPr/>
        </p:nvSpPr>
        <p:spPr>
          <a:xfrm>
            <a:off x="6300216" y="1691640"/>
            <a:ext cx="2560320" cy="320040"/>
          </a:xfrm>
          <a:prstGeom prst="rect">
            <a:avLst/>
          </a:prstGeom>
          <a:noFill/>
          <a:ln/>
        </p:spPr>
        <p:txBody>
          <a:bodyPr wrap="square" lIns="0" tIns="0" rIns="0" bIns="0" rtlCol="0" anchor="ctr"/>
          <a:lstStyle/>
          <a:p>
            <a:pPr indent="0" marL="0">
              <a:buNone/>
            </a:pPr>
            <a:r>
              <a:rPr lang="en-US" sz="1200" b="1" dirty="0">
                <a:solidFill>
                  <a:srgbClr val="E8850C"/>
                </a:solidFill>
                <a:latin typeface="BIZ UDPGothic" pitchFamily="34" charset="0"/>
                <a:ea typeface="BIZ UDPGothic" pitchFamily="34" charset="-122"/>
                <a:cs typeface="BIZ UDPGothic" pitchFamily="34" charset="-120"/>
              </a:rPr>
              <a:t>退院後の生活まで見せる</a:t>
            </a:r>
            <a:endParaRPr lang="en-US" sz="1200" dirty="0"/>
          </a:p>
        </p:txBody>
      </p:sp>
      <p:sp>
        <p:nvSpPr>
          <p:cNvPr id="24" name="Text 22"/>
          <p:cNvSpPr/>
          <p:nvPr/>
        </p:nvSpPr>
        <p:spPr>
          <a:xfrm>
            <a:off x="6300216" y="2057400"/>
            <a:ext cx="2560320" cy="2743200"/>
          </a:xfrm>
          <a:prstGeom prst="rect">
            <a:avLst/>
          </a:prstGeom>
          <a:noFill/>
          <a:ln/>
        </p:spPr>
        <p:txBody>
          <a:bodyPr wrap="square" lIns="0" tIns="0" rIns="0" bIns="0" rtlCol="0" anchor="t"/>
          <a:lstStyle/>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後遺症との付き合い・再発予防を説明</a:t>
            </a:r>
            <a:endParaRPr lang="en-US" sz="1200" dirty="0"/>
          </a:p>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退院先（自宅 / リハビリ病院 / 施設）</a:t>
            </a:r>
            <a:endParaRPr lang="en-US" sz="1200" dirty="0"/>
          </a:p>
          <a:p>
            <a:pPr indent="0" marL="0">
              <a:lnSpc>
                <a:spcPct val="140000"/>
              </a:lnSpc>
              <a:buNone/>
            </a:pPr>
            <a:r>
              <a:rPr lang="en-US" sz="1200" dirty="0">
                <a:solidFill>
                  <a:srgbClr val="2D3436"/>
                </a:solidFill>
                <a:latin typeface="BIZ UDPGothic" pitchFamily="34" charset="0"/>
                <a:ea typeface="BIZ UDPGothic" pitchFamily="34" charset="-122"/>
                <a:cs typeface="BIZ UDPGothic" pitchFamily="34" charset="-120"/>
              </a:rPr>
              <a:t>早期から多職種（MSW・リハビリ）と連携</a:t>
            </a:r>
            <a:endParaRPr lang="en-US" sz="1200" dirty="0"/>
          </a:p>
        </p:txBody>
      </p:sp>
      <p:sp>
        <p:nvSpPr>
          <p:cNvPr id="25" name="Text 23"/>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6/9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【実践】急性期脳梗塞の病状説明（前半）</a:t>
            </a:r>
            <a:endParaRPr lang="en-US" sz="2400" dirty="0"/>
          </a:p>
        </p:txBody>
      </p:sp>
      <p:sp>
        <p:nvSpPr>
          <p:cNvPr id="4" name="Text 2"/>
          <p:cNvSpPr/>
          <p:nvPr/>
        </p:nvSpPr>
        <p:spPr>
          <a:xfrm>
            <a:off x="274320" y="868680"/>
            <a:ext cx="8595360" cy="365760"/>
          </a:xfrm>
          <a:prstGeom prst="rect">
            <a:avLst/>
          </a:prstGeom>
          <a:noFill/>
          <a:ln/>
        </p:spPr>
        <p:txBody>
          <a:bodyPr wrap="square" lIns="0" tIns="0" rIns="0" bIns="0" rtlCol="0" anchor="ctr"/>
          <a:lstStyle/>
          <a:p>
            <a:pPr indent="0" marL="0">
              <a:buNone/>
            </a:pPr>
            <a:r>
              <a:rPr lang="en-US" sz="1200" i="1" dirty="0">
                <a:solidFill>
                  <a:srgbClr val="636E72"/>
                </a:solidFill>
                <a:latin typeface="BIZ UDPGothic" pitchFamily="34" charset="0"/>
                <a:ea typeface="BIZ UDPGothic" pitchFamily="34" charset="-122"/>
                <a:cs typeface="BIZ UDPGothic" pitchFamily="34" charset="-120"/>
              </a:rPr>
              <a:t>状況：70代男性、右半身麻痺＋失語症で搬送 → アテローム血栓性脳梗塞と診断。妻と長男に初回説明。</a:t>
            </a:r>
            <a:endParaRPr lang="en-US" sz="1200" dirty="0"/>
          </a:p>
        </p:txBody>
      </p:sp>
      <p:sp>
        <p:nvSpPr>
          <p:cNvPr id="5" name="Shape 3"/>
          <p:cNvSpPr/>
          <p:nvPr/>
        </p:nvSpPr>
        <p:spPr>
          <a:xfrm>
            <a:off x="274320" y="1325880"/>
            <a:ext cx="859536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4"/>
          <p:cNvSpPr/>
          <p:nvPr/>
        </p:nvSpPr>
        <p:spPr>
          <a:xfrm>
            <a:off x="274320" y="1325880"/>
            <a:ext cx="91440" cy="1051560"/>
          </a:xfrm>
          <a:prstGeom prst="rect">
            <a:avLst/>
          </a:prstGeom>
          <a:solidFill>
            <a:srgbClr val="2C5AA0"/>
          </a:solidFill>
          <a:ln/>
        </p:spPr>
      </p:sp>
      <p:sp>
        <p:nvSpPr>
          <p:cNvPr id="7" name="Shape 5"/>
          <p:cNvSpPr/>
          <p:nvPr/>
        </p:nvSpPr>
        <p:spPr>
          <a:xfrm>
            <a:off x="502920" y="1399032"/>
            <a:ext cx="502920" cy="274320"/>
          </a:xfrm>
          <a:prstGeom prst="rect">
            <a:avLst/>
          </a:prstGeom>
          <a:solidFill>
            <a:srgbClr val="2C5AA0"/>
          </a:solidFill>
          <a:ln/>
        </p:spPr>
      </p:sp>
      <p:sp>
        <p:nvSpPr>
          <p:cNvPr id="8" name="Text 6"/>
          <p:cNvSpPr/>
          <p:nvPr/>
        </p:nvSpPr>
        <p:spPr>
          <a:xfrm>
            <a:off x="502920" y="1399032"/>
            <a:ext cx="502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S・P</a:t>
            </a:r>
            <a:endParaRPr lang="en-US" sz="1100" dirty="0"/>
          </a:p>
        </p:txBody>
      </p:sp>
      <p:sp>
        <p:nvSpPr>
          <p:cNvPr id="9" name="Text 7"/>
          <p:cNvSpPr/>
          <p:nvPr/>
        </p:nvSpPr>
        <p:spPr>
          <a:xfrm>
            <a:off x="1097280" y="1371600"/>
            <a:ext cx="3200400" cy="320040"/>
          </a:xfrm>
          <a:prstGeom prst="rect">
            <a:avLst/>
          </a:prstGeom>
          <a:noFill/>
          <a:ln/>
        </p:spPr>
        <p:txBody>
          <a:bodyPr wrap="square" lIns="0" tIns="0" rIns="0" bIns="0" rtlCol="0" anchor="ctr"/>
          <a:lstStyle/>
          <a:p>
            <a:pPr indent="0" marL="0">
              <a:buNone/>
            </a:pPr>
            <a:r>
              <a:rPr lang="en-US" sz="1400" b="1" dirty="0">
                <a:solidFill>
                  <a:srgbClr val="2C5AA0"/>
                </a:solidFill>
                <a:latin typeface="BIZ UDPGothic" pitchFamily="34" charset="0"/>
                <a:ea typeface="BIZ UDPGothic" pitchFamily="34" charset="-122"/>
                <a:cs typeface="BIZ UDPGothic" pitchFamily="34" charset="-120"/>
              </a:rPr>
              <a:t>導入と認識の確認</a:t>
            </a:r>
            <a:endParaRPr lang="en-US" sz="1400" dirty="0"/>
          </a:p>
        </p:txBody>
      </p:sp>
      <p:sp>
        <p:nvSpPr>
          <p:cNvPr id="10" name="Text 8"/>
          <p:cNvSpPr/>
          <p:nvPr/>
        </p:nvSpPr>
        <p:spPr>
          <a:xfrm>
            <a:off x="502920" y="1709928"/>
            <a:ext cx="8229600" cy="621792"/>
          </a:xfrm>
          <a:prstGeom prst="rect">
            <a:avLst/>
          </a:prstGeom>
          <a:noFill/>
          <a:ln/>
        </p:spPr>
        <p:txBody>
          <a:bodyPr wrap="square" lIns="0" tIns="0" rIns="0" bIns="0" rtlCol="0" anchor="ctr"/>
          <a:lstStyle/>
          <a:p>
            <a:pPr indent="0" marL="0">
              <a:lnSpc>
                <a:spcPct val="130000"/>
              </a:lnSpc>
              <a:buNone/>
            </a:pPr>
            <a:r>
              <a:rPr lang="en-US" sz="1200" dirty="0">
                <a:solidFill>
                  <a:srgbClr val="2D3436"/>
                </a:solidFill>
                <a:latin typeface="BIZ UDPGothic" pitchFamily="34" charset="0"/>
                <a:ea typeface="BIZ UDPGothic" pitchFamily="34" charset="-122"/>
                <a:cs typeface="BIZ UDPGothic" pitchFamily="34" charset="-120"/>
              </a:rPr>
              <a:t>「本日は急なことで大変驚かれたことと思います。私は脳神経内科の〇〇です。まずは、今ご本人の状態について、どのようにお聞きになっていますか？」</a:t>
            </a:r>
            <a:endParaRPr lang="en-US" sz="1200" dirty="0"/>
          </a:p>
        </p:txBody>
      </p:sp>
      <p:sp>
        <p:nvSpPr>
          <p:cNvPr id="11" name="Shape 9"/>
          <p:cNvSpPr/>
          <p:nvPr/>
        </p:nvSpPr>
        <p:spPr>
          <a:xfrm>
            <a:off x="274320" y="2514600"/>
            <a:ext cx="859536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274320" y="2514600"/>
            <a:ext cx="91440" cy="1051560"/>
          </a:xfrm>
          <a:prstGeom prst="rect">
            <a:avLst/>
          </a:prstGeom>
          <a:solidFill>
            <a:srgbClr val="E8850C"/>
          </a:solidFill>
          <a:ln/>
        </p:spPr>
      </p:sp>
      <p:sp>
        <p:nvSpPr>
          <p:cNvPr id="13" name="Shape 11"/>
          <p:cNvSpPr/>
          <p:nvPr/>
        </p:nvSpPr>
        <p:spPr>
          <a:xfrm>
            <a:off x="502920" y="2587752"/>
            <a:ext cx="502920" cy="274320"/>
          </a:xfrm>
          <a:prstGeom prst="rect">
            <a:avLst/>
          </a:prstGeom>
          <a:solidFill>
            <a:srgbClr val="E8850C"/>
          </a:solidFill>
          <a:ln/>
        </p:spPr>
      </p:sp>
      <p:sp>
        <p:nvSpPr>
          <p:cNvPr id="14" name="Text 12"/>
          <p:cNvSpPr/>
          <p:nvPr/>
        </p:nvSpPr>
        <p:spPr>
          <a:xfrm>
            <a:off x="502920" y="2587752"/>
            <a:ext cx="502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K</a:t>
            </a:r>
            <a:endParaRPr lang="en-US" sz="1100" dirty="0"/>
          </a:p>
        </p:txBody>
      </p:sp>
      <p:sp>
        <p:nvSpPr>
          <p:cNvPr id="15" name="Text 13"/>
          <p:cNvSpPr/>
          <p:nvPr/>
        </p:nvSpPr>
        <p:spPr>
          <a:xfrm>
            <a:off x="1097280" y="2560320"/>
            <a:ext cx="3200400" cy="320040"/>
          </a:xfrm>
          <a:prstGeom prst="rect">
            <a:avLst/>
          </a:prstGeom>
          <a:noFill/>
          <a:ln/>
        </p:spPr>
        <p:txBody>
          <a:bodyPr wrap="square" lIns="0" tIns="0" rIns="0" bIns="0" rtlCol="0" anchor="ctr"/>
          <a:lstStyle/>
          <a:p>
            <a:pPr indent="0" marL="0">
              <a:buNone/>
            </a:pPr>
            <a:r>
              <a:rPr lang="en-US" sz="1400" b="1" dirty="0">
                <a:solidFill>
                  <a:srgbClr val="E8850C"/>
                </a:solidFill>
                <a:latin typeface="BIZ UDPGothic" pitchFamily="34" charset="0"/>
                <a:ea typeface="BIZ UDPGothic" pitchFamily="34" charset="-122"/>
                <a:cs typeface="BIZ UDPGothic" pitchFamily="34" charset="-120"/>
              </a:rPr>
              <a:t>病状と診断の伝達</a:t>
            </a:r>
            <a:endParaRPr lang="en-US" sz="1400" dirty="0"/>
          </a:p>
        </p:txBody>
      </p:sp>
      <p:sp>
        <p:nvSpPr>
          <p:cNvPr id="16" name="Text 14"/>
          <p:cNvSpPr/>
          <p:nvPr/>
        </p:nvSpPr>
        <p:spPr>
          <a:xfrm>
            <a:off x="502920" y="2898648"/>
            <a:ext cx="8229600" cy="621792"/>
          </a:xfrm>
          <a:prstGeom prst="rect">
            <a:avLst/>
          </a:prstGeom>
          <a:noFill/>
          <a:ln/>
        </p:spPr>
        <p:txBody>
          <a:bodyPr wrap="square" lIns="0" tIns="0" rIns="0" bIns="0" rtlCol="0" anchor="ctr"/>
          <a:lstStyle/>
          <a:p>
            <a:pPr indent="0" marL="0">
              <a:lnSpc>
                <a:spcPct val="130000"/>
              </a:lnSpc>
              <a:buNone/>
            </a:pPr>
            <a:r>
              <a:rPr lang="en-US" sz="1200" dirty="0">
                <a:solidFill>
                  <a:srgbClr val="2D3436"/>
                </a:solidFill>
                <a:latin typeface="BIZ UDPGothic" pitchFamily="34" charset="0"/>
                <a:ea typeface="BIZ UDPGothic" pitchFamily="34" charset="-122"/>
                <a:cs typeface="BIZ UDPGothic" pitchFamily="34" charset="-120"/>
              </a:rPr>
              <a:t>「MRI検査の結果、脳の左側の血管が詰まっており『脳梗塞』を起こしている状態です。アテローム血栓性脳梗塞といって、動脈硬化で血管が狭くなり血栓が詰まったタイプです。」</a:t>
            </a:r>
            <a:endParaRPr lang="en-US" sz="1200" dirty="0"/>
          </a:p>
        </p:txBody>
      </p:sp>
      <p:sp>
        <p:nvSpPr>
          <p:cNvPr id="17" name="Shape 15"/>
          <p:cNvSpPr/>
          <p:nvPr/>
        </p:nvSpPr>
        <p:spPr>
          <a:xfrm>
            <a:off x="274320" y="3703320"/>
            <a:ext cx="859536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274320" y="3703320"/>
            <a:ext cx="91440" cy="1051560"/>
          </a:xfrm>
          <a:prstGeom prst="rect">
            <a:avLst/>
          </a:prstGeom>
          <a:solidFill>
            <a:srgbClr val="28A745"/>
          </a:solidFill>
          <a:ln/>
        </p:spPr>
      </p:sp>
      <p:sp>
        <p:nvSpPr>
          <p:cNvPr id="19" name="Shape 17"/>
          <p:cNvSpPr/>
          <p:nvPr/>
        </p:nvSpPr>
        <p:spPr>
          <a:xfrm>
            <a:off x="502920" y="3776472"/>
            <a:ext cx="502920" cy="274320"/>
          </a:xfrm>
          <a:prstGeom prst="rect">
            <a:avLst/>
          </a:prstGeom>
          <a:solidFill>
            <a:srgbClr val="28A745"/>
          </a:solidFill>
          <a:ln/>
        </p:spPr>
      </p:sp>
      <p:sp>
        <p:nvSpPr>
          <p:cNvPr id="20" name="Text 18"/>
          <p:cNvSpPr/>
          <p:nvPr/>
        </p:nvSpPr>
        <p:spPr>
          <a:xfrm>
            <a:off x="502920" y="3776472"/>
            <a:ext cx="502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K・S</a:t>
            </a:r>
            <a:endParaRPr lang="en-US" sz="1100" dirty="0"/>
          </a:p>
        </p:txBody>
      </p:sp>
      <p:sp>
        <p:nvSpPr>
          <p:cNvPr id="21" name="Text 19"/>
          <p:cNvSpPr/>
          <p:nvPr/>
        </p:nvSpPr>
        <p:spPr>
          <a:xfrm>
            <a:off x="1097280" y="3749040"/>
            <a:ext cx="3200400" cy="320040"/>
          </a:xfrm>
          <a:prstGeom prst="rect">
            <a:avLst/>
          </a:prstGeom>
          <a:noFill/>
          <a:ln/>
        </p:spPr>
        <p:txBody>
          <a:bodyPr wrap="square" lIns="0" tIns="0" rIns="0" bIns="0" rtlCol="0" anchor="ctr"/>
          <a:lstStyle/>
          <a:p>
            <a:pPr indent="0" marL="0">
              <a:buNone/>
            </a:pPr>
            <a:r>
              <a:rPr lang="en-US" sz="1400" b="1" dirty="0">
                <a:solidFill>
                  <a:srgbClr val="28A745"/>
                </a:solidFill>
                <a:latin typeface="BIZ UDPGothic" pitchFamily="34" charset="0"/>
                <a:ea typeface="BIZ UDPGothic" pitchFamily="34" charset="-122"/>
                <a:cs typeface="BIZ UDPGothic" pitchFamily="34" charset="-120"/>
              </a:rPr>
              <a:t>治療方針の提示</a:t>
            </a:r>
            <a:endParaRPr lang="en-US" sz="1400" dirty="0"/>
          </a:p>
        </p:txBody>
      </p:sp>
      <p:sp>
        <p:nvSpPr>
          <p:cNvPr id="22" name="Text 20"/>
          <p:cNvSpPr/>
          <p:nvPr/>
        </p:nvSpPr>
        <p:spPr>
          <a:xfrm>
            <a:off x="502920" y="4087368"/>
            <a:ext cx="8229600" cy="621792"/>
          </a:xfrm>
          <a:prstGeom prst="rect">
            <a:avLst/>
          </a:prstGeom>
          <a:noFill/>
          <a:ln/>
        </p:spPr>
        <p:txBody>
          <a:bodyPr wrap="square" lIns="0" tIns="0" rIns="0" bIns="0" rtlCol="0" anchor="ctr"/>
          <a:lstStyle/>
          <a:p>
            <a:pPr indent="0" marL="0">
              <a:lnSpc>
                <a:spcPct val="130000"/>
              </a:lnSpc>
              <a:buNone/>
            </a:pPr>
            <a:r>
              <a:rPr lang="en-US" sz="1200" dirty="0">
                <a:solidFill>
                  <a:srgbClr val="2D3436"/>
                </a:solidFill>
                <a:latin typeface="BIZ UDPGothic" pitchFamily="34" charset="0"/>
                <a:ea typeface="BIZ UDPGothic" pitchFamily="34" charset="-122"/>
                <a:cs typeface="BIZ UDPGothic" pitchFamily="34" charset="-120"/>
              </a:rPr>
              <a:t>「現在は『急性期』で非常に不安定な時期です。点滴で悪化を防ぐ治療を開始しています。最初の数日間は集中治療室（SCU）で厳重に管理します。」</a:t>
            </a:r>
            <a:endParaRPr lang="en-US" sz="1200" dirty="0"/>
          </a:p>
        </p:txBody>
      </p:sp>
      <p:sp>
        <p:nvSpPr>
          <p:cNvPr id="23" name="Text 21"/>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7/9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【実践】急性期脳梗塞の病状説明（後半）</a:t>
            </a:r>
            <a:endParaRPr lang="en-US" sz="2400" dirty="0"/>
          </a:p>
        </p:txBody>
      </p:sp>
      <p:sp>
        <p:nvSpPr>
          <p:cNvPr id="4" name="Shape 2"/>
          <p:cNvSpPr/>
          <p:nvPr/>
        </p:nvSpPr>
        <p:spPr>
          <a:xfrm>
            <a:off x="274320" y="1005840"/>
            <a:ext cx="859536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274320" y="1005840"/>
            <a:ext cx="91440" cy="1051560"/>
          </a:xfrm>
          <a:prstGeom prst="rect">
            <a:avLst/>
          </a:prstGeom>
          <a:solidFill>
            <a:srgbClr val="DC3545"/>
          </a:solidFill>
          <a:ln/>
        </p:spPr>
      </p:sp>
      <p:sp>
        <p:nvSpPr>
          <p:cNvPr id="6" name="Shape 4"/>
          <p:cNvSpPr/>
          <p:nvPr/>
        </p:nvSpPr>
        <p:spPr>
          <a:xfrm>
            <a:off x="502920" y="1078992"/>
            <a:ext cx="502920" cy="274320"/>
          </a:xfrm>
          <a:prstGeom prst="rect">
            <a:avLst/>
          </a:prstGeom>
          <a:solidFill>
            <a:srgbClr val="DC3545"/>
          </a:solidFill>
          <a:ln/>
        </p:spPr>
      </p:sp>
      <p:sp>
        <p:nvSpPr>
          <p:cNvPr id="7" name="Text 5"/>
          <p:cNvSpPr/>
          <p:nvPr/>
        </p:nvSpPr>
        <p:spPr>
          <a:xfrm>
            <a:off x="502920" y="1078992"/>
            <a:ext cx="502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E・K</a:t>
            </a:r>
            <a:endParaRPr lang="en-US" sz="1100" dirty="0"/>
          </a:p>
        </p:txBody>
      </p:sp>
      <p:sp>
        <p:nvSpPr>
          <p:cNvPr id="8" name="Text 6"/>
          <p:cNvSpPr/>
          <p:nvPr/>
        </p:nvSpPr>
        <p:spPr>
          <a:xfrm>
            <a:off x="1097280" y="1051560"/>
            <a:ext cx="3200400" cy="320040"/>
          </a:xfrm>
          <a:prstGeom prst="rect">
            <a:avLst/>
          </a:prstGeom>
          <a:noFill/>
          <a:ln/>
        </p:spPr>
        <p:txBody>
          <a:bodyPr wrap="square" lIns="0" tIns="0" rIns="0" bIns="0" rtlCol="0" anchor="ctr"/>
          <a:lstStyle/>
          <a:p>
            <a:pPr indent="0" marL="0">
              <a:buNone/>
            </a:pPr>
            <a:r>
              <a:rPr lang="en-US" sz="1400" b="1" dirty="0">
                <a:solidFill>
                  <a:srgbClr val="DC3545"/>
                </a:solidFill>
                <a:latin typeface="BIZ UDPGothic" pitchFamily="34" charset="0"/>
                <a:ea typeface="BIZ UDPGothic" pitchFamily="34" charset="-122"/>
                <a:cs typeface="BIZ UDPGothic" pitchFamily="34" charset="-120"/>
              </a:rPr>
              <a:t>共感と不確実性の伝達</a:t>
            </a:r>
            <a:endParaRPr lang="en-US" sz="1400" dirty="0"/>
          </a:p>
        </p:txBody>
      </p:sp>
      <p:sp>
        <p:nvSpPr>
          <p:cNvPr id="9" name="Text 7"/>
          <p:cNvSpPr/>
          <p:nvPr/>
        </p:nvSpPr>
        <p:spPr>
          <a:xfrm>
            <a:off x="502920" y="1389888"/>
            <a:ext cx="8229600" cy="621792"/>
          </a:xfrm>
          <a:prstGeom prst="rect">
            <a:avLst/>
          </a:prstGeom>
          <a:noFill/>
          <a:ln/>
        </p:spPr>
        <p:txBody>
          <a:bodyPr wrap="square" lIns="0" tIns="0" rIns="0" bIns="0" rtlCol="0" anchor="ctr"/>
          <a:lstStyle/>
          <a:p>
            <a:pPr indent="0" marL="0">
              <a:lnSpc>
                <a:spcPct val="130000"/>
              </a:lnSpc>
              <a:buNone/>
            </a:pPr>
            <a:r>
              <a:rPr lang="en-US" sz="1200" dirty="0">
                <a:solidFill>
                  <a:srgbClr val="2D3436"/>
                </a:solidFill>
                <a:latin typeface="BIZ UDPGothic" pitchFamily="34" charset="0"/>
                <a:ea typeface="BIZ UDPGothic" pitchFamily="34" charset="-122"/>
                <a:cs typeface="BIZ UDPGothic" pitchFamily="34" charset="-120"/>
              </a:rPr>
              <a:t>「本当に突然のことで、ご不安ですよね。正直に申し上げると、現時点では麻痺や言葉の障害がどこまで回復するか予測は困難です。しかし早期リハビリは回復に非常に重要です。」</a:t>
            </a:r>
            <a:endParaRPr lang="en-US" sz="1200" dirty="0"/>
          </a:p>
        </p:txBody>
      </p:sp>
      <p:sp>
        <p:nvSpPr>
          <p:cNvPr id="10" name="Shape 8"/>
          <p:cNvSpPr/>
          <p:nvPr/>
        </p:nvSpPr>
        <p:spPr>
          <a:xfrm>
            <a:off x="274320" y="2194560"/>
            <a:ext cx="859536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274320" y="2194560"/>
            <a:ext cx="91440" cy="1051560"/>
          </a:xfrm>
          <a:prstGeom prst="rect">
            <a:avLst/>
          </a:prstGeom>
          <a:solidFill>
            <a:srgbClr val="1B3A5C"/>
          </a:solidFill>
          <a:ln/>
        </p:spPr>
      </p:sp>
      <p:sp>
        <p:nvSpPr>
          <p:cNvPr id="12" name="Shape 10"/>
          <p:cNvSpPr/>
          <p:nvPr/>
        </p:nvSpPr>
        <p:spPr>
          <a:xfrm>
            <a:off x="502920" y="2267712"/>
            <a:ext cx="502920" cy="274320"/>
          </a:xfrm>
          <a:prstGeom prst="rect">
            <a:avLst/>
          </a:prstGeom>
          <a:solidFill>
            <a:srgbClr val="1B3A5C"/>
          </a:solidFill>
          <a:ln/>
        </p:spPr>
      </p:sp>
      <p:sp>
        <p:nvSpPr>
          <p:cNvPr id="13" name="Text 11"/>
          <p:cNvSpPr/>
          <p:nvPr/>
        </p:nvSpPr>
        <p:spPr>
          <a:xfrm>
            <a:off x="502920" y="2267712"/>
            <a:ext cx="502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a:t>
            </a:r>
            <a:endParaRPr lang="en-US" sz="1100" dirty="0"/>
          </a:p>
        </p:txBody>
      </p:sp>
      <p:sp>
        <p:nvSpPr>
          <p:cNvPr id="14" name="Text 12"/>
          <p:cNvSpPr/>
          <p:nvPr/>
        </p:nvSpPr>
        <p:spPr>
          <a:xfrm>
            <a:off x="1097280" y="2240280"/>
            <a:ext cx="3200400" cy="320040"/>
          </a:xfrm>
          <a:prstGeom prst="rect">
            <a:avLst/>
          </a:prstGeom>
          <a:noFill/>
          <a:ln/>
        </p:spPr>
        <p:txBody>
          <a:bodyPr wrap="square" lIns="0" tIns="0" rIns="0" bIns="0" rtlCol="0" anchor="ctr"/>
          <a:lstStyle/>
          <a:p>
            <a:pPr indent="0" marL="0">
              <a:buNone/>
            </a:pPr>
            <a:r>
              <a:rPr lang="en-US" sz="1400" b="1" dirty="0">
                <a:solidFill>
                  <a:srgbClr val="1B3A5C"/>
                </a:solidFill>
                <a:latin typeface="BIZ UDPGothic" pitchFamily="34" charset="0"/>
                <a:ea typeface="BIZ UDPGothic" pitchFamily="34" charset="-122"/>
                <a:cs typeface="BIZ UDPGothic" pitchFamily="34" charset="-120"/>
              </a:rPr>
              <a:t>再発予防と今後の見通し</a:t>
            </a:r>
            <a:endParaRPr lang="en-US" sz="1400" dirty="0"/>
          </a:p>
        </p:txBody>
      </p:sp>
      <p:sp>
        <p:nvSpPr>
          <p:cNvPr id="15" name="Text 13"/>
          <p:cNvSpPr/>
          <p:nvPr/>
        </p:nvSpPr>
        <p:spPr>
          <a:xfrm>
            <a:off x="502920" y="2578608"/>
            <a:ext cx="8229600" cy="621792"/>
          </a:xfrm>
          <a:prstGeom prst="rect">
            <a:avLst/>
          </a:prstGeom>
          <a:noFill/>
          <a:ln/>
        </p:spPr>
        <p:txBody>
          <a:bodyPr wrap="square" lIns="0" tIns="0" rIns="0" bIns="0" rtlCol="0" anchor="ctr"/>
          <a:lstStyle/>
          <a:p>
            <a:pPr indent="0" marL="0">
              <a:lnSpc>
                <a:spcPct val="130000"/>
              </a:lnSpc>
              <a:buNone/>
            </a:pPr>
            <a:r>
              <a:rPr lang="en-US" sz="1200" dirty="0">
                <a:solidFill>
                  <a:srgbClr val="2D3436"/>
                </a:solidFill>
                <a:latin typeface="BIZ UDPGothic" pitchFamily="34" charset="0"/>
                <a:ea typeface="BIZ UDPGothic" pitchFamily="34" charset="-122"/>
                <a:cs typeface="BIZ UDPGothic" pitchFamily="34" charset="-120"/>
              </a:rPr>
              <a:t>「脳梗塞は再発しやすい病気です。原因を調べ再発予防の治療も行います。約1〜2週間後には回復期リハビリ病院への転院が必要になる可能性があります。詳細はMSWからもご案内します。」</a:t>
            </a:r>
            <a:endParaRPr lang="en-US" sz="1200" dirty="0"/>
          </a:p>
        </p:txBody>
      </p:sp>
      <p:sp>
        <p:nvSpPr>
          <p:cNvPr id="16" name="Shape 14"/>
          <p:cNvSpPr/>
          <p:nvPr/>
        </p:nvSpPr>
        <p:spPr>
          <a:xfrm>
            <a:off x="274320" y="3383280"/>
            <a:ext cx="859536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274320" y="3383280"/>
            <a:ext cx="91440" cy="1051560"/>
          </a:xfrm>
          <a:prstGeom prst="rect">
            <a:avLst/>
          </a:prstGeom>
          <a:solidFill>
            <a:srgbClr val="2C5AA0"/>
          </a:solidFill>
          <a:ln/>
        </p:spPr>
      </p:sp>
      <p:sp>
        <p:nvSpPr>
          <p:cNvPr id="18" name="Shape 16"/>
          <p:cNvSpPr/>
          <p:nvPr/>
        </p:nvSpPr>
        <p:spPr>
          <a:xfrm>
            <a:off x="502920" y="3456432"/>
            <a:ext cx="502920" cy="274320"/>
          </a:xfrm>
          <a:prstGeom prst="rect">
            <a:avLst/>
          </a:prstGeom>
          <a:solidFill>
            <a:srgbClr val="2C5AA0"/>
          </a:solidFill>
          <a:ln/>
        </p:spPr>
      </p:sp>
      <p:sp>
        <p:nvSpPr>
          <p:cNvPr id="19" name="Text 17"/>
          <p:cNvSpPr/>
          <p:nvPr/>
        </p:nvSpPr>
        <p:spPr>
          <a:xfrm>
            <a:off x="502920" y="3456432"/>
            <a:ext cx="5029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S</a:t>
            </a:r>
            <a:endParaRPr lang="en-US" sz="1100" dirty="0"/>
          </a:p>
        </p:txBody>
      </p:sp>
      <p:sp>
        <p:nvSpPr>
          <p:cNvPr id="20" name="Text 18"/>
          <p:cNvSpPr/>
          <p:nvPr/>
        </p:nvSpPr>
        <p:spPr>
          <a:xfrm>
            <a:off x="1097280" y="3429000"/>
            <a:ext cx="3200400" cy="320040"/>
          </a:xfrm>
          <a:prstGeom prst="rect">
            <a:avLst/>
          </a:prstGeom>
          <a:noFill/>
          <a:ln/>
        </p:spPr>
        <p:txBody>
          <a:bodyPr wrap="square" lIns="0" tIns="0" rIns="0" bIns="0" rtlCol="0" anchor="ctr"/>
          <a:lstStyle/>
          <a:p>
            <a:pPr indent="0" marL="0">
              <a:buNone/>
            </a:pPr>
            <a:r>
              <a:rPr lang="en-US" sz="1400" b="1" dirty="0">
                <a:solidFill>
                  <a:srgbClr val="2C5AA0"/>
                </a:solidFill>
                <a:latin typeface="BIZ UDPGothic" pitchFamily="34" charset="0"/>
                <a:ea typeface="BIZ UDPGothic" pitchFamily="34" charset="-122"/>
                <a:cs typeface="BIZ UDPGothic" pitchFamily="34" charset="-120"/>
              </a:rPr>
              <a:t>要約と質問の確認</a:t>
            </a:r>
            <a:endParaRPr lang="en-US" sz="1400" dirty="0"/>
          </a:p>
        </p:txBody>
      </p:sp>
      <p:sp>
        <p:nvSpPr>
          <p:cNvPr id="21" name="Text 19"/>
          <p:cNvSpPr/>
          <p:nvPr/>
        </p:nvSpPr>
        <p:spPr>
          <a:xfrm>
            <a:off x="502920" y="3767328"/>
            <a:ext cx="8229600" cy="621792"/>
          </a:xfrm>
          <a:prstGeom prst="rect">
            <a:avLst/>
          </a:prstGeom>
          <a:noFill/>
          <a:ln/>
        </p:spPr>
        <p:txBody>
          <a:bodyPr wrap="square" lIns="0" tIns="0" rIns="0" bIns="0" rtlCol="0" anchor="ctr"/>
          <a:lstStyle/>
          <a:p>
            <a:pPr indent="0" marL="0">
              <a:lnSpc>
                <a:spcPct val="130000"/>
              </a:lnSpc>
              <a:buNone/>
            </a:pPr>
            <a:r>
              <a:rPr lang="en-US" sz="1200" dirty="0">
                <a:solidFill>
                  <a:srgbClr val="2D3436"/>
                </a:solidFill>
                <a:latin typeface="BIZ UDPGothic" pitchFamily="34" charset="0"/>
                <a:ea typeface="BIZ UDPGothic" pitchFamily="34" charset="-122"/>
                <a:cs typeface="BIZ UDPGothic" pitchFamily="34" charset="-120"/>
              </a:rPr>
              <a:t>「要約すると①左脳の脳梗塞で右半身麻痺と言葉の障害、②点滴で悪化を防ぐ治療中、③明日からリハビリ開始、の3点です。質問が思い浮かばなくても、いつでもメモして聞いてくださいね。」</a:t>
            </a:r>
            <a:endParaRPr lang="en-US" sz="1200" dirty="0"/>
          </a:p>
        </p:txBody>
      </p:sp>
      <p:sp>
        <p:nvSpPr>
          <p:cNvPr id="22" name="Shape 20"/>
          <p:cNvSpPr/>
          <p:nvPr/>
        </p:nvSpPr>
        <p:spPr>
          <a:xfrm>
            <a:off x="274320" y="4617720"/>
            <a:ext cx="8595360" cy="457200"/>
          </a:xfrm>
          <a:prstGeom prst="rect">
            <a:avLst/>
          </a:prstGeom>
          <a:solidFill>
            <a:srgbClr val="E8F0FE"/>
          </a:solidFill>
          <a:ln/>
        </p:spPr>
      </p:sp>
      <p:sp>
        <p:nvSpPr>
          <p:cNvPr id="23" name="Text 21"/>
          <p:cNvSpPr/>
          <p:nvPr/>
        </p:nvSpPr>
        <p:spPr>
          <a:xfrm>
            <a:off x="457200" y="4617720"/>
            <a:ext cx="8229600" cy="457200"/>
          </a:xfrm>
          <a:prstGeom prst="rect">
            <a:avLst/>
          </a:prstGeom>
          <a:noFill/>
          <a:ln/>
        </p:spPr>
        <p:txBody>
          <a:bodyPr wrap="square" lIns="0" tIns="0" rIns="0" bIns="0" rtlCol="0" anchor="ctr"/>
          <a:lstStyle/>
          <a:p>
            <a:pPr indent="0" marL="0">
              <a:buNone/>
            </a:pPr>
            <a:r>
              <a:rPr lang="en-US" sz="1300" b="1" dirty="0">
                <a:solidFill>
                  <a:srgbClr val="2C5AA0"/>
                </a:solidFill>
                <a:latin typeface="BIZ UDPGothic" pitchFamily="34" charset="0"/>
                <a:ea typeface="BIZ UDPGothic" pitchFamily="34" charset="-122"/>
                <a:cs typeface="BIZ UDPGothic" pitchFamily="34" charset="-120"/>
              </a:rPr>
              <a:t>ポイント：「型」を意識することで、パターナリズム（一方的説明）を防ぎ、協働する姿勢を築ける</a:t>
            </a:r>
            <a:endParaRPr lang="en-US" sz="1300" dirty="0"/>
          </a:p>
        </p:txBody>
      </p:sp>
      <p:sp>
        <p:nvSpPr>
          <p:cNvPr id="24" name="Text 22"/>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8/9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Text 1"/>
          <p:cNvSpPr/>
          <p:nvPr/>
        </p:nvSpPr>
        <p:spPr>
          <a:xfrm>
            <a:off x="457200" y="182880"/>
            <a:ext cx="8229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Take Home Message</a:t>
            </a:r>
            <a:endParaRPr lang="en-US" sz="2600" dirty="0"/>
          </a:p>
        </p:txBody>
      </p:sp>
      <p:sp>
        <p:nvSpPr>
          <p:cNvPr id="4" name="Shape 2"/>
          <p:cNvSpPr/>
          <p:nvPr/>
        </p:nvSpPr>
        <p:spPr>
          <a:xfrm>
            <a:off x="731520" y="960120"/>
            <a:ext cx="7680960" cy="822960"/>
          </a:xfrm>
          <a:prstGeom prst="roundRect">
            <a:avLst>
              <a:gd name="adj" fmla="val 11111"/>
            </a:avLst>
          </a:prstGeom>
          <a:solidFill>
            <a:srgbClr val="243B5C"/>
          </a:solidFill>
          <a:ln/>
        </p:spPr>
      </p:sp>
      <p:sp>
        <p:nvSpPr>
          <p:cNvPr id="5" name="Shape 3"/>
          <p:cNvSpPr/>
          <p:nvPr/>
        </p:nvSpPr>
        <p:spPr>
          <a:xfrm>
            <a:off x="914400" y="1097280"/>
            <a:ext cx="548640" cy="548640"/>
          </a:xfrm>
          <a:prstGeom prst="ellipse">
            <a:avLst/>
          </a:prstGeom>
          <a:solidFill>
            <a:srgbClr val="4A90D9"/>
          </a:solidFill>
          <a:ln/>
        </p:spPr>
      </p:sp>
      <p:sp>
        <p:nvSpPr>
          <p:cNvPr id="6" name="Text 4"/>
          <p:cNvSpPr/>
          <p:nvPr/>
        </p:nvSpPr>
        <p:spPr>
          <a:xfrm>
            <a:off x="914400" y="10972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p:nvPr/>
        </p:nvSpPr>
        <p:spPr>
          <a:xfrm>
            <a:off x="1645920" y="96012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病状説明は「情報伝達」ではなく「対話のプロセス」</a:t>
            </a:r>
            <a:endParaRPr lang="en-US" sz="1500" dirty="0"/>
          </a:p>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SPIKESプロトコルの「型」を活用しよう</a:t>
            </a:r>
            <a:endParaRPr lang="en-US" sz="1500" dirty="0"/>
          </a:p>
        </p:txBody>
      </p:sp>
      <p:sp>
        <p:nvSpPr>
          <p:cNvPr id="8" name="Shape 6"/>
          <p:cNvSpPr/>
          <p:nvPr/>
        </p:nvSpPr>
        <p:spPr>
          <a:xfrm>
            <a:off x="731520" y="1920240"/>
            <a:ext cx="7680960" cy="822960"/>
          </a:xfrm>
          <a:prstGeom prst="roundRect">
            <a:avLst>
              <a:gd name="adj" fmla="val 11111"/>
            </a:avLst>
          </a:prstGeom>
          <a:solidFill>
            <a:srgbClr val="243B5C"/>
          </a:solidFill>
          <a:ln/>
        </p:spPr>
      </p:sp>
      <p:sp>
        <p:nvSpPr>
          <p:cNvPr id="9" name="Shape 7"/>
          <p:cNvSpPr/>
          <p:nvPr/>
        </p:nvSpPr>
        <p:spPr>
          <a:xfrm>
            <a:off x="914400" y="2057400"/>
            <a:ext cx="548640" cy="548640"/>
          </a:xfrm>
          <a:prstGeom prst="ellipse">
            <a:avLst/>
          </a:prstGeom>
          <a:solidFill>
            <a:srgbClr val="4A90D9"/>
          </a:solidFill>
          <a:ln/>
        </p:spPr>
      </p:sp>
      <p:sp>
        <p:nvSpPr>
          <p:cNvPr id="10" name="Text 8"/>
          <p:cNvSpPr/>
          <p:nvPr/>
        </p:nvSpPr>
        <p:spPr>
          <a:xfrm>
            <a:off x="914400" y="2057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1645920" y="192024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まず相手の理解度を確認（Perception）してから説明を始める</a:t>
            </a:r>
            <a:endParaRPr lang="en-US" sz="1500" dirty="0"/>
          </a:p>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一方通行の説明にならないための最初の一歩</a:t>
            </a:r>
            <a:endParaRPr lang="en-US" sz="1500" dirty="0"/>
          </a:p>
        </p:txBody>
      </p:sp>
      <p:sp>
        <p:nvSpPr>
          <p:cNvPr id="12" name="Shape 10"/>
          <p:cNvSpPr/>
          <p:nvPr/>
        </p:nvSpPr>
        <p:spPr>
          <a:xfrm>
            <a:off x="731520" y="2880360"/>
            <a:ext cx="7680960" cy="822960"/>
          </a:xfrm>
          <a:prstGeom prst="roundRect">
            <a:avLst>
              <a:gd name="adj" fmla="val 11111"/>
            </a:avLst>
          </a:prstGeom>
          <a:solidFill>
            <a:srgbClr val="243B5C"/>
          </a:solidFill>
          <a:ln/>
        </p:spPr>
      </p:sp>
      <p:sp>
        <p:nvSpPr>
          <p:cNvPr id="13" name="Shape 11"/>
          <p:cNvSpPr/>
          <p:nvPr/>
        </p:nvSpPr>
        <p:spPr>
          <a:xfrm>
            <a:off x="914400" y="3017520"/>
            <a:ext cx="548640" cy="548640"/>
          </a:xfrm>
          <a:prstGeom prst="ellipse">
            <a:avLst/>
          </a:prstGeom>
          <a:solidFill>
            <a:srgbClr val="4A90D9"/>
          </a:solidFill>
          <a:ln/>
        </p:spPr>
      </p:sp>
      <p:sp>
        <p:nvSpPr>
          <p:cNvPr id="14" name="Text 12"/>
          <p:cNvSpPr/>
          <p:nvPr/>
        </p:nvSpPr>
        <p:spPr>
          <a:xfrm>
            <a:off x="914400" y="3017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5" name="Text 13"/>
          <p:cNvSpPr/>
          <p:nvPr/>
        </p:nvSpPr>
        <p:spPr>
          <a:xfrm>
            <a:off x="1645920" y="288036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感情に寄り添う（Emotions）＋不確実性を正直に伝える</a:t>
            </a:r>
            <a:endParaRPr lang="en-US" sz="1500" dirty="0"/>
          </a:p>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「分からないこと」を伝えることも信頼構築の一部</a:t>
            </a:r>
            <a:endParaRPr lang="en-US" sz="1500" dirty="0"/>
          </a:p>
        </p:txBody>
      </p:sp>
      <p:sp>
        <p:nvSpPr>
          <p:cNvPr id="16" name="Shape 14"/>
          <p:cNvSpPr/>
          <p:nvPr/>
        </p:nvSpPr>
        <p:spPr>
          <a:xfrm>
            <a:off x="731520" y="3840480"/>
            <a:ext cx="7680960" cy="822960"/>
          </a:xfrm>
          <a:prstGeom prst="roundRect">
            <a:avLst>
              <a:gd name="adj" fmla="val 11111"/>
            </a:avLst>
          </a:prstGeom>
          <a:solidFill>
            <a:srgbClr val="243B5C"/>
          </a:solidFill>
          <a:ln/>
        </p:spPr>
      </p:sp>
      <p:sp>
        <p:nvSpPr>
          <p:cNvPr id="17" name="Shape 15"/>
          <p:cNvSpPr/>
          <p:nvPr/>
        </p:nvSpPr>
        <p:spPr>
          <a:xfrm>
            <a:off x="914400" y="3977640"/>
            <a:ext cx="548640" cy="548640"/>
          </a:xfrm>
          <a:prstGeom prst="ellipse">
            <a:avLst/>
          </a:prstGeom>
          <a:solidFill>
            <a:srgbClr val="4A90D9"/>
          </a:solidFill>
          <a:ln/>
        </p:spPr>
      </p:sp>
      <p:sp>
        <p:nvSpPr>
          <p:cNvPr id="18" name="Text 16"/>
          <p:cNvSpPr/>
          <p:nvPr/>
        </p:nvSpPr>
        <p:spPr>
          <a:xfrm>
            <a:off x="914400" y="39776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9" name="Text 17"/>
          <p:cNvSpPr/>
          <p:nvPr/>
        </p:nvSpPr>
        <p:spPr>
          <a:xfrm>
            <a:off x="1645920" y="384048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病名・治療だけでなく「生活の見通し」まで伝える</a:t>
            </a:r>
            <a:endParaRPr lang="en-US" sz="1500" dirty="0"/>
          </a:p>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退院後の生活・リハビリ・再発予防 → 多職種連携</a:t>
            </a:r>
            <a:endParaRPr lang="en-US" sz="1500" dirty="0"/>
          </a:p>
        </p:txBody>
      </p:sp>
      <p:sp>
        <p:nvSpPr>
          <p:cNvPr id="20" name="Shape 18"/>
          <p:cNvSpPr/>
          <p:nvPr/>
        </p:nvSpPr>
        <p:spPr>
          <a:xfrm>
            <a:off x="1828800" y="4754880"/>
            <a:ext cx="5486400" cy="0"/>
          </a:xfrm>
          <a:prstGeom prst="line">
            <a:avLst/>
          </a:prstGeom>
          <a:noFill/>
          <a:ln w="12700">
            <a:solidFill>
              <a:srgbClr val="4A90D9"/>
            </a:solidFill>
            <a:prstDash val="solid"/>
          </a:ln>
        </p:spPr>
      </p:sp>
      <p:sp>
        <p:nvSpPr>
          <p:cNvPr id="21" name="Text 19"/>
          <p:cNvSpPr/>
          <p:nvPr/>
        </p:nvSpPr>
        <p:spPr>
          <a:xfrm>
            <a:off x="457200" y="4846320"/>
            <a:ext cx="8229600" cy="365760"/>
          </a:xfrm>
          <a:prstGeom prst="rect">
            <a:avLst/>
          </a:prstGeom>
          <a:noFill/>
          <a:ln/>
        </p:spPr>
        <p:txBody>
          <a:bodyPr wrap="square" lIns="0" tIns="0" rIns="0" bIns="0" rtlCol="0" anchor="ctr"/>
          <a:lstStyle/>
          <a:p>
            <a:pPr algn="ctr" indent="0" marL="0">
              <a:buNone/>
            </a:pPr>
            <a:r>
              <a:rPr lang="en-US" sz="1400" dirty="0">
                <a:solidFill>
                  <a:srgbClr val="636E72"/>
                </a:solidFill>
                <a:latin typeface="BIZ UDPGothic" pitchFamily="34" charset="0"/>
                <a:ea typeface="BIZ UDPGothic" pitchFamily="34" charset="-122"/>
                <a:cs typeface="BIZ UDPGothic" pitchFamily="34" charset="-120"/>
              </a:rPr>
              <a:t>医知創造ラボ  今村久司  ｜  チャンネル登録よろしくお願いします</a:t>
            </a:r>
            <a:endParaRPr lang="en-US" sz="1400" dirty="0"/>
          </a:p>
        </p:txBody>
      </p:sp>
      <p:sp>
        <p:nvSpPr>
          <p:cNvPr id="22" name="Text 2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Segoe UI" pitchFamily="34" charset="0"/>
                <a:ea typeface="Segoe UI" pitchFamily="34" charset="-122"/>
                <a:cs typeface="Segoe UI" pitchFamily="34" charset="-120"/>
              </a:rPr>
              <a:t>9/9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理想的な病状説明とは何か ― 脳神経内科医が考える「伝わる」コミュニケーション</dc:title>
  <dc:subject>PptxGenJS Presentation</dc:subject>
  <dc:creator>今村久司</dc:creator>
  <cp:lastModifiedBy>今村久司</cp:lastModifiedBy>
  <cp:revision>1</cp:revision>
  <dcterms:created xsi:type="dcterms:W3CDTF">2026-04-16T01:40:20Z</dcterms:created>
  <dcterms:modified xsi:type="dcterms:W3CDTF">2026-04-16T01:40:20Z</dcterms:modified>
</cp:coreProperties>
</file>