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98" d="100"/>
          <a:sy n="198" d="100"/>
        </p:scale>
        <p:origin x="648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司 今村" userId="1c5d66dd010fbc96" providerId="LiveId" clId="{17FB10CB-4D7A-4D51-827D-8C222DDB014F}"/>
    <pc:docChg chg="undo custSel modSld">
      <pc:chgData name="久司 今村" userId="1c5d66dd010fbc96" providerId="LiveId" clId="{17FB10CB-4D7A-4D51-827D-8C222DDB014F}" dt="2026-04-09T05:42:12.428" v="11" actId="14100"/>
      <pc:docMkLst>
        <pc:docMk/>
      </pc:docMkLst>
      <pc:sldChg chg="modSp mod">
        <pc:chgData name="久司 今村" userId="1c5d66dd010fbc96" providerId="LiveId" clId="{17FB10CB-4D7A-4D51-827D-8C222DDB014F}" dt="2026-04-09T05:40:38.853" v="4" actId="1076"/>
        <pc:sldMkLst>
          <pc:docMk/>
          <pc:sldMk cId="0" sldId="258"/>
        </pc:sldMkLst>
        <pc:spChg chg="mod">
          <ac:chgData name="久司 今村" userId="1c5d66dd010fbc96" providerId="LiveId" clId="{17FB10CB-4D7A-4D51-827D-8C222DDB014F}" dt="2026-04-09T05:40:02.862" v="0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久司 今村" userId="1c5d66dd010fbc96" providerId="LiveId" clId="{17FB10CB-4D7A-4D51-827D-8C222DDB014F}" dt="2026-04-09T05:40:17.384" v="3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久司 今村" userId="1c5d66dd010fbc96" providerId="LiveId" clId="{17FB10CB-4D7A-4D51-827D-8C222DDB014F}" dt="2026-04-09T05:40:38.853" v="4" actId="1076"/>
          <ac:spMkLst>
            <pc:docMk/>
            <pc:sldMk cId="0" sldId="258"/>
            <ac:spMk id="19" creationId="{00000000-0000-0000-0000-000000000000}"/>
          </ac:spMkLst>
        </pc:spChg>
      </pc:sldChg>
      <pc:sldChg chg="modSp mod">
        <pc:chgData name="久司 今村" userId="1c5d66dd010fbc96" providerId="LiveId" clId="{17FB10CB-4D7A-4D51-827D-8C222DDB014F}" dt="2026-04-09T05:41:14.767" v="6" actId="1076"/>
        <pc:sldMkLst>
          <pc:docMk/>
          <pc:sldMk cId="0" sldId="260"/>
        </pc:sldMkLst>
        <pc:spChg chg="mod">
          <ac:chgData name="久司 今村" userId="1c5d66dd010fbc96" providerId="LiveId" clId="{17FB10CB-4D7A-4D51-827D-8C222DDB014F}" dt="2026-04-09T05:41:05.996" v="5" actId="1076"/>
          <ac:spMkLst>
            <pc:docMk/>
            <pc:sldMk cId="0" sldId="260"/>
            <ac:spMk id="35" creationId="{00000000-0000-0000-0000-000000000000}"/>
          </ac:spMkLst>
        </pc:spChg>
        <pc:spChg chg="mod">
          <ac:chgData name="久司 今村" userId="1c5d66dd010fbc96" providerId="LiveId" clId="{17FB10CB-4D7A-4D51-827D-8C222DDB014F}" dt="2026-04-09T05:41:14.767" v="6" actId="1076"/>
          <ac:spMkLst>
            <pc:docMk/>
            <pc:sldMk cId="0" sldId="260"/>
            <ac:spMk id="36" creationId="{00000000-0000-0000-0000-000000000000}"/>
          </ac:spMkLst>
        </pc:spChg>
      </pc:sldChg>
      <pc:sldChg chg="modSp mod">
        <pc:chgData name="久司 今村" userId="1c5d66dd010fbc96" providerId="LiveId" clId="{17FB10CB-4D7A-4D51-827D-8C222DDB014F}" dt="2026-04-09T05:42:12.428" v="11" actId="14100"/>
        <pc:sldMkLst>
          <pc:docMk/>
          <pc:sldMk cId="0" sldId="262"/>
        </pc:sldMkLst>
        <pc:spChg chg="mod">
          <ac:chgData name="久司 今村" userId="1c5d66dd010fbc96" providerId="LiveId" clId="{17FB10CB-4D7A-4D51-827D-8C222DDB014F}" dt="2026-04-09T05:42:12.428" v="11" actId="14100"/>
          <ac:spMkLst>
            <pc:docMk/>
            <pc:sldMk cId="0" sldId="262"/>
            <ac:spMk id="45" creationId="{00000000-0000-0000-0000-000000000000}"/>
          </ac:spMkLst>
        </pc:spChg>
        <pc:spChg chg="mod">
          <ac:chgData name="久司 今村" userId="1c5d66dd010fbc96" providerId="LiveId" clId="{17FB10CB-4D7A-4D51-827D-8C222DDB014F}" dt="2026-04-09T05:41:53.347" v="8" actId="1076"/>
          <ac:spMkLst>
            <pc:docMk/>
            <pc:sldMk cId="0" sldId="262"/>
            <ac:spMk id="4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1913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371600" y="2606040"/>
            <a:ext cx="6400800" cy="36576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低活動性せん妄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「静かなせん妄」を見逃さない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188720" cy="1188720"/>
          </a:xfrm>
          <a:prstGeom prst="rect">
            <a:avLst/>
          </a:prstGeom>
          <a:solidFill>
            <a:srgbClr val="2C5AA0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2743200"/>
            <a:ext cx="1188720" cy="1188720"/>
          </a:xfrm>
          <a:prstGeom prst="rect">
            <a:avLst/>
          </a:prstGeom>
          <a:solidFill>
            <a:srgbClr val="7B2D8E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377440" y="2697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37744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注意力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0" y="2743200"/>
            <a:ext cx="1188720" cy="1188720"/>
          </a:xfrm>
          <a:prstGeom prst="rect">
            <a:avLst/>
          </a:prstGeom>
          <a:solidFill>
            <a:srgbClr val="DC3545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840480" y="2697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84048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受動性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2743200"/>
            <a:ext cx="1188720" cy="1188720"/>
          </a:xfrm>
          <a:prstGeom prst="rect">
            <a:avLst/>
          </a:prstGeom>
          <a:solidFill>
            <a:srgbClr val="E8850C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303520" y="2697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30352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摂取低下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2743200"/>
            <a:ext cx="1188720" cy="1188720"/>
          </a:xfrm>
          <a:prstGeom prst="rect">
            <a:avLst/>
          </a:prstGeom>
          <a:solidFill>
            <a:srgbClr val="28A745"/>
          </a:solidFill>
          <a:ln w="1905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766560" y="2697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76656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昼夜逆転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B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今村久司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この動画で学べること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75488" cy="475488"/>
          </a:xfrm>
          <a:prstGeom prst="ellipse">
            <a:avLst/>
          </a:prstGeom>
          <a:solidFill>
            <a:srgbClr val="2C5AA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1005840"/>
            <a:ext cx="7772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143000" y="10058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低活動性せん妄がなぜ見逃されるのか ― その構造的理由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475488" cy="475488"/>
          </a:xfrm>
          <a:prstGeom prst="ellipse">
            <a:avLst/>
          </a:prstGeom>
          <a:solidFill>
            <a:srgbClr val="2C5AA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" y="1755648"/>
            <a:ext cx="7772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143000" y="175564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「HYPO-D」で覚える臨床的特徴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11480" y="2578608"/>
            <a:ext cx="475488" cy="475488"/>
          </a:xfrm>
          <a:prstGeom prst="ellipse">
            <a:avLst/>
          </a:prstGeom>
          <a:solidFill>
            <a:srgbClr val="2C5AA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11480" y="25786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05840" y="2505456"/>
            <a:ext cx="7772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143000" y="250545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うつ病・認知症・アパシーとの鑑別ポイント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11480" y="3328416"/>
            <a:ext cx="475488" cy="475488"/>
          </a:xfrm>
          <a:prstGeom prst="ellipse">
            <a:avLst/>
          </a:prstGeom>
          <a:solidFill>
            <a:srgbClr val="2C5AA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11480" y="33284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05840" y="3255264"/>
            <a:ext cx="7772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143000" y="325526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「DELIRIUM」で原因を系統的にチェック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11480" y="4078224"/>
            <a:ext cx="475488" cy="475488"/>
          </a:xfrm>
          <a:prstGeom prst="ellipse">
            <a:avLst/>
          </a:prstGeom>
          <a:solidFill>
            <a:srgbClr val="2C5AA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11480" y="4078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05840" y="4005072"/>
            <a:ext cx="7772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143000" y="40050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非薬物療法を中心とした実践的治療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なぜ低活動性せん妄は見逃されるのか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280160" y="1188720"/>
            <a:ext cx="640080" cy="64008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「困る」行動がない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199" y="2468880"/>
            <a:ext cx="2475297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興奮もナースコールもない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「おとなしい患者」と評価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206240" y="1188720"/>
            <a:ext cx="640080" cy="64008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他の病態と誤認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4688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うつ病・認知症の進行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疲労・鎮静薬の残効と解釈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132320" y="1188720"/>
            <a:ext cx="640080" cy="64008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1323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0936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スクリーニング不足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01076" y="2468880"/>
            <a:ext cx="26228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一般病棟でCAMの定期使用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が普及していない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0040" y="3931920"/>
            <a:ext cx="8503920" cy="685800"/>
          </a:xfrm>
          <a:prstGeom prst="rect">
            <a:avLst/>
          </a:prstGeom>
          <a:solidFill>
            <a:srgbClr val="F8D7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見逃しの代償: 入院期間延長 / 機能予後悪化 / 死亡率上昇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せん妄のサブタイプ ― 低活動型が最多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645920" cy="1645920"/>
          </a:xfrm>
          <a:prstGeom prst="rect">
            <a:avLst/>
          </a:prstGeom>
          <a:solidFill>
            <a:srgbClr val="DC354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過活動型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15-25%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興奮・攻撃性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幻覚・不穏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2926080" cy="1645920"/>
          </a:xfrm>
          <a:prstGeom prst="rect">
            <a:avLst/>
          </a:prstGeom>
          <a:solidFill>
            <a:srgbClr val="2C5AA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331720" y="1143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低活動型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31720" y="1554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40-50%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3172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無関心・傾眠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動作緩慢・食欲低下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1097280"/>
            <a:ext cx="2286000" cy="1645920"/>
          </a:xfrm>
          <a:prstGeom prst="rect">
            <a:avLst/>
          </a:prstGeom>
          <a:solidFill>
            <a:srgbClr val="7B2D8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486400" y="1143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混合型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1554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30-40%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過活動と低活動が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交互に出現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低活動型は最も頻度が高いのに、最も認識率が低い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高齢者・終末期・術後で特に多い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過活動型の認識率 &gt;&gt; 低活動型の認識率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DSM-5 (2013) でサブタイプ分類が正式導入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臨床像 ―「HYPO-D」で覚える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94360" cy="594360"/>
          </a:xfrm>
          <a:prstGeom prst="ellipse">
            <a:avLst/>
          </a:prstGeom>
          <a:solidFill>
            <a:srgbClr val="2C5AA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51560" y="960120"/>
            <a:ext cx="77724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188720" y="9601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Hypersomnia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27101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過眠・傾眠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96012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日中うとうと、覚醒が鈍い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594360" cy="594360"/>
          </a:xfrm>
          <a:prstGeom prst="ellipse">
            <a:avLst/>
          </a:prstGeom>
          <a:solidFill>
            <a:srgbClr val="7B2D8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2004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051560" y="1737360"/>
            <a:ext cx="77724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188720" y="17373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7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Yielding attention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04825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注意力低下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173736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会話が続かない、質問に答えられない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594360" cy="594360"/>
          </a:xfrm>
          <a:prstGeom prst="ellipse">
            <a:avLst/>
          </a:prstGeom>
          <a:solidFill>
            <a:srgbClr val="DC354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2004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051560" y="2514600"/>
            <a:ext cx="77724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188720" y="251460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Passivity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282549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受動性・無関心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251460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自発的な動きが減少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0040" y="3337560"/>
            <a:ext cx="594360" cy="594360"/>
          </a:xfrm>
          <a:prstGeom prst="ellipse">
            <a:avLst/>
          </a:prstGeom>
          <a:solidFill>
            <a:srgbClr val="E8850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320040" y="3337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1051560" y="3291840"/>
            <a:ext cx="77724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188720" y="32918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Oral intake decline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6027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経口摂取低下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329184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食事量の急激な低下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0040" y="4114800"/>
            <a:ext cx="594360" cy="594360"/>
          </a:xfrm>
          <a:prstGeom prst="ellipse">
            <a:avLst/>
          </a:prstGeom>
          <a:solidFill>
            <a:srgbClr val="28A74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20040" y="4114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1051560" y="4069080"/>
            <a:ext cx="77724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1188720" y="40690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Day-night reversal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437997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昼夜逆転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40480" y="406908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夜間不眠、日中傾眠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0040" y="4672584"/>
            <a:ext cx="8503920" cy="41148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457200" y="464138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最重要: これらが「急性に」出現し「日内変動」があること → せん妄を疑う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鑑別診断 ― うつ病・認知症・アパシーとの違い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1371600" cy="59436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37160" y="9144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36192" y="914400"/>
            <a:ext cx="1828800" cy="5943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536192" y="914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低活動性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せん妄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92424" y="914400"/>
            <a:ext cx="1828800" cy="594360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392424" y="914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うつ病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48656" y="914400"/>
            <a:ext cx="2011680" cy="594360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248656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87768" y="914400"/>
            <a:ext cx="1828800" cy="594360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287768" y="914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アパシー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" y="1536192"/>
            <a:ext cx="1371600" cy="630936"/>
          </a:xfrm>
          <a:prstGeom prst="rect">
            <a:avLst/>
          </a:prstGeom>
          <a:solidFill>
            <a:srgbClr val="E8EDF2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37160" y="1536192"/>
            <a:ext cx="1371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36192" y="1536192"/>
            <a:ext cx="1828800" cy="630936"/>
          </a:xfrm>
          <a:prstGeom prst="rect">
            <a:avLst/>
          </a:prstGeom>
          <a:solidFill>
            <a:srgbClr val="E8F4FD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536192" y="1536192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(時間〜日)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92424" y="1536192"/>
            <a:ext cx="18288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392424" y="1536192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亜急性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(数週間)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48656" y="1536192"/>
            <a:ext cx="201168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248656" y="1536192"/>
            <a:ext cx="2011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緩徐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(月〜年)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87768" y="1536192"/>
            <a:ext cx="18288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287768" y="1536192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緩徐〜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亜急性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7160" y="2194560"/>
            <a:ext cx="1371600" cy="630936"/>
          </a:xfrm>
          <a:prstGeom prst="rect">
            <a:avLst/>
          </a:prstGeom>
          <a:solidFill>
            <a:srgbClr val="E8EDF2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37160" y="2194560"/>
            <a:ext cx="1371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日内変動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536192" y="2194560"/>
            <a:ext cx="1828800" cy="630936"/>
          </a:xfrm>
          <a:prstGeom prst="rect">
            <a:avLst/>
          </a:prstGeom>
          <a:solidFill>
            <a:srgbClr val="D4E6F9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1536192" y="2194560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著明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(夕〜夜増悪)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92424" y="2194560"/>
            <a:ext cx="1828800" cy="630936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392424" y="2194560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朝方増悪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48656" y="2194560"/>
            <a:ext cx="2011680" cy="630936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5248656" y="2194560"/>
            <a:ext cx="2011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軽度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87768" y="2194560"/>
            <a:ext cx="1828800" cy="630936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7287768" y="2194560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一定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7160" y="2852928"/>
            <a:ext cx="1371600" cy="630936"/>
          </a:xfrm>
          <a:prstGeom prst="rect">
            <a:avLst/>
          </a:prstGeom>
          <a:solidFill>
            <a:srgbClr val="E8EDF2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37160" y="2852928"/>
            <a:ext cx="1371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注意障害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536192" y="2852928"/>
            <a:ext cx="1828800" cy="630936"/>
          </a:xfrm>
          <a:prstGeom prst="rect">
            <a:avLst/>
          </a:prstGeom>
          <a:solidFill>
            <a:srgbClr val="E8F4FD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1536192" y="2852928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高度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(中核症状)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92424" y="2852928"/>
            <a:ext cx="18288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3392424" y="2852928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軽度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248656" y="2852928"/>
            <a:ext cx="201168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5248656" y="2852928"/>
            <a:ext cx="2011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初期は保持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87768" y="2852928"/>
            <a:ext cx="18288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7287768" y="2852928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軽度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37160" y="3511296"/>
            <a:ext cx="1371600" cy="630936"/>
          </a:xfrm>
          <a:prstGeom prst="rect">
            <a:avLst/>
          </a:prstGeom>
          <a:solidFill>
            <a:srgbClr val="E8EDF2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137160" y="3511296"/>
            <a:ext cx="1371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536192" y="3511296"/>
            <a:ext cx="1828800" cy="630936"/>
          </a:xfrm>
          <a:prstGeom prst="rect">
            <a:avLst/>
          </a:prstGeom>
          <a:solidFill>
            <a:srgbClr val="D4E6F9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1536192" y="3511296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変動あり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92424" y="3511296"/>
            <a:ext cx="1828800" cy="630936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3392424" y="3511296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清明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248656" y="3511296"/>
            <a:ext cx="2011680" cy="630936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5248656" y="3511296"/>
            <a:ext cx="2011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清明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287768" y="3511296"/>
            <a:ext cx="1828800" cy="630936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7287768" y="3511296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清明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37160" y="4169664"/>
            <a:ext cx="1371600" cy="630936"/>
          </a:xfrm>
          <a:prstGeom prst="rect">
            <a:avLst/>
          </a:prstGeom>
          <a:solidFill>
            <a:srgbClr val="E8EDF2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137160" y="4169664"/>
            <a:ext cx="13716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可逆性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536192" y="4169664"/>
            <a:ext cx="1828800" cy="630936"/>
          </a:xfrm>
          <a:prstGeom prst="rect">
            <a:avLst/>
          </a:prstGeom>
          <a:solidFill>
            <a:srgbClr val="E8F4FD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1536192" y="4169664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原因除去で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改善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392424" y="4169664"/>
            <a:ext cx="18288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3392424" y="4169664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治療で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改善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248656" y="4169664"/>
            <a:ext cx="201168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60"/>
          <p:cNvSpPr/>
          <p:nvPr/>
        </p:nvSpPr>
        <p:spPr>
          <a:xfrm>
            <a:off x="5248656" y="4169664"/>
            <a:ext cx="2011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不可逆が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多い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287768" y="4169664"/>
            <a:ext cx="18288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62"/>
          <p:cNvSpPr/>
          <p:nvPr/>
        </p:nvSpPr>
        <p:spPr>
          <a:xfrm>
            <a:off x="7287768" y="4169664"/>
            <a:ext cx="18288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原因に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よる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20040" y="4160520"/>
            <a:ext cx="8503920" cy="68580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「入院してから急にぼけが進んだ」= 低活動性せん妄を強く疑う</a:t>
            </a:r>
            <a:endParaRPr lang="en-US" sz="1700" dirty="0"/>
          </a:p>
        </p:txBody>
      </p:sp>
      <p:sp>
        <p:nvSpPr>
          <p:cNvPr id="67" name="Text 6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原因検索 ―「DELIRIUM」で系統チェック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57200" cy="438912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Drug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91440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抗コリン薬、ベンゾ、オピオイド、H2B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457200" cy="438912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74320" y="14173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14173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Electrolyte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645920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電解質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141732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Na異常、Ca異常、低血糖、高血糖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1920240"/>
            <a:ext cx="457200" cy="438912"/>
          </a:xfrm>
          <a:prstGeom prst="rect">
            <a:avLst/>
          </a:prstGeom>
          <a:solidFill>
            <a:srgbClr val="7B2D8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74320" y="192024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1920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7B2D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sleep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148840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睡眠障害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192024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不眠、睡眠覚醒リズム障害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4320" y="2423160"/>
            <a:ext cx="457200" cy="438912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274320" y="242316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" y="24231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2651760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感染症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242316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尿路感染、肺炎、胆管炎、敗血症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457200" cy="438912"/>
          </a:xfrm>
          <a:prstGeom prst="rect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274320" y="292608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2960" y="29260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5B8C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154680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排泄障害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68880" y="292608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尿閉、便秘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74320" y="3429000"/>
            <a:ext cx="457200" cy="43891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274320" y="342900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22960" y="3429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Intracranial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3657600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頭蓋内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68880" y="342900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脳卒中、硬膜下血腫、てんかん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74320" y="3931920"/>
            <a:ext cx="457200" cy="438912"/>
          </a:xfrm>
          <a:prstGeom prst="rect">
            <a:avLst/>
          </a:prstGeom>
          <a:solidFill>
            <a:srgbClr val="8B691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274320" y="39319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22960" y="39319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8B69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Undernutrition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4160520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低栄養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68880" y="393192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脱水、VitB1欠乏、腎不全、肝不全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74320" y="4434840"/>
            <a:ext cx="457200" cy="438912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274320" y="443484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22960" y="44348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Myocardial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2960" y="4663440"/>
            <a:ext cx="15544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心肺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468880" y="443484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心不全、低酸素血症、呼吸不全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229403" y="4873752"/>
            <a:ext cx="8545629" cy="288036"/>
          </a:xfrm>
          <a:prstGeom prst="rect">
            <a:avLst/>
          </a:prstGeom>
          <a:solidFill>
            <a:srgbClr val="F8D7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412283" y="47960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最優先: 原因薬剤（抗コリン薬・ベンゾジアゼピン）の中止・変更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 ― 非薬物療法が柱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0789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不快刺激の除去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身体抑制の回避、不要なカテーテル抜去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11480" y="2441448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11480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3134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見当識の維持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カレンダー・時計、入院目的の繰り返し説明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11480" y="3675888"/>
            <a:ext cx="548640" cy="548640"/>
          </a:xfrm>
          <a:prstGeom prst="ellipse">
            <a:avLst/>
          </a:prstGeom>
          <a:solidFill>
            <a:srgbClr val="7B2D8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11480" y="3675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5478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2D8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感覚入力の最適化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9728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眼鏡・補聴器・義歯の使用、疼痛管理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892040" y="1207008"/>
            <a:ext cx="548640" cy="54864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1207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10789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早期離床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577840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座位→立位→歩行の段階的リハビリ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240280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4892040" y="2441448"/>
            <a:ext cx="548640" cy="54864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892040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77840" y="23134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睡眠衛生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5778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夜間処置の最小化、日中覚醒の促進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3474720"/>
            <a:ext cx="42976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4892040" y="3675888"/>
            <a:ext cx="548640" cy="548640"/>
          </a:xfrm>
          <a:prstGeom prst="ellipse">
            <a:avLst/>
          </a:prstGeom>
          <a:solidFill>
            <a:srgbClr val="5B8C5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4892040" y="3675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77840" y="35478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8C5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栄養・水分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57784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脱水補正、栄養管理、口腔ケア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D4ED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エビデンス: 多職種包括的介入でせん妄発症率を30〜40%低減（HELP試験）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薬物療法 ― トラゾドンが第一候補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37160" cy="164592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トラゾドン 25mg（眠前または夕食後）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5-HT2A受容体拮抗 → 睡眠覚醒リズム改善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抗コリン作用が少ない → せん妄を悪化させにくい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ベンゾジアゼピン系からの切り替え先として有用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「不眠時指示をトラゾドンに変更するだけでも予防と治療に」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2743200" cy="73152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ラメルテオン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予防エビデンスあり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メラトニン受容体作動薬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88036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200400" y="2880360"/>
            <a:ext cx="2743200" cy="73152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291840" y="29992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スボレキサント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9184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不眠対策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3657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オレキシン受容体拮抗薬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88036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126480" y="2880360"/>
            <a:ext cx="2743200" cy="73152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217920" y="29992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抗精神病薬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792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低活動型への使用は限定的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3657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2024 APA GL: 効果限定的〜なし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高齢者の死亡率上昇リスク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原則: 低活動型に抗精神病薬は使わない。薬物より原因除去と非薬物療法を優先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「静かだから大丈夫」ではない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低活動性せん妄は全体の約50% ― 最多かつ最も見逃されやすい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6459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「HYPO-D」の急性変化を見たらせん妄を疑い、CAMでスクリーニング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2860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鑑別のカギ: 発症速度・日内変動・注意障害の程度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9260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「DELIRIUM」で原因を系統的に検索し、除去する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5661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治療の柱は非薬物療法。薬物はトラゾドン 25mgが第一候補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2062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多職種包括的介入で発症率を30〜40%低減できる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109728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B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 APA. DSM-5. 2013.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52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 日本サイコオンコロジー学会. せん妄ガイドライン 2022.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9105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3. Kiely DK, et al. J Am Geriatr Soc. 2009;57(1):55-61.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9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 Meagher DJ, et al. J Neuropsychiatry Clin Neurosci. 2008;20(2):185-93.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5. Maldonado JR. Am J Geriatr Psychiatry. 2013;21(12):1190-222.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6. 矢吹拓. 内科病棟診療の極意 第13回. 金芳堂.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7. Inouye SK, et al. Ann Intern Med. 1990;113(12):941-8.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826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8. Ely EW, et al. Crit Care Med. 2001;29(7):1370-9.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210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9. APA. Practice Guideline for Delirium. Am J Psychiatry. 2024.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59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10. NICE CG103. Delirium guideline. 2023 update.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11. Inouye SK, et al. HELP. N Engl J Med. 1999;340(9):669-76.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36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12. PADIS Guidelines 2018; 2025 focused update.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651</Words>
  <Application>Microsoft Office PowerPoint</Application>
  <PresentationFormat>画面に合わせる (16:9)</PresentationFormat>
  <Paragraphs>237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BIZ UDPGothic</vt:lpstr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低活動性せん妄 ― 「静かなせん妄」を見逃さない</dc:title>
  <dc:subject>PptxGenJS Presentation</dc:subject>
  <dc:creator>今村久司</dc:creator>
  <cp:lastModifiedBy>久司 今村</cp:lastModifiedBy>
  <cp:revision>1</cp:revision>
  <dcterms:created xsi:type="dcterms:W3CDTF">2026-04-09T05:36:23Z</dcterms:created>
  <dcterms:modified xsi:type="dcterms:W3CDTF">2026-04-09T05:42:16Z</dcterms:modified>
</cp:coreProperties>
</file>