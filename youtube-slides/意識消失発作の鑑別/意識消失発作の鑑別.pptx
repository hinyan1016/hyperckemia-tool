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4" d="100"/>
          <a:sy n="104" d="100"/>
        </p:scale>
        <p:origin x="74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司 今村" userId="1c5d66dd010fbc96" providerId="LiveId" clId="{062EBC09-E340-429A-A48C-2ED253578334}"/>
    <pc:docChg chg="undo custSel modSld">
      <pc:chgData name="久司 今村" userId="1c5d66dd010fbc96" providerId="LiveId" clId="{062EBC09-E340-429A-A48C-2ED253578334}" dt="2026-03-22T09:50:03.207" v="5" actId="1076"/>
      <pc:docMkLst>
        <pc:docMk/>
      </pc:docMkLst>
      <pc:sldChg chg="modSp mod">
        <pc:chgData name="久司 今村" userId="1c5d66dd010fbc96" providerId="LiveId" clId="{062EBC09-E340-429A-A48C-2ED253578334}" dt="2026-03-22T09:50:03.207" v="5" actId="1076"/>
        <pc:sldMkLst>
          <pc:docMk/>
          <pc:sldMk cId="0" sldId="265"/>
        </pc:sldMkLst>
        <pc:spChg chg="mod">
          <ac:chgData name="久司 今村" userId="1c5d66dd010fbc96" providerId="LiveId" clId="{062EBC09-E340-429A-A48C-2ED253578334}" dt="2026-03-22T09:50:03.207" v="5" actId="1076"/>
          <ac:spMkLst>
            <pc:docMk/>
            <pc:sldMk cId="0" sldId="265"/>
            <ac:spMk id="27" creationId="{00000000-0000-0000-0000-000000000000}"/>
          </ac:spMkLst>
        </pc:spChg>
      </pc:sldChg>
      <pc:sldChg chg="modSp mod">
        <pc:chgData name="久司 今村" userId="1c5d66dd010fbc96" providerId="LiveId" clId="{062EBC09-E340-429A-A48C-2ED253578334}" dt="2026-03-22T09:49:17.975" v="4" actId="14100"/>
        <pc:sldMkLst>
          <pc:docMk/>
          <pc:sldMk cId="0" sldId="267"/>
        </pc:sldMkLst>
        <pc:spChg chg="mod">
          <ac:chgData name="久司 今村" userId="1c5d66dd010fbc96" providerId="LiveId" clId="{062EBC09-E340-429A-A48C-2ED253578334}" dt="2026-03-22T09:49:17.975" v="4" actId="14100"/>
          <ac:spMkLst>
            <pc:docMk/>
            <pc:sldMk cId="0" sldId="267"/>
            <ac:spMk id="7" creationId="{00000000-0000-0000-0000-000000000000}"/>
          </ac:spMkLst>
        </pc:spChg>
        <pc:spChg chg="mod">
          <ac:chgData name="久司 今村" userId="1c5d66dd010fbc96" providerId="LiveId" clId="{062EBC09-E340-429A-A48C-2ED253578334}" dt="2026-03-22T09:49:13.710" v="3" actId="14100"/>
          <ac:spMkLst>
            <pc:docMk/>
            <pc:sldMk cId="0" sldId="267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3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743200" y="2606040"/>
            <a:ext cx="3657600" cy="457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F0F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失神・てんかん・PNESを7ステップで系統的に鑑別 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 2018 / NICE ガイドライン準拠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F0F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TLOCの分類 ─ 4つの大カテゴリー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😵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失神（Syncope）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脳血流の一過性低下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反射性（60%）/ 起立性 / 心原性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23444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0E6FF"/>
          </a:solidFill>
          <a:ln w="19050">
            <a:solidFill>
              <a:srgbClr val="6F42C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56032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5176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F42C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てんかん発作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51760" y="24688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GTCS / 焦点意識減損発作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/ 欠神発作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3E0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75488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🎭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PNES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24688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心因性非てんかん性発作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（機能性神経症状症）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123444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EFEBE9"/>
          </a:solidFill>
          <a:ln w="19050">
            <a:solidFill>
              <a:srgbClr val="5D403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94944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04088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403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まれな原因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0" y="246888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椎骨脳底動脈TIA / 鎖骨下盗血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/ 低血糖 / SAH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初期評価の3本柱（ESC 2018）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463040" y="1417320"/>
            <a:ext cx="594360" cy="59436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詳細な病歴聴取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患者本人＋目撃者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これだけで50-60%は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診断可能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23444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28A7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594360" cy="59436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29768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身体診察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2044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臥位→立位血圧測定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（3分後）を必ず含む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起立性低血圧の検出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7132320" y="1417320"/>
            <a:ext cx="594360" cy="59436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13232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12誘導心電図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5508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全例に必須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心原性失神の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スクリーニング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8046720" cy="411480"/>
          </a:xfrm>
          <a:prstGeom prst="roundRect">
            <a:avLst>
              <a:gd name="adj" fmla="val 22222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31520" y="41605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初期評価だけで過半数が診断可能 — 病歴聴取が最も重要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1  誘因・状況 ─ 最初の分岐点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7680960" cy="307238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誘因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示唆される診断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重要度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長時間立位 / 痛み / 採血 / 感情ストレス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血管迷走神経性失神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一般的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排尿 / 咳嗽 / 嚥下時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状況失神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一般的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起立直後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起立性低血圧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一般的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運動中・労作中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心原性失神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🚨 赤旗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臥位・安静時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心原性（不整脈）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🚨 赤旗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睡眠中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てんかん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⚡ 重要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上肢運動中（片側）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鎖骨下動脈盗血症候群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まれ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2  前駆症状 ─ 診断の宝庫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29718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前駆症状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示唆される診断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発汗・悪心・蒼白・視野暗転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血管迷走神経性失神（自律神経症状）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立ちくらみ・ふらつき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起立性低血圧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デジャビュ / 上腹部不快感の上行 / 恐怖感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焦点発作（側頭葉てんかん）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動悸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不整脈性失神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突然の激しい頭痛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くも膜下出血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前駆症状なし（突然の意識消失）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心原性失神を最も疑う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160520"/>
            <a:ext cx="8412480" cy="411480"/>
          </a:xfrm>
          <a:prstGeom prst="roundRect">
            <a:avLst>
              <a:gd name="adj" fmla="val 22222"/>
            </a:avLst>
          </a:prstGeom>
          <a:solidFill>
            <a:srgbClr val="FDE8E8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前駆症状なしの突然の意識消失 → 心原性失神を最も疑う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3  発作中の所見 ─ 目撃者情報が鍵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063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所見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失神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てんかん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PNES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顔色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蒼白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チアノーゼ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持続時間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&lt;30秒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1-2分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&gt;5分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開眼/閉眼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開眼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開眼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閉眼★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運動パターン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多焦点性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ミオクローヌス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(&lt;10回)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強直間代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律動的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(&gt;20回)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非同期性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側方動揺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舌咬傷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尖部（稀）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側面★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(LR+ 49)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尖部/なし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発作後の回復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速やか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(&lt;1分)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遷延混迷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(&gt;5分)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変動的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痙攣性失神（Convulsive Syncope）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FF8E1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失神でも約12%に四肢のミオクローヌスが出現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てんかんと誤診しないこと！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10/20 ルール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ミオクローヌス &lt; 10回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失神を示唆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多焦点性・不規則・短時間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310896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0E6FF"/>
          </a:solidFill>
          <a:ln w="19050">
            <a:solidFill>
              <a:srgbClr val="6F42C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02920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42C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ミオクローヌス &gt; 20回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てんかんを示唆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律動的・全身同期性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60520" y="3474720"/>
            <a:ext cx="822960" cy="5029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160520" y="3474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舌咬傷の診断的価値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1737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舌咬傷の部位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感度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特異度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LR+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示唆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舌咬傷（全般）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33%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96%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8.2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てんかん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舌側面の咬傷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11.3%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99.8%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49.3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てんかんにほぼ特異的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舌尖部の咬傷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—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—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—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失神 or PNES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10896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6F42C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F42C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🔑 臨床的位置づけ</a:t>
            </a:r>
            <a:endParaRPr lang="en-US" sz="1600" dirty="0"/>
          </a:p>
        </p:txBody>
      </p:sp>
      <p:sp>
        <p:nvSpPr>
          <p:cNvPr id="6" name="Text 6"/>
          <p:cNvSpPr/>
          <p:nvPr/>
        </p:nvSpPr>
        <p:spPr>
          <a:xfrm>
            <a:off x="731520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舌側面の咬傷があれば → てんかんの診断はほぼ確実（LR+ 49）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感度は11%と低い → なくても除外はできない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舌尖部の咬傷 → 失神やPNESでも起こりうる → 鑑別には使えない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4  発作後の所見 ─ 最も信頼できる鑑別点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失神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速やかな回復（&lt;1分）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横になれば血流回復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0E6FF"/>
          </a:solidFill>
          <a:ln w="19050">
            <a:solidFill>
              <a:srgbClr val="6F42C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474720" y="1280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F42C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てんかん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遷延する意識混濁（&gt;5分）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筋肉痛・頭痛・CK上昇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3E0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355080" y="1280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PNES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55080" y="1828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変動的な回復パターン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発作中の記憶が部分的にあり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6F42C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42C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⚡ Todd麻痺（一過性片麻痺）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焦点起始てんかんの診断がほぼ確実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42900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846320" y="34747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🎭 発作中の出来事を部分的に記憶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794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PNESを示唆（てんかん・失神では稀）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PNES（心因性非てんかん性発作）─ 5つのサイン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3E0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❶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閉眼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11887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特異度92% — てんかん・失神は通常開眼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40080" y="184708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5分以上の持続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18470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真のてんかん発作は1-2分。5分超はPNESの可能性24倍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505456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5054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非同期性四肢運動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5054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不規則・骨盤突出運動も特徴的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163824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3E0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16382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❹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31638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変動する経過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66160" y="316382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感度76% — 最も信頼できる徴候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822192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0080" y="382219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❺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88720" y="38221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発作中の部分的記憶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66160" y="382219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てんかん・失神ではまず見られない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8046720" cy="128016"/>
          </a:xfrm>
          <a:prstGeom prst="roundRect">
            <a:avLst>
              <a:gd name="adj" fmla="val 71429"/>
            </a:avLst>
          </a:prstGeom>
          <a:solidFill>
            <a:srgbClr val="E8850C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505681" y="435512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確定診断：ビデオ脳波モニタリング（vEEG）— 発作中の脳波が正常であることを確認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5  心原性失神のレッドフラグ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心原性失神は全失神の10%だが、2年死亡率17-21%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8046720" cy="338328"/>
          </a:xfrm>
          <a:prstGeom prst="roundRect">
            <a:avLst>
              <a:gd name="adj" fmla="val 27027"/>
            </a:avLst>
          </a:prstGeom>
          <a:solidFill>
            <a:srgbClr val="FDE8E8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⚡  前駆症状なしの突然の意識消失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8046720" cy="338328"/>
          </a:xfrm>
          <a:prstGeom prst="roundRect">
            <a:avLst>
              <a:gd name="adj" fmla="val 27027"/>
            </a:avLst>
          </a:prstGeom>
          <a:solidFill>
            <a:srgbClr val="FDE8E8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31520" y="2212848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🏃  運動中・労作中の失神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8046720" cy="338328"/>
          </a:xfrm>
          <a:prstGeom prst="roundRect">
            <a:avLst>
              <a:gd name="adj" fmla="val 27027"/>
            </a:avLst>
          </a:prstGeom>
          <a:solidFill>
            <a:srgbClr val="FDE8E8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596896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🛏️  臥位での失神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8046720" cy="338328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731520" y="2980944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📊  心電図異常（QT延長、Brugada型、二束ブロック）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8046720" cy="338328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364992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🫀  構造的心疾患の既往 / 心不全の徴候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8046720" cy="338328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👨‍👩‍👧‍👦  40歳未満の突然死の家族歴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133088"/>
            <a:ext cx="8046720" cy="338328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31520" y="4133088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💓  失神前の動悸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553712"/>
            <a:ext cx="8046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1つでも該当 → 循環器内科への相談が必要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EGSYS Score ─ 心原性失神のスクリーニング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2743200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所見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点数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失神前の動悸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+4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心電図異常 and/or 心疾患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+3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労作中の失神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+3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臥位での失神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+2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自律神経性前駆症状（発汗・悪心・温感）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-1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誘因あり（温環境、長時間立位、恐怖、痛み）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-1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069080"/>
            <a:ext cx="8128956" cy="502920"/>
          </a:xfrm>
          <a:prstGeom prst="roundRect">
            <a:avLst>
              <a:gd name="adj" fmla="val 18182"/>
            </a:avLst>
          </a:prstGeom>
          <a:solidFill>
            <a:srgbClr val="FDE8E8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73152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≧3点：心原性失神の感度92%・特異度69% — 2年死亡率17-21% → </a:t>
            </a:r>
            <a:r>
              <a:rPr lang="en-US" sz="1500" b="1" dirty="0" err="1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入院精査を強く考慮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6-7  患者背景・家族歴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📋 患者背景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若年者 → 血管迷走神経性が最多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高齢者 → 心原性・起立性・頸動脈洞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てんかん既往 → てんかん発作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心疾患既往 → 心原性失神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PD/DM → 起立性低血圧（自律神経障害）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精神疾患 → PNES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降圧薬/利尿薬 → 起立性低血圧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インスリン/SU薬 → 低血糖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89204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👨‍👩‍👧‍👦 家族歴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40歳未満の突然死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QT延長症候群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Brugada症候群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肥大型心筋症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⚡ てんかんの家族歴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てんかんの素因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💓 チャネル病の家族歴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心電図精査必須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検査アプローチ ─ 疑い別の追加検査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307238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疑い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検査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備考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反射性失神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チルト試験、頸動脈洞マッサージ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再発性/不確実時。CSM&gt;40歳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起立性低血圧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臥位→立位BP（3分後）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SBP↓20 or DBP↓10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不整脈性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ホルター、ILR、EPS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ILRは原因不明再発性に有用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構造的心疾患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心エコー、負荷試験、BNP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労作中失神→運動負荷試験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てんかん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EEG、頭部MRI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EEG1回の感度≈50%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PNES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ビデオ脳波モニタリング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確定診断のゴールドスタンダード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SAH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頭部CT（6h以内）、LP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6h以内のCT感度&gt;98%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ルーチンのEEG・頭部画像は失神の初期評価としては非推奨（神経所見がない限り）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鑑別のまとめ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97280"/>
          <a:ext cx="8778240" cy="307238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失神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てんかん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PNES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心原性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顔色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蒼白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チアノーゼ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—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持続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&lt;30秒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1-2分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&gt;5分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—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回復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速やか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遷延混迷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変動的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速やか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開閉眼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開眼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開眼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閉眼★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—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舌咬傷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尖部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側面★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稀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—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誘因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明確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なし/睡眠中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ストレス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労作/臥位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前兆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自律神経症状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デジャビュ等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—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動悸/なし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★ = 高い特異度を持つ所見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─ Take Home Message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意識消失発作（TLOC）の鑑別診断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52144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48640" y="11521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0972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初期評価は「病歴＋身体診察＋心電図」— 50-60%はこれで診断可能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57276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「蒼白 vs チアノーゼ」を目撃者に聞く — 失神 vs てんかんの最初の手がかり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6F42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04825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舌側面の咬傷（LR+ 49）→ てんかんにほぼ特異的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578608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5786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52374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閉眼（特異度92%）→ PNESの重要サイン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054096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48640" y="30540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99923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前駆症状なしの突然の意識消失 → 心原性を最も疑う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529584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52958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4747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運動中失神 ＋ 突然死家族歴 → チャネル病/HCMの除外必須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005072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0050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95020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EGSYS ≧3点 → 2年死亡率17-21%、入院精査を強く考慮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8046720" cy="128016"/>
          </a:xfrm>
          <a:prstGeom prst="roundRect">
            <a:avLst>
              <a:gd name="adj" fmla="val 71429"/>
            </a:avLst>
          </a:prstGeom>
          <a:solidFill>
            <a:srgbClr val="2C5AA0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944</Words>
  <Application>Microsoft Office PowerPoint</Application>
  <PresentationFormat>画面に合わせる (16:9)</PresentationFormat>
  <Paragraphs>343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BIZ UDPGothic</vt:lpstr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意識消失発作（TLOC）の鑑別診断</dc:title>
  <dc:subject>PptxGenJS Presentation</dc:subject>
  <dc:creator>医知創造ラボ</dc:creator>
  <cp:lastModifiedBy>久司 今村</cp:lastModifiedBy>
  <cp:revision>1</cp:revision>
  <dcterms:created xsi:type="dcterms:W3CDTF">2026-03-22T09:45:26Z</dcterms:created>
  <dcterms:modified xsi:type="dcterms:W3CDTF">2026-03-22T09:50:13Z</dcterms:modified>
</cp:coreProperties>
</file>