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74C3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一般向け医学解説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高血圧の新基準と減塩対策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74C3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日本人の3人に1人が該当する「沈黙の殺し屋」 ―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0" y="3017520"/>
            <a:ext cx="3657600" cy="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200400"/>
            <a:ext cx="256032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200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4,300万人の衝撃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91840" y="3200400"/>
            <a:ext cx="2560320" cy="50292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3200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JSH2025 新基準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3200400"/>
            <a:ext cx="2560320" cy="5029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3200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今日からの減塩術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DEDE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脳神経内科専門医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日本の高血圧の現状 ― 衝撃の数字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高血圧有病者数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約4,300万人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日本人の約3人に1人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高血圧に起因する死亡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年間 約10万人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93776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脳卒中・心臓病含む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8412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高血圧は血管病死亡の最大のリスク因子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794760"/>
            <a:ext cx="237744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全血管病死亡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114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3474720" y="3794760"/>
            <a:ext cx="2377440" cy="8229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脳卒中死亡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4114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52%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217920" y="3794760"/>
            <a:ext cx="237744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冠動脈疾患死亡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4114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コントロール不良の3,100万人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13716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高血圧と認識していない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1,400万人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120640" y="1280160"/>
            <a:ext cx="3200400" cy="36576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" name="Shape 7"/>
          <p:cNvSpPr/>
          <p:nvPr/>
        </p:nvSpPr>
        <p:spPr>
          <a:xfrm>
            <a:off x="5120640" y="1280160"/>
            <a:ext cx="1056132" cy="3657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011680"/>
            <a:ext cx="137160" cy="82296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自覚はあるが未治療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2423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450万人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20640" y="2240280"/>
            <a:ext cx="3200400" cy="36576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0640" y="2240280"/>
            <a:ext cx="320040" cy="36576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971800"/>
            <a:ext cx="137160" cy="8229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017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治療中だがコントロール不良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3383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1,250万人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120640" y="3200400"/>
            <a:ext cx="3200400" cy="36576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3" name="Shape 21"/>
          <p:cNvSpPr/>
          <p:nvPr/>
        </p:nvSpPr>
        <p:spPr>
          <a:xfrm>
            <a:off x="5120640" y="3200400"/>
            <a:ext cx="928116" cy="3657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931920"/>
            <a:ext cx="137160" cy="8229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977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適切にコントロール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" y="4343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1,200万人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120640" y="4160520"/>
            <a:ext cx="3200400" cy="36576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0" name="Shape 28"/>
          <p:cNvSpPr/>
          <p:nvPr/>
        </p:nvSpPr>
        <p:spPr>
          <a:xfrm>
            <a:off x="5120640" y="4160520"/>
            <a:ext cx="896112" cy="3657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28%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709160"/>
            <a:ext cx="8412480" cy="36576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高血圧の方の3人に1人は自分が高血圧であることを知らない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2025年の新基準 ― JSH2025ガイドライン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最大の変更点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全年齢で降圧目標を統一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841248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項目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JSH2019（旧）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2286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JSH2025（新）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8412480" cy="6400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743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75歳未満の降圧目標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2743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130/80 mmHg未満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27432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130/80 mmHg未満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383280"/>
            <a:ext cx="84124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83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75歳以上の降圧目標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3383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140/90 mmHg未満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3383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130/80 mmHg未満 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023360"/>
            <a:ext cx="8412480" cy="6400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023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家庭血圧の目標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4023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125/75（75歳未満のみ）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0" y="40233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全年齢 125/75 未満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4663440"/>
            <a:ext cx="8412480" cy="45720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診察室血圧 130/80 mmHg未満 ／ 家庭血圧 125/75 mmHg未満 を全年齢で目指す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血圧の分類とリスク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分類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51760" y="1005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収縮期（上）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1005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拡張期（下）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92240" y="1005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心血管リスク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8412480" cy="5486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463040"/>
            <a:ext cx="109728" cy="5486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正常血圧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1463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120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1463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80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1463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基準（1倍）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011680"/>
            <a:ext cx="84124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2011680"/>
            <a:ext cx="109728" cy="54864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正常高値血圧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120 - 129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80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やや注意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2560320"/>
            <a:ext cx="8412480" cy="5486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2560320"/>
            <a:ext cx="109728" cy="5486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560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高値血圧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51760" y="2560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130 - 139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0" y="2560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80 - 89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約1.7倍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3108960"/>
            <a:ext cx="84124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365760" y="3108960"/>
            <a:ext cx="109728" cy="54864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108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I度高血圧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651760" y="3108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140 - 159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3108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90 - 99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92240" y="3108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約3.3倍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3657600"/>
            <a:ext cx="8412480" cy="5486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" y="3657600"/>
            <a:ext cx="109728" cy="5486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3657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II度高血圧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651760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160 - 179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0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100 - 109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9224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高リスク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365760" y="4206240"/>
            <a:ext cx="109728" cy="5486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4206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III度高血圧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651760" y="4206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180 以上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0" y="4206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110 以上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92240" y="4206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約8.5倍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血圧が上がるほどリスクは指数関数的に増加する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なぜ日本は高血圧大国なのか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日本人の平均食塩摂取量（2023年）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9.8 g/日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男性 10.7g ／ 女性 9.1g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651760"/>
            <a:ext cx="3108960" cy="3200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51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目標: 6g未満（日本高血圧学会）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日本人男性の平均収縮期血圧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131.6 mmHg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すでに目標130を超過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140以上: 男性27.5% 女性22.5%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291840"/>
            <a:ext cx="8412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塩分の多い日本の食文化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1463040" cy="91440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886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味噌汁1杯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297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約1.5g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194560" y="3840480"/>
            <a:ext cx="1463040" cy="91440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21" name="Text 19"/>
          <p:cNvSpPr/>
          <p:nvPr/>
        </p:nvSpPr>
        <p:spPr>
          <a:xfrm>
            <a:off x="2194560" y="3886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ラーメン（汁込み）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94560" y="4297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約5-7g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840480" y="3840480"/>
            <a:ext cx="1463040" cy="91440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0" y="3886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梅干し1個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0" y="4297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約2g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0" y="3840480"/>
            <a:ext cx="1463040" cy="91440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3886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たくあん3切れ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4297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約1.3g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132320" y="3840480"/>
            <a:ext cx="1463040" cy="91440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0" y="3886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醤油 大さじ1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4297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約2.6g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沈黙の殺し屋 ― 高血圧が引き起こす病気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554480" cy="5486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（脳梗塞・脳出血）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1371600" cy="457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2004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血管が詰まる・破れる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100584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0" y="1005840"/>
            <a:ext cx="1554480" cy="5486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1005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心臓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03120" y="17373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心筋梗塞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心不全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03120" y="3017520"/>
            <a:ext cx="1371600" cy="457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" name="Text 13"/>
          <p:cNvSpPr/>
          <p:nvPr/>
        </p:nvSpPr>
        <p:spPr>
          <a:xfrm>
            <a:off x="2103120" y="32004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冠動脈の動脈硬化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49040" y="100584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49040" y="1005840"/>
            <a:ext cx="1554480" cy="54864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1005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腎臓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40480" y="17373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慢性腎臓病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（CKD）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840480" y="3017520"/>
            <a:ext cx="1371600" cy="457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32004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糸球体の血管障害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0" y="100584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0" y="1005840"/>
            <a:ext cx="1554480" cy="5486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0" y="1005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77840" y="17373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高血圧性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網膜症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577840" y="3017520"/>
            <a:ext cx="1371600" cy="457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7" name="Text 25"/>
          <p:cNvSpPr/>
          <p:nvPr/>
        </p:nvSpPr>
        <p:spPr>
          <a:xfrm>
            <a:off x="5577840" y="32004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網膜の血管障害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23760" y="100584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23760" y="1005840"/>
            <a:ext cx="1554480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7223760" y="1005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血管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15200" y="17373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大動脈解離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大動脈瘤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315200" y="3017520"/>
            <a:ext cx="1371600" cy="457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0" y="32004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血管壁への持続的負荷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389120"/>
            <a:ext cx="8412480" cy="64008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389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高血圧は「自覚症状がないまま」全身の血管を傷つけ続ける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だからこそ定期的な血圧測定が重要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家庭血圧を測ろう ― 正しい測定法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5720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正しい測り方 7つのポイント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600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上腕式の血圧計を使う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121408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2057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朝: 起床後1時間以内・排尿後・朝食前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578608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514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夜: 就寝前のリラックス時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035808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29718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1-2分安静にしてから測る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493008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3429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カフを心臓の高さに合わせる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950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3886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各回2回測定し平均値を記録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407408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51560" y="4343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結果を手帳やアプリに記録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120640" y="1005840"/>
            <a:ext cx="3657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120640" y="1005840"/>
            <a:ext cx="3657600" cy="45720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0" y="1005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白衣高血圧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303520" y="15544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病院では高いが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自宅では正常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治療不要なことが多い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120640" y="3017520"/>
            <a:ext cx="3657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120640" y="3017520"/>
            <a:ext cx="3657600" cy="4572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0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仮面高血圧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303520" y="35661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病院では正常なのに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自宅では高い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見逃されやすく危険！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減塩のコツとDASH食 ― 今日からできる対策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2062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20624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すぐに始められる減塩のコツ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味噌汁は1日1杯まで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476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醤油はかけずにつける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951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麺類の汁は残す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6426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だし・酢・レモンで味付け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9900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加工食品の食塩相当量を確認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外食時は「薄味で」と注文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0233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05840"/>
            <a:ext cx="4023360" cy="4572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DASH食とは？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積極的に摂るもの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874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野菜・果物・低脂肪乳製品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全粒穀物・ナッツ・魚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控えるもの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834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赤肉・砂糖・清涼飲料水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飽和脂肪酸・加工食品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931920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931920"/>
            <a:ext cx="137160" cy="10972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DASH食 + 減塩 = 最強の組み合わせ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3977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収縮期血圧 最大11 mmHg以上低下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1520" y="4389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食塩を1g減らすだけで血圧は約1 mmHg下がる。カリウムが豊富なバナナ・ほうれん草・納豆も効果的。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8B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Home Message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3D151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91440" cy="6400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15568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15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024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日本は高血圧大国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3258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EDE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4,300万人が該当、3,100万人がコントロール不良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3D1515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83080"/>
            <a:ext cx="91440" cy="6400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892808"/>
            <a:ext cx="411480" cy="41148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18013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2025年の新基準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1031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EDE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全年齢で診察室130/80、家庭125/75 mmHg未満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solidFill>
            <a:srgbClr val="3D1515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560320"/>
            <a:ext cx="91440" cy="640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2670048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2578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高血圧は最大のリスク因子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2880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EDE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脳卒中・心臓病死亡の約50%に関与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8229600" cy="640080"/>
          </a:xfrm>
          <a:prstGeom prst="rect">
            <a:avLst/>
          </a:prstGeom>
          <a:solidFill>
            <a:srgbClr val="3D1515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337560"/>
            <a:ext cx="91440" cy="64008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3447288"/>
            <a:ext cx="411480" cy="41148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447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33558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家庭血圧の毎日測定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36576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EDE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朝・晩2回ずつ、記録して受診時に持参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3D1515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114800"/>
            <a:ext cx="91440" cy="6400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" y="4224528"/>
            <a:ext cx="411480" cy="41148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224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71600" y="4133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減塩が最重要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71600" y="4434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EDE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1日6g未満を目標に。DASH食で効果倍増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828800" y="4937760"/>
            <a:ext cx="5486400" cy="0"/>
          </a:xfrm>
          <a:prstGeom prst="line">
            <a:avLst/>
          </a:prstGeom>
          <a:noFill/>
          <a:ln w="19050">
            <a:solidFill>
              <a:srgbClr val="E74C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まずは家庭血圧計を1台用意して、毎日測ることから始めましょう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高血圧の新基準と減塩対策 ― 日本人の3人に1人が該当する沈黙の殺し屋</dc:title>
  <dc:subject>PptxGenJS Presentation</dc:subject>
  <dc:creator>今村久司</dc:creator>
  <cp:lastModifiedBy>今村久司</cp:lastModifiedBy>
  <cp:revision>1</cp:revision>
  <dcterms:created xsi:type="dcterms:W3CDTF">2026-04-16T11:42:11Z</dcterms:created>
  <dcterms:modified xsi:type="dcterms:W3CDTF">2026-04-16T11:42:11Z</dcterms:modified>
</cp:coreProperties>
</file>