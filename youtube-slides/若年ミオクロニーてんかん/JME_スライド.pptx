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若年ミオクロニーてんかん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Juvenile Myoclonic Epilepsy (JME)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― 見逃されやすい思春期てんかんの診断と治療 ―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2025年最新メタアナリシス・コホート研究に基づく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疫学 ― 思ったより多い「よくあるてんかん」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5〜10%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全てんかんに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占める割合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0.4/1000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成人での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有病率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12〜18歳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6344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発症年齢の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ピーク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20116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11887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920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あり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遺伝学的背景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遺伝形式: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多因子遺伝（polygenic）が主体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GWAS感受性座位: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4p12, 8q23.1, 16p11.2（JME特異的）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病態基盤: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前頭-視床-皮質ネットワークの遺伝的異常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臨床的特徴 ― 3つの発作型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ミオクロニー発作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920240"/>
            <a:ext cx="1463040" cy="109728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覚醒直後の両側上肢の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ピクつき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意識は保持される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GTCS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（強直間代発作）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40480" y="1920240"/>
            <a:ext cx="1463040" cy="109728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80〜95%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ミオクロニー発作の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数年後に出現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診断契機となることが最多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欠神発作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1463040" cy="1097280"/>
          </a:xfrm>
          <a:prstGeom prst="ellipse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92024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10〜40%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32004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短時間の意識消失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薬剤抵抗性の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リスク因子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誘発因子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28600" cy="713232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515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睡眠不足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05156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最重要。概日リズムとの関連が明確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56232"/>
            <a:ext cx="228600" cy="71323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56232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アルコール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856232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過度の摂取で発作閾値が低下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660904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60904"/>
            <a:ext cx="228600" cy="713232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60904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ストレス・疲労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2660904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精神的・身体的ストレス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65576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65576"/>
            <a:ext cx="228600" cy="7132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655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光刺激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3465576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光過敏性 30〜40%。脳波で光突発反応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270248"/>
            <a:ext cx="82296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270248"/>
            <a:ext cx="228600" cy="713232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702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月経周期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4270248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catamenial seizures → 薬剤抵抗性リスク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なぜ見逃されるのか？ ― 診断遅延の3大原因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" cy="13716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発症から診断まで平均 8〜10年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274320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80160" y="2834640"/>
            <a:ext cx="73152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患者がミオクロニー発作を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「病気」と認識していない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「朝は体がだるくてピクピクする」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2834640"/>
            <a:ext cx="73152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「てんかん＝全身けいれん」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のイメージ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ピクつきでは受診しない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7432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834640"/>
            <a:ext cx="731520" cy="64008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8346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0" y="3566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医師がミオクロニーの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既往を聴取し忘れる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GTCSだけを診断してしまう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JMEを拾い上げる問診テクニック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GTCSで受診した思春期〜若年成人に聞く！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731520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920240"/>
            <a:ext cx="18288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202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「朝起きてすぐ、コップや携帯を落としたことは？」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731520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743200"/>
            <a:ext cx="18288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274320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「朝食のとき、箸やスプーンが飛んだことは？」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731520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3566160"/>
            <a:ext cx="182880" cy="6858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56616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「体がビクッとなって、周囲の人に指摘されたことは？」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→「今思えば…」と答える患者は非常に多い！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脳波所見 ― 4〜6Hz多棘徐波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JME脳波の特徴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基礎律動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発作間欠期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2377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4〜6Hz 多棘徐波複合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(polyspike-and-slow wave)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分布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前頭〜中心部優位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光突発反応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30〜40%に陽性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97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感度向上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睡眠剥奪脳波を推奨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94960" y="1097280"/>
            <a:ext cx="32918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94960" y="1097280"/>
            <a:ext cx="3291840" cy="5486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097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鑑別ポイント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77840" y="1828800"/>
            <a:ext cx="292608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定型欠神: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3Hz 棘徐波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JME: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4〜6Hz 多棘徐波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「多棘」= 1つの徐波に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先行する複数の棘波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ミオクロニー発作の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電気生理学的対応物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鑑別診断 ― 特に注意すべき疾患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鑑別疾患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共通点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鑑別のポイント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8229600" cy="74980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5448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若年欠神てんかん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(JAE)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155448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GGE、思春期発症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欠神が主体。ミオクロニーは稀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3Hz棘徐波が典型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82296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04288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覚醒時GTCS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単独てんかん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304288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覚醒時のGTCS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30428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ミオクロニー・欠神なし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8229600" cy="74980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5409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進行性ミオクローヌス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てんかん (PME)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305409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ミオクロニー、GTCS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054096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進行性の認知機能低下・小脳失調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JMEは非進行性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03904"/>
            <a:ext cx="82296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0390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家族性成人型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ミオクロニーてんかん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0" y="380390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ミオクロニー、GTCS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803904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AD遺伝。持続性皮質ミオクロニー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Long-read sequencingで確定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53712"/>
            <a:ext cx="8229600" cy="74980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55371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心因性非てんかん性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発作 (PNES)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0" y="455371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発作性症状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0" y="4553712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偽薬剤抵抗性の原因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精神的併存症の評価重要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治療 ― 第一選択薬（2025年エビデンス）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バルプロ酸（VPA）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最も有効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単剤で最大90%発作抑制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催奇形性・神経発達リスク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妊娠可能女性には原則禁忌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体重増加・OSA悪化にも注意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レベチラセタム（LEV）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VPAと同等の有効性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メタ解析: OR 0.77 (有意差なし)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妊娠中も比較的安全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5年転帰: LEV優位の可能性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8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精神症状 37.6%に注意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4023360"/>
            <a:ext cx="182880" cy="9144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0233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2025年メタアナリシス (18研究, 2,189例): </a:t>
            </a:r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 vs VPA → ミオクロニー発作消失率に有意差なし。LEVはLTG (OR 2.22), TPM (OR 1.93)に有意に優位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妊娠可能女性の治療アルゴリズム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234440"/>
            <a:ext cx="45720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234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妊娠可能女性の JME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1965960"/>
            <a:ext cx="4572000" cy="5029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9659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第一選択: レベチラセタム（LEV）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371600" y="2697480"/>
            <a:ext cx="457200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LEV無効 or 精神症状で忍容不可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371600" y="3429000"/>
            <a:ext cx="45720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429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ラモトリギン（漸増）or ゾニサミド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371600" y="4160520"/>
            <a:ext cx="45720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4160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ブリバラセタム or ペランパネル追加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8328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468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8328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83280" y="3931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1371600"/>
            <a:ext cx="2103120" cy="329184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1371600"/>
            <a:ext cx="210312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371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OCP相互作用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1920240"/>
            <a:ext cx="192024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≥200mg/day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エチニルエストラジオール↓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≥12mg/day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レボノルゲストレル代謝↑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避妊法の確認必須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JMEで避けるべき薬剤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ミオクロニー発作を増悪させるNaチャネルブロッカー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377440" cy="64008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カルバマゼピン（CBZ）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13716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フェニトイン（PHT）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83280" y="1828800"/>
            <a:ext cx="13716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6035040" y="1828800"/>
            <a:ext cx="2377440" cy="64008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✕  ガバペンチン（GBP）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13716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228600" cy="1645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よくあるピットフォール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GTCSだけを見て焦点性てんかんと誤診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 カルバマゼピンを処方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→ ミオクロニー発作が増悪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朝のミオクロニー発作を問診で拾い上げることが誤治療を防ぐ第一歩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薬剤抵抗性JME ― 新規治療の選択肢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リスク因子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15〜33% が薬剤抵抗性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欠神発作の合併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若年発症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月経関連発作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熱性けいれん既往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VPA抵抗性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3891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脳波上のGPFA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セノバメート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6459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3M: 75%が≥50%発作減少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最終: 38%が発作消失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ER受診も有意に減少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(Cleveland Clinic, 16例)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1089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ブリバラセタム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37760" y="365760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JME: responder rate 60%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LEVから15:1比率で切替可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精神行動副作用がLEVより少ない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(多施設後方視研究, 61例)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長期予後 ― 断薬リスクと経過パターン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28600" cy="11887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断薬後の再発率: </a:t>
            </a:r>
            <a:pPr algn="ctr" indent="0" marL="0">
              <a:buNone/>
            </a:pPr>
            <a:r>
              <a:rPr lang="en-US" sz="28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75〜100%</a:t>
            </a:r>
            <a:pPr algn="ctr"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(5年以内)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多くの患者で生涯にわたる服薬継続が推奨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経過パターン (GGE, n=199)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82880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寛解-再発型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1752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40.2%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566160"/>
            <a:ext cx="18288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3年寛解達成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3566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81.9%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182880" cy="3657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10年寛解達成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46.2%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182880" cy="3657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持続的抵抗性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35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14.6%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39319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468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従来の教条 vs 最新の知見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従来: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「JME = 全例生涯服薬」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 (Nat Rev Neurol 2021):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「加齢とともに一部の患者で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薬剤中止が可能」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個々のリスク評価に基づく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判断が求められる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併存症と QOL ― 発作だけの問題ではない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精神医学的併存症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不安障害: 10%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うつ病: 6%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GTCS頻度と精神的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併存症に有意な関連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前頭葉機能障害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遂行機能障害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発作コントロールの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良否にかかわらず出現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前頭-視床-皮質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8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ネットワーク異常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睡眠障害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645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入眠潜時延長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睡眠効率低下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REM睡眠減少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VPA使用者: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いびき・OSA増加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566160"/>
            <a:ext cx="228600" cy="13716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1188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QOLへの影響: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発作コントロール下でも「発作への心配」「認知機能」ドメインが特に低下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発作管理 ＋ 精神面・睡眠面を含めた包括的ケアが長期QOL改善の鍵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14/15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Take-home Message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GTCSの若年者 → 必ず朝のミオクロニーを問診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618488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18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1572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脳波 = 4〜6Hz多棘徐波。睡眠剥奪で感度向上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2185416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85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13969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VPA ≒ LEV の有効性。妊娠可能女性 → LEV第一選択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2752344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52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7066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CBZ・PHT・GBP はミオクロニー増悪 → 禁忌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0080" y="3319272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32735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薬剤抵抗性(15-33%) → セノバメート・BRV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840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多くは生涯服薬。一部は加齢で中止可能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0080" y="4453128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453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4074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精神併存症 + 睡眠障害 → 包括的ケアが鍵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ご視聴ありがとうございました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Gesche J, et al. Eur J Neurol. 2020;27(4):676-684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Vorderwülbecke BJ, et al. Nat Rev Neurol. 2021;18(2):71-83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Cerulli Irelli E, et al. Epilepsia. 2020;61(11):2452-2460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Mastrangelo M, et al. Am J Med Genet B. 2025;198(7):76-87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Nica A. Rev Neurol (Paris). 2024;180(4):271-289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Yetkin O, et al. Seizure. 2024;120:61-71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Lu Y, et al. Epilepsia. 2025;66(11):4107-4121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Pereira ARO, et al. Epilepsy Behav. 2025;171:110512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Tabrizi N, et al. Seizure. 2025;127:66-70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Stephen LJ, Brodie MJ. CNS Drugs. 2020;34(2):147-161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Strzelczyk A, et al. Epilepsia. 2018;59(8):1549-1556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Woodrich N, et al. Epilepsia Open. 2025;10(6):1871-1882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Choudhury C, et al. Cureus. 2024;16(9):e69228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Ustun D, et al. Epilepsy Res. 2026;222:107753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若年ミオクロニーてんかん（JME）― 見逃されやすい思春期てんかんの診断と治療</dc:title>
  <dc:subject>PptxGenJS Presentation</dc:subject>
  <dc:creator>今村久司</dc:creator>
  <cp:lastModifiedBy>今村久司</cp:lastModifiedBy>
  <cp:revision>1</cp:revision>
  <dcterms:created xsi:type="dcterms:W3CDTF">2026-03-30T04:58:53Z</dcterms:created>
  <dcterms:modified xsi:type="dcterms:W3CDTF">2026-03-30T04:58:53Z</dcterms:modified>
</cp:coreProperties>
</file>