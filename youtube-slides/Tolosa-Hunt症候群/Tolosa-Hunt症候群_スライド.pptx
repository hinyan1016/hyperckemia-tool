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89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久司 今村" userId="1c5d66dd010fbc96" providerId="LiveId" clId="{062EBC09-E340-429A-A48C-2ED253578334}"/>
    <pc:docChg chg="undo custSel modSld">
      <pc:chgData name="久司 今村" userId="1c5d66dd010fbc96" providerId="LiveId" clId="{062EBC09-E340-429A-A48C-2ED253578334}" dt="2026-03-30T19:53:04.450" v="7" actId="20577"/>
      <pc:docMkLst>
        <pc:docMk/>
      </pc:docMkLst>
      <pc:sldChg chg="modSp mod">
        <pc:chgData name="久司 今村" userId="1c5d66dd010fbc96" providerId="LiveId" clId="{062EBC09-E340-429A-A48C-2ED253578334}" dt="2026-03-30T19:52:07.100" v="2" actId="14100"/>
        <pc:sldMkLst>
          <pc:docMk/>
          <pc:sldMk cId="0" sldId="260"/>
        </pc:sldMkLst>
        <pc:spChg chg="mod">
          <ac:chgData name="久司 今村" userId="1c5d66dd010fbc96" providerId="LiveId" clId="{062EBC09-E340-429A-A48C-2ED253578334}" dt="2026-03-30T19:52:03.030" v="1" actId="14100"/>
          <ac:spMkLst>
            <pc:docMk/>
            <pc:sldMk cId="0" sldId="260"/>
            <ac:spMk id="17" creationId="{00000000-0000-0000-0000-000000000000}"/>
          </ac:spMkLst>
        </pc:spChg>
        <pc:spChg chg="mod">
          <ac:chgData name="久司 今村" userId="1c5d66dd010fbc96" providerId="LiveId" clId="{062EBC09-E340-429A-A48C-2ED253578334}" dt="2026-03-30T19:52:07.100" v="2" actId="14100"/>
          <ac:spMkLst>
            <pc:docMk/>
            <pc:sldMk cId="0" sldId="260"/>
            <ac:spMk id="20" creationId="{00000000-0000-0000-0000-000000000000}"/>
          </ac:spMkLst>
        </pc:spChg>
      </pc:sldChg>
      <pc:sldChg chg="modSp mod">
        <pc:chgData name="久司 今村" userId="1c5d66dd010fbc96" providerId="LiveId" clId="{062EBC09-E340-429A-A48C-2ED253578334}" dt="2026-03-30T19:52:18.797" v="3" actId="1036"/>
        <pc:sldMkLst>
          <pc:docMk/>
          <pc:sldMk cId="0" sldId="261"/>
        </pc:sldMkLst>
        <pc:spChg chg="mod">
          <ac:chgData name="久司 今村" userId="1c5d66dd010fbc96" providerId="LiveId" clId="{062EBC09-E340-429A-A48C-2ED253578334}" dt="2026-03-30T19:52:18.797" v="3" actId="1036"/>
          <ac:spMkLst>
            <pc:docMk/>
            <pc:sldMk cId="0" sldId="261"/>
            <ac:spMk id="21" creationId="{00000000-0000-0000-0000-000000000000}"/>
          </ac:spMkLst>
        </pc:spChg>
      </pc:sldChg>
      <pc:sldChg chg="modSp mod">
        <pc:chgData name="久司 今村" userId="1c5d66dd010fbc96" providerId="LiveId" clId="{062EBC09-E340-429A-A48C-2ED253578334}" dt="2026-03-30T19:53:04.450" v="7" actId="20577"/>
        <pc:sldMkLst>
          <pc:docMk/>
          <pc:sldMk cId="0" sldId="264"/>
        </pc:sldMkLst>
        <pc:spChg chg="mod">
          <ac:chgData name="久司 今村" userId="1c5d66dd010fbc96" providerId="LiveId" clId="{062EBC09-E340-429A-A48C-2ED253578334}" dt="2026-03-30T19:52:55.905" v="5" actId="20577"/>
          <ac:spMkLst>
            <pc:docMk/>
            <pc:sldMk cId="0" sldId="264"/>
            <ac:spMk id="24" creationId="{00000000-0000-0000-0000-000000000000}"/>
          </ac:spMkLst>
        </pc:spChg>
        <pc:spChg chg="mod">
          <ac:chgData name="久司 今村" userId="1c5d66dd010fbc96" providerId="LiveId" clId="{062EBC09-E340-429A-A48C-2ED253578334}" dt="2026-03-30T19:53:00.417" v="6" actId="20577"/>
          <ac:spMkLst>
            <pc:docMk/>
            <pc:sldMk cId="0" sldId="264"/>
            <ac:spMk id="25" creationId="{00000000-0000-0000-0000-000000000000}"/>
          </ac:spMkLst>
        </pc:spChg>
        <pc:spChg chg="mod">
          <ac:chgData name="久司 今村" userId="1c5d66dd010fbc96" providerId="LiveId" clId="{062EBC09-E340-429A-A48C-2ED253578334}" dt="2026-03-30T19:53:04.450" v="7" actId="20577"/>
          <ac:spMkLst>
            <pc:docMk/>
            <pc:sldMk cId="0" sldId="264"/>
            <ac:spMk id="2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5947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Tolosa-Hunt症候群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Tolosa-Hunt Syndrome (THS)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有痛性眼筋麻痺の鑑別と治療 ―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0" y="310896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ICHD-3診断基準・最新レビューに基づく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症例提示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2/17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645920" cy="45720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1234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55歳 男性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【主訴】左眼の奥の激しい痛み、物が二重に見える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【現病歴】3日前から左眼窩後方に刺すような痛みが出現。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翌日から複視を自覚し、左眼瞼下垂も出現。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【既往歴】特記事項なし　【服薬歴】なし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【神経所見】左CN III麻痺（眼瞼下垂、瞳孔散大、上下内転制限）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左CN VI麻痺（外転制限）、左V1領域の感覚低下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371600" y="4160520"/>
            <a:ext cx="6400800" cy="18288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この症例、どう考える？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有痛性眼筋麻痺（Painful Ophthalmoplegia）とは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3/17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定義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眼窩部・眼窩周囲の疼痛 ＋ 同側の眼球運動障害（CN III, IV, VI 麻痺）を呈する症候群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主な原因疾患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965960" cy="41148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炎症性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Tolosa-Hunt症候群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サルコイドーシス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IgG4関連疾患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06040" y="320040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2606040" y="3200400"/>
            <a:ext cx="1965960" cy="41148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60604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腫瘍性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370332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髄膜腫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リンパ腫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転移性腫瘍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320040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4754880" y="3200400"/>
            <a:ext cx="1965960" cy="41148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75488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血管性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70332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動脈瘤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CCF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海綿静脈洞血栓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03720" y="3200400"/>
            <a:ext cx="1965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6903720" y="3200400"/>
            <a:ext cx="1965960" cy="41148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90372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感染性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95160" y="370332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真菌症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帯状疱疹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梅毒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海綿静脈洞の解剖 ― なぜ複数の脳神経が障害されるのか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4/17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海綿静脈洞の断面構造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外側壁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926080" cy="3657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CN III（動眼神経）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2926080" cy="36576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CN IV（滑車神経）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2926080" cy="36576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V1（眼神経）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2926080" cy="365760"/>
          </a:xfrm>
          <a:prstGeom prst="rect">
            <a:avLst/>
          </a:prstGeom>
          <a:solidFill>
            <a:srgbClr val="A29B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V2（上顎神経）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洞内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1371600" cy="36576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内頸動脈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103120" y="3977640"/>
            <a:ext cx="1371600" cy="36576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210312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CN VI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93776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臨床的意義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1783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17830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狭い空間に多数の脳神経が密集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24231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24231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炎症・腫瘍で複数の神経が同時障害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0632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30632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CN III + VI + V1 の複合障害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海綿静脈洞病変を強く示唆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3703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3703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交感神経叢も通過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Horner症候群を合併しうる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4343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4343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上眼窩裂・眼窩先端部に連続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病変の進展範囲で症状が変化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Tolosa-Hunt症候群の病態生理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5/17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定義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海綿静脈洞・上眼窩裂・眼窩先端部における原因不明の肉芽腫性炎症により、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片側性の眼窩痛と眼筋麻痺を呈する疾患（1954年 Tolosa、1961年 Hunt ら報告）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病理組織学的特徴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594360" y="3401568"/>
            <a:ext cx="457200" cy="45720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9436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383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線維芽細胞の増殖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329184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4800600" y="3401568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80060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94960" y="3383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リンパ球・形質細胞の浸潤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594360" y="4224528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9436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4206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肉芽腫性変化（類上皮細胞・巨細胞）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411480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4800600" y="4224528"/>
            <a:ext cx="457200" cy="457200"/>
          </a:xfrm>
          <a:prstGeom prst="ellipse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80060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94960" y="4206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硬膜の肥厚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疫学 ― 極めて稀な疾患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6/17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371600" cy="73152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1/100万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年間発症率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2788920" y="1280160"/>
            <a:ext cx="1371600" cy="7315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2788920" y="1280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41歳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68880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平均発症年齢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4983480" y="1280160"/>
            <a:ext cx="1371600" cy="73152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983480" y="1280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: 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男女比（性差なし）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0" y="1097280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7178040" y="1280160"/>
            <a:ext cx="1371600" cy="73152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7178040" y="1280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~5%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58000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両側性の割合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210339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73152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疫学的特徴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 あらゆる年齢で発症するが、小児では稀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4069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 人種差・地域差なし（世界中で報告あり）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 若年患者では再発頻度が高い傾向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 40〜50% が再発を経験する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臨床症状 ― 疼痛 → 眼筋麻痺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7/17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疼痛の特徴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部位：眼窩周囲・眼窩後方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性質：鋭い・刺すような・えぐるような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前頭部・側頭部に放散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眼筋麻痺に最大30日先行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障害される神経と頻度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CN III（動眼神経）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1856232"/>
            <a:ext cx="3108960" cy="164592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138160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~80%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CN VI（外転神経）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2404872"/>
            <a:ext cx="2743200" cy="164592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772400" y="2331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~70%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V1（眼神経）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2953512"/>
            <a:ext cx="1188720" cy="164592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217920" y="2880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CN IV（滑車神経）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3502152"/>
            <a:ext cx="1097280" cy="164592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126480" y="3429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~29%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Horner症候群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37760" y="4050792"/>
            <a:ext cx="777240" cy="164592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5806440" y="3977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~20%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320040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274320" y="3200400"/>
            <a:ext cx="4114800" cy="36576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27432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時間経過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200" y="3749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眼窩痛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55448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92024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眼筋麻痺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200400" y="3749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（2週間以内）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未治療で最大8週間持続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自然寛解もあり得る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ICHD-3 診断基準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8/17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8346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基準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内容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5AA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片側性の頭痛（同側の眉部・眼周囲に局在）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5AA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B-1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頭痛と同側のCN III, IV, VI のうち1つ以上の麻痺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5AA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B-2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MRI または生検で海綿静脈洞・上眼窩裂・眼窩の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肉芽腫性炎症を証明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5AA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頭痛が麻痺に2週間以内に先行、または同時に発症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5AA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他の疾患では説明できない（除外診断）</a:t>
                      </a:r>
                      <a:endParaRPr lang="en-US" sz="15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97764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457200" y="3977640"/>
            <a:ext cx="137160" cy="9601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731520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</a:t>
            </a:r>
            <a:endParaRPr lang="en-US" sz="1600" dirty="0"/>
          </a:p>
        </p:txBody>
      </p:sp>
      <p:sp>
        <p:nvSpPr>
          <p:cNvPr id="5" name="Text 6"/>
          <p:cNvSpPr/>
          <p:nvPr/>
        </p:nvSpPr>
        <p:spPr>
          <a:xfrm>
            <a:off x="1645920" y="40233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旧基準（ICHD-2）の「ステロイド反応性」は ICHD-3 で除外された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リンパ腫やサルコイドーシスもステロイドに反応するため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MRI所見のポイント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9/17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57200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典型的なMRI所見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40080" cy="3657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等信号の軟部組織腫瘤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640080" cy="36576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等信号〜低信号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640080" cy="36576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著明な増強効果（最重要）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海綿静脈洞外側壁の肥厚・外方膨隆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630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眼窩先端部への進展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9227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内頸動脈の分節的狭窄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1097280"/>
            <a:ext cx="38404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5029200" y="1097280"/>
            <a:ext cx="3840480" cy="36576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029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MRIの限界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69280" y="16459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18〜57%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66928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で正常MRI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12080" y="2834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3T MRIでも1mm未満の病変は検出困難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3337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</a:t>
            </a:r>
            <a:r>
              <a:rPr lang="en-US" sz="1300" dirty="0" err="1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所見は非特異的（リンパ腫・髄膜腫と類似</a:t>
            </a: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12080" y="3840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</a:t>
            </a:r>
            <a:r>
              <a:rPr lang="en-US" sz="1300" dirty="0" err="1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Gd造影は必須（造影なしでは見逃す</a:t>
            </a: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4343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薄スライス冠状断が有用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鑑別診断 ― 除外すべき疾患群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10/17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36576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腫瘍性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髄膜腫 / リンパ腫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転移性腫瘍 / 下垂体腫瘍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頭蓋底腫瘍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14800" cy="36576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75488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血管性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5087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脳動脈瘤（ICA-Pcom）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CCF（頸動脈海綿静脈洞瘻）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海綿静脈洞血栓症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頸動脈解離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14800" cy="36576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7432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感染性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4290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真菌症（ムコール・アスペルギルス）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結核性髄膜炎 / 帯状疱疹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梅毒 / ライム病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4754880" y="2971800"/>
            <a:ext cx="4114800" cy="36576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75488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炎症性・自己免疫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34290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サルコイドーシス / IgG4関連疾患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肥厚性硬膜炎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ANCA関連血管炎 / SLE / PAN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鑑別のRed Flags ― 見逃してはならないサイン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11/17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37160" cy="566928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48640" y="103327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急速進行＋免疫不全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03327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真菌感染（ムコール症）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103327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緊急CT/MRI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664208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137160" cy="566928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48640" y="169164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CN III麻痺＋瞳孔散大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169164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動脈瘤による圧迫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52160" y="169164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緊急MRA/CTA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322576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274320" y="2322576"/>
            <a:ext cx="137160" cy="566928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35000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発熱＋両側性進展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235000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海綿静脈洞血栓症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52160" y="235000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造影CT/MRV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980944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274320" y="2980944"/>
            <a:ext cx="137160" cy="566928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00837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ステロイド後に再増悪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300837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悪性リンパ腫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52160" y="300837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生検・PET-CT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639312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274320" y="3639312"/>
            <a:ext cx="137160" cy="566928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548640" y="366674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進行性の視力低下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0" y="366674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眼窩先端部の腫瘍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52160" y="366674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眼科コンサルト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371600" y="4251960"/>
            <a:ext cx="6400800" cy="18288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THSは除外診断 → これらを系統的に否定してから診断する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検査アプローチ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12/17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必須検査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 頭部MRI（Gd造影）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 MRA / CTA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血液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 CBC、ESR、CRP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 血糖 / HbA1c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 甲状腺機能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 ACE、IgG4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 ANA、ANCA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 RPR / TPHA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状況に応じた追加検査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髄液検査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細胞数、蛋白、糖、培養、細胞診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1645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感染・炎症疑い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胸部CT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BHL、肺病変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サルコイドーシス疑い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PET-CT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全身検索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0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悪性腫瘍疑い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生検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37760" y="4434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海綿静脈洞生検（リスク大）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4114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確定診断の最終手段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その他の重要な鑑別疾患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13/17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37160" cy="86868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糖尿病性眼筋麻痺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109728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CN III単独（瞳孔温存が多い）またはCN VI単独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疼痛は軽度〜中等度、数週で自然改善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137160" cy="86868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眼筋麻痺性片頭痛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（RPON）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26080" y="210312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反復する片頭痛の既往、若年発症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MRIでCN III造影効果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137160" cy="86868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108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甲状腺眼症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26080" y="310896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外眼筋肥大・眼球突出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甲状腺機能異常（バセドウ病）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274320" y="4069080"/>
            <a:ext cx="137160" cy="86868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5CE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眼窩偽腫瘍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926080" y="411480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眼窩内軟部組織腫瘤、眼球突出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THS類似だが海綿静脈洞外の病変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 ― ステロイドが第一選択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14/17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0292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第一選択：副腎皮質ステロイド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466344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項目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内容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初期用量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PSL 0.5〜1.0 mg/kg/日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疼痛改善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C354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24〜72時間以内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神経回復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2〜8週間かけて改善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漸減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数週〜数ヶ月かけて漸減</a:t>
                      </a:r>
                      <a:endParaRPr lang="en-US" sz="13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749040"/>
            <a:ext cx="4663440" cy="457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457200" y="3840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72時間で疼痛改善なし → 診断再考！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206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※ステロイド反応 ≠ THS確定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（リンパ腫・サルコイドーシスも反応）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0" y="1097280"/>
            <a:ext cx="33832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5669280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治療経過イメージ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852160" y="1828800"/>
            <a:ext cx="457200" cy="45720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58521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12"/>
          <p:cNvSpPr/>
          <p:nvPr/>
        </p:nvSpPr>
        <p:spPr>
          <a:xfrm>
            <a:off x="6080760" y="2286000"/>
            <a:ext cx="0" cy="320040"/>
          </a:xfrm>
          <a:prstGeom prst="line">
            <a:avLst/>
          </a:prstGeom>
          <a:noFill/>
          <a:ln w="254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6492240" y="1783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9224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PSL開始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852160" y="2606040"/>
            <a:ext cx="457200" cy="45720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58521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080760" y="3063240"/>
            <a:ext cx="0" cy="320040"/>
          </a:xfrm>
          <a:prstGeom prst="line">
            <a:avLst/>
          </a:prstGeom>
          <a:noFill/>
          <a:ln w="254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6492240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1-3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疼痛改善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852160" y="338328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1"/>
          <p:cNvSpPr/>
          <p:nvPr/>
        </p:nvSpPr>
        <p:spPr>
          <a:xfrm>
            <a:off x="58521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080760" y="3840480"/>
            <a:ext cx="0" cy="320040"/>
          </a:xfrm>
          <a:prstGeom prst="line">
            <a:avLst/>
          </a:prstGeom>
          <a:noFill/>
          <a:ln w="254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3"/>
          <p:cNvSpPr/>
          <p:nvPr/>
        </p:nvSpPr>
        <p:spPr>
          <a:xfrm>
            <a:off x="649224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2-8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492240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神経障害改善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852160" y="4160520"/>
            <a:ext cx="457200" cy="457200"/>
          </a:xfrm>
          <a:prstGeom prst="ellipse">
            <a:avLst/>
          </a:prstGeom>
          <a:solidFill>
            <a:srgbClr val="636E7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6"/>
          <p:cNvSpPr/>
          <p:nvPr/>
        </p:nvSpPr>
        <p:spPr>
          <a:xfrm>
            <a:off x="58521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492240" y="4114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数ヶ月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492240" y="4343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漸減〜中止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難治例・ステロイド依存例の治療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15/17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ステロイド減量で再燃、またはステロイド禁忌の場合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2743200" cy="36576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アザチオプリン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免疫抑制薬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従来から使用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55448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200400" y="1554480"/>
            <a:ext cx="2743200" cy="36576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291840" y="1965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メトトレキサート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免疫抑制薬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低用量で使用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126480" y="1554480"/>
            <a:ext cx="2743200" cy="36576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217920" y="19659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ミコフェノール酸モフェチル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免疫抑制薬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比較的新しい選択肢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42900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274320" y="3429000"/>
            <a:ext cx="2743200" cy="36576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365760" y="38404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シクロスポリン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カルシニューリン阻害薬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480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腎毒性に注意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0" y="342900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3200400" y="3429000"/>
            <a:ext cx="2743200" cy="36576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3291840" y="38404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インフリキシマブ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/アダリムマブ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TNF阻害薬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4480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難治例に有効との報告あり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342900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6126480" y="3429000"/>
            <a:ext cx="2743200" cy="36576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217920" y="38404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放射線療法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2648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最終手段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4480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症例報告レベル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予後と再発 ― 油断は禁物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16/17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予後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基本的に予後良好（self-limiting）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ステロイド治療後の残存神経障害は稀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自然寛解もあり（8週間以内）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致死的疾患ではない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93776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再発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0" y="1737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40〜50%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30352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が再発を経験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同側・対側・両側いずれも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● 若年者で再発頻度が高い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657600"/>
            <a:ext cx="85953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274320" y="3657600"/>
            <a:ext cx="8595360" cy="36576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274320" y="36576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再発時の鉄則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再発のたびに完全な鑑別診断ワークアップを繰り返す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THSは除外診断であるため、再発時に腫瘍などが新たに発見される可能性がある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17/17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Home Message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1188720"/>
            <a:ext cx="502920" cy="50292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1188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THSは除外診断 ― 腫瘍・血管・感染・炎症を系統的に除外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1920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ICHD-3 でステロイド反応性は診断基準から除外された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2651760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9144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45920" y="2651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MRI正常（18-57%）でもTHSは否定できない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383280"/>
            <a:ext cx="502920" cy="502920"/>
          </a:xfrm>
          <a:prstGeom prst="ellipse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9144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33832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ステロイドで24-72時間以内に疼痛改善 → 効かなければ再考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114800"/>
            <a:ext cx="502920" cy="502920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9144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45920" y="4114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40-50%が再発 → 毎回フルワークアップが必要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828800" y="4663440"/>
            <a:ext cx="54864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836</Words>
  <Application>Microsoft Office PowerPoint</Application>
  <PresentationFormat>画面に合わせる (16:9)</PresentationFormat>
  <Paragraphs>327</Paragraphs>
  <Slides>17</Slides>
  <Notes>17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1" baseType="lpstr">
      <vt:lpstr>BIZ UDPGothic</vt:lpstr>
      <vt:lpstr>Arial</vt:lpstr>
      <vt:lpstr>Segoe UI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Tolosa-Hunt症候群 ― 有痛性眼筋麻痺の鑑別と治療</dc:title>
  <dc:subject>PptxGenJS Presentation</dc:subject>
  <dc:creator>今村久司</dc:creator>
  <cp:lastModifiedBy>久司 今村</cp:lastModifiedBy>
  <cp:revision>1</cp:revision>
  <dcterms:created xsi:type="dcterms:W3CDTF">2026-03-30T10:06:50Z</dcterms:created>
  <dcterms:modified xsi:type="dcterms:W3CDTF">2026-03-30T19:53:11Z</dcterms:modified>
</cp:coreProperties>
</file>