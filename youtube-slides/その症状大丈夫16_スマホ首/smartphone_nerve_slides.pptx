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850C"/>
          </a:solidFill>
          <a:ln/>
        </p:spPr>
      </p:sp>
      <p:sp>
        <p:nvSpPr>
          <p:cNvPr id="3" name="Shape 1"/>
          <p:cNvSpPr/>
          <p:nvPr/>
        </p:nvSpPr>
        <p:spPr>
          <a:xfrm>
            <a:off x="0" y="5088636"/>
            <a:ext cx="9144000" cy="54864"/>
          </a:xfrm>
          <a:prstGeom prst="rect">
            <a:avLst/>
          </a:prstGeom>
          <a:solidFill>
            <a:srgbClr val="E8850C"/>
          </a:solidFill>
          <a:ln/>
        </p:spPr>
      </p:sp>
      <p:sp>
        <p:nvSpPr>
          <p:cNvPr id="4" name="Text 2"/>
          <p:cNvSpPr/>
          <p:nvPr/>
        </p:nvSpPr>
        <p:spPr>
          <a:xfrm>
            <a:off x="548640" y="365760"/>
            <a:ext cx="804672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548640" y="1188720"/>
            <a:ext cx="8046720" cy="1097280"/>
          </a:xfrm>
          <a:prstGeom prst="rect">
            <a:avLst/>
          </a:prstGeom>
          <a:noFill/>
          <a:ln/>
        </p:spPr>
        <p:txBody>
          <a:bodyPr wrap="square" lIns="0" tIns="0" rIns="0" bIns="0" rtlCol="0" anchor="ctr"/>
          <a:lstStyle/>
          <a:p>
            <a:pPr algn="ctr" indent="0" marL="0">
              <a:lnSpc>
                <a:spcPct val="115000"/>
              </a:lnSpc>
              <a:buNone/>
            </a:pPr>
            <a:r>
              <a:rPr lang="en-US" sz="4000" b="1" dirty="0">
                <a:solidFill>
                  <a:srgbClr val="FFFFFF"/>
                </a:solidFill>
                <a:latin typeface="BIZ UDPGothic" pitchFamily="34" charset="0"/>
                <a:ea typeface="BIZ UDPGothic" pitchFamily="34" charset="-122"/>
                <a:cs typeface="BIZ UDPGothic" pitchFamily="34" charset="-120"/>
              </a:rPr>
              <a:t>スマホの使いすぎで</a:t>
            </a:r>
            <a:endParaRPr lang="en-US" sz="4000" dirty="0"/>
          </a:p>
          <a:p>
            <a:pPr algn="ctr" indent="0" marL="0">
              <a:lnSpc>
                <a:spcPct val="115000"/>
              </a:lnSpc>
              <a:buNone/>
            </a:pPr>
            <a:r>
              <a:rPr lang="en-US" sz="4000" b="1" dirty="0">
                <a:solidFill>
                  <a:srgbClr val="FFFFFF"/>
                </a:solidFill>
                <a:latin typeface="BIZ UDPGothic" pitchFamily="34" charset="0"/>
                <a:ea typeface="BIZ UDPGothic" pitchFamily="34" charset="-122"/>
                <a:cs typeface="BIZ UDPGothic" pitchFamily="34" charset="-120"/>
              </a:rPr>
              <a:t>手がしびれる？</a:t>
            </a:r>
            <a:endParaRPr lang="en-US" sz="4000" dirty="0"/>
          </a:p>
        </p:txBody>
      </p:sp>
      <p:sp>
        <p:nvSpPr>
          <p:cNvPr id="6" name="Shape 4"/>
          <p:cNvSpPr/>
          <p:nvPr/>
        </p:nvSpPr>
        <p:spPr>
          <a:xfrm>
            <a:off x="2286000" y="2468880"/>
            <a:ext cx="4572000" cy="0"/>
          </a:xfrm>
          <a:prstGeom prst="line">
            <a:avLst/>
          </a:prstGeom>
          <a:noFill/>
          <a:ln w="25400">
            <a:solidFill>
              <a:srgbClr val="E8850C"/>
            </a:solidFill>
            <a:prstDash val="solid"/>
          </a:ln>
        </p:spPr>
      </p:sp>
      <p:sp>
        <p:nvSpPr>
          <p:cNvPr id="7" name="Text 5"/>
          <p:cNvSpPr/>
          <p:nvPr/>
        </p:nvSpPr>
        <p:spPr>
          <a:xfrm>
            <a:off x="548640" y="2651760"/>
            <a:ext cx="8046720" cy="822960"/>
          </a:xfrm>
          <a:prstGeom prst="rect">
            <a:avLst/>
          </a:prstGeom>
          <a:noFill/>
          <a:ln/>
        </p:spPr>
        <p:txBody>
          <a:bodyPr wrap="square" lIns="0" tIns="0" rIns="0" bIns="0" rtlCol="0" anchor="ctr"/>
          <a:lstStyle/>
          <a:p>
            <a:pPr algn="ctr" indent="0" marL="0">
              <a:lnSpc>
                <a:spcPct val="120000"/>
              </a:lnSpc>
              <a:buNone/>
            </a:pPr>
            <a:r>
              <a:rPr lang="en-US" sz="2400" dirty="0">
                <a:solidFill>
                  <a:srgbClr val="E8850C"/>
                </a:solidFill>
                <a:latin typeface="BIZ UDPGothic" pitchFamily="34" charset="0"/>
                <a:ea typeface="BIZ UDPGothic" pitchFamily="34" charset="-122"/>
                <a:cs typeface="BIZ UDPGothic" pitchFamily="34" charset="-120"/>
              </a:rPr>
              <a:t>デジタル時代の神経トラブルを</a:t>
            </a:r>
            <a:endParaRPr lang="en-US" sz="2400" dirty="0"/>
          </a:p>
          <a:p>
            <a:pPr algn="ctr" indent="0" marL="0">
              <a:lnSpc>
                <a:spcPct val="120000"/>
              </a:lnSpc>
              <a:buNone/>
            </a:pPr>
            <a:r>
              <a:rPr lang="en-US" sz="2400" dirty="0">
                <a:solidFill>
                  <a:srgbClr val="E8850C"/>
                </a:solidFill>
                <a:latin typeface="BIZ UDPGothic" pitchFamily="34" charset="0"/>
                <a:ea typeface="BIZ UDPGothic" pitchFamily="34" charset="-122"/>
                <a:cs typeface="BIZ UDPGothic" pitchFamily="34" charset="-120"/>
              </a:rPr>
              <a:t>脳神経内科医が解説</a:t>
            </a:r>
            <a:endParaRPr lang="en-US" sz="2400" dirty="0"/>
          </a:p>
        </p:txBody>
      </p:sp>
      <p:sp>
        <p:nvSpPr>
          <p:cNvPr id="8" name="Text 6"/>
          <p:cNvSpPr/>
          <p:nvPr/>
        </p:nvSpPr>
        <p:spPr>
          <a:xfrm>
            <a:off x="548640" y="3840480"/>
            <a:ext cx="8046720" cy="365760"/>
          </a:xfrm>
          <a:prstGeom prst="rect">
            <a:avLst/>
          </a:prstGeom>
          <a:noFill/>
          <a:ln/>
        </p:spPr>
        <p:txBody>
          <a:bodyPr wrap="square" lIns="0" tIns="0" rIns="0" bIns="0" rtlCol="0" anchor="ctr"/>
          <a:lstStyle/>
          <a:p>
            <a:pPr algn="ctr" indent="0" marL="0">
              <a:buNone/>
            </a:pPr>
            <a:r>
              <a:rPr lang="en-US" sz="1600" dirty="0">
                <a:solidFill>
                  <a:srgbClr val="90A4AE"/>
                </a:solidFill>
                <a:latin typeface="BIZ UDPGothic" pitchFamily="34" charset="0"/>
                <a:ea typeface="BIZ UDPGothic" pitchFamily="34" charset="-122"/>
                <a:cs typeface="BIZ UDPGothic" pitchFamily="34" charset="-120"/>
              </a:rPr>
              <a:t>その症状、大丈夫？ #16</a:t>
            </a:r>
            <a:endParaRPr lang="en-US" sz="1600" dirty="0"/>
          </a:p>
        </p:txBody>
      </p:sp>
      <p:sp>
        <p:nvSpPr>
          <p:cNvPr id="9" name="Text 7"/>
          <p:cNvSpPr/>
          <p:nvPr/>
        </p:nvSpPr>
        <p:spPr>
          <a:xfrm>
            <a:off x="548640" y="4297680"/>
            <a:ext cx="8046720" cy="365760"/>
          </a:xfrm>
          <a:prstGeom prst="rect">
            <a:avLst/>
          </a:prstGeom>
          <a:noFill/>
          <a:ln/>
        </p:spPr>
        <p:txBody>
          <a:bodyPr wrap="square" lIns="0" tIns="0" rIns="0" bIns="0" rtlCol="0" anchor="ctr"/>
          <a:lstStyle/>
          <a:p>
            <a:pPr algn="ctr" indent="0" marL="0">
              <a:buNone/>
            </a:pPr>
            <a:r>
              <a:rPr lang="en-US" sz="1200" dirty="0">
                <a:solidFill>
                  <a:srgbClr val="78909C"/>
                </a:solidFill>
                <a:latin typeface="BIZ UDPGothic" pitchFamily="34" charset="0"/>
                <a:ea typeface="BIZ UDPGothic" pitchFamily="34" charset="-122"/>
                <a:cs typeface="BIZ UDPGothic" pitchFamily="34" charset="-120"/>
              </a:rPr>
              <a:t>医知創造ラボ ～脳神経内科医がAIで紡ぐ最新医療情報～</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こんな経験、ありませんか？</a:t>
            </a:r>
            <a:endParaRPr lang="en-US" sz="2600" dirty="0"/>
          </a:p>
        </p:txBody>
      </p:sp>
      <p:sp>
        <p:nvSpPr>
          <p:cNvPr id="4" name="Shape 2"/>
          <p:cNvSpPr/>
          <p:nvPr/>
        </p:nvSpPr>
        <p:spPr>
          <a:xfrm>
            <a:off x="548640" y="1005840"/>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1005840"/>
            <a:ext cx="109728" cy="594360"/>
          </a:xfrm>
          <a:prstGeom prst="rect">
            <a:avLst>
              <a:gd name="adj" fmla="val 41667"/>
            </a:avLst>
          </a:prstGeom>
          <a:solidFill>
            <a:srgbClr val="2C5AA0"/>
          </a:solidFill>
          <a:ln/>
        </p:spPr>
      </p:sp>
      <p:sp>
        <p:nvSpPr>
          <p:cNvPr id="6" name="Text 4"/>
          <p:cNvSpPr/>
          <p:nvPr/>
        </p:nvSpPr>
        <p:spPr>
          <a:xfrm>
            <a:off x="777240" y="1051560"/>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1463040" y="1051560"/>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スマホを長時間使っていると手がしびれる</a:t>
            </a:r>
            <a:endParaRPr lang="en-US" sz="2200" dirty="0"/>
          </a:p>
        </p:txBody>
      </p:sp>
      <p:sp>
        <p:nvSpPr>
          <p:cNvPr id="8" name="Shape 6"/>
          <p:cNvSpPr/>
          <p:nvPr/>
        </p:nvSpPr>
        <p:spPr>
          <a:xfrm>
            <a:off x="548640" y="1719072"/>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548640" y="1719072"/>
            <a:ext cx="109728" cy="594360"/>
          </a:xfrm>
          <a:prstGeom prst="rect">
            <a:avLst>
              <a:gd name="adj" fmla="val 41667"/>
            </a:avLst>
          </a:prstGeom>
          <a:solidFill>
            <a:srgbClr val="2C5AA0"/>
          </a:solidFill>
          <a:ln/>
        </p:spPr>
      </p:sp>
      <p:sp>
        <p:nvSpPr>
          <p:cNvPr id="10" name="Text 8"/>
          <p:cNvSpPr/>
          <p:nvPr/>
        </p:nvSpPr>
        <p:spPr>
          <a:xfrm>
            <a:off x="777240" y="1764792"/>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1" name="Text 9"/>
          <p:cNvSpPr/>
          <p:nvPr/>
        </p:nvSpPr>
        <p:spPr>
          <a:xfrm>
            <a:off x="1463040" y="1764792"/>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パソコン作業の後に首から肩にかけて痛い</a:t>
            </a:r>
            <a:endParaRPr lang="en-US" sz="2200" dirty="0"/>
          </a:p>
        </p:txBody>
      </p:sp>
      <p:sp>
        <p:nvSpPr>
          <p:cNvPr id="12" name="Shape 10"/>
          <p:cNvSpPr/>
          <p:nvPr/>
        </p:nvSpPr>
        <p:spPr>
          <a:xfrm>
            <a:off x="548640" y="2432304"/>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548640" y="2432304"/>
            <a:ext cx="109728" cy="594360"/>
          </a:xfrm>
          <a:prstGeom prst="rect">
            <a:avLst>
              <a:gd name="adj" fmla="val 41667"/>
            </a:avLst>
          </a:prstGeom>
          <a:solidFill>
            <a:srgbClr val="2C5AA0"/>
          </a:solidFill>
          <a:ln/>
        </p:spPr>
      </p:sp>
      <p:sp>
        <p:nvSpPr>
          <p:cNvPr id="14" name="Text 12"/>
          <p:cNvSpPr/>
          <p:nvPr/>
        </p:nvSpPr>
        <p:spPr>
          <a:xfrm>
            <a:off x="777240" y="2478024"/>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5" name="Text 13"/>
          <p:cNvSpPr/>
          <p:nvPr/>
        </p:nvSpPr>
        <p:spPr>
          <a:xfrm>
            <a:off x="1463040" y="2478024"/>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指先がピリピリ・ジンジンする</a:t>
            </a:r>
            <a:endParaRPr lang="en-US" sz="2200" dirty="0"/>
          </a:p>
        </p:txBody>
      </p:sp>
      <p:sp>
        <p:nvSpPr>
          <p:cNvPr id="16" name="Shape 14"/>
          <p:cNvSpPr/>
          <p:nvPr/>
        </p:nvSpPr>
        <p:spPr>
          <a:xfrm>
            <a:off x="548640" y="3145536"/>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548640" y="3145536"/>
            <a:ext cx="109728" cy="594360"/>
          </a:xfrm>
          <a:prstGeom prst="rect">
            <a:avLst>
              <a:gd name="adj" fmla="val 41667"/>
            </a:avLst>
          </a:prstGeom>
          <a:solidFill>
            <a:srgbClr val="2C5AA0"/>
          </a:solidFill>
          <a:ln/>
        </p:spPr>
      </p:sp>
      <p:sp>
        <p:nvSpPr>
          <p:cNvPr id="18" name="Text 16"/>
          <p:cNvSpPr/>
          <p:nvPr/>
        </p:nvSpPr>
        <p:spPr>
          <a:xfrm>
            <a:off x="777240" y="3191256"/>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1463040" y="3191256"/>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手首を曲げると指にしびれが走る</a:t>
            </a:r>
            <a:endParaRPr lang="en-US" sz="2200" dirty="0"/>
          </a:p>
        </p:txBody>
      </p:sp>
      <p:sp>
        <p:nvSpPr>
          <p:cNvPr id="20" name="Shape 18"/>
          <p:cNvSpPr/>
          <p:nvPr/>
        </p:nvSpPr>
        <p:spPr>
          <a:xfrm>
            <a:off x="548640" y="3858768"/>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21" name="Shape 19"/>
          <p:cNvSpPr/>
          <p:nvPr/>
        </p:nvSpPr>
        <p:spPr>
          <a:xfrm>
            <a:off x="548640" y="3858768"/>
            <a:ext cx="109728" cy="594360"/>
          </a:xfrm>
          <a:prstGeom prst="rect">
            <a:avLst>
              <a:gd name="adj" fmla="val 41667"/>
            </a:avLst>
          </a:prstGeom>
          <a:solidFill>
            <a:srgbClr val="2C5AA0"/>
          </a:solidFill>
          <a:ln/>
        </p:spPr>
      </p:sp>
      <p:sp>
        <p:nvSpPr>
          <p:cNvPr id="22" name="Text 20"/>
          <p:cNvSpPr/>
          <p:nvPr/>
        </p:nvSpPr>
        <p:spPr>
          <a:xfrm>
            <a:off x="777240" y="3904488"/>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3" name="Text 21"/>
          <p:cNvSpPr/>
          <p:nvPr/>
        </p:nvSpPr>
        <p:spPr>
          <a:xfrm>
            <a:off x="1463040" y="3904488"/>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首を動かすと腕に電気が走るような感じ</a:t>
            </a:r>
            <a:endParaRPr lang="en-US" sz="2200" dirty="0"/>
          </a:p>
        </p:txBody>
      </p:sp>
      <p:sp>
        <p:nvSpPr>
          <p:cNvPr id="24" name="Shape 22"/>
          <p:cNvSpPr/>
          <p:nvPr/>
        </p:nvSpPr>
        <p:spPr>
          <a:xfrm>
            <a:off x="0" y="4800600"/>
            <a:ext cx="9144000" cy="347472"/>
          </a:xfrm>
          <a:prstGeom prst="rect">
            <a:avLst/>
          </a:prstGeom>
          <a:solidFill>
            <a:srgbClr val="1B3A5C"/>
          </a:solidFill>
          <a:ln/>
        </p:spPr>
      </p:sp>
      <p:sp>
        <p:nvSpPr>
          <p:cNvPr id="25" name="Text 23"/>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スマホ首とは ― 首にかかる負担</a:t>
            </a:r>
            <a:endParaRPr lang="en-US" sz="2600" dirty="0"/>
          </a:p>
        </p:txBody>
      </p:sp>
      <p:sp>
        <p:nvSpPr>
          <p:cNvPr id="4" name="Shape 2"/>
          <p:cNvSpPr/>
          <p:nvPr/>
        </p:nvSpPr>
        <p:spPr>
          <a:xfrm>
            <a:off x="365760" y="1005840"/>
            <a:ext cx="1965960" cy="1371600"/>
          </a:xfrm>
          <a:prstGeom prst="rect">
            <a:avLst>
              <a:gd name="adj" fmla="val 6667"/>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365760" y="1005840"/>
            <a:ext cx="109728" cy="1371600"/>
          </a:xfrm>
          <a:prstGeom prst="rect">
            <a:avLst>
              <a:gd name="adj" fmla="val 41667"/>
            </a:avLst>
          </a:prstGeom>
          <a:solidFill>
            <a:srgbClr val="28A745"/>
          </a:solidFill>
          <a:ln/>
        </p:spPr>
      </p:sp>
      <p:sp>
        <p:nvSpPr>
          <p:cNvPr id="6" name="Text 4"/>
          <p:cNvSpPr/>
          <p:nvPr/>
        </p:nvSpPr>
        <p:spPr>
          <a:xfrm>
            <a:off x="457200" y="1051560"/>
            <a:ext cx="1783080" cy="365760"/>
          </a:xfrm>
          <a:prstGeom prst="rect">
            <a:avLst/>
          </a:prstGeom>
          <a:noFill/>
          <a:ln/>
        </p:spPr>
        <p:txBody>
          <a:bodyPr wrap="square" lIns="0" tIns="0" rIns="0" bIns="0" rtlCol="0" anchor="ctr"/>
          <a:lstStyle/>
          <a:p>
            <a:pPr algn="ctr" indent="0" marL="0">
              <a:buNone/>
            </a:pPr>
            <a:r>
              <a:rPr lang="en-US" sz="2400" b="1" dirty="0">
                <a:solidFill>
                  <a:srgbClr val="28A745"/>
                </a:solidFill>
                <a:latin typeface="Segoe UI" pitchFamily="34" charset="0"/>
                <a:ea typeface="Segoe UI" pitchFamily="34" charset="-122"/>
                <a:cs typeface="Segoe UI" pitchFamily="34" charset="-120"/>
              </a:rPr>
              <a:t>0°</a:t>
            </a:r>
            <a:endParaRPr lang="en-US" sz="2400" dirty="0"/>
          </a:p>
        </p:txBody>
      </p:sp>
      <p:sp>
        <p:nvSpPr>
          <p:cNvPr id="7" name="Text 5"/>
          <p:cNvSpPr/>
          <p:nvPr/>
        </p:nvSpPr>
        <p:spPr>
          <a:xfrm>
            <a:off x="457200" y="1417320"/>
            <a:ext cx="1783080" cy="411480"/>
          </a:xfrm>
          <a:prstGeom prst="rect">
            <a:avLst/>
          </a:prstGeom>
          <a:noFill/>
          <a:ln/>
        </p:spPr>
        <p:txBody>
          <a:bodyPr wrap="square" lIns="0" tIns="0" rIns="0" bIns="0" rtlCol="0" anchor="ctr"/>
          <a:lstStyle/>
          <a:p>
            <a:pPr algn="ctr" indent="0" marL="0">
              <a:buNone/>
            </a:pPr>
            <a:r>
              <a:rPr lang="en-US" sz="2200" b="1" dirty="0">
                <a:solidFill>
                  <a:srgbClr val="2D3436"/>
                </a:solidFill>
                <a:latin typeface="BIZ UDPGothic" pitchFamily="34" charset="0"/>
                <a:ea typeface="BIZ UDPGothic" pitchFamily="34" charset="-122"/>
                <a:cs typeface="BIZ UDPGothic" pitchFamily="34" charset="-120"/>
              </a:rPr>
              <a:t>約5kg</a:t>
            </a:r>
            <a:endParaRPr lang="en-US" sz="2200" dirty="0"/>
          </a:p>
        </p:txBody>
      </p:sp>
      <p:sp>
        <p:nvSpPr>
          <p:cNvPr id="8" name="Text 6"/>
          <p:cNvSpPr/>
          <p:nvPr/>
        </p:nvSpPr>
        <p:spPr>
          <a:xfrm>
            <a:off x="457200" y="1874520"/>
            <a:ext cx="1783080" cy="365760"/>
          </a:xfrm>
          <a:prstGeom prst="rect">
            <a:avLst/>
          </a:prstGeom>
          <a:noFill/>
          <a:ln/>
        </p:spPr>
        <p:txBody>
          <a:bodyPr wrap="square" lIns="0" tIns="0" rIns="0" bIns="0" rtlCol="0" anchor="ctr"/>
          <a:lstStyle/>
          <a:p>
            <a:pPr algn="ctr" indent="0" marL="0">
              <a:buNone/>
            </a:pPr>
            <a:r>
              <a:rPr lang="en-US" sz="1300" dirty="0">
                <a:solidFill>
                  <a:srgbClr val="636E72"/>
                </a:solidFill>
                <a:latin typeface="BIZ UDPGothic" pitchFamily="34" charset="0"/>
                <a:ea typeface="BIZ UDPGothic" pitchFamily="34" charset="-122"/>
                <a:cs typeface="BIZ UDPGothic" pitchFamily="34" charset="-120"/>
              </a:rPr>
              <a:t>正面を向いた状態</a:t>
            </a:r>
            <a:endParaRPr lang="en-US" sz="1300" dirty="0"/>
          </a:p>
        </p:txBody>
      </p:sp>
      <p:sp>
        <p:nvSpPr>
          <p:cNvPr id="9" name="Shape 7"/>
          <p:cNvSpPr/>
          <p:nvPr/>
        </p:nvSpPr>
        <p:spPr>
          <a:xfrm>
            <a:off x="2514600" y="1005840"/>
            <a:ext cx="1965960" cy="1371600"/>
          </a:xfrm>
          <a:prstGeom prst="rect">
            <a:avLst>
              <a:gd name="adj" fmla="val 6667"/>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2514600" y="1005840"/>
            <a:ext cx="109728" cy="1371600"/>
          </a:xfrm>
          <a:prstGeom prst="rect">
            <a:avLst>
              <a:gd name="adj" fmla="val 41667"/>
            </a:avLst>
          </a:prstGeom>
          <a:solidFill>
            <a:srgbClr val="F5C518"/>
          </a:solidFill>
          <a:ln/>
        </p:spPr>
      </p:sp>
      <p:sp>
        <p:nvSpPr>
          <p:cNvPr id="11" name="Text 9"/>
          <p:cNvSpPr/>
          <p:nvPr/>
        </p:nvSpPr>
        <p:spPr>
          <a:xfrm>
            <a:off x="2606040" y="1051560"/>
            <a:ext cx="1783080" cy="365760"/>
          </a:xfrm>
          <a:prstGeom prst="rect">
            <a:avLst/>
          </a:prstGeom>
          <a:noFill/>
          <a:ln/>
        </p:spPr>
        <p:txBody>
          <a:bodyPr wrap="square" lIns="0" tIns="0" rIns="0" bIns="0" rtlCol="0" anchor="ctr"/>
          <a:lstStyle/>
          <a:p>
            <a:pPr algn="ctr" indent="0" marL="0">
              <a:buNone/>
            </a:pPr>
            <a:r>
              <a:rPr lang="en-US" sz="2400" b="1" dirty="0">
                <a:solidFill>
                  <a:srgbClr val="F5C518"/>
                </a:solidFill>
                <a:latin typeface="Segoe UI" pitchFamily="34" charset="0"/>
                <a:ea typeface="Segoe UI" pitchFamily="34" charset="-122"/>
                <a:cs typeface="Segoe UI" pitchFamily="34" charset="-120"/>
              </a:rPr>
              <a:t>15°</a:t>
            </a:r>
            <a:endParaRPr lang="en-US" sz="2400" dirty="0"/>
          </a:p>
        </p:txBody>
      </p:sp>
      <p:sp>
        <p:nvSpPr>
          <p:cNvPr id="12" name="Text 10"/>
          <p:cNvSpPr/>
          <p:nvPr/>
        </p:nvSpPr>
        <p:spPr>
          <a:xfrm>
            <a:off x="2606040" y="1417320"/>
            <a:ext cx="1783080" cy="411480"/>
          </a:xfrm>
          <a:prstGeom prst="rect">
            <a:avLst/>
          </a:prstGeom>
          <a:noFill/>
          <a:ln/>
        </p:spPr>
        <p:txBody>
          <a:bodyPr wrap="square" lIns="0" tIns="0" rIns="0" bIns="0" rtlCol="0" anchor="ctr"/>
          <a:lstStyle/>
          <a:p>
            <a:pPr algn="ctr" indent="0" marL="0">
              <a:buNone/>
            </a:pPr>
            <a:r>
              <a:rPr lang="en-US" sz="2200" b="1" dirty="0">
                <a:solidFill>
                  <a:srgbClr val="2D3436"/>
                </a:solidFill>
                <a:latin typeface="BIZ UDPGothic" pitchFamily="34" charset="0"/>
                <a:ea typeface="BIZ UDPGothic" pitchFamily="34" charset="-122"/>
                <a:cs typeface="BIZ UDPGothic" pitchFamily="34" charset="-120"/>
              </a:rPr>
              <a:t>約12kg</a:t>
            </a:r>
            <a:endParaRPr lang="en-US" sz="2200" dirty="0"/>
          </a:p>
        </p:txBody>
      </p:sp>
      <p:sp>
        <p:nvSpPr>
          <p:cNvPr id="13" name="Text 11"/>
          <p:cNvSpPr/>
          <p:nvPr/>
        </p:nvSpPr>
        <p:spPr>
          <a:xfrm>
            <a:off x="2606040" y="1874520"/>
            <a:ext cx="1783080" cy="365760"/>
          </a:xfrm>
          <a:prstGeom prst="rect">
            <a:avLst/>
          </a:prstGeom>
          <a:noFill/>
          <a:ln/>
        </p:spPr>
        <p:txBody>
          <a:bodyPr wrap="square" lIns="0" tIns="0" rIns="0" bIns="0" rtlCol="0" anchor="ctr"/>
          <a:lstStyle/>
          <a:p>
            <a:pPr algn="ctr" indent="0" marL="0">
              <a:buNone/>
            </a:pPr>
            <a:r>
              <a:rPr lang="en-US" sz="1300" dirty="0">
                <a:solidFill>
                  <a:srgbClr val="636E72"/>
                </a:solidFill>
                <a:latin typeface="BIZ UDPGothic" pitchFamily="34" charset="0"/>
                <a:ea typeface="BIZ UDPGothic" pitchFamily="34" charset="-122"/>
                <a:cs typeface="BIZ UDPGothic" pitchFamily="34" charset="-120"/>
              </a:rPr>
              <a:t>少し下を向く</a:t>
            </a:r>
            <a:endParaRPr lang="en-US" sz="1300" dirty="0"/>
          </a:p>
        </p:txBody>
      </p:sp>
      <p:sp>
        <p:nvSpPr>
          <p:cNvPr id="14" name="Shape 12"/>
          <p:cNvSpPr/>
          <p:nvPr/>
        </p:nvSpPr>
        <p:spPr>
          <a:xfrm>
            <a:off x="4663440" y="1005840"/>
            <a:ext cx="1965960" cy="1371600"/>
          </a:xfrm>
          <a:prstGeom prst="rect">
            <a:avLst>
              <a:gd name="adj" fmla="val 6667"/>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663440" y="1005840"/>
            <a:ext cx="109728" cy="1371600"/>
          </a:xfrm>
          <a:prstGeom prst="rect">
            <a:avLst>
              <a:gd name="adj" fmla="val 41667"/>
            </a:avLst>
          </a:prstGeom>
          <a:solidFill>
            <a:srgbClr val="E8850C"/>
          </a:solidFill>
          <a:ln/>
        </p:spPr>
      </p:sp>
      <p:sp>
        <p:nvSpPr>
          <p:cNvPr id="16" name="Text 14"/>
          <p:cNvSpPr/>
          <p:nvPr/>
        </p:nvSpPr>
        <p:spPr>
          <a:xfrm>
            <a:off x="4754880" y="1051560"/>
            <a:ext cx="1783080" cy="365760"/>
          </a:xfrm>
          <a:prstGeom prst="rect">
            <a:avLst/>
          </a:prstGeom>
          <a:noFill/>
          <a:ln/>
        </p:spPr>
        <p:txBody>
          <a:bodyPr wrap="square" lIns="0" tIns="0" rIns="0" bIns="0" rtlCol="0" anchor="ctr"/>
          <a:lstStyle/>
          <a:p>
            <a:pPr algn="ctr" indent="0" marL="0">
              <a:buNone/>
            </a:pPr>
            <a:r>
              <a:rPr lang="en-US" sz="2400" b="1" dirty="0">
                <a:solidFill>
                  <a:srgbClr val="E8850C"/>
                </a:solidFill>
                <a:latin typeface="Segoe UI" pitchFamily="34" charset="0"/>
                <a:ea typeface="Segoe UI" pitchFamily="34" charset="-122"/>
                <a:cs typeface="Segoe UI" pitchFamily="34" charset="-120"/>
              </a:rPr>
              <a:t>30°</a:t>
            </a:r>
            <a:endParaRPr lang="en-US" sz="2400" dirty="0"/>
          </a:p>
        </p:txBody>
      </p:sp>
      <p:sp>
        <p:nvSpPr>
          <p:cNvPr id="17" name="Text 15"/>
          <p:cNvSpPr/>
          <p:nvPr/>
        </p:nvSpPr>
        <p:spPr>
          <a:xfrm>
            <a:off x="4754880" y="1417320"/>
            <a:ext cx="1783080" cy="411480"/>
          </a:xfrm>
          <a:prstGeom prst="rect">
            <a:avLst/>
          </a:prstGeom>
          <a:noFill/>
          <a:ln/>
        </p:spPr>
        <p:txBody>
          <a:bodyPr wrap="square" lIns="0" tIns="0" rIns="0" bIns="0" rtlCol="0" anchor="ctr"/>
          <a:lstStyle/>
          <a:p>
            <a:pPr algn="ctr" indent="0" marL="0">
              <a:buNone/>
            </a:pPr>
            <a:r>
              <a:rPr lang="en-US" sz="2200" b="1" dirty="0">
                <a:solidFill>
                  <a:srgbClr val="2D3436"/>
                </a:solidFill>
                <a:latin typeface="BIZ UDPGothic" pitchFamily="34" charset="0"/>
                <a:ea typeface="BIZ UDPGothic" pitchFamily="34" charset="-122"/>
                <a:cs typeface="BIZ UDPGothic" pitchFamily="34" charset="-120"/>
              </a:rPr>
              <a:t>約18kg</a:t>
            </a:r>
            <a:endParaRPr lang="en-US" sz="2200" dirty="0"/>
          </a:p>
        </p:txBody>
      </p:sp>
      <p:sp>
        <p:nvSpPr>
          <p:cNvPr id="18" name="Text 16"/>
          <p:cNvSpPr/>
          <p:nvPr/>
        </p:nvSpPr>
        <p:spPr>
          <a:xfrm>
            <a:off x="4754880" y="1874520"/>
            <a:ext cx="1783080" cy="365760"/>
          </a:xfrm>
          <a:prstGeom prst="rect">
            <a:avLst/>
          </a:prstGeom>
          <a:noFill/>
          <a:ln/>
        </p:spPr>
        <p:txBody>
          <a:bodyPr wrap="square" lIns="0" tIns="0" rIns="0" bIns="0" rtlCol="0" anchor="ctr"/>
          <a:lstStyle/>
          <a:p>
            <a:pPr algn="ctr" indent="0" marL="0">
              <a:buNone/>
            </a:pPr>
            <a:r>
              <a:rPr lang="en-US" sz="1300" dirty="0">
                <a:solidFill>
                  <a:srgbClr val="636E72"/>
                </a:solidFill>
                <a:latin typeface="BIZ UDPGothic" pitchFamily="34" charset="0"/>
                <a:ea typeface="BIZ UDPGothic" pitchFamily="34" charset="-122"/>
                <a:cs typeface="BIZ UDPGothic" pitchFamily="34" charset="-120"/>
              </a:rPr>
              <a:t>スマホを見る角度</a:t>
            </a:r>
            <a:endParaRPr lang="en-US" sz="1300" dirty="0"/>
          </a:p>
        </p:txBody>
      </p:sp>
      <p:sp>
        <p:nvSpPr>
          <p:cNvPr id="19" name="Shape 17"/>
          <p:cNvSpPr/>
          <p:nvPr/>
        </p:nvSpPr>
        <p:spPr>
          <a:xfrm>
            <a:off x="6812280" y="1005840"/>
            <a:ext cx="1965960" cy="1371600"/>
          </a:xfrm>
          <a:prstGeom prst="rect">
            <a:avLst>
              <a:gd name="adj" fmla="val 6667"/>
            </a:avLst>
          </a:prstGeom>
          <a:solidFill>
            <a:srgbClr val="FFFFFF"/>
          </a:solidFill>
          <a:ln/>
          <a:effectLst>
            <a:outerShdw sx="100000" sy="100000" kx="0" ky="0" algn="bl" rotWithShape="0" blurRad="50800" dist="25400" dir="8100000">
              <a:srgbClr val="000000">
                <a:alpha val="12000"/>
              </a:srgbClr>
            </a:outerShdw>
          </a:effectLst>
        </p:spPr>
      </p:sp>
      <p:sp>
        <p:nvSpPr>
          <p:cNvPr id="20" name="Shape 18"/>
          <p:cNvSpPr/>
          <p:nvPr/>
        </p:nvSpPr>
        <p:spPr>
          <a:xfrm>
            <a:off x="6812280" y="1005840"/>
            <a:ext cx="109728" cy="1371600"/>
          </a:xfrm>
          <a:prstGeom prst="rect">
            <a:avLst>
              <a:gd name="adj" fmla="val 41667"/>
            </a:avLst>
          </a:prstGeom>
          <a:solidFill>
            <a:srgbClr val="DC3545"/>
          </a:solidFill>
          <a:ln/>
        </p:spPr>
      </p:sp>
      <p:sp>
        <p:nvSpPr>
          <p:cNvPr id="21" name="Text 19"/>
          <p:cNvSpPr/>
          <p:nvPr/>
        </p:nvSpPr>
        <p:spPr>
          <a:xfrm>
            <a:off x="6903720" y="1051560"/>
            <a:ext cx="1783080" cy="365760"/>
          </a:xfrm>
          <a:prstGeom prst="rect">
            <a:avLst/>
          </a:prstGeom>
          <a:noFill/>
          <a:ln/>
        </p:spPr>
        <p:txBody>
          <a:bodyPr wrap="square" lIns="0" tIns="0" rIns="0" bIns="0" rtlCol="0" anchor="ctr"/>
          <a:lstStyle/>
          <a:p>
            <a:pPr algn="ctr" indent="0" marL="0">
              <a:buNone/>
            </a:pPr>
            <a:r>
              <a:rPr lang="en-US" sz="2400" b="1" dirty="0">
                <a:solidFill>
                  <a:srgbClr val="DC3545"/>
                </a:solidFill>
                <a:latin typeface="Segoe UI" pitchFamily="34" charset="0"/>
                <a:ea typeface="Segoe UI" pitchFamily="34" charset="-122"/>
                <a:cs typeface="Segoe UI" pitchFamily="34" charset="-120"/>
              </a:rPr>
              <a:t>60°</a:t>
            </a:r>
            <a:endParaRPr lang="en-US" sz="2400" dirty="0"/>
          </a:p>
        </p:txBody>
      </p:sp>
      <p:sp>
        <p:nvSpPr>
          <p:cNvPr id="22" name="Text 20"/>
          <p:cNvSpPr/>
          <p:nvPr/>
        </p:nvSpPr>
        <p:spPr>
          <a:xfrm>
            <a:off x="6903720" y="1417320"/>
            <a:ext cx="1783080" cy="411480"/>
          </a:xfrm>
          <a:prstGeom prst="rect">
            <a:avLst/>
          </a:prstGeom>
          <a:noFill/>
          <a:ln/>
        </p:spPr>
        <p:txBody>
          <a:bodyPr wrap="square" lIns="0" tIns="0" rIns="0" bIns="0" rtlCol="0" anchor="ctr"/>
          <a:lstStyle/>
          <a:p>
            <a:pPr algn="ctr" indent="0" marL="0">
              <a:buNone/>
            </a:pPr>
            <a:r>
              <a:rPr lang="en-US" sz="2200" b="1" dirty="0">
                <a:solidFill>
                  <a:srgbClr val="2D3436"/>
                </a:solidFill>
                <a:latin typeface="BIZ UDPGothic" pitchFamily="34" charset="0"/>
                <a:ea typeface="BIZ UDPGothic" pitchFamily="34" charset="-122"/>
                <a:cs typeface="BIZ UDPGothic" pitchFamily="34" charset="-120"/>
              </a:rPr>
              <a:t>約27kg</a:t>
            </a:r>
            <a:endParaRPr lang="en-US" sz="2200" dirty="0"/>
          </a:p>
        </p:txBody>
      </p:sp>
      <p:sp>
        <p:nvSpPr>
          <p:cNvPr id="23" name="Text 21"/>
          <p:cNvSpPr/>
          <p:nvPr/>
        </p:nvSpPr>
        <p:spPr>
          <a:xfrm>
            <a:off x="6903720" y="1874520"/>
            <a:ext cx="1783080" cy="365760"/>
          </a:xfrm>
          <a:prstGeom prst="rect">
            <a:avLst/>
          </a:prstGeom>
          <a:noFill/>
          <a:ln/>
        </p:spPr>
        <p:txBody>
          <a:bodyPr wrap="square" lIns="0" tIns="0" rIns="0" bIns="0" rtlCol="0" anchor="ctr"/>
          <a:lstStyle/>
          <a:p>
            <a:pPr algn="ctr" indent="0" marL="0">
              <a:buNone/>
            </a:pPr>
            <a:r>
              <a:rPr lang="en-US" sz="1300" dirty="0">
                <a:solidFill>
                  <a:srgbClr val="636E72"/>
                </a:solidFill>
                <a:latin typeface="BIZ UDPGothic" pitchFamily="34" charset="0"/>
                <a:ea typeface="BIZ UDPGothic" pitchFamily="34" charset="-122"/>
                <a:cs typeface="BIZ UDPGothic" pitchFamily="34" charset="-120"/>
              </a:rPr>
              <a:t>深くうつむく</a:t>
            </a:r>
            <a:endParaRPr lang="en-US" sz="1300" dirty="0"/>
          </a:p>
        </p:txBody>
      </p:sp>
      <p:sp>
        <p:nvSpPr>
          <p:cNvPr id="24" name="Shape 22"/>
          <p:cNvSpPr/>
          <p:nvPr/>
        </p:nvSpPr>
        <p:spPr>
          <a:xfrm>
            <a:off x="457200" y="2606040"/>
            <a:ext cx="8229600" cy="594360"/>
          </a:xfrm>
          <a:prstGeom prst="rect">
            <a:avLst>
              <a:gd name="adj" fmla="val 15385"/>
            </a:avLst>
          </a:prstGeom>
          <a:solidFill>
            <a:srgbClr val="FFF3CD"/>
          </a:solidFill>
          <a:ln/>
          <a:effectLst>
            <a:outerShdw sx="100000" sy="100000" kx="0" ky="0" algn="bl" rotWithShape="0" blurRad="50800" dist="25400" dir="8100000">
              <a:srgbClr val="000000">
                <a:alpha val="12000"/>
              </a:srgbClr>
            </a:outerShdw>
          </a:effectLst>
        </p:spPr>
      </p:sp>
      <p:sp>
        <p:nvSpPr>
          <p:cNvPr id="25" name="Shape 23"/>
          <p:cNvSpPr/>
          <p:nvPr/>
        </p:nvSpPr>
        <p:spPr>
          <a:xfrm>
            <a:off x="457200" y="2606040"/>
            <a:ext cx="109728" cy="594360"/>
          </a:xfrm>
          <a:prstGeom prst="rect">
            <a:avLst>
              <a:gd name="adj" fmla="val 41667"/>
            </a:avLst>
          </a:prstGeom>
          <a:solidFill>
            <a:srgbClr val="F5C518"/>
          </a:solidFill>
          <a:ln/>
        </p:spPr>
      </p:sp>
      <p:sp>
        <p:nvSpPr>
          <p:cNvPr id="26" name="Text 24"/>
          <p:cNvSpPr/>
          <p:nvPr/>
        </p:nvSpPr>
        <p:spPr>
          <a:xfrm>
            <a:off x="731520" y="2651760"/>
            <a:ext cx="7772400" cy="228600"/>
          </a:xfrm>
          <a:prstGeom prst="rect">
            <a:avLst/>
          </a:prstGeom>
          <a:noFill/>
          <a:ln/>
        </p:spPr>
        <p:txBody>
          <a:bodyPr wrap="square" lIns="0" tIns="0" rIns="0" bIns="0" rtlCol="0" anchor="ctr"/>
          <a:lstStyle/>
          <a:p>
            <a:pPr indent="0" marL="0">
              <a:buNone/>
            </a:pPr>
            <a:r>
              <a:rPr lang="en-US" sz="1800" b="1" dirty="0">
                <a:solidFill>
                  <a:srgbClr val="856404"/>
                </a:solidFill>
                <a:latin typeface="BIZ UDPGothic" pitchFamily="34" charset="0"/>
                <a:ea typeface="BIZ UDPGothic" pitchFamily="34" charset="-122"/>
                <a:cs typeface="BIZ UDPGothic" pitchFamily="34" charset="-120"/>
              </a:rPr>
              <a:t>⚠️ 60°の前傾 ＝ 小学生1人分の重さが首に！</a:t>
            </a:r>
            <a:endParaRPr lang="en-US" sz="1800" dirty="0"/>
          </a:p>
        </p:txBody>
      </p:sp>
      <p:sp>
        <p:nvSpPr>
          <p:cNvPr id="27" name="Text 25"/>
          <p:cNvSpPr/>
          <p:nvPr/>
        </p:nvSpPr>
        <p:spPr>
          <a:xfrm>
            <a:off x="731520" y="2926080"/>
            <a:ext cx="7772400" cy="22860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長時間の負荷 → 首の骨・椎間板・神経に影響 → ストレートネックの原因にも</a:t>
            </a:r>
            <a:endParaRPr lang="en-US" sz="1400" dirty="0"/>
          </a:p>
        </p:txBody>
      </p:sp>
      <p:sp>
        <p:nvSpPr>
          <p:cNvPr id="28" name="Shape 26"/>
          <p:cNvSpPr/>
          <p:nvPr/>
        </p:nvSpPr>
        <p:spPr>
          <a:xfrm>
            <a:off x="457200" y="3429000"/>
            <a:ext cx="3931920" cy="822960"/>
          </a:xfrm>
          <a:prstGeom prst="rect">
            <a:avLst>
              <a:gd name="adj" fmla="val 11111"/>
            </a:avLst>
          </a:prstGeom>
          <a:solidFill>
            <a:srgbClr val="FFFFFF"/>
          </a:solidFill>
          <a:ln/>
          <a:effectLst>
            <a:outerShdw sx="100000" sy="100000" kx="0" ky="0" algn="bl" rotWithShape="0" blurRad="50800" dist="25400" dir="8100000">
              <a:srgbClr val="000000">
                <a:alpha val="12000"/>
              </a:srgbClr>
            </a:outerShdw>
          </a:effectLst>
        </p:spPr>
      </p:sp>
      <p:sp>
        <p:nvSpPr>
          <p:cNvPr id="29" name="Shape 27"/>
          <p:cNvSpPr/>
          <p:nvPr/>
        </p:nvSpPr>
        <p:spPr>
          <a:xfrm>
            <a:off x="457200" y="3429000"/>
            <a:ext cx="109728" cy="822960"/>
          </a:xfrm>
          <a:prstGeom prst="rect">
            <a:avLst>
              <a:gd name="adj" fmla="val 41667"/>
            </a:avLst>
          </a:prstGeom>
          <a:solidFill>
            <a:srgbClr val="2C5AA0"/>
          </a:solidFill>
          <a:ln/>
        </p:spPr>
      </p:sp>
      <p:sp>
        <p:nvSpPr>
          <p:cNvPr id="30" name="Text 28"/>
          <p:cNvSpPr/>
          <p:nvPr/>
        </p:nvSpPr>
        <p:spPr>
          <a:xfrm>
            <a:off x="640080" y="3474720"/>
            <a:ext cx="3474720" cy="32004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正常な頸椎</a:t>
            </a:r>
            <a:endParaRPr lang="en-US" sz="1600" dirty="0"/>
          </a:p>
        </p:txBody>
      </p:sp>
      <p:sp>
        <p:nvSpPr>
          <p:cNvPr id="31" name="Text 29"/>
          <p:cNvSpPr/>
          <p:nvPr/>
        </p:nvSpPr>
        <p:spPr>
          <a:xfrm>
            <a:off x="640080" y="3794760"/>
            <a:ext cx="34747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緩やかに前方へカーブ</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衝撃を吸収するバネの役割</a:t>
            </a:r>
            <a:endParaRPr lang="en-US" sz="1400" dirty="0"/>
          </a:p>
        </p:txBody>
      </p:sp>
      <p:sp>
        <p:nvSpPr>
          <p:cNvPr id="32" name="Shape 30"/>
          <p:cNvSpPr/>
          <p:nvPr/>
        </p:nvSpPr>
        <p:spPr>
          <a:xfrm>
            <a:off x="4754880" y="3429000"/>
            <a:ext cx="3931920" cy="822960"/>
          </a:xfrm>
          <a:prstGeom prst="rect">
            <a:avLst>
              <a:gd name="adj" fmla="val 11111"/>
            </a:avLst>
          </a:prstGeom>
          <a:solidFill>
            <a:srgbClr val="FFFFFF"/>
          </a:solidFill>
          <a:ln/>
          <a:effectLst>
            <a:outerShdw sx="100000" sy="100000" kx="0" ky="0" algn="bl" rotWithShape="0" blurRad="50800" dist="25400" dir="8100000">
              <a:srgbClr val="000000">
                <a:alpha val="12000"/>
              </a:srgbClr>
            </a:outerShdw>
          </a:effectLst>
        </p:spPr>
      </p:sp>
      <p:sp>
        <p:nvSpPr>
          <p:cNvPr id="33" name="Shape 31"/>
          <p:cNvSpPr/>
          <p:nvPr/>
        </p:nvSpPr>
        <p:spPr>
          <a:xfrm>
            <a:off x="4754880" y="3429000"/>
            <a:ext cx="109728" cy="822960"/>
          </a:xfrm>
          <a:prstGeom prst="rect">
            <a:avLst>
              <a:gd name="adj" fmla="val 41667"/>
            </a:avLst>
          </a:prstGeom>
          <a:solidFill>
            <a:srgbClr val="DC3545"/>
          </a:solidFill>
          <a:ln/>
        </p:spPr>
      </p:sp>
      <p:sp>
        <p:nvSpPr>
          <p:cNvPr id="34" name="Text 32"/>
          <p:cNvSpPr/>
          <p:nvPr/>
        </p:nvSpPr>
        <p:spPr>
          <a:xfrm>
            <a:off x="4937760" y="3474720"/>
            <a:ext cx="3474720" cy="320040"/>
          </a:xfrm>
          <a:prstGeom prst="rect">
            <a:avLst/>
          </a:prstGeom>
          <a:noFill/>
          <a:ln/>
        </p:spPr>
        <p:txBody>
          <a:bodyPr wrap="square" lIns="0" tIns="0" rIns="0" bIns="0" rtlCol="0" anchor="ctr"/>
          <a:lstStyle/>
          <a:p>
            <a:pPr indent="0" marL="0">
              <a:buNone/>
            </a:pPr>
            <a:r>
              <a:rPr lang="en-US" sz="1600" b="1" dirty="0">
                <a:solidFill>
                  <a:srgbClr val="DC3545"/>
                </a:solidFill>
                <a:latin typeface="BIZ UDPGothic" pitchFamily="34" charset="0"/>
                <a:ea typeface="BIZ UDPGothic" pitchFamily="34" charset="-122"/>
                <a:cs typeface="BIZ UDPGothic" pitchFamily="34" charset="-120"/>
              </a:rPr>
              <a:t>ストレートネック</a:t>
            </a:r>
            <a:endParaRPr lang="en-US" sz="1600" dirty="0"/>
          </a:p>
        </p:txBody>
      </p:sp>
      <p:sp>
        <p:nvSpPr>
          <p:cNvPr id="35" name="Text 33"/>
          <p:cNvSpPr/>
          <p:nvPr/>
        </p:nvSpPr>
        <p:spPr>
          <a:xfrm>
            <a:off x="4937760" y="3794760"/>
            <a:ext cx="34747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頸椎が真っすぐになった状態</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首・肩の痛み、神経症状の原因に</a:t>
            </a:r>
            <a:endParaRPr lang="en-US" sz="1400" dirty="0"/>
          </a:p>
        </p:txBody>
      </p:sp>
      <p:sp>
        <p:nvSpPr>
          <p:cNvPr id="36" name="Shape 34"/>
          <p:cNvSpPr/>
          <p:nvPr/>
        </p:nvSpPr>
        <p:spPr>
          <a:xfrm>
            <a:off x="0" y="4800600"/>
            <a:ext cx="9144000" cy="347472"/>
          </a:xfrm>
          <a:prstGeom prst="rect">
            <a:avLst/>
          </a:prstGeom>
          <a:solidFill>
            <a:srgbClr val="1B3A5C"/>
          </a:solidFill>
          <a:ln/>
        </p:spPr>
      </p:sp>
      <p:sp>
        <p:nvSpPr>
          <p:cNvPr id="37" name="Text 35"/>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スマホ・パソコンで起こる神経トラブル</a:t>
            </a:r>
            <a:endParaRPr lang="en-US" sz="2600" dirty="0"/>
          </a:p>
        </p:txBody>
      </p:sp>
      <p:sp>
        <p:nvSpPr>
          <p:cNvPr id="4" name="Shape 2"/>
          <p:cNvSpPr/>
          <p:nvPr/>
        </p:nvSpPr>
        <p:spPr>
          <a:xfrm>
            <a:off x="457200" y="100584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1005840"/>
          </a:xfrm>
          <a:prstGeom prst="rect">
            <a:avLst>
              <a:gd name="adj" fmla="val 41667"/>
            </a:avLst>
          </a:prstGeom>
          <a:solidFill>
            <a:srgbClr val="2C5AA0"/>
          </a:solidFill>
          <a:ln/>
        </p:spPr>
      </p:sp>
      <p:sp>
        <p:nvSpPr>
          <p:cNvPr id="6" name="Text 4"/>
          <p:cNvSpPr/>
          <p:nvPr/>
        </p:nvSpPr>
        <p:spPr>
          <a:xfrm>
            <a:off x="640080" y="1097280"/>
            <a:ext cx="54864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7" name="Text 5"/>
          <p:cNvSpPr/>
          <p:nvPr/>
        </p:nvSpPr>
        <p:spPr>
          <a:xfrm>
            <a:off x="1280160" y="1051560"/>
            <a:ext cx="3200400" cy="365760"/>
          </a:xfrm>
          <a:prstGeom prst="rect">
            <a:avLst/>
          </a:prstGeom>
          <a:noFill/>
          <a:ln/>
        </p:spPr>
        <p:txBody>
          <a:bodyPr wrap="square" lIns="0" tIns="0" rIns="0" bIns="0" rtlCol="0" anchor="ctr"/>
          <a:lstStyle/>
          <a:p>
            <a:pPr indent="0" marL="0">
              <a:buNone/>
            </a:pPr>
            <a:r>
              <a:rPr lang="en-US" sz="1900" b="1" dirty="0">
                <a:solidFill>
                  <a:srgbClr val="2C5AA0"/>
                </a:solidFill>
                <a:latin typeface="BIZ UDPGothic" pitchFamily="34" charset="0"/>
                <a:ea typeface="BIZ UDPGothic" pitchFamily="34" charset="-122"/>
                <a:cs typeface="BIZ UDPGothic" pitchFamily="34" charset="-120"/>
              </a:rPr>
              <a:t>頸椎症性神経根症</a:t>
            </a:r>
            <a:endParaRPr lang="en-US" sz="1900" dirty="0"/>
          </a:p>
        </p:txBody>
      </p:sp>
      <p:sp>
        <p:nvSpPr>
          <p:cNvPr id="8" name="Text 6"/>
          <p:cNvSpPr/>
          <p:nvPr/>
        </p:nvSpPr>
        <p:spPr>
          <a:xfrm>
            <a:off x="1280160" y="1463040"/>
            <a:ext cx="713232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首の骨の変形・椎間板突出が神経の根元を圧迫</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首を動かすと腕に電気が走るような痛み・しびれ</a:t>
            </a:r>
            <a:endParaRPr lang="en-US" sz="1500" dirty="0"/>
          </a:p>
        </p:txBody>
      </p:sp>
      <p:sp>
        <p:nvSpPr>
          <p:cNvPr id="9" name="Shape 7"/>
          <p:cNvSpPr/>
          <p:nvPr/>
        </p:nvSpPr>
        <p:spPr>
          <a:xfrm>
            <a:off x="457200" y="219456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194560"/>
            <a:ext cx="109728" cy="1005840"/>
          </a:xfrm>
          <a:prstGeom prst="rect">
            <a:avLst>
              <a:gd name="adj" fmla="val 41667"/>
            </a:avLst>
          </a:prstGeom>
          <a:solidFill>
            <a:srgbClr val="E8850C"/>
          </a:solidFill>
          <a:ln/>
        </p:spPr>
      </p:sp>
      <p:sp>
        <p:nvSpPr>
          <p:cNvPr id="11" name="Text 9"/>
          <p:cNvSpPr/>
          <p:nvPr/>
        </p:nvSpPr>
        <p:spPr>
          <a:xfrm>
            <a:off x="640080" y="2286000"/>
            <a:ext cx="54864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2" name="Text 10"/>
          <p:cNvSpPr/>
          <p:nvPr/>
        </p:nvSpPr>
        <p:spPr>
          <a:xfrm>
            <a:off x="1280160" y="2240280"/>
            <a:ext cx="3200400" cy="365760"/>
          </a:xfrm>
          <a:prstGeom prst="rect">
            <a:avLst/>
          </a:prstGeom>
          <a:noFill/>
          <a:ln/>
        </p:spPr>
        <p:txBody>
          <a:bodyPr wrap="square" lIns="0" tIns="0" rIns="0" bIns="0" rtlCol="0" anchor="ctr"/>
          <a:lstStyle/>
          <a:p>
            <a:pPr indent="0" marL="0">
              <a:buNone/>
            </a:pPr>
            <a:r>
              <a:rPr lang="en-US" sz="1900" b="1" dirty="0">
                <a:solidFill>
                  <a:srgbClr val="E8850C"/>
                </a:solidFill>
                <a:latin typeface="BIZ UDPGothic" pitchFamily="34" charset="0"/>
                <a:ea typeface="BIZ UDPGothic" pitchFamily="34" charset="-122"/>
                <a:cs typeface="BIZ UDPGothic" pitchFamily="34" charset="-120"/>
              </a:rPr>
              <a:t>手根管症候群</a:t>
            </a:r>
            <a:endParaRPr lang="en-US" sz="1900" dirty="0"/>
          </a:p>
        </p:txBody>
      </p:sp>
      <p:sp>
        <p:nvSpPr>
          <p:cNvPr id="13" name="Text 11"/>
          <p:cNvSpPr/>
          <p:nvPr/>
        </p:nvSpPr>
        <p:spPr>
          <a:xfrm>
            <a:off x="1280160" y="2651760"/>
            <a:ext cx="713232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手首のトンネルで正中神経が圧迫される</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親指〜薬指のしびれ。スマホ握り姿勢が原因に</a:t>
            </a:r>
            <a:endParaRPr lang="en-US" sz="1500" dirty="0"/>
          </a:p>
        </p:txBody>
      </p:sp>
      <p:sp>
        <p:nvSpPr>
          <p:cNvPr id="14" name="Shape 12"/>
          <p:cNvSpPr/>
          <p:nvPr/>
        </p:nvSpPr>
        <p:spPr>
          <a:xfrm>
            <a:off x="457200" y="338328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383280"/>
            <a:ext cx="109728" cy="1005840"/>
          </a:xfrm>
          <a:prstGeom prst="rect">
            <a:avLst>
              <a:gd name="adj" fmla="val 41667"/>
            </a:avLst>
          </a:prstGeom>
          <a:solidFill>
            <a:srgbClr val="7B2D8E"/>
          </a:solidFill>
          <a:ln/>
        </p:spPr>
      </p:sp>
      <p:sp>
        <p:nvSpPr>
          <p:cNvPr id="16" name="Text 14"/>
          <p:cNvSpPr/>
          <p:nvPr/>
        </p:nvSpPr>
        <p:spPr>
          <a:xfrm>
            <a:off x="640080" y="3474720"/>
            <a:ext cx="548640" cy="82296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7" name="Text 15"/>
          <p:cNvSpPr/>
          <p:nvPr/>
        </p:nvSpPr>
        <p:spPr>
          <a:xfrm>
            <a:off x="1280160" y="3429000"/>
            <a:ext cx="3200400" cy="365760"/>
          </a:xfrm>
          <a:prstGeom prst="rect">
            <a:avLst/>
          </a:prstGeom>
          <a:noFill/>
          <a:ln/>
        </p:spPr>
        <p:txBody>
          <a:bodyPr wrap="square" lIns="0" tIns="0" rIns="0" bIns="0" rtlCol="0" anchor="ctr"/>
          <a:lstStyle/>
          <a:p>
            <a:pPr indent="0" marL="0">
              <a:buNone/>
            </a:pPr>
            <a:r>
              <a:rPr lang="en-US" sz="1900" b="1" dirty="0">
                <a:solidFill>
                  <a:srgbClr val="7B2D8E"/>
                </a:solidFill>
                <a:latin typeface="BIZ UDPGothic" pitchFamily="34" charset="0"/>
                <a:ea typeface="BIZ UDPGothic" pitchFamily="34" charset="-122"/>
                <a:cs typeface="BIZ UDPGothic" pitchFamily="34" charset="-120"/>
              </a:rPr>
              <a:t>肘部管症候群</a:t>
            </a:r>
            <a:endParaRPr lang="en-US" sz="1900" dirty="0"/>
          </a:p>
        </p:txBody>
      </p:sp>
      <p:sp>
        <p:nvSpPr>
          <p:cNvPr id="18" name="Text 16"/>
          <p:cNvSpPr/>
          <p:nvPr/>
        </p:nvSpPr>
        <p:spPr>
          <a:xfrm>
            <a:off x="1280160" y="3840480"/>
            <a:ext cx="713232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肘の内側で尺骨神経が圧迫される</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小指と薬指のしびれ。肘を曲げた姿勢で悪化</a:t>
            </a:r>
            <a:endParaRPr lang="en-US" sz="15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頸椎症性神経根症 ― 首から腕へのしびれ</a:t>
            </a:r>
            <a:endParaRPr lang="en-US" sz="2600" dirty="0"/>
          </a:p>
        </p:txBody>
      </p:sp>
      <p:sp>
        <p:nvSpPr>
          <p:cNvPr id="4" name="Shape 2"/>
          <p:cNvSpPr/>
          <p:nvPr/>
        </p:nvSpPr>
        <p:spPr>
          <a:xfrm>
            <a:off x="457200" y="1005840"/>
            <a:ext cx="8229600" cy="457200"/>
          </a:xfrm>
          <a:prstGeom prst="rect">
            <a:avLst>
              <a:gd name="adj" fmla="val 20000"/>
            </a:avLst>
          </a:prstGeom>
          <a:solidFill>
            <a:srgbClr val="E8F4FD"/>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457200"/>
          </a:xfrm>
          <a:prstGeom prst="rect">
            <a:avLst>
              <a:gd name="adj" fmla="val 41667"/>
            </a:avLst>
          </a:prstGeom>
          <a:solidFill>
            <a:srgbClr val="2C5AA0"/>
          </a:solidFill>
          <a:ln/>
        </p:spPr>
      </p:sp>
      <p:sp>
        <p:nvSpPr>
          <p:cNvPr id="6" name="Text 4"/>
          <p:cNvSpPr/>
          <p:nvPr/>
        </p:nvSpPr>
        <p:spPr>
          <a:xfrm>
            <a:off x="731520" y="1051560"/>
            <a:ext cx="7772400" cy="365760"/>
          </a:xfrm>
          <a:prstGeom prst="rect">
            <a:avLst/>
          </a:prstGeom>
          <a:noFill/>
          <a:ln/>
        </p:spPr>
        <p:txBody>
          <a:bodyPr wrap="square" lIns="0" tIns="0" rIns="0" bIns="0" rtlCol="0" anchor="ctr"/>
          <a:lstStyle/>
          <a:p>
            <a:pPr indent="0" marL="0">
              <a:buNone/>
            </a:pPr>
            <a:r>
              <a:rPr lang="en-US" sz="1700" b="1" dirty="0">
                <a:solidFill>
                  <a:srgbClr val="2C5AA0"/>
                </a:solidFill>
                <a:latin typeface="BIZ UDPGothic" pitchFamily="34" charset="0"/>
                <a:ea typeface="BIZ UDPGothic" pitchFamily="34" charset="-122"/>
                <a:cs typeface="BIZ UDPGothic" pitchFamily="34" charset="-120"/>
              </a:rPr>
              <a:t>首の骨の間から出る神経の根元が圧迫される病気 ― 30〜50代に多い</a:t>
            </a:r>
            <a:endParaRPr lang="en-US" sz="1700" dirty="0"/>
          </a:p>
        </p:txBody>
      </p:sp>
      <p:sp>
        <p:nvSpPr>
          <p:cNvPr id="7" name="Text 5"/>
          <p:cNvSpPr/>
          <p:nvPr/>
        </p:nvSpPr>
        <p:spPr>
          <a:xfrm>
            <a:off x="457200" y="1645920"/>
            <a:ext cx="8229600" cy="320040"/>
          </a:xfrm>
          <a:prstGeom prst="rect">
            <a:avLst/>
          </a:prstGeom>
          <a:noFill/>
          <a:ln/>
        </p:spPr>
        <p:txBody>
          <a:bodyPr wrap="square" lIns="0" tIns="0" rIns="0" bIns="0" rtlCol="0" anchor="ctr"/>
          <a:lstStyle/>
          <a:p>
            <a:pPr indent="0" marL="0">
              <a:buNone/>
            </a:pPr>
            <a:r>
              <a:rPr lang="en-US" sz="1700" b="1" dirty="0">
                <a:solidFill>
                  <a:srgbClr val="E8850C"/>
                </a:solidFill>
                <a:latin typeface="BIZ UDPGothic" pitchFamily="34" charset="0"/>
                <a:ea typeface="BIZ UDPGothic" pitchFamily="34" charset="-122"/>
                <a:cs typeface="BIZ UDPGothic" pitchFamily="34" charset="-120"/>
              </a:rPr>
              <a:t>主な症状</a:t>
            </a:r>
            <a:endParaRPr lang="en-US" sz="1700" dirty="0"/>
          </a:p>
        </p:txBody>
      </p:sp>
      <p:sp>
        <p:nvSpPr>
          <p:cNvPr id="8" name="Shape 6"/>
          <p:cNvSpPr/>
          <p:nvPr/>
        </p:nvSpPr>
        <p:spPr>
          <a:xfrm>
            <a:off x="457200" y="2057400"/>
            <a:ext cx="8229600" cy="411480"/>
          </a:xfrm>
          <a:prstGeom prst="rect">
            <a:avLst>
              <a:gd name="adj" fmla="val 22222"/>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457200" y="2057400"/>
            <a:ext cx="109728" cy="411480"/>
          </a:xfrm>
          <a:prstGeom prst="rect">
            <a:avLst>
              <a:gd name="adj" fmla="val 41667"/>
            </a:avLst>
          </a:prstGeom>
          <a:solidFill>
            <a:srgbClr val="E8850C"/>
          </a:solidFill>
          <a:ln/>
        </p:spPr>
      </p:sp>
      <p:sp>
        <p:nvSpPr>
          <p:cNvPr id="10" name="Text 8"/>
          <p:cNvSpPr/>
          <p:nvPr/>
        </p:nvSpPr>
        <p:spPr>
          <a:xfrm>
            <a:off x="731520" y="2084832"/>
            <a:ext cx="7772400" cy="365760"/>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 首を後ろに反らすと腕に痛み・しびれが走る</a:t>
            </a:r>
            <a:endParaRPr lang="en-US" sz="1600" dirty="0"/>
          </a:p>
        </p:txBody>
      </p:sp>
      <p:sp>
        <p:nvSpPr>
          <p:cNvPr id="11" name="Shape 9"/>
          <p:cNvSpPr/>
          <p:nvPr/>
        </p:nvSpPr>
        <p:spPr>
          <a:xfrm>
            <a:off x="457200" y="2560320"/>
            <a:ext cx="8229600" cy="411480"/>
          </a:xfrm>
          <a:prstGeom prst="rect">
            <a:avLst>
              <a:gd name="adj" fmla="val 22222"/>
            </a:avLst>
          </a:prstGeom>
          <a:solidFill>
            <a:srgbClr val="FFFFFF"/>
          </a:solidFill>
          <a:ln/>
          <a:effectLst>
            <a:outerShdw sx="100000" sy="100000" kx="0" ky="0" algn="bl" rotWithShape="0" blurRad="50800" dist="25400" dir="8100000">
              <a:srgbClr val="000000">
                <a:alpha val="12000"/>
              </a:srgbClr>
            </a:outerShdw>
          </a:effectLst>
        </p:spPr>
      </p:sp>
      <p:sp>
        <p:nvSpPr>
          <p:cNvPr id="12" name="Shape 10"/>
          <p:cNvSpPr/>
          <p:nvPr/>
        </p:nvSpPr>
        <p:spPr>
          <a:xfrm>
            <a:off x="457200" y="2560320"/>
            <a:ext cx="109728" cy="411480"/>
          </a:xfrm>
          <a:prstGeom prst="rect">
            <a:avLst>
              <a:gd name="adj" fmla="val 41667"/>
            </a:avLst>
          </a:prstGeom>
          <a:solidFill>
            <a:srgbClr val="E8850C"/>
          </a:solidFill>
          <a:ln/>
        </p:spPr>
      </p:sp>
      <p:sp>
        <p:nvSpPr>
          <p:cNvPr id="13" name="Text 11"/>
          <p:cNvSpPr/>
          <p:nvPr/>
        </p:nvSpPr>
        <p:spPr>
          <a:xfrm>
            <a:off x="731520" y="2587752"/>
            <a:ext cx="7772400" cy="365760"/>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 片側の腕から手にかけてのしびれ</a:t>
            </a:r>
            <a:endParaRPr lang="en-US" sz="1600" dirty="0"/>
          </a:p>
        </p:txBody>
      </p:sp>
      <p:sp>
        <p:nvSpPr>
          <p:cNvPr id="14" name="Shape 12"/>
          <p:cNvSpPr/>
          <p:nvPr/>
        </p:nvSpPr>
        <p:spPr>
          <a:xfrm>
            <a:off x="457200" y="3063240"/>
            <a:ext cx="8229600" cy="411480"/>
          </a:xfrm>
          <a:prstGeom prst="rect">
            <a:avLst>
              <a:gd name="adj" fmla="val 22222"/>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063240"/>
            <a:ext cx="109728" cy="411480"/>
          </a:xfrm>
          <a:prstGeom prst="rect">
            <a:avLst>
              <a:gd name="adj" fmla="val 41667"/>
            </a:avLst>
          </a:prstGeom>
          <a:solidFill>
            <a:srgbClr val="E8850C"/>
          </a:solidFill>
          <a:ln/>
        </p:spPr>
      </p:sp>
      <p:sp>
        <p:nvSpPr>
          <p:cNvPr id="16" name="Text 14"/>
          <p:cNvSpPr/>
          <p:nvPr/>
        </p:nvSpPr>
        <p:spPr>
          <a:xfrm>
            <a:off x="731520" y="3090672"/>
            <a:ext cx="7772400" cy="365760"/>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 肩甲骨の周囲の痛み</a:t>
            </a:r>
            <a:endParaRPr lang="en-US" sz="1600" dirty="0"/>
          </a:p>
        </p:txBody>
      </p:sp>
      <p:sp>
        <p:nvSpPr>
          <p:cNvPr id="17" name="Shape 15"/>
          <p:cNvSpPr/>
          <p:nvPr/>
        </p:nvSpPr>
        <p:spPr>
          <a:xfrm>
            <a:off x="457200" y="3657600"/>
            <a:ext cx="8229600" cy="777240"/>
          </a:xfrm>
          <a:prstGeom prst="rect">
            <a:avLst>
              <a:gd name="adj" fmla="val 11765"/>
            </a:avLst>
          </a:prstGeom>
          <a:solidFill>
            <a:srgbClr val="D4EDDA"/>
          </a:solidFill>
          <a:ln/>
          <a:effectLst>
            <a:outerShdw sx="100000" sy="100000" kx="0" ky="0" algn="bl" rotWithShape="0" blurRad="50800" dist="25400" dir="8100000">
              <a:srgbClr val="000000">
                <a:alpha val="12000"/>
              </a:srgbClr>
            </a:outerShdw>
          </a:effectLst>
        </p:spPr>
      </p:sp>
      <p:sp>
        <p:nvSpPr>
          <p:cNvPr id="18" name="Shape 16"/>
          <p:cNvSpPr/>
          <p:nvPr/>
        </p:nvSpPr>
        <p:spPr>
          <a:xfrm>
            <a:off x="457200" y="3657600"/>
            <a:ext cx="109728" cy="777240"/>
          </a:xfrm>
          <a:prstGeom prst="rect">
            <a:avLst>
              <a:gd name="adj" fmla="val 41667"/>
            </a:avLst>
          </a:prstGeom>
          <a:solidFill>
            <a:srgbClr val="28A745"/>
          </a:solidFill>
          <a:ln/>
        </p:spPr>
      </p:sp>
      <p:sp>
        <p:nvSpPr>
          <p:cNvPr id="19" name="Text 17"/>
          <p:cNvSpPr/>
          <p:nvPr/>
        </p:nvSpPr>
        <p:spPr>
          <a:xfrm>
            <a:off x="731520" y="3703320"/>
            <a:ext cx="7772400" cy="320040"/>
          </a:xfrm>
          <a:prstGeom prst="rect">
            <a:avLst/>
          </a:prstGeom>
          <a:noFill/>
          <a:ln/>
        </p:spPr>
        <p:txBody>
          <a:bodyPr wrap="square" lIns="0" tIns="0" rIns="0" bIns="0" rtlCol="0" anchor="ctr"/>
          <a:lstStyle/>
          <a:p>
            <a:pPr indent="0" marL="0">
              <a:buNone/>
            </a:pPr>
            <a:r>
              <a:rPr lang="en-US" sz="1600" b="1" dirty="0">
                <a:solidFill>
                  <a:srgbClr val="28A745"/>
                </a:solidFill>
                <a:latin typeface="BIZ UDPGothic" pitchFamily="34" charset="0"/>
                <a:ea typeface="BIZ UDPGothic" pitchFamily="34" charset="-122"/>
                <a:cs typeface="BIZ UDPGothic" pitchFamily="34" charset="-120"/>
              </a:rPr>
              <a:t>多くは安静・姿勢改善・薬物療法で改善</a:t>
            </a:r>
            <a:endParaRPr lang="en-US" sz="1600" dirty="0"/>
          </a:p>
        </p:txBody>
      </p:sp>
      <p:sp>
        <p:nvSpPr>
          <p:cNvPr id="20" name="Text 18"/>
          <p:cNvSpPr/>
          <p:nvPr/>
        </p:nvSpPr>
        <p:spPr>
          <a:xfrm>
            <a:off x="731520" y="4023360"/>
            <a:ext cx="7772400" cy="3200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手の筋力低下や日常生活に支障がある場合は手術が必要になることも</a:t>
            </a:r>
            <a:endParaRPr lang="en-US" sz="1400" dirty="0"/>
          </a:p>
        </p:txBody>
      </p:sp>
      <p:sp>
        <p:nvSpPr>
          <p:cNvPr id="21" name="Shape 19"/>
          <p:cNvSpPr/>
          <p:nvPr/>
        </p:nvSpPr>
        <p:spPr>
          <a:xfrm>
            <a:off x="0" y="4800600"/>
            <a:ext cx="9144000" cy="347472"/>
          </a:xfrm>
          <a:prstGeom prst="rect">
            <a:avLst/>
          </a:prstGeom>
          <a:solidFill>
            <a:srgbClr val="1B3A5C"/>
          </a:solidFill>
          <a:ln/>
        </p:spPr>
      </p:sp>
      <p:sp>
        <p:nvSpPr>
          <p:cNvPr id="22" name="Text 20"/>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手根管症候群 ― 手首のしびれ</a:t>
            </a:r>
            <a:endParaRPr lang="en-US" sz="2600" dirty="0"/>
          </a:p>
        </p:txBody>
      </p:sp>
      <p:sp>
        <p:nvSpPr>
          <p:cNvPr id="4" name="Shape 2"/>
          <p:cNvSpPr/>
          <p:nvPr/>
        </p:nvSpPr>
        <p:spPr>
          <a:xfrm>
            <a:off x="457200" y="1005840"/>
            <a:ext cx="8229600" cy="457200"/>
          </a:xfrm>
          <a:prstGeom prst="rect">
            <a:avLst>
              <a:gd name="adj" fmla="val 20000"/>
            </a:avLst>
          </a:prstGeom>
          <a:solidFill>
            <a:srgbClr val="E8F4FD"/>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457200"/>
          </a:xfrm>
          <a:prstGeom prst="rect">
            <a:avLst>
              <a:gd name="adj" fmla="val 41667"/>
            </a:avLst>
          </a:prstGeom>
          <a:solidFill>
            <a:srgbClr val="E8850C"/>
          </a:solidFill>
          <a:ln/>
        </p:spPr>
      </p:sp>
      <p:sp>
        <p:nvSpPr>
          <p:cNvPr id="6" name="Text 4"/>
          <p:cNvSpPr/>
          <p:nvPr/>
        </p:nvSpPr>
        <p:spPr>
          <a:xfrm>
            <a:off x="731520" y="1051560"/>
            <a:ext cx="7772400" cy="365760"/>
          </a:xfrm>
          <a:prstGeom prst="rect">
            <a:avLst/>
          </a:prstGeom>
          <a:noFill/>
          <a:ln/>
        </p:spPr>
        <p:txBody>
          <a:bodyPr wrap="square" lIns="0" tIns="0" rIns="0" bIns="0" rtlCol="0" anchor="ctr"/>
          <a:lstStyle/>
          <a:p>
            <a:pPr indent="0" marL="0">
              <a:buNone/>
            </a:pPr>
            <a:r>
              <a:rPr lang="en-US" sz="1700" b="1" dirty="0">
                <a:solidFill>
                  <a:srgbClr val="E8850C"/>
                </a:solidFill>
                <a:latin typeface="BIZ UDPGothic" pitchFamily="34" charset="0"/>
                <a:ea typeface="BIZ UDPGothic" pitchFamily="34" charset="-122"/>
                <a:cs typeface="BIZ UDPGothic" pitchFamily="34" charset="-120"/>
              </a:rPr>
              <a:t>手首の手根管で正中神経が圧迫される ― 女性に多い</a:t>
            </a:r>
            <a:endParaRPr lang="en-US" sz="1700" dirty="0"/>
          </a:p>
        </p:txBody>
      </p:sp>
      <p:sp>
        <p:nvSpPr>
          <p:cNvPr id="7" name="Shape 5"/>
          <p:cNvSpPr/>
          <p:nvPr/>
        </p:nvSpPr>
        <p:spPr>
          <a:xfrm>
            <a:off x="457200" y="1645920"/>
            <a:ext cx="3931920" cy="548640"/>
          </a:xfrm>
          <a:prstGeom prst="rect">
            <a:avLst>
              <a:gd name="adj" fmla="val 16667"/>
            </a:avLst>
          </a:prstGeom>
          <a:solidFill>
            <a:srgbClr val="FFFFFF"/>
          </a:solidFill>
          <a:ln/>
          <a:effectLst>
            <a:outerShdw sx="100000" sy="100000" kx="0" ky="0" algn="bl" rotWithShape="0" blurRad="50800" dist="25400" dir="8100000">
              <a:srgbClr val="000000">
                <a:alpha val="12000"/>
              </a:srgbClr>
            </a:outerShdw>
          </a:effectLst>
        </p:spPr>
      </p:sp>
      <p:sp>
        <p:nvSpPr>
          <p:cNvPr id="8" name="Shape 6"/>
          <p:cNvSpPr/>
          <p:nvPr/>
        </p:nvSpPr>
        <p:spPr>
          <a:xfrm>
            <a:off x="457200" y="1645920"/>
            <a:ext cx="109728" cy="548640"/>
          </a:xfrm>
          <a:prstGeom prst="rect">
            <a:avLst>
              <a:gd name="adj" fmla="val 41667"/>
            </a:avLst>
          </a:prstGeom>
          <a:solidFill>
            <a:srgbClr val="E8850C"/>
          </a:solidFill>
          <a:ln/>
        </p:spPr>
      </p:sp>
      <p:sp>
        <p:nvSpPr>
          <p:cNvPr id="9" name="Text 7"/>
          <p:cNvSpPr/>
          <p:nvPr/>
        </p:nvSpPr>
        <p:spPr>
          <a:xfrm>
            <a:off x="640080" y="1691640"/>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1188720" y="1691640"/>
            <a:ext cx="3017520" cy="45720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親指・人差し指・中指・薬指のしびれ</a:t>
            </a:r>
            <a:endParaRPr lang="en-US" sz="1500" dirty="0"/>
          </a:p>
        </p:txBody>
      </p:sp>
      <p:sp>
        <p:nvSpPr>
          <p:cNvPr id="11" name="Shape 9"/>
          <p:cNvSpPr/>
          <p:nvPr/>
        </p:nvSpPr>
        <p:spPr>
          <a:xfrm>
            <a:off x="457200" y="2286000"/>
            <a:ext cx="3931920" cy="548640"/>
          </a:xfrm>
          <a:prstGeom prst="rect">
            <a:avLst>
              <a:gd name="adj" fmla="val 16667"/>
            </a:avLst>
          </a:prstGeom>
          <a:solidFill>
            <a:srgbClr val="FFFFFF"/>
          </a:solidFill>
          <a:ln/>
          <a:effectLst>
            <a:outerShdw sx="100000" sy="100000" kx="0" ky="0" algn="bl" rotWithShape="0" blurRad="50800" dist="25400" dir="8100000">
              <a:srgbClr val="000000">
                <a:alpha val="12000"/>
              </a:srgbClr>
            </a:outerShdw>
          </a:effectLst>
        </p:spPr>
      </p:sp>
      <p:sp>
        <p:nvSpPr>
          <p:cNvPr id="12" name="Shape 10"/>
          <p:cNvSpPr/>
          <p:nvPr/>
        </p:nvSpPr>
        <p:spPr>
          <a:xfrm>
            <a:off x="457200" y="2286000"/>
            <a:ext cx="109728" cy="548640"/>
          </a:xfrm>
          <a:prstGeom prst="rect">
            <a:avLst>
              <a:gd name="adj" fmla="val 41667"/>
            </a:avLst>
          </a:prstGeom>
          <a:solidFill>
            <a:srgbClr val="E8850C"/>
          </a:solidFill>
          <a:ln/>
        </p:spPr>
      </p:sp>
      <p:sp>
        <p:nvSpPr>
          <p:cNvPr id="13" name="Text 11"/>
          <p:cNvSpPr/>
          <p:nvPr/>
        </p:nvSpPr>
        <p:spPr>
          <a:xfrm>
            <a:off x="640080" y="2331720"/>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1188720" y="2331720"/>
            <a:ext cx="3017520" cy="45720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夜間・明け方に症状が悪化する</a:t>
            </a:r>
            <a:endParaRPr lang="en-US" sz="1500" dirty="0"/>
          </a:p>
        </p:txBody>
      </p:sp>
      <p:sp>
        <p:nvSpPr>
          <p:cNvPr id="15" name="Shape 13"/>
          <p:cNvSpPr/>
          <p:nvPr/>
        </p:nvSpPr>
        <p:spPr>
          <a:xfrm>
            <a:off x="457200" y="2926080"/>
            <a:ext cx="3931920" cy="548640"/>
          </a:xfrm>
          <a:prstGeom prst="rect">
            <a:avLst>
              <a:gd name="adj" fmla="val 16667"/>
            </a:avLst>
          </a:prstGeom>
          <a:solidFill>
            <a:srgbClr val="FFFFFF"/>
          </a:solidFill>
          <a:ln/>
          <a:effectLst>
            <a:outerShdw sx="100000" sy="100000" kx="0" ky="0" algn="bl" rotWithShape="0" blurRad="50800" dist="25400" dir="8100000">
              <a:srgbClr val="000000">
                <a:alpha val="12000"/>
              </a:srgbClr>
            </a:outerShdw>
          </a:effectLst>
        </p:spPr>
      </p:sp>
      <p:sp>
        <p:nvSpPr>
          <p:cNvPr id="16" name="Shape 14"/>
          <p:cNvSpPr/>
          <p:nvPr/>
        </p:nvSpPr>
        <p:spPr>
          <a:xfrm>
            <a:off x="457200" y="2926080"/>
            <a:ext cx="109728" cy="548640"/>
          </a:xfrm>
          <a:prstGeom prst="rect">
            <a:avLst>
              <a:gd name="adj" fmla="val 41667"/>
            </a:avLst>
          </a:prstGeom>
          <a:solidFill>
            <a:srgbClr val="E8850C"/>
          </a:solidFill>
          <a:ln/>
        </p:spPr>
      </p:sp>
      <p:sp>
        <p:nvSpPr>
          <p:cNvPr id="17" name="Text 15"/>
          <p:cNvSpPr/>
          <p:nvPr/>
        </p:nvSpPr>
        <p:spPr>
          <a:xfrm>
            <a:off x="640080" y="2971800"/>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1188720" y="2971800"/>
            <a:ext cx="3017520" cy="45720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物をつまむ力が弱くなる</a:t>
            </a:r>
            <a:endParaRPr lang="en-US" sz="1500" dirty="0"/>
          </a:p>
        </p:txBody>
      </p:sp>
      <p:sp>
        <p:nvSpPr>
          <p:cNvPr id="19" name="Shape 17"/>
          <p:cNvSpPr/>
          <p:nvPr/>
        </p:nvSpPr>
        <p:spPr>
          <a:xfrm>
            <a:off x="4754880" y="1645920"/>
            <a:ext cx="3931920" cy="914400"/>
          </a:xfrm>
          <a:prstGeom prst="rect">
            <a:avLst>
              <a:gd name="adj" fmla="val 10000"/>
            </a:avLst>
          </a:prstGeom>
          <a:solidFill>
            <a:srgbClr val="FFFFFF"/>
          </a:solidFill>
          <a:ln/>
          <a:effectLst>
            <a:outerShdw sx="100000" sy="100000" kx="0" ky="0" algn="bl" rotWithShape="0" blurRad="50800" dist="25400" dir="8100000">
              <a:srgbClr val="000000">
                <a:alpha val="12000"/>
              </a:srgbClr>
            </a:outerShdw>
          </a:effectLst>
        </p:spPr>
      </p:sp>
      <p:sp>
        <p:nvSpPr>
          <p:cNvPr id="20" name="Shape 18"/>
          <p:cNvSpPr/>
          <p:nvPr/>
        </p:nvSpPr>
        <p:spPr>
          <a:xfrm>
            <a:off x="4754880" y="1645920"/>
            <a:ext cx="109728" cy="914400"/>
          </a:xfrm>
          <a:prstGeom prst="rect">
            <a:avLst>
              <a:gd name="adj" fmla="val 41667"/>
            </a:avLst>
          </a:prstGeom>
          <a:solidFill>
            <a:srgbClr val="2C5AA0"/>
          </a:solidFill>
          <a:ln/>
        </p:spPr>
      </p:sp>
      <p:sp>
        <p:nvSpPr>
          <p:cNvPr id="21" name="Text 19"/>
          <p:cNvSpPr/>
          <p:nvPr/>
        </p:nvSpPr>
        <p:spPr>
          <a:xfrm>
            <a:off x="4937760" y="1691640"/>
            <a:ext cx="3474720" cy="27432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原因</a:t>
            </a:r>
            <a:endParaRPr lang="en-US" sz="1600" dirty="0"/>
          </a:p>
        </p:txBody>
      </p:sp>
      <p:sp>
        <p:nvSpPr>
          <p:cNvPr id="22" name="Text 20"/>
          <p:cNvSpPr/>
          <p:nvPr/>
        </p:nvSpPr>
        <p:spPr>
          <a:xfrm>
            <a:off x="4937760" y="1965960"/>
            <a:ext cx="3474720" cy="502920"/>
          </a:xfrm>
          <a:prstGeom prst="rect">
            <a:avLst/>
          </a:prstGeom>
          <a:noFill/>
          <a:ln/>
        </p:spPr>
        <p:txBody>
          <a:bodyPr wrap="square" lIns="0" tIns="0" rIns="0" bIns="0" rtlCol="0" anchor="ctr"/>
          <a:lstStyle/>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スマホを握る姿勢</a:t>
            </a:r>
            <a:endParaRPr lang="en-US" sz="1300" dirty="0"/>
          </a:p>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マウス操作で手首が圧迫</a:t>
            </a:r>
            <a:endParaRPr lang="en-US" sz="1300" dirty="0"/>
          </a:p>
          <a:p>
            <a:pPr indent="0" marL="0">
              <a:lnSpc>
                <a:spcPct val="115000"/>
              </a:lnSpc>
              <a:buNone/>
            </a:pPr>
            <a:r>
              <a:rPr lang="en-US" sz="1300" dirty="0">
                <a:solidFill>
                  <a:srgbClr val="2D3436"/>
                </a:solidFill>
                <a:latin typeface="BIZ UDPGothic" pitchFamily="34" charset="0"/>
                <a:ea typeface="BIZ UDPGothic" pitchFamily="34" charset="-122"/>
                <a:cs typeface="BIZ UDPGothic" pitchFamily="34" charset="-120"/>
              </a:rPr>
              <a:t>妊娠中・更年期に発症しやすい</a:t>
            </a:r>
            <a:endParaRPr lang="en-US" sz="1300" dirty="0"/>
          </a:p>
        </p:txBody>
      </p:sp>
      <p:sp>
        <p:nvSpPr>
          <p:cNvPr id="23" name="Shape 21"/>
          <p:cNvSpPr/>
          <p:nvPr/>
        </p:nvSpPr>
        <p:spPr>
          <a:xfrm>
            <a:off x="4754880" y="2743200"/>
            <a:ext cx="3931920" cy="640080"/>
          </a:xfrm>
          <a:prstGeom prst="rect">
            <a:avLst>
              <a:gd name="adj" fmla="val 14286"/>
            </a:avLst>
          </a:prstGeom>
          <a:solidFill>
            <a:srgbClr val="D4EDDA"/>
          </a:solidFill>
          <a:ln/>
          <a:effectLst>
            <a:outerShdw sx="100000" sy="100000" kx="0" ky="0" algn="bl" rotWithShape="0" blurRad="50800" dist="25400" dir="8100000">
              <a:srgbClr val="000000">
                <a:alpha val="12000"/>
              </a:srgbClr>
            </a:outerShdw>
          </a:effectLst>
        </p:spPr>
      </p:sp>
      <p:sp>
        <p:nvSpPr>
          <p:cNvPr id="24" name="Shape 22"/>
          <p:cNvSpPr/>
          <p:nvPr/>
        </p:nvSpPr>
        <p:spPr>
          <a:xfrm>
            <a:off x="4754880" y="2743200"/>
            <a:ext cx="109728" cy="640080"/>
          </a:xfrm>
          <a:prstGeom prst="rect">
            <a:avLst>
              <a:gd name="adj" fmla="val 41667"/>
            </a:avLst>
          </a:prstGeom>
          <a:solidFill>
            <a:srgbClr val="28A745"/>
          </a:solidFill>
          <a:ln/>
        </p:spPr>
      </p:sp>
      <p:sp>
        <p:nvSpPr>
          <p:cNvPr id="25" name="Text 23"/>
          <p:cNvSpPr/>
          <p:nvPr/>
        </p:nvSpPr>
        <p:spPr>
          <a:xfrm>
            <a:off x="4937760" y="2788920"/>
            <a:ext cx="3474720" cy="548640"/>
          </a:xfrm>
          <a:prstGeom prst="rect">
            <a:avLst/>
          </a:prstGeom>
          <a:noFill/>
          <a:ln/>
        </p:spPr>
        <p:txBody>
          <a:bodyPr wrap="square" lIns="0" tIns="0" rIns="0" bIns="0" rtlCol="0" anchor="ctr"/>
          <a:lstStyle/>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軽症 → 手首の安静・サポーター</a:t>
            </a:r>
            <a:endParaRPr lang="en-US" sz="1400" dirty="0"/>
          </a:p>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進行 → 手術が必要な場合も</a:t>
            </a:r>
            <a:endParaRPr lang="en-US" sz="1400" dirty="0"/>
          </a:p>
        </p:txBody>
      </p:sp>
      <p:sp>
        <p:nvSpPr>
          <p:cNvPr id="26" name="Shape 24"/>
          <p:cNvSpPr/>
          <p:nvPr/>
        </p:nvSpPr>
        <p:spPr>
          <a:xfrm>
            <a:off x="0" y="4800600"/>
            <a:ext cx="9144000" cy="347472"/>
          </a:xfrm>
          <a:prstGeom prst="rect">
            <a:avLst/>
          </a:prstGeom>
          <a:solidFill>
            <a:srgbClr val="1B3A5C"/>
          </a:solidFill>
          <a:ln/>
        </p:spPr>
      </p:sp>
      <p:sp>
        <p:nvSpPr>
          <p:cNvPr id="27" name="Text 25"/>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肘部管症候群と胸郭出口症候群</a:t>
            </a:r>
            <a:endParaRPr lang="en-US" sz="2600" dirty="0"/>
          </a:p>
        </p:txBody>
      </p:sp>
      <p:sp>
        <p:nvSpPr>
          <p:cNvPr id="4" name="Shape 2"/>
          <p:cNvSpPr/>
          <p:nvPr/>
        </p:nvSpPr>
        <p:spPr>
          <a:xfrm>
            <a:off x="457200" y="1005840"/>
            <a:ext cx="8229600" cy="1463040"/>
          </a:xfrm>
          <a:prstGeom prst="rect">
            <a:avLst>
              <a:gd name="adj" fmla="val 6250"/>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1463040"/>
          </a:xfrm>
          <a:prstGeom prst="rect">
            <a:avLst>
              <a:gd name="adj" fmla="val 41667"/>
            </a:avLst>
          </a:prstGeom>
          <a:solidFill>
            <a:srgbClr val="7B2D8E"/>
          </a:solidFill>
          <a:ln/>
        </p:spPr>
      </p:sp>
      <p:sp>
        <p:nvSpPr>
          <p:cNvPr id="6" name="Text 4"/>
          <p:cNvSpPr/>
          <p:nvPr/>
        </p:nvSpPr>
        <p:spPr>
          <a:xfrm>
            <a:off x="640080" y="1051560"/>
            <a:ext cx="7772400" cy="365760"/>
          </a:xfrm>
          <a:prstGeom prst="rect">
            <a:avLst/>
          </a:prstGeom>
          <a:noFill/>
          <a:ln/>
        </p:spPr>
        <p:txBody>
          <a:bodyPr wrap="square" lIns="0" tIns="0" rIns="0" bIns="0" rtlCol="0" anchor="ctr"/>
          <a:lstStyle/>
          <a:p>
            <a:pPr indent="0" marL="0">
              <a:buNone/>
            </a:pPr>
            <a:r>
              <a:rPr lang="en-US" sz="1900" b="1" dirty="0">
                <a:solidFill>
                  <a:srgbClr val="7B2D8E"/>
                </a:solidFill>
                <a:latin typeface="BIZ UDPGothic" pitchFamily="34" charset="0"/>
                <a:ea typeface="BIZ UDPGothic" pitchFamily="34" charset="-122"/>
                <a:cs typeface="BIZ UDPGothic" pitchFamily="34" charset="-120"/>
              </a:rPr>
              <a:t>💪 肘部管症候群</a:t>
            </a:r>
            <a:endParaRPr lang="en-US" sz="1900" dirty="0"/>
          </a:p>
        </p:txBody>
      </p:sp>
      <p:sp>
        <p:nvSpPr>
          <p:cNvPr id="7" name="Text 5"/>
          <p:cNvSpPr/>
          <p:nvPr/>
        </p:nvSpPr>
        <p:spPr>
          <a:xfrm>
            <a:off x="640080" y="1417320"/>
            <a:ext cx="411480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肘の内側で尺骨神経が圧迫される</a:t>
            </a:r>
            <a:endParaRPr lang="en-US" sz="1500" dirty="0"/>
          </a:p>
        </p:txBody>
      </p:sp>
      <p:sp>
        <p:nvSpPr>
          <p:cNvPr id="8" name="Text 6"/>
          <p:cNvSpPr/>
          <p:nvPr/>
        </p:nvSpPr>
        <p:spPr>
          <a:xfrm>
            <a:off x="640080" y="1691640"/>
            <a:ext cx="411480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小指と薬指の小指側がしびれる</a:t>
            </a:r>
            <a:endParaRPr lang="en-US" sz="1500" dirty="0"/>
          </a:p>
        </p:txBody>
      </p:sp>
      <p:sp>
        <p:nvSpPr>
          <p:cNvPr id="9" name="Text 7"/>
          <p:cNvSpPr/>
          <p:nvPr/>
        </p:nvSpPr>
        <p:spPr>
          <a:xfrm>
            <a:off x="5029200" y="1417320"/>
            <a:ext cx="3474720" cy="457200"/>
          </a:xfrm>
          <a:prstGeom prst="rect">
            <a:avLst/>
          </a:prstGeom>
          <a:noFill/>
          <a:ln/>
        </p:spPr>
        <p:txBody>
          <a:bodyPr wrap="square" lIns="0" tIns="0" rIns="0" bIns="0" rtlCol="0" anchor="ctr"/>
          <a:lstStyle/>
          <a:p>
            <a:pPr indent="0" marL="0">
              <a:lnSpc>
                <a:spcPct val="115000"/>
              </a:lnSpc>
              <a:buNone/>
            </a:pPr>
            <a:r>
              <a:rPr lang="en-US" sz="1400" dirty="0">
                <a:solidFill>
                  <a:srgbClr val="636E72"/>
                </a:solidFill>
                <a:latin typeface="BIZ UDPGothic" pitchFamily="34" charset="0"/>
                <a:ea typeface="BIZ UDPGothic" pitchFamily="34" charset="-122"/>
                <a:cs typeface="BIZ UDPGothic" pitchFamily="34" charset="-120"/>
              </a:rPr>
              <a:t>悪化する姿勢：スマホを耳に当てる</a:t>
            </a:r>
            <a:endParaRPr lang="en-US" sz="1400" dirty="0"/>
          </a:p>
          <a:p>
            <a:pPr indent="0" marL="0">
              <a:lnSpc>
                <a:spcPct val="115000"/>
              </a:lnSpc>
              <a:buNone/>
            </a:pPr>
            <a:r>
              <a:rPr lang="en-US" sz="1400" dirty="0">
                <a:solidFill>
                  <a:srgbClr val="636E72"/>
                </a:solidFill>
                <a:latin typeface="BIZ UDPGothic" pitchFamily="34" charset="0"/>
                <a:ea typeface="BIZ UDPGothic" pitchFamily="34" charset="-122"/>
                <a:cs typeface="BIZ UDPGothic" pitchFamily="34" charset="-120"/>
              </a:rPr>
              <a:t>肘をついてスマホを見る</a:t>
            </a:r>
            <a:endParaRPr lang="en-US" sz="1400" dirty="0"/>
          </a:p>
        </p:txBody>
      </p:sp>
      <p:sp>
        <p:nvSpPr>
          <p:cNvPr id="10" name="Text 8"/>
          <p:cNvSpPr/>
          <p:nvPr/>
        </p:nvSpPr>
        <p:spPr>
          <a:xfrm>
            <a:off x="640080" y="2011680"/>
            <a:ext cx="7772400" cy="274320"/>
          </a:xfrm>
          <a:prstGeom prst="rect">
            <a:avLst/>
          </a:prstGeom>
          <a:noFill/>
          <a:ln/>
        </p:spPr>
        <p:txBody>
          <a:bodyPr wrap="square" lIns="0" tIns="0" rIns="0" bIns="0" rtlCol="0" anchor="ctr"/>
          <a:lstStyle/>
          <a:p>
            <a:pPr indent="0" marL="0">
              <a:buNone/>
            </a:pPr>
            <a:r>
              <a:rPr lang="en-US" sz="1400" dirty="0">
                <a:solidFill>
                  <a:srgbClr val="DC3545"/>
                </a:solidFill>
                <a:latin typeface="BIZ UDPGothic" pitchFamily="34" charset="0"/>
                <a:ea typeface="BIZ UDPGothic" pitchFamily="34" charset="-122"/>
                <a:cs typeface="BIZ UDPGothic" pitchFamily="34" charset="-120"/>
              </a:rPr>
              <a:t>⚠️ 進行すると手の筋肉がやせて箸が使いにくくなることも</a:t>
            </a:r>
            <a:endParaRPr lang="en-US" sz="1400" dirty="0"/>
          </a:p>
        </p:txBody>
      </p:sp>
      <p:sp>
        <p:nvSpPr>
          <p:cNvPr id="11" name="Shape 9"/>
          <p:cNvSpPr/>
          <p:nvPr/>
        </p:nvSpPr>
        <p:spPr>
          <a:xfrm>
            <a:off x="457200" y="2697480"/>
            <a:ext cx="8229600" cy="1463040"/>
          </a:xfrm>
          <a:prstGeom prst="rect">
            <a:avLst>
              <a:gd name="adj" fmla="val 6250"/>
            </a:avLst>
          </a:prstGeom>
          <a:solidFill>
            <a:srgbClr val="FFFFFF"/>
          </a:solidFill>
          <a:ln/>
          <a:effectLst>
            <a:outerShdw sx="100000" sy="100000" kx="0" ky="0" algn="bl" rotWithShape="0" blurRad="50800" dist="25400" dir="8100000">
              <a:srgbClr val="000000">
                <a:alpha val="12000"/>
              </a:srgbClr>
            </a:outerShdw>
          </a:effectLst>
        </p:spPr>
      </p:sp>
      <p:sp>
        <p:nvSpPr>
          <p:cNvPr id="12" name="Shape 10"/>
          <p:cNvSpPr/>
          <p:nvPr/>
        </p:nvSpPr>
        <p:spPr>
          <a:xfrm>
            <a:off x="457200" y="2697480"/>
            <a:ext cx="109728" cy="1463040"/>
          </a:xfrm>
          <a:prstGeom prst="rect">
            <a:avLst>
              <a:gd name="adj" fmla="val 41667"/>
            </a:avLst>
          </a:prstGeom>
          <a:solidFill>
            <a:srgbClr val="2C5AA0"/>
          </a:solidFill>
          <a:ln/>
        </p:spPr>
      </p:sp>
      <p:sp>
        <p:nvSpPr>
          <p:cNvPr id="13" name="Text 11"/>
          <p:cNvSpPr/>
          <p:nvPr/>
        </p:nvSpPr>
        <p:spPr>
          <a:xfrm>
            <a:off x="640080" y="2743200"/>
            <a:ext cx="7772400" cy="365760"/>
          </a:xfrm>
          <a:prstGeom prst="rect">
            <a:avLst/>
          </a:prstGeom>
          <a:noFill/>
          <a:ln/>
        </p:spPr>
        <p:txBody>
          <a:bodyPr wrap="square" lIns="0" tIns="0" rIns="0" bIns="0" rtlCol="0" anchor="ctr"/>
          <a:lstStyle/>
          <a:p>
            <a:pPr indent="0" marL="0">
              <a:buNone/>
            </a:pPr>
            <a:r>
              <a:rPr lang="en-US" sz="1900" b="1" dirty="0">
                <a:solidFill>
                  <a:srgbClr val="2C5AA0"/>
                </a:solidFill>
                <a:latin typeface="BIZ UDPGothic" pitchFamily="34" charset="0"/>
                <a:ea typeface="BIZ UDPGothic" pitchFamily="34" charset="-122"/>
                <a:cs typeface="BIZ UDPGothic" pitchFamily="34" charset="-120"/>
              </a:rPr>
              <a:t>🫁 胸郭出口症候群</a:t>
            </a:r>
            <a:endParaRPr lang="en-US" sz="1900" dirty="0"/>
          </a:p>
        </p:txBody>
      </p:sp>
      <p:sp>
        <p:nvSpPr>
          <p:cNvPr id="14" name="Text 12"/>
          <p:cNvSpPr/>
          <p:nvPr/>
        </p:nvSpPr>
        <p:spPr>
          <a:xfrm>
            <a:off x="640080" y="3108960"/>
            <a:ext cx="411480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首から腕に向かう神経・血管が鎖骨の周囲で圧迫される</a:t>
            </a:r>
            <a:endParaRPr lang="en-US" sz="1500" dirty="0"/>
          </a:p>
        </p:txBody>
      </p:sp>
      <p:sp>
        <p:nvSpPr>
          <p:cNvPr id="15" name="Text 13"/>
          <p:cNvSpPr/>
          <p:nvPr/>
        </p:nvSpPr>
        <p:spPr>
          <a:xfrm>
            <a:off x="640080" y="3383280"/>
            <a:ext cx="4114800" cy="27432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腕を上げると手がしびれる・冷たくなる</a:t>
            </a:r>
            <a:endParaRPr lang="en-US" sz="1500" dirty="0"/>
          </a:p>
        </p:txBody>
      </p:sp>
      <p:sp>
        <p:nvSpPr>
          <p:cNvPr id="16" name="Text 14"/>
          <p:cNvSpPr/>
          <p:nvPr/>
        </p:nvSpPr>
        <p:spPr>
          <a:xfrm>
            <a:off x="5029200" y="3108960"/>
            <a:ext cx="3474720" cy="457200"/>
          </a:xfrm>
          <a:prstGeom prst="rect">
            <a:avLst/>
          </a:prstGeom>
          <a:noFill/>
          <a:ln/>
        </p:spPr>
        <p:txBody>
          <a:bodyPr wrap="square" lIns="0" tIns="0" rIns="0" bIns="0" rtlCol="0" anchor="ctr"/>
          <a:lstStyle/>
          <a:p>
            <a:pPr indent="0" marL="0">
              <a:lnSpc>
                <a:spcPct val="115000"/>
              </a:lnSpc>
              <a:buNone/>
            </a:pPr>
            <a:r>
              <a:rPr lang="en-US" sz="1400" dirty="0">
                <a:solidFill>
                  <a:srgbClr val="636E72"/>
                </a:solidFill>
                <a:latin typeface="BIZ UDPGothic" pitchFamily="34" charset="0"/>
                <a:ea typeface="BIZ UDPGothic" pitchFamily="34" charset="-122"/>
                <a:cs typeface="BIZ UDPGothic" pitchFamily="34" charset="-120"/>
              </a:rPr>
              <a:t>なりやすい方：なで肩</a:t>
            </a:r>
            <a:endParaRPr lang="en-US" sz="1400" dirty="0"/>
          </a:p>
          <a:p>
            <a:pPr indent="0" marL="0">
              <a:lnSpc>
                <a:spcPct val="115000"/>
              </a:lnSpc>
              <a:buNone/>
            </a:pPr>
            <a:r>
              <a:rPr lang="en-US" sz="1400" dirty="0">
                <a:solidFill>
                  <a:srgbClr val="636E72"/>
                </a:solidFill>
                <a:latin typeface="BIZ UDPGothic" pitchFamily="34" charset="0"/>
                <a:ea typeface="BIZ UDPGothic" pitchFamily="34" charset="-122"/>
                <a:cs typeface="BIZ UDPGothic" pitchFamily="34" charset="-120"/>
              </a:rPr>
              <a:t>デスクワークで猫背の方</a:t>
            </a:r>
            <a:endParaRPr lang="en-US" sz="1400" dirty="0"/>
          </a:p>
        </p:txBody>
      </p:sp>
      <p:sp>
        <p:nvSpPr>
          <p:cNvPr id="17" name="Shape 15"/>
          <p:cNvSpPr/>
          <p:nvPr/>
        </p:nvSpPr>
        <p:spPr>
          <a:xfrm>
            <a:off x="0" y="4800600"/>
            <a:ext cx="9144000" cy="347472"/>
          </a:xfrm>
          <a:prstGeom prst="rect">
            <a:avLst/>
          </a:prstGeom>
          <a:solidFill>
            <a:srgbClr val="1B3A5C"/>
          </a:solidFill>
          <a:ln/>
        </p:spPr>
      </p:sp>
      <p:sp>
        <p:nvSpPr>
          <p:cNvPr id="18" name="Text 16"/>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整形外科？脳神経内科？ ― 受診先の選び方</a:t>
            </a:r>
            <a:endParaRPr lang="en-US" sz="2600" dirty="0"/>
          </a:p>
        </p:txBody>
      </p:sp>
      <p:sp>
        <p:nvSpPr>
          <p:cNvPr id="4" name="Shape 2"/>
          <p:cNvSpPr/>
          <p:nvPr/>
        </p:nvSpPr>
        <p:spPr>
          <a:xfrm>
            <a:off x="457200" y="1005840"/>
            <a:ext cx="3931920" cy="2286000"/>
          </a:xfrm>
          <a:prstGeom prst="rect">
            <a:avLst>
              <a:gd name="adj" fmla="val 4000"/>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2286000"/>
          </a:xfrm>
          <a:prstGeom prst="rect">
            <a:avLst>
              <a:gd name="adj" fmla="val 41667"/>
            </a:avLst>
          </a:prstGeom>
          <a:solidFill>
            <a:srgbClr val="E8850C"/>
          </a:solidFill>
          <a:ln/>
        </p:spPr>
      </p:sp>
      <p:sp>
        <p:nvSpPr>
          <p:cNvPr id="6" name="Text 4"/>
          <p:cNvSpPr/>
          <p:nvPr/>
        </p:nvSpPr>
        <p:spPr>
          <a:xfrm>
            <a:off x="640080" y="1051560"/>
            <a:ext cx="3474720" cy="365760"/>
          </a:xfrm>
          <a:prstGeom prst="rect">
            <a:avLst/>
          </a:prstGeom>
          <a:noFill/>
          <a:ln/>
        </p:spPr>
        <p:txBody>
          <a:bodyPr wrap="square" lIns="0" tIns="0" rIns="0" bIns="0" rtlCol="0" anchor="ctr"/>
          <a:lstStyle/>
          <a:p>
            <a:pPr indent="0" marL="0">
              <a:buNone/>
            </a:pPr>
            <a:r>
              <a:rPr lang="en-US" sz="2000" b="1" dirty="0">
                <a:solidFill>
                  <a:srgbClr val="E8850C"/>
                </a:solidFill>
                <a:latin typeface="BIZ UDPGothic" pitchFamily="34" charset="0"/>
                <a:ea typeface="BIZ UDPGothic" pitchFamily="34" charset="-122"/>
                <a:cs typeface="BIZ UDPGothic" pitchFamily="34" charset="-120"/>
              </a:rPr>
              <a:t>🏥 整形外科</a:t>
            </a:r>
            <a:endParaRPr lang="en-US" sz="2000" dirty="0"/>
          </a:p>
        </p:txBody>
      </p:sp>
      <p:sp>
        <p:nvSpPr>
          <p:cNvPr id="7" name="Text 5"/>
          <p:cNvSpPr/>
          <p:nvPr/>
        </p:nvSpPr>
        <p:spPr>
          <a:xfrm>
            <a:off x="640080" y="1508760"/>
            <a:ext cx="3474720" cy="45720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首を動かすと痛み・しびれが出る</a:t>
            </a:r>
            <a:endParaRPr lang="en-US" sz="1500" dirty="0"/>
          </a:p>
        </p:txBody>
      </p:sp>
      <p:sp>
        <p:nvSpPr>
          <p:cNvPr id="8" name="Text 6"/>
          <p:cNvSpPr/>
          <p:nvPr/>
        </p:nvSpPr>
        <p:spPr>
          <a:xfrm>
            <a:off x="640080" y="2057400"/>
            <a:ext cx="3474720" cy="45720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手首や肘の特定の動作で症状が出る</a:t>
            </a:r>
            <a:endParaRPr lang="en-US" sz="1500" dirty="0"/>
          </a:p>
        </p:txBody>
      </p:sp>
      <p:sp>
        <p:nvSpPr>
          <p:cNvPr id="9" name="Text 7"/>
          <p:cNvSpPr/>
          <p:nvPr/>
        </p:nvSpPr>
        <p:spPr>
          <a:xfrm>
            <a:off x="640080" y="2606040"/>
            <a:ext cx="3474720" cy="45720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首や手首に原因がありそう</a:t>
            </a:r>
            <a:endParaRPr lang="en-US" sz="1500" dirty="0"/>
          </a:p>
        </p:txBody>
      </p:sp>
      <p:sp>
        <p:nvSpPr>
          <p:cNvPr id="10" name="Shape 8"/>
          <p:cNvSpPr/>
          <p:nvPr/>
        </p:nvSpPr>
        <p:spPr>
          <a:xfrm>
            <a:off x="4754880" y="1005840"/>
            <a:ext cx="3931920" cy="2286000"/>
          </a:xfrm>
          <a:prstGeom prst="rect">
            <a:avLst>
              <a:gd name="adj" fmla="val 4000"/>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754880" y="1005840"/>
            <a:ext cx="109728" cy="2286000"/>
          </a:xfrm>
          <a:prstGeom prst="rect">
            <a:avLst>
              <a:gd name="adj" fmla="val 41667"/>
            </a:avLst>
          </a:prstGeom>
          <a:solidFill>
            <a:srgbClr val="2C5AA0"/>
          </a:solidFill>
          <a:ln/>
        </p:spPr>
      </p:sp>
      <p:sp>
        <p:nvSpPr>
          <p:cNvPr id="12" name="Text 10"/>
          <p:cNvSpPr/>
          <p:nvPr/>
        </p:nvSpPr>
        <p:spPr>
          <a:xfrm>
            <a:off x="4937760" y="1051560"/>
            <a:ext cx="3474720" cy="365760"/>
          </a:xfrm>
          <a:prstGeom prst="rect">
            <a:avLst/>
          </a:prstGeom>
          <a:noFill/>
          <a:ln/>
        </p:spPr>
        <p:txBody>
          <a:bodyPr wrap="square" lIns="0" tIns="0" rIns="0" bIns="0" rtlCol="0" anchor="ctr"/>
          <a:lstStyle/>
          <a:p>
            <a:pPr indent="0" marL="0">
              <a:buNone/>
            </a:pPr>
            <a:r>
              <a:rPr lang="en-US" sz="2000" b="1" dirty="0">
                <a:solidFill>
                  <a:srgbClr val="2C5AA0"/>
                </a:solidFill>
                <a:latin typeface="BIZ UDPGothic" pitchFamily="34" charset="0"/>
                <a:ea typeface="BIZ UDPGothic" pitchFamily="34" charset="-122"/>
                <a:cs typeface="BIZ UDPGothic" pitchFamily="34" charset="-120"/>
              </a:rPr>
              <a:t>🧠 脳神経内科</a:t>
            </a:r>
            <a:endParaRPr lang="en-US" sz="2000" dirty="0"/>
          </a:p>
        </p:txBody>
      </p:sp>
      <p:sp>
        <p:nvSpPr>
          <p:cNvPr id="13" name="Text 11"/>
          <p:cNvSpPr/>
          <p:nvPr/>
        </p:nvSpPr>
        <p:spPr>
          <a:xfrm>
            <a:off x="4937760" y="1508760"/>
            <a:ext cx="3474720" cy="45720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しびれの原因がはっきりしない</a:t>
            </a:r>
            <a:endParaRPr lang="en-US" sz="1500" dirty="0"/>
          </a:p>
        </p:txBody>
      </p:sp>
      <p:sp>
        <p:nvSpPr>
          <p:cNvPr id="14" name="Text 12"/>
          <p:cNvSpPr/>
          <p:nvPr/>
        </p:nvSpPr>
        <p:spPr>
          <a:xfrm>
            <a:off x="4937760" y="2057400"/>
            <a:ext cx="3474720" cy="45720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両手両足など広い範囲にしびれ</a:t>
            </a:r>
            <a:endParaRPr lang="en-US" sz="1500" dirty="0"/>
          </a:p>
        </p:txBody>
      </p:sp>
      <p:sp>
        <p:nvSpPr>
          <p:cNvPr id="15" name="Text 13"/>
          <p:cNvSpPr/>
          <p:nvPr/>
        </p:nvSpPr>
        <p:spPr>
          <a:xfrm>
            <a:off x="4937760" y="2606040"/>
            <a:ext cx="3474720" cy="457200"/>
          </a:xfrm>
          <a:prstGeom prst="rect">
            <a:avLst/>
          </a:prstGeom>
          <a:noFill/>
          <a:ln/>
        </p:spPr>
        <p:txBody>
          <a:bodyPr wrap="square" lIns="0" tIns="0" rIns="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 ろれつ困難・歩行障害を伴う</a:t>
            </a:r>
            <a:endParaRPr lang="en-US" sz="1500" dirty="0"/>
          </a:p>
        </p:txBody>
      </p:sp>
      <p:sp>
        <p:nvSpPr>
          <p:cNvPr id="16" name="Shape 14"/>
          <p:cNvSpPr/>
          <p:nvPr/>
        </p:nvSpPr>
        <p:spPr>
          <a:xfrm>
            <a:off x="457200" y="3520440"/>
            <a:ext cx="8229600" cy="548640"/>
          </a:xfrm>
          <a:prstGeom prst="rect">
            <a:avLst>
              <a:gd name="adj" fmla="val 16667"/>
            </a:avLst>
          </a:prstGeom>
          <a:solidFill>
            <a:srgbClr val="E8F4FD"/>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520440"/>
            <a:ext cx="109728" cy="548640"/>
          </a:xfrm>
          <a:prstGeom prst="rect">
            <a:avLst>
              <a:gd name="adj" fmla="val 41667"/>
            </a:avLst>
          </a:prstGeom>
          <a:solidFill>
            <a:srgbClr val="2C5AA0"/>
          </a:solidFill>
          <a:ln/>
        </p:spPr>
      </p:sp>
      <p:sp>
        <p:nvSpPr>
          <p:cNvPr id="18" name="Text 16"/>
          <p:cNvSpPr/>
          <p:nvPr/>
        </p:nvSpPr>
        <p:spPr>
          <a:xfrm>
            <a:off x="731520" y="3566160"/>
            <a:ext cx="7772400" cy="457200"/>
          </a:xfrm>
          <a:prstGeom prst="rect">
            <a:avLst/>
          </a:prstGeom>
          <a:noFill/>
          <a:ln/>
        </p:spPr>
        <p:txBody>
          <a:bodyPr wrap="square" lIns="0" tIns="0" rIns="0" bIns="0" rtlCol="0" anchor="ctr"/>
          <a:lstStyle/>
          <a:p>
            <a:pPr algn="ctr" indent="0" marL="0">
              <a:buNone/>
            </a:pPr>
            <a:r>
              <a:rPr lang="en-US" sz="1800" b="1" dirty="0">
                <a:solidFill>
                  <a:srgbClr val="2C5AA0"/>
                </a:solidFill>
                <a:latin typeface="BIZ UDPGothic" pitchFamily="34" charset="0"/>
                <a:ea typeface="BIZ UDPGothic" pitchFamily="34" charset="-122"/>
                <a:cs typeface="BIZ UDPGothic" pitchFamily="34" charset="-120"/>
              </a:rPr>
              <a:t>迷ったらまずどちらかを受診 → 適切な科に紹介してもらえます</a:t>
            </a:r>
            <a:endParaRPr lang="en-US" sz="18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C3545"/>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危険なサイン ― 単なるスマホ首ではない</a:t>
            </a:r>
            <a:endParaRPr lang="en-US" sz="2600" dirty="0"/>
          </a:p>
        </p:txBody>
      </p:sp>
      <p:sp>
        <p:nvSpPr>
          <p:cNvPr id="4" name="Shape 2"/>
          <p:cNvSpPr/>
          <p:nvPr/>
        </p:nvSpPr>
        <p:spPr>
          <a:xfrm>
            <a:off x="457200" y="1005840"/>
            <a:ext cx="8229600" cy="731520"/>
          </a:xfrm>
          <a:prstGeom prst="rect">
            <a:avLst>
              <a:gd name="adj" fmla="val 12500"/>
            </a:avLst>
          </a:prstGeom>
          <a:solidFill>
            <a:srgbClr val="F8D7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731520"/>
          </a:xfrm>
          <a:prstGeom prst="rect">
            <a:avLst>
              <a:gd name="adj" fmla="val 41667"/>
            </a:avLst>
          </a:prstGeom>
          <a:solidFill>
            <a:srgbClr val="DC3545"/>
          </a:solidFill>
          <a:ln/>
        </p:spPr>
      </p:sp>
      <p:sp>
        <p:nvSpPr>
          <p:cNvPr id="6" name="Text 4"/>
          <p:cNvSpPr/>
          <p:nvPr/>
        </p:nvSpPr>
        <p:spPr>
          <a:xfrm>
            <a:off x="731520" y="1097280"/>
            <a:ext cx="54864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7" name="Text 5"/>
          <p:cNvSpPr/>
          <p:nvPr/>
        </p:nvSpPr>
        <p:spPr>
          <a:xfrm>
            <a:off x="1371600" y="1051560"/>
            <a:ext cx="7040880" cy="640080"/>
          </a:xfrm>
          <a:prstGeom prst="rect">
            <a:avLst/>
          </a:prstGeom>
          <a:noFill/>
          <a:ln/>
        </p:spPr>
        <p:txBody>
          <a:bodyPr wrap="square" lIns="0" tIns="0" rIns="0" bIns="0" rtlCol="0" anchor="ctr"/>
          <a:lstStyle/>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突然の片側の手足のしびれ＋ろれつ困難</a:t>
            </a:r>
            <a:endParaRPr lang="en-US" sz="1700" dirty="0"/>
          </a:p>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（脳卒中の可能性 → 119番）</a:t>
            </a:r>
            <a:endParaRPr lang="en-US" sz="1700" dirty="0"/>
          </a:p>
        </p:txBody>
      </p:sp>
      <p:sp>
        <p:nvSpPr>
          <p:cNvPr id="8" name="Shape 6"/>
          <p:cNvSpPr/>
          <p:nvPr/>
        </p:nvSpPr>
        <p:spPr>
          <a:xfrm>
            <a:off x="457200" y="1874520"/>
            <a:ext cx="8229600" cy="731520"/>
          </a:xfrm>
          <a:prstGeom prst="rect">
            <a:avLst>
              <a:gd name="adj" fmla="val 12500"/>
            </a:avLst>
          </a:prstGeom>
          <a:solidFill>
            <a:srgbClr val="F8D7DA"/>
          </a:solidFill>
          <a:ln/>
          <a:effectLst>
            <a:outerShdw sx="100000" sy="100000" kx="0" ky="0" algn="bl" rotWithShape="0" blurRad="50800" dist="25400" dir="8100000">
              <a:srgbClr val="000000">
                <a:alpha val="12000"/>
              </a:srgbClr>
            </a:outerShdw>
          </a:effectLst>
        </p:spPr>
      </p:sp>
      <p:sp>
        <p:nvSpPr>
          <p:cNvPr id="9" name="Shape 7"/>
          <p:cNvSpPr/>
          <p:nvPr/>
        </p:nvSpPr>
        <p:spPr>
          <a:xfrm>
            <a:off x="457200" y="1874520"/>
            <a:ext cx="109728" cy="731520"/>
          </a:xfrm>
          <a:prstGeom prst="rect">
            <a:avLst>
              <a:gd name="adj" fmla="val 41667"/>
            </a:avLst>
          </a:prstGeom>
          <a:solidFill>
            <a:srgbClr val="DC3545"/>
          </a:solidFill>
          <a:ln/>
        </p:spPr>
      </p:sp>
      <p:sp>
        <p:nvSpPr>
          <p:cNvPr id="10" name="Text 8"/>
          <p:cNvSpPr/>
          <p:nvPr/>
        </p:nvSpPr>
        <p:spPr>
          <a:xfrm>
            <a:off x="731520" y="1965960"/>
            <a:ext cx="54864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1" name="Text 9"/>
          <p:cNvSpPr/>
          <p:nvPr/>
        </p:nvSpPr>
        <p:spPr>
          <a:xfrm>
            <a:off x="1371600" y="1920240"/>
            <a:ext cx="7040880" cy="640080"/>
          </a:xfrm>
          <a:prstGeom prst="rect">
            <a:avLst/>
          </a:prstGeom>
          <a:noFill/>
          <a:ln/>
        </p:spPr>
        <p:txBody>
          <a:bodyPr wrap="square" lIns="0" tIns="0" rIns="0" bIns="0" rtlCol="0" anchor="ctr"/>
          <a:lstStyle/>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両手がしびれてボタンがかけにくい・歩行ふらつき</a:t>
            </a:r>
            <a:endParaRPr lang="en-US" sz="1700" dirty="0"/>
          </a:p>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（頸椎症性脊髄症の可能性）</a:t>
            </a:r>
            <a:endParaRPr lang="en-US" sz="1700" dirty="0"/>
          </a:p>
        </p:txBody>
      </p:sp>
      <p:sp>
        <p:nvSpPr>
          <p:cNvPr id="12" name="Shape 10"/>
          <p:cNvSpPr/>
          <p:nvPr/>
        </p:nvSpPr>
        <p:spPr>
          <a:xfrm>
            <a:off x="457200" y="2743200"/>
            <a:ext cx="8229600" cy="731520"/>
          </a:xfrm>
          <a:prstGeom prst="rect">
            <a:avLst>
              <a:gd name="adj" fmla="val 12500"/>
            </a:avLst>
          </a:prstGeom>
          <a:solidFill>
            <a:srgbClr val="F8D7DA"/>
          </a:solidFill>
          <a:ln/>
          <a:effectLst>
            <a:outerShdw sx="100000" sy="100000" kx="0" ky="0" algn="bl" rotWithShape="0" blurRad="50800" dist="25400" dir="8100000">
              <a:srgbClr val="000000">
                <a:alpha val="12000"/>
              </a:srgbClr>
            </a:outerShdw>
          </a:effectLst>
        </p:spPr>
      </p:sp>
      <p:sp>
        <p:nvSpPr>
          <p:cNvPr id="13" name="Shape 11"/>
          <p:cNvSpPr/>
          <p:nvPr/>
        </p:nvSpPr>
        <p:spPr>
          <a:xfrm>
            <a:off x="457200" y="2743200"/>
            <a:ext cx="109728" cy="731520"/>
          </a:xfrm>
          <a:prstGeom prst="rect">
            <a:avLst>
              <a:gd name="adj" fmla="val 41667"/>
            </a:avLst>
          </a:prstGeom>
          <a:solidFill>
            <a:srgbClr val="DC3545"/>
          </a:solidFill>
          <a:ln/>
        </p:spPr>
      </p:sp>
      <p:sp>
        <p:nvSpPr>
          <p:cNvPr id="14" name="Text 12"/>
          <p:cNvSpPr/>
          <p:nvPr/>
        </p:nvSpPr>
        <p:spPr>
          <a:xfrm>
            <a:off x="731520" y="2834640"/>
            <a:ext cx="54864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5" name="Text 13"/>
          <p:cNvSpPr/>
          <p:nvPr/>
        </p:nvSpPr>
        <p:spPr>
          <a:xfrm>
            <a:off x="1371600" y="2788920"/>
            <a:ext cx="7040880" cy="640080"/>
          </a:xfrm>
          <a:prstGeom prst="rect">
            <a:avLst/>
          </a:prstGeom>
          <a:noFill/>
          <a:ln/>
        </p:spPr>
        <p:txBody>
          <a:bodyPr wrap="square" lIns="0" tIns="0" rIns="0" bIns="0" rtlCol="0" anchor="ctr"/>
          <a:lstStyle/>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手の筋肉がやせてきた</a:t>
            </a:r>
            <a:endParaRPr lang="en-US" sz="1700" dirty="0"/>
          </a:p>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（進行した神経圧迫・運動ニューロン疾患）</a:t>
            </a:r>
            <a:endParaRPr lang="en-US" sz="1700" dirty="0"/>
          </a:p>
        </p:txBody>
      </p:sp>
      <p:sp>
        <p:nvSpPr>
          <p:cNvPr id="16" name="Shape 14"/>
          <p:cNvSpPr/>
          <p:nvPr/>
        </p:nvSpPr>
        <p:spPr>
          <a:xfrm>
            <a:off x="457200" y="3611880"/>
            <a:ext cx="8229600" cy="731520"/>
          </a:xfrm>
          <a:prstGeom prst="rect">
            <a:avLst>
              <a:gd name="adj" fmla="val 12500"/>
            </a:avLst>
          </a:prstGeom>
          <a:solidFill>
            <a:srgbClr val="F8D7DA"/>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611880"/>
            <a:ext cx="109728" cy="731520"/>
          </a:xfrm>
          <a:prstGeom prst="rect">
            <a:avLst>
              <a:gd name="adj" fmla="val 41667"/>
            </a:avLst>
          </a:prstGeom>
          <a:solidFill>
            <a:srgbClr val="DC3545"/>
          </a:solidFill>
          <a:ln/>
        </p:spPr>
      </p:sp>
      <p:sp>
        <p:nvSpPr>
          <p:cNvPr id="18" name="Text 16"/>
          <p:cNvSpPr/>
          <p:nvPr/>
        </p:nvSpPr>
        <p:spPr>
          <a:xfrm>
            <a:off x="731520" y="3703320"/>
            <a:ext cx="54864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9" name="Text 17"/>
          <p:cNvSpPr/>
          <p:nvPr/>
        </p:nvSpPr>
        <p:spPr>
          <a:xfrm>
            <a:off x="1371600" y="3657600"/>
            <a:ext cx="7040880" cy="640080"/>
          </a:xfrm>
          <a:prstGeom prst="rect">
            <a:avLst/>
          </a:prstGeom>
          <a:noFill/>
          <a:ln/>
        </p:spPr>
        <p:txBody>
          <a:bodyPr wrap="square" lIns="0" tIns="0" rIns="0" bIns="0" rtlCol="0" anchor="ctr"/>
          <a:lstStyle/>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しびれが日に日に広がっている</a:t>
            </a:r>
            <a:endParaRPr lang="en-US" sz="1700" dirty="0"/>
          </a:p>
          <a:p>
            <a:pPr indent="0" marL="0">
              <a:lnSpc>
                <a:spcPct val="115000"/>
              </a:lnSpc>
              <a:buNone/>
            </a:pPr>
            <a:r>
              <a:rPr lang="en-US" sz="1700" dirty="0">
                <a:solidFill>
                  <a:srgbClr val="2D3436"/>
                </a:solidFill>
                <a:latin typeface="BIZ UDPGothic" pitchFamily="34" charset="0"/>
                <a:ea typeface="BIZ UDPGothic" pitchFamily="34" charset="-122"/>
                <a:cs typeface="BIZ UDPGothic" pitchFamily="34" charset="-120"/>
              </a:rPr>
              <a:t>（末梢神経障害・脊髄の病気の精査が必要）</a:t>
            </a:r>
            <a:endParaRPr lang="en-US" sz="1700" dirty="0"/>
          </a:p>
        </p:txBody>
      </p:sp>
      <p:sp>
        <p:nvSpPr>
          <p:cNvPr id="20" name="Shape 18"/>
          <p:cNvSpPr/>
          <p:nvPr/>
        </p:nvSpPr>
        <p:spPr>
          <a:xfrm>
            <a:off x="0" y="4800600"/>
            <a:ext cx="9144000" cy="347472"/>
          </a:xfrm>
          <a:prstGeom prst="rect">
            <a:avLst/>
          </a:prstGeom>
          <a:solidFill>
            <a:srgbClr val="1B3A5C"/>
          </a:solidFill>
          <a:ln/>
        </p:spPr>
      </p:sp>
      <p:sp>
        <p:nvSpPr>
          <p:cNvPr id="21" name="Text 19"/>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受診の目安 ― 緊急度3段階</a:t>
            </a:r>
            <a:endParaRPr lang="en-US" sz="2600" dirty="0"/>
          </a:p>
        </p:txBody>
      </p:sp>
      <p:sp>
        <p:nvSpPr>
          <p:cNvPr id="4" name="Shape 2"/>
          <p:cNvSpPr/>
          <p:nvPr/>
        </p:nvSpPr>
        <p:spPr>
          <a:xfrm>
            <a:off x="457200" y="1051560"/>
            <a:ext cx="8229600" cy="1005840"/>
          </a:xfrm>
          <a:prstGeom prst="rect">
            <a:avLst>
              <a:gd name="adj" fmla="val 9091"/>
            </a:avLst>
          </a:prstGeom>
          <a:solidFill>
            <a:srgbClr val="F8D7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1005840"/>
          </a:xfrm>
          <a:prstGeom prst="rect">
            <a:avLst>
              <a:gd name="adj" fmla="val 41667"/>
            </a:avLst>
          </a:prstGeom>
          <a:solidFill>
            <a:srgbClr val="DC3545"/>
          </a:solidFill>
          <a:ln/>
        </p:spPr>
      </p:sp>
      <p:sp>
        <p:nvSpPr>
          <p:cNvPr id="6" name="Text 4"/>
          <p:cNvSpPr/>
          <p:nvPr/>
        </p:nvSpPr>
        <p:spPr>
          <a:xfrm>
            <a:off x="731520" y="1097280"/>
            <a:ext cx="2743200" cy="411480"/>
          </a:xfrm>
          <a:prstGeom prst="rect">
            <a:avLst/>
          </a:prstGeom>
          <a:noFill/>
          <a:ln/>
        </p:spPr>
        <p:txBody>
          <a:bodyPr wrap="square" lIns="0" tIns="0" rIns="0" bIns="0" rtlCol="0" anchor="ctr"/>
          <a:lstStyle/>
          <a:p>
            <a:pPr indent="0" marL="0">
              <a:buNone/>
            </a:pPr>
            <a:r>
              <a:rPr lang="en-US" sz="2100" b="1" dirty="0">
                <a:solidFill>
                  <a:srgbClr val="DC3545"/>
                </a:solidFill>
                <a:latin typeface="BIZ UDPGothic" pitchFamily="34" charset="0"/>
                <a:ea typeface="BIZ UDPGothic" pitchFamily="34" charset="-122"/>
                <a:cs typeface="BIZ UDPGothic" pitchFamily="34" charset="-120"/>
              </a:rPr>
              <a:t>🔴 すぐ受診</a:t>
            </a:r>
            <a:endParaRPr lang="en-US" sz="2100" dirty="0"/>
          </a:p>
        </p:txBody>
      </p:sp>
      <p:sp>
        <p:nvSpPr>
          <p:cNvPr id="7" name="Text 5"/>
          <p:cNvSpPr/>
          <p:nvPr/>
        </p:nvSpPr>
        <p:spPr>
          <a:xfrm>
            <a:off x="731520" y="150876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しびれ＋ろれつ困難・顔面麻痺</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しびれ＋歩行障害</a:t>
            </a:r>
            <a:endParaRPr lang="en-US" sz="1500" dirty="0"/>
          </a:p>
        </p:txBody>
      </p:sp>
      <p:sp>
        <p:nvSpPr>
          <p:cNvPr id="8" name="Text 6"/>
          <p:cNvSpPr/>
          <p:nvPr/>
        </p:nvSpPr>
        <p:spPr>
          <a:xfrm>
            <a:off x="5486400" y="118872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DC3545"/>
                </a:solidFill>
                <a:latin typeface="BIZ UDPGothic" pitchFamily="34" charset="0"/>
                <a:ea typeface="BIZ UDPGothic" pitchFamily="34" charset="-122"/>
                <a:cs typeface="BIZ UDPGothic" pitchFamily="34" charset="-120"/>
              </a:rPr>
              <a:t>脳卒中の可能性</a:t>
            </a:r>
            <a:endParaRPr lang="en-US" sz="1600" dirty="0"/>
          </a:p>
          <a:p>
            <a:pPr indent="0" marL="0">
              <a:lnSpc>
                <a:spcPct val="115000"/>
              </a:lnSpc>
              <a:buNone/>
            </a:pPr>
            <a:r>
              <a:rPr lang="en-US" sz="1600" b="1" dirty="0">
                <a:solidFill>
                  <a:srgbClr val="DC3545"/>
                </a:solidFill>
                <a:latin typeface="BIZ UDPGothic" pitchFamily="34" charset="0"/>
                <a:ea typeface="BIZ UDPGothic" pitchFamily="34" charset="-122"/>
                <a:cs typeface="BIZ UDPGothic" pitchFamily="34" charset="-120"/>
              </a:rPr>
              <a:t>→119番</a:t>
            </a:r>
            <a:endParaRPr lang="en-US" sz="1600" dirty="0"/>
          </a:p>
        </p:txBody>
      </p:sp>
      <p:sp>
        <p:nvSpPr>
          <p:cNvPr id="9" name="Shape 7"/>
          <p:cNvSpPr/>
          <p:nvPr/>
        </p:nvSpPr>
        <p:spPr>
          <a:xfrm>
            <a:off x="457200" y="2240280"/>
            <a:ext cx="8229600" cy="1005840"/>
          </a:xfrm>
          <a:prstGeom prst="rect">
            <a:avLst>
              <a:gd name="adj" fmla="val 9091"/>
            </a:avLst>
          </a:prstGeom>
          <a:solidFill>
            <a:srgbClr val="FFF3CD"/>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40280"/>
            <a:ext cx="109728" cy="1005840"/>
          </a:xfrm>
          <a:prstGeom prst="rect">
            <a:avLst>
              <a:gd name="adj" fmla="val 41667"/>
            </a:avLst>
          </a:prstGeom>
          <a:solidFill>
            <a:srgbClr val="856404"/>
          </a:solidFill>
          <a:ln/>
        </p:spPr>
      </p:sp>
      <p:sp>
        <p:nvSpPr>
          <p:cNvPr id="11" name="Text 9"/>
          <p:cNvSpPr/>
          <p:nvPr/>
        </p:nvSpPr>
        <p:spPr>
          <a:xfrm>
            <a:off x="731520" y="2286000"/>
            <a:ext cx="2743200" cy="411480"/>
          </a:xfrm>
          <a:prstGeom prst="rect">
            <a:avLst/>
          </a:prstGeom>
          <a:noFill/>
          <a:ln/>
        </p:spPr>
        <p:txBody>
          <a:bodyPr wrap="square" lIns="0" tIns="0" rIns="0" bIns="0" rtlCol="0" anchor="ctr"/>
          <a:lstStyle/>
          <a:p>
            <a:pPr indent="0" marL="0">
              <a:buNone/>
            </a:pPr>
            <a:r>
              <a:rPr lang="en-US" sz="2100" b="1" dirty="0">
                <a:solidFill>
                  <a:srgbClr val="856404"/>
                </a:solidFill>
                <a:latin typeface="BIZ UDPGothic" pitchFamily="34" charset="0"/>
                <a:ea typeface="BIZ UDPGothic" pitchFamily="34" charset="-122"/>
                <a:cs typeface="BIZ UDPGothic" pitchFamily="34" charset="-120"/>
              </a:rPr>
              <a:t>🟡 早めに受診</a:t>
            </a:r>
            <a:endParaRPr lang="en-US" sz="2100" dirty="0"/>
          </a:p>
        </p:txBody>
      </p:sp>
      <p:sp>
        <p:nvSpPr>
          <p:cNvPr id="12" name="Text 10"/>
          <p:cNvSpPr/>
          <p:nvPr/>
        </p:nvSpPr>
        <p:spPr>
          <a:xfrm>
            <a:off x="731520" y="269748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しびれが2週間以上続く</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手の筋力低下・ボタンがかけにくい</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首を動かすたびに腕に強い痛み</a:t>
            </a:r>
            <a:endParaRPr lang="en-US" sz="1500" dirty="0"/>
          </a:p>
        </p:txBody>
      </p:sp>
      <p:sp>
        <p:nvSpPr>
          <p:cNvPr id="13" name="Text 11"/>
          <p:cNvSpPr/>
          <p:nvPr/>
        </p:nvSpPr>
        <p:spPr>
          <a:xfrm>
            <a:off x="5486400" y="237744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856404"/>
                </a:solidFill>
                <a:latin typeface="BIZ UDPGothic" pitchFamily="34" charset="0"/>
                <a:ea typeface="BIZ UDPGothic" pitchFamily="34" charset="-122"/>
                <a:cs typeface="BIZ UDPGothic" pitchFamily="34" charset="-120"/>
              </a:rPr>
              <a:t>整形外科・</a:t>
            </a:r>
            <a:endParaRPr lang="en-US" sz="1600" dirty="0"/>
          </a:p>
          <a:p>
            <a:pPr indent="0" marL="0">
              <a:lnSpc>
                <a:spcPct val="115000"/>
              </a:lnSpc>
              <a:buNone/>
            </a:pPr>
            <a:r>
              <a:rPr lang="en-US" sz="1600" b="1" dirty="0">
                <a:solidFill>
                  <a:srgbClr val="856404"/>
                </a:solidFill>
                <a:latin typeface="BIZ UDPGothic" pitchFamily="34" charset="0"/>
                <a:ea typeface="BIZ UDPGothic" pitchFamily="34" charset="-122"/>
                <a:cs typeface="BIZ UDPGothic" pitchFamily="34" charset="-120"/>
              </a:rPr>
              <a:t>脳神経内科を受診</a:t>
            </a:r>
            <a:endParaRPr lang="en-US" sz="1600" dirty="0"/>
          </a:p>
        </p:txBody>
      </p:sp>
      <p:sp>
        <p:nvSpPr>
          <p:cNvPr id="14" name="Shape 12"/>
          <p:cNvSpPr/>
          <p:nvPr/>
        </p:nvSpPr>
        <p:spPr>
          <a:xfrm>
            <a:off x="457200" y="3429000"/>
            <a:ext cx="8229600" cy="1005840"/>
          </a:xfrm>
          <a:prstGeom prst="rect">
            <a:avLst>
              <a:gd name="adj" fmla="val 9091"/>
            </a:avLst>
          </a:prstGeom>
          <a:solidFill>
            <a:srgbClr val="D4EDDA"/>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429000"/>
            <a:ext cx="109728" cy="1005840"/>
          </a:xfrm>
          <a:prstGeom prst="rect">
            <a:avLst>
              <a:gd name="adj" fmla="val 41667"/>
            </a:avLst>
          </a:prstGeom>
          <a:solidFill>
            <a:srgbClr val="28A745"/>
          </a:solidFill>
          <a:ln/>
        </p:spPr>
      </p:sp>
      <p:sp>
        <p:nvSpPr>
          <p:cNvPr id="16" name="Text 14"/>
          <p:cNvSpPr/>
          <p:nvPr/>
        </p:nvSpPr>
        <p:spPr>
          <a:xfrm>
            <a:off x="731520" y="3474720"/>
            <a:ext cx="2743200" cy="411480"/>
          </a:xfrm>
          <a:prstGeom prst="rect">
            <a:avLst/>
          </a:prstGeom>
          <a:noFill/>
          <a:ln/>
        </p:spPr>
        <p:txBody>
          <a:bodyPr wrap="square" lIns="0" tIns="0" rIns="0" bIns="0" rtlCol="0" anchor="ctr"/>
          <a:lstStyle/>
          <a:p>
            <a:pPr indent="0" marL="0">
              <a:buNone/>
            </a:pPr>
            <a:r>
              <a:rPr lang="en-US" sz="2100" b="1" dirty="0">
                <a:solidFill>
                  <a:srgbClr val="28A745"/>
                </a:solidFill>
                <a:latin typeface="BIZ UDPGothic" pitchFamily="34" charset="0"/>
                <a:ea typeface="BIZ UDPGothic" pitchFamily="34" charset="-122"/>
                <a:cs typeface="BIZ UDPGothic" pitchFamily="34" charset="-120"/>
              </a:rPr>
              <a:t>🟢 様子見OK</a:t>
            </a:r>
            <a:endParaRPr lang="en-US" sz="2100" dirty="0"/>
          </a:p>
        </p:txBody>
      </p:sp>
      <p:sp>
        <p:nvSpPr>
          <p:cNvPr id="17" name="Text 15"/>
          <p:cNvSpPr/>
          <p:nvPr/>
        </p:nvSpPr>
        <p:spPr>
          <a:xfrm>
            <a:off x="731520" y="388620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スマホ・PC使用後だけ一時的にしびれる</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姿勢を変えると改善する</a:t>
            </a:r>
            <a:endParaRPr lang="en-US" sz="1500" dirty="0"/>
          </a:p>
        </p:txBody>
      </p:sp>
      <p:sp>
        <p:nvSpPr>
          <p:cNvPr id="18" name="Text 16"/>
          <p:cNvSpPr/>
          <p:nvPr/>
        </p:nvSpPr>
        <p:spPr>
          <a:xfrm>
            <a:off x="5486400" y="356616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28A745"/>
                </a:solidFill>
                <a:latin typeface="BIZ UDPGothic" pitchFamily="34" charset="0"/>
                <a:ea typeface="BIZ UDPGothic" pitchFamily="34" charset="-122"/>
                <a:cs typeface="BIZ UDPGothic" pitchFamily="34" charset="-120"/>
              </a:rPr>
              <a:t>使用時間見直し</a:t>
            </a:r>
            <a:endParaRPr lang="en-US" sz="1600" dirty="0"/>
          </a:p>
          <a:p>
            <a:pPr indent="0" marL="0">
              <a:lnSpc>
                <a:spcPct val="115000"/>
              </a:lnSpc>
              <a:buNone/>
            </a:pPr>
            <a:r>
              <a:rPr lang="en-US" sz="1600" b="1" dirty="0">
                <a:solidFill>
                  <a:srgbClr val="28A745"/>
                </a:solidFill>
                <a:latin typeface="BIZ UDPGothic" pitchFamily="34" charset="0"/>
                <a:ea typeface="BIZ UDPGothic" pitchFamily="34" charset="-122"/>
                <a:cs typeface="BIZ UDPGothic" pitchFamily="34" charset="-120"/>
              </a:rPr>
              <a:t>ストレッチから</a:t>
            </a:r>
            <a:endParaRPr lang="en-US" sz="16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予防と対策 ― デジタルデバイスとの付き合い方</a:t>
            </a:r>
            <a:endParaRPr lang="en-US" sz="2600" dirty="0"/>
          </a:p>
        </p:txBody>
      </p:sp>
      <p:sp>
        <p:nvSpPr>
          <p:cNvPr id="4" name="Shape 2"/>
          <p:cNvSpPr/>
          <p:nvPr/>
        </p:nvSpPr>
        <p:spPr>
          <a:xfrm>
            <a:off x="457200" y="96012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960120"/>
            <a:ext cx="109728" cy="777240"/>
          </a:xfrm>
          <a:prstGeom prst="rect">
            <a:avLst>
              <a:gd name="adj" fmla="val 41667"/>
            </a:avLst>
          </a:prstGeom>
          <a:solidFill>
            <a:srgbClr val="2C5AA0"/>
          </a:solidFill>
          <a:ln/>
        </p:spPr>
      </p:sp>
      <p:sp>
        <p:nvSpPr>
          <p:cNvPr id="6" name="Text 4"/>
          <p:cNvSpPr/>
          <p:nvPr/>
        </p:nvSpPr>
        <p:spPr>
          <a:xfrm>
            <a:off x="640080" y="1005840"/>
            <a:ext cx="457200" cy="685800"/>
          </a:xfrm>
          <a:prstGeom prst="rect">
            <a:avLst/>
          </a:prstGeom>
          <a:noFill/>
          <a:ln/>
        </p:spPr>
        <p:txBody>
          <a:bodyPr wrap="square" lIns="0" tIns="0" rIns="0" bIns="0" rtlCol="0" anchor="ctr"/>
          <a:lstStyle/>
          <a:p>
            <a:pPr algn="ctr" indent="0" marL="0">
              <a:buNone/>
            </a:pPr>
            <a:r>
              <a:rPr lang="en-US" sz="3000" b="1" dirty="0">
                <a:solidFill>
                  <a:srgbClr val="2C5AA0"/>
                </a:solidFill>
                <a:latin typeface="Segoe UI" pitchFamily="34" charset="0"/>
                <a:ea typeface="Segoe UI" pitchFamily="34" charset="-122"/>
                <a:cs typeface="Segoe UI" pitchFamily="34" charset="-120"/>
              </a:rPr>
              <a:t>1</a:t>
            </a:r>
            <a:endParaRPr lang="en-US" sz="3000" dirty="0"/>
          </a:p>
        </p:txBody>
      </p:sp>
      <p:sp>
        <p:nvSpPr>
          <p:cNvPr id="7" name="Text 5"/>
          <p:cNvSpPr/>
          <p:nvPr/>
        </p:nvSpPr>
        <p:spPr>
          <a:xfrm>
            <a:off x="1188720" y="105156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8" name="Text 6"/>
          <p:cNvSpPr/>
          <p:nvPr/>
        </p:nvSpPr>
        <p:spPr>
          <a:xfrm>
            <a:off x="1828800" y="1005840"/>
            <a:ext cx="2743200" cy="32004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30分に1回は休憩</a:t>
            </a:r>
            <a:endParaRPr lang="en-US" sz="1800" dirty="0"/>
          </a:p>
        </p:txBody>
      </p:sp>
      <p:sp>
        <p:nvSpPr>
          <p:cNvPr id="9" name="Text 7"/>
          <p:cNvSpPr/>
          <p:nvPr/>
        </p:nvSpPr>
        <p:spPr>
          <a:xfrm>
            <a:off x="1828800" y="1344168"/>
            <a:ext cx="66751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連続使用は30分を目安に</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首や手首のストレッチを行う</a:t>
            </a:r>
            <a:endParaRPr lang="en-US" sz="1400" dirty="0"/>
          </a:p>
        </p:txBody>
      </p:sp>
      <p:sp>
        <p:nvSpPr>
          <p:cNvPr id="10" name="Shape 8"/>
          <p:cNvSpPr/>
          <p:nvPr/>
        </p:nvSpPr>
        <p:spPr>
          <a:xfrm>
            <a:off x="457200" y="187452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1874520"/>
            <a:ext cx="109728" cy="777240"/>
          </a:xfrm>
          <a:prstGeom prst="rect">
            <a:avLst>
              <a:gd name="adj" fmla="val 41667"/>
            </a:avLst>
          </a:prstGeom>
          <a:solidFill>
            <a:srgbClr val="2C5AA0"/>
          </a:solidFill>
          <a:ln/>
        </p:spPr>
      </p:sp>
      <p:sp>
        <p:nvSpPr>
          <p:cNvPr id="12" name="Text 10"/>
          <p:cNvSpPr/>
          <p:nvPr/>
        </p:nvSpPr>
        <p:spPr>
          <a:xfrm>
            <a:off x="640080" y="1920240"/>
            <a:ext cx="457200" cy="685800"/>
          </a:xfrm>
          <a:prstGeom prst="rect">
            <a:avLst/>
          </a:prstGeom>
          <a:noFill/>
          <a:ln/>
        </p:spPr>
        <p:txBody>
          <a:bodyPr wrap="square" lIns="0" tIns="0" rIns="0" bIns="0" rtlCol="0" anchor="ctr"/>
          <a:lstStyle/>
          <a:p>
            <a:pPr algn="ctr" indent="0" marL="0">
              <a:buNone/>
            </a:pPr>
            <a:r>
              <a:rPr lang="en-US" sz="3000" b="1" dirty="0">
                <a:solidFill>
                  <a:srgbClr val="2C5AA0"/>
                </a:solidFill>
                <a:latin typeface="Segoe UI" pitchFamily="34" charset="0"/>
                <a:ea typeface="Segoe UI" pitchFamily="34" charset="-122"/>
                <a:cs typeface="Segoe UI" pitchFamily="34" charset="-120"/>
              </a:rPr>
              <a:t>2</a:t>
            </a:r>
            <a:endParaRPr lang="en-US" sz="3000" dirty="0"/>
          </a:p>
        </p:txBody>
      </p:sp>
      <p:sp>
        <p:nvSpPr>
          <p:cNvPr id="13" name="Text 11"/>
          <p:cNvSpPr/>
          <p:nvPr/>
        </p:nvSpPr>
        <p:spPr>
          <a:xfrm>
            <a:off x="1188720" y="196596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1828800" y="1920240"/>
            <a:ext cx="2743200" cy="32004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スマホの位置を目の高さに</a:t>
            </a:r>
            <a:endParaRPr lang="en-US" sz="1800" dirty="0"/>
          </a:p>
        </p:txBody>
      </p:sp>
      <p:sp>
        <p:nvSpPr>
          <p:cNvPr id="15" name="Text 13"/>
          <p:cNvSpPr/>
          <p:nvPr/>
        </p:nvSpPr>
        <p:spPr>
          <a:xfrm>
            <a:off x="1828800" y="2258568"/>
            <a:ext cx="66751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下を向く角度が小さいほど</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首への負担は軽減される</a:t>
            </a:r>
            <a:endParaRPr lang="en-US" sz="1400" dirty="0"/>
          </a:p>
        </p:txBody>
      </p:sp>
      <p:sp>
        <p:nvSpPr>
          <p:cNvPr id="16" name="Shape 14"/>
          <p:cNvSpPr/>
          <p:nvPr/>
        </p:nvSpPr>
        <p:spPr>
          <a:xfrm>
            <a:off x="457200" y="278892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2788920"/>
            <a:ext cx="109728" cy="777240"/>
          </a:xfrm>
          <a:prstGeom prst="rect">
            <a:avLst>
              <a:gd name="adj" fmla="val 41667"/>
            </a:avLst>
          </a:prstGeom>
          <a:solidFill>
            <a:srgbClr val="2C5AA0"/>
          </a:solidFill>
          <a:ln/>
        </p:spPr>
      </p:sp>
      <p:sp>
        <p:nvSpPr>
          <p:cNvPr id="18" name="Text 16"/>
          <p:cNvSpPr/>
          <p:nvPr/>
        </p:nvSpPr>
        <p:spPr>
          <a:xfrm>
            <a:off x="640080" y="2834640"/>
            <a:ext cx="457200" cy="685800"/>
          </a:xfrm>
          <a:prstGeom prst="rect">
            <a:avLst/>
          </a:prstGeom>
          <a:noFill/>
          <a:ln/>
        </p:spPr>
        <p:txBody>
          <a:bodyPr wrap="square" lIns="0" tIns="0" rIns="0" bIns="0" rtlCol="0" anchor="ctr"/>
          <a:lstStyle/>
          <a:p>
            <a:pPr algn="ctr" indent="0" marL="0">
              <a:buNone/>
            </a:pPr>
            <a:r>
              <a:rPr lang="en-US" sz="3000" b="1" dirty="0">
                <a:solidFill>
                  <a:srgbClr val="2C5AA0"/>
                </a:solidFill>
                <a:latin typeface="Segoe UI" pitchFamily="34" charset="0"/>
                <a:ea typeface="Segoe UI" pitchFamily="34" charset="-122"/>
                <a:cs typeface="Segoe UI" pitchFamily="34" charset="-120"/>
              </a:rPr>
              <a:t>3</a:t>
            </a:r>
            <a:endParaRPr lang="en-US" sz="3000" dirty="0"/>
          </a:p>
        </p:txBody>
      </p:sp>
      <p:sp>
        <p:nvSpPr>
          <p:cNvPr id="19" name="Text 17"/>
          <p:cNvSpPr/>
          <p:nvPr/>
        </p:nvSpPr>
        <p:spPr>
          <a:xfrm>
            <a:off x="1188720" y="288036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0" name="Text 18"/>
          <p:cNvSpPr/>
          <p:nvPr/>
        </p:nvSpPr>
        <p:spPr>
          <a:xfrm>
            <a:off x="1828800" y="2834640"/>
            <a:ext cx="2743200" cy="32004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正しい姿勢でデスクワーク</a:t>
            </a:r>
            <a:endParaRPr lang="en-US" sz="1800" dirty="0"/>
          </a:p>
        </p:txBody>
      </p:sp>
      <p:sp>
        <p:nvSpPr>
          <p:cNvPr id="21" name="Text 19"/>
          <p:cNvSpPr/>
          <p:nvPr/>
        </p:nvSpPr>
        <p:spPr>
          <a:xfrm>
            <a:off x="1828800" y="3172968"/>
            <a:ext cx="66751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画面は目の高さ・肘は90°</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足は床につく姿勢が理想的</a:t>
            </a:r>
            <a:endParaRPr lang="en-US" sz="1400" dirty="0"/>
          </a:p>
        </p:txBody>
      </p:sp>
      <p:sp>
        <p:nvSpPr>
          <p:cNvPr id="22" name="Shape 20"/>
          <p:cNvSpPr/>
          <p:nvPr/>
        </p:nvSpPr>
        <p:spPr>
          <a:xfrm>
            <a:off x="457200" y="370332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23" name="Shape 21"/>
          <p:cNvSpPr/>
          <p:nvPr/>
        </p:nvSpPr>
        <p:spPr>
          <a:xfrm>
            <a:off x="457200" y="3703320"/>
            <a:ext cx="109728" cy="777240"/>
          </a:xfrm>
          <a:prstGeom prst="rect">
            <a:avLst>
              <a:gd name="adj" fmla="val 41667"/>
            </a:avLst>
          </a:prstGeom>
          <a:solidFill>
            <a:srgbClr val="2C5AA0"/>
          </a:solidFill>
          <a:ln/>
        </p:spPr>
      </p:sp>
      <p:sp>
        <p:nvSpPr>
          <p:cNvPr id="24" name="Text 22"/>
          <p:cNvSpPr/>
          <p:nvPr/>
        </p:nvSpPr>
        <p:spPr>
          <a:xfrm>
            <a:off x="640080" y="3749040"/>
            <a:ext cx="457200" cy="685800"/>
          </a:xfrm>
          <a:prstGeom prst="rect">
            <a:avLst/>
          </a:prstGeom>
          <a:noFill/>
          <a:ln/>
        </p:spPr>
        <p:txBody>
          <a:bodyPr wrap="square" lIns="0" tIns="0" rIns="0" bIns="0" rtlCol="0" anchor="ctr"/>
          <a:lstStyle/>
          <a:p>
            <a:pPr algn="ctr" indent="0" marL="0">
              <a:buNone/>
            </a:pPr>
            <a:r>
              <a:rPr lang="en-US" sz="3000" b="1" dirty="0">
                <a:solidFill>
                  <a:srgbClr val="2C5AA0"/>
                </a:solidFill>
                <a:latin typeface="Segoe UI" pitchFamily="34" charset="0"/>
                <a:ea typeface="Segoe UI" pitchFamily="34" charset="-122"/>
                <a:cs typeface="Segoe UI" pitchFamily="34" charset="-120"/>
              </a:rPr>
              <a:t>4</a:t>
            </a:r>
            <a:endParaRPr lang="en-US" sz="3000" dirty="0"/>
          </a:p>
        </p:txBody>
      </p:sp>
      <p:sp>
        <p:nvSpPr>
          <p:cNvPr id="25" name="Text 23"/>
          <p:cNvSpPr/>
          <p:nvPr/>
        </p:nvSpPr>
        <p:spPr>
          <a:xfrm>
            <a:off x="1188720" y="3794760"/>
            <a:ext cx="54864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6" name="Text 24"/>
          <p:cNvSpPr/>
          <p:nvPr/>
        </p:nvSpPr>
        <p:spPr>
          <a:xfrm>
            <a:off x="1828800" y="3749040"/>
            <a:ext cx="2743200" cy="32004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首と手首のストレッチ</a:t>
            </a:r>
            <a:endParaRPr lang="en-US" sz="1800" dirty="0"/>
          </a:p>
        </p:txBody>
      </p:sp>
      <p:sp>
        <p:nvSpPr>
          <p:cNvPr id="27" name="Text 25"/>
          <p:cNvSpPr/>
          <p:nvPr/>
        </p:nvSpPr>
        <p:spPr>
          <a:xfrm>
            <a:off x="1828800" y="4087368"/>
            <a:ext cx="6675120" cy="36576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首をゆっくり左右に傾ける</a:t>
            </a:r>
            <a:endParaRPr lang="en-US" sz="1400" dirty="0"/>
          </a:p>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手首を回す・指を開閉する</a:t>
            </a:r>
            <a:endParaRPr lang="en-US" sz="1400" dirty="0"/>
          </a:p>
        </p:txBody>
      </p:sp>
      <p:sp>
        <p:nvSpPr>
          <p:cNvPr id="28" name="Shape 26"/>
          <p:cNvSpPr/>
          <p:nvPr/>
        </p:nvSpPr>
        <p:spPr>
          <a:xfrm>
            <a:off x="0" y="4800600"/>
            <a:ext cx="9144000" cy="347472"/>
          </a:xfrm>
          <a:prstGeom prst="rect">
            <a:avLst/>
          </a:prstGeom>
          <a:solidFill>
            <a:srgbClr val="1B3A5C"/>
          </a:solidFill>
          <a:ln/>
        </p:spPr>
      </p:sp>
      <p:sp>
        <p:nvSpPr>
          <p:cNvPr id="29" name="Text 27"/>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まとめ ― デジタル時代の神経を守る</a:t>
            </a:r>
            <a:endParaRPr lang="en-US" sz="2600" dirty="0"/>
          </a:p>
        </p:txBody>
      </p:sp>
      <p:sp>
        <p:nvSpPr>
          <p:cNvPr id="4" name="Shape 2"/>
          <p:cNvSpPr/>
          <p:nvPr/>
        </p:nvSpPr>
        <p:spPr>
          <a:xfrm>
            <a:off x="457200" y="105156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1005840"/>
          </a:xfrm>
          <a:prstGeom prst="rect">
            <a:avLst>
              <a:gd name="adj" fmla="val 41667"/>
            </a:avLst>
          </a:prstGeom>
          <a:solidFill>
            <a:srgbClr val="2C5AA0"/>
          </a:solidFill>
          <a:ln/>
        </p:spPr>
      </p:sp>
      <p:sp>
        <p:nvSpPr>
          <p:cNvPr id="6" name="Text 4"/>
          <p:cNvSpPr/>
          <p:nvPr/>
        </p:nvSpPr>
        <p:spPr>
          <a:xfrm>
            <a:off x="640080" y="114300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1</a:t>
            </a:r>
            <a:endParaRPr lang="en-US" sz="3600" dirty="0"/>
          </a:p>
        </p:txBody>
      </p:sp>
      <p:sp>
        <p:nvSpPr>
          <p:cNvPr id="7" name="Text 5"/>
          <p:cNvSpPr/>
          <p:nvPr/>
        </p:nvSpPr>
        <p:spPr>
          <a:xfrm>
            <a:off x="1371600" y="109728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スマホ首は首に</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最大27kgの負荷</a:t>
            </a:r>
            <a:endParaRPr lang="en-US" sz="1900" dirty="0"/>
          </a:p>
        </p:txBody>
      </p:sp>
      <p:sp>
        <p:nvSpPr>
          <p:cNvPr id="8" name="Text 6"/>
          <p:cNvSpPr/>
          <p:nvPr/>
        </p:nvSpPr>
        <p:spPr>
          <a:xfrm>
            <a:off x="5029200" y="114300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頸椎症性神経根症・手根管症候群</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肘部管症候群などの原因に</a:t>
            </a:r>
            <a:endParaRPr lang="en-US" sz="1500" dirty="0"/>
          </a:p>
        </p:txBody>
      </p:sp>
      <p:sp>
        <p:nvSpPr>
          <p:cNvPr id="9" name="Shape 7"/>
          <p:cNvSpPr/>
          <p:nvPr/>
        </p:nvSpPr>
        <p:spPr>
          <a:xfrm>
            <a:off x="457200" y="224028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40280"/>
            <a:ext cx="109728" cy="1005840"/>
          </a:xfrm>
          <a:prstGeom prst="rect">
            <a:avLst>
              <a:gd name="adj" fmla="val 41667"/>
            </a:avLst>
          </a:prstGeom>
          <a:solidFill>
            <a:srgbClr val="2C5AA0"/>
          </a:solidFill>
          <a:ln/>
        </p:spPr>
      </p:sp>
      <p:sp>
        <p:nvSpPr>
          <p:cNvPr id="11" name="Text 9"/>
          <p:cNvSpPr/>
          <p:nvPr/>
        </p:nvSpPr>
        <p:spPr>
          <a:xfrm>
            <a:off x="640080" y="233172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2</a:t>
            </a:r>
            <a:endParaRPr lang="en-US" sz="3600" dirty="0"/>
          </a:p>
        </p:txBody>
      </p:sp>
      <p:sp>
        <p:nvSpPr>
          <p:cNvPr id="12" name="Text 10"/>
          <p:cNvSpPr/>
          <p:nvPr/>
        </p:nvSpPr>
        <p:spPr>
          <a:xfrm>
            <a:off x="1371600" y="228600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30分に1回の休憩と</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ストレッチが最大の予防</a:t>
            </a:r>
            <a:endParaRPr lang="en-US" sz="1900" dirty="0"/>
          </a:p>
        </p:txBody>
      </p:sp>
      <p:sp>
        <p:nvSpPr>
          <p:cNvPr id="13" name="Text 11"/>
          <p:cNvSpPr/>
          <p:nvPr/>
        </p:nvSpPr>
        <p:spPr>
          <a:xfrm>
            <a:off x="5029200" y="233172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スマホの位置を高く</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正しい姿勢を心がける</a:t>
            </a:r>
            <a:endParaRPr lang="en-US" sz="1500" dirty="0"/>
          </a:p>
        </p:txBody>
      </p:sp>
      <p:sp>
        <p:nvSpPr>
          <p:cNvPr id="14" name="Shape 12"/>
          <p:cNvSpPr/>
          <p:nvPr/>
        </p:nvSpPr>
        <p:spPr>
          <a:xfrm>
            <a:off x="457200" y="342900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429000"/>
            <a:ext cx="109728" cy="1005840"/>
          </a:xfrm>
          <a:prstGeom prst="rect">
            <a:avLst>
              <a:gd name="adj" fmla="val 41667"/>
            </a:avLst>
          </a:prstGeom>
          <a:solidFill>
            <a:srgbClr val="2C5AA0"/>
          </a:solidFill>
          <a:ln/>
        </p:spPr>
      </p:sp>
      <p:sp>
        <p:nvSpPr>
          <p:cNvPr id="16" name="Text 14"/>
          <p:cNvSpPr/>
          <p:nvPr/>
        </p:nvSpPr>
        <p:spPr>
          <a:xfrm>
            <a:off x="640080" y="352044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3</a:t>
            </a:r>
            <a:endParaRPr lang="en-US" sz="3600" dirty="0"/>
          </a:p>
        </p:txBody>
      </p:sp>
      <p:sp>
        <p:nvSpPr>
          <p:cNvPr id="17" name="Text 15"/>
          <p:cNvSpPr/>
          <p:nvPr/>
        </p:nvSpPr>
        <p:spPr>
          <a:xfrm>
            <a:off x="1371600" y="347472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2週間以上のしびれや</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筋力低下は受診を</a:t>
            </a:r>
            <a:endParaRPr lang="en-US" sz="1900" dirty="0"/>
          </a:p>
        </p:txBody>
      </p:sp>
      <p:sp>
        <p:nvSpPr>
          <p:cNvPr id="18" name="Text 16"/>
          <p:cNvSpPr/>
          <p:nvPr/>
        </p:nvSpPr>
        <p:spPr>
          <a:xfrm>
            <a:off x="5029200" y="352044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整形外科・脳神経内科で</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原因を特定し適切な治療へ</a:t>
            </a:r>
            <a:endParaRPr lang="en-US" sz="15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850C"/>
          </a:solidFill>
          <a:ln/>
        </p:spPr>
      </p:sp>
      <p:sp>
        <p:nvSpPr>
          <p:cNvPr id="3" name="Shape 1"/>
          <p:cNvSpPr/>
          <p:nvPr/>
        </p:nvSpPr>
        <p:spPr>
          <a:xfrm>
            <a:off x="0" y="5088636"/>
            <a:ext cx="9144000" cy="54864"/>
          </a:xfrm>
          <a:prstGeom prst="rect">
            <a:avLst/>
          </a:prstGeom>
          <a:solidFill>
            <a:srgbClr val="E8850C"/>
          </a:solidFill>
          <a:ln/>
        </p:spPr>
      </p:sp>
      <p:sp>
        <p:nvSpPr>
          <p:cNvPr id="4" name="Text 2"/>
          <p:cNvSpPr/>
          <p:nvPr/>
        </p:nvSpPr>
        <p:spPr>
          <a:xfrm>
            <a:off x="548640" y="548640"/>
            <a:ext cx="80467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BIZ UDPGothic" pitchFamily="34" charset="0"/>
                <a:ea typeface="BIZ UDPGothic" pitchFamily="34" charset="-122"/>
                <a:cs typeface="BIZ UDPGothic" pitchFamily="34" charset="-120"/>
              </a:rPr>
              <a:t>ご視聴ありがとうございました</a:t>
            </a:r>
            <a:endParaRPr lang="en-US" sz="3000" dirty="0"/>
          </a:p>
        </p:txBody>
      </p:sp>
      <p:sp>
        <p:nvSpPr>
          <p:cNvPr id="5" name="Shape 3"/>
          <p:cNvSpPr/>
          <p:nvPr/>
        </p:nvSpPr>
        <p:spPr>
          <a:xfrm>
            <a:off x="2286000" y="1371600"/>
            <a:ext cx="4572000" cy="0"/>
          </a:xfrm>
          <a:prstGeom prst="line">
            <a:avLst/>
          </a:prstGeom>
          <a:noFill/>
          <a:ln w="25400">
            <a:solidFill>
              <a:srgbClr val="E8850C"/>
            </a:solidFill>
            <a:prstDash val="solid"/>
          </a:ln>
        </p:spPr>
      </p:sp>
      <p:sp>
        <p:nvSpPr>
          <p:cNvPr id="6" name="Text 4"/>
          <p:cNvSpPr/>
          <p:nvPr/>
        </p:nvSpPr>
        <p:spPr>
          <a:xfrm>
            <a:off x="548640" y="1554480"/>
            <a:ext cx="8046720" cy="365760"/>
          </a:xfrm>
          <a:prstGeom prst="rect">
            <a:avLst/>
          </a:prstGeom>
          <a:noFill/>
          <a:ln/>
        </p:spPr>
        <p:txBody>
          <a:bodyPr wrap="square" lIns="0" tIns="0" rIns="0" bIns="0" rtlCol="0" anchor="ctr"/>
          <a:lstStyle/>
          <a:p>
            <a:pPr algn="ctr" indent="0" marL="0">
              <a:buNone/>
            </a:pPr>
            <a:r>
              <a:rPr lang="en-US" sz="1800" dirty="0">
                <a:solidFill>
                  <a:srgbClr val="E8850C"/>
                </a:solidFill>
                <a:latin typeface="BIZ UDPGothic" pitchFamily="34" charset="0"/>
                <a:ea typeface="BIZ UDPGothic" pitchFamily="34" charset="-122"/>
                <a:cs typeface="BIZ UDPGothic" pitchFamily="34" charset="-120"/>
              </a:rPr>
              <a:t>チャンネル登録・高評価よろしくお願いします！</a:t>
            </a:r>
            <a:endParaRPr lang="en-US" sz="1800" dirty="0"/>
          </a:p>
        </p:txBody>
      </p:sp>
      <p:sp>
        <p:nvSpPr>
          <p:cNvPr id="7" name="Text 5"/>
          <p:cNvSpPr/>
          <p:nvPr/>
        </p:nvSpPr>
        <p:spPr>
          <a:xfrm>
            <a:off x="1371600" y="2286000"/>
            <a:ext cx="6400800" cy="365760"/>
          </a:xfrm>
          <a:prstGeom prst="rect">
            <a:avLst/>
          </a:prstGeom>
          <a:noFill/>
          <a:ln/>
        </p:spPr>
        <p:txBody>
          <a:bodyPr wrap="square" lIns="0" tIns="0" rIns="0" bIns="0" rtlCol="0" anchor="ctr"/>
          <a:lstStyle/>
          <a:p>
            <a:pPr indent="0" marL="0">
              <a:buNone/>
            </a:pPr>
            <a:r>
              <a:rPr lang="en-US" sz="1600" dirty="0">
                <a:solidFill>
                  <a:srgbClr val="B0BEC5"/>
                </a:solidFill>
                <a:latin typeface="BIZ UDPGothic" pitchFamily="34" charset="0"/>
                <a:ea typeface="BIZ UDPGothic" pitchFamily="34" charset="-122"/>
                <a:cs typeface="BIZ UDPGothic" pitchFamily="34" charset="-120"/>
              </a:rPr>
              <a:t>🔗 ブログ記事で詳しく読む（概要欄にリンク）</a:t>
            </a:r>
            <a:endParaRPr lang="en-US" sz="1600" dirty="0"/>
          </a:p>
        </p:txBody>
      </p:sp>
      <p:sp>
        <p:nvSpPr>
          <p:cNvPr id="8" name="Text 6"/>
          <p:cNvSpPr/>
          <p:nvPr/>
        </p:nvSpPr>
        <p:spPr>
          <a:xfrm>
            <a:off x="548640" y="3017520"/>
            <a:ext cx="8046720" cy="365760"/>
          </a:xfrm>
          <a:prstGeom prst="rect">
            <a:avLst/>
          </a:prstGeom>
          <a:noFill/>
          <a:ln/>
        </p:spPr>
        <p:txBody>
          <a:bodyPr wrap="square" lIns="0" tIns="0" rIns="0" bIns="0" rtlCol="0" anchor="ctr"/>
          <a:lstStyle/>
          <a:p>
            <a:pPr algn="ctr" indent="0" marL="0">
              <a:buNone/>
            </a:pPr>
            <a:r>
              <a:rPr lang="en-US" sz="1400" b="1" dirty="0">
                <a:solidFill>
                  <a:srgbClr val="E8850C"/>
                </a:solidFill>
                <a:latin typeface="BIZ UDPGothic" pitchFamily="34" charset="0"/>
                <a:ea typeface="BIZ UDPGothic" pitchFamily="34" charset="-122"/>
                <a:cs typeface="BIZ UDPGothic" pitchFamily="34" charset="-120"/>
              </a:rPr>
              <a:t>次回予告</a:t>
            </a:r>
            <a:endParaRPr lang="en-US" sz="1400" dirty="0"/>
          </a:p>
        </p:txBody>
      </p:sp>
      <p:sp>
        <p:nvSpPr>
          <p:cNvPr id="9" name="Text 7"/>
          <p:cNvSpPr/>
          <p:nvPr/>
        </p:nvSpPr>
        <p:spPr>
          <a:xfrm>
            <a:off x="548640" y="3383280"/>
            <a:ext cx="8046720" cy="365760"/>
          </a:xfrm>
          <a:prstGeom prst="rect">
            <a:avLst/>
          </a:prstGeom>
          <a:noFill/>
          <a:ln/>
        </p:spPr>
        <p:txBody>
          <a:bodyPr wrap="square" lIns="0" tIns="0" rIns="0" bIns="0" rtlCol="0" anchor="ctr"/>
          <a:lstStyle/>
          <a:p>
            <a:pPr algn="ctr" indent="0" marL="0">
              <a:buNone/>
            </a:pPr>
            <a:r>
              <a:rPr lang="en-US" sz="1700" dirty="0">
                <a:solidFill>
                  <a:srgbClr val="90A4AE"/>
                </a:solidFill>
                <a:latin typeface="BIZ UDPGothic" pitchFamily="34" charset="0"/>
                <a:ea typeface="BIZ UDPGothic" pitchFamily="34" charset="-122"/>
                <a:cs typeface="BIZ UDPGothic" pitchFamily="34" charset="-120"/>
              </a:rPr>
              <a:t>#17 その首の痛み、実は神経が原因？ ― 整形外科と脳神経内科の境界線</a:t>
            </a:r>
            <a:endParaRPr lang="en-US" sz="1700" dirty="0"/>
          </a:p>
        </p:txBody>
      </p:sp>
      <p:sp>
        <p:nvSpPr>
          <p:cNvPr id="10" name="Text 8"/>
          <p:cNvSpPr/>
          <p:nvPr/>
        </p:nvSpPr>
        <p:spPr>
          <a:xfrm>
            <a:off x="548640" y="4389120"/>
            <a:ext cx="8046720" cy="365760"/>
          </a:xfrm>
          <a:prstGeom prst="rect">
            <a:avLst/>
          </a:prstGeom>
          <a:noFill/>
          <a:ln/>
        </p:spPr>
        <p:txBody>
          <a:bodyPr wrap="square" lIns="0" tIns="0" rIns="0" bIns="0" rtlCol="0" anchor="ctr"/>
          <a:lstStyle/>
          <a:p>
            <a:pPr algn="ctr" indent="0" marL="0">
              <a:buNone/>
            </a:pPr>
            <a:r>
              <a:rPr lang="en-US" sz="1400" dirty="0">
                <a:solidFill>
                  <a:srgbClr val="78909C"/>
                </a:solidFill>
                <a:latin typeface="BIZ UDPGothic" pitchFamily="34" charset="0"/>
                <a:ea typeface="BIZ UDPGothic" pitchFamily="34" charset="-122"/>
                <a:cs typeface="BIZ UDPGothic" pitchFamily="34" charset="-120"/>
              </a:rPr>
              <a:t>医知創造ラボ</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【その症状、大丈夫？#16】スマホの使いすぎで手がしびれる？ ― デジタル時代の神経トラブル</dc:title>
  <dc:subject>PptxGenJS Presentation</dc:subject>
  <dc:creator>今村久司</dc:creator>
  <cp:lastModifiedBy>今村久司</cp:lastModifiedBy>
  <cp:revision>1</cp:revision>
  <dcterms:created xsi:type="dcterms:W3CDTF">2026-04-14T01:14:26Z</dcterms:created>
  <dcterms:modified xsi:type="dcterms:W3CDTF">2026-04-14T01:14:26Z</dcterms:modified>
</cp:coreProperties>
</file>