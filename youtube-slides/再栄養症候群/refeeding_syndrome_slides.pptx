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5CF42E-FA12-4E18-B174-F3A6F9C3E36B}" v="22" dt="2026-03-24T10:20:12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8" d="100"/>
          <a:sy n="198" d="100"/>
        </p:scale>
        <p:origin x="648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17FB10CB-4D7A-4D51-827D-8C222DDB014F}"/>
    <pc:docChg chg="undo custSel modSld">
      <pc:chgData name="久司 今村" userId="1c5d66dd010fbc96" providerId="LiveId" clId="{17FB10CB-4D7A-4D51-827D-8C222DDB014F}" dt="2026-03-24T10:20:12.915" v="63"/>
      <pc:docMkLst>
        <pc:docMk/>
      </pc:docMkLst>
      <pc:sldChg chg="modSp mod">
        <pc:chgData name="久司 今村" userId="1c5d66dd010fbc96" providerId="LiveId" clId="{17FB10CB-4D7A-4D51-827D-8C222DDB014F}" dt="2026-03-24T10:19:09.536" v="37" actId="1076"/>
        <pc:sldMkLst>
          <pc:docMk/>
          <pc:sldMk cId="0" sldId="258"/>
        </pc:sldMkLst>
        <pc:spChg chg="mod">
          <ac:chgData name="久司 今村" userId="1c5d66dd010fbc96" providerId="LiveId" clId="{17FB10CB-4D7A-4D51-827D-8C222DDB014F}" dt="2026-03-24T10:18:06.625" v="1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久司 今村" userId="1c5d66dd010fbc96" providerId="LiveId" clId="{17FB10CB-4D7A-4D51-827D-8C222DDB014F}" dt="2026-03-24T10:19:09.536" v="37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久司 今村" userId="1c5d66dd010fbc96" providerId="LiveId" clId="{17FB10CB-4D7A-4D51-827D-8C222DDB014F}" dt="2026-03-24T10:19:01.430" v="35" actId="255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久司 今村" userId="1c5d66dd010fbc96" providerId="LiveId" clId="{17FB10CB-4D7A-4D51-827D-8C222DDB014F}" dt="2026-03-24T10:20:12.915" v="63"/>
        <pc:sldMkLst>
          <pc:docMk/>
          <pc:sldMk cId="0" sldId="261"/>
        </pc:sldMkLst>
        <pc:spChg chg="mod">
          <ac:chgData name="久司 今村" userId="1c5d66dd010fbc96" providerId="LiveId" clId="{17FB10CB-4D7A-4D51-827D-8C222DDB014F}" dt="2026-03-24T10:19:27.994" v="39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久司 今村" userId="1c5d66dd010fbc96" providerId="LiveId" clId="{17FB10CB-4D7A-4D51-827D-8C222DDB014F}" dt="2026-03-24T10:20:12.915" v="63"/>
          <ac:spMkLst>
            <pc:docMk/>
            <pc:sldMk cId="0" sldId="261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85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低栄養患者に「どんどん栄養を入れる」のは正しいか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0" y="24688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再栄養症候群と急性期栄養管理の考え方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必要カロリーは「初日投与量」ではなく「安全に到達すべき目標量」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よくある疑問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低栄養の患者に、計算上の必要カロリーを最初から入れたほうが早く良くなるのでは？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7680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137160" cy="201168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188720" y="30175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答え：必ずしもそうではない</a:t>
            </a:r>
            <a:endParaRPr lang="en-US" sz="2600" dirty="0"/>
          </a:p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急速な栄養投与は再栄養症候群や過栄養を招き、かえって有害になることがある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必要カロリーの正しい考え方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誤った考え方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3393" y="20116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必要カロリー ＝ 初日投与量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「早く到達 ＝ 早く回復」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過剰負荷のリスク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正しい考え方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必要カロリー ＝ </a:t>
            </a:r>
            <a:r>
              <a:rPr lang="en-US" sz="2200" b="1" dirty="0" err="1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最終到達</a:t>
            </a:r>
            <a:r>
              <a:rPr lang="ja-JP" altLang="en-US" sz="2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</a:t>
            </a:r>
            <a:endParaRPr lang="en-US" altLang="ja-JP" sz="2200" b="1" dirty="0">
              <a:solidFill>
                <a:srgbClr val="28A745"/>
              </a:solidFill>
              <a:latin typeface="BIZ UDPGothic" pitchFamily="34" charset="0"/>
              <a:ea typeface="BIZ UDPGothic" pitchFamily="34" charset="-122"/>
              <a:cs typeface="BIZ UDPGothic" pitchFamily="34" charset="-120"/>
            </a:endParaRPr>
          </a:p>
          <a:p>
            <a:pPr marL="0" indent="0" algn="ctr">
              <a:buNone/>
            </a:pPr>
            <a:r>
              <a:rPr lang="ja-JP" altLang="en-US" sz="2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　　　　　　　　　　　　</a:t>
            </a:r>
            <a:r>
              <a:rPr lang="en-US" sz="2200" b="1" dirty="0" err="1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目標</a:t>
            </a:r>
            <a:endParaRPr lang="en-US" sz="2200" b="1" dirty="0">
              <a:solidFill>
                <a:srgbClr val="28A745"/>
              </a:solidFill>
              <a:latin typeface="BIZ UDPGothic" pitchFamily="34" charset="0"/>
              <a:ea typeface="BIZ UDPGothic" pitchFamily="34" charset="-122"/>
              <a:cs typeface="BIZ UDPGothic" pitchFamily="34" charset="-120"/>
            </a:endParaRPr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「安全に到達する」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段階的に増量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再栄養症候群（</a:t>
            </a: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Refeeding Syndrome</a:t>
            </a: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）とは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657600" cy="6400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長期絶食・摂取不良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体内の P・K・Mg・チアミンが枯渇（血清値は見かけ上正常のことも）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874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657600" cy="64008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急速な栄養投与（特に糖質）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インスリン分泌増加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2880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3657600" cy="64008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電解質の急速な細胞内移動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200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P↓  K↓  Mg↓</a:t>
            </a: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＋ 水・</a:t>
            </a:r>
            <a:r>
              <a:rPr lang="en-US" sz="16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</a:t>
            </a: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貯留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重症例：臓器障害・不整脈・心不全・</a:t>
            </a: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Wernicke</a:t>
            </a: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脳症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急性期の過栄養 ― もうひとつの問題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急性期では内因性エネルギー産生（糖新生・脂肪分解・蛋白異化）が残る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計算式どおりに入れると「内因性＋外因性」で過栄養になる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ESPEN</a:t>
            </a: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推奨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ICU</a:t>
            </a: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最初の1週間：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推定必要量の</a:t>
            </a: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r>
              <a:rPr lang="en-US" sz="2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3931920" cy="4572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NUTRIREA-3</a:t>
            </a: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32918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標準投与（</a:t>
            </a:r>
            <a:r>
              <a:rPr lang="en-US" sz="15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kcal/kg/</a:t>
            </a: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日）は</a:t>
            </a:r>
            <a:endParaRPr lang="en-US" sz="15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死亡率を改善せず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嘔吐・下痢・腸管虚血・肝機能障害が増加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再栄養リスクの高い患者（</a:t>
            </a: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NICE</a:t>
            </a: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基準）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1項目でも該当 → 高リスク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BMI &lt; 16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3–6か月で15%以上の体重減少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10日超のほぼ絶食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開始前から低K・低P・低Mg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2項目以上 → 高リスク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44176" y="1867301"/>
            <a:ext cx="368005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BMI &lt; 18.5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3–6か月で10%以上の体重減少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5日超の摂取不良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b="1" dirty="0" err="1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アルコール多飲・利尿薬・制酸薬</a:t>
            </a:r>
            <a:r>
              <a:rPr 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</a:t>
            </a:r>
            <a:r>
              <a:rPr lang="ja-JP" altLang="en-US" sz="16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</a:t>
            </a:r>
            <a:r>
              <a:rPr lang="en-US" sz="1600" b="1" dirty="0" err="1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インスリン使用歴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導入量の目安（</a:t>
            </a: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NICE / ASPEN</a:t>
            </a: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474720" cy="53035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77640" y="1051560"/>
            <a:ext cx="4709160" cy="53035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977640" y="1051560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導入の考え方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158191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再栄養リスクなし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77640" y="1581912"/>
            <a:ext cx="4709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160520" y="1581912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25–35 kcal/kg/日を目標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112264"/>
            <a:ext cx="347472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11226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重症・外傷（EN/PN）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77640" y="2112264"/>
            <a:ext cx="47091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160520" y="2112264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目標の50%以下から開始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642616"/>
            <a:ext cx="3474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64261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5日以上ほぼ絶食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977640" y="2642616"/>
            <a:ext cx="4709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160520" y="264261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最初の2日間は必要量の50%以下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172968"/>
            <a:ext cx="3474720" cy="530352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1729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再栄養 高リスク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977640" y="3172968"/>
            <a:ext cx="4709160" cy="530352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4160520" y="317296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 kcal/kg/日以下 → 4–7日で増量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3474720" cy="530352"/>
          </a:xfrm>
          <a:prstGeom prst="rect">
            <a:avLst/>
          </a:prstGeom>
          <a:solidFill>
            <a:srgbClr val="F8D7D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極めて高リスク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977640" y="3703320"/>
            <a:ext cx="4709160" cy="530352"/>
          </a:xfrm>
          <a:prstGeom prst="rect">
            <a:avLst/>
          </a:prstGeom>
          <a:solidFill>
            <a:srgbClr val="F8D7D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160520" y="370332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 kcal/kg/日から開始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4462272"/>
            <a:ext cx="8229600" cy="64008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457200" y="44622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必要量はゴールであって、開始量ではない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カロリーより先に考えるべきこと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チアミン投与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チアミン </a:t>
            </a:r>
            <a:r>
              <a:rPr lang="en-US" sz="20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mg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栄養開始前 or ブドウ糖投与前に投与</a:t>
            </a:r>
            <a:endParaRPr lang="en-US" sz="20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5–7日以上継続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電解質モニタリング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K・Mg・Pを開始前に確認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高リスク：最初3日間 </a:t>
            </a:r>
            <a:r>
              <a:rPr lang="en-US" sz="1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時間ごと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3C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37160" cy="1645920"/>
          </a:xfrm>
          <a:prstGeom prst="rect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見落としやすい落とし穴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維持輸液・薬剤中のブドウ糖も再栄養負荷として数える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電解質が急速に低下 → カロリーを</a:t>
            </a:r>
            <a:r>
              <a:rPr lang="en-US" sz="17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減量して再増量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常に「</a:t>
            </a:r>
            <a:r>
              <a:rPr lang="en-US" sz="28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and slow</a:t>
            </a: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」が正解か？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D4EDD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摂食障害の若年患者（12–24歳）のRCT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2000 kcal/日開始  vs  1400 kcal/日開始</a:t>
            </a:r>
            <a:endParaRPr lang="en-US" sz="1800" dirty="0"/>
          </a:p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高カロリー群：内科的安定化が早い・在院日数約4日短縮・電解質異常の増加なし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3C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37160" cy="164592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ただし外挿に注意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厳密な電解質モニタリング下での若年摂食障害のデータであり、高齢内科患者・ICU患者・敗血症へのそのまま外挿は危険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導入量は病態・年齢・炎症・臓器障害・監視体制で決める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3291840"/>
          </a:xfrm>
          <a:prstGeom prst="rect">
            <a:avLst/>
          </a:prstGeom>
          <a:solidFill>
            <a:srgbClr val="1F4A7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6766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  必要カロリーは「初日投与量」ではなく「目標量」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  急速投与は再栄養症候群・過栄養のリスク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3.  高リスク患者はNICE基準で判別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  チアミンと電解質管理はカロリーより先に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5.  導入量は病態・年齢・監視体制で個別に決める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必要量を計算したら、その数字はゴールとして扱い、導入量は再栄養リスクと急性期病態で決める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NICE CG32. Nutrition support for adults. Updated 2017.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da Silva JSV, et al. ASPEN Consensus Recommendations for Refeeding Syndrome.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Nutr Clin Pract. 2020;35(2):178-195.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Singer P, et al. ESPEN guideline on clinical nutrition in the ICU.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Clin Nutr. 2019;38(1):48-79.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Reignier J, et al. NUTRIREA-3: Low vs standard calorie and protein feeding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in ventilated adults with shock. Lancet Respir Med. 2023;11(7):602-612.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Garber AK, et al. Refeeding to Optimize Inpatient Gains for Patients With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Anorexia Nervosa: A Multicenter RCT. JAMA Pediatr. 2021;175(1):19-27.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508</Words>
  <Application>Microsoft Office PowerPoint</Application>
  <PresentationFormat>画面に合わせる (16:9)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BIZ UDPGothic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低栄養患者に「どんどん栄養を入れる」のは正しいか</dc:title>
  <dc:subject>PptxGenJS Presentation</dc:subject>
  <dc:creator>今村久司</dc:creator>
  <cp:lastModifiedBy>久司 今村</cp:lastModifiedBy>
  <cp:revision>1</cp:revision>
  <dcterms:created xsi:type="dcterms:W3CDTF">2026-03-24T10:15:25Z</dcterms:created>
  <dcterms:modified xsi:type="dcterms:W3CDTF">2026-03-24T10:20:19Z</dcterms:modified>
</cp:coreProperties>
</file>