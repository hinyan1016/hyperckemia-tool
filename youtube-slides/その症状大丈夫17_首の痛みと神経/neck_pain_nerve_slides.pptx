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3A5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850C"/>
          </a:solidFill>
          <a:ln/>
        </p:spPr>
      </p:sp>
      <p:sp>
        <p:nvSpPr>
          <p:cNvPr id="3" name="Shape 1"/>
          <p:cNvSpPr/>
          <p:nvPr/>
        </p:nvSpPr>
        <p:spPr>
          <a:xfrm>
            <a:off x="0" y="5088636"/>
            <a:ext cx="9144000" cy="54864"/>
          </a:xfrm>
          <a:prstGeom prst="rect">
            <a:avLst/>
          </a:prstGeom>
          <a:solidFill>
            <a:srgbClr val="E8850C"/>
          </a:solidFill>
          <a:ln/>
        </p:spPr>
      </p:sp>
      <p:sp>
        <p:nvSpPr>
          <p:cNvPr id="4" name="Text 2"/>
          <p:cNvSpPr/>
          <p:nvPr/>
        </p:nvSpPr>
        <p:spPr>
          <a:xfrm>
            <a:off x="548640" y="365760"/>
            <a:ext cx="8046720" cy="822960"/>
          </a:xfrm>
          <a:prstGeom prst="rect">
            <a:avLst/>
          </a:prstGeom>
          <a:noFill/>
          <a:ln/>
        </p:spPr>
        <p:txBody>
          <a:bodyPr wrap="square" lIns="0" tIns="0" rIns="0" bIns="0" rtlCol="0" anchor="ctr"/>
          <a:lstStyle/>
          <a:p>
            <a:pPr algn="ctr" indent="0" marL="0">
              <a:buNone/>
            </a:pPr>
            <a:r>
              <a:rPr lang="en-US" sz="5200" dirty="0">
                <a:solidFill>
                  <a:srgbClr val="000000"/>
                </a:solidFill>
              </a:rPr>
              <a:t>🦴</a:t>
            </a:r>
            <a:endParaRPr lang="en-US" sz="5200" dirty="0"/>
          </a:p>
        </p:txBody>
      </p:sp>
      <p:sp>
        <p:nvSpPr>
          <p:cNvPr id="5" name="Text 3"/>
          <p:cNvSpPr/>
          <p:nvPr/>
        </p:nvSpPr>
        <p:spPr>
          <a:xfrm>
            <a:off x="548640" y="1188720"/>
            <a:ext cx="8046720" cy="1097280"/>
          </a:xfrm>
          <a:prstGeom prst="rect">
            <a:avLst/>
          </a:prstGeom>
          <a:noFill/>
          <a:ln/>
        </p:spPr>
        <p:txBody>
          <a:bodyPr wrap="square" lIns="0" tIns="0" rIns="0" bIns="0" rtlCol="0" anchor="ctr"/>
          <a:lstStyle/>
          <a:p>
            <a:pPr algn="ctr" indent="0" marL="0">
              <a:lnSpc>
                <a:spcPct val="115000"/>
              </a:lnSpc>
              <a:buNone/>
            </a:pPr>
            <a:r>
              <a:rPr lang="en-US" sz="4000" b="1" dirty="0">
                <a:solidFill>
                  <a:srgbClr val="FFFFFF"/>
                </a:solidFill>
                <a:latin typeface="BIZ UDPGothic" pitchFamily="34" charset="0"/>
                <a:ea typeface="BIZ UDPGothic" pitchFamily="34" charset="-122"/>
                <a:cs typeface="BIZ UDPGothic" pitchFamily="34" charset="-120"/>
              </a:rPr>
              <a:t>その首の痛み、</a:t>
            </a:r>
            <a:endParaRPr lang="en-US" sz="4000" dirty="0"/>
          </a:p>
          <a:p>
            <a:pPr algn="ctr" indent="0" marL="0">
              <a:lnSpc>
                <a:spcPct val="115000"/>
              </a:lnSpc>
              <a:buNone/>
            </a:pPr>
            <a:r>
              <a:rPr lang="en-US" sz="4000" b="1" dirty="0">
                <a:solidFill>
                  <a:srgbClr val="FFFFFF"/>
                </a:solidFill>
                <a:latin typeface="BIZ UDPGothic" pitchFamily="34" charset="0"/>
                <a:ea typeface="BIZ UDPGothic" pitchFamily="34" charset="-122"/>
                <a:cs typeface="BIZ UDPGothic" pitchFamily="34" charset="-120"/>
              </a:rPr>
              <a:t>実は神経が原因？</a:t>
            </a:r>
            <a:endParaRPr lang="en-US" sz="4000" dirty="0"/>
          </a:p>
        </p:txBody>
      </p:sp>
      <p:sp>
        <p:nvSpPr>
          <p:cNvPr id="6" name="Shape 4"/>
          <p:cNvSpPr/>
          <p:nvPr/>
        </p:nvSpPr>
        <p:spPr>
          <a:xfrm>
            <a:off x="2286000" y="2468880"/>
            <a:ext cx="4572000" cy="0"/>
          </a:xfrm>
          <a:prstGeom prst="line">
            <a:avLst/>
          </a:prstGeom>
          <a:noFill/>
          <a:ln w="25400">
            <a:solidFill>
              <a:srgbClr val="E8850C"/>
            </a:solidFill>
            <a:prstDash val="solid"/>
          </a:ln>
        </p:spPr>
      </p:sp>
      <p:sp>
        <p:nvSpPr>
          <p:cNvPr id="7" name="Text 5"/>
          <p:cNvSpPr/>
          <p:nvPr/>
        </p:nvSpPr>
        <p:spPr>
          <a:xfrm>
            <a:off x="548640" y="2651760"/>
            <a:ext cx="8046720" cy="822960"/>
          </a:xfrm>
          <a:prstGeom prst="rect">
            <a:avLst/>
          </a:prstGeom>
          <a:noFill/>
          <a:ln/>
        </p:spPr>
        <p:txBody>
          <a:bodyPr wrap="square" lIns="0" tIns="0" rIns="0" bIns="0" rtlCol="0" anchor="ctr"/>
          <a:lstStyle/>
          <a:p>
            <a:pPr algn="ctr" indent="0" marL="0">
              <a:lnSpc>
                <a:spcPct val="120000"/>
              </a:lnSpc>
              <a:buNone/>
            </a:pPr>
            <a:r>
              <a:rPr lang="en-US" sz="2400" dirty="0">
                <a:solidFill>
                  <a:srgbClr val="E8850C"/>
                </a:solidFill>
                <a:latin typeface="BIZ UDPGothic" pitchFamily="34" charset="0"/>
                <a:ea typeface="BIZ UDPGothic" pitchFamily="34" charset="-122"/>
                <a:cs typeface="BIZ UDPGothic" pitchFamily="34" charset="-120"/>
              </a:rPr>
              <a:t>整形外科と脳神経内科の境界線を</a:t>
            </a:r>
            <a:endParaRPr lang="en-US" sz="2400" dirty="0"/>
          </a:p>
          <a:p>
            <a:pPr algn="ctr" indent="0" marL="0">
              <a:lnSpc>
                <a:spcPct val="120000"/>
              </a:lnSpc>
              <a:buNone/>
            </a:pPr>
            <a:r>
              <a:rPr lang="en-US" sz="2400" dirty="0">
                <a:solidFill>
                  <a:srgbClr val="E8850C"/>
                </a:solidFill>
                <a:latin typeface="BIZ UDPGothic" pitchFamily="34" charset="0"/>
                <a:ea typeface="BIZ UDPGothic" pitchFamily="34" charset="-122"/>
                <a:cs typeface="BIZ UDPGothic" pitchFamily="34" charset="-120"/>
              </a:rPr>
              <a:t>脳神経内科医が解説</a:t>
            </a:r>
            <a:endParaRPr lang="en-US" sz="2400" dirty="0"/>
          </a:p>
        </p:txBody>
      </p:sp>
      <p:sp>
        <p:nvSpPr>
          <p:cNvPr id="8" name="Text 6"/>
          <p:cNvSpPr/>
          <p:nvPr/>
        </p:nvSpPr>
        <p:spPr>
          <a:xfrm>
            <a:off x="548640" y="3840480"/>
            <a:ext cx="8046720" cy="365760"/>
          </a:xfrm>
          <a:prstGeom prst="rect">
            <a:avLst/>
          </a:prstGeom>
          <a:noFill/>
          <a:ln/>
        </p:spPr>
        <p:txBody>
          <a:bodyPr wrap="square" lIns="0" tIns="0" rIns="0" bIns="0" rtlCol="0" anchor="ctr"/>
          <a:lstStyle/>
          <a:p>
            <a:pPr algn="ctr" indent="0" marL="0">
              <a:buNone/>
            </a:pPr>
            <a:r>
              <a:rPr lang="en-US" sz="1600" dirty="0">
                <a:solidFill>
                  <a:srgbClr val="90A4AE"/>
                </a:solidFill>
                <a:latin typeface="BIZ UDPGothic" pitchFamily="34" charset="0"/>
                <a:ea typeface="BIZ UDPGothic" pitchFamily="34" charset="-122"/>
                <a:cs typeface="BIZ UDPGothic" pitchFamily="34" charset="-120"/>
              </a:rPr>
              <a:t>その症状、大丈夫？ #17</a:t>
            </a:r>
            <a:endParaRPr lang="en-US" sz="1600" dirty="0"/>
          </a:p>
        </p:txBody>
      </p:sp>
      <p:sp>
        <p:nvSpPr>
          <p:cNvPr id="9" name="Text 7"/>
          <p:cNvSpPr/>
          <p:nvPr/>
        </p:nvSpPr>
        <p:spPr>
          <a:xfrm>
            <a:off x="548640" y="4297680"/>
            <a:ext cx="8046720" cy="365760"/>
          </a:xfrm>
          <a:prstGeom prst="rect">
            <a:avLst/>
          </a:prstGeom>
          <a:noFill/>
          <a:ln/>
        </p:spPr>
        <p:txBody>
          <a:bodyPr wrap="square" lIns="0" tIns="0" rIns="0" bIns="0" rtlCol="0" anchor="ctr"/>
          <a:lstStyle/>
          <a:p>
            <a:pPr algn="ctr" indent="0" marL="0">
              <a:buNone/>
            </a:pPr>
            <a:r>
              <a:rPr lang="en-US" sz="1200" dirty="0">
                <a:solidFill>
                  <a:srgbClr val="78909C"/>
                </a:solidFill>
                <a:latin typeface="BIZ UDPGothic" pitchFamily="34" charset="0"/>
                <a:ea typeface="BIZ UDPGothic" pitchFamily="34" charset="-122"/>
                <a:cs typeface="BIZ UDPGothic" pitchFamily="34" charset="-120"/>
              </a:rPr>
              <a:t>医知創造ラボ ～脳神経内科医がAIで紡ぐ最新医療情報～</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5AA0"/>
          </a:solidFill>
          <a:ln/>
        </p:spPr>
      </p:sp>
      <p:sp>
        <p:nvSpPr>
          <p:cNvPr id="3" name="Text 1"/>
          <p:cNvSpPr/>
          <p:nvPr/>
        </p:nvSpPr>
        <p:spPr>
          <a:xfrm>
            <a:off x="457200" y="91440"/>
            <a:ext cx="8229600" cy="640080"/>
          </a:xfrm>
          <a:prstGeom prst="rect">
            <a:avLst/>
          </a:prstGeom>
          <a:noFill/>
          <a:ln/>
        </p:spPr>
        <p:txBody>
          <a:bodyPr wrap="square" lIns="0" tIns="0" rIns="0" bIns="0" rtlCol="0" anchor="ctr"/>
          <a:lstStyle/>
          <a:p>
            <a:pPr indent="0" marL="0">
              <a:buNone/>
            </a:pPr>
            <a:r>
              <a:rPr lang="en-US" sz="2600" b="1" dirty="0">
                <a:solidFill>
                  <a:srgbClr val="FFFFFF"/>
                </a:solidFill>
                <a:latin typeface="BIZ UDPGothic" pitchFamily="34" charset="0"/>
                <a:ea typeface="BIZ UDPGothic" pitchFamily="34" charset="-122"/>
                <a:cs typeface="BIZ UDPGothic" pitchFamily="34" charset="-120"/>
              </a:rPr>
              <a:t>こんな経験、ありませんか？</a:t>
            </a:r>
            <a:endParaRPr lang="en-US" sz="2600" dirty="0"/>
          </a:p>
        </p:txBody>
      </p:sp>
      <p:sp>
        <p:nvSpPr>
          <p:cNvPr id="4" name="Shape 2"/>
          <p:cNvSpPr/>
          <p:nvPr/>
        </p:nvSpPr>
        <p:spPr>
          <a:xfrm>
            <a:off x="548640" y="1005840"/>
            <a:ext cx="8046720" cy="594360"/>
          </a:xfrm>
          <a:prstGeom prst="rect">
            <a:avLst>
              <a:gd name="adj" fmla="val 15385"/>
            </a:avLst>
          </a:prstGeom>
          <a:solidFill>
            <a:srgbClr val="FFFFFF"/>
          </a:solidFill>
          <a:ln/>
          <a:effectLst>
            <a:outerShdw sx="100000" sy="100000" kx="0" ky="0" algn="bl" rotWithShape="0" blurRad="50800" dist="25400" dir="8100000">
              <a:srgbClr val="000000">
                <a:alpha val="12000"/>
              </a:srgbClr>
            </a:outerShdw>
          </a:effectLst>
        </p:spPr>
      </p:sp>
      <p:sp>
        <p:nvSpPr>
          <p:cNvPr id="5" name="Shape 3"/>
          <p:cNvSpPr/>
          <p:nvPr/>
        </p:nvSpPr>
        <p:spPr>
          <a:xfrm>
            <a:off x="548640" y="1005840"/>
            <a:ext cx="109728" cy="594360"/>
          </a:xfrm>
          <a:prstGeom prst="rect">
            <a:avLst>
              <a:gd name="adj" fmla="val 41667"/>
            </a:avLst>
          </a:prstGeom>
          <a:solidFill>
            <a:srgbClr val="2C5AA0"/>
          </a:solidFill>
          <a:ln/>
        </p:spPr>
      </p:sp>
      <p:sp>
        <p:nvSpPr>
          <p:cNvPr id="6" name="Text 4"/>
          <p:cNvSpPr/>
          <p:nvPr/>
        </p:nvSpPr>
        <p:spPr>
          <a:xfrm>
            <a:off x="777240" y="1051560"/>
            <a:ext cx="640080" cy="50292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7" name="Text 5"/>
          <p:cNvSpPr/>
          <p:nvPr/>
        </p:nvSpPr>
        <p:spPr>
          <a:xfrm>
            <a:off x="1463040" y="1051560"/>
            <a:ext cx="6858000" cy="502920"/>
          </a:xfrm>
          <a:prstGeom prst="rect">
            <a:avLst/>
          </a:prstGeom>
          <a:noFill/>
          <a:ln/>
        </p:spPr>
        <p:txBody>
          <a:bodyPr wrap="square" lIns="0" tIns="0" rIns="0" bIns="0" rtlCol="0" anchor="ctr"/>
          <a:lstStyle/>
          <a:p>
            <a:pPr indent="0" marL="0">
              <a:buNone/>
            </a:pPr>
            <a:r>
              <a:rPr lang="en-US" sz="2200" dirty="0">
                <a:solidFill>
                  <a:srgbClr val="2D3436"/>
                </a:solidFill>
                <a:latin typeface="BIZ UDPGothic" pitchFamily="34" charset="0"/>
                <a:ea typeface="BIZ UDPGothic" pitchFamily="34" charset="-122"/>
                <a:cs typeface="BIZ UDPGothic" pitchFamily="34" charset="-120"/>
              </a:rPr>
              <a:t>首の後ろがズキズキ痛い</a:t>
            </a:r>
            <a:endParaRPr lang="en-US" sz="2200" dirty="0"/>
          </a:p>
        </p:txBody>
      </p:sp>
      <p:sp>
        <p:nvSpPr>
          <p:cNvPr id="8" name="Shape 6"/>
          <p:cNvSpPr/>
          <p:nvPr/>
        </p:nvSpPr>
        <p:spPr>
          <a:xfrm>
            <a:off x="548640" y="1719072"/>
            <a:ext cx="8046720" cy="594360"/>
          </a:xfrm>
          <a:prstGeom prst="rect">
            <a:avLst>
              <a:gd name="adj" fmla="val 15385"/>
            </a:avLst>
          </a:prstGeom>
          <a:solidFill>
            <a:srgbClr val="FFFFFF"/>
          </a:solidFill>
          <a:ln/>
          <a:effectLst>
            <a:outerShdw sx="100000" sy="100000" kx="0" ky="0" algn="bl" rotWithShape="0" blurRad="50800" dist="25400" dir="8100000">
              <a:srgbClr val="000000">
                <a:alpha val="12000"/>
              </a:srgbClr>
            </a:outerShdw>
          </a:effectLst>
        </p:spPr>
      </p:sp>
      <p:sp>
        <p:nvSpPr>
          <p:cNvPr id="9" name="Shape 7"/>
          <p:cNvSpPr/>
          <p:nvPr/>
        </p:nvSpPr>
        <p:spPr>
          <a:xfrm>
            <a:off x="548640" y="1719072"/>
            <a:ext cx="109728" cy="594360"/>
          </a:xfrm>
          <a:prstGeom prst="rect">
            <a:avLst>
              <a:gd name="adj" fmla="val 41667"/>
            </a:avLst>
          </a:prstGeom>
          <a:solidFill>
            <a:srgbClr val="2C5AA0"/>
          </a:solidFill>
          <a:ln/>
        </p:spPr>
      </p:sp>
      <p:sp>
        <p:nvSpPr>
          <p:cNvPr id="10" name="Text 8"/>
          <p:cNvSpPr/>
          <p:nvPr/>
        </p:nvSpPr>
        <p:spPr>
          <a:xfrm>
            <a:off x="777240" y="1764792"/>
            <a:ext cx="640080" cy="50292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11" name="Text 9"/>
          <p:cNvSpPr/>
          <p:nvPr/>
        </p:nvSpPr>
        <p:spPr>
          <a:xfrm>
            <a:off x="1463040" y="1764792"/>
            <a:ext cx="6858000" cy="502920"/>
          </a:xfrm>
          <a:prstGeom prst="rect">
            <a:avLst/>
          </a:prstGeom>
          <a:noFill/>
          <a:ln/>
        </p:spPr>
        <p:txBody>
          <a:bodyPr wrap="square" lIns="0" tIns="0" rIns="0" bIns="0" rtlCol="0" anchor="ctr"/>
          <a:lstStyle/>
          <a:p>
            <a:pPr indent="0" marL="0">
              <a:buNone/>
            </a:pPr>
            <a:r>
              <a:rPr lang="en-US" sz="2200" dirty="0">
                <a:solidFill>
                  <a:srgbClr val="2D3436"/>
                </a:solidFill>
                <a:latin typeface="BIZ UDPGothic" pitchFamily="34" charset="0"/>
                <a:ea typeface="BIZ UDPGothic" pitchFamily="34" charset="-122"/>
                <a:cs typeface="BIZ UDPGothic" pitchFamily="34" charset="-120"/>
              </a:rPr>
              <a:t>首を動かすと腕に電気が走る</a:t>
            </a:r>
            <a:endParaRPr lang="en-US" sz="2200" dirty="0"/>
          </a:p>
        </p:txBody>
      </p:sp>
      <p:sp>
        <p:nvSpPr>
          <p:cNvPr id="12" name="Shape 10"/>
          <p:cNvSpPr/>
          <p:nvPr/>
        </p:nvSpPr>
        <p:spPr>
          <a:xfrm>
            <a:off x="548640" y="2432304"/>
            <a:ext cx="8046720" cy="594360"/>
          </a:xfrm>
          <a:prstGeom prst="rect">
            <a:avLst>
              <a:gd name="adj" fmla="val 15385"/>
            </a:avLst>
          </a:prstGeom>
          <a:solidFill>
            <a:srgbClr val="FFFFFF"/>
          </a:solidFill>
          <a:ln/>
          <a:effectLst>
            <a:outerShdw sx="100000" sy="100000" kx="0" ky="0" algn="bl" rotWithShape="0" blurRad="50800" dist="25400" dir="8100000">
              <a:srgbClr val="000000">
                <a:alpha val="12000"/>
              </a:srgbClr>
            </a:outerShdw>
          </a:effectLst>
        </p:spPr>
      </p:sp>
      <p:sp>
        <p:nvSpPr>
          <p:cNvPr id="13" name="Shape 11"/>
          <p:cNvSpPr/>
          <p:nvPr/>
        </p:nvSpPr>
        <p:spPr>
          <a:xfrm>
            <a:off x="548640" y="2432304"/>
            <a:ext cx="109728" cy="594360"/>
          </a:xfrm>
          <a:prstGeom prst="rect">
            <a:avLst>
              <a:gd name="adj" fmla="val 41667"/>
            </a:avLst>
          </a:prstGeom>
          <a:solidFill>
            <a:srgbClr val="2C5AA0"/>
          </a:solidFill>
          <a:ln/>
        </p:spPr>
      </p:sp>
      <p:sp>
        <p:nvSpPr>
          <p:cNvPr id="14" name="Text 12"/>
          <p:cNvSpPr/>
          <p:nvPr/>
        </p:nvSpPr>
        <p:spPr>
          <a:xfrm>
            <a:off x="777240" y="2478024"/>
            <a:ext cx="640080" cy="50292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15" name="Text 13"/>
          <p:cNvSpPr/>
          <p:nvPr/>
        </p:nvSpPr>
        <p:spPr>
          <a:xfrm>
            <a:off x="1463040" y="2478024"/>
            <a:ext cx="6858000" cy="502920"/>
          </a:xfrm>
          <a:prstGeom prst="rect">
            <a:avLst/>
          </a:prstGeom>
          <a:noFill/>
          <a:ln/>
        </p:spPr>
        <p:txBody>
          <a:bodyPr wrap="square" lIns="0" tIns="0" rIns="0" bIns="0" rtlCol="0" anchor="ctr"/>
          <a:lstStyle/>
          <a:p>
            <a:pPr indent="0" marL="0">
              <a:buNone/>
            </a:pPr>
            <a:r>
              <a:rPr lang="en-US" sz="2200" dirty="0">
                <a:solidFill>
                  <a:srgbClr val="2D3436"/>
                </a:solidFill>
                <a:latin typeface="BIZ UDPGothic" pitchFamily="34" charset="0"/>
                <a:ea typeface="BIZ UDPGothic" pitchFamily="34" charset="-122"/>
                <a:cs typeface="BIZ UDPGothic" pitchFamily="34" charset="-120"/>
              </a:rPr>
              <a:t>肩から手にかけてしびれる</a:t>
            </a:r>
            <a:endParaRPr lang="en-US" sz="2200" dirty="0"/>
          </a:p>
        </p:txBody>
      </p:sp>
      <p:sp>
        <p:nvSpPr>
          <p:cNvPr id="16" name="Shape 14"/>
          <p:cNvSpPr/>
          <p:nvPr/>
        </p:nvSpPr>
        <p:spPr>
          <a:xfrm>
            <a:off x="548640" y="3145536"/>
            <a:ext cx="8046720" cy="594360"/>
          </a:xfrm>
          <a:prstGeom prst="rect">
            <a:avLst>
              <a:gd name="adj" fmla="val 15385"/>
            </a:avLst>
          </a:prstGeom>
          <a:solidFill>
            <a:srgbClr val="FFFFFF"/>
          </a:solidFill>
          <a:ln/>
          <a:effectLst>
            <a:outerShdw sx="100000" sy="100000" kx="0" ky="0" algn="bl" rotWithShape="0" blurRad="50800" dist="25400" dir="8100000">
              <a:srgbClr val="000000">
                <a:alpha val="12000"/>
              </a:srgbClr>
            </a:outerShdw>
          </a:effectLst>
        </p:spPr>
      </p:sp>
      <p:sp>
        <p:nvSpPr>
          <p:cNvPr id="17" name="Shape 15"/>
          <p:cNvSpPr/>
          <p:nvPr/>
        </p:nvSpPr>
        <p:spPr>
          <a:xfrm>
            <a:off x="548640" y="3145536"/>
            <a:ext cx="109728" cy="594360"/>
          </a:xfrm>
          <a:prstGeom prst="rect">
            <a:avLst>
              <a:gd name="adj" fmla="val 41667"/>
            </a:avLst>
          </a:prstGeom>
          <a:solidFill>
            <a:srgbClr val="2C5AA0"/>
          </a:solidFill>
          <a:ln/>
        </p:spPr>
      </p:sp>
      <p:sp>
        <p:nvSpPr>
          <p:cNvPr id="18" name="Text 16"/>
          <p:cNvSpPr/>
          <p:nvPr/>
        </p:nvSpPr>
        <p:spPr>
          <a:xfrm>
            <a:off x="777240" y="3191256"/>
            <a:ext cx="640080" cy="50292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19" name="Text 17"/>
          <p:cNvSpPr/>
          <p:nvPr/>
        </p:nvSpPr>
        <p:spPr>
          <a:xfrm>
            <a:off x="1463040" y="3191256"/>
            <a:ext cx="6858000" cy="502920"/>
          </a:xfrm>
          <a:prstGeom prst="rect">
            <a:avLst/>
          </a:prstGeom>
          <a:noFill/>
          <a:ln/>
        </p:spPr>
        <p:txBody>
          <a:bodyPr wrap="square" lIns="0" tIns="0" rIns="0" bIns="0" rtlCol="0" anchor="ctr"/>
          <a:lstStyle/>
          <a:p>
            <a:pPr indent="0" marL="0">
              <a:buNone/>
            </a:pPr>
            <a:r>
              <a:rPr lang="en-US" sz="2200" dirty="0">
                <a:solidFill>
                  <a:srgbClr val="2D3436"/>
                </a:solidFill>
                <a:latin typeface="BIZ UDPGothic" pitchFamily="34" charset="0"/>
                <a:ea typeface="BIZ UDPGothic" pitchFamily="34" charset="-122"/>
                <a:cs typeface="BIZ UDPGothic" pitchFamily="34" charset="-120"/>
              </a:rPr>
              <a:t>整形外科に行ったが「異常なし」と言われた</a:t>
            </a:r>
            <a:endParaRPr lang="en-US" sz="2200" dirty="0"/>
          </a:p>
        </p:txBody>
      </p:sp>
      <p:sp>
        <p:nvSpPr>
          <p:cNvPr id="20" name="Shape 18"/>
          <p:cNvSpPr/>
          <p:nvPr/>
        </p:nvSpPr>
        <p:spPr>
          <a:xfrm>
            <a:off x="548640" y="3858768"/>
            <a:ext cx="8046720" cy="594360"/>
          </a:xfrm>
          <a:prstGeom prst="rect">
            <a:avLst>
              <a:gd name="adj" fmla="val 15385"/>
            </a:avLst>
          </a:prstGeom>
          <a:solidFill>
            <a:srgbClr val="FFFFFF"/>
          </a:solidFill>
          <a:ln/>
          <a:effectLst>
            <a:outerShdw sx="100000" sy="100000" kx="0" ky="0" algn="bl" rotWithShape="0" blurRad="50800" dist="25400" dir="8100000">
              <a:srgbClr val="000000">
                <a:alpha val="12000"/>
              </a:srgbClr>
            </a:outerShdw>
          </a:effectLst>
        </p:spPr>
      </p:sp>
      <p:sp>
        <p:nvSpPr>
          <p:cNvPr id="21" name="Shape 19"/>
          <p:cNvSpPr/>
          <p:nvPr/>
        </p:nvSpPr>
        <p:spPr>
          <a:xfrm>
            <a:off x="548640" y="3858768"/>
            <a:ext cx="109728" cy="594360"/>
          </a:xfrm>
          <a:prstGeom prst="rect">
            <a:avLst>
              <a:gd name="adj" fmla="val 41667"/>
            </a:avLst>
          </a:prstGeom>
          <a:solidFill>
            <a:srgbClr val="2C5AA0"/>
          </a:solidFill>
          <a:ln/>
        </p:spPr>
      </p:sp>
      <p:sp>
        <p:nvSpPr>
          <p:cNvPr id="22" name="Text 20"/>
          <p:cNvSpPr/>
          <p:nvPr/>
        </p:nvSpPr>
        <p:spPr>
          <a:xfrm>
            <a:off x="777240" y="3904488"/>
            <a:ext cx="640080" cy="50292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23" name="Text 21"/>
          <p:cNvSpPr/>
          <p:nvPr/>
        </p:nvSpPr>
        <p:spPr>
          <a:xfrm>
            <a:off x="1463040" y="3904488"/>
            <a:ext cx="6858000" cy="502920"/>
          </a:xfrm>
          <a:prstGeom prst="rect">
            <a:avLst/>
          </a:prstGeom>
          <a:noFill/>
          <a:ln/>
        </p:spPr>
        <p:txBody>
          <a:bodyPr wrap="square" lIns="0" tIns="0" rIns="0" bIns="0" rtlCol="0" anchor="ctr"/>
          <a:lstStyle/>
          <a:p>
            <a:pPr indent="0" marL="0">
              <a:buNone/>
            </a:pPr>
            <a:r>
              <a:rPr lang="en-US" sz="2200" dirty="0">
                <a:solidFill>
                  <a:srgbClr val="2D3436"/>
                </a:solidFill>
                <a:latin typeface="BIZ UDPGothic" pitchFamily="34" charset="0"/>
                <a:ea typeface="BIZ UDPGothic" pitchFamily="34" charset="-122"/>
                <a:cs typeface="BIZ UDPGothic" pitchFamily="34" charset="-120"/>
              </a:rPr>
              <a:t>首の痛みで何科に行けばいいかわからない</a:t>
            </a:r>
            <a:endParaRPr lang="en-US" sz="2200" dirty="0"/>
          </a:p>
        </p:txBody>
      </p:sp>
      <p:sp>
        <p:nvSpPr>
          <p:cNvPr id="24" name="Shape 22"/>
          <p:cNvSpPr/>
          <p:nvPr/>
        </p:nvSpPr>
        <p:spPr>
          <a:xfrm>
            <a:off x="0" y="4800600"/>
            <a:ext cx="9144000" cy="347472"/>
          </a:xfrm>
          <a:prstGeom prst="rect">
            <a:avLst/>
          </a:prstGeom>
          <a:solidFill>
            <a:srgbClr val="1B3A5C"/>
          </a:solidFill>
          <a:ln/>
        </p:spPr>
      </p:sp>
      <p:sp>
        <p:nvSpPr>
          <p:cNvPr id="25" name="Text 23"/>
          <p:cNvSpPr/>
          <p:nvPr/>
        </p:nvSpPr>
        <p:spPr>
          <a:xfrm>
            <a:off x="365760" y="4818888"/>
            <a:ext cx="4572000" cy="274320"/>
          </a:xfrm>
          <a:prstGeom prst="rect">
            <a:avLst/>
          </a:prstGeom>
          <a:noFill/>
          <a:ln/>
        </p:spPr>
        <p:txBody>
          <a:bodyPr wrap="square" lIns="0" tIns="0" rIns="0" bIns="0" rtlCol="0" anchor="ctr"/>
          <a:lstStyle/>
          <a:p>
            <a:pPr indent="0" marL="0">
              <a:buNone/>
            </a:pPr>
            <a:r>
              <a:rPr lang="en-US" sz="1000" dirty="0">
                <a:solidFill>
                  <a:srgbClr val="FFFFFF"/>
                </a:solidFill>
                <a:latin typeface="BIZ UDPGothic" pitchFamily="34" charset="0"/>
                <a:ea typeface="BIZ UDPGothic" pitchFamily="34" charset="-122"/>
                <a:cs typeface="BIZ UDPGothic" pitchFamily="34" charset="-120"/>
              </a:rPr>
              <a:t>医知創造ラボ ｜ その症状、大丈夫？ #17</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5AA0"/>
          </a:solidFill>
          <a:ln/>
        </p:spPr>
      </p:sp>
      <p:sp>
        <p:nvSpPr>
          <p:cNvPr id="3" name="Text 1"/>
          <p:cNvSpPr/>
          <p:nvPr/>
        </p:nvSpPr>
        <p:spPr>
          <a:xfrm>
            <a:off x="457200" y="91440"/>
            <a:ext cx="8229600" cy="640080"/>
          </a:xfrm>
          <a:prstGeom prst="rect">
            <a:avLst/>
          </a:prstGeom>
          <a:noFill/>
          <a:ln/>
        </p:spPr>
        <p:txBody>
          <a:bodyPr wrap="square" lIns="0" tIns="0" rIns="0" bIns="0" rtlCol="0" anchor="ctr"/>
          <a:lstStyle/>
          <a:p>
            <a:pPr indent="0" marL="0">
              <a:buNone/>
            </a:pPr>
            <a:r>
              <a:rPr lang="en-US" sz="2600" b="1" dirty="0">
                <a:solidFill>
                  <a:srgbClr val="FFFFFF"/>
                </a:solidFill>
                <a:latin typeface="BIZ UDPGothic" pitchFamily="34" charset="0"/>
                <a:ea typeface="BIZ UDPGothic" pitchFamily="34" charset="-122"/>
                <a:cs typeface="BIZ UDPGothic" pitchFamily="34" charset="-120"/>
              </a:rPr>
              <a:t>首の痛み ― 原因は大きく2つ</a:t>
            </a:r>
            <a:endParaRPr lang="en-US" sz="2600" dirty="0"/>
          </a:p>
        </p:txBody>
      </p:sp>
      <p:sp>
        <p:nvSpPr>
          <p:cNvPr id="4" name="Shape 2"/>
          <p:cNvSpPr/>
          <p:nvPr/>
        </p:nvSpPr>
        <p:spPr>
          <a:xfrm>
            <a:off x="457200" y="1005840"/>
            <a:ext cx="3931920" cy="1828800"/>
          </a:xfrm>
          <a:prstGeom prst="rect">
            <a:avLst>
              <a:gd name="adj" fmla="val 5000"/>
            </a:avLst>
          </a:prstGeom>
          <a:solidFill>
            <a:srgbClr val="FFFFFF"/>
          </a:solidFill>
          <a:ln/>
          <a:effectLst>
            <a:outerShdw sx="100000" sy="100000" kx="0" ky="0" algn="bl" rotWithShape="0" blurRad="50800" dist="25400" dir="8100000">
              <a:srgbClr val="000000">
                <a:alpha val="12000"/>
              </a:srgbClr>
            </a:outerShdw>
          </a:effectLst>
        </p:spPr>
      </p:sp>
      <p:sp>
        <p:nvSpPr>
          <p:cNvPr id="5" name="Shape 3"/>
          <p:cNvSpPr/>
          <p:nvPr/>
        </p:nvSpPr>
        <p:spPr>
          <a:xfrm>
            <a:off x="457200" y="1005840"/>
            <a:ext cx="109728" cy="1828800"/>
          </a:xfrm>
          <a:prstGeom prst="rect">
            <a:avLst>
              <a:gd name="adj" fmla="val 41667"/>
            </a:avLst>
          </a:prstGeom>
          <a:solidFill>
            <a:srgbClr val="E8850C"/>
          </a:solidFill>
          <a:ln/>
        </p:spPr>
      </p:sp>
      <p:sp>
        <p:nvSpPr>
          <p:cNvPr id="6" name="Text 4"/>
          <p:cNvSpPr/>
          <p:nvPr/>
        </p:nvSpPr>
        <p:spPr>
          <a:xfrm>
            <a:off x="640080" y="1051560"/>
            <a:ext cx="3474720" cy="365760"/>
          </a:xfrm>
          <a:prstGeom prst="rect">
            <a:avLst/>
          </a:prstGeom>
          <a:noFill/>
          <a:ln/>
        </p:spPr>
        <p:txBody>
          <a:bodyPr wrap="square" lIns="0" tIns="0" rIns="0" bIns="0" rtlCol="0" anchor="ctr"/>
          <a:lstStyle/>
          <a:p>
            <a:pPr indent="0" marL="0">
              <a:buNone/>
            </a:pPr>
            <a:r>
              <a:rPr lang="en-US" sz="2000" b="1" dirty="0">
                <a:solidFill>
                  <a:srgbClr val="E8850C"/>
                </a:solidFill>
                <a:latin typeface="BIZ UDPGothic" pitchFamily="34" charset="0"/>
                <a:ea typeface="BIZ UDPGothic" pitchFamily="34" charset="-122"/>
                <a:cs typeface="BIZ UDPGothic" pitchFamily="34" charset="-120"/>
              </a:rPr>
              <a:t>🏥 筋肉・骨の問題</a:t>
            </a:r>
            <a:endParaRPr lang="en-US" sz="2000" dirty="0"/>
          </a:p>
        </p:txBody>
      </p:sp>
      <p:sp>
        <p:nvSpPr>
          <p:cNvPr id="7" name="Text 5"/>
          <p:cNvSpPr/>
          <p:nvPr/>
        </p:nvSpPr>
        <p:spPr>
          <a:xfrm>
            <a:off x="640080" y="1417320"/>
            <a:ext cx="3474720" cy="274320"/>
          </a:xfrm>
          <a:prstGeom prst="rect">
            <a:avLst/>
          </a:prstGeom>
          <a:noFill/>
          <a:ln/>
        </p:spPr>
        <p:txBody>
          <a:bodyPr wrap="square" lIns="0" tIns="0" rIns="0" bIns="0" rtlCol="0" anchor="ctr"/>
          <a:lstStyle/>
          <a:p>
            <a:pPr indent="0" marL="0">
              <a:buNone/>
            </a:pPr>
            <a:r>
              <a:rPr lang="en-US" sz="1400" dirty="0">
                <a:solidFill>
                  <a:srgbClr val="636E72"/>
                </a:solidFill>
                <a:latin typeface="BIZ UDPGothic" pitchFamily="34" charset="0"/>
                <a:ea typeface="BIZ UDPGothic" pitchFamily="34" charset="-122"/>
                <a:cs typeface="BIZ UDPGothic" pitchFamily="34" charset="-120"/>
              </a:rPr>
              <a:t>整形外科の領域</a:t>
            </a:r>
            <a:endParaRPr lang="en-US" sz="1400" dirty="0"/>
          </a:p>
        </p:txBody>
      </p:sp>
      <p:sp>
        <p:nvSpPr>
          <p:cNvPr id="8" name="Text 6"/>
          <p:cNvSpPr/>
          <p:nvPr/>
        </p:nvSpPr>
        <p:spPr>
          <a:xfrm>
            <a:off x="640080" y="1783080"/>
            <a:ext cx="3474720" cy="256032"/>
          </a:xfrm>
          <a:prstGeom prst="rect">
            <a:avLst/>
          </a:prstGeom>
          <a:noFill/>
          <a:ln/>
        </p:spPr>
        <p:txBody>
          <a:bodyPr wrap="square" lIns="0" tIns="0" rIns="0" bIns="0" rtlCol="0" anchor="ctr"/>
          <a:lstStyle/>
          <a:p>
            <a:pPr indent="0" marL="0">
              <a:buNone/>
            </a:pPr>
            <a:r>
              <a:rPr lang="en-US" sz="1500" dirty="0">
                <a:solidFill>
                  <a:srgbClr val="2D3436"/>
                </a:solidFill>
                <a:latin typeface="BIZ UDPGothic" pitchFamily="34" charset="0"/>
                <a:ea typeface="BIZ UDPGothic" pitchFamily="34" charset="-122"/>
                <a:cs typeface="BIZ UDPGothic" pitchFamily="34" charset="-120"/>
              </a:rPr>
              <a:t>• 筋肉のこり・緊張</a:t>
            </a:r>
            <a:endParaRPr lang="en-US" sz="1500" dirty="0"/>
          </a:p>
        </p:txBody>
      </p:sp>
      <p:sp>
        <p:nvSpPr>
          <p:cNvPr id="9" name="Text 7"/>
          <p:cNvSpPr/>
          <p:nvPr/>
        </p:nvSpPr>
        <p:spPr>
          <a:xfrm>
            <a:off x="640080" y="2039112"/>
            <a:ext cx="3474720" cy="256032"/>
          </a:xfrm>
          <a:prstGeom prst="rect">
            <a:avLst/>
          </a:prstGeom>
          <a:noFill/>
          <a:ln/>
        </p:spPr>
        <p:txBody>
          <a:bodyPr wrap="square" lIns="0" tIns="0" rIns="0" bIns="0" rtlCol="0" anchor="ctr"/>
          <a:lstStyle/>
          <a:p>
            <a:pPr indent="0" marL="0">
              <a:buNone/>
            </a:pPr>
            <a:r>
              <a:rPr lang="en-US" sz="1500" dirty="0">
                <a:solidFill>
                  <a:srgbClr val="2D3436"/>
                </a:solidFill>
                <a:latin typeface="BIZ UDPGothic" pitchFamily="34" charset="0"/>
                <a:ea typeface="BIZ UDPGothic" pitchFamily="34" charset="-122"/>
                <a:cs typeface="BIZ UDPGothic" pitchFamily="34" charset="-120"/>
              </a:rPr>
              <a:t>• 椎間板ヘルニア</a:t>
            </a:r>
            <a:endParaRPr lang="en-US" sz="1500" dirty="0"/>
          </a:p>
        </p:txBody>
      </p:sp>
      <p:sp>
        <p:nvSpPr>
          <p:cNvPr id="10" name="Text 8"/>
          <p:cNvSpPr/>
          <p:nvPr/>
        </p:nvSpPr>
        <p:spPr>
          <a:xfrm>
            <a:off x="640080" y="2295144"/>
            <a:ext cx="3474720" cy="256032"/>
          </a:xfrm>
          <a:prstGeom prst="rect">
            <a:avLst/>
          </a:prstGeom>
          <a:noFill/>
          <a:ln/>
        </p:spPr>
        <p:txBody>
          <a:bodyPr wrap="square" lIns="0" tIns="0" rIns="0" bIns="0" rtlCol="0" anchor="ctr"/>
          <a:lstStyle/>
          <a:p>
            <a:pPr indent="0" marL="0">
              <a:buNone/>
            </a:pPr>
            <a:r>
              <a:rPr lang="en-US" sz="1500" dirty="0">
                <a:solidFill>
                  <a:srgbClr val="2D3436"/>
                </a:solidFill>
                <a:latin typeface="BIZ UDPGothic" pitchFamily="34" charset="0"/>
                <a:ea typeface="BIZ UDPGothic" pitchFamily="34" charset="-122"/>
                <a:cs typeface="BIZ UDPGothic" pitchFamily="34" charset="-120"/>
              </a:rPr>
              <a:t>• 変形性頸椎症</a:t>
            </a:r>
            <a:endParaRPr lang="en-US" sz="1500" dirty="0"/>
          </a:p>
        </p:txBody>
      </p:sp>
      <p:sp>
        <p:nvSpPr>
          <p:cNvPr id="11" name="Text 9"/>
          <p:cNvSpPr/>
          <p:nvPr/>
        </p:nvSpPr>
        <p:spPr>
          <a:xfrm>
            <a:off x="640080" y="2551176"/>
            <a:ext cx="3474720" cy="256032"/>
          </a:xfrm>
          <a:prstGeom prst="rect">
            <a:avLst/>
          </a:prstGeom>
          <a:noFill/>
          <a:ln/>
        </p:spPr>
        <p:txBody>
          <a:bodyPr wrap="square" lIns="0" tIns="0" rIns="0" bIns="0" rtlCol="0" anchor="ctr"/>
          <a:lstStyle/>
          <a:p>
            <a:pPr indent="0" marL="0">
              <a:buNone/>
            </a:pPr>
            <a:r>
              <a:rPr lang="en-US" sz="1500" dirty="0">
                <a:solidFill>
                  <a:srgbClr val="2D3436"/>
                </a:solidFill>
                <a:latin typeface="BIZ UDPGothic" pitchFamily="34" charset="0"/>
                <a:ea typeface="BIZ UDPGothic" pitchFamily="34" charset="-122"/>
                <a:cs typeface="BIZ UDPGothic" pitchFamily="34" charset="-120"/>
              </a:rPr>
              <a:t>• 寝違え・むち打ち</a:t>
            </a:r>
            <a:endParaRPr lang="en-US" sz="1500" dirty="0"/>
          </a:p>
        </p:txBody>
      </p:sp>
      <p:sp>
        <p:nvSpPr>
          <p:cNvPr id="12" name="Shape 10"/>
          <p:cNvSpPr/>
          <p:nvPr/>
        </p:nvSpPr>
        <p:spPr>
          <a:xfrm>
            <a:off x="4754880" y="1005840"/>
            <a:ext cx="3931920" cy="1828800"/>
          </a:xfrm>
          <a:prstGeom prst="rect">
            <a:avLst>
              <a:gd name="adj" fmla="val 5000"/>
            </a:avLst>
          </a:prstGeom>
          <a:solidFill>
            <a:srgbClr val="FFFFFF"/>
          </a:solidFill>
          <a:ln/>
          <a:effectLst>
            <a:outerShdw sx="100000" sy="100000" kx="0" ky="0" algn="bl" rotWithShape="0" blurRad="50800" dist="25400" dir="8100000">
              <a:srgbClr val="000000">
                <a:alpha val="12000"/>
              </a:srgbClr>
            </a:outerShdw>
          </a:effectLst>
        </p:spPr>
      </p:sp>
      <p:sp>
        <p:nvSpPr>
          <p:cNvPr id="13" name="Shape 11"/>
          <p:cNvSpPr/>
          <p:nvPr/>
        </p:nvSpPr>
        <p:spPr>
          <a:xfrm>
            <a:off x="4754880" y="1005840"/>
            <a:ext cx="109728" cy="1828800"/>
          </a:xfrm>
          <a:prstGeom prst="rect">
            <a:avLst>
              <a:gd name="adj" fmla="val 41667"/>
            </a:avLst>
          </a:prstGeom>
          <a:solidFill>
            <a:srgbClr val="2C5AA0"/>
          </a:solidFill>
          <a:ln/>
        </p:spPr>
      </p:sp>
      <p:sp>
        <p:nvSpPr>
          <p:cNvPr id="14" name="Text 12"/>
          <p:cNvSpPr/>
          <p:nvPr/>
        </p:nvSpPr>
        <p:spPr>
          <a:xfrm>
            <a:off x="4937760" y="1051560"/>
            <a:ext cx="3474720" cy="365760"/>
          </a:xfrm>
          <a:prstGeom prst="rect">
            <a:avLst/>
          </a:prstGeom>
          <a:noFill/>
          <a:ln/>
        </p:spPr>
        <p:txBody>
          <a:bodyPr wrap="square" lIns="0" tIns="0" rIns="0" bIns="0" rtlCol="0" anchor="ctr"/>
          <a:lstStyle/>
          <a:p>
            <a:pPr indent="0" marL="0">
              <a:buNone/>
            </a:pPr>
            <a:r>
              <a:rPr lang="en-US" sz="2000" b="1" dirty="0">
                <a:solidFill>
                  <a:srgbClr val="2C5AA0"/>
                </a:solidFill>
                <a:latin typeface="BIZ UDPGothic" pitchFamily="34" charset="0"/>
                <a:ea typeface="BIZ UDPGothic" pitchFamily="34" charset="-122"/>
                <a:cs typeface="BIZ UDPGothic" pitchFamily="34" charset="-120"/>
              </a:rPr>
              <a:t>🧠 神経の問題</a:t>
            </a:r>
            <a:endParaRPr lang="en-US" sz="2000" dirty="0"/>
          </a:p>
        </p:txBody>
      </p:sp>
      <p:sp>
        <p:nvSpPr>
          <p:cNvPr id="15" name="Text 13"/>
          <p:cNvSpPr/>
          <p:nvPr/>
        </p:nvSpPr>
        <p:spPr>
          <a:xfrm>
            <a:off x="4937760" y="1417320"/>
            <a:ext cx="3474720" cy="274320"/>
          </a:xfrm>
          <a:prstGeom prst="rect">
            <a:avLst/>
          </a:prstGeom>
          <a:noFill/>
          <a:ln/>
        </p:spPr>
        <p:txBody>
          <a:bodyPr wrap="square" lIns="0" tIns="0" rIns="0" bIns="0" rtlCol="0" anchor="ctr"/>
          <a:lstStyle/>
          <a:p>
            <a:pPr indent="0" marL="0">
              <a:buNone/>
            </a:pPr>
            <a:r>
              <a:rPr lang="en-US" sz="1400" dirty="0">
                <a:solidFill>
                  <a:srgbClr val="636E72"/>
                </a:solidFill>
                <a:latin typeface="BIZ UDPGothic" pitchFamily="34" charset="0"/>
                <a:ea typeface="BIZ UDPGothic" pitchFamily="34" charset="-122"/>
                <a:cs typeface="BIZ UDPGothic" pitchFamily="34" charset="-120"/>
              </a:rPr>
              <a:t>脳神経内科の領域</a:t>
            </a:r>
            <a:endParaRPr lang="en-US" sz="1400" dirty="0"/>
          </a:p>
        </p:txBody>
      </p:sp>
      <p:sp>
        <p:nvSpPr>
          <p:cNvPr id="16" name="Text 14"/>
          <p:cNvSpPr/>
          <p:nvPr/>
        </p:nvSpPr>
        <p:spPr>
          <a:xfrm>
            <a:off x="4937760" y="1783080"/>
            <a:ext cx="3474720" cy="256032"/>
          </a:xfrm>
          <a:prstGeom prst="rect">
            <a:avLst/>
          </a:prstGeom>
          <a:noFill/>
          <a:ln/>
        </p:spPr>
        <p:txBody>
          <a:bodyPr wrap="square" lIns="0" tIns="0" rIns="0" bIns="0" rtlCol="0" anchor="ctr"/>
          <a:lstStyle/>
          <a:p>
            <a:pPr indent="0" marL="0">
              <a:buNone/>
            </a:pPr>
            <a:r>
              <a:rPr lang="en-US" sz="1500" dirty="0">
                <a:solidFill>
                  <a:srgbClr val="2D3436"/>
                </a:solidFill>
                <a:latin typeface="BIZ UDPGothic" pitchFamily="34" charset="0"/>
                <a:ea typeface="BIZ UDPGothic" pitchFamily="34" charset="-122"/>
                <a:cs typeface="BIZ UDPGothic" pitchFamily="34" charset="-120"/>
              </a:rPr>
              <a:t>• 頸椎症性神経根症</a:t>
            </a:r>
            <a:endParaRPr lang="en-US" sz="1500" dirty="0"/>
          </a:p>
        </p:txBody>
      </p:sp>
      <p:sp>
        <p:nvSpPr>
          <p:cNvPr id="17" name="Text 15"/>
          <p:cNvSpPr/>
          <p:nvPr/>
        </p:nvSpPr>
        <p:spPr>
          <a:xfrm>
            <a:off x="4937760" y="2039112"/>
            <a:ext cx="3474720" cy="256032"/>
          </a:xfrm>
          <a:prstGeom prst="rect">
            <a:avLst/>
          </a:prstGeom>
          <a:noFill/>
          <a:ln/>
        </p:spPr>
        <p:txBody>
          <a:bodyPr wrap="square" lIns="0" tIns="0" rIns="0" bIns="0" rtlCol="0" anchor="ctr"/>
          <a:lstStyle/>
          <a:p>
            <a:pPr indent="0" marL="0">
              <a:buNone/>
            </a:pPr>
            <a:r>
              <a:rPr lang="en-US" sz="1500" dirty="0">
                <a:solidFill>
                  <a:srgbClr val="2D3436"/>
                </a:solidFill>
                <a:latin typeface="BIZ UDPGothic" pitchFamily="34" charset="0"/>
                <a:ea typeface="BIZ UDPGothic" pitchFamily="34" charset="-122"/>
                <a:cs typeface="BIZ UDPGothic" pitchFamily="34" charset="-120"/>
              </a:rPr>
              <a:t>• 頸椎症性脊髄症</a:t>
            </a:r>
            <a:endParaRPr lang="en-US" sz="1500" dirty="0"/>
          </a:p>
        </p:txBody>
      </p:sp>
      <p:sp>
        <p:nvSpPr>
          <p:cNvPr id="18" name="Text 16"/>
          <p:cNvSpPr/>
          <p:nvPr/>
        </p:nvSpPr>
        <p:spPr>
          <a:xfrm>
            <a:off x="4937760" y="2295144"/>
            <a:ext cx="3474720" cy="256032"/>
          </a:xfrm>
          <a:prstGeom prst="rect">
            <a:avLst/>
          </a:prstGeom>
          <a:noFill/>
          <a:ln/>
        </p:spPr>
        <p:txBody>
          <a:bodyPr wrap="square" lIns="0" tIns="0" rIns="0" bIns="0" rtlCol="0" anchor="ctr"/>
          <a:lstStyle/>
          <a:p>
            <a:pPr indent="0" marL="0">
              <a:buNone/>
            </a:pPr>
            <a:r>
              <a:rPr lang="en-US" sz="1500" dirty="0">
                <a:solidFill>
                  <a:srgbClr val="2D3436"/>
                </a:solidFill>
                <a:latin typeface="BIZ UDPGothic" pitchFamily="34" charset="0"/>
                <a:ea typeface="BIZ UDPGothic" pitchFamily="34" charset="-122"/>
                <a:cs typeface="BIZ UDPGothic" pitchFamily="34" charset="-120"/>
              </a:rPr>
              <a:t>• 後頭神経痛</a:t>
            </a:r>
            <a:endParaRPr lang="en-US" sz="1500" dirty="0"/>
          </a:p>
        </p:txBody>
      </p:sp>
      <p:sp>
        <p:nvSpPr>
          <p:cNvPr id="19" name="Text 17"/>
          <p:cNvSpPr/>
          <p:nvPr/>
        </p:nvSpPr>
        <p:spPr>
          <a:xfrm>
            <a:off x="4937760" y="2551176"/>
            <a:ext cx="3474720" cy="256032"/>
          </a:xfrm>
          <a:prstGeom prst="rect">
            <a:avLst/>
          </a:prstGeom>
          <a:noFill/>
          <a:ln/>
        </p:spPr>
        <p:txBody>
          <a:bodyPr wrap="square" lIns="0" tIns="0" rIns="0" bIns="0" rtlCol="0" anchor="ctr"/>
          <a:lstStyle/>
          <a:p>
            <a:pPr indent="0" marL="0">
              <a:buNone/>
            </a:pPr>
            <a:r>
              <a:rPr lang="en-US" sz="1500" dirty="0">
                <a:solidFill>
                  <a:srgbClr val="2D3436"/>
                </a:solidFill>
                <a:latin typeface="BIZ UDPGothic" pitchFamily="34" charset="0"/>
                <a:ea typeface="BIZ UDPGothic" pitchFamily="34" charset="-122"/>
                <a:cs typeface="BIZ UDPGothic" pitchFamily="34" charset="-120"/>
              </a:rPr>
              <a:t>• 髄膜炎・くも膜下出血</a:t>
            </a:r>
            <a:endParaRPr lang="en-US" sz="1500" dirty="0"/>
          </a:p>
        </p:txBody>
      </p:sp>
      <p:sp>
        <p:nvSpPr>
          <p:cNvPr id="20" name="Shape 18"/>
          <p:cNvSpPr/>
          <p:nvPr/>
        </p:nvSpPr>
        <p:spPr>
          <a:xfrm>
            <a:off x="457200" y="3063240"/>
            <a:ext cx="8229600" cy="594360"/>
          </a:xfrm>
          <a:prstGeom prst="rect">
            <a:avLst>
              <a:gd name="adj" fmla="val 15385"/>
            </a:avLst>
          </a:prstGeom>
          <a:solidFill>
            <a:srgbClr val="E8F4FD"/>
          </a:solidFill>
          <a:ln/>
          <a:effectLst>
            <a:outerShdw sx="100000" sy="100000" kx="0" ky="0" algn="bl" rotWithShape="0" blurRad="50800" dist="25400" dir="8100000">
              <a:srgbClr val="000000">
                <a:alpha val="12000"/>
              </a:srgbClr>
            </a:outerShdw>
          </a:effectLst>
        </p:spPr>
      </p:sp>
      <p:sp>
        <p:nvSpPr>
          <p:cNvPr id="21" name="Shape 19"/>
          <p:cNvSpPr/>
          <p:nvPr/>
        </p:nvSpPr>
        <p:spPr>
          <a:xfrm>
            <a:off x="457200" y="3063240"/>
            <a:ext cx="109728" cy="594360"/>
          </a:xfrm>
          <a:prstGeom prst="rect">
            <a:avLst>
              <a:gd name="adj" fmla="val 41667"/>
            </a:avLst>
          </a:prstGeom>
          <a:solidFill>
            <a:srgbClr val="2C5AA0"/>
          </a:solidFill>
          <a:ln/>
        </p:spPr>
      </p:sp>
      <p:sp>
        <p:nvSpPr>
          <p:cNvPr id="22" name="Text 20"/>
          <p:cNvSpPr/>
          <p:nvPr/>
        </p:nvSpPr>
        <p:spPr>
          <a:xfrm>
            <a:off x="731520" y="3108960"/>
            <a:ext cx="7772400" cy="502920"/>
          </a:xfrm>
          <a:prstGeom prst="rect">
            <a:avLst/>
          </a:prstGeom>
          <a:noFill/>
          <a:ln/>
        </p:spPr>
        <p:txBody>
          <a:bodyPr wrap="square" lIns="0" tIns="0" rIns="0" bIns="0" rtlCol="0" anchor="ctr"/>
          <a:lstStyle/>
          <a:p>
            <a:pPr indent="0" marL="0">
              <a:buNone/>
            </a:pPr>
            <a:r>
              <a:rPr lang="en-US" sz="1800" b="1" dirty="0">
                <a:solidFill>
                  <a:srgbClr val="2C5AA0"/>
                </a:solidFill>
                <a:latin typeface="BIZ UDPGothic" pitchFamily="34" charset="0"/>
                <a:ea typeface="BIZ UDPGothic" pitchFamily="34" charset="-122"/>
                <a:cs typeface="BIZ UDPGothic" pitchFamily="34" charset="-120"/>
              </a:rPr>
              <a:t>💡 同じ「首が痛い」でも、原因によって受診すべき科が違います</a:t>
            </a:r>
            <a:endParaRPr lang="en-US" sz="1800" dirty="0"/>
          </a:p>
        </p:txBody>
      </p:sp>
      <p:sp>
        <p:nvSpPr>
          <p:cNvPr id="23" name="Shape 21"/>
          <p:cNvSpPr/>
          <p:nvPr/>
        </p:nvSpPr>
        <p:spPr>
          <a:xfrm>
            <a:off x="457200" y="3840480"/>
            <a:ext cx="8229600" cy="685800"/>
          </a:xfrm>
          <a:prstGeom prst="rect">
            <a:avLst>
              <a:gd name="adj" fmla="val 13333"/>
            </a:avLst>
          </a:prstGeom>
          <a:solidFill>
            <a:srgbClr val="FFF3CD"/>
          </a:solidFill>
          <a:ln/>
          <a:effectLst>
            <a:outerShdw sx="100000" sy="100000" kx="0" ky="0" algn="bl" rotWithShape="0" blurRad="50800" dist="25400" dir="8100000">
              <a:srgbClr val="000000">
                <a:alpha val="12000"/>
              </a:srgbClr>
            </a:outerShdw>
          </a:effectLst>
        </p:spPr>
      </p:sp>
      <p:sp>
        <p:nvSpPr>
          <p:cNvPr id="24" name="Shape 22"/>
          <p:cNvSpPr/>
          <p:nvPr/>
        </p:nvSpPr>
        <p:spPr>
          <a:xfrm>
            <a:off x="457200" y="3840480"/>
            <a:ext cx="109728" cy="685800"/>
          </a:xfrm>
          <a:prstGeom prst="rect">
            <a:avLst>
              <a:gd name="adj" fmla="val 41667"/>
            </a:avLst>
          </a:prstGeom>
          <a:solidFill>
            <a:srgbClr val="F5C518"/>
          </a:solidFill>
          <a:ln/>
        </p:spPr>
      </p:sp>
      <p:sp>
        <p:nvSpPr>
          <p:cNvPr id="25" name="Text 23"/>
          <p:cNvSpPr/>
          <p:nvPr/>
        </p:nvSpPr>
        <p:spPr>
          <a:xfrm>
            <a:off x="731520" y="3886200"/>
            <a:ext cx="7772400" cy="274320"/>
          </a:xfrm>
          <a:prstGeom prst="rect">
            <a:avLst/>
          </a:prstGeom>
          <a:noFill/>
          <a:ln/>
        </p:spPr>
        <p:txBody>
          <a:bodyPr wrap="square" lIns="0" tIns="0" rIns="0" bIns="0" rtlCol="0" anchor="ctr"/>
          <a:lstStyle/>
          <a:p>
            <a:pPr indent="0" marL="0">
              <a:buNone/>
            </a:pPr>
            <a:r>
              <a:rPr lang="en-US" sz="1600" b="1" dirty="0">
                <a:solidFill>
                  <a:srgbClr val="856404"/>
                </a:solidFill>
                <a:latin typeface="BIZ UDPGothic" pitchFamily="34" charset="0"/>
                <a:ea typeface="BIZ UDPGothic" pitchFamily="34" charset="-122"/>
                <a:cs typeface="BIZ UDPGothic" pitchFamily="34" charset="-120"/>
              </a:rPr>
              <a:t>⚠️ 実際にはこの2つが重なることも多い</a:t>
            </a:r>
            <a:endParaRPr lang="en-US" sz="1600" dirty="0"/>
          </a:p>
        </p:txBody>
      </p:sp>
      <p:sp>
        <p:nvSpPr>
          <p:cNvPr id="26" name="Text 24"/>
          <p:cNvSpPr/>
          <p:nvPr/>
        </p:nvSpPr>
        <p:spPr>
          <a:xfrm>
            <a:off x="731520" y="4160520"/>
            <a:ext cx="7772400" cy="274320"/>
          </a:xfrm>
          <a:prstGeom prst="rect">
            <a:avLst/>
          </a:prstGeom>
          <a:noFill/>
          <a:ln/>
        </p:spPr>
        <p:txBody>
          <a:bodyPr wrap="square" lIns="0" tIns="0" rIns="0" bIns="0" rtlCol="0" anchor="ctr"/>
          <a:lstStyle/>
          <a:p>
            <a:pPr indent="0" marL="0">
              <a:buNone/>
            </a:pPr>
            <a:r>
              <a:rPr lang="en-US" sz="1400" dirty="0">
                <a:solidFill>
                  <a:srgbClr val="2D3436"/>
                </a:solidFill>
                <a:latin typeface="BIZ UDPGothic" pitchFamily="34" charset="0"/>
                <a:ea typeface="BIZ UDPGothic" pitchFamily="34" charset="-122"/>
                <a:cs typeface="BIZ UDPGothic" pitchFamily="34" charset="-120"/>
              </a:rPr>
              <a:t>例: 頸椎の変形（骨の問題）→ 神経が圧迫される（神経の問題）</a:t>
            </a:r>
            <a:endParaRPr lang="en-US" sz="1400" dirty="0"/>
          </a:p>
        </p:txBody>
      </p:sp>
      <p:sp>
        <p:nvSpPr>
          <p:cNvPr id="27" name="Shape 25"/>
          <p:cNvSpPr/>
          <p:nvPr/>
        </p:nvSpPr>
        <p:spPr>
          <a:xfrm>
            <a:off x="0" y="4800600"/>
            <a:ext cx="9144000" cy="347472"/>
          </a:xfrm>
          <a:prstGeom prst="rect">
            <a:avLst/>
          </a:prstGeom>
          <a:solidFill>
            <a:srgbClr val="1B3A5C"/>
          </a:solidFill>
          <a:ln/>
        </p:spPr>
      </p:sp>
      <p:sp>
        <p:nvSpPr>
          <p:cNvPr id="28" name="Text 26"/>
          <p:cNvSpPr/>
          <p:nvPr/>
        </p:nvSpPr>
        <p:spPr>
          <a:xfrm>
            <a:off x="365760" y="4818888"/>
            <a:ext cx="4572000" cy="274320"/>
          </a:xfrm>
          <a:prstGeom prst="rect">
            <a:avLst/>
          </a:prstGeom>
          <a:noFill/>
          <a:ln/>
        </p:spPr>
        <p:txBody>
          <a:bodyPr wrap="square" lIns="0" tIns="0" rIns="0" bIns="0" rtlCol="0" anchor="ctr"/>
          <a:lstStyle/>
          <a:p>
            <a:pPr indent="0" marL="0">
              <a:buNone/>
            </a:pPr>
            <a:r>
              <a:rPr lang="en-US" sz="1000" dirty="0">
                <a:solidFill>
                  <a:srgbClr val="FFFFFF"/>
                </a:solidFill>
                <a:latin typeface="BIZ UDPGothic" pitchFamily="34" charset="0"/>
                <a:ea typeface="BIZ UDPGothic" pitchFamily="34" charset="-122"/>
                <a:cs typeface="BIZ UDPGothic" pitchFamily="34" charset="-120"/>
              </a:rPr>
              <a:t>医知創造ラボ ｜ その症状、大丈夫？ #17</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5AA0"/>
          </a:solidFill>
          <a:ln/>
        </p:spPr>
      </p:sp>
      <p:sp>
        <p:nvSpPr>
          <p:cNvPr id="3" name="Text 1"/>
          <p:cNvSpPr/>
          <p:nvPr/>
        </p:nvSpPr>
        <p:spPr>
          <a:xfrm>
            <a:off x="457200" y="91440"/>
            <a:ext cx="8229600" cy="640080"/>
          </a:xfrm>
          <a:prstGeom prst="rect">
            <a:avLst/>
          </a:prstGeom>
          <a:noFill/>
          <a:ln/>
        </p:spPr>
        <p:txBody>
          <a:bodyPr wrap="square" lIns="0" tIns="0" rIns="0" bIns="0" rtlCol="0" anchor="ctr"/>
          <a:lstStyle/>
          <a:p>
            <a:pPr indent="0" marL="0">
              <a:buNone/>
            </a:pPr>
            <a:r>
              <a:rPr lang="en-US" sz="2600" b="1" dirty="0">
                <a:solidFill>
                  <a:srgbClr val="FFFFFF"/>
                </a:solidFill>
                <a:latin typeface="BIZ UDPGothic" pitchFamily="34" charset="0"/>
                <a:ea typeface="BIZ UDPGothic" pitchFamily="34" charset="-122"/>
                <a:cs typeface="BIZ UDPGothic" pitchFamily="34" charset="-120"/>
              </a:rPr>
              <a:t>筋肉・骨が原因の首の痛み（整形外科領域）</a:t>
            </a:r>
            <a:endParaRPr lang="en-US" sz="2600" dirty="0"/>
          </a:p>
        </p:txBody>
      </p:sp>
      <p:sp>
        <p:nvSpPr>
          <p:cNvPr id="4" name="Shape 2"/>
          <p:cNvSpPr/>
          <p:nvPr/>
        </p:nvSpPr>
        <p:spPr>
          <a:xfrm>
            <a:off x="457200" y="1005840"/>
            <a:ext cx="8229600" cy="1005840"/>
          </a:xfrm>
          <a:prstGeom prst="rect">
            <a:avLst>
              <a:gd name="adj" fmla="val 9091"/>
            </a:avLst>
          </a:prstGeom>
          <a:solidFill>
            <a:srgbClr val="FFFFFF"/>
          </a:solidFill>
          <a:ln/>
          <a:effectLst>
            <a:outerShdw sx="100000" sy="100000" kx="0" ky="0" algn="bl" rotWithShape="0" blurRad="50800" dist="25400" dir="8100000">
              <a:srgbClr val="000000">
                <a:alpha val="12000"/>
              </a:srgbClr>
            </a:outerShdw>
          </a:effectLst>
        </p:spPr>
      </p:sp>
      <p:sp>
        <p:nvSpPr>
          <p:cNvPr id="5" name="Shape 3"/>
          <p:cNvSpPr/>
          <p:nvPr/>
        </p:nvSpPr>
        <p:spPr>
          <a:xfrm>
            <a:off x="457200" y="1005840"/>
            <a:ext cx="109728" cy="1005840"/>
          </a:xfrm>
          <a:prstGeom prst="rect">
            <a:avLst>
              <a:gd name="adj" fmla="val 41667"/>
            </a:avLst>
          </a:prstGeom>
          <a:solidFill>
            <a:srgbClr val="E8850C"/>
          </a:solidFill>
          <a:ln/>
        </p:spPr>
      </p:sp>
      <p:sp>
        <p:nvSpPr>
          <p:cNvPr id="6" name="Text 4"/>
          <p:cNvSpPr/>
          <p:nvPr/>
        </p:nvSpPr>
        <p:spPr>
          <a:xfrm>
            <a:off x="640080" y="1097280"/>
            <a:ext cx="548640" cy="822960"/>
          </a:xfrm>
          <a:prstGeom prst="rect">
            <a:avLst/>
          </a:prstGeom>
          <a:noFill/>
          <a:ln/>
        </p:spPr>
        <p:txBody>
          <a:bodyPr wrap="square" lIns="0" tIns="0" rIns="0" bIns="0" rtlCol="0" anchor="ctr"/>
          <a:lstStyle/>
          <a:p>
            <a:pPr algn="ctr" indent="0" marL="0">
              <a:buNone/>
            </a:pPr>
            <a:r>
              <a:rPr lang="en-US" sz="3000" dirty="0">
                <a:solidFill>
                  <a:srgbClr val="000000"/>
                </a:solidFill>
              </a:rPr>
              <a:t>💻</a:t>
            </a:r>
            <a:endParaRPr lang="en-US" sz="3000" dirty="0"/>
          </a:p>
        </p:txBody>
      </p:sp>
      <p:sp>
        <p:nvSpPr>
          <p:cNvPr id="7" name="Text 5"/>
          <p:cNvSpPr/>
          <p:nvPr/>
        </p:nvSpPr>
        <p:spPr>
          <a:xfrm>
            <a:off x="1280160" y="1051560"/>
            <a:ext cx="7132320" cy="365760"/>
          </a:xfrm>
          <a:prstGeom prst="rect">
            <a:avLst/>
          </a:prstGeom>
          <a:noFill/>
          <a:ln/>
        </p:spPr>
        <p:txBody>
          <a:bodyPr wrap="square" lIns="0" tIns="0" rIns="0" bIns="0" rtlCol="0" anchor="ctr"/>
          <a:lstStyle/>
          <a:p>
            <a:pPr indent="0" marL="0">
              <a:buNone/>
            </a:pPr>
            <a:r>
              <a:rPr lang="en-US" sz="1900" b="1" dirty="0">
                <a:solidFill>
                  <a:srgbClr val="E8850C"/>
                </a:solidFill>
                <a:latin typeface="BIZ UDPGothic" pitchFamily="34" charset="0"/>
                <a:ea typeface="BIZ UDPGothic" pitchFamily="34" charset="-122"/>
                <a:cs typeface="BIZ UDPGothic" pitchFamily="34" charset="-120"/>
              </a:rPr>
              <a:t>頸肩腕症候群（肩こり）</a:t>
            </a:r>
            <a:endParaRPr lang="en-US" sz="1900" dirty="0"/>
          </a:p>
        </p:txBody>
      </p:sp>
      <p:sp>
        <p:nvSpPr>
          <p:cNvPr id="8" name="Text 6"/>
          <p:cNvSpPr/>
          <p:nvPr/>
        </p:nvSpPr>
        <p:spPr>
          <a:xfrm>
            <a:off x="1280160" y="1463040"/>
            <a:ext cx="7132320" cy="502920"/>
          </a:xfrm>
          <a:prstGeom prst="rect">
            <a:avLst/>
          </a:prstGeom>
          <a:noFill/>
          <a:ln/>
        </p:spPr>
        <p:txBody>
          <a:bodyPr wrap="square" lIns="0" tIns="0" rIns="0" bIns="0" rtlCol="0" anchor="ctr"/>
          <a:lstStyle/>
          <a:p>
            <a:pPr indent="0" marL="0">
              <a:lnSpc>
                <a:spcPct val="115000"/>
              </a:lnSpc>
              <a:buNone/>
            </a:pPr>
            <a:r>
              <a:rPr lang="en-US" sz="1500" dirty="0">
                <a:solidFill>
                  <a:srgbClr val="2D3436"/>
                </a:solidFill>
                <a:latin typeface="BIZ UDPGothic" pitchFamily="34" charset="0"/>
                <a:ea typeface="BIZ UDPGothic" pitchFamily="34" charset="-122"/>
                <a:cs typeface="BIZ UDPGothic" pitchFamily="34" charset="-120"/>
              </a:rPr>
              <a:t>デスクワーク・ストレス・姿勢不良で首から肩の筋肉が緊張</a:t>
            </a:r>
            <a:endParaRPr lang="en-US" sz="1500" dirty="0"/>
          </a:p>
          <a:p>
            <a:pPr indent="0" marL="0">
              <a:lnSpc>
                <a:spcPct val="115000"/>
              </a:lnSpc>
              <a:buNone/>
            </a:pPr>
            <a:r>
              <a:rPr lang="en-US" sz="1500" dirty="0">
                <a:solidFill>
                  <a:srgbClr val="2D3436"/>
                </a:solidFill>
                <a:latin typeface="BIZ UDPGothic" pitchFamily="34" charset="0"/>
                <a:ea typeface="BIZ UDPGothic" pitchFamily="34" charset="-122"/>
                <a:cs typeface="BIZ UDPGothic" pitchFamily="34" charset="-120"/>
              </a:rPr>
              <a:t>首〜肩〜腕の痛み・だるさ。最も多い原因</a:t>
            </a:r>
            <a:endParaRPr lang="en-US" sz="1500" dirty="0"/>
          </a:p>
        </p:txBody>
      </p:sp>
      <p:sp>
        <p:nvSpPr>
          <p:cNvPr id="9" name="Shape 7"/>
          <p:cNvSpPr/>
          <p:nvPr/>
        </p:nvSpPr>
        <p:spPr>
          <a:xfrm>
            <a:off x="457200" y="2194560"/>
            <a:ext cx="8229600" cy="1005840"/>
          </a:xfrm>
          <a:prstGeom prst="rect">
            <a:avLst>
              <a:gd name="adj" fmla="val 9091"/>
            </a:avLst>
          </a:prstGeom>
          <a:solidFill>
            <a:srgbClr val="FFFFFF"/>
          </a:solidFill>
          <a:ln/>
          <a:effectLst>
            <a:outerShdw sx="100000" sy="100000" kx="0" ky="0" algn="bl" rotWithShape="0" blurRad="50800" dist="25400" dir="8100000">
              <a:srgbClr val="000000">
                <a:alpha val="12000"/>
              </a:srgbClr>
            </a:outerShdw>
          </a:effectLst>
        </p:spPr>
      </p:sp>
      <p:sp>
        <p:nvSpPr>
          <p:cNvPr id="10" name="Shape 8"/>
          <p:cNvSpPr/>
          <p:nvPr/>
        </p:nvSpPr>
        <p:spPr>
          <a:xfrm>
            <a:off x="457200" y="2194560"/>
            <a:ext cx="109728" cy="1005840"/>
          </a:xfrm>
          <a:prstGeom prst="rect">
            <a:avLst>
              <a:gd name="adj" fmla="val 41667"/>
            </a:avLst>
          </a:prstGeom>
          <a:solidFill>
            <a:srgbClr val="E8850C"/>
          </a:solidFill>
          <a:ln/>
        </p:spPr>
      </p:sp>
      <p:sp>
        <p:nvSpPr>
          <p:cNvPr id="11" name="Text 9"/>
          <p:cNvSpPr/>
          <p:nvPr/>
        </p:nvSpPr>
        <p:spPr>
          <a:xfrm>
            <a:off x="640080" y="2286000"/>
            <a:ext cx="548640" cy="822960"/>
          </a:xfrm>
          <a:prstGeom prst="rect">
            <a:avLst/>
          </a:prstGeom>
          <a:noFill/>
          <a:ln/>
        </p:spPr>
        <p:txBody>
          <a:bodyPr wrap="square" lIns="0" tIns="0" rIns="0" bIns="0" rtlCol="0" anchor="ctr"/>
          <a:lstStyle/>
          <a:p>
            <a:pPr algn="ctr" indent="0" marL="0">
              <a:buNone/>
            </a:pPr>
            <a:r>
              <a:rPr lang="en-US" sz="3000" dirty="0">
                <a:solidFill>
                  <a:srgbClr val="000000"/>
                </a:solidFill>
              </a:rPr>
              <a:t>🦴</a:t>
            </a:r>
            <a:endParaRPr lang="en-US" sz="3000" dirty="0"/>
          </a:p>
        </p:txBody>
      </p:sp>
      <p:sp>
        <p:nvSpPr>
          <p:cNvPr id="12" name="Text 10"/>
          <p:cNvSpPr/>
          <p:nvPr/>
        </p:nvSpPr>
        <p:spPr>
          <a:xfrm>
            <a:off x="1280160" y="2240280"/>
            <a:ext cx="7132320" cy="365760"/>
          </a:xfrm>
          <a:prstGeom prst="rect">
            <a:avLst/>
          </a:prstGeom>
          <a:noFill/>
          <a:ln/>
        </p:spPr>
        <p:txBody>
          <a:bodyPr wrap="square" lIns="0" tIns="0" rIns="0" bIns="0" rtlCol="0" anchor="ctr"/>
          <a:lstStyle/>
          <a:p>
            <a:pPr indent="0" marL="0">
              <a:buNone/>
            </a:pPr>
            <a:r>
              <a:rPr lang="en-US" sz="1900" b="1" dirty="0">
                <a:solidFill>
                  <a:srgbClr val="E8850C"/>
                </a:solidFill>
                <a:latin typeface="BIZ UDPGothic" pitchFamily="34" charset="0"/>
                <a:ea typeface="BIZ UDPGothic" pitchFamily="34" charset="-122"/>
                <a:cs typeface="BIZ UDPGothic" pitchFamily="34" charset="-120"/>
              </a:rPr>
              <a:t>頸椎椎間板ヘルニア</a:t>
            </a:r>
            <a:endParaRPr lang="en-US" sz="1900" dirty="0"/>
          </a:p>
        </p:txBody>
      </p:sp>
      <p:sp>
        <p:nvSpPr>
          <p:cNvPr id="13" name="Text 11"/>
          <p:cNvSpPr/>
          <p:nvPr/>
        </p:nvSpPr>
        <p:spPr>
          <a:xfrm>
            <a:off x="1280160" y="2651760"/>
            <a:ext cx="7132320" cy="502920"/>
          </a:xfrm>
          <a:prstGeom prst="rect">
            <a:avLst/>
          </a:prstGeom>
          <a:noFill/>
          <a:ln/>
        </p:spPr>
        <p:txBody>
          <a:bodyPr wrap="square" lIns="0" tIns="0" rIns="0" bIns="0" rtlCol="0" anchor="ctr"/>
          <a:lstStyle/>
          <a:p>
            <a:pPr indent="0" marL="0">
              <a:lnSpc>
                <a:spcPct val="115000"/>
              </a:lnSpc>
              <a:buNone/>
            </a:pPr>
            <a:r>
              <a:rPr lang="en-US" sz="1500" dirty="0">
                <a:solidFill>
                  <a:srgbClr val="2D3436"/>
                </a:solidFill>
                <a:latin typeface="BIZ UDPGothic" pitchFamily="34" charset="0"/>
                <a:ea typeface="BIZ UDPGothic" pitchFamily="34" charset="-122"/>
                <a:cs typeface="BIZ UDPGothic" pitchFamily="34" charset="-120"/>
              </a:rPr>
              <a:t>椎間板が飛び出して神経を圧迫する</a:t>
            </a:r>
            <a:endParaRPr lang="en-US" sz="1500" dirty="0"/>
          </a:p>
          <a:p>
            <a:pPr indent="0" marL="0">
              <a:lnSpc>
                <a:spcPct val="115000"/>
              </a:lnSpc>
              <a:buNone/>
            </a:pPr>
            <a:r>
              <a:rPr lang="en-US" sz="1500" dirty="0">
                <a:solidFill>
                  <a:srgbClr val="2D3436"/>
                </a:solidFill>
                <a:latin typeface="BIZ UDPGothic" pitchFamily="34" charset="0"/>
                <a:ea typeface="BIZ UDPGothic" pitchFamily="34" charset="-122"/>
                <a:cs typeface="BIZ UDPGothic" pitchFamily="34" charset="-120"/>
              </a:rPr>
              <a:t>首の痛み＋片方の腕へのしびれ・痛み</a:t>
            </a:r>
            <a:endParaRPr lang="en-US" sz="1500" dirty="0"/>
          </a:p>
        </p:txBody>
      </p:sp>
      <p:sp>
        <p:nvSpPr>
          <p:cNvPr id="14" name="Shape 12"/>
          <p:cNvSpPr/>
          <p:nvPr/>
        </p:nvSpPr>
        <p:spPr>
          <a:xfrm>
            <a:off x="457200" y="3383280"/>
            <a:ext cx="8229600" cy="1005840"/>
          </a:xfrm>
          <a:prstGeom prst="rect">
            <a:avLst>
              <a:gd name="adj" fmla="val 9091"/>
            </a:avLst>
          </a:prstGeom>
          <a:solidFill>
            <a:srgbClr val="FFFFFF"/>
          </a:solidFill>
          <a:ln/>
          <a:effectLst>
            <a:outerShdw sx="100000" sy="100000" kx="0" ky="0" algn="bl" rotWithShape="0" blurRad="50800" dist="25400" dir="8100000">
              <a:srgbClr val="000000">
                <a:alpha val="12000"/>
              </a:srgbClr>
            </a:outerShdw>
          </a:effectLst>
        </p:spPr>
      </p:sp>
      <p:sp>
        <p:nvSpPr>
          <p:cNvPr id="15" name="Shape 13"/>
          <p:cNvSpPr/>
          <p:nvPr/>
        </p:nvSpPr>
        <p:spPr>
          <a:xfrm>
            <a:off x="457200" y="3383280"/>
            <a:ext cx="109728" cy="1005840"/>
          </a:xfrm>
          <a:prstGeom prst="rect">
            <a:avLst>
              <a:gd name="adj" fmla="val 41667"/>
            </a:avLst>
          </a:prstGeom>
          <a:solidFill>
            <a:srgbClr val="E8850C"/>
          </a:solidFill>
          <a:ln/>
        </p:spPr>
      </p:sp>
      <p:sp>
        <p:nvSpPr>
          <p:cNvPr id="16" name="Text 14"/>
          <p:cNvSpPr/>
          <p:nvPr/>
        </p:nvSpPr>
        <p:spPr>
          <a:xfrm>
            <a:off x="640080" y="3474720"/>
            <a:ext cx="548640" cy="822960"/>
          </a:xfrm>
          <a:prstGeom prst="rect">
            <a:avLst/>
          </a:prstGeom>
          <a:noFill/>
          <a:ln/>
        </p:spPr>
        <p:txBody>
          <a:bodyPr wrap="square" lIns="0" tIns="0" rIns="0" bIns="0" rtlCol="0" anchor="ctr"/>
          <a:lstStyle/>
          <a:p>
            <a:pPr algn="ctr" indent="0" marL="0">
              <a:buNone/>
            </a:pPr>
            <a:r>
              <a:rPr lang="en-US" sz="3000" dirty="0">
                <a:solidFill>
                  <a:srgbClr val="000000"/>
                </a:solidFill>
              </a:rPr>
              <a:t>👤</a:t>
            </a:r>
            <a:endParaRPr lang="en-US" sz="3000" dirty="0"/>
          </a:p>
        </p:txBody>
      </p:sp>
      <p:sp>
        <p:nvSpPr>
          <p:cNvPr id="17" name="Text 15"/>
          <p:cNvSpPr/>
          <p:nvPr/>
        </p:nvSpPr>
        <p:spPr>
          <a:xfrm>
            <a:off x="1280160" y="3429000"/>
            <a:ext cx="7132320" cy="365760"/>
          </a:xfrm>
          <a:prstGeom prst="rect">
            <a:avLst/>
          </a:prstGeom>
          <a:noFill/>
          <a:ln/>
        </p:spPr>
        <p:txBody>
          <a:bodyPr wrap="square" lIns="0" tIns="0" rIns="0" bIns="0" rtlCol="0" anchor="ctr"/>
          <a:lstStyle/>
          <a:p>
            <a:pPr indent="0" marL="0">
              <a:buNone/>
            </a:pPr>
            <a:r>
              <a:rPr lang="en-US" sz="1900" b="1" dirty="0">
                <a:solidFill>
                  <a:srgbClr val="E8850C"/>
                </a:solidFill>
                <a:latin typeface="BIZ UDPGothic" pitchFamily="34" charset="0"/>
                <a:ea typeface="BIZ UDPGothic" pitchFamily="34" charset="-122"/>
                <a:cs typeface="BIZ UDPGothic" pitchFamily="34" charset="-120"/>
              </a:rPr>
              <a:t>変形性頸椎症</a:t>
            </a:r>
            <a:endParaRPr lang="en-US" sz="1900" dirty="0"/>
          </a:p>
        </p:txBody>
      </p:sp>
      <p:sp>
        <p:nvSpPr>
          <p:cNvPr id="18" name="Text 16"/>
          <p:cNvSpPr/>
          <p:nvPr/>
        </p:nvSpPr>
        <p:spPr>
          <a:xfrm>
            <a:off x="1280160" y="3840480"/>
            <a:ext cx="7132320" cy="502920"/>
          </a:xfrm>
          <a:prstGeom prst="rect">
            <a:avLst/>
          </a:prstGeom>
          <a:noFill/>
          <a:ln/>
        </p:spPr>
        <p:txBody>
          <a:bodyPr wrap="square" lIns="0" tIns="0" rIns="0" bIns="0" rtlCol="0" anchor="ctr"/>
          <a:lstStyle/>
          <a:p>
            <a:pPr indent="0" marL="0">
              <a:lnSpc>
                <a:spcPct val="115000"/>
              </a:lnSpc>
              <a:buNone/>
            </a:pPr>
            <a:r>
              <a:rPr lang="en-US" sz="1500" dirty="0">
                <a:solidFill>
                  <a:srgbClr val="2D3436"/>
                </a:solidFill>
                <a:latin typeface="BIZ UDPGothic" pitchFamily="34" charset="0"/>
                <a:ea typeface="BIZ UDPGothic" pitchFamily="34" charset="-122"/>
                <a:cs typeface="BIZ UDPGothic" pitchFamily="34" charset="-120"/>
              </a:rPr>
              <a:t>加齢で首の骨が変形し、関節がすり減る</a:t>
            </a:r>
            <a:endParaRPr lang="en-US" sz="1500" dirty="0"/>
          </a:p>
          <a:p>
            <a:pPr indent="0" marL="0">
              <a:lnSpc>
                <a:spcPct val="115000"/>
              </a:lnSpc>
              <a:buNone/>
            </a:pPr>
            <a:r>
              <a:rPr lang="en-US" sz="1500" dirty="0">
                <a:solidFill>
                  <a:srgbClr val="2D3436"/>
                </a:solidFill>
                <a:latin typeface="BIZ UDPGothic" pitchFamily="34" charset="0"/>
                <a:ea typeface="BIZ UDPGothic" pitchFamily="34" charset="-122"/>
                <a:cs typeface="BIZ UDPGothic" pitchFamily="34" charset="-120"/>
              </a:rPr>
              <a:t>首の動きが悪くなり、動かすとゴリゴリ音がする</a:t>
            </a:r>
            <a:endParaRPr lang="en-US" sz="1500" dirty="0"/>
          </a:p>
        </p:txBody>
      </p:sp>
      <p:sp>
        <p:nvSpPr>
          <p:cNvPr id="19" name="Shape 17"/>
          <p:cNvSpPr/>
          <p:nvPr/>
        </p:nvSpPr>
        <p:spPr>
          <a:xfrm>
            <a:off x="0" y="4800600"/>
            <a:ext cx="9144000" cy="347472"/>
          </a:xfrm>
          <a:prstGeom prst="rect">
            <a:avLst/>
          </a:prstGeom>
          <a:solidFill>
            <a:srgbClr val="1B3A5C"/>
          </a:solidFill>
          <a:ln/>
        </p:spPr>
      </p:sp>
      <p:sp>
        <p:nvSpPr>
          <p:cNvPr id="20" name="Text 18"/>
          <p:cNvSpPr/>
          <p:nvPr/>
        </p:nvSpPr>
        <p:spPr>
          <a:xfrm>
            <a:off x="365760" y="4818888"/>
            <a:ext cx="4572000" cy="274320"/>
          </a:xfrm>
          <a:prstGeom prst="rect">
            <a:avLst/>
          </a:prstGeom>
          <a:noFill/>
          <a:ln/>
        </p:spPr>
        <p:txBody>
          <a:bodyPr wrap="square" lIns="0" tIns="0" rIns="0" bIns="0" rtlCol="0" anchor="ctr"/>
          <a:lstStyle/>
          <a:p>
            <a:pPr indent="0" marL="0">
              <a:buNone/>
            </a:pPr>
            <a:r>
              <a:rPr lang="en-US" sz="1000" dirty="0">
                <a:solidFill>
                  <a:srgbClr val="FFFFFF"/>
                </a:solidFill>
                <a:latin typeface="BIZ UDPGothic" pitchFamily="34" charset="0"/>
                <a:ea typeface="BIZ UDPGothic" pitchFamily="34" charset="-122"/>
                <a:cs typeface="BIZ UDPGothic" pitchFamily="34" charset="-120"/>
              </a:rPr>
              <a:t>医知創造ラボ ｜ その症状、大丈夫？ #17</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5AA0"/>
          </a:solidFill>
          <a:ln/>
        </p:spPr>
      </p:sp>
      <p:sp>
        <p:nvSpPr>
          <p:cNvPr id="3" name="Text 1"/>
          <p:cNvSpPr/>
          <p:nvPr/>
        </p:nvSpPr>
        <p:spPr>
          <a:xfrm>
            <a:off x="457200" y="91440"/>
            <a:ext cx="8229600" cy="640080"/>
          </a:xfrm>
          <a:prstGeom prst="rect">
            <a:avLst/>
          </a:prstGeom>
          <a:noFill/>
          <a:ln/>
        </p:spPr>
        <p:txBody>
          <a:bodyPr wrap="square" lIns="0" tIns="0" rIns="0" bIns="0" rtlCol="0" anchor="ctr"/>
          <a:lstStyle/>
          <a:p>
            <a:pPr indent="0" marL="0">
              <a:buNone/>
            </a:pPr>
            <a:r>
              <a:rPr lang="en-US" sz="2600" b="1" dirty="0">
                <a:solidFill>
                  <a:srgbClr val="FFFFFF"/>
                </a:solidFill>
                <a:latin typeface="BIZ UDPGothic" pitchFamily="34" charset="0"/>
                <a:ea typeface="BIZ UDPGothic" pitchFamily="34" charset="-122"/>
                <a:cs typeface="BIZ UDPGothic" pitchFamily="34" charset="-120"/>
              </a:rPr>
              <a:t>神経が原因の首の痛み（脳神経内科領域）</a:t>
            </a:r>
            <a:endParaRPr lang="en-US" sz="2600" dirty="0"/>
          </a:p>
        </p:txBody>
      </p:sp>
      <p:sp>
        <p:nvSpPr>
          <p:cNvPr id="4" name="Shape 2"/>
          <p:cNvSpPr/>
          <p:nvPr/>
        </p:nvSpPr>
        <p:spPr>
          <a:xfrm>
            <a:off x="457200" y="1005840"/>
            <a:ext cx="8229600" cy="1005840"/>
          </a:xfrm>
          <a:prstGeom prst="rect">
            <a:avLst>
              <a:gd name="adj" fmla="val 9091"/>
            </a:avLst>
          </a:prstGeom>
          <a:solidFill>
            <a:srgbClr val="FFFFFF"/>
          </a:solidFill>
          <a:ln/>
          <a:effectLst>
            <a:outerShdw sx="100000" sy="100000" kx="0" ky="0" algn="bl" rotWithShape="0" blurRad="50800" dist="25400" dir="8100000">
              <a:srgbClr val="000000">
                <a:alpha val="12000"/>
              </a:srgbClr>
            </a:outerShdw>
          </a:effectLst>
        </p:spPr>
      </p:sp>
      <p:sp>
        <p:nvSpPr>
          <p:cNvPr id="5" name="Shape 3"/>
          <p:cNvSpPr/>
          <p:nvPr/>
        </p:nvSpPr>
        <p:spPr>
          <a:xfrm>
            <a:off x="457200" y="1005840"/>
            <a:ext cx="109728" cy="1005840"/>
          </a:xfrm>
          <a:prstGeom prst="rect">
            <a:avLst>
              <a:gd name="adj" fmla="val 41667"/>
            </a:avLst>
          </a:prstGeom>
          <a:solidFill>
            <a:srgbClr val="2C5AA0"/>
          </a:solidFill>
          <a:ln/>
        </p:spPr>
      </p:sp>
      <p:sp>
        <p:nvSpPr>
          <p:cNvPr id="6" name="Text 4"/>
          <p:cNvSpPr/>
          <p:nvPr/>
        </p:nvSpPr>
        <p:spPr>
          <a:xfrm>
            <a:off x="640080" y="1097280"/>
            <a:ext cx="548640" cy="822960"/>
          </a:xfrm>
          <a:prstGeom prst="rect">
            <a:avLst/>
          </a:prstGeom>
          <a:noFill/>
          <a:ln/>
        </p:spPr>
        <p:txBody>
          <a:bodyPr wrap="square" lIns="0" tIns="0" rIns="0" bIns="0" rtlCol="0" anchor="ctr"/>
          <a:lstStyle/>
          <a:p>
            <a:pPr algn="ctr" indent="0" marL="0">
              <a:buNone/>
            </a:pPr>
            <a:r>
              <a:rPr lang="en-US" sz="3000" dirty="0">
                <a:solidFill>
                  <a:srgbClr val="000000"/>
                </a:solidFill>
              </a:rPr>
              <a:t>⚡</a:t>
            </a:r>
            <a:endParaRPr lang="en-US" sz="3000" dirty="0"/>
          </a:p>
        </p:txBody>
      </p:sp>
      <p:sp>
        <p:nvSpPr>
          <p:cNvPr id="7" name="Text 5"/>
          <p:cNvSpPr/>
          <p:nvPr/>
        </p:nvSpPr>
        <p:spPr>
          <a:xfrm>
            <a:off x="1280160" y="1051560"/>
            <a:ext cx="7132320" cy="365760"/>
          </a:xfrm>
          <a:prstGeom prst="rect">
            <a:avLst/>
          </a:prstGeom>
          <a:noFill/>
          <a:ln/>
        </p:spPr>
        <p:txBody>
          <a:bodyPr wrap="square" lIns="0" tIns="0" rIns="0" bIns="0" rtlCol="0" anchor="ctr"/>
          <a:lstStyle/>
          <a:p>
            <a:pPr indent="0" marL="0">
              <a:buNone/>
            </a:pPr>
            <a:r>
              <a:rPr lang="en-US" sz="1900" b="1" dirty="0">
                <a:solidFill>
                  <a:srgbClr val="2C5AA0"/>
                </a:solidFill>
                <a:latin typeface="BIZ UDPGothic" pitchFamily="34" charset="0"/>
                <a:ea typeface="BIZ UDPGothic" pitchFamily="34" charset="-122"/>
                <a:cs typeface="BIZ UDPGothic" pitchFamily="34" charset="-120"/>
              </a:rPr>
              <a:t>頸椎症性神経根症</a:t>
            </a:r>
            <a:endParaRPr lang="en-US" sz="1900" dirty="0"/>
          </a:p>
        </p:txBody>
      </p:sp>
      <p:sp>
        <p:nvSpPr>
          <p:cNvPr id="8" name="Text 6"/>
          <p:cNvSpPr/>
          <p:nvPr/>
        </p:nvSpPr>
        <p:spPr>
          <a:xfrm>
            <a:off x="1280160" y="1463040"/>
            <a:ext cx="7132320" cy="502920"/>
          </a:xfrm>
          <a:prstGeom prst="rect">
            <a:avLst/>
          </a:prstGeom>
          <a:noFill/>
          <a:ln/>
        </p:spPr>
        <p:txBody>
          <a:bodyPr wrap="square" lIns="0" tIns="0" rIns="0" bIns="0" rtlCol="0" anchor="ctr"/>
          <a:lstStyle/>
          <a:p>
            <a:pPr indent="0" marL="0">
              <a:lnSpc>
                <a:spcPct val="115000"/>
              </a:lnSpc>
              <a:buNone/>
            </a:pPr>
            <a:r>
              <a:rPr lang="en-US" sz="1500" dirty="0">
                <a:solidFill>
                  <a:srgbClr val="2D3436"/>
                </a:solidFill>
                <a:latin typeface="BIZ UDPGothic" pitchFamily="34" charset="0"/>
                <a:ea typeface="BIZ UDPGothic" pitchFamily="34" charset="-122"/>
                <a:cs typeface="BIZ UDPGothic" pitchFamily="34" charset="-120"/>
              </a:rPr>
              <a:t>首の骨の変形が神経の根元を圧迫</a:t>
            </a:r>
            <a:endParaRPr lang="en-US" sz="1500" dirty="0"/>
          </a:p>
          <a:p>
            <a:pPr indent="0" marL="0">
              <a:lnSpc>
                <a:spcPct val="115000"/>
              </a:lnSpc>
              <a:buNone/>
            </a:pPr>
            <a:r>
              <a:rPr lang="en-US" sz="1500" dirty="0">
                <a:solidFill>
                  <a:srgbClr val="2D3436"/>
                </a:solidFill>
                <a:latin typeface="BIZ UDPGothic" pitchFamily="34" charset="0"/>
                <a:ea typeface="BIZ UDPGothic" pitchFamily="34" charset="-122"/>
                <a:cs typeface="BIZ UDPGothic" pitchFamily="34" charset="-120"/>
              </a:rPr>
              <a:t>首を後ろに反らすと腕に電気が走る痛み</a:t>
            </a:r>
            <a:endParaRPr lang="en-US" sz="1500" dirty="0"/>
          </a:p>
        </p:txBody>
      </p:sp>
      <p:sp>
        <p:nvSpPr>
          <p:cNvPr id="9" name="Shape 7"/>
          <p:cNvSpPr/>
          <p:nvPr/>
        </p:nvSpPr>
        <p:spPr>
          <a:xfrm>
            <a:off x="457200" y="2194560"/>
            <a:ext cx="8229600" cy="1005840"/>
          </a:xfrm>
          <a:prstGeom prst="rect">
            <a:avLst>
              <a:gd name="adj" fmla="val 9091"/>
            </a:avLst>
          </a:prstGeom>
          <a:solidFill>
            <a:srgbClr val="FFFFFF"/>
          </a:solidFill>
          <a:ln/>
          <a:effectLst>
            <a:outerShdw sx="100000" sy="100000" kx="0" ky="0" algn="bl" rotWithShape="0" blurRad="50800" dist="25400" dir="8100000">
              <a:srgbClr val="000000">
                <a:alpha val="12000"/>
              </a:srgbClr>
            </a:outerShdw>
          </a:effectLst>
        </p:spPr>
      </p:sp>
      <p:sp>
        <p:nvSpPr>
          <p:cNvPr id="10" name="Shape 8"/>
          <p:cNvSpPr/>
          <p:nvPr/>
        </p:nvSpPr>
        <p:spPr>
          <a:xfrm>
            <a:off x="457200" y="2194560"/>
            <a:ext cx="109728" cy="1005840"/>
          </a:xfrm>
          <a:prstGeom prst="rect">
            <a:avLst>
              <a:gd name="adj" fmla="val 41667"/>
            </a:avLst>
          </a:prstGeom>
          <a:solidFill>
            <a:srgbClr val="2C5AA0"/>
          </a:solidFill>
          <a:ln/>
        </p:spPr>
      </p:sp>
      <p:sp>
        <p:nvSpPr>
          <p:cNvPr id="11" name="Text 9"/>
          <p:cNvSpPr/>
          <p:nvPr/>
        </p:nvSpPr>
        <p:spPr>
          <a:xfrm>
            <a:off x="640080" y="2286000"/>
            <a:ext cx="548640" cy="822960"/>
          </a:xfrm>
          <a:prstGeom prst="rect">
            <a:avLst/>
          </a:prstGeom>
          <a:noFill/>
          <a:ln/>
        </p:spPr>
        <p:txBody>
          <a:bodyPr wrap="square" lIns="0" tIns="0" rIns="0" bIns="0" rtlCol="0" anchor="ctr"/>
          <a:lstStyle/>
          <a:p>
            <a:pPr algn="ctr" indent="0" marL="0">
              <a:buNone/>
            </a:pPr>
            <a:r>
              <a:rPr lang="en-US" sz="3000" dirty="0">
                <a:solidFill>
                  <a:srgbClr val="000000"/>
                </a:solidFill>
              </a:rPr>
              <a:t>🚶</a:t>
            </a:r>
            <a:endParaRPr lang="en-US" sz="3000" dirty="0"/>
          </a:p>
        </p:txBody>
      </p:sp>
      <p:sp>
        <p:nvSpPr>
          <p:cNvPr id="12" name="Text 10"/>
          <p:cNvSpPr/>
          <p:nvPr/>
        </p:nvSpPr>
        <p:spPr>
          <a:xfrm>
            <a:off x="1280160" y="2240280"/>
            <a:ext cx="7132320" cy="365760"/>
          </a:xfrm>
          <a:prstGeom prst="rect">
            <a:avLst/>
          </a:prstGeom>
          <a:noFill/>
          <a:ln/>
        </p:spPr>
        <p:txBody>
          <a:bodyPr wrap="square" lIns="0" tIns="0" rIns="0" bIns="0" rtlCol="0" anchor="ctr"/>
          <a:lstStyle/>
          <a:p>
            <a:pPr indent="0" marL="0">
              <a:buNone/>
            </a:pPr>
            <a:r>
              <a:rPr lang="en-US" sz="1900" b="1" dirty="0">
                <a:solidFill>
                  <a:srgbClr val="2C5AA0"/>
                </a:solidFill>
                <a:latin typeface="BIZ UDPGothic" pitchFamily="34" charset="0"/>
                <a:ea typeface="BIZ UDPGothic" pitchFamily="34" charset="-122"/>
                <a:cs typeface="BIZ UDPGothic" pitchFamily="34" charset="-120"/>
              </a:rPr>
              <a:t>頸椎症性脊髄症</a:t>
            </a:r>
            <a:endParaRPr lang="en-US" sz="1900" dirty="0"/>
          </a:p>
        </p:txBody>
      </p:sp>
      <p:sp>
        <p:nvSpPr>
          <p:cNvPr id="13" name="Text 11"/>
          <p:cNvSpPr/>
          <p:nvPr/>
        </p:nvSpPr>
        <p:spPr>
          <a:xfrm>
            <a:off x="1280160" y="2651760"/>
            <a:ext cx="7132320" cy="502920"/>
          </a:xfrm>
          <a:prstGeom prst="rect">
            <a:avLst/>
          </a:prstGeom>
          <a:noFill/>
          <a:ln/>
        </p:spPr>
        <p:txBody>
          <a:bodyPr wrap="square" lIns="0" tIns="0" rIns="0" bIns="0" rtlCol="0" anchor="ctr"/>
          <a:lstStyle/>
          <a:p>
            <a:pPr indent="0" marL="0">
              <a:lnSpc>
                <a:spcPct val="115000"/>
              </a:lnSpc>
              <a:buNone/>
            </a:pPr>
            <a:r>
              <a:rPr lang="en-US" sz="1500" dirty="0">
                <a:solidFill>
                  <a:srgbClr val="2D3436"/>
                </a:solidFill>
                <a:latin typeface="BIZ UDPGothic" pitchFamily="34" charset="0"/>
                <a:ea typeface="BIZ UDPGothic" pitchFamily="34" charset="-122"/>
                <a:cs typeface="BIZ UDPGothic" pitchFamily="34" charset="-120"/>
              </a:rPr>
              <a:t>脊髄そのものが圧迫される重症タイプ</a:t>
            </a:r>
            <a:endParaRPr lang="en-US" sz="1500" dirty="0"/>
          </a:p>
          <a:p>
            <a:pPr indent="0" marL="0">
              <a:lnSpc>
                <a:spcPct val="115000"/>
              </a:lnSpc>
              <a:buNone/>
            </a:pPr>
            <a:r>
              <a:rPr lang="en-US" sz="1500" dirty="0">
                <a:solidFill>
                  <a:srgbClr val="2D3436"/>
                </a:solidFill>
                <a:latin typeface="BIZ UDPGothic" pitchFamily="34" charset="0"/>
                <a:ea typeface="BIZ UDPGothic" pitchFamily="34" charset="-122"/>
                <a:cs typeface="BIZ UDPGothic" pitchFamily="34" charset="-120"/>
              </a:rPr>
              <a:t>手のしびれ・細かい動作がしにくい・歩行障害</a:t>
            </a:r>
            <a:endParaRPr lang="en-US" sz="1500" dirty="0"/>
          </a:p>
        </p:txBody>
      </p:sp>
      <p:sp>
        <p:nvSpPr>
          <p:cNvPr id="14" name="Shape 12"/>
          <p:cNvSpPr/>
          <p:nvPr/>
        </p:nvSpPr>
        <p:spPr>
          <a:xfrm>
            <a:off x="457200" y="3383280"/>
            <a:ext cx="8229600" cy="1005840"/>
          </a:xfrm>
          <a:prstGeom prst="rect">
            <a:avLst>
              <a:gd name="adj" fmla="val 9091"/>
            </a:avLst>
          </a:prstGeom>
          <a:solidFill>
            <a:srgbClr val="FFFFFF"/>
          </a:solidFill>
          <a:ln/>
          <a:effectLst>
            <a:outerShdw sx="100000" sy="100000" kx="0" ky="0" algn="bl" rotWithShape="0" blurRad="50800" dist="25400" dir="8100000">
              <a:srgbClr val="000000">
                <a:alpha val="12000"/>
              </a:srgbClr>
            </a:outerShdw>
          </a:effectLst>
        </p:spPr>
      </p:sp>
      <p:sp>
        <p:nvSpPr>
          <p:cNvPr id="15" name="Shape 13"/>
          <p:cNvSpPr/>
          <p:nvPr/>
        </p:nvSpPr>
        <p:spPr>
          <a:xfrm>
            <a:off x="457200" y="3383280"/>
            <a:ext cx="109728" cy="1005840"/>
          </a:xfrm>
          <a:prstGeom prst="rect">
            <a:avLst>
              <a:gd name="adj" fmla="val 41667"/>
            </a:avLst>
          </a:prstGeom>
          <a:solidFill>
            <a:srgbClr val="2C5AA0"/>
          </a:solidFill>
          <a:ln/>
        </p:spPr>
      </p:sp>
      <p:sp>
        <p:nvSpPr>
          <p:cNvPr id="16" name="Text 14"/>
          <p:cNvSpPr/>
          <p:nvPr/>
        </p:nvSpPr>
        <p:spPr>
          <a:xfrm>
            <a:off x="640080" y="3474720"/>
            <a:ext cx="548640" cy="822960"/>
          </a:xfrm>
          <a:prstGeom prst="rect">
            <a:avLst/>
          </a:prstGeom>
          <a:noFill/>
          <a:ln/>
        </p:spPr>
        <p:txBody>
          <a:bodyPr wrap="square" lIns="0" tIns="0" rIns="0" bIns="0" rtlCol="0" anchor="ctr"/>
          <a:lstStyle/>
          <a:p>
            <a:pPr algn="ctr" indent="0" marL="0">
              <a:buNone/>
            </a:pPr>
            <a:r>
              <a:rPr lang="en-US" sz="3000" dirty="0">
                <a:solidFill>
                  <a:srgbClr val="000000"/>
                </a:solidFill>
              </a:rPr>
              <a:t>💥</a:t>
            </a:r>
            <a:endParaRPr lang="en-US" sz="3000" dirty="0"/>
          </a:p>
        </p:txBody>
      </p:sp>
      <p:sp>
        <p:nvSpPr>
          <p:cNvPr id="17" name="Text 15"/>
          <p:cNvSpPr/>
          <p:nvPr/>
        </p:nvSpPr>
        <p:spPr>
          <a:xfrm>
            <a:off x="1280160" y="3429000"/>
            <a:ext cx="7132320" cy="365760"/>
          </a:xfrm>
          <a:prstGeom prst="rect">
            <a:avLst/>
          </a:prstGeom>
          <a:noFill/>
          <a:ln/>
        </p:spPr>
        <p:txBody>
          <a:bodyPr wrap="square" lIns="0" tIns="0" rIns="0" bIns="0" rtlCol="0" anchor="ctr"/>
          <a:lstStyle/>
          <a:p>
            <a:pPr indent="0" marL="0">
              <a:buNone/>
            </a:pPr>
            <a:r>
              <a:rPr lang="en-US" sz="1900" b="1" dirty="0">
                <a:solidFill>
                  <a:srgbClr val="2C5AA0"/>
                </a:solidFill>
                <a:latin typeface="BIZ UDPGothic" pitchFamily="34" charset="0"/>
                <a:ea typeface="BIZ UDPGothic" pitchFamily="34" charset="-122"/>
                <a:cs typeface="BIZ UDPGothic" pitchFamily="34" charset="-120"/>
              </a:rPr>
              <a:t>後頭神経痛</a:t>
            </a:r>
            <a:endParaRPr lang="en-US" sz="1900" dirty="0"/>
          </a:p>
        </p:txBody>
      </p:sp>
      <p:sp>
        <p:nvSpPr>
          <p:cNvPr id="18" name="Text 16"/>
          <p:cNvSpPr/>
          <p:nvPr/>
        </p:nvSpPr>
        <p:spPr>
          <a:xfrm>
            <a:off x="1280160" y="3840480"/>
            <a:ext cx="7132320" cy="502920"/>
          </a:xfrm>
          <a:prstGeom prst="rect">
            <a:avLst/>
          </a:prstGeom>
          <a:noFill/>
          <a:ln/>
        </p:spPr>
        <p:txBody>
          <a:bodyPr wrap="square" lIns="0" tIns="0" rIns="0" bIns="0" rtlCol="0" anchor="ctr"/>
          <a:lstStyle/>
          <a:p>
            <a:pPr indent="0" marL="0">
              <a:lnSpc>
                <a:spcPct val="115000"/>
              </a:lnSpc>
              <a:buNone/>
            </a:pPr>
            <a:r>
              <a:rPr lang="en-US" sz="1500" dirty="0">
                <a:solidFill>
                  <a:srgbClr val="2D3436"/>
                </a:solidFill>
                <a:latin typeface="BIZ UDPGothic" pitchFamily="34" charset="0"/>
                <a:ea typeface="BIZ UDPGothic" pitchFamily="34" charset="-122"/>
                <a:cs typeface="BIZ UDPGothic" pitchFamily="34" charset="-120"/>
              </a:rPr>
              <a:t>後頭部〜首の付け根にズキッとする鋭い痛み</a:t>
            </a:r>
            <a:endParaRPr lang="en-US" sz="1500" dirty="0"/>
          </a:p>
          <a:p>
            <a:pPr indent="0" marL="0">
              <a:lnSpc>
                <a:spcPct val="115000"/>
              </a:lnSpc>
              <a:buNone/>
            </a:pPr>
            <a:r>
              <a:rPr lang="en-US" sz="1500" dirty="0">
                <a:solidFill>
                  <a:srgbClr val="2D3436"/>
                </a:solidFill>
                <a:latin typeface="BIZ UDPGothic" pitchFamily="34" charset="0"/>
                <a:ea typeface="BIZ UDPGothic" pitchFamily="34" charset="-122"/>
                <a:cs typeface="BIZ UDPGothic" pitchFamily="34" charset="-120"/>
              </a:rPr>
              <a:t>片側に多く、触ると痛みが誘発される</a:t>
            </a:r>
            <a:endParaRPr lang="en-US" sz="1500" dirty="0"/>
          </a:p>
        </p:txBody>
      </p:sp>
      <p:sp>
        <p:nvSpPr>
          <p:cNvPr id="19" name="Shape 17"/>
          <p:cNvSpPr/>
          <p:nvPr/>
        </p:nvSpPr>
        <p:spPr>
          <a:xfrm>
            <a:off x="0" y="4800600"/>
            <a:ext cx="9144000" cy="347472"/>
          </a:xfrm>
          <a:prstGeom prst="rect">
            <a:avLst/>
          </a:prstGeom>
          <a:solidFill>
            <a:srgbClr val="1B3A5C"/>
          </a:solidFill>
          <a:ln/>
        </p:spPr>
      </p:sp>
      <p:sp>
        <p:nvSpPr>
          <p:cNvPr id="20" name="Text 18"/>
          <p:cNvSpPr/>
          <p:nvPr/>
        </p:nvSpPr>
        <p:spPr>
          <a:xfrm>
            <a:off x="365760" y="4818888"/>
            <a:ext cx="4572000" cy="274320"/>
          </a:xfrm>
          <a:prstGeom prst="rect">
            <a:avLst/>
          </a:prstGeom>
          <a:noFill/>
          <a:ln/>
        </p:spPr>
        <p:txBody>
          <a:bodyPr wrap="square" lIns="0" tIns="0" rIns="0" bIns="0" rtlCol="0" anchor="ctr"/>
          <a:lstStyle/>
          <a:p>
            <a:pPr indent="0" marL="0">
              <a:buNone/>
            </a:pPr>
            <a:r>
              <a:rPr lang="en-US" sz="1000" dirty="0">
                <a:solidFill>
                  <a:srgbClr val="FFFFFF"/>
                </a:solidFill>
                <a:latin typeface="BIZ UDPGothic" pitchFamily="34" charset="0"/>
                <a:ea typeface="BIZ UDPGothic" pitchFamily="34" charset="-122"/>
                <a:cs typeface="BIZ UDPGothic" pitchFamily="34" charset="-120"/>
              </a:rPr>
              <a:t>医知創造ラボ ｜ その症状、大丈夫？ #17</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5AA0"/>
          </a:solidFill>
          <a:ln/>
        </p:spPr>
      </p:sp>
      <p:sp>
        <p:nvSpPr>
          <p:cNvPr id="3" name="Text 1"/>
          <p:cNvSpPr/>
          <p:nvPr/>
        </p:nvSpPr>
        <p:spPr>
          <a:xfrm>
            <a:off x="457200" y="91440"/>
            <a:ext cx="8229600" cy="640080"/>
          </a:xfrm>
          <a:prstGeom prst="rect">
            <a:avLst/>
          </a:prstGeom>
          <a:noFill/>
          <a:ln/>
        </p:spPr>
        <p:txBody>
          <a:bodyPr wrap="square" lIns="0" tIns="0" rIns="0" bIns="0" rtlCol="0" anchor="ctr"/>
          <a:lstStyle/>
          <a:p>
            <a:pPr indent="0" marL="0">
              <a:buNone/>
            </a:pPr>
            <a:r>
              <a:rPr lang="en-US" sz="2600" b="1" dirty="0">
                <a:solidFill>
                  <a:srgbClr val="FFFFFF"/>
                </a:solidFill>
                <a:latin typeface="BIZ UDPGothic" pitchFamily="34" charset="0"/>
                <a:ea typeface="BIZ UDPGothic" pitchFamily="34" charset="-122"/>
                <a:cs typeface="BIZ UDPGothic" pitchFamily="34" charset="-120"/>
              </a:rPr>
              <a:t>見分けるポイント ― 痛みだけ？しびれもある？</a:t>
            </a:r>
            <a:endParaRPr lang="en-US" sz="2600" dirty="0"/>
          </a:p>
        </p:txBody>
      </p:sp>
      <p:sp>
        <p:nvSpPr>
          <p:cNvPr id="4" name="Shape 2"/>
          <p:cNvSpPr/>
          <p:nvPr/>
        </p:nvSpPr>
        <p:spPr>
          <a:xfrm>
            <a:off x="457200" y="1005840"/>
            <a:ext cx="3931920" cy="2011680"/>
          </a:xfrm>
          <a:prstGeom prst="rect">
            <a:avLst>
              <a:gd name="adj" fmla="val 4545"/>
            </a:avLst>
          </a:prstGeom>
          <a:solidFill>
            <a:srgbClr val="FFFFFF"/>
          </a:solidFill>
          <a:ln/>
          <a:effectLst>
            <a:outerShdw sx="100000" sy="100000" kx="0" ky="0" algn="bl" rotWithShape="0" blurRad="50800" dist="25400" dir="8100000">
              <a:srgbClr val="000000">
                <a:alpha val="12000"/>
              </a:srgbClr>
            </a:outerShdw>
          </a:effectLst>
        </p:spPr>
      </p:sp>
      <p:sp>
        <p:nvSpPr>
          <p:cNvPr id="5" name="Shape 3"/>
          <p:cNvSpPr/>
          <p:nvPr/>
        </p:nvSpPr>
        <p:spPr>
          <a:xfrm>
            <a:off x="457200" y="1005840"/>
            <a:ext cx="109728" cy="2011680"/>
          </a:xfrm>
          <a:prstGeom prst="rect">
            <a:avLst>
              <a:gd name="adj" fmla="val 41667"/>
            </a:avLst>
          </a:prstGeom>
          <a:solidFill>
            <a:srgbClr val="E8850C"/>
          </a:solidFill>
          <a:ln/>
        </p:spPr>
      </p:sp>
      <p:sp>
        <p:nvSpPr>
          <p:cNvPr id="6" name="Text 4"/>
          <p:cNvSpPr/>
          <p:nvPr/>
        </p:nvSpPr>
        <p:spPr>
          <a:xfrm>
            <a:off x="640080" y="1051560"/>
            <a:ext cx="3474720" cy="365760"/>
          </a:xfrm>
          <a:prstGeom prst="rect">
            <a:avLst/>
          </a:prstGeom>
          <a:noFill/>
          <a:ln/>
        </p:spPr>
        <p:txBody>
          <a:bodyPr wrap="square" lIns="0" tIns="0" rIns="0" bIns="0" rtlCol="0" anchor="ctr"/>
          <a:lstStyle/>
          <a:p>
            <a:pPr indent="0" marL="0">
              <a:buNone/>
            </a:pPr>
            <a:r>
              <a:rPr lang="en-US" sz="1600" b="1" dirty="0">
                <a:solidFill>
                  <a:srgbClr val="E8850C"/>
                </a:solidFill>
                <a:latin typeface="BIZ UDPGothic" pitchFamily="34" charset="0"/>
                <a:ea typeface="BIZ UDPGothic" pitchFamily="34" charset="-122"/>
                <a:cs typeface="BIZ UDPGothic" pitchFamily="34" charset="-120"/>
              </a:rPr>
              <a:t>😣 痛みだけ → 筋肉・骨の可能性大</a:t>
            </a:r>
            <a:endParaRPr lang="en-US" sz="1600" dirty="0"/>
          </a:p>
        </p:txBody>
      </p:sp>
      <p:sp>
        <p:nvSpPr>
          <p:cNvPr id="7" name="Text 5"/>
          <p:cNvSpPr/>
          <p:nvPr/>
        </p:nvSpPr>
        <p:spPr>
          <a:xfrm>
            <a:off x="640080" y="1508760"/>
            <a:ext cx="3474720" cy="274320"/>
          </a:xfrm>
          <a:prstGeom prst="rect">
            <a:avLst/>
          </a:prstGeom>
          <a:noFill/>
          <a:ln/>
        </p:spPr>
        <p:txBody>
          <a:bodyPr wrap="square" lIns="0" tIns="0" rIns="0" bIns="0" rtlCol="0" anchor="ctr"/>
          <a:lstStyle/>
          <a:p>
            <a:pPr indent="0" marL="0">
              <a:buNone/>
            </a:pPr>
            <a:r>
              <a:rPr lang="en-US" sz="1400" dirty="0">
                <a:solidFill>
                  <a:srgbClr val="2D3436"/>
                </a:solidFill>
                <a:latin typeface="BIZ UDPGothic" pitchFamily="34" charset="0"/>
                <a:ea typeface="BIZ UDPGothic" pitchFamily="34" charset="-122"/>
                <a:cs typeface="BIZ UDPGothic" pitchFamily="34" charset="-120"/>
              </a:rPr>
              <a:t>• 首を動かすと痛い</a:t>
            </a:r>
            <a:endParaRPr lang="en-US" sz="1400" dirty="0"/>
          </a:p>
        </p:txBody>
      </p:sp>
      <p:sp>
        <p:nvSpPr>
          <p:cNvPr id="8" name="Text 6"/>
          <p:cNvSpPr/>
          <p:nvPr/>
        </p:nvSpPr>
        <p:spPr>
          <a:xfrm>
            <a:off x="640080" y="1783080"/>
            <a:ext cx="3474720" cy="274320"/>
          </a:xfrm>
          <a:prstGeom prst="rect">
            <a:avLst/>
          </a:prstGeom>
          <a:noFill/>
          <a:ln/>
        </p:spPr>
        <p:txBody>
          <a:bodyPr wrap="square" lIns="0" tIns="0" rIns="0" bIns="0" rtlCol="0" anchor="ctr"/>
          <a:lstStyle/>
          <a:p>
            <a:pPr indent="0" marL="0">
              <a:buNone/>
            </a:pPr>
            <a:r>
              <a:rPr lang="en-US" sz="1400" dirty="0">
                <a:solidFill>
                  <a:srgbClr val="2D3436"/>
                </a:solidFill>
                <a:latin typeface="BIZ UDPGothic" pitchFamily="34" charset="0"/>
                <a:ea typeface="BIZ UDPGothic" pitchFamily="34" charset="-122"/>
                <a:cs typeface="BIZ UDPGothic" pitchFamily="34" charset="-120"/>
              </a:rPr>
              <a:t>• 肩がこる・張る</a:t>
            </a:r>
            <a:endParaRPr lang="en-US" sz="1400" dirty="0"/>
          </a:p>
        </p:txBody>
      </p:sp>
      <p:sp>
        <p:nvSpPr>
          <p:cNvPr id="9" name="Text 7"/>
          <p:cNvSpPr/>
          <p:nvPr/>
        </p:nvSpPr>
        <p:spPr>
          <a:xfrm>
            <a:off x="640080" y="2057400"/>
            <a:ext cx="3474720" cy="274320"/>
          </a:xfrm>
          <a:prstGeom prst="rect">
            <a:avLst/>
          </a:prstGeom>
          <a:noFill/>
          <a:ln/>
        </p:spPr>
        <p:txBody>
          <a:bodyPr wrap="square" lIns="0" tIns="0" rIns="0" bIns="0" rtlCol="0" anchor="ctr"/>
          <a:lstStyle/>
          <a:p>
            <a:pPr indent="0" marL="0">
              <a:buNone/>
            </a:pPr>
            <a:r>
              <a:rPr lang="en-US" sz="1400" dirty="0">
                <a:solidFill>
                  <a:srgbClr val="2D3436"/>
                </a:solidFill>
                <a:latin typeface="BIZ UDPGothic" pitchFamily="34" charset="0"/>
                <a:ea typeface="BIZ UDPGothic" pitchFamily="34" charset="-122"/>
                <a:cs typeface="BIZ UDPGothic" pitchFamily="34" charset="-120"/>
              </a:rPr>
              <a:t>• 首の付け根が重い</a:t>
            </a:r>
            <a:endParaRPr lang="en-US" sz="1400" dirty="0"/>
          </a:p>
        </p:txBody>
      </p:sp>
      <p:sp>
        <p:nvSpPr>
          <p:cNvPr id="10" name="Text 8"/>
          <p:cNvSpPr/>
          <p:nvPr/>
        </p:nvSpPr>
        <p:spPr>
          <a:xfrm>
            <a:off x="640080" y="2331720"/>
            <a:ext cx="3474720" cy="274320"/>
          </a:xfrm>
          <a:prstGeom prst="rect">
            <a:avLst/>
          </a:prstGeom>
          <a:noFill/>
          <a:ln/>
        </p:spPr>
        <p:txBody>
          <a:bodyPr wrap="square" lIns="0" tIns="0" rIns="0" bIns="0" rtlCol="0" anchor="ctr"/>
          <a:lstStyle/>
          <a:p>
            <a:pPr indent="0" marL="0">
              <a:buNone/>
            </a:pPr>
            <a:r>
              <a:rPr lang="en-US" sz="1400" dirty="0">
                <a:solidFill>
                  <a:srgbClr val="2D3436"/>
                </a:solidFill>
                <a:latin typeface="BIZ UDPGothic" pitchFamily="34" charset="0"/>
                <a:ea typeface="BIZ UDPGothic" pitchFamily="34" charset="-122"/>
                <a:cs typeface="BIZ UDPGothic" pitchFamily="34" charset="-120"/>
              </a:rPr>
              <a:t>• 温めると楽になる</a:t>
            </a:r>
            <a:endParaRPr lang="en-US" sz="1400" dirty="0"/>
          </a:p>
        </p:txBody>
      </p:sp>
      <p:sp>
        <p:nvSpPr>
          <p:cNvPr id="11" name="Text 9"/>
          <p:cNvSpPr/>
          <p:nvPr/>
        </p:nvSpPr>
        <p:spPr>
          <a:xfrm>
            <a:off x="640080" y="2606040"/>
            <a:ext cx="3474720" cy="274320"/>
          </a:xfrm>
          <a:prstGeom prst="rect">
            <a:avLst/>
          </a:prstGeom>
          <a:noFill/>
          <a:ln/>
        </p:spPr>
        <p:txBody>
          <a:bodyPr wrap="square" lIns="0" tIns="0" rIns="0" bIns="0" rtlCol="0" anchor="ctr"/>
          <a:lstStyle/>
          <a:p>
            <a:pPr indent="0" marL="0">
              <a:buNone/>
            </a:pPr>
            <a:r>
              <a:rPr lang="en-US" sz="1400" dirty="0">
                <a:solidFill>
                  <a:srgbClr val="2D3436"/>
                </a:solidFill>
                <a:latin typeface="BIZ UDPGothic" pitchFamily="34" charset="0"/>
                <a:ea typeface="BIZ UDPGothic" pitchFamily="34" charset="-122"/>
                <a:cs typeface="BIZ UDPGothic" pitchFamily="34" charset="-120"/>
              </a:rPr>
              <a:t>• マッサージで改善する</a:t>
            </a:r>
            <a:endParaRPr lang="en-US" sz="1400" dirty="0"/>
          </a:p>
        </p:txBody>
      </p:sp>
      <p:sp>
        <p:nvSpPr>
          <p:cNvPr id="12" name="Shape 10"/>
          <p:cNvSpPr/>
          <p:nvPr/>
        </p:nvSpPr>
        <p:spPr>
          <a:xfrm>
            <a:off x="4754880" y="1005840"/>
            <a:ext cx="3931920" cy="2011680"/>
          </a:xfrm>
          <a:prstGeom prst="rect">
            <a:avLst>
              <a:gd name="adj" fmla="val 4545"/>
            </a:avLst>
          </a:prstGeom>
          <a:solidFill>
            <a:srgbClr val="FFFFFF"/>
          </a:solidFill>
          <a:ln/>
          <a:effectLst>
            <a:outerShdw sx="100000" sy="100000" kx="0" ky="0" algn="bl" rotWithShape="0" blurRad="50800" dist="25400" dir="8100000">
              <a:srgbClr val="000000">
                <a:alpha val="12000"/>
              </a:srgbClr>
            </a:outerShdw>
          </a:effectLst>
        </p:spPr>
      </p:sp>
      <p:sp>
        <p:nvSpPr>
          <p:cNvPr id="13" name="Shape 11"/>
          <p:cNvSpPr/>
          <p:nvPr/>
        </p:nvSpPr>
        <p:spPr>
          <a:xfrm>
            <a:off x="4754880" y="1005840"/>
            <a:ext cx="109728" cy="2011680"/>
          </a:xfrm>
          <a:prstGeom prst="rect">
            <a:avLst>
              <a:gd name="adj" fmla="val 41667"/>
            </a:avLst>
          </a:prstGeom>
          <a:solidFill>
            <a:srgbClr val="2C5AA0"/>
          </a:solidFill>
          <a:ln/>
        </p:spPr>
      </p:sp>
      <p:sp>
        <p:nvSpPr>
          <p:cNvPr id="14" name="Text 12"/>
          <p:cNvSpPr/>
          <p:nvPr/>
        </p:nvSpPr>
        <p:spPr>
          <a:xfrm>
            <a:off x="4937760" y="1051560"/>
            <a:ext cx="3474720" cy="365760"/>
          </a:xfrm>
          <a:prstGeom prst="rect">
            <a:avLst/>
          </a:prstGeom>
          <a:noFill/>
          <a:ln/>
        </p:spPr>
        <p:txBody>
          <a:bodyPr wrap="square" lIns="0" tIns="0" rIns="0" bIns="0" rtlCol="0" anchor="ctr"/>
          <a:lstStyle/>
          <a:p>
            <a:pPr indent="0" marL="0">
              <a:buNone/>
            </a:pPr>
            <a:r>
              <a:rPr lang="en-US" sz="1600" b="1" dirty="0">
                <a:solidFill>
                  <a:srgbClr val="2C5AA0"/>
                </a:solidFill>
                <a:latin typeface="BIZ UDPGothic" pitchFamily="34" charset="0"/>
                <a:ea typeface="BIZ UDPGothic" pitchFamily="34" charset="-122"/>
                <a:cs typeface="BIZ UDPGothic" pitchFamily="34" charset="-120"/>
              </a:rPr>
              <a:t>⚡ 痛み＋しびれ → 神経の可能性あり</a:t>
            </a:r>
            <a:endParaRPr lang="en-US" sz="1600" dirty="0"/>
          </a:p>
        </p:txBody>
      </p:sp>
      <p:sp>
        <p:nvSpPr>
          <p:cNvPr id="15" name="Text 13"/>
          <p:cNvSpPr/>
          <p:nvPr/>
        </p:nvSpPr>
        <p:spPr>
          <a:xfrm>
            <a:off x="4937760" y="1508760"/>
            <a:ext cx="3474720" cy="274320"/>
          </a:xfrm>
          <a:prstGeom prst="rect">
            <a:avLst/>
          </a:prstGeom>
          <a:noFill/>
          <a:ln/>
        </p:spPr>
        <p:txBody>
          <a:bodyPr wrap="square" lIns="0" tIns="0" rIns="0" bIns="0" rtlCol="0" anchor="ctr"/>
          <a:lstStyle/>
          <a:p>
            <a:pPr indent="0" marL="0">
              <a:buNone/>
            </a:pPr>
            <a:r>
              <a:rPr lang="en-US" sz="1400" dirty="0">
                <a:solidFill>
                  <a:srgbClr val="2D3436"/>
                </a:solidFill>
                <a:latin typeface="BIZ UDPGothic" pitchFamily="34" charset="0"/>
                <a:ea typeface="BIZ UDPGothic" pitchFamily="34" charset="-122"/>
                <a:cs typeface="BIZ UDPGothic" pitchFamily="34" charset="-120"/>
              </a:rPr>
              <a:t>• 腕や手にしびれが走る</a:t>
            </a:r>
            <a:endParaRPr lang="en-US" sz="1400" dirty="0"/>
          </a:p>
        </p:txBody>
      </p:sp>
      <p:sp>
        <p:nvSpPr>
          <p:cNvPr id="16" name="Text 14"/>
          <p:cNvSpPr/>
          <p:nvPr/>
        </p:nvSpPr>
        <p:spPr>
          <a:xfrm>
            <a:off x="4937760" y="1783080"/>
            <a:ext cx="3474720" cy="274320"/>
          </a:xfrm>
          <a:prstGeom prst="rect">
            <a:avLst/>
          </a:prstGeom>
          <a:noFill/>
          <a:ln/>
        </p:spPr>
        <p:txBody>
          <a:bodyPr wrap="square" lIns="0" tIns="0" rIns="0" bIns="0" rtlCol="0" anchor="ctr"/>
          <a:lstStyle/>
          <a:p>
            <a:pPr indent="0" marL="0">
              <a:buNone/>
            </a:pPr>
            <a:r>
              <a:rPr lang="en-US" sz="1400" dirty="0">
                <a:solidFill>
                  <a:srgbClr val="2D3436"/>
                </a:solidFill>
                <a:latin typeface="BIZ UDPGothic" pitchFamily="34" charset="0"/>
                <a:ea typeface="BIZ UDPGothic" pitchFamily="34" charset="-122"/>
                <a:cs typeface="BIZ UDPGothic" pitchFamily="34" charset="-120"/>
              </a:rPr>
              <a:t>• 指先がピリピリする</a:t>
            </a:r>
            <a:endParaRPr lang="en-US" sz="1400" dirty="0"/>
          </a:p>
        </p:txBody>
      </p:sp>
      <p:sp>
        <p:nvSpPr>
          <p:cNvPr id="17" name="Text 15"/>
          <p:cNvSpPr/>
          <p:nvPr/>
        </p:nvSpPr>
        <p:spPr>
          <a:xfrm>
            <a:off x="4937760" y="2057400"/>
            <a:ext cx="3474720" cy="274320"/>
          </a:xfrm>
          <a:prstGeom prst="rect">
            <a:avLst/>
          </a:prstGeom>
          <a:noFill/>
          <a:ln/>
        </p:spPr>
        <p:txBody>
          <a:bodyPr wrap="square" lIns="0" tIns="0" rIns="0" bIns="0" rtlCol="0" anchor="ctr"/>
          <a:lstStyle/>
          <a:p>
            <a:pPr indent="0" marL="0">
              <a:buNone/>
            </a:pPr>
            <a:r>
              <a:rPr lang="en-US" sz="1400" dirty="0">
                <a:solidFill>
                  <a:srgbClr val="2D3436"/>
                </a:solidFill>
                <a:latin typeface="BIZ UDPGothic" pitchFamily="34" charset="0"/>
                <a:ea typeface="BIZ UDPGothic" pitchFamily="34" charset="-122"/>
                <a:cs typeface="BIZ UDPGothic" pitchFamily="34" charset="-120"/>
              </a:rPr>
              <a:t>• 手に力が入りにくい</a:t>
            </a:r>
            <a:endParaRPr lang="en-US" sz="1400" dirty="0"/>
          </a:p>
        </p:txBody>
      </p:sp>
      <p:sp>
        <p:nvSpPr>
          <p:cNvPr id="18" name="Text 16"/>
          <p:cNvSpPr/>
          <p:nvPr/>
        </p:nvSpPr>
        <p:spPr>
          <a:xfrm>
            <a:off x="4937760" y="2331720"/>
            <a:ext cx="3474720" cy="274320"/>
          </a:xfrm>
          <a:prstGeom prst="rect">
            <a:avLst/>
          </a:prstGeom>
          <a:noFill/>
          <a:ln/>
        </p:spPr>
        <p:txBody>
          <a:bodyPr wrap="square" lIns="0" tIns="0" rIns="0" bIns="0" rtlCol="0" anchor="ctr"/>
          <a:lstStyle/>
          <a:p>
            <a:pPr indent="0" marL="0">
              <a:buNone/>
            </a:pPr>
            <a:r>
              <a:rPr lang="en-US" sz="1400" dirty="0">
                <a:solidFill>
                  <a:srgbClr val="2D3436"/>
                </a:solidFill>
                <a:latin typeface="BIZ UDPGothic" pitchFamily="34" charset="0"/>
                <a:ea typeface="BIZ UDPGothic" pitchFamily="34" charset="-122"/>
                <a:cs typeface="BIZ UDPGothic" pitchFamily="34" charset="-120"/>
              </a:rPr>
              <a:t>• 首を反らすとしびれが悪化</a:t>
            </a:r>
            <a:endParaRPr lang="en-US" sz="1400" dirty="0"/>
          </a:p>
        </p:txBody>
      </p:sp>
      <p:sp>
        <p:nvSpPr>
          <p:cNvPr id="19" name="Text 17"/>
          <p:cNvSpPr/>
          <p:nvPr/>
        </p:nvSpPr>
        <p:spPr>
          <a:xfrm>
            <a:off x="4937760" y="2606040"/>
            <a:ext cx="3474720" cy="274320"/>
          </a:xfrm>
          <a:prstGeom prst="rect">
            <a:avLst/>
          </a:prstGeom>
          <a:noFill/>
          <a:ln/>
        </p:spPr>
        <p:txBody>
          <a:bodyPr wrap="square" lIns="0" tIns="0" rIns="0" bIns="0" rtlCol="0" anchor="ctr"/>
          <a:lstStyle/>
          <a:p>
            <a:pPr indent="0" marL="0">
              <a:buNone/>
            </a:pPr>
            <a:r>
              <a:rPr lang="en-US" sz="1400" dirty="0">
                <a:solidFill>
                  <a:srgbClr val="2D3436"/>
                </a:solidFill>
                <a:latin typeface="BIZ UDPGothic" pitchFamily="34" charset="0"/>
                <a:ea typeface="BIZ UDPGothic" pitchFamily="34" charset="-122"/>
                <a:cs typeface="BIZ UDPGothic" pitchFamily="34" charset="-120"/>
              </a:rPr>
              <a:t>• 細かい作業がしにくい</a:t>
            </a:r>
            <a:endParaRPr lang="en-US" sz="1400" dirty="0"/>
          </a:p>
        </p:txBody>
      </p:sp>
      <p:sp>
        <p:nvSpPr>
          <p:cNvPr id="20" name="Shape 18"/>
          <p:cNvSpPr/>
          <p:nvPr/>
        </p:nvSpPr>
        <p:spPr>
          <a:xfrm>
            <a:off x="457200" y="3246120"/>
            <a:ext cx="8229600" cy="594360"/>
          </a:xfrm>
          <a:prstGeom prst="rect">
            <a:avLst>
              <a:gd name="adj" fmla="val 15385"/>
            </a:avLst>
          </a:prstGeom>
          <a:solidFill>
            <a:srgbClr val="FFF3CD"/>
          </a:solidFill>
          <a:ln/>
          <a:effectLst>
            <a:outerShdw sx="100000" sy="100000" kx="0" ky="0" algn="bl" rotWithShape="0" blurRad="50800" dist="25400" dir="8100000">
              <a:srgbClr val="000000">
                <a:alpha val="12000"/>
              </a:srgbClr>
            </a:outerShdw>
          </a:effectLst>
        </p:spPr>
      </p:sp>
      <p:sp>
        <p:nvSpPr>
          <p:cNvPr id="21" name="Shape 19"/>
          <p:cNvSpPr/>
          <p:nvPr/>
        </p:nvSpPr>
        <p:spPr>
          <a:xfrm>
            <a:off x="457200" y="3246120"/>
            <a:ext cx="109728" cy="594360"/>
          </a:xfrm>
          <a:prstGeom prst="rect">
            <a:avLst>
              <a:gd name="adj" fmla="val 41667"/>
            </a:avLst>
          </a:prstGeom>
          <a:solidFill>
            <a:srgbClr val="F5C518"/>
          </a:solidFill>
          <a:ln/>
        </p:spPr>
      </p:sp>
      <p:sp>
        <p:nvSpPr>
          <p:cNvPr id="22" name="Text 20"/>
          <p:cNvSpPr/>
          <p:nvPr/>
        </p:nvSpPr>
        <p:spPr>
          <a:xfrm>
            <a:off x="731520" y="3291840"/>
            <a:ext cx="7772400" cy="502920"/>
          </a:xfrm>
          <a:prstGeom prst="rect">
            <a:avLst/>
          </a:prstGeom>
          <a:noFill/>
          <a:ln/>
        </p:spPr>
        <p:txBody>
          <a:bodyPr wrap="square" lIns="0" tIns="0" rIns="0" bIns="0" rtlCol="0" anchor="ctr"/>
          <a:lstStyle/>
          <a:p>
            <a:pPr indent="0" marL="0">
              <a:buNone/>
            </a:pPr>
            <a:r>
              <a:rPr lang="en-US" sz="1700" b="1" dirty="0">
                <a:solidFill>
                  <a:srgbClr val="856404"/>
                </a:solidFill>
                <a:latin typeface="BIZ UDPGothic" pitchFamily="34" charset="0"/>
                <a:ea typeface="BIZ UDPGothic" pitchFamily="34" charset="-122"/>
                <a:cs typeface="BIZ UDPGothic" pitchFamily="34" charset="-120"/>
              </a:rPr>
              <a:t>💡 「しびれ」「力が入らない」「細かい動作がしにくい」は神経が原因のサイン</a:t>
            </a:r>
            <a:endParaRPr lang="en-US" sz="1700" dirty="0"/>
          </a:p>
        </p:txBody>
      </p:sp>
      <p:sp>
        <p:nvSpPr>
          <p:cNvPr id="23" name="Shape 21"/>
          <p:cNvSpPr/>
          <p:nvPr/>
        </p:nvSpPr>
        <p:spPr>
          <a:xfrm>
            <a:off x="457200" y="4023360"/>
            <a:ext cx="8229600" cy="502920"/>
          </a:xfrm>
          <a:prstGeom prst="rect">
            <a:avLst>
              <a:gd name="adj" fmla="val 18182"/>
            </a:avLst>
          </a:prstGeom>
          <a:solidFill>
            <a:srgbClr val="FFFFFF"/>
          </a:solidFill>
          <a:ln/>
          <a:effectLst>
            <a:outerShdw sx="100000" sy="100000" kx="0" ky="0" algn="bl" rotWithShape="0" blurRad="50800" dist="25400" dir="8100000">
              <a:srgbClr val="000000">
                <a:alpha val="12000"/>
              </a:srgbClr>
            </a:outerShdw>
          </a:effectLst>
        </p:spPr>
      </p:sp>
      <p:sp>
        <p:nvSpPr>
          <p:cNvPr id="24" name="Shape 22"/>
          <p:cNvSpPr/>
          <p:nvPr/>
        </p:nvSpPr>
        <p:spPr>
          <a:xfrm>
            <a:off x="457200" y="4023360"/>
            <a:ext cx="109728" cy="502920"/>
          </a:xfrm>
          <a:prstGeom prst="rect">
            <a:avLst>
              <a:gd name="adj" fmla="val 41667"/>
            </a:avLst>
          </a:prstGeom>
          <a:solidFill>
            <a:srgbClr val="636E72"/>
          </a:solidFill>
          <a:ln/>
        </p:spPr>
      </p:sp>
      <p:sp>
        <p:nvSpPr>
          <p:cNvPr id="25" name="Text 23"/>
          <p:cNvSpPr/>
          <p:nvPr/>
        </p:nvSpPr>
        <p:spPr>
          <a:xfrm>
            <a:off x="731520" y="4069080"/>
            <a:ext cx="7772400" cy="411480"/>
          </a:xfrm>
          <a:prstGeom prst="rect">
            <a:avLst/>
          </a:prstGeom>
          <a:noFill/>
          <a:ln/>
        </p:spPr>
        <p:txBody>
          <a:bodyPr wrap="square" lIns="0" tIns="0" rIns="0" bIns="0" rtlCol="0" anchor="ctr"/>
          <a:lstStyle/>
          <a:p>
            <a:pPr indent="0" marL="0">
              <a:buNone/>
            </a:pPr>
            <a:r>
              <a:rPr lang="en-US" sz="1300" dirty="0">
                <a:solidFill>
                  <a:srgbClr val="636E72"/>
                </a:solidFill>
                <a:latin typeface="BIZ UDPGothic" pitchFamily="34" charset="0"/>
                <a:ea typeface="BIZ UDPGothic" pitchFamily="34" charset="-122"/>
                <a:cs typeface="BIZ UDPGothic" pitchFamily="34" charset="-120"/>
              </a:rPr>
              <a:t>※ 筋肉の問題でも腕のだるさを感じることがあり、完全に分けられない場合もあります</a:t>
            </a:r>
            <a:endParaRPr lang="en-US" sz="1300" dirty="0"/>
          </a:p>
        </p:txBody>
      </p:sp>
      <p:sp>
        <p:nvSpPr>
          <p:cNvPr id="26" name="Shape 24"/>
          <p:cNvSpPr/>
          <p:nvPr/>
        </p:nvSpPr>
        <p:spPr>
          <a:xfrm>
            <a:off x="0" y="4800600"/>
            <a:ext cx="9144000" cy="347472"/>
          </a:xfrm>
          <a:prstGeom prst="rect">
            <a:avLst/>
          </a:prstGeom>
          <a:solidFill>
            <a:srgbClr val="1B3A5C"/>
          </a:solidFill>
          <a:ln/>
        </p:spPr>
      </p:sp>
      <p:sp>
        <p:nvSpPr>
          <p:cNvPr id="27" name="Text 25"/>
          <p:cNvSpPr/>
          <p:nvPr/>
        </p:nvSpPr>
        <p:spPr>
          <a:xfrm>
            <a:off x="365760" y="4818888"/>
            <a:ext cx="4572000" cy="274320"/>
          </a:xfrm>
          <a:prstGeom prst="rect">
            <a:avLst/>
          </a:prstGeom>
          <a:noFill/>
          <a:ln/>
        </p:spPr>
        <p:txBody>
          <a:bodyPr wrap="square" lIns="0" tIns="0" rIns="0" bIns="0" rtlCol="0" anchor="ctr"/>
          <a:lstStyle/>
          <a:p>
            <a:pPr indent="0" marL="0">
              <a:buNone/>
            </a:pPr>
            <a:r>
              <a:rPr lang="en-US" sz="1000" dirty="0">
                <a:solidFill>
                  <a:srgbClr val="FFFFFF"/>
                </a:solidFill>
                <a:latin typeface="BIZ UDPGothic" pitchFamily="34" charset="0"/>
                <a:ea typeface="BIZ UDPGothic" pitchFamily="34" charset="-122"/>
                <a:cs typeface="BIZ UDPGothic" pitchFamily="34" charset="-120"/>
              </a:rPr>
              <a:t>医知創造ラボ ｜ その症状、大丈夫？ #17</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5AA0"/>
          </a:solidFill>
          <a:ln/>
        </p:spPr>
      </p:sp>
      <p:sp>
        <p:nvSpPr>
          <p:cNvPr id="3" name="Text 1"/>
          <p:cNvSpPr/>
          <p:nvPr/>
        </p:nvSpPr>
        <p:spPr>
          <a:xfrm>
            <a:off x="457200" y="91440"/>
            <a:ext cx="8229600" cy="640080"/>
          </a:xfrm>
          <a:prstGeom prst="rect">
            <a:avLst/>
          </a:prstGeom>
          <a:noFill/>
          <a:ln/>
        </p:spPr>
        <p:txBody>
          <a:bodyPr wrap="square" lIns="0" tIns="0" rIns="0" bIns="0" rtlCol="0" anchor="ctr"/>
          <a:lstStyle/>
          <a:p>
            <a:pPr indent="0" marL="0">
              <a:buNone/>
            </a:pPr>
            <a:r>
              <a:rPr lang="en-US" sz="2600" b="1" dirty="0">
                <a:solidFill>
                  <a:srgbClr val="FFFFFF"/>
                </a:solidFill>
                <a:latin typeface="BIZ UDPGothic" pitchFamily="34" charset="0"/>
                <a:ea typeface="BIZ UDPGothic" pitchFamily="34" charset="-122"/>
                <a:cs typeface="BIZ UDPGothic" pitchFamily="34" charset="-120"/>
              </a:rPr>
              <a:t>後頭神経痛 ― 意外と多い首の痛みの正体</a:t>
            </a:r>
            <a:endParaRPr lang="en-US" sz="2600" dirty="0"/>
          </a:p>
        </p:txBody>
      </p:sp>
      <p:sp>
        <p:nvSpPr>
          <p:cNvPr id="4" name="Shape 2"/>
          <p:cNvSpPr/>
          <p:nvPr/>
        </p:nvSpPr>
        <p:spPr>
          <a:xfrm>
            <a:off x="457200" y="1005840"/>
            <a:ext cx="8229600" cy="457200"/>
          </a:xfrm>
          <a:prstGeom prst="rect">
            <a:avLst>
              <a:gd name="adj" fmla="val 20000"/>
            </a:avLst>
          </a:prstGeom>
          <a:solidFill>
            <a:srgbClr val="E8F4FD"/>
          </a:solidFill>
          <a:ln/>
          <a:effectLst>
            <a:outerShdw sx="100000" sy="100000" kx="0" ky="0" algn="bl" rotWithShape="0" blurRad="50800" dist="25400" dir="8100000">
              <a:srgbClr val="000000">
                <a:alpha val="12000"/>
              </a:srgbClr>
            </a:outerShdw>
          </a:effectLst>
        </p:spPr>
      </p:sp>
      <p:sp>
        <p:nvSpPr>
          <p:cNvPr id="5" name="Shape 3"/>
          <p:cNvSpPr/>
          <p:nvPr/>
        </p:nvSpPr>
        <p:spPr>
          <a:xfrm>
            <a:off x="457200" y="1005840"/>
            <a:ext cx="109728" cy="457200"/>
          </a:xfrm>
          <a:prstGeom prst="rect">
            <a:avLst>
              <a:gd name="adj" fmla="val 41667"/>
            </a:avLst>
          </a:prstGeom>
          <a:solidFill>
            <a:srgbClr val="2C5AA0"/>
          </a:solidFill>
          <a:ln/>
        </p:spPr>
      </p:sp>
      <p:sp>
        <p:nvSpPr>
          <p:cNvPr id="6" name="Text 4"/>
          <p:cNvSpPr/>
          <p:nvPr/>
        </p:nvSpPr>
        <p:spPr>
          <a:xfrm>
            <a:off x="731520" y="1051560"/>
            <a:ext cx="7772400" cy="365760"/>
          </a:xfrm>
          <a:prstGeom prst="rect">
            <a:avLst/>
          </a:prstGeom>
          <a:noFill/>
          <a:ln/>
        </p:spPr>
        <p:txBody>
          <a:bodyPr wrap="square" lIns="0" tIns="0" rIns="0" bIns="0" rtlCol="0" anchor="ctr"/>
          <a:lstStyle/>
          <a:p>
            <a:pPr indent="0" marL="0">
              <a:buNone/>
            </a:pPr>
            <a:r>
              <a:rPr lang="en-US" sz="1600" b="1" dirty="0">
                <a:solidFill>
                  <a:srgbClr val="2C5AA0"/>
                </a:solidFill>
                <a:latin typeface="BIZ UDPGothic" pitchFamily="34" charset="0"/>
                <a:ea typeface="BIZ UDPGothic" pitchFamily="34" charset="-122"/>
                <a:cs typeface="BIZ UDPGothic" pitchFamily="34" charset="-120"/>
              </a:rPr>
              <a:t>後頭部〜首の付け根にズキッ・ビリッとする鋭い痛み。「頭痛」として受診する方も多い</a:t>
            </a:r>
            <a:endParaRPr lang="en-US" sz="1600" dirty="0"/>
          </a:p>
        </p:txBody>
      </p:sp>
      <p:sp>
        <p:nvSpPr>
          <p:cNvPr id="7" name="Text 5"/>
          <p:cNvSpPr/>
          <p:nvPr/>
        </p:nvSpPr>
        <p:spPr>
          <a:xfrm>
            <a:off x="457200" y="1645920"/>
            <a:ext cx="3931920" cy="320040"/>
          </a:xfrm>
          <a:prstGeom prst="rect">
            <a:avLst/>
          </a:prstGeom>
          <a:noFill/>
          <a:ln/>
        </p:spPr>
        <p:txBody>
          <a:bodyPr wrap="square" lIns="0" tIns="0" rIns="0" bIns="0" rtlCol="0" anchor="ctr"/>
          <a:lstStyle/>
          <a:p>
            <a:pPr indent="0" marL="0">
              <a:buNone/>
            </a:pPr>
            <a:r>
              <a:rPr lang="en-US" sz="1700" b="1" dirty="0">
                <a:solidFill>
                  <a:srgbClr val="E8850C"/>
                </a:solidFill>
                <a:latin typeface="BIZ UDPGothic" pitchFamily="34" charset="0"/>
                <a:ea typeface="BIZ UDPGothic" pitchFamily="34" charset="-122"/>
                <a:cs typeface="BIZ UDPGothic" pitchFamily="34" charset="-120"/>
              </a:rPr>
              <a:t>特徴</a:t>
            </a:r>
            <a:endParaRPr lang="en-US" sz="1700" dirty="0"/>
          </a:p>
        </p:txBody>
      </p:sp>
      <p:sp>
        <p:nvSpPr>
          <p:cNvPr id="8" name="Shape 6"/>
          <p:cNvSpPr/>
          <p:nvPr/>
        </p:nvSpPr>
        <p:spPr>
          <a:xfrm>
            <a:off x="457200" y="2057400"/>
            <a:ext cx="3931920" cy="347472"/>
          </a:xfrm>
          <a:prstGeom prst="rect">
            <a:avLst>
              <a:gd name="adj" fmla="val 26316"/>
            </a:avLst>
          </a:prstGeom>
          <a:solidFill>
            <a:srgbClr val="FFFFFF"/>
          </a:solidFill>
          <a:ln/>
          <a:effectLst>
            <a:outerShdw sx="100000" sy="100000" kx="0" ky="0" algn="bl" rotWithShape="0" blurRad="50800" dist="25400" dir="8100000">
              <a:srgbClr val="000000">
                <a:alpha val="12000"/>
              </a:srgbClr>
            </a:outerShdw>
          </a:effectLst>
        </p:spPr>
      </p:sp>
      <p:sp>
        <p:nvSpPr>
          <p:cNvPr id="9" name="Shape 7"/>
          <p:cNvSpPr/>
          <p:nvPr/>
        </p:nvSpPr>
        <p:spPr>
          <a:xfrm>
            <a:off x="457200" y="2057400"/>
            <a:ext cx="109728" cy="347472"/>
          </a:xfrm>
          <a:prstGeom prst="rect">
            <a:avLst>
              <a:gd name="adj" fmla="val 41667"/>
            </a:avLst>
          </a:prstGeom>
          <a:solidFill>
            <a:srgbClr val="E8850C"/>
          </a:solidFill>
          <a:ln/>
        </p:spPr>
      </p:sp>
      <p:sp>
        <p:nvSpPr>
          <p:cNvPr id="10" name="Text 8"/>
          <p:cNvSpPr/>
          <p:nvPr/>
        </p:nvSpPr>
        <p:spPr>
          <a:xfrm>
            <a:off x="731520" y="2075688"/>
            <a:ext cx="3474720" cy="310896"/>
          </a:xfrm>
          <a:prstGeom prst="rect">
            <a:avLst/>
          </a:prstGeom>
          <a:noFill/>
          <a:ln/>
        </p:spPr>
        <p:txBody>
          <a:bodyPr wrap="square" lIns="0" tIns="0" rIns="0" bIns="0" rtlCol="0" anchor="ctr"/>
          <a:lstStyle/>
          <a:p>
            <a:pPr indent="0" marL="0">
              <a:buNone/>
            </a:pPr>
            <a:r>
              <a:rPr lang="en-US" sz="1400" dirty="0">
                <a:solidFill>
                  <a:srgbClr val="2D3436"/>
                </a:solidFill>
                <a:latin typeface="BIZ UDPGothic" pitchFamily="34" charset="0"/>
                <a:ea typeface="BIZ UDPGothic" pitchFamily="34" charset="-122"/>
                <a:cs typeface="BIZ UDPGothic" pitchFamily="34" charset="-120"/>
              </a:rPr>
              <a:t>• 片側の後頭部〜耳の後ろに鋭い痛み</a:t>
            </a:r>
            <a:endParaRPr lang="en-US" sz="1400" dirty="0"/>
          </a:p>
        </p:txBody>
      </p:sp>
      <p:sp>
        <p:nvSpPr>
          <p:cNvPr id="11" name="Shape 9"/>
          <p:cNvSpPr/>
          <p:nvPr/>
        </p:nvSpPr>
        <p:spPr>
          <a:xfrm>
            <a:off x="457200" y="2468880"/>
            <a:ext cx="3931920" cy="347472"/>
          </a:xfrm>
          <a:prstGeom prst="rect">
            <a:avLst>
              <a:gd name="adj" fmla="val 26316"/>
            </a:avLst>
          </a:prstGeom>
          <a:solidFill>
            <a:srgbClr val="FFFFFF"/>
          </a:solidFill>
          <a:ln/>
          <a:effectLst>
            <a:outerShdw sx="100000" sy="100000" kx="0" ky="0" algn="bl" rotWithShape="0" blurRad="50800" dist="25400" dir="8100000">
              <a:srgbClr val="000000">
                <a:alpha val="12000"/>
              </a:srgbClr>
            </a:outerShdw>
          </a:effectLst>
        </p:spPr>
      </p:sp>
      <p:sp>
        <p:nvSpPr>
          <p:cNvPr id="12" name="Shape 10"/>
          <p:cNvSpPr/>
          <p:nvPr/>
        </p:nvSpPr>
        <p:spPr>
          <a:xfrm>
            <a:off x="457200" y="2468880"/>
            <a:ext cx="109728" cy="347472"/>
          </a:xfrm>
          <a:prstGeom prst="rect">
            <a:avLst>
              <a:gd name="adj" fmla="val 41667"/>
            </a:avLst>
          </a:prstGeom>
          <a:solidFill>
            <a:srgbClr val="E8850C"/>
          </a:solidFill>
          <a:ln/>
        </p:spPr>
      </p:sp>
      <p:sp>
        <p:nvSpPr>
          <p:cNvPr id="13" name="Text 11"/>
          <p:cNvSpPr/>
          <p:nvPr/>
        </p:nvSpPr>
        <p:spPr>
          <a:xfrm>
            <a:off x="731520" y="2487168"/>
            <a:ext cx="3474720" cy="310896"/>
          </a:xfrm>
          <a:prstGeom prst="rect">
            <a:avLst/>
          </a:prstGeom>
          <a:noFill/>
          <a:ln/>
        </p:spPr>
        <p:txBody>
          <a:bodyPr wrap="square" lIns="0" tIns="0" rIns="0" bIns="0" rtlCol="0" anchor="ctr"/>
          <a:lstStyle/>
          <a:p>
            <a:pPr indent="0" marL="0">
              <a:buNone/>
            </a:pPr>
            <a:r>
              <a:rPr lang="en-US" sz="1400" dirty="0">
                <a:solidFill>
                  <a:srgbClr val="2D3436"/>
                </a:solidFill>
                <a:latin typeface="BIZ UDPGothic" pitchFamily="34" charset="0"/>
                <a:ea typeface="BIZ UDPGothic" pitchFamily="34" charset="-122"/>
                <a:cs typeface="BIZ UDPGothic" pitchFamily="34" charset="-120"/>
              </a:rPr>
              <a:t>• 数秒〜数十秒の電撃的な痛みが繰り返す</a:t>
            </a:r>
            <a:endParaRPr lang="en-US" sz="1400" dirty="0"/>
          </a:p>
        </p:txBody>
      </p:sp>
      <p:sp>
        <p:nvSpPr>
          <p:cNvPr id="14" name="Shape 12"/>
          <p:cNvSpPr/>
          <p:nvPr/>
        </p:nvSpPr>
        <p:spPr>
          <a:xfrm>
            <a:off x="457200" y="2880360"/>
            <a:ext cx="3931920" cy="347472"/>
          </a:xfrm>
          <a:prstGeom prst="rect">
            <a:avLst>
              <a:gd name="adj" fmla="val 26316"/>
            </a:avLst>
          </a:prstGeom>
          <a:solidFill>
            <a:srgbClr val="FFFFFF"/>
          </a:solidFill>
          <a:ln/>
          <a:effectLst>
            <a:outerShdw sx="100000" sy="100000" kx="0" ky="0" algn="bl" rotWithShape="0" blurRad="50800" dist="25400" dir="8100000">
              <a:srgbClr val="000000">
                <a:alpha val="12000"/>
              </a:srgbClr>
            </a:outerShdw>
          </a:effectLst>
        </p:spPr>
      </p:sp>
      <p:sp>
        <p:nvSpPr>
          <p:cNvPr id="15" name="Shape 13"/>
          <p:cNvSpPr/>
          <p:nvPr/>
        </p:nvSpPr>
        <p:spPr>
          <a:xfrm>
            <a:off x="457200" y="2880360"/>
            <a:ext cx="109728" cy="347472"/>
          </a:xfrm>
          <a:prstGeom prst="rect">
            <a:avLst>
              <a:gd name="adj" fmla="val 41667"/>
            </a:avLst>
          </a:prstGeom>
          <a:solidFill>
            <a:srgbClr val="E8850C"/>
          </a:solidFill>
          <a:ln/>
        </p:spPr>
      </p:sp>
      <p:sp>
        <p:nvSpPr>
          <p:cNvPr id="16" name="Text 14"/>
          <p:cNvSpPr/>
          <p:nvPr/>
        </p:nvSpPr>
        <p:spPr>
          <a:xfrm>
            <a:off x="731520" y="2898648"/>
            <a:ext cx="3474720" cy="310896"/>
          </a:xfrm>
          <a:prstGeom prst="rect">
            <a:avLst/>
          </a:prstGeom>
          <a:noFill/>
          <a:ln/>
        </p:spPr>
        <p:txBody>
          <a:bodyPr wrap="square" lIns="0" tIns="0" rIns="0" bIns="0" rtlCol="0" anchor="ctr"/>
          <a:lstStyle/>
          <a:p>
            <a:pPr indent="0" marL="0">
              <a:buNone/>
            </a:pPr>
            <a:r>
              <a:rPr lang="en-US" sz="1400" dirty="0">
                <a:solidFill>
                  <a:srgbClr val="2D3436"/>
                </a:solidFill>
                <a:latin typeface="BIZ UDPGothic" pitchFamily="34" charset="0"/>
                <a:ea typeface="BIZ UDPGothic" pitchFamily="34" charset="-122"/>
                <a:cs typeface="BIZ UDPGothic" pitchFamily="34" charset="-120"/>
              </a:rPr>
              <a:t>• 痛い部位を押すと痛みが誘発される</a:t>
            </a:r>
            <a:endParaRPr lang="en-US" sz="1400" dirty="0"/>
          </a:p>
        </p:txBody>
      </p:sp>
      <p:sp>
        <p:nvSpPr>
          <p:cNvPr id="17" name="Shape 15"/>
          <p:cNvSpPr/>
          <p:nvPr/>
        </p:nvSpPr>
        <p:spPr>
          <a:xfrm>
            <a:off x="457200" y="3291840"/>
            <a:ext cx="3931920" cy="347472"/>
          </a:xfrm>
          <a:prstGeom prst="rect">
            <a:avLst>
              <a:gd name="adj" fmla="val 26316"/>
            </a:avLst>
          </a:prstGeom>
          <a:solidFill>
            <a:srgbClr val="FFFFFF"/>
          </a:solidFill>
          <a:ln/>
          <a:effectLst>
            <a:outerShdw sx="100000" sy="100000" kx="0" ky="0" algn="bl" rotWithShape="0" blurRad="50800" dist="25400" dir="8100000">
              <a:srgbClr val="000000">
                <a:alpha val="12000"/>
              </a:srgbClr>
            </a:outerShdw>
          </a:effectLst>
        </p:spPr>
      </p:sp>
      <p:sp>
        <p:nvSpPr>
          <p:cNvPr id="18" name="Shape 16"/>
          <p:cNvSpPr/>
          <p:nvPr/>
        </p:nvSpPr>
        <p:spPr>
          <a:xfrm>
            <a:off x="457200" y="3291840"/>
            <a:ext cx="109728" cy="347472"/>
          </a:xfrm>
          <a:prstGeom prst="rect">
            <a:avLst>
              <a:gd name="adj" fmla="val 41667"/>
            </a:avLst>
          </a:prstGeom>
          <a:solidFill>
            <a:srgbClr val="E8850C"/>
          </a:solidFill>
          <a:ln/>
        </p:spPr>
      </p:sp>
      <p:sp>
        <p:nvSpPr>
          <p:cNvPr id="19" name="Text 17"/>
          <p:cNvSpPr/>
          <p:nvPr/>
        </p:nvSpPr>
        <p:spPr>
          <a:xfrm>
            <a:off x="731520" y="3310128"/>
            <a:ext cx="3474720" cy="310896"/>
          </a:xfrm>
          <a:prstGeom prst="rect">
            <a:avLst/>
          </a:prstGeom>
          <a:noFill/>
          <a:ln/>
        </p:spPr>
        <p:txBody>
          <a:bodyPr wrap="square" lIns="0" tIns="0" rIns="0" bIns="0" rtlCol="0" anchor="ctr"/>
          <a:lstStyle/>
          <a:p>
            <a:pPr indent="0" marL="0">
              <a:buNone/>
            </a:pPr>
            <a:r>
              <a:rPr lang="en-US" sz="1400" dirty="0">
                <a:solidFill>
                  <a:srgbClr val="2D3436"/>
                </a:solidFill>
                <a:latin typeface="BIZ UDPGothic" pitchFamily="34" charset="0"/>
                <a:ea typeface="BIZ UDPGothic" pitchFamily="34" charset="-122"/>
                <a:cs typeface="BIZ UDPGothic" pitchFamily="34" charset="-120"/>
              </a:rPr>
              <a:t>• 首の動きで悪化することがある</a:t>
            </a:r>
            <a:endParaRPr lang="en-US" sz="1400" dirty="0"/>
          </a:p>
        </p:txBody>
      </p:sp>
      <p:sp>
        <p:nvSpPr>
          <p:cNvPr id="20" name="Shape 18"/>
          <p:cNvSpPr/>
          <p:nvPr/>
        </p:nvSpPr>
        <p:spPr>
          <a:xfrm>
            <a:off x="4754880" y="1645920"/>
            <a:ext cx="3931920" cy="1097280"/>
          </a:xfrm>
          <a:prstGeom prst="rect">
            <a:avLst>
              <a:gd name="adj" fmla="val 8333"/>
            </a:avLst>
          </a:prstGeom>
          <a:solidFill>
            <a:srgbClr val="FFFFFF"/>
          </a:solidFill>
          <a:ln/>
          <a:effectLst>
            <a:outerShdw sx="100000" sy="100000" kx="0" ky="0" algn="bl" rotWithShape="0" blurRad="50800" dist="25400" dir="8100000">
              <a:srgbClr val="000000">
                <a:alpha val="12000"/>
              </a:srgbClr>
            </a:outerShdw>
          </a:effectLst>
        </p:spPr>
      </p:sp>
      <p:sp>
        <p:nvSpPr>
          <p:cNvPr id="21" name="Shape 19"/>
          <p:cNvSpPr/>
          <p:nvPr/>
        </p:nvSpPr>
        <p:spPr>
          <a:xfrm>
            <a:off x="4754880" y="1645920"/>
            <a:ext cx="109728" cy="1097280"/>
          </a:xfrm>
          <a:prstGeom prst="rect">
            <a:avLst>
              <a:gd name="adj" fmla="val 41667"/>
            </a:avLst>
          </a:prstGeom>
          <a:solidFill>
            <a:srgbClr val="2C5AA0"/>
          </a:solidFill>
          <a:ln/>
        </p:spPr>
      </p:sp>
      <p:sp>
        <p:nvSpPr>
          <p:cNvPr id="22" name="Text 20"/>
          <p:cNvSpPr/>
          <p:nvPr/>
        </p:nvSpPr>
        <p:spPr>
          <a:xfrm>
            <a:off x="4937760" y="1691640"/>
            <a:ext cx="3474720" cy="274320"/>
          </a:xfrm>
          <a:prstGeom prst="rect">
            <a:avLst/>
          </a:prstGeom>
          <a:noFill/>
          <a:ln/>
        </p:spPr>
        <p:txBody>
          <a:bodyPr wrap="square" lIns="0" tIns="0" rIns="0" bIns="0" rtlCol="0" anchor="ctr"/>
          <a:lstStyle/>
          <a:p>
            <a:pPr indent="0" marL="0">
              <a:buNone/>
            </a:pPr>
            <a:r>
              <a:rPr lang="en-US" sz="1600" b="1" dirty="0">
                <a:solidFill>
                  <a:srgbClr val="2C5AA0"/>
                </a:solidFill>
                <a:latin typeface="BIZ UDPGothic" pitchFamily="34" charset="0"/>
                <a:ea typeface="BIZ UDPGothic" pitchFamily="34" charset="-122"/>
                <a:cs typeface="BIZ UDPGothic" pitchFamily="34" charset="-120"/>
              </a:rPr>
              <a:t>原因</a:t>
            </a:r>
            <a:endParaRPr lang="en-US" sz="1600" dirty="0"/>
          </a:p>
        </p:txBody>
      </p:sp>
      <p:sp>
        <p:nvSpPr>
          <p:cNvPr id="23" name="Text 21"/>
          <p:cNvSpPr/>
          <p:nvPr/>
        </p:nvSpPr>
        <p:spPr>
          <a:xfrm>
            <a:off x="4937760" y="1965960"/>
            <a:ext cx="3474720" cy="685800"/>
          </a:xfrm>
          <a:prstGeom prst="rect">
            <a:avLst/>
          </a:prstGeom>
          <a:noFill/>
          <a:ln/>
        </p:spPr>
        <p:txBody>
          <a:bodyPr wrap="square" lIns="0" tIns="0" rIns="0" bIns="0" rtlCol="0" anchor="ctr"/>
          <a:lstStyle/>
          <a:p>
            <a:pPr indent="0" marL="0">
              <a:lnSpc>
                <a:spcPct val="115000"/>
              </a:lnSpc>
              <a:buNone/>
            </a:pPr>
            <a:r>
              <a:rPr lang="en-US" sz="1300" dirty="0">
                <a:solidFill>
                  <a:srgbClr val="2D3436"/>
                </a:solidFill>
                <a:latin typeface="BIZ UDPGothic" pitchFamily="34" charset="0"/>
                <a:ea typeface="BIZ UDPGothic" pitchFamily="34" charset="-122"/>
                <a:cs typeface="BIZ UDPGothic" pitchFamily="34" charset="-120"/>
              </a:rPr>
              <a:t>ストレス・姿勢不良・頸椎の異常</a:t>
            </a:r>
            <a:endParaRPr lang="en-US" sz="1300" dirty="0"/>
          </a:p>
          <a:p>
            <a:pPr indent="0" marL="0">
              <a:lnSpc>
                <a:spcPct val="115000"/>
              </a:lnSpc>
              <a:buNone/>
            </a:pPr>
            <a:r>
              <a:rPr lang="en-US" sz="1300" dirty="0">
                <a:solidFill>
                  <a:srgbClr val="2D3436"/>
                </a:solidFill>
                <a:latin typeface="BIZ UDPGothic" pitchFamily="34" charset="0"/>
                <a:ea typeface="BIZ UDPGothic" pitchFamily="34" charset="-122"/>
                <a:cs typeface="BIZ UDPGothic" pitchFamily="34" charset="-120"/>
              </a:rPr>
              <a:t>が後頭部の神経を刺激する</a:t>
            </a:r>
            <a:endParaRPr lang="en-US" sz="1300" dirty="0"/>
          </a:p>
          <a:p>
            <a:pPr indent="0" marL="0">
              <a:lnSpc>
                <a:spcPct val="115000"/>
              </a:lnSpc>
              <a:buNone/>
            </a:pPr>
            <a:r>
              <a:rPr lang="en-US" sz="1300" dirty="0">
                <a:solidFill>
                  <a:srgbClr val="2D3436"/>
                </a:solidFill>
                <a:latin typeface="BIZ UDPGothic" pitchFamily="34" charset="0"/>
                <a:ea typeface="BIZ UDPGothic" pitchFamily="34" charset="-122"/>
                <a:cs typeface="BIZ UDPGothic" pitchFamily="34" charset="-120"/>
              </a:rPr>
              <a:t>長時間のデスクワークがきっかけに</a:t>
            </a:r>
            <a:endParaRPr lang="en-US" sz="1300" dirty="0"/>
          </a:p>
          <a:p>
            <a:pPr indent="0" marL="0">
              <a:lnSpc>
                <a:spcPct val="115000"/>
              </a:lnSpc>
              <a:buNone/>
            </a:pPr>
            <a:r>
              <a:rPr lang="en-US" sz="1300" dirty="0">
                <a:solidFill>
                  <a:srgbClr val="2D3436"/>
                </a:solidFill>
                <a:latin typeface="BIZ UDPGothic" pitchFamily="34" charset="0"/>
                <a:ea typeface="BIZ UDPGothic" pitchFamily="34" charset="-122"/>
                <a:cs typeface="BIZ UDPGothic" pitchFamily="34" charset="-120"/>
              </a:rPr>
              <a:t>なることが多い</a:t>
            </a:r>
            <a:endParaRPr lang="en-US" sz="1300" dirty="0"/>
          </a:p>
        </p:txBody>
      </p:sp>
      <p:sp>
        <p:nvSpPr>
          <p:cNvPr id="24" name="Shape 22"/>
          <p:cNvSpPr/>
          <p:nvPr/>
        </p:nvSpPr>
        <p:spPr>
          <a:xfrm>
            <a:off x="4754880" y="2880360"/>
            <a:ext cx="3931920" cy="640080"/>
          </a:xfrm>
          <a:prstGeom prst="rect">
            <a:avLst>
              <a:gd name="adj" fmla="val 14286"/>
            </a:avLst>
          </a:prstGeom>
          <a:solidFill>
            <a:srgbClr val="D4EDDA"/>
          </a:solidFill>
          <a:ln/>
          <a:effectLst>
            <a:outerShdw sx="100000" sy="100000" kx="0" ky="0" algn="bl" rotWithShape="0" blurRad="50800" dist="25400" dir="8100000">
              <a:srgbClr val="000000">
                <a:alpha val="12000"/>
              </a:srgbClr>
            </a:outerShdw>
          </a:effectLst>
        </p:spPr>
      </p:sp>
      <p:sp>
        <p:nvSpPr>
          <p:cNvPr id="25" name="Shape 23"/>
          <p:cNvSpPr/>
          <p:nvPr/>
        </p:nvSpPr>
        <p:spPr>
          <a:xfrm>
            <a:off x="4754880" y="2880360"/>
            <a:ext cx="109728" cy="640080"/>
          </a:xfrm>
          <a:prstGeom prst="rect">
            <a:avLst>
              <a:gd name="adj" fmla="val 41667"/>
            </a:avLst>
          </a:prstGeom>
          <a:solidFill>
            <a:srgbClr val="28A745"/>
          </a:solidFill>
          <a:ln/>
        </p:spPr>
      </p:sp>
      <p:sp>
        <p:nvSpPr>
          <p:cNvPr id="26" name="Text 24"/>
          <p:cNvSpPr/>
          <p:nvPr/>
        </p:nvSpPr>
        <p:spPr>
          <a:xfrm>
            <a:off x="4937760" y="2926080"/>
            <a:ext cx="3474720" cy="502920"/>
          </a:xfrm>
          <a:prstGeom prst="rect">
            <a:avLst/>
          </a:prstGeom>
          <a:noFill/>
          <a:ln/>
        </p:spPr>
        <p:txBody>
          <a:bodyPr wrap="square" lIns="0" tIns="0" rIns="0" bIns="0" rtlCol="0" anchor="ctr"/>
          <a:lstStyle/>
          <a:p>
            <a:pPr indent="0" marL="0">
              <a:lnSpc>
                <a:spcPct val="120000"/>
              </a:lnSpc>
              <a:buNone/>
            </a:pPr>
            <a:r>
              <a:rPr lang="en-US" sz="1400" dirty="0">
                <a:solidFill>
                  <a:srgbClr val="2D3436"/>
                </a:solidFill>
                <a:latin typeface="BIZ UDPGothic" pitchFamily="34" charset="0"/>
                <a:ea typeface="BIZ UDPGothic" pitchFamily="34" charset="-122"/>
                <a:cs typeface="BIZ UDPGothic" pitchFamily="34" charset="-120"/>
              </a:rPr>
              <a:t>多くは鎮痛薬で改善します</a:t>
            </a:r>
            <a:endParaRPr lang="en-US" sz="1400" dirty="0"/>
          </a:p>
          <a:p>
            <a:pPr indent="0" marL="0">
              <a:lnSpc>
                <a:spcPct val="120000"/>
              </a:lnSpc>
              <a:buNone/>
            </a:pPr>
            <a:r>
              <a:rPr lang="en-US" sz="1400" dirty="0">
                <a:solidFill>
                  <a:srgbClr val="2D3436"/>
                </a:solidFill>
                <a:latin typeface="BIZ UDPGothic" pitchFamily="34" charset="0"/>
                <a:ea typeface="BIZ UDPGothic" pitchFamily="34" charset="-122"/>
                <a:cs typeface="BIZ UDPGothic" pitchFamily="34" charset="-120"/>
              </a:rPr>
              <a:t>頸椎に原因がある場合はMRI検査も</a:t>
            </a:r>
            <a:endParaRPr lang="en-US" sz="1400" dirty="0"/>
          </a:p>
        </p:txBody>
      </p:sp>
      <p:sp>
        <p:nvSpPr>
          <p:cNvPr id="27" name="Shape 25"/>
          <p:cNvSpPr/>
          <p:nvPr/>
        </p:nvSpPr>
        <p:spPr>
          <a:xfrm>
            <a:off x="0" y="4800600"/>
            <a:ext cx="9144000" cy="347472"/>
          </a:xfrm>
          <a:prstGeom prst="rect">
            <a:avLst/>
          </a:prstGeom>
          <a:solidFill>
            <a:srgbClr val="1B3A5C"/>
          </a:solidFill>
          <a:ln/>
        </p:spPr>
      </p:sp>
      <p:sp>
        <p:nvSpPr>
          <p:cNvPr id="28" name="Text 26"/>
          <p:cNvSpPr/>
          <p:nvPr/>
        </p:nvSpPr>
        <p:spPr>
          <a:xfrm>
            <a:off x="365760" y="4818888"/>
            <a:ext cx="4572000" cy="274320"/>
          </a:xfrm>
          <a:prstGeom prst="rect">
            <a:avLst/>
          </a:prstGeom>
          <a:noFill/>
          <a:ln/>
        </p:spPr>
        <p:txBody>
          <a:bodyPr wrap="square" lIns="0" tIns="0" rIns="0" bIns="0" rtlCol="0" anchor="ctr"/>
          <a:lstStyle/>
          <a:p>
            <a:pPr indent="0" marL="0">
              <a:buNone/>
            </a:pPr>
            <a:r>
              <a:rPr lang="en-US" sz="1000" dirty="0">
                <a:solidFill>
                  <a:srgbClr val="FFFFFF"/>
                </a:solidFill>
                <a:latin typeface="BIZ UDPGothic" pitchFamily="34" charset="0"/>
                <a:ea typeface="BIZ UDPGothic" pitchFamily="34" charset="-122"/>
                <a:cs typeface="BIZ UDPGothic" pitchFamily="34" charset="-120"/>
              </a:rPr>
              <a:t>医知創造ラボ ｜ その症状、大丈夫？ #17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DC3545"/>
          </a:solidFill>
          <a:ln/>
        </p:spPr>
      </p:sp>
      <p:sp>
        <p:nvSpPr>
          <p:cNvPr id="3" name="Text 1"/>
          <p:cNvSpPr/>
          <p:nvPr/>
        </p:nvSpPr>
        <p:spPr>
          <a:xfrm>
            <a:off x="457200" y="91440"/>
            <a:ext cx="8229600" cy="640080"/>
          </a:xfrm>
          <a:prstGeom prst="rect">
            <a:avLst/>
          </a:prstGeom>
          <a:noFill/>
          <a:ln/>
        </p:spPr>
        <p:txBody>
          <a:bodyPr wrap="square" lIns="0" tIns="0" rIns="0" bIns="0" rtlCol="0" anchor="ctr"/>
          <a:lstStyle/>
          <a:p>
            <a:pPr indent="0" marL="0">
              <a:buNone/>
            </a:pPr>
            <a:r>
              <a:rPr lang="en-US" sz="2600" b="1" dirty="0">
                <a:solidFill>
                  <a:srgbClr val="FFFFFF"/>
                </a:solidFill>
                <a:latin typeface="BIZ UDPGothic" pitchFamily="34" charset="0"/>
                <a:ea typeface="BIZ UDPGothic" pitchFamily="34" charset="-122"/>
                <a:cs typeface="BIZ UDPGothic" pitchFamily="34" charset="-120"/>
              </a:rPr>
              <a:t>頸椎症性脊髄症 ― 見逃せない重症タイプ</a:t>
            </a:r>
            <a:endParaRPr lang="en-US" sz="2600" dirty="0"/>
          </a:p>
        </p:txBody>
      </p:sp>
      <p:sp>
        <p:nvSpPr>
          <p:cNvPr id="4" name="Shape 2"/>
          <p:cNvSpPr/>
          <p:nvPr/>
        </p:nvSpPr>
        <p:spPr>
          <a:xfrm>
            <a:off x="457200" y="1005840"/>
            <a:ext cx="8229600" cy="457200"/>
          </a:xfrm>
          <a:prstGeom prst="rect">
            <a:avLst>
              <a:gd name="adj" fmla="val 20000"/>
            </a:avLst>
          </a:prstGeom>
          <a:solidFill>
            <a:srgbClr val="F8D7DA"/>
          </a:solidFill>
          <a:ln/>
          <a:effectLst>
            <a:outerShdw sx="100000" sy="100000" kx="0" ky="0" algn="bl" rotWithShape="0" blurRad="50800" dist="25400" dir="8100000">
              <a:srgbClr val="000000">
                <a:alpha val="12000"/>
              </a:srgbClr>
            </a:outerShdw>
          </a:effectLst>
        </p:spPr>
      </p:sp>
      <p:sp>
        <p:nvSpPr>
          <p:cNvPr id="5" name="Shape 3"/>
          <p:cNvSpPr/>
          <p:nvPr/>
        </p:nvSpPr>
        <p:spPr>
          <a:xfrm>
            <a:off x="457200" y="1005840"/>
            <a:ext cx="109728" cy="457200"/>
          </a:xfrm>
          <a:prstGeom prst="rect">
            <a:avLst>
              <a:gd name="adj" fmla="val 41667"/>
            </a:avLst>
          </a:prstGeom>
          <a:solidFill>
            <a:srgbClr val="DC3545"/>
          </a:solidFill>
          <a:ln/>
        </p:spPr>
      </p:sp>
      <p:sp>
        <p:nvSpPr>
          <p:cNvPr id="6" name="Text 4"/>
          <p:cNvSpPr/>
          <p:nvPr/>
        </p:nvSpPr>
        <p:spPr>
          <a:xfrm>
            <a:off x="731520" y="1051560"/>
            <a:ext cx="7772400" cy="365760"/>
          </a:xfrm>
          <a:prstGeom prst="rect">
            <a:avLst/>
          </a:prstGeom>
          <a:noFill/>
          <a:ln/>
        </p:spPr>
        <p:txBody>
          <a:bodyPr wrap="square" lIns="0" tIns="0" rIns="0" bIns="0" rtlCol="0" anchor="ctr"/>
          <a:lstStyle/>
          <a:p>
            <a:pPr indent="0" marL="0">
              <a:buNone/>
            </a:pPr>
            <a:r>
              <a:rPr lang="en-US" sz="1700" b="1" dirty="0">
                <a:solidFill>
                  <a:srgbClr val="DC3545"/>
                </a:solidFill>
                <a:latin typeface="BIZ UDPGothic" pitchFamily="34" charset="0"/>
                <a:ea typeface="BIZ UDPGothic" pitchFamily="34" charset="-122"/>
                <a:cs typeface="BIZ UDPGothic" pitchFamily="34" charset="-120"/>
              </a:rPr>
              <a:t>脊髄そのものが圧迫される ― 放置すると回復が難しくなることも</a:t>
            </a:r>
            <a:endParaRPr lang="en-US" sz="1700" dirty="0"/>
          </a:p>
        </p:txBody>
      </p:sp>
      <p:sp>
        <p:nvSpPr>
          <p:cNvPr id="7" name="Text 5"/>
          <p:cNvSpPr/>
          <p:nvPr/>
        </p:nvSpPr>
        <p:spPr>
          <a:xfrm>
            <a:off x="457200" y="1645920"/>
            <a:ext cx="8229600" cy="320040"/>
          </a:xfrm>
          <a:prstGeom prst="rect">
            <a:avLst/>
          </a:prstGeom>
          <a:noFill/>
          <a:ln/>
        </p:spPr>
        <p:txBody>
          <a:bodyPr wrap="square" lIns="0" tIns="0" rIns="0" bIns="0" rtlCol="0" anchor="ctr"/>
          <a:lstStyle/>
          <a:p>
            <a:pPr indent="0" marL="0">
              <a:buNone/>
            </a:pPr>
            <a:r>
              <a:rPr lang="en-US" sz="1700" b="1" dirty="0">
                <a:solidFill>
                  <a:srgbClr val="E8850C"/>
                </a:solidFill>
                <a:latin typeface="BIZ UDPGothic" pitchFamily="34" charset="0"/>
                <a:ea typeface="BIZ UDPGothic" pitchFamily="34" charset="-122"/>
                <a:cs typeface="BIZ UDPGothic" pitchFamily="34" charset="-120"/>
              </a:rPr>
              <a:t>見逃してはいけない3つのサイン</a:t>
            </a:r>
            <a:endParaRPr lang="en-US" sz="1700" dirty="0"/>
          </a:p>
        </p:txBody>
      </p:sp>
      <p:sp>
        <p:nvSpPr>
          <p:cNvPr id="8" name="Shape 6"/>
          <p:cNvSpPr/>
          <p:nvPr/>
        </p:nvSpPr>
        <p:spPr>
          <a:xfrm>
            <a:off x="457200" y="2103120"/>
            <a:ext cx="2651760" cy="1828800"/>
          </a:xfrm>
          <a:prstGeom prst="rect">
            <a:avLst>
              <a:gd name="adj" fmla="val 5000"/>
            </a:avLst>
          </a:prstGeom>
          <a:solidFill>
            <a:srgbClr val="FFFFFF"/>
          </a:solidFill>
          <a:ln/>
          <a:effectLst>
            <a:outerShdw sx="100000" sy="100000" kx="0" ky="0" algn="bl" rotWithShape="0" blurRad="50800" dist="25400" dir="8100000">
              <a:srgbClr val="000000">
                <a:alpha val="12000"/>
              </a:srgbClr>
            </a:outerShdw>
          </a:effectLst>
        </p:spPr>
      </p:sp>
      <p:sp>
        <p:nvSpPr>
          <p:cNvPr id="9" name="Shape 7"/>
          <p:cNvSpPr/>
          <p:nvPr/>
        </p:nvSpPr>
        <p:spPr>
          <a:xfrm>
            <a:off x="457200" y="2103120"/>
            <a:ext cx="109728" cy="1828800"/>
          </a:xfrm>
          <a:prstGeom prst="rect">
            <a:avLst>
              <a:gd name="adj" fmla="val 41667"/>
            </a:avLst>
          </a:prstGeom>
          <a:solidFill>
            <a:srgbClr val="DC3545"/>
          </a:solidFill>
          <a:ln/>
        </p:spPr>
      </p:sp>
      <p:sp>
        <p:nvSpPr>
          <p:cNvPr id="10" name="Text 8"/>
          <p:cNvSpPr/>
          <p:nvPr/>
        </p:nvSpPr>
        <p:spPr>
          <a:xfrm>
            <a:off x="640080" y="2148840"/>
            <a:ext cx="548640" cy="457200"/>
          </a:xfrm>
          <a:prstGeom prst="rect">
            <a:avLst/>
          </a:prstGeom>
          <a:noFill/>
          <a:ln/>
        </p:spPr>
        <p:txBody>
          <a:bodyPr wrap="square" lIns="0" tIns="0" rIns="0" bIns="0" rtlCol="0" anchor="ctr"/>
          <a:lstStyle/>
          <a:p>
            <a:pPr algn="ctr" indent="0" marL="0">
              <a:buNone/>
            </a:pPr>
            <a:r>
              <a:rPr lang="en-US" sz="2800" dirty="0">
                <a:solidFill>
                  <a:srgbClr val="000000"/>
                </a:solidFill>
              </a:rPr>
              <a:t>✋</a:t>
            </a:r>
            <a:endParaRPr lang="en-US" sz="2800" dirty="0"/>
          </a:p>
        </p:txBody>
      </p:sp>
      <p:sp>
        <p:nvSpPr>
          <p:cNvPr id="11" name="Text 9"/>
          <p:cNvSpPr/>
          <p:nvPr/>
        </p:nvSpPr>
        <p:spPr>
          <a:xfrm>
            <a:off x="1188720" y="2148840"/>
            <a:ext cx="1828800" cy="411480"/>
          </a:xfrm>
          <a:prstGeom prst="rect">
            <a:avLst/>
          </a:prstGeom>
          <a:noFill/>
          <a:ln/>
        </p:spPr>
        <p:txBody>
          <a:bodyPr wrap="square" lIns="0" tIns="0" rIns="0" bIns="0" rtlCol="0" anchor="ctr"/>
          <a:lstStyle/>
          <a:p>
            <a:pPr indent="0" marL="0">
              <a:buNone/>
            </a:pPr>
            <a:r>
              <a:rPr lang="en-US" sz="1600" b="1" dirty="0">
                <a:solidFill>
                  <a:srgbClr val="DC3545"/>
                </a:solidFill>
                <a:latin typeface="BIZ UDPGothic" pitchFamily="34" charset="0"/>
                <a:ea typeface="BIZ UDPGothic" pitchFamily="34" charset="-122"/>
                <a:cs typeface="BIZ UDPGothic" pitchFamily="34" charset="-120"/>
              </a:rPr>
              <a:t>手の巧緻運動障害</a:t>
            </a:r>
            <a:endParaRPr lang="en-US" sz="1600" dirty="0"/>
          </a:p>
        </p:txBody>
      </p:sp>
      <p:sp>
        <p:nvSpPr>
          <p:cNvPr id="12" name="Text 10"/>
          <p:cNvSpPr/>
          <p:nvPr/>
        </p:nvSpPr>
        <p:spPr>
          <a:xfrm>
            <a:off x="640080" y="2651760"/>
            <a:ext cx="2286000" cy="1097280"/>
          </a:xfrm>
          <a:prstGeom prst="rect">
            <a:avLst/>
          </a:prstGeom>
          <a:noFill/>
          <a:ln/>
        </p:spPr>
        <p:txBody>
          <a:bodyPr wrap="square" lIns="0" tIns="0" rIns="0" bIns="0" rtlCol="0" anchor="ctr"/>
          <a:lstStyle/>
          <a:p>
            <a:pPr indent="0" marL="0">
              <a:lnSpc>
                <a:spcPct val="120000"/>
              </a:lnSpc>
              <a:buNone/>
            </a:pPr>
            <a:r>
              <a:rPr lang="en-US" sz="1400" dirty="0">
                <a:solidFill>
                  <a:srgbClr val="2D3436"/>
                </a:solidFill>
                <a:latin typeface="BIZ UDPGothic" pitchFamily="34" charset="0"/>
                <a:ea typeface="BIZ UDPGothic" pitchFamily="34" charset="-122"/>
                <a:cs typeface="BIZ UDPGothic" pitchFamily="34" charset="-120"/>
              </a:rPr>
              <a:t>ボタンがかけにくい</a:t>
            </a:r>
            <a:endParaRPr lang="en-US" sz="1400" dirty="0"/>
          </a:p>
          <a:p>
            <a:pPr indent="0" marL="0">
              <a:lnSpc>
                <a:spcPct val="120000"/>
              </a:lnSpc>
              <a:buNone/>
            </a:pPr>
            <a:r>
              <a:rPr lang="en-US" sz="1400" dirty="0">
                <a:solidFill>
                  <a:srgbClr val="2D3436"/>
                </a:solidFill>
                <a:latin typeface="BIZ UDPGothic" pitchFamily="34" charset="0"/>
                <a:ea typeface="BIZ UDPGothic" pitchFamily="34" charset="-122"/>
                <a:cs typeface="BIZ UDPGothic" pitchFamily="34" charset="-120"/>
              </a:rPr>
              <a:t>箸がうまく使えない</a:t>
            </a:r>
            <a:endParaRPr lang="en-US" sz="1400" dirty="0"/>
          </a:p>
          <a:p>
            <a:pPr indent="0" marL="0">
              <a:lnSpc>
                <a:spcPct val="120000"/>
              </a:lnSpc>
              <a:buNone/>
            </a:pPr>
            <a:r>
              <a:rPr lang="en-US" sz="1400" dirty="0">
                <a:solidFill>
                  <a:srgbClr val="2D3436"/>
                </a:solidFill>
                <a:latin typeface="BIZ UDPGothic" pitchFamily="34" charset="0"/>
                <a:ea typeface="BIZ UDPGothic" pitchFamily="34" charset="-122"/>
                <a:cs typeface="BIZ UDPGothic" pitchFamily="34" charset="-120"/>
              </a:rPr>
              <a:t>字が書きにくくなった</a:t>
            </a:r>
            <a:endParaRPr lang="en-US" sz="1400" dirty="0"/>
          </a:p>
        </p:txBody>
      </p:sp>
      <p:sp>
        <p:nvSpPr>
          <p:cNvPr id="13" name="Shape 11"/>
          <p:cNvSpPr/>
          <p:nvPr/>
        </p:nvSpPr>
        <p:spPr>
          <a:xfrm>
            <a:off x="3291840" y="2103120"/>
            <a:ext cx="2651760" cy="1828800"/>
          </a:xfrm>
          <a:prstGeom prst="rect">
            <a:avLst>
              <a:gd name="adj" fmla="val 5000"/>
            </a:avLst>
          </a:prstGeom>
          <a:solidFill>
            <a:srgbClr val="FFFFFF"/>
          </a:solidFill>
          <a:ln/>
          <a:effectLst>
            <a:outerShdw sx="100000" sy="100000" kx="0" ky="0" algn="bl" rotWithShape="0" blurRad="50800" dist="25400" dir="8100000">
              <a:srgbClr val="000000">
                <a:alpha val="12000"/>
              </a:srgbClr>
            </a:outerShdw>
          </a:effectLst>
        </p:spPr>
      </p:sp>
      <p:sp>
        <p:nvSpPr>
          <p:cNvPr id="14" name="Shape 12"/>
          <p:cNvSpPr/>
          <p:nvPr/>
        </p:nvSpPr>
        <p:spPr>
          <a:xfrm>
            <a:off x="3291840" y="2103120"/>
            <a:ext cx="109728" cy="1828800"/>
          </a:xfrm>
          <a:prstGeom prst="rect">
            <a:avLst>
              <a:gd name="adj" fmla="val 41667"/>
            </a:avLst>
          </a:prstGeom>
          <a:solidFill>
            <a:srgbClr val="DC3545"/>
          </a:solidFill>
          <a:ln/>
        </p:spPr>
      </p:sp>
      <p:sp>
        <p:nvSpPr>
          <p:cNvPr id="15" name="Text 13"/>
          <p:cNvSpPr/>
          <p:nvPr/>
        </p:nvSpPr>
        <p:spPr>
          <a:xfrm>
            <a:off x="3474720" y="2148840"/>
            <a:ext cx="548640" cy="457200"/>
          </a:xfrm>
          <a:prstGeom prst="rect">
            <a:avLst/>
          </a:prstGeom>
          <a:noFill/>
          <a:ln/>
        </p:spPr>
        <p:txBody>
          <a:bodyPr wrap="square" lIns="0" tIns="0" rIns="0" bIns="0" rtlCol="0" anchor="ctr"/>
          <a:lstStyle/>
          <a:p>
            <a:pPr algn="ctr" indent="0" marL="0">
              <a:buNone/>
            </a:pPr>
            <a:r>
              <a:rPr lang="en-US" sz="2800" dirty="0">
                <a:solidFill>
                  <a:srgbClr val="000000"/>
                </a:solidFill>
              </a:rPr>
              <a:t>🚶</a:t>
            </a:r>
            <a:endParaRPr lang="en-US" sz="2800" dirty="0"/>
          </a:p>
        </p:txBody>
      </p:sp>
      <p:sp>
        <p:nvSpPr>
          <p:cNvPr id="16" name="Text 14"/>
          <p:cNvSpPr/>
          <p:nvPr/>
        </p:nvSpPr>
        <p:spPr>
          <a:xfrm>
            <a:off x="4023360" y="2148840"/>
            <a:ext cx="1828800" cy="411480"/>
          </a:xfrm>
          <a:prstGeom prst="rect">
            <a:avLst/>
          </a:prstGeom>
          <a:noFill/>
          <a:ln/>
        </p:spPr>
        <p:txBody>
          <a:bodyPr wrap="square" lIns="0" tIns="0" rIns="0" bIns="0" rtlCol="0" anchor="ctr"/>
          <a:lstStyle/>
          <a:p>
            <a:pPr indent="0" marL="0">
              <a:buNone/>
            </a:pPr>
            <a:r>
              <a:rPr lang="en-US" sz="1600" b="1" dirty="0">
                <a:solidFill>
                  <a:srgbClr val="DC3545"/>
                </a:solidFill>
                <a:latin typeface="BIZ UDPGothic" pitchFamily="34" charset="0"/>
                <a:ea typeface="BIZ UDPGothic" pitchFamily="34" charset="-122"/>
                <a:cs typeface="BIZ UDPGothic" pitchFamily="34" charset="-120"/>
              </a:rPr>
              <a:t>歩行障害</a:t>
            </a:r>
            <a:endParaRPr lang="en-US" sz="1600" dirty="0"/>
          </a:p>
        </p:txBody>
      </p:sp>
      <p:sp>
        <p:nvSpPr>
          <p:cNvPr id="17" name="Text 15"/>
          <p:cNvSpPr/>
          <p:nvPr/>
        </p:nvSpPr>
        <p:spPr>
          <a:xfrm>
            <a:off x="3474720" y="2651760"/>
            <a:ext cx="2286000" cy="1097280"/>
          </a:xfrm>
          <a:prstGeom prst="rect">
            <a:avLst/>
          </a:prstGeom>
          <a:noFill/>
          <a:ln/>
        </p:spPr>
        <p:txBody>
          <a:bodyPr wrap="square" lIns="0" tIns="0" rIns="0" bIns="0" rtlCol="0" anchor="ctr"/>
          <a:lstStyle/>
          <a:p>
            <a:pPr indent="0" marL="0">
              <a:lnSpc>
                <a:spcPct val="120000"/>
              </a:lnSpc>
              <a:buNone/>
            </a:pPr>
            <a:r>
              <a:rPr lang="en-US" sz="1400" dirty="0">
                <a:solidFill>
                  <a:srgbClr val="2D3436"/>
                </a:solidFill>
                <a:latin typeface="BIZ UDPGothic" pitchFamily="34" charset="0"/>
                <a:ea typeface="BIZ UDPGothic" pitchFamily="34" charset="-122"/>
                <a:cs typeface="BIZ UDPGothic" pitchFamily="34" charset="-120"/>
              </a:rPr>
              <a:t>歩くときにふらつく</a:t>
            </a:r>
            <a:endParaRPr lang="en-US" sz="1400" dirty="0"/>
          </a:p>
          <a:p>
            <a:pPr indent="0" marL="0">
              <a:lnSpc>
                <a:spcPct val="120000"/>
              </a:lnSpc>
              <a:buNone/>
            </a:pPr>
            <a:r>
              <a:rPr lang="en-US" sz="1400" dirty="0">
                <a:solidFill>
                  <a:srgbClr val="2D3436"/>
                </a:solidFill>
                <a:latin typeface="BIZ UDPGothic" pitchFamily="34" charset="0"/>
                <a:ea typeface="BIZ UDPGothic" pitchFamily="34" charset="-122"/>
                <a:cs typeface="BIZ UDPGothic" pitchFamily="34" charset="-120"/>
              </a:rPr>
              <a:t>階段が怖い</a:t>
            </a:r>
            <a:endParaRPr lang="en-US" sz="1400" dirty="0"/>
          </a:p>
          <a:p>
            <a:pPr indent="0" marL="0">
              <a:lnSpc>
                <a:spcPct val="120000"/>
              </a:lnSpc>
              <a:buNone/>
            </a:pPr>
            <a:r>
              <a:rPr lang="en-US" sz="1400" dirty="0">
                <a:solidFill>
                  <a:srgbClr val="2D3436"/>
                </a:solidFill>
                <a:latin typeface="BIZ UDPGothic" pitchFamily="34" charset="0"/>
                <a:ea typeface="BIZ UDPGothic" pitchFamily="34" charset="-122"/>
                <a:cs typeface="BIZ UDPGothic" pitchFamily="34" charset="-120"/>
              </a:rPr>
              <a:t>足がもつれる</a:t>
            </a:r>
            <a:endParaRPr lang="en-US" sz="1400" dirty="0"/>
          </a:p>
        </p:txBody>
      </p:sp>
      <p:sp>
        <p:nvSpPr>
          <p:cNvPr id="18" name="Shape 16"/>
          <p:cNvSpPr/>
          <p:nvPr/>
        </p:nvSpPr>
        <p:spPr>
          <a:xfrm>
            <a:off x="6126480" y="2103120"/>
            <a:ext cx="2651760" cy="1828800"/>
          </a:xfrm>
          <a:prstGeom prst="rect">
            <a:avLst>
              <a:gd name="adj" fmla="val 5000"/>
            </a:avLst>
          </a:prstGeom>
          <a:solidFill>
            <a:srgbClr val="FFFFFF"/>
          </a:solidFill>
          <a:ln/>
          <a:effectLst>
            <a:outerShdw sx="100000" sy="100000" kx="0" ky="0" algn="bl" rotWithShape="0" blurRad="50800" dist="25400" dir="8100000">
              <a:srgbClr val="000000">
                <a:alpha val="12000"/>
              </a:srgbClr>
            </a:outerShdw>
          </a:effectLst>
        </p:spPr>
      </p:sp>
      <p:sp>
        <p:nvSpPr>
          <p:cNvPr id="19" name="Shape 17"/>
          <p:cNvSpPr/>
          <p:nvPr/>
        </p:nvSpPr>
        <p:spPr>
          <a:xfrm>
            <a:off x="6126480" y="2103120"/>
            <a:ext cx="109728" cy="1828800"/>
          </a:xfrm>
          <a:prstGeom prst="rect">
            <a:avLst>
              <a:gd name="adj" fmla="val 41667"/>
            </a:avLst>
          </a:prstGeom>
          <a:solidFill>
            <a:srgbClr val="DC3545"/>
          </a:solidFill>
          <a:ln/>
        </p:spPr>
      </p:sp>
      <p:sp>
        <p:nvSpPr>
          <p:cNvPr id="20" name="Text 18"/>
          <p:cNvSpPr/>
          <p:nvPr/>
        </p:nvSpPr>
        <p:spPr>
          <a:xfrm>
            <a:off x="6309360" y="2148840"/>
            <a:ext cx="548640" cy="457200"/>
          </a:xfrm>
          <a:prstGeom prst="rect">
            <a:avLst/>
          </a:prstGeom>
          <a:noFill/>
          <a:ln/>
        </p:spPr>
        <p:txBody>
          <a:bodyPr wrap="square" lIns="0" tIns="0" rIns="0" bIns="0" rtlCol="0" anchor="ctr"/>
          <a:lstStyle/>
          <a:p>
            <a:pPr algn="ctr" indent="0" marL="0">
              <a:buNone/>
            </a:pPr>
            <a:r>
              <a:rPr lang="en-US" sz="2800" dirty="0">
                <a:solidFill>
                  <a:srgbClr val="000000"/>
                </a:solidFill>
              </a:rPr>
              <a:t>🔋</a:t>
            </a:r>
            <a:endParaRPr lang="en-US" sz="2800" dirty="0"/>
          </a:p>
        </p:txBody>
      </p:sp>
      <p:sp>
        <p:nvSpPr>
          <p:cNvPr id="21" name="Text 19"/>
          <p:cNvSpPr/>
          <p:nvPr/>
        </p:nvSpPr>
        <p:spPr>
          <a:xfrm>
            <a:off x="6858000" y="2148840"/>
            <a:ext cx="1828800" cy="411480"/>
          </a:xfrm>
          <a:prstGeom prst="rect">
            <a:avLst/>
          </a:prstGeom>
          <a:noFill/>
          <a:ln/>
        </p:spPr>
        <p:txBody>
          <a:bodyPr wrap="square" lIns="0" tIns="0" rIns="0" bIns="0" rtlCol="0" anchor="ctr"/>
          <a:lstStyle/>
          <a:p>
            <a:pPr indent="0" marL="0">
              <a:buNone/>
            </a:pPr>
            <a:r>
              <a:rPr lang="en-US" sz="1600" b="1" dirty="0">
                <a:solidFill>
                  <a:srgbClr val="DC3545"/>
                </a:solidFill>
                <a:latin typeface="BIZ UDPGothic" pitchFamily="34" charset="0"/>
                <a:ea typeface="BIZ UDPGothic" pitchFamily="34" charset="-122"/>
                <a:cs typeface="BIZ UDPGothic" pitchFamily="34" charset="-120"/>
              </a:rPr>
              <a:t>膀胱直腸障害</a:t>
            </a:r>
            <a:endParaRPr lang="en-US" sz="1600" dirty="0"/>
          </a:p>
        </p:txBody>
      </p:sp>
      <p:sp>
        <p:nvSpPr>
          <p:cNvPr id="22" name="Text 20"/>
          <p:cNvSpPr/>
          <p:nvPr/>
        </p:nvSpPr>
        <p:spPr>
          <a:xfrm>
            <a:off x="6309360" y="2651760"/>
            <a:ext cx="2286000" cy="1097280"/>
          </a:xfrm>
          <a:prstGeom prst="rect">
            <a:avLst/>
          </a:prstGeom>
          <a:noFill/>
          <a:ln/>
        </p:spPr>
        <p:txBody>
          <a:bodyPr wrap="square" lIns="0" tIns="0" rIns="0" bIns="0" rtlCol="0" anchor="ctr"/>
          <a:lstStyle/>
          <a:p>
            <a:pPr indent="0" marL="0">
              <a:lnSpc>
                <a:spcPct val="120000"/>
              </a:lnSpc>
              <a:buNone/>
            </a:pPr>
            <a:r>
              <a:rPr lang="en-US" sz="1400" dirty="0">
                <a:solidFill>
                  <a:srgbClr val="2D3436"/>
                </a:solidFill>
                <a:latin typeface="BIZ UDPGothic" pitchFamily="34" charset="0"/>
                <a:ea typeface="BIZ UDPGothic" pitchFamily="34" charset="-122"/>
                <a:cs typeface="BIZ UDPGothic" pitchFamily="34" charset="-120"/>
              </a:rPr>
              <a:t>尿が出にくい</a:t>
            </a:r>
            <a:endParaRPr lang="en-US" sz="1400" dirty="0"/>
          </a:p>
          <a:p>
            <a:pPr indent="0" marL="0">
              <a:lnSpc>
                <a:spcPct val="120000"/>
              </a:lnSpc>
              <a:buNone/>
            </a:pPr>
            <a:r>
              <a:rPr lang="en-US" sz="1400" dirty="0">
                <a:solidFill>
                  <a:srgbClr val="2D3436"/>
                </a:solidFill>
                <a:latin typeface="BIZ UDPGothic" pitchFamily="34" charset="0"/>
                <a:ea typeface="BIZ UDPGothic" pitchFamily="34" charset="-122"/>
                <a:cs typeface="BIZ UDPGothic" pitchFamily="34" charset="-120"/>
              </a:rPr>
              <a:t>頻尿になった</a:t>
            </a:r>
            <a:endParaRPr lang="en-US" sz="1400" dirty="0"/>
          </a:p>
          <a:p>
            <a:pPr indent="0" marL="0">
              <a:lnSpc>
                <a:spcPct val="120000"/>
              </a:lnSpc>
              <a:buNone/>
            </a:pPr>
            <a:r>
              <a:rPr lang="en-US" sz="1400" dirty="0">
                <a:solidFill>
                  <a:srgbClr val="2D3436"/>
                </a:solidFill>
                <a:latin typeface="BIZ UDPGothic" pitchFamily="34" charset="0"/>
                <a:ea typeface="BIZ UDPGothic" pitchFamily="34" charset="-122"/>
                <a:cs typeface="BIZ UDPGothic" pitchFamily="34" charset="-120"/>
              </a:rPr>
              <a:t>残尿感がある</a:t>
            </a:r>
            <a:endParaRPr lang="en-US" sz="1400" dirty="0"/>
          </a:p>
        </p:txBody>
      </p:sp>
      <p:sp>
        <p:nvSpPr>
          <p:cNvPr id="23" name="Shape 21"/>
          <p:cNvSpPr/>
          <p:nvPr/>
        </p:nvSpPr>
        <p:spPr>
          <a:xfrm>
            <a:off x="457200" y="4114800"/>
            <a:ext cx="8229600" cy="502920"/>
          </a:xfrm>
          <a:prstGeom prst="rect">
            <a:avLst>
              <a:gd name="adj" fmla="val 18182"/>
            </a:avLst>
          </a:prstGeom>
          <a:solidFill>
            <a:srgbClr val="FFF3CD"/>
          </a:solidFill>
          <a:ln/>
          <a:effectLst>
            <a:outerShdw sx="100000" sy="100000" kx="0" ky="0" algn="bl" rotWithShape="0" blurRad="50800" dist="25400" dir="8100000">
              <a:srgbClr val="000000">
                <a:alpha val="12000"/>
              </a:srgbClr>
            </a:outerShdw>
          </a:effectLst>
        </p:spPr>
      </p:sp>
      <p:sp>
        <p:nvSpPr>
          <p:cNvPr id="24" name="Shape 22"/>
          <p:cNvSpPr/>
          <p:nvPr/>
        </p:nvSpPr>
        <p:spPr>
          <a:xfrm>
            <a:off x="457200" y="4114800"/>
            <a:ext cx="109728" cy="502920"/>
          </a:xfrm>
          <a:prstGeom prst="rect">
            <a:avLst>
              <a:gd name="adj" fmla="val 41667"/>
            </a:avLst>
          </a:prstGeom>
          <a:solidFill>
            <a:srgbClr val="F5C518"/>
          </a:solidFill>
          <a:ln/>
        </p:spPr>
      </p:sp>
      <p:sp>
        <p:nvSpPr>
          <p:cNvPr id="25" name="Text 23"/>
          <p:cNvSpPr/>
          <p:nvPr/>
        </p:nvSpPr>
        <p:spPr>
          <a:xfrm>
            <a:off x="731520" y="4160520"/>
            <a:ext cx="7772400" cy="411480"/>
          </a:xfrm>
          <a:prstGeom prst="rect">
            <a:avLst/>
          </a:prstGeom>
          <a:noFill/>
          <a:ln/>
        </p:spPr>
        <p:txBody>
          <a:bodyPr wrap="square" lIns="0" tIns="0" rIns="0" bIns="0" rtlCol="0" anchor="ctr"/>
          <a:lstStyle/>
          <a:p>
            <a:pPr indent="0" marL="0">
              <a:buNone/>
            </a:pPr>
            <a:r>
              <a:rPr lang="en-US" sz="1600" b="1" dirty="0">
                <a:solidFill>
                  <a:srgbClr val="856404"/>
                </a:solidFill>
                <a:latin typeface="BIZ UDPGothic" pitchFamily="34" charset="0"/>
                <a:ea typeface="BIZ UDPGothic" pitchFamily="34" charset="-122"/>
                <a:cs typeface="BIZ UDPGothic" pitchFamily="34" charset="-120"/>
              </a:rPr>
              <a:t>⚠️ これらの症状がある場合は早めに脳神経内科または整形外科を受診してください</a:t>
            </a:r>
            <a:endParaRPr lang="en-US" sz="1600" dirty="0"/>
          </a:p>
        </p:txBody>
      </p:sp>
      <p:sp>
        <p:nvSpPr>
          <p:cNvPr id="26" name="Shape 24"/>
          <p:cNvSpPr/>
          <p:nvPr/>
        </p:nvSpPr>
        <p:spPr>
          <a:xfrm>
            <a:off x="0" y="4800600"/>
            <a:ext cx="9144000" cy="347472"/>
          </a:xfrm>
          <a:prstGeom prst="rect">
            <a:avLst/>
          </a:prstGeom>
          <a:solidFill>
            <a:srgbClr val="1B3A5C"/>
          </a:solidFill>
          <a:ln/>
        </p:spPr>
      </p:sp>
      <p:sp>
        <p:nvSpPr>
          <p:cNvPr id="27" name="Text 25"/>
          <p:cNvSpPr/>
          <p:nvPr/>
        </p:nvSpPr>
        <p:spPr>
          <a:xfrm>
            <a:off x="365760" y="4818888"/>
            <a:ext cx="4572000" cy="274320"/>
          </a:xfrm>
          <a:prstGeom prst="rect">
            <a:avLst/>
          </a:prstGeom>
          <a:noFill/>
          <a:ln/>
        </p:spPr>
        <p:txBody>
          <a:bodyPr wrap="square" lIns="0" tIns="0" rIns="0" bIns="0" rtlCol="0" anchor="ctr"/>
          <a:lstStyle/>
          <a:p>
            <a:pPr indent="0" marL="0">
              <a:buNone/>
            </a:pPr>
            <a:r>
              <a:rPr lang="en-US" sz="1000" dirty="0">
                <a:solidFill>
                  <a:srgbClr val="FFFFFF"/>
                </a:solidFill>
                <a:latin typeface="BIZ UDPGothic" pitchFamily="34" charset="0"/>
                <a:ea typeface="BIZ UDPGothic" pitchFamily="34" charset="-122"/>
                <a:cs typeface="BIZ UDPGothic" pitchFamily="34" charset="-120"/>
              </a:rPr>
              <a:t>医知創造ラボ ｜ その症状、大丈夫？ #17</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5AA0"/>
          </a:solidFill>
          <a:ln/>
        </p:spPr>
      </p:sp>
      <p:sp>
        <p:nvSpPr>
          <p:cNvPr id="3" name="Text 1"/>
          <p:cNvSpPr/>
          <p:nvPr/>
        </p:nvSpPr>
        <p:spPr>
          <a:xfrm>
            <a:off x="457200" y="91440"/>
            <a:ext cx="8229600" cy="640080"/>
          </a:xfrm>
          <a:prstGeom prst="rect">
            <a:avLst/>
          </a:prstGeom>
          <a:noFill/>
          <a:ln/>
        </p:spPr>
        <p:txBody>
          <a:bodyPr wrap="square" lIns="0" tIns="0" rIns="0" bIns="0" rtlCol="0" anchor="ctr"/>
          <a:lstStyle/>
          <a:p>
            <a:pPr indent="0" marL="0">
              <a:buNone/>
            </a:pPr>
            <a:r>
              <a:rPr lang="en-US" sz="2600" b="1" dirty="0">
                <a:solidFill>
                  <a:srgbClr val="FFFFFF"/>
                </a:solidFill>
                <a:latin typeface="BIZ UDPGothic" pitchFamily="34" charset="0"/>
                <a:ea typeface="BIZ UDPGothic" pitchFamily="34" charset="-122"/>
                <a:cs typeface="BIZ UDPGothic" pitchFamily="34" charset="-120"/>
              </a:rPr>
              <a:t>整形外科 vs 脳神経内科 ― どちらに行く？</a:t>
            </a:r>
            <a:endParaRPr lang="en-US" sz="2600" dirty="0"/>
          </a:p>
        </p:txBody>
      </p:sp>
      <p:sp>
        <p:nvSpPr>
          <p:cNvPr id="4" name="Shape 2"/>
          <p:cNvSpPr/>
          <p:nvPr/>
        </p:nvSpPr>
        <p:spPr>
          <a:xfrm>
            <a:off x="457200" y="1005840"/>
            <a:ext cx="3931920" cy="1645920"/>
          </a:xfrm>
          <a:prstGeom prst="rect">
            <a:avLst>
              <a:gd name="adj" fmla="val 5556"/>
            </a:avLst>
          </a:prstGeom>
          <a:solidFill>
            <a:srgbClr val="FFFFFF"/>
          </a:solidFill>
          <a:ln/>
          <a:effectLst>
            <a:outerShdw sx="100000" sy="100000" kx="0" ky="0" algn="bl" rotWithShape="0" blurRad="50800" dist="25400" dir="8100000">
              <a:srgbClr val="000000">
                <a:alpha val="12000"/>
              </a:srgbClr>
            </a:outerShdw>
          </a:effectLst>
        </p:spPr>
      </p:sp>
      <p:sp>
        <p:nvSpPr>
          <p:cNvPr id="5" name="Shape 3"/>
          <p:cNvSpPr/>
          <p:nvPr/>
        </p:nvSpPr>
        <p:spPr>
          <a:xfrm>
            <a:off x="457200" y="1005840"/>
            <a:ext cx="109728" cy="1645920"/>
          </a:xfrm>
          <a:prstGeom prst="rect">
            <a:avLst>
              <a:gd name="adj" fmla="val 41667"/>
            </a:avLst>
          </a:prstGeom>
          <a:solidFill>
            <a:srgbClr val="E8850C"/>
          </a:solidFill>
          <a:ln/>
        </p:spPr>
      </p:sp>
      <p:sp>
        <p:nvSpPr>
          <p:cNvPr id="6" name="Text 4"/>
          <p:cNvSpPr/>
          <p:nvPr/>
        </p:nvSpPr>
        <p:spPr>
          <a:xfrm>
            <a:off x="640080" y="1051560"/>
            <a:ext cx="3474720" cy="365760"/>
          </a:xfrm>
          <a:prstGeom prst="rect">
            <a:avLst/>
          </a:prstGeom>
          <a:noFill/>
          <a:ln/>
        </p:spPr>
        <p:txBody>
          <a:bodyPr wrap="square" lIns="0" tIns="0" rIns="0" bIns="0" rtlCol="0" anchor="ctr"/>
          <a:lstStyle/>
          <a:p>
            <a:pPr indent="0" marL="0">
              <a:buNone/>
            </a:pPr>
            <a:r>
              <a:rPr lang="en-US" sz="1900" b="1" dirty="0">
                <a:solidFill>
                  <a:srgbClr val="E8850C"/>
                </a:solidFill>
                <a:latin typeface="BIZ UDPGothic" pitchFamily="34" charset="0"/>
                <a:ea typeface="BIZ UDPGothic" pitchFamily="34" charset="-122"/>
                <a:cs typeface="BIZ UDPGothic" pitchFamily="34" charset="-120"/>
              </a:rPr>
              <a:t>🏥 整形外科を受診</a:t>
            </a:r>
            <a:endParaRPr lang="en-US" sz="1900" dirty="0"/>
          </a:p>
        </p:txBody>
      </p:sp>
      <p:sp>
        <p:nvSpPr>
          <p:cNvPr id="7" name="Text 5"/>
          <p:cNvSpPr/>
          <p:nvPr/>
        </p:nvSpPr>
        <p:spPr>
          <a:xfrm>
            <a:off x="640080" y="1508760"/>
            <a:ext cx="3474720" cy="274320"/>
          </a:xfrm>
          <a:prstGeom prst="rect">
            <a:avLst/>
          </a:prstGeom>
          <a:noFill/>
          <a:ln/>
        </p:spPr>
        <p:txBody>
          <a:bodyPr wrap="square" lIns="0" tIns="0" rIns="0" bIns="0" rtlCol="0" anchor="ctr"/>
          <a:lstStyle/>
          <a:p>
            <a:pPr indent="0" marL="0">
              <a:buNone/>
            </a:pPr>
            <a:r>
              <a:rPr lang="en-US" sz="1500" dirty="0">
                <a:solidFill>
                  <a:srgbClr val="2D3436"/>
                </a:solidFill>
                <a:latin typeface="BIZ UDPGothic" pitchFamily="34" charset="0"/>
                <a:ea typeface="BIZ UDPGothic" pitchFamily="34" charset="-122"/>
                <a:cs typeface="BIZ UDPGothic" pitchFamily="34" charset="-120"/>
              </a:rPr>
              <a:t>✓ 首・肩の痛みが中心</a:t>
            </a:r>
            <a:endParaRPr lang="en-US" sz="1500" dirty="0"/>
          </a:p>
        </p:txBody>
      </p:sp>
      <p:sp>
        <p:nvSpPr>
          <p:cNvPr id="8" name="Text 6"/>
          <p:cNvSpPr/>
          <p:nvPr/>
        </p:nvSpPr>
        <p:spPr>
          <a:xfrm>
            <a:off x="640080" y="1783080"/>
            <a:ext cx="3474720" cy="274320"/>
          </a:xfrm>
          <a:prstGeom prst="rect">
            <a:avLst/>
          </a:prstGeom>
          <a:noFill/>
          <a:ln/>
        </p:spPr>
        <p:txBody>
          <a:bodyPr wrap="square" lIns="0" tIns="0" rIns="0" bIns="0" rtlCol="0" anchor="ctr"/>
          <a:lstStyle/>
          <a:p>
            <a:pPr indent="0" marL="0">
              <a:buNone/>
            </a:pPr>
            <a:r>
              <a:rPr lang="en-US" sz="1500" dirty="0">
                <a:solidFill>
                  <a:srgbClr val="2D3436"/>
                </a:solidFill>
                <a:latin typeface="BIZ UDPGothic" pitchFamily="34" charset="0"/>
                <a:ea typeface="BIZ UDPGothic" pitchFamily="34" charset="-122"/>
                <a:cs typeface="BIZ UDPGothic" pitchFamily="34" charset="-120"/>
              </a:rPr>
              <a:t>✓ 首を動かすと痛い</a:t>
            </a:r>
            <a:endParaRPr lang="en-US" sz="1500" dirty="0"/>
          </a:p>
        </p:txBody>
      </p:sp>
      <p:sp>
        <p:nvSpPr>
          <p:cNvPr id="9" name="Text 7"/>
          <p:cNvSpPr/>
          <p:nvPr/>
        </p:nvSpPr>
        <p:spPr>
          <a:xfrm>
            <a:off x="640080" y="2057400"/>
            <a:ext cx="3474720" cy="274320"/>
          </a:xfrm>
          <a:prstGeom prst="rect">
            <a:avLst/>
          </a:prstGeom>
          <a:noFill/>
          <a:ln/>
        </p:spPr>
        <p:txBody>
          <a:bodyPr wrap="square" lIns="0" tIns="0" rIns="0" bIns="0" rtlCol="0" anchor="ctr"/>
          <a:lstStyle/>
          <a:p>
            <a:pPr indent="0" marL="0">
              <a:buNone/>
            </a:pPr>
            <a:r>
              <a:rPr lang="en-US" sz="1500" dirty="0">
                <a:solidFill>
                  <a:srgbClr val="2D3436"/>
                </a:solidFill>
                <a:latin typeface="BIZ UDPGothic" pitchFamily="34" charset="0"/>
                <a:ea typeface="BIZ UDPGothic" pitchFamily="34" charset="-122"/>
                <a:cs typeface="BIZ UDPGothic" pitchFamily="34" charset="-120"/>
              </a:rPr>
              <a:t>✓ 事故やスポーツ後の痛み</a:t>
            </a:r>
            <a:endParaRPr lang="en-US" sz="1500" dirty="0"/>
          </a:p>
        </p:txBody>
      </p:sp>
      <p:sp>
        <p:nvSpPr>
          <p:cNvPr id="10" name="Text 8"/>
          <p:cNvSpPr/>
          <p:nvPr/>
        </p:nvSpPr>
        <p:spPr>
          <a:xfrm>
            <a:off x="640080" y="2331720"/>
            <a:ext cx="3474720" cy="274320"/>
          </a:xfrm>
          <a:prstGeom prst="rect">
            <a:avLst/>
          </a:prstGeom>
          <a:noFill/>
          <a:ln/>
        </p:spPr>
        <p:txBody>
          <a:bodyPr wrap="square" lIns="0" tIns="0" rIns="0" bIns="0" rtlCol="0" anchor="ctr"/>
          <a:lstStyle/>
          <a:p>
            <a:pPr indent="0" marL="0">
              <a:buNone/>
            </a:pPr>
            <a:r>
              <a:rPr lang="en-US" sz="1500" dirty="0">
                <a:solidFill>
                  <a:srgbClr val="2D3436"/>
                </a:solidFill>
                <a:latin typeface="BIZ UDPGothic" pitchFamily="34" charset="0"/>
                <a:ea typeface="BIZ UDPGothic" pitchFamily="34" charset="-122"/>
                <a:cs typeface="BIZ UDPGothic" pitchFamily="34" charset="-120"/>
              </a:rPr>
              <a:t>✓ 肩こりがひどい</a:t>
            </a:r>
            <a:endParaRPr lang="en-US" sz="1500" dirty="0"/>
          </a:p>
        </p:txBody>
      </p:sp>
      <p:sp>
        <p:nvSpPr>
          <p:cNvPr id="11" name="Shape 9"/>
          <p:cNvSpPr/>
          <p:nvPr/>
        </p:nvSpPr>
        <p:spPr>
          <a:xfrm>
            <a:off x="4754880" y="1005840"/>
            <a:ext cx="3931920" cy="1645920"/>
          </a:xfrm>
          <a:prstGeom prst="rect">
            <a:avLst>
              <a:gd name="adj" fmla="val 5556"/>
            </a:avLst>
          </a:prstGeom>
          <a:solidFill>
            <a:srgbClr val="FFFFFF"/>
          </a:solidFill>
          <a:ln/>
          <a:effectLst>
            <a:outerShdw sx="100000" sy="100000" kx="0" ky="0" algn="bl" rotWithShape="0" blurRad="50800" dist="25400" dir="8100000">
              <a:srgbClr val="000000">
                <a:alpha val="12000"/>
              </a:srgbClr>
            </a:outerShdw>
          </a:effectLst>
        </p:spPr>
      </p:sp>
      <p:sp>
        <p:nvSpPr>
          <p:cNvPr id="12" name="Shape 10"/>
          <p:cNvSpPr/>
          <p:nvPr/>
        </p:nvSpPr>
        <p:spPr>
          <a:xfrm>
            <a:off x="4754880" y="1005840"/>
            <a:ext cx="109728" cy="1645920"/>
          </a:xfrm>
          <a:prstGeom prst="rect">
            <a:avLst>
              <a:gd name="adj" fmla="val 41667"/>
            </a:avLst>
          </a:prstGeom>
          <a:solidFill>
            <a:srgbClr val="2C5AA0"/>
          </a:solidFill>
          <a:ln/>
        </p:spPr>
      </p:sp>
      <p:sp>
        <p:nvSpPr>
          <p:cNvPr id="13" name="Text 11"/>
          <p:cNvSpPr/>
          <p:nvPr/>
        </p:nvSpPr>
        <p:spPr>
          <a:xfrm>
            <a:off x="4937760" y="1051560"/>
            <a:ext cx="3474720" cy="365760"/>
          </a:xfrm>
          <a:prstGeom prst="rect">
            <a:avLst/>
          </a:prstGeom>
          <a:noFill/>
          <a:ln/>
        </p:spPr>
        <p:txBody>
          <a:bodyPr wrap="square" lIns="0" tIns="0" rIns="0" bIns="0" rtlCol="0" anchor="ctr"/>
          <a:lstStyle/>
          <a:p>
            <a:pPr indent="0" marL="0">
              <a:buNone/>
            </a:pPr>
            <a:r>
              <a:rPr lang="en-US" sz="1900" b="1" dirty="0">
                <a:solidFill>
                  <a:srgbClr val="2C5AA0"/>
                </a:solidFill>
                <a:latin typeface="BIZ UDPGothic" pitchFamily="34" charset="0"/>
                <a:ea typeface="BIZ UDPGothic" pitchFamily="34" charset="-122"/>
                <a:cs typeface="BIZ UDPGothic" pitchFamily="34" charset="-120"/>
              </a:rPr>
              <a:t>🧠 脳神経内科を受診</a:t>
            </a:r>
            <a:endParaRPr lang="en-US" sz="1900" dirty="0"/>
          </a:p>
        </p:txBody>
      </p:sp>
      <p:sp>
        <p:nvSpPr>
          <p:cNvPr id="14" name="Text 12"/>
          <p:cNvSpPr/>
          <p:nvPr/>
        </p:nvSpPr>
        <p:spPr>
          <a:xfrm>
            <a:off x="4937760" y="1508760"/>
            <a:ext cx="3474720" cy="274320"/>
          </a:xfrm>
          <a:prstGeom prst="rect">
            <a:avLst/>
          </a:prstGeom>
          <a:noFill/>
          <a:ln/>
        </p:spPr>
        <p:txBody>
          <a:bodyPr wrap="square" lIns="0" tIns="0" rIns="0" bIns="0" rtlCol="0" anchor="ctr"/>
          <a:lstStyle/>
          <a:p>
            <a:pPr indent="0" marL="0">
              <a:buNone/>
            </a:pPr>
            <a:r>
              <a:rPr lang="en-US" sz="1500" dirty="0">
                <a:solidFill>
                  <a:srgbClr val="2D3436"/>
                </a:solidFill>
                <a:latin typeface="BIZ UDPGothic" pitchFamily="34" charset="0"/>
                <a:ea typeface="BIZ UDPGothic" pitchFamily="34" charset="-122"/>
                <a:cs typeface="BIZ UDPGothic" pitchFamily="34" charset="-120"/>
              </a:rPr>
              <a:t>✓ 手足にしびれがある</a:t>
            </a:r>
            <a:endParaRPr lang="en-US" sz="1500" dirty="0"/>
          </a:p>
        </p:txBody>
      </p:sp>
      <p:sp>
        <p:nvSpPr>
          <p:cNvPr id="15" name="Text 13"/>
          <p:cNvSpPr/>
          <p:nvPr/>
        </p:nvSpPr>
        <p:spPr>
          <a:xfrm>
            <a:off x="4937760" y="1783080"/>
            <a:ext cx="3474720" cy="274320"/>
          </a:xfrm>
          <a:prstGeom prst="rect">
            <a:avLst/>
          </a:prstGeom>
          <a:noFill/>
          <a:ln/>
        </p:spPr>
        <p:txBody>
          <a:bodyPr wrap="square" lIns="0" tIns="0" rIns="0" bIns="0" rtlCol="0" anchor="ctr"/>
          <a:lstStyle/>
          <a:p>
            <a:pPr indent="0" marL="0">
              <a:buNone/>
            </a:pPr>
            <a:r>
              <a:rPr lang="en-US" sz="1500" dirty="0">
                <a:solidFill>
                  <a:srgbClr val="2D3436"/>
                </a:solidFill>
                <a:latin typeface="BIZ UDPGothic" pitchFamily="34" charset="0"/>
                <a:ea typeface="BIZ UDPGothic" pitchFamily="34" charset="-122"/>
                <a:cs typeface="BIZ UDPGothic" pitchFamily="34" charset="-120"/>
              </a:rPr>
              <a:t>✓ 手に力が入りにくい</a:t>
            </a:r>
            <a:endParaRPr lang="en-US" sz="1500" dirty="0"/>
          </a:p>
        </p:txBody>
      </p:sp>
      <p:sp>
        <p:nvSpPr>
          <p:cNvPr id="16" name="Text 14"/>
          <p:cNvSpPr/>
          <p:nvPr/>
        </p:nvSpPr>
        <p:spPr>
          <a:xfrm>
            <a:off x="4937760" y="2057400"/>
            <a:ext cx="3474720" cy="274320"/>
          </a:xfrm>
          <a:prstGeom prst="rect">
            <a:avLst/>
          </a:prstGeom>
          <a:noFill/>
          <a:ln/>
        </p:spPr>
        <p:txBody>
          <a:bodyPr wrap="square" lIns="0" tIns="0" rIns="0" bIns="0" rtlCol="0" anchor="ctr"/>
          <a:lstStyle/>
          <a:p>
            <a:pPr indent="0" marL="0">
              <a:buNone/>
            </a:pPr>
            <a:r>
              <a:rPr lang="en-US" sz="1500" dirty="0">
                <a:solidFill>
                  <a:srgbClr val="2D3436"/>
                </a:solidFill>
                <a:latin typeface="BIZ UDPGothic" pitchFamily="34" charset="0"/>
                <a:ea typeface="BIZ UDPGothic" pitchFamily="34" charset="-122"/>
                <a:cs typeface="BIZ UDPGothic" pitchFamily="34" charset="-120"/>
              </a:rPr>
              <a:t>✓ 細かい動作がしにくい</a:t>
            </a:r>
            <a:endParaRPr lang="en-US" sz="1500" dirty="0"/>
          </a:p>
        </p:txBody>
      </p:sp>
      <p:sp>
        <p:nvSpPr>
          <p:cNvPr id="17" name="Text 15"/>
          <p:cNvSpPr/>
          <p:nvPr/>
        </p:nvSpPr>
        <p:spPr>
          <a:xfrm>
            <a:off x="4937760" y="2331720"/>
            <a:ext cx="3474720" cy="274320"/>
          </a:xfrm>
          <a:prstGeom prst="rect">
            <a:avLst/>
          </a:prstGeom>
          <a:noFill/>
          <a:ln/>
        </p:spPr>
        <p:txBody>
          <a:bodyPr wrap="square" lIns="0" tIns="0" rIns="0" bIns="0" rtlCol="0" anchor="ctr"/>
          <a:lstStyle/>
          <a:p>
            <a:pPr indent="0" marL="0">
              <a:buNone/>
            </a:pPr>
            <a:r>
              <a:rPr lang="en-US" sz="1500" dirty="0">
                <a:solidFill>
                  <a:srgbClr val="2D3436"/>
                </a:solidFill>
                <a:latin typeface="BIZ UDPGothic" pitchFamily="34" charset="0"/>
                <a:ea typeface="BIZ UDPGothic" pitchFamily="34" charset="-122"/>
                <a:cs typeface="BIZ UDPGothic" pitchFamily="34" charset="-120"/>
              </a:rPr>
              <a:t>✓ 歩行がふらつく</a:t>
            </a:r>
            <a:endParaRPr lang="en-US" sz="1500" dirty="0"/>
          </a:p>
        </p:txBody>
      </p:sp>
      <p:sp>
        <p:nvSpPr>
          <p:cNvPr id="18" name="Shape 16"/>
          <p:cNvSpPr/>
          <p:nvPr/>
        </p:nvSpPr>
        <p:spPr>
          <a:xfrm>
            <a:off x="457200" y="2880360"/>
            <a:ext cx="8229600" cy="594360"/>
          </a:xfrm>
          <a:prstGeom prst="rect">
            <a:avLst>
              <a:gd name="adj" fmla="val 15385"/>
            </a:avLst>
          </a:prstGeom>
          <a:solidFill>
            <a:srgbClr val="FFF3CD"/>
          </a:solidFill>
          <a:ln/>
          <a:effectLst>
            <a:outerShdw sx="100000" sy="100000" kx="0" ky="0" algn="bl" rotWithShape="0" blurRad="50800" dist="25400" dir="8100000">
              <a:srgbClr val="000000">
                <a:alpha val="12000"/>
              </a:srgbClr>
            </a:outerShdw>
          </a:effectLst>
        </p:spPr>
      </p:sp>
      <p:sp>
        <p:nvSpPr>
          <p:cNvPr id="19" name="Shape 17"/>
          <p:cNvSpPr/>
          <p:nvPr/>
        </p:nvSpPr>
        <p:spPr>
          <a:xfrm>
            <a:off x="457200" y="2880360"/>
            <a:ext cx="109728" cy="594360"/>
          </a:xfrm>
          <a:prstGeom prst="rect">
            <a:avLst>
              <a:gd name="adj" fmla="val 41667"/>
            </a:avLst>
          </a:prstGeom>
          <a:solidFill>
            <a:srgbClr val="F5C518"/>
          </a:solidFill>
          <a:ln/>
        </p:spPr>
      </p:sp>
      <p:sp>
        <p:nvSpPr>
          <p:cNvPr id="20" name="Text 18"/>
          <p:cNvSpPr/>
          <p:nvPr/>
        </p:nvSpPr>
        <p:spPr>
          <a:xfrm>
            <a:off x="731520" y="2926080"/>
            <a:ext cx="7772400" cy="502920"/>
          </a:xfrm>
          <a:prstGeom prst="rect">
            <a:avLst/>
          </a:prstGeom>
          <a:noFill/>
          <a:ln/>
        </p:spPr>
        <p:txBody>
          <a:bodyPr wrap="square" lIns="0" tIns="0" rIns="0" bIns="0" rtlCol="0" anchor="ctr"/>
          <a:lstStyle/>
          <a:p>
            <a:pPr indent="0" marL="0">
              <a:buNone/>
            </a:pPr>
            <a:r>
              <a:rPr lang="en-US" sz="1600" b="1" dirty="0">
                <a:solidFill>
                  <a:srgbClr val="856404"/>
                </a:solidFill>
                <a:latin typeface="BIZ UDPGothic" pitchFamily="34" charset="0"/>
                <a:ea typeface="BIZ UDPGothic" pitchFamily="34" charset="-122"/>
                <a:cs typeface="BIZ UDPGothic" pitchFamily="34" charset="-120"/>
              </a:rPr>
              <a:t>🤝 両方にまたがる場合も多い ― どちらを先に受診しても、必要に応じて紹介してもらえます</a:t>
            </a:r>
            <a:endParaRPr lang="en-US" sz="1600" dirty="0"/>
          </a:p>
        </p:txBody>
      </p:sp>
      <p:sp>
        <p:nvSpPr>
          <p:cNvPr id="21" name="Shape 19"/>
          <p:cNvSpPr/>
          <p:nvPr/>
        </p:nvSpPr>
        <p:spPr>
          <a:xfrm>
            <a:off x="457200" y="3703320"/>
            <a:ext cx="8229600" cy="594360"/>
          </a:xfrm>
          <a:prstGeom prst="rect">
            <a:avLst>
              <a:gd name="adj" fmla="val 15385"/>
            </a:avLst>
          </a:prstGeom>
          <a:solidFill>
            <a:srgbClr val="D4EDDA"/>
          </a:solidFill>
          <a:ln/>
          <a:effectLst>
            <a:outerShdw sx="100000" sy="100000" kx="0" ky="0" algn="bl" rotWithShape="0" blurRad="50800" dist="25400" dir="8100000">
              <a:srgbClr val="000000">
                <a:alpha val="12000"/>
              </a:srgbClr>
            </a:outerShdw>
          </a:effectLst>
        </p:spPr>
      </p:sp>
      <p:sp>
        <p:nvSpPr>
          <p:cNvPr id="22" name="Shape 20"/>
          <p:cNvSpPr/>
          <p:nvPr/>
        </p:nvSpPr>
        <p:spPr>
          <a:xfrm>
            <a:off x="457200" y="3703320"/>
            <a:ext cx="109728" cy="594360"/>
          </a:xfrm>
          <a:prstGeom prst="rect">
            <a:avLst>
              <a:gd name="adj" fmla="val 41667"/>
            </a:avLst>
          </a:prstGeom>
          <a:solidFill>
            <a:srgbClr val="28A745"/>
          </a:solidFill>
          <a:ln/>
        </p:spPr>
      </p:sp>
      <p:sp>
        <p:nvSpPr>
          <p:cNvPr id="23" name="Text 21"/>
          <p:cNvSpPr/>
          <p:nvPr/>
        </p:nvSpPr>
        <p:spPr>
          <a:xfrm>
            <a:off x="731520" y="3749040"/>
            <a:ext cx="7772400" cy="502920"/>
          </a:xfrm>
          <a:prstGeom prst="rect">
            <a:avLst/>
          </a:prstGeom>
          <a:noFill/>
          <a:ln/>
        </p:spPr>
        <p:txBody>
          <a:bodyPr wrap="square" lIns="0" tIns="0" rIns="0" bIns="0" rtlCol="0" anchor="ctr"/>
          <a:lstStyle/>
          <a:p>
            <a:pPr indent="0" marL="0">
              <a:buNone/>
            </a:pPr>
            <a:r>
              <a:rPr lang="en-US" sz="1600" b="1" dirty="0">
                <a:solidFill>
                  <a:srgbClr val="28A745"/>
                </a:solidFill>
                <a:latin typeface="BIZ UDPGothic" pitchFamily="34" charset="0"/>
                <a:ea typeface="BIZ UDPGothic" pitchFamily="34" charset="-122"/>
                <a:cs typeface="BIZ UDPGothic" pitchFamily="34" charset="-120"/>
              </a:rPr>
              <a:t>💡 迷ったらまず「かかりつけ医」に相談 → 適切な専門科を紹介してもらうのも良い方法です</a:t>
            </a:r>
            <a:endParaRPr lang="en-US" sz="1600" dirty="0"/>
          </a:p>
        </p:txBody>
      </p:sp>
      <p:sp>
        <p:nvSpPr>
          <p:cNvPr id="24" name="Shape 22"/>
          <p:cNvSpPr/>
          <p:nvPr/>
        </p:nvSpPr>
        <p:spPr>
          <a:xfrm>
            <a:off x="0" y="4800600"/>
            <a:ext cx="9144000" cy="347472"/>
          </a:xfrm>
          <a:prstGeom prst="rect">
            <a:avLst/>
          </a:prstGeom>
          <a:solidFill>
            <a:srgbClr val="1B3A5C"/>
          </a:solidFill>
          <a:ln/>
        </p:spPr>
      </p:sp>
      <p:sp>
        <p:nvSpPr>
          <p:cNvPr id="25" name="Text 23"/>
          <p:cNvSpPr/>
          <p:nvPr/>
        </p:nvSpPr>
        <p:spPr>
          <a:xfrm>
            <a:off x="365760" y="4818888"/>
            <a:ext cx="4572000" cy="274320"/>
          </a:xfrm>
          <a:prstGeom prst="rect">
            <a:avLst/>
          </a:prstGeom>
          <a:noFill/>
          <a:ln/>
        </p:spPr>
        <p:txBody>
          <a:bodyPr wrap="square" lIns="0" tIns="0" rIns="0" bIns="0" rtlCol="0" anchor="ctr"/>
          <a:lstStyle/>
          <a:p>
            <a:pPr indent="0" marL="0">
              <a:buNone/>
            </a:pPr>
            <a:r>
              <a:rPr lang="en-US" sz="1000" dirty="0">
                <a:solidFill>
                  <a:srgbClr val="FFFFFF"/>
                </a:solidFill>
                <a:latin typeface="BIZ UDPGothic" pitchFamily="34" charset="0"/>
                <a:ea typeface="BIZ UDPGothic" pitchFamily="34" charset="-122"/>
                <a:cs typeface="BIZ UDPGothic" pitchFamily="34" charset="-120"/>
              </a:rPr>
              <a:t>医知創造ラボ ｜ その症状、大丈夫？ #17</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DC3545"/>
          </a:solidFill>
          <a:ln/>
        </p:spPr>
      </p:sp>
      <p:sp>
        <p:nvSpPr>
          <p:cNvPr id="3" name="Text 1"/>
          <p:cNvSpPr/>
          <p:nvPr/>
        </p:nvSpPr>
        <p:spPr>
          <a:xfrm>
            <a:off x="457200" y="91440"/>
            <a:ext cx="8229600" cy="640080"/>
          </a:xfrm>
          <a:prstGeom prst="rect">
            <a:avLst/>
          </a:prstGeom>
          <a:noFill/>
          <a:ln/>
        </p:spPr>
        <p:txBody>
          <a:bodyPr wrap="square" lIns="0" tIns="0" rIns="0" bIns="0" rtlCol="0" anchor="ctr"/>
          <a:lstStyle/>
          <a:p>
            <a:pPr indent="0" marL="0">
              <a:buNone/>
            </a:pPr>
            <a:r>
              <a:rPr lang="en-US" sz="2600" b="1" dirty="0">
                <a:solidFill>
                  <a:srgbClr val="FFFFFF"/>
                </a:solidFill>
                <a:latin typeface="BIZ UDPGothic" pitchFamily="34" charset="0"/>
                <a:ea typeface="BIZ UDPGothic" pitchFamily="34" charset="-122"/>
                <a:cs typeface="BIZ UDPGothic" pitchFamily="34" charset="-120"/>
              </a:rPr>
              <a:t>危険なサイン ― すぐに受診すべき首の痛み</a:t>
            </a:r>
            <a:endParaRPr lang="en-US" sz="2600" dirty="0"/>
          </a:p>
        </p:txBody>
      </p:sp>
      <p:sp>
        <p:nvSpPr>
          <p:cNvPr id="4" name="Shape 2"/>
          <p:cNvSpPr/>
          <p:nvPr/>
        </p:nvSpPr>
        <p:spPr>
          <a:xfrm>
            <a:off x="457200" y="1005840"/>
            <a:ext cx="8229600" cy="731520"/>
          </a:xfrm>
          <a:prstGeom prst="rect">
            <a:avLst>
              <a:gd name="adj" fmla="val 12500"/>
            </a:avLst>
          </a:prstGeom>
          <a:solidFill>
            <a:srgbClr val="F8D7DA"/>
          </a:solidFill>
          <a:ln/>
          <a:effectLst>
            <a:outerShdw sx="100000" sy="100000" kx="0" ky="0" algn="bl" rotWithShape="0" blurRad="50800" dist="25400" dir="8100000">
              <a:srgbClr val="000000">
                <a:alpha val="12000"/>
              </a:srgbClr>
            </a:outerShdw>
          </a:effectLst>
        </p:spPr>
      </p:sp>
      <p:sp>
        <p:nvSpPr>
          <p:cNvPr id="5" name="Shape 3"/>
          <p:cNvSpPr/>
          <p:nvPr/>
        </p:nvSpPr>
        <p:spPr>
          <a:xfrm>
            <a:off x="457200" y="1005840"/>
            <a:ext cx="109728" cy="731520"/>
          </a:xfrm>
          <a:prstGeom prst="rect">
            <a:avLst>
              <a:gd name="adj" fmla="val 41667"/>
            </a:avLst>
          </a:prstGeom>
          <a:solidFill>
            <a:srgbClr val="DC3545"/>
          </a:solidFill>
          <a:ln/>
        </p:spPr>
      </p:sp>
      <p:sp>
        <p:nvSpPr>
          <p:cNvPr id="6" name="Text 4"/>
          <p:cNvSpPr/>
          <p:nvPr/>
        </p:nvSpPr>
        <p:spPr>
          <a:xfrm>
            <a:off x="731520" y="1097280"/>
            <a:ext cx="548640" cy="548640"/>
          </a:xfrm>
          <a:prstGeom prst="rect">
            <a:avLst/>
          </a:prstGeom>
          <a:noFill/>
          <a:ln/>
        </p:spPr>
        <p:txBody>
          <a:bodyPr wrap="square" lIns="0" tIns="0" rIns="0" bIns="0" rtlCol="0" anchor="ctr"/>
          <a:lstStyle/>
          <a:p>
            <a:pPr algn="ctr" indent="0" marL="0">
              <a:buNone/>
            </a:pPr>
            <a:r>
              <a:rPr lang="en-US" sz="2800" dirty="0">
                <a:solidFill>
                  <a:srgbClr val="000000"/>
                </a:solidFill>
              </a:rPr>
              <a:t>🚑</a:t>
            </a:r>
            <a:endParaRPr lang="en-US" sz="2800" dirty="0"/>
          </a:p>
        </p:txBody>
      </p:sp>
      <p:sp>
        <p:nvSpPr>
          <p:cNvPr id="7" name="Text 5"/>
          <p:cNvSpPr/>
          <p:nvPr/>
        </p:nvSpPr>
        <p:spPr>
          <a:xfrm>
            <a:off x="1371600" y="1051560"/>
            <a:ext cx="7040880" cy="640080"/>
          </a:xfrm>
          <a:prstGeom prst="rect">
            <a:avLst/>
          </a:prstGeom>
          <a:noFill/>
          <a:ln/>
        </p:spPr>
        <p:txBody>
          <a:bodyPr wrap="square" lIns="0" tIns="0" rIns="0" bIns="0" rtlCol="0" anchor="ctr"/>
          <a:lstStyle/>
          <a:p>
            <a:pPr indent="0" marL="0">
              <a:lnSpc>
                <a:spcPct val="115000"/>
              </a:lnSpc>
              <a:buNone/>
            </a:pPr>
            <a:r>
              <a:rPr lang="en-US" sz="1700" dirty="0">
                <a:solidFill>
                  <a:srgbClr val="2D3436"/>
                </a:solidFill>
                <a:latin typeface="BIZ UDPGothic" pitchFamily="34" charset="0"/>
                <a:ea typeface="BIZ UDPGothic" pitchFamily="34" charset="-122"/>
                <a:cs typeface="BIZ UDPGothic" pitchFamily="34" charset="-120"/>
              </a:rPr>
              <a:t>突然の激しい首の痛み＋高熱</a:t>
            </a:r>
            <a:endParaRPr lang="en-US" sz="1700" dirty="0"/>
          </a:p>
          <a:p>
            <a:pPr indent="0" marL="0">
              <a:lnSpc>
                <a:spcPct val="115000"/>
              </a:lnSpc>
              <a:buNone/>
            </a:pPr>
            <a:r>
              <a:rPr lang="en-US" sz="1700" dirty="0">
                <a:solidFill>
                  <a:srgbClr val="2D3436"/>
                </a:solidFill>
                <a:latin typeface="BIZ UDPGothic" pitchFamily="34" charset="0"/>
                <a:ea typeface="BIZ UDPGothic" pitchFamily="34" charset="-122"/>
                <a:cs typeface="BIZ UDPGothic" pitchFamily="34" charset="-120"/>
              </a:rPr>
              <a:t>（髄膜炎の可能性 → 119番）</a:t>
            </a:r>
            <a:endParaRPr lang="en-US" sz="1700" dirty="0"/>
          </a:p>
        </p:txBody>
      </p:sp>
      <p:sp>
        <p:nvSpPr>
          <p:cNvPr id="8" name="Shape 6"/>
          <p:cNvSpPr/>
          <p:nvPr/>
        </p:nvSpPr>
        <p:spPr>
          <a:xfrm>
            <a:off x="457200" y="1874520"/>
            <a:ext cx="8229600" cy="731520"/>
          </a:xfrm>
          <a:prstGeom prst="rect">
            <a:avLst>
              <a:gd name="adj" fmla="val 12500"/>
            </a:avLst>
          </a:prstGeom>
          <a:solidFill>
            <a:srgbClr val="F8D7DA"/>
          </a:solidFill>
          <a:ln/>
          <a:effectLst>
            <a:outerShdw sx="100000" sy="100000" kx="0" ky="0" algn="bl" rotWithShape="0" blurRad="50800" dist="25400" dir="8100000">
              <a:srgbClr val="000000">
                <a:alpha val="12000"/>
              </a:srgbClr>
            </a:outerShdw>
          </a:effectLst>
        </p:spPr>
      </p:sp>
      <p:sp>
        <p:nvSpPr>
          <p:cNvPr id="9" name="Shape 7"/>
          <p:cNvSpPr/>
          <p:nvPr/>
        </p:nvSpPr>
        <p:spPr>
          <a:xfrm>
            <a:off x="457200" y="1874520"/>
            <a:ext cx="109728" cy="731520"/>
          </a:xfrm>
          <a:prstGeom prst="rect">
            <a:avLst>
              <a:gd name="adj" fmla="val 41667"/>
            </a:avLst>
          </a:prstGeom>
          <a:solidFill>
            <a:srgbClr val="DC3545"/>
          </a:solidFill>
          <a:ln/>
        </p:spPr>
      </p:sp>
      <p:sp>
        <p:nvSpPr>
          <p:cNvPr id="10" name="Text 8"/>
          <p:cNvSpPr/>
          <p:nvPr/>
        </p:nvSpPr>
        <p:spPr>
          <a:xfrm>
            <a:off x="731520" y="1965960"/>
            <a:ext cx="548640" cy="548640"/>
          </a:xfrm>
          <a:prstGeom prst="rect">
            <a:avLst/>
          </a:prstGeom>
          <a:noFill/>
          <a:ln/>
        </p:spPr>
        <p:txBody>
          <a:bodyPr wrap="square" lIns="0" tIns="0" rIns="0" bIns="0" rtlCol="0" anchor="ctr"/>
          <a:lstStyle/>
          <a:p>
            <a:pPr algn="ctr" indent="0" marL="0">
              <a:buNone/>
            </a:pPr>
            <a:r>
              <a:rPr lang="en-US" sz="2800" dirty="0">
                <a:solidFill>
                  <a:srgbClr val="000000"/>
                </a:solidFill>
              </a:rPr>
              <a:t>⚡</a:t>
            </a:r>
            <a:endParaRPr lang="en-US" sz="2800" dirty="0"/>
          </a:p>
        </p:txBody>
      </p:sp>
      <p:sp>
        <p:nvSpPr>
          <p:cNvPr id="11" name="Text 9"/>
          <p:cNvSpPr/>
          <p:nvPr/>
        </p:nvSpPr>
        <p:spPr>
          <a:xfrm>
            <a:off x="1371600" y="1920240"/>
            <a:ext cx="7040880" cy="640080"/>
          </a:xfrm>
          <a:prstGeom prst="rect">
            <a:avLst/>
          </a:prstGeom>
          <a:noFill/>
          <a:ln/>
        </p:spPr>
        <p:txBody>
          <a:bodyPr wrap="square" lIns="0" tIns="0" rIns="0" bIns="0" rtlCol="0" anchor="ctr"/>
          <a:lstStyle/>
          <a:p>
            <a:pPr indent="0" marL="0">
              <a:lnSpc>
                <a:spcPct val="115000"/>
              </a:lnSpc>
              <a:buNone/>
            </a:pPr>
            <a:r>
              <a:rPr lang="en-US" sz="1700" dirty="0">
                <a:solidFill>
                  <a:srgbClr val="2D3436"/>
                </a:solidFill>
                <a:latin typeface="BIZ UDPGothic" pitchFamily="34" charset="0"/>
                <a:ea typeface="BIZ UDPGothic" pitchFamily="34" charset="-122"/>
                <a:cs typeface="BIZ UDPGothic" pitchFamily="34" charset="-120"/>
              </a:rPr>
              <a:t>首の痛み＋手足の麻痺・感覚障害</a:t>
            </a:r>
            <a:endParaRPr lang="en-US" sz="1700" dirty="0"/>
          </a:p>
          <a:p>
            <a:pPr indent="0" marL="0">
              <a:lnSpc>
                <a:spcPct val="115000"/>
              </a:lnSpc>
              <a:buNone/>
            </a:pPr>
            <a:r>
              <a:rPr lang="en-US" sz="1700" dirty="0">
                <a:solidFill>
                  <a:srgbClr val="2D3436"/>
                </a:solidFill>
                <a:latin typeface="BIZ UDPGothic" pitchFamily="34" charset="0"/>
                <a:ea typeface="BIZ UDPGothic" pitchFamily="34" charset="-122"/>
                <a:cs typeface="BIZ UDPGothic" pitchFamily="34" charset="-120"/>
              </a:rPr>
              <a:t>（脊髄圧迫の可能性 → 緊急受診）</a:t>
            </a:r>
            <a:endParaRPr lang="en-US" sz="1700" dirty="0"/>
          </a:p>
        </p:txBody>
      </p:sp>
      <p:sp>
        <p:nvSpPr>
          <p:cNvPr id="12" name="Shape 10"/>
          <p:cNvSpPr/>
          <p:nvPr/>
        </p:nvSpPr>
        <p:spPr>
          <a:xfrm>
            <a:off x="457200" y="2743200"/>
            <a:ext cx="8229600" cy="731520"/>
          </a:xfrm>
          <a:prstGeom prst="rect">
            <a:avLst>
              <a:gd name="adj" fmla="val 12500"/>
            </a:avLst>
          </a:prstGeom>
          <a:solidFill>
            <a:srgbClr val="F8D7DA"/>
          </a:solidFill>
          <a:ln/>
          <a:effectLst>
            <a:outerShdw sx="100000" sy="100000" kx="0" ky="0" algn="bl" rotWithShape="0" blurRad="50800" dist="25400" dir="8100000">
              <a:srgbClr val="000000">
                <a:alpha val="12000"/>
              </a:srgbClr>
            </a:outerShdw>
          </a:effectLst>
        </p:spPr>
      </p:sp>
      <p:sp>
        <p:nvSpPr>
          <p:cNvPr id="13" name="Shape 11"/>
          <p:cNvSpPr/>
          <p:nvPr/>
        </p:nvSpPr>
        <p:spPr>
          <a:xfrm>
            <a:off x="457200" y="2743200"/>
            <a:ext cx="109728" cy="731520"/>
          </a:xfrm>
          <a:prstGeom prst="rect">
            <a:avLst>
              <a:gd name="adj" fmla="val 41667"/>
            </a:avLst>
          </a:prstGeom>
          <a:solidFill>
            <a:srgbClr val="DC3545"/>
          </a:solidFill>
          <a:ln/>
        </p:spPr>
      </p:sp>
      <p:sp>
        <p:nvSpPr>
          <p:cNvPr id="14" name="Text 12"/>
          <p:cNvSpPr/>
          <p:nvPr/>
        </p:nvSpPr>
        <p:spPr>
          <a:xfrm>
            <a:off x="731520" y="2834640"/>
            <a:ext cx="548640" cy="548640"/>
          </a:xfrm>
          <a:prstGeom prst="rect">
            <a:avLst/>
          </a:prstGeom>
          <a:noFill/>
          <a:ln/>
        </p:spPr>
        <p:txBody>
          <a:bodyPr wrap="square" lIns="0" tIns="0" rIns="0" bIns="0" rtlCol="0" anchor="ctr"/>
          <a:lstStyle/>
          <a:p>
            <a:pPr algn="ctr" indent="0" marL="0">
              <a:buNone/>
            </a:pPr>
            <a:r>
              <a:rPr lang="en-US" sz="2800" dirty="0">
                <a:solidFill>
                  <a:srgbClr val="000000"/>
                </a:solidFill>
              </a:rPr>
              <a:t>🧠</a:t>
            </a:r>
            <a:endParaRPr lang="en-US" sz="2800" dirty="0"/>
          </a:p>
        </p:txBody>
      </p:sp>
      <p:sp>
        <p:nvSpPr>
          <p:cNvPr id="15" name="Text 13"/>
          <p:cNvSpPr/>
          <p:nvPr/>
        </p:nvSpPr>
        <p:spPr>
          <a:xfrm>
            <a:off x="1371600" y="2788920"/>
            <a:ext cx="7040880" cy="640080"/>
          </a:xfrm>
          <a:prstGeom prst="rect">
            <a:avLst/>
          </a:prstGeom>
          <a:noFill/>
          <a:ln/>
        </p:spPr>
        <p:txBody>
          <a:bodyPr wrap="square" lIns="0" tIns="0" rIns="0" bIns="0" rtlCol="0" anchor="ctr"/>
          <a:lstStyle/>
          <a:p>
            <a:pPr indent="0" marL="0">
              <a:lnSpc>
                <a:spcPct val="115000"/>
              </a:lnSpc>
              <a:buNone/>
            </a:pPr>
            <a:r>
              <a:rPr lang="en-US" sz="1700" dirty="0">
                <a:solidFill>
                  <a:srgbClr val="2D3436"/>
                </a:solidFill>
                <a:latin typeface="BIZ UDPGothic" pitchFamily="34" charset="0"/>
                <a:ea typeface="BIZ UDPGothic" pitchFamily="34" charset="-122"/>
                <a:cs typeface="BIZ UDPGothic" pitchFamily="34" charset="-120"/>
              </a:rPr>
              <a:t>頭痛を伴う首のこわばり（首が前に曲がらない）</a:t>
            </a:r>
            <a:endParaRPr lang="en-US" sz="1700" dirty="0"/>
          </a:p>
          <a:p>
            <a:pPr indent="0" marL="0">
              <a:lnSpc>
                <a:spcPct val="115000"/>
              </a:lnSpc>
              <a:buNone/>
            </a:pPr>
            <a:r>
              <a:rPr lang="en-US" sz="1700" dirty="0">
                <a:solidFill>
                  <a:srgbClr val="2D3436"/>
                </a:solidFill>
                <a:latin typeface="BIZ UDPGothic" pitchFamily="34" charset="0"/>
                <a:ea typeface="BIZ UDPGothic" pitchFamily="34" charset="-122"/>
                <a:cs typeface="BIZ UDPGothic" pitchFamily="34" charset="-120"/>
              </a:rPr>
              <a:t>（くも膜下出血・髄膜炎の可能性）</a:t>
            </a:r>
            <a:endParaRPr lang="en-US" sz="1700" dirty="0"/>
          </a:p>
        </p:txBody>
      </p:sp>
      <p:sp>
        <p:nvSpPr>
          <p:cNvPr id="16" name="Shape 14"/>
          <p:cNvSpPr/>
          <p:nvPr/>
        </p:nvSpPr>
        <p:spPr>
          <a:xfrm>
            <a:off x="457200" y="3611880"/>
            <a:ext cx="8229600" cy="731520"/>
          </a:xfrm>
          <a:prstGeom prst="rect">
            <a:avLst>
              <a:gd name="adj" fmla="val 12500"/>
            </a:avLst>
          </a:prstGeom>
          <a:solidFill>
            <a:srgbClr val="F8D7DA"/>
          </a:solidFill>
          <a:ln/>
          <a:effectLst>
            <a:outerShdw sx="100000" sy="100000" kx="0" ky="0" algn="bl" rotWithShape="0" blurRad="50800" dist="25400" dir="8100000">
              <a:srgbClr val="000000">
                <a:alpha val="12000"/>
              </a:srgbClr>
            </a:outerShdw>
          </a:effectLst>
        </p:spPr>
      </p:sp>
      <p:sp>
        <p:nvSpPr>
          <p:cNvPr id="17" name="Shape 15"/>
          <p:cNvSpPr/>
          <p:nvPr/>
        </p:nvSpPr>
        <p:spPr>
          <a:xfrm>
            <a:off x="457200" y="3611880"/>
            <a:ext cx="109728" cy="731520"/>
          </a:xfrm>
          <a:prstGeom prst="rect">
            <a:avLst>
              <a:gd name="adj" fmla="val 41667"/>
            </a:avLst>
          </a:prstGeom>
          <a:solidFill>
            <a:srgbClr val="DC3545"/>
          </a:solidFill>
          <a:ln/>
        </p:spPr>
      </p:sp>
      <p:sp>
        <p:nvSpPr>
          <p:cNvPr id="18" name="Text 16"/>
          <p:cNvSpPr/>
          <p:nvPr/>
        </p:nvSpPr>
        <p:spPr>
          <a:xfrm>
            <a:off x="731520" y="3703320"/>
            <a:ext cx="548640" cy="548640"/>
          </a:xfrm>
          <a:prstGeom prst="rect">
            <a:avLst/>
          </a:prstGeom>
          <a:noFill/>
          <a:ln/>
        </p:spPr>
        <p:txBody>
          <a:bodyPr wrap="square" lIns="0" tIns="0" rIns="0" bIns="0" rtlCol="0" anchor="ctr"/>
          <a:lstStyle/>
          <a:p>
            <a:pPr algn="ctr" indent="0" marL="0">
              <a:buNone/>
            </a:pPr>
            <a:r>
              <a:rPr lang="en-US" sz="2800" dirty="0">
                <a:solidFill>
                  <a:srgbClr val="000000"/>
                </a:solidFill>
              </a:rPr>
              <a:t>🦴</a:t>
            </a:r>
            <a:endParaRPr lang="en-US" sz="2800" dirty="0"/>
          </a:p>
        </p:txBody>
      </p:sp>
      <p:sp>
        <p:nvSpPr>
          <p:cNvPr id="19" name="Text 17"/>
          <p:cNvSpPr/>
          <p:nvPr/>
        </p:nvSpPr>
        <p:spPr>
          <a:xfrm>
            <a:off x="1371600" y="3657600"/>
            <a:ext cx="7040880" cy="640080"/>
          </a:xfrm>
          <a:prstGeom prst="rect">
            <a:avLst/>
          </a:prstGeom>
          <a:noFill/>
          <a:ln/>
        </p:spPr>
        <p:txBody>
          <a:bodyPr wrap="square" lIns="0" tIns="0" rIns="0" bIns="0" rtlCol="0" anchor="ctr"/>
          <a:lstStyle/>
          <a:p>
            <a:pPr indent="0" marL="0">
              <a:lnSpc>
                <a:spcPct val="115000"/>
              </a:lnSpc>
              <a:buNone/>
            </a:pPr>
            <a:r>
              <a:rPr lang="en-US" sz="1700" dirty="0">
                <a:solidFill>
                  <a:srgbClr val="2D3436"/>
                </a:solidFill>
                <a:latin typeface="BIZ UDPGothic" pitchFamily="34" charset="0"/>
                <a:ea typeface="BIZ UDPGothic" pitchFamily="34" charset="-122"/>
                <a:cs typeface="BIZ UDPGothic" pitchFamily="34" charset="-120"/>
              </a:rPr>
              <a:t>事故・転倒後の首の痛み</a:t>
            </a:r>
            <a:endParaRPr lang="en-US" sz="1700" dirty="0"/>
          </a:p>
          <a:p>
            <a:pPr indent="0" marL="0">
              <a:lnSpc>
                <a:spcPct val="115000"/>
              </a:lnSpc>
              <a:buNone/>
            </a:pPr>
            <a:r>
              <a:rPr lang="en-US" sz="1700" dirty="0">
                <a:solidFill>
                  <a:srgbClr val="2D3436"/>
                </a:solidFill>
                <a:latin typeface="BIZ UDPGothic" pitchFamily="34" charset="0"/>
                <a:ea typeface="BIZ UDPGothic" pitchFamily="34" charset="-122"/>
                <a:cs typeface="BIZ UDPGothic" pitchFamily="34" charset="-120"/>
              </a:rPr>
              <a:t>（骨折・脱臼の可能性 → 動かさず救急へ）</a:t>
            </a:r>
            <a:endParaRPr lang="en-US" sz="1700" dirty="0"/>
          </a:p>
        </p:txBody>
      </p:sp>
      <p:sp>
        <p:nvSpPr>
          <p:cNvPr id="20" name="Shape 18"/>
          <p:cNvSpPr/>
          <p:nvPr/>
        </p:nvSpPr>
        <p:spPr>
          <a:xfrm>
            <a:off x="0" y="4800600"/>
            <a:ext cx="9144000" cy="347472"/>
          </a:xfrm>
          <a:prstGeom prst="rect">
            <a:avLst/>
          </a:prstGeom>
          <a:solidFill>
            <a:srgbClr val="1B3A5C"/>
          </a:solidFill>
          <a:ln/>
        </p:spPr>
      </p:sp>
      <p:sp>
        <p:nvSpPr>
          <p:cNvPr id="21" name="Text 19"/>
          <p:cNvSpPr/>
          <p:nvPr/>
        </p:nvSpPr>
        <p:spPr>
          <a:xfrm>
            <a:off x="365760" y="4818888"/>
            <a:ext cx="4572000" cy="274320"/>
          </a:xfrm>
          <a:prstGeom prst="rect">
            <a:avLst/>
          </a:prstGeom>
          <a:noFill/>
          <a:ln/>
        </p:spPr>
        <p:txBody>
          <a:bodyPr wrap="square" lIns="0" tIns="0" rIns="0" bIns="0" rtlCol="0" anchor="ctr"/>
          <a:lstStyle/>
          <a:p>
            <a:pPr indent="0" marL="0">
              <a:buNone/>
            </a:pPr>
            <a:r>
              <a:rPr lang="en-US" sz="1000" dirty="0">
                <a:solidFill>
                  <a:srgbClr val="FFFFFF"/>
                </a:solidFill>
                <a:latin typeface="BIZ UDPGothic" pitchFamily="34" charset="0"/>
                <a:ea typeface="BIZ UDPGothic" pitchFamily="34" charset="-122"/>
                <a:cs typeface="BIZ UDPGothic" pitchFamily="34" charset="-120"/>
              </a:rPr>
              <a:t>医知創造ラボ ｜ その症状、大丈夫？ #17</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5AA0"/>
          </a:solidFill>
          <a:ln/>
        </p:spPr>
      </p:sp>
      <p:sp>
        <p:nvSpPr>
          <p:cNvPr id="3" name="Text 1"/>
          <p:cNvSpPr/>
          <p:nvPr/>
        </p:nvSpPr>
        <p:spPr>
          <a:xfrm>
            <a:off x="457200" y="91440"/>
            <a:ext cx="8229600" cy="640080"/>
          </a:xfrm>
          <a:prstGeom prst="rect">
            <a:avLst/>
          </a:prstGeom>
          <a:noFill/>
          <a:ln/>
        </p:spPr>
        <p:txBody>
          <a:bodyPr wrap="square" lIns="0" tIns="0" rIns="0" bIns="0" rtlCol="0" anchor="ctr"/>
          <a:lstStyle/>
          <a:p>
            <a:pPr indent="0" marL="0">
              <a:buNone/>
            </a:pPr>
            <a:r>
              <a:rPr lang="en-US" sz="2600" b="1" dirty="0">
                <a:solidFill>
                  <a:srgbClr val="FFFFFF"/>
                </a:solidFill>
                <a:latin typeface="BIZ UDPGothic" pitchFamily="34" charset="0"/>
                <a:ea typeface="BIZ UDPGothic" pitchFamily="34" charset="-122"/>
                <a:cs typeface="BIZ UDPGothic" pitchFamily="34" charset="-120"/>
              </a:rPr>
              <a:t>受診の目安 ― 緊急度3段階</a:t>
            </a:r>
            <a:endParaRPr lang="en-US" sz="2600" dirty="0"/>
          </a:p>
        </p:txBody>
      </p:sp>
      <p:sp>
        <p:nvSpPr>
          <p:cNvPr id="4" name="Shape 2"/>
          <p:cNvSpPr/>
          <p:nvPr/>
        </p:nvSpPr>
        <p:spPr>
          <a:xfrm>
            <a:off x="457200" y="1051560"/>
            <a:ext cx="8229600" cy="1005840"/>
          </a:xfrm>
          <a:prstGeom prst="rect">
            <a:avLst>
              <a:gd name="adj" fmla="val 9091"/>
            </a:avLst>
          </a:prstGeom>
          <a:solidFill>
            <a:srgbClr val="F8D7DA"/>
          </a:solidFill>
          <a:ln/>
          <a:effectLst>
            <a:outerShdw sx="100000" sy="100000" kx="0" ky="0" algn="bl" rotWithShape="0" blurRad="50800" dist="25400" dir="8100000">
              <a:srgbClr val="000000">
                <a:alpha val="12000"/>
              </a:srgbClr>
            </a:outerShdw>
          </a:effectLst>
        </p:spPr>
      </p:sp>
      <p:sp>
        <p:nvSpPr>
          <p:cNvPr id="5" name="Shape 3"/>
          <p:cNvSpPr/>
          <p:nvPr/>
        </p:nvSpPr>
        <p:spPr>
          <a:xfrm>
            <a:off x="457200" y="1051560"/>
            <a:ext cx="109728" cy="1005840"/>
          </a:xfrm>
          <a:prstGeom prst="rect">
            <a:avLst>
              <a:gd name="adj" fmla="val 41667"/>
            </a:avLst>
          </a:prstGeom>
          <a:solidFill>
            <a:srgbClr val="DC3545"/>
          </a:solidFill>
          <a:ln/>
        </p:spPr>
      </p:sp>
      <p:sp>
        <p:nvSpPr>
          <p:cNvPr id="6" name="Text 4"/>
          <p:cNvSpPr/>
          <p:nvPr/>
        </p:nvSpPr>
        <p:spPr>
          <a:xfrm>
            <a:off x="731520" y="1097280"/>
            <a:ext cx="2743200" cy="411480"/>
          </a:xfrm>
          <a:prstGeom prst="rect">
            <a:avLst/>
          </a:prstGeom>
          <a:noFill/>
          <a:ln/>
        </p:spPr>
        <p:txBody>
          <a:bodyPr wrap="square" lIns="0" tIns="0" rIns="0" bIns="0" rtlCol="0" anchor="ctr"/>
          <a:lstStyle/>
          <a:p>
            <a:pPr indent="0" marL="0">
              <a:buNone/>
            </a:pPr>
            <a:r>
              <a:rPr lang="en-US" sz="2100" b="1" dirty="0">
                <a:solidFill>
                  <a:srgbClr val="DC3545"/>
                </a:solidFill>
                <a:latin typeface="BIZ UDPGothic" pitchFamily="34" charset="0"/>
                <a:ea typeface="BIZ UDPGothic" pitchFamily="34" charset="-122"/>
                <a:cs typeface="BIZ UDPGothic" pitchFamily="34" charset="-120"/>
              </a:rPr>
              <a:t>🔴 すぐ受診</a:t>
            </a:r>
            <a:endParaRPr lang="en-US" sz="2100" dirty="0"/>
          </a:p>
        </p:txBody>
      </p:sp>
      <p:sp>
        <p:nvSpPr>
          <p:cNvPr id="7" name="Text 5"/>
          <p:cNvSpPr/>
          <p:nvPr/>
        </p:nvSpPr>
        <p:spPr>
          <a:xfrm>
            <a:off x="731520" y="1508760"/>
            <a:ext cx="4572000" cy="502920"/>
          </a:xfrm>
          <a:prstGeom prst="rect">
            <a:avLst/>
          </a:prstGeom>
          <a:noFill/>
          <a:ln/>
        </p:spPr>
        <p:txBody>
          <a:bodyPr wrap="square" lIns="0" tIns="0" rIns="0" bIns="0" rtlCol="0" anchor="ctr"/>
          <a:lstStyle/>
          <a:p>
            <a:pPr indent="0" marL="0">
              <a:lnSpc>
                <a:spcPct val="115000"/>
              </a:lnSpc>
              <a:buNone/>
            </a:pPr>
            <a:r>
              <a:rPr lang="en-US" sz="1500" dirty="0">
                <a:solidFill>
                  <a:srgbClr val="2D3436"/>
                </a:solidFill>
                <a:latin typeface="BIZ UDPGothic" pitchFamily="34" charset="0"/>
                <a:ea typeface="BIZ UDPGothic" pitchFamily="34" charset="-122"/>
                <a:cs typeface="BIZ UDPGothic" pitchFamily="34" charset="-120"/>
              </a:rPr>
              <a:t>首の痛み＋高熱・意識障害</a:t>
            </a:r>
            <a:endParaRPr lang="en-US" sz="1500" dirty="0"/>
          </a:p>
          <a:p>
            <a:pPr indent="0" marL="0">
              <a:lnSpc>
                <a:spcPct val="115000"/>
              </a:lnSpc>
              <a:buNone/>
            </a:pPr>
            <a:r>
              <a:rPr lang="en-US" sz="1500" dirty="0">
                <a:solidFill>
                  <a:srgbClr val="2D3436"/>
                </a:solidFill>
                <a:latin typeface="BIZ UDPGothic" pitchFamily="34" charset="0"/>
                <a:ea typeface="BIZ UDPGothic" pitchFamily="34" charset="-122"/>
                <a:cs typeface="BIZ UDPGothic" pitchFamily="34" charset="-120"/>
              </a:rPr>
              <a:t>手足の麻痺・歩行困難</a:t>
            </a:r>
            <a:endParaRPr lang="en-US" sz="1500" dirty="0"/>
          </a:p>
          <a:p>
            <a:pPr indent="0" marL="0">
              <a:lnSpc>
                <a:spcPct val="115000"/>
              </a:lnSpc>
              <a:buNone/>
            </a:pPr>
            <a:r>
              <a:rPr lang="en-US" sz="1500" dirty="0">
                <a:solidFill>
                  <a:srgbClr val="2D3436"/>
                </a:solidFill>
                <a:latin typeface="BIZ UDPGothic" pitchFamily="34" charset="0"/>
                <a:ea typeface="BIZ UDPGothic" pitchFamily="34" charset="-122"/>
                <a:cs typeface="BIZ UDPGothic" pitchFamily="34" charset="-120"/>
              </a:rPr>
              <a:t>事故後の首の痛み</a:t>
            </a:r>
            <a:endParaRPr lang="en-US" sz="1500" dirty="0"/>
          </a:p>
        </p:txBody>
      </p:sp>
      <p:sp>
        <p:nvSpPr>
          <p:cNvPr id="8" name="Text 6"/>
          <p:cNvSpPr/>
          <p:nvPr/>
        </p:nvSpPr>
        <p:spPr>
          <a:xfrm>
            <a:off x="5486400" y="1188720"/>
            <a:ext cx="3017520" cy="731520"/>
          </a:xfrm>
          <a:prstGeom prst="rect">
            <a:avLst/>
          </a:prstGeom>
          <a:noFill/>
          <a:ln/>
        </p:spPr>
        <p:txBody>
          <a:bodyPr wrap="square" lIns="0" tIns="0" rIns="0" bIns="0" rtlCol="0" anchor="ctr"/>
          <a:lstStyle/>
          <a:p>
            <a:pPr indent="0" marL="0">
              <a:lnSpc>
                <a:spcPct val="115000"/>
              </a:lnSpc>
              <a:buNone/>
            </a:pPr>
            <a:r>
              <a:rPr lang="en-US" sz="1600" b="1" dirty="0">
                <a:solidFill>
                  <a:srgbClr val="DC3545"/>
                </a:solidFill>
                <a:latin typeface="BIZ UDPGothic" pitchFamily="34" charset="0"/>
                <a:ea typeface="BIZ UDPGothic" pitchFamily="34" charset="-122"/>
                <a:cs typeface="BIZ UDPGothic" pitchFamily="34" charset="-120"/>
              </a:rPr>
              <a:t>119番 or</a:t>
            </a:r>
            <a:endParaRPr lang="en-US" sz="1600" dirty="0"/>
          </a:p>
          <a:p>
            <a:pPr indent="0" marL="0">
              <a:lnSpc>
                <a:spcPct val="115000"/>
              </a:lnSpc>
              <a:buNone/>
            </a:pPr>
            <a:r>
              <a:rPr lang="en-US" sz="1600" b="1" dirty="0">
                <a:solidFill>
                  <a:srgbClr val="DC3545"/>
                </a:solidFill>
                <a:latin typeface="BIZ UDPGothic" pitchFamily="34" charset="0"/>
                <a:ea typeface="BIZ UDPGothic" pitchFamily="34" charset="-122"/>
                <a:cs typeface="BIZ UDPGothic" pitchFamily="34" charset="-120"/>
              </a:rPr>
              <a:t>緊急受診</a:t>
            </a:r>
            <a:endParaRPr lang="en-US" sz="1600" dirty="0"/>
          </a:p>
        </p:txBody>
      </p:sp>
      <p:sp>
        <p:nvSpPr>
          <p:cNvPr id="9" name="Shape 7"/>
          <p:cNvSpPr/>
          <p:nvPr/>
        </p:nvSpPr>
        <p:spPr>
          <a:xfrm>
            <a:off x="457200" y="2240280"/>
            <a:ext cx="8229600" cy="1005840"/>
          </a:xfrm>
          <a:prstGeom prst="rect">
            <a:avLst>
              <a:gd name="adj" fmla="val 9091"/>
            </a:avLst>
          </a:prstGeom>
          <a:solidFill>
            <a:srgbClr val="FFF3CD"/>
          </a:solidFill>
          <a:ln/>
          <a:effectLst>
            <a:outerShdw sx="100000" sy="100000" kx="0" ky="0" algn="bl" rotWithShape="0" blurRad="50800" dist="25400" dir="8100000">
              <a:srgbClr val="000000">
                <a:alpha val="12000"/>
              </a:srgbClr>
            </a:outerShdw>
          </a:effectLst>
        </p:spPr>
      </p:sp>
      <p:sp>
        <p:nvSpPr>
          <p:cNvPr id="10" name="Shape 8"/>
          <p:cNvSpPr/>
          <p:nvPr/>
        </p:nvSpPr>
        <p:spPr>
          <a:xfrm>
            <a:off x="457200" y="2240280"/>
            <a:ext cx="109728" cy="1005840"/>
          </a:xfrm>
          <a:prstGeom prst="rect">
            <a:avLst>
              <a:gd name="adj" fmla="val 41667"/>
            </a:avLst>
          </a:prstGeom>
          <a:solidFill>
            <a:srgbClr val="856404"/>
          </a:solidFill>
          <a:ln/>
        </p:spPr>
      </p:sp>
      <p:sp>
        <p:nvSpPr>
          <p:cNvPr id="11" name="Text 9"/>
          <p:cNvSpPr/>
          <p:nvPr/>
        </p:nvSpPr>
        <p:spPr>
          <a:xfrm>
            <a:off x="731520" y="2286000"/>
            <a:ext cx="2743200" cy="411480"/>
          </a:xfrm>
          <a:prstGeom prst="rect">
            <a:avLst/>
          </a:prstGeom>
          <a:noFill/>
          <a:ln/>
        </p:spPr>
        <p:txBody>
          <a:bodyPr wrap="square" lIns="0" tIns="0" rIns="0" bIns="0" rtlCol="0" anchor="ctr"/>
          <a:lstStyle/>
          <a:p>
            <a:pPr indent="0" marL="0">
              <a:buNone/>
            </a:pPr>
            <a:r>
              <a:rPr lang="en-US" sz="2100" b="1" dirty="0">
                <a:solidFill>
                  <a:srgbClr val="856404"/>
                </a:solidFill>
                <a:latin typeface="BIZ UDPGothic" pitchFamily="34" charset="0"/>
                <a:ea typeface="BIZ UDPGothic" pitchFamily="34" charset="-122"/>
                <a:cs typeface="BIZ UDPGothic" pitchFamily="34" charset="-120"/>
              </a:rPr>
              <a:t>🟡 早めに受診</a:t>
            </a:r>
            <a:endParaRPr lang="en-US" sz="2100" dirty="0"/>
          </a:p>
        </p:txBody>
      </p:sp>
      <p:sp>
        <p:nvSpPr>
          <p:cNvPr id="12" name="Text 10"/>
          <p:cNvSpPr/>
          <p:nvPr/>
        </p:nvSpPr>
        <p:spPr>
          <a:xfrm>
            <a:off x="731520" y="2697480"/>
            <a:ext cx="4572000" cy="502920"/>
          </a:xfrm>
          <a:prstGeom prst="rect">
            <a:avLst/>
          </a:prstGeom>
          <a:noFill/>
          <a:ln/>
        </p:spPr>
        <p:txBody>
          <a:bodyPr wrap="square" lIns="0" tIns="0" rIns="0" bIns="0" rtlCol="0" anchor="ctr"/>
          <a:lstStyle/>
          <a:p>
            <a:pPr indent="0" marL="0">
              <a:lnSpc>
                <a:spcPct val="115000"/>
              </a:lnSpc>
              <a:buNone/>
            </a:pPr>
            <a:r>
              <a:rPr lang="en-US" sz="1500" dirty="0">
                <a:solidFill>
                  <a:srgbClr val="2D3436"/>
                </a:solidFill>
                <a:latin typeface="BIZ UDPGothic" pitchFamily="34" charset="0"/>
                <a:ea typeface="BIZ UDPGothic" pitchFamily="34" charset="-122"/>
                <a:cs typeface="BIZ UDPGothic" pitchFamily="34" charset="-120"/>
              </a:rPr>
              <a:t>首の痛みが2週間以上続く</a:t>
            </a:r>
            <a:endParaRPr lang="en-US" sz="1500" dirty="0"/>
          </a:p>
          <a:p>
            <a:pPr indent="0" marL="0">
              <a:lnSpc>
                <a:spcPct val="115000"/>
              </a:lnSpc>
              <a:buNone/>
            </a:pPr>
            <a:r>
              <a:rPr lang="en-US" sz="1500" dirty="0">
                <a:solidFill>
                  <a:srgbClr val="2D3436"/>
                </a:solidFill>
                <a:latin typeface="BIZ UDPGothic" pitchFamily="34" charset="0"/>
                <a:ea typeface="BIZ UDPGothic" pitchFamily="34" charset="-122"/>
                <a:cs typeface="BIZ UDPGothic" pitchFamily="34" charset="-120"/>
              </a:rPr>
              <a:t>腕や手にしびれが広がる</a:t>
            </a:r>
            <a:endParaRPr lang="en-US" sz="1500" dirty="0"/>
          </a:p>
          <a:p>
            <a:pPr indent="0" marL="0">
              <a:lnSpc>
                <a:spcPct val="115000"/>
              </a:lnSpc>
              <a:buNone/>
            </a:pPr>
            <a:r>
              <a:rPr lang="en-US" sz="1500" dirty="0">
                <a:solidFill>
                  <a:srgbClr val="2D3436"/>
                </a:solidFill>
                <a:latin typeface="BIZ UDPGothic" pitchFamily="34" charset="0"/>
                <a:ea typeface="BIZ UDPGothic" pitchFamily="34" charset="-122"/>
                <a:cs typeface="BIZ UDPGothic" pitchFamily="34" charset="-120"/>
              </a:rPr>
              <a:t>手の筋力低下・巧緻運動障害</a:t>
            </a:r>
            <a:endParaRPr lang="en-US" sz="1500" dirty="0"/>
          </a:p>
          <a:p>
            <a:pPr indent="0" marL="0">
              <a:lnSpc>
                <a:spcPct val="115000"/>
              </a:lnSpc>
              <a:buNone/>
            </a:pPr>
            <a:r>
              <a:rPr lang="en-US" sz="1500" dirty="0">
                <a:solidFill>
                  <a:srgbClr val="2D3436"/>
                </a:solidFill>
                <a:latin typeface="BIZ UDPGothic" pitchFamily="34" charset="0"/>
                <a:ea typeface="BIZ UDPGothic" pitchFamily="34" charset="-122"/>
                <a:cs typeface="BIZ UDPGothic" pitchFamily="34" charset="-120"/>
              </a:rPr>
              <a:t>だんだん悪くなっている</a:t>
            </a:r>
            <a:endParaRPr lang="en-US" sz="1500" dirty="0"/>
          </a:p>
        </p:txBody>
      </p:sp>
      <p:sp>
        <p:nvSpPr>
          <p:cNvPr id="13" name="Text 11"/>
          <p:cNvSpPr/>
          <p:nvPr/>
        </p:nvSpPr>
        <p:spPr>
          <a:xfrm>
            <a:off x="5486400" y="2377440"/>
            <a:ext cx="3017520" cy="731520"/>
          </a:xfrm>
          <a:prstGeom prst="rect">
            <a:avLst/>
          </a:prstGeom>
          <a:noFill/>
          <a:ln/>
        </p:spPr>
        <p:txBody>
          <a:bodyPr wrap="square" lIns="0" tIns="0" rIns="0" bIns="0" rtlCol="0" anchor="ctr"/>
          <a:lstStyle/>
          <a:p>
            <a:pPr indent="0" marL="0">
              <a:lnSpc>
                <a:spcPct val="115000"/>
              </a:lnSpc>
              <a:buNone/>
            </a:pPr>
            <a:r>
              <a:rPr lang="en-US" sz="1600" b="1" dirty="0">
                <a:solidFill>
                  <a:srgbClr val="856404"/>
                </a:solidFill>
                <a:latin typeface="BIZ UDPGothic" pitchFamily="34" charset="0"/>
                <a:ea typeface="BIZ UDPGothic" pitchFamily="34" charset="-122"/>
                <a:cs typeface="BIZ UDPGothic" pitchFamily="34" charset="-120"/>
              </a:rPr>
              <a:t>整形外科 or</a:t>
            </a:r>
            <a:endParaRPr lang="en-US" sz="1600" dirty="0"/>
          </a:p>
          <a:p>
            <a:pPr indent="0" marL="0">
              <a:lnSpc>
                <a:spcPct val="115000"/>
              </a:lnSpc>
              <a:buNone/>
            </a:pPr>
            <a:r>
              <a:rPr lang="en-US" sz="1600" b="1" dirty="0">
                <a:solidFill>
                  <a:srgbClr val="856404"/>
                </a:solidFill>
                <a:latin typeface="BIZ UDPGothic" pitchFamily="34" charset="0"/>
                <a:ea typeface="BIZ UDPGothic" pitchFamily="34" charset="-122"/>
                <a:cs typeface="BIZ UDPGothic" pitchFamily="34" charset="-120"/>
              </a:rPr>
              <a:t>脳神経内科</a:t>
            </a:r>
            <a:endParaRPr lang="en-US" sz="1600" dirty="0"/>
          </a:p>
        </p:txBody>
      </p:sp>
      <p:sp>
        <p:nvSpPr>
          <p:cNvPr id="14" name="Shape 12"/>
          <p:cNvSpPr/>
          <p:nvPr/>
        </p:nvSpPr>
        <p:spPr>
          <a:xfrm>
            <a:off x="457200" y="3429000"/>
            <a:ext cx="8229600" cy="1005840"/>
          </a:xfrm>
          <a:prstGeom prst="rect">
            <a:avLst>
              <a:gd name="adj" fmla="val 9091"/>
            </a:avLst>
          </a:prstGeom>
          <a:solidFill>
            <a:srgbClr val="D4EDDA"/>
          </a:solidFill>
          <a:ln/>
          <a:effectLst>
            <a:outerShdw sx="100000" sy="100000" kx="0" ky="0" algn="bl" rotWithShape="0" blurRad="50800" dist="25400" dir="8100000">
              <a:srgbClr val="000000">
                <a:alpha val="12000"/>
              </a:srgbClr>
            </a:outerShdw>
          </a:effectLst>
        </p:spPr>
      </p:sp>
      <p:sp>
        <p:nvSpPr>
          <p:cNvPr id="15" name="Shape 13"/>
          <p:cNvSpPr/>
          <p:nvPr/>
        </p:nvSpPr>
        <p:spPr>
          <a:xfrm>
            <a:off x="457200" y="3429000"/>
            <a:ext cx="109728" cy="1005840"/>
          </a:xfrm>
          <a:prstGeom prst="rect">
            <a:avLst>
              <a:gd name="adj" fmla="val 41667"/>
            </a:avLst>
          </a:prstGeom>
          <a:solidFill>
            <a:srgbClr val="28A745"/>
          </a:solidFill>
          <a:ln/>
        </p:spPr>
      </p:sp>
      <p:sp>
        <p:nvSpPr>
          <p:cNvPr id="16" name="Text 14"/>
          <p:cNvSpPr/>
          <p:nvPr/>
        </p:nvSpPr>
        <p:spPr>
          <a:xfrm>
            <a:off x="731520" y="3474720"/>
            <a:ext cx="2743200" cy="411480"/>
          </a:xfrm>
          <a:prstGeom prst="rect">
            <a:avLst/>
          </a:prstGeom>
          <a:noFill/>
          <a:ln/>
        </p:spPr>
        <p:txBody>
          <a:bodyPr wrap="square" lIns="0" tIns="0" rIns="0" bIns="0" rtlCol="0" anchor="ctr"/>
          <a:lstStyle/>
          <a:p>
            <a:pPr indent="0" marL="0">
              <a:buNone/>
            </a:pPr>
            <a:r>
              <a:rPr lang="en-US" sz="2100" b="1" dirty="0">
                <a:solidFill>
                  <a:srgbClr val="28A745"/>
                </a:solidFill>
                <a:latin typeface="BIZ UDPGothic" pitchFamily="34" charset="0"/>
                <a:ea typeface="BIZ UDPGothic" pitchFamily="34" charset="-122"/>
                <a:cs typeface="BIZ UDPGothic" pitchFamily="34" charset="-120"/>
              </a:rPr>
              <a:t>🟢 様子見OK</a:t>
            </a:r>
            <a:endParaRPr lang="en-US" sz="2100" dirty="0"/>
          </a:p>
        </p:txBody>
      </p:sp>
      <p:sp>
        <p:nvSpPr>
          <p:cNvPr id="17" name="Text 15"/>
          <p:cNvSpPr/>
          <p:nvPr/>
        </p:nvSpPr>
        <p:spPr>
          <a:xfrm>
            <a:off x="731520" y="3886200"/>
            <a:ext cx="4572000" cy="502920"/>
          </a:xfrm>
          <a:prstGeom prst="rect">
            <a:avLst/>
          </a:prstGeom>
          <a:noFill/>
          <a:ln/>
        </p:spPr>
        <p:txBody>
          <a:bodyPr wrap="square" lIns="0" tIns="0" rIns="0" bIns="0" rtlCol="0" anchor="ctr"/>
          <a:lstStyle/>
          <a:p>
            <a:pPr indent="0" marL="0">
              <a:lnSpc>
                <a:spcPct val="115000"/>
              </a:lnSpc>
              <a:buNone/>
            </a:pPr>
            <a:r>
              <a:rPr lang="en-US" sz="1500" dirty="0">
                <a:solidFill>
                  <a:srgbClr val="2D3436"/>
                </a:solidFill>
                <a:latin typeface="BIZ UDPGothic" pitchFamily="34" charset="0"/>
                <a:ea typeface="BIZ UDPGothic" pitchFamily="34" charset="-122"/>
                <a:cs typeface="BIZ UDPGothic" pitchFamily="34" charset="-120"/>
              </a:rPr>
              <a:t>寝違え程度の一時的な痛み</a:t>
            </a:r>
            <a:endParaRPr lang="en-US" sz="1500" dirty="0"/>
          </a:p>
          <a:p>
            <a:pPr indent="0" marL="0">
              <a:lnSpc>
                <a:spcPct val="115000"/>
              </a:lnSpc>
              <a:buNone/>
            </a:pPr>
            <a:r>
              <a:rPr lang="en-US" sz="1500" dirty="0">
                <a:solidFill>
                  <a:srgbClr val="2D3436"/>
                </a:solidFill>
                <a:latin typeface="BIZ UDPGothic" pitchFamily="34" charset="0"/>
                <a:ea typeface="BIZ UDPGothic" pitchFamily="34" charset="-122"/>
                <a:cs typeface="BIZ UDPGothic" pitchFamily="34" charset="-120"/>
              </a:rPr>
              <a:t>姿勢を変えると楽になる</a:t>
            </a:r>
            <a:endParaRPr lang="en-US" sz="1500" dirty="0"/>
          </a:p>
          <a:p>
            <a:pPr indent="0" marL="0">
              <a:lnSpc>
                <a:spcPct val="115000"/>
              </a:lnSpc>
              <a:buNone/>
            </a:pPr>
            <a:r>
              <a:rPr lang="en-US" sz="1500" dirty="0">
                <a:solidFill>
                  <a:srgbClr val="2D3436"/>
                </a:solidFill>
                <a:latin typeface="BIZ UDPGothic" pitchFamily="34" charset="0"/>
                <a:ea typeface="BIZ UDPGothic" pitchFamily="34" charset="-122"/>
                <a:cs typeface="BIZ UDPGothic" pitchFamily="34" charset="-120"/>
              </a:rPr>
              <a:t>温めると改善する</a:t>
            </a:r>
            <a:endParaRPr lang="en-US" sz="1500" dirty="0"/>
          </a:p>
        </p:txBody>
      </p:sp>
      <p:sp>
        <p:nvSpPr>
          <p:cNvPr id="18" name="Text 16"/>
          <p:cNvSpPr/>
          <p:nvPr/>
        </p:nvSpPr>
        <p:spPr>
          <a:xfrm>
            <a:off x="5486400" y="3566160"/>
            <a:ext cx="3017520" cy="731520"/>
          </a:xfrm>
          <a:prstGeom prst="rect">
            <a:avLst/>
          </a:prstGeom>
          <a:noFill/>
          <a:ln/>
        </p:spPr>
        <p:txBody>
          <a:bodyPr wrap="square" lIns="0" tIns="0" rIns="0" bIns="0" rtlCol="0" anchor="ctr"/>
          <a:lstStyle/>
          <a:p>
            <a:pPr indent="0" marL="0">
              <a:lnSpc>
                <a:spcPct val="115000"/>
              </a:lnSpc>
              <a:buNone/>
            </a:pPr>
            <a:r>
              <a:rPr lang="en-US" sz="1600" b="1" dirty="0">
                <a:solidFill>
                  <a:srgbClr val="28A745"/>
                </a:solidFill>
                <a:latin typeface="BIZ UDPGothic" pitchFamily="34" charset="0"/>
                <a:ea typeface="BIZ UDPGothic" pitchFamily="34" charset="-122"/>
                <a:cs typeface="BIZ UDPGothic" pitchFamily="34" charset="-120"/>
              </a:rPr>
              <a:t>ストレッチ・</a:t>
            </a:r>
            <a:endParaRPr lang="en-US" sz="1600" dirty="0"/>
          </a:p>
          <a:p>
            <a:pPr indent="0" marL="0">
              <a:lnSpc>
                <a:spcPct val="115000"/>
              </a:lnSpc>
              <a:buNone/>
            </a:pPr>
            <a:r>
              <a:rPr lang="en-US" sz="1600" b="1" dirty="0">
                <a:solidFill>
                  <a:srgbClr val="28A745"/>
                </a:solidFill>
                <a:latin typeface="BIZ UDPGothic" pitchFamily="34" charset="0"/>
                <a:ea typeface="BIZ UDPGothic" pitchFamily="34" charset="-122"/>
                <a:cs typeface="BIZ UDPGothic" pitchFamily="34" charset="-120"/>
              </a:rPr>
              <a:t>姿勢改善から</a:t>
            </a:r>
            <a:endParaRPr lang="en-US" sz="1600" dirty="0"/>
          </a:p>
        </p:txBody>
      </p:sp>
      <p:sp>
        <p:nvSpPr>
          <p:cNvPr id="19" name="Shape 17"/>
          <p:cNvSpPr/>
          <p:nvPr/>
        </p:nvSpPr>
        <p:spPr>
          <a:xfrm>
            <a:off x="0" y="4800600"/>
            <a:ext cx="9144000" cy="347472"/>
          </a:xfrm>
          <a:prstGeom prst="rect">
            <a:avLst/>
          </a:prstGeom>
          <a:solidFill>
            <a:srgbClr val="1B3A5C"/>
          </a:solidFill>
          <a:ln/>
        </p:spPr>
      </p:sp>
      <p:sp>
        <p:nvSpPr>
          <p:cNvPr id="20" name="Text 18"/>
          <p:cNvSpPr/>
          <p:nvPr/>
        </p:nvSpPr>
        <p:spPr>
          <a:xfrm>
            <a:off x="365760" y="4818888"/>
            <a:ext cx="4572000" cy="274320"/>
          </a:xfrm>
          <a:prstGeom prst="rect">
            <a:avLst/>
          </a:prstGeom>
          <a:noFill/>
          <a:ln/>
        </p:spPr>
        <p:txBody>
          <a:bodyPr wrap="square" lIns="0" tIns="0" rIns="0" bIns="0" rtlCol="0" anchor="ctr"/>
          <a:lstStyle/>
          <a:p>
            <a:pPr indent="0" marL="0">
              <a:buNone/>
            </a:pPr>
            <a:r>
              <a:rPr lang="en-US" sz="1000" dirty="0">
                <a:solidFill>
                  <a:srgbClr val="FFFFFF"/>
                </a:solidFill>
                <a:latin typeface="BIZ UDPGothic" pitchFamily="34" charset="0"/>
                <a:ea typeface="BIZ UDPGothic" pitchFamily="34" charset="-122"/>
                <a:cs typeface="BIZ UDPGothic" pitchFamily="34" charset="-120"/>
              </a:rPr>
              <a:t>医知創造ラボ ｜ その症状、大丈夫？ #17</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5AA0"/>
          </a:solidFill>
          <a:ln/>
        </p:spPr>
      </p:sp>
      <p:sp>
        <p:nvSpPr>
          <p:cNvPr id="3" name="Text 1"/>
          <p:cNvSpPr/>
          <p:nvPr/>
        </p:nvSpPr>
        <p:spPr>
          <a:xfrm>
            <a:off x="457200" y="91440"/>
            <a:ext cx="8229600" cy="640080"/>
          </a:xfrm>
          <a:prstGeom prst="rect">
            <a:avLst/>
          </a:prstGeom>
          <a:noFill/>
          <a:ln/>
        </p:spPr>
        <p:txBody>
          <a:bodyPr wrap="square" lIns="0" tIns="0" rIns="0" bIns="0" rtlCol="0" anchor="ctr"/>
          <a:lstStyle/>
          <a:p>
            <a:pPr indent="0" marL="0">
              <a:buNone/>
            </a:pPr>
            <a:r>
              <a:rPr lang="en-US" sz="2600" b="1" dirty="0">
                <a:solidFill>
                  <a:srgbClr val="FFFFFF"/>
                </a:solidFill>
                <a:latin typeface="BIZ UDPGothic" pitchFamily="34" charset="0"/>
                <a:ea typeface="BIZ UDPGothic" pitchFamily="34" charset="-122"/>
                <a:cs typeface="BIZ UDPGothic" pitchFamily="34" charset="-120"/>
              </a:rPr>
              <a:t>まとめ ― 首の痛みの正しい判断</a:t>
            </a:r>
            <a:endParaRPr lang="en-US" sz="2600" dirty="0"/>
          </a:p>
        </p:txBody>
      </p:sp>
      <p:sp>
        <p:nvSpPr>
          <p:cNvPr id="4" name="Shape 2"/>
          <p:cNvSpPr/>
          <p:nvPr/>
        </p:nvSpPr>
        <p:spPr>
          <a:xfrm>
            <a:off x="457200" y="1051560"/>
            <a:ext cx="8229600" cy="1005840"/>
          </a:xfrm>
          <a:prstGeom prst="rect">
            <a:avLst>
              <a:gd name="adj" fmla="val 9091"/>
            </a:avLst>
          </a:prstGeom>
          <a:solidFill>
            <a:srgbClr val="FFFFFF"/>
          </a:solidFill>
          <a:ln/>
          <a:effectLst>
            <a:outerShdw sx="100000" sy="100000" kx="0" ky="0" algn="bl" rotWithShape="0" blurRad="50800" dist="25400" dir="8100000">
              <a:srgbClr val="000000">
                <a:alpha val="12000"/>
              </a:srgbClr>
            </a:outerShdw>
          </a:effectLst>
        </p:spPr>
      </p:sp>
      <p:sp>
        <p:nvSpPr>
          <p:cNvPr id="5" name="Shape 3"/>
          <p:cNvSpPr/>
          <p:nvPr/>
        </p:nvSpPr>
        <p:spPr>
          <a:xfrm>
            <a:off x="457200" y="1051560"/>
            <a:ext cx="109728" cy="1005840"/>
          </a:xfrm>
          <a:prstGeom prst="rect">
            <a:avLst>
              <a:gd name="adj" fmla="val 41667"/>
            </a:avLst>
          </a:prstGeom>
          <a:solidFill>
            <a:srgbClr val="2C5AA0"/>
          </a:solidFill>
          <a:ln/>
        </p:spPr>
      </p:sp>
      <p:sp>
        <p:nvSpPr>
          <p:cNvPr id="6" name="Text 4"/>
          <p:cNvSpPr/>
          <p:nvPr/>
        </p:nvSpPr>
        <p:spPr>
          <a:xfrm>
            <a:off x="640080" y="1143000"/>
            <a:ext cx="640080" cy="822960"/>
          </a:xfrm>
          <a:prstGeom prst="rect">
            <a:avLst/>
          </a:prstGeom>
          <a:noFill/>
          <a:ln/>
        </p:spPr>
        <p:txBody>
          <a:bodyPr wrap="square" lIns="0" tIns="0" rIns="0" bIns="0" rtlCol="0" anchor="ctr"/>
          <a:lstStyle/>
          <a:p>
            <a:pPr algn="ctr" indent="0" marL="0">
              <a:buNone/>
            </a:pPr>
            <a:r>
              <a:rPr lang="en-US" sz="3600" b="1" dirty="0">
                <a:solidFill>
                  <a:srgbClr val="2C5AA0"/>
                </a:solidFill>
                <a:latin typeface="Segoe UI" pitchFamily="34" charset="0"/>
                <a:ea typeface="Segoe UI" pitchFamily="34" charset="-122"/>
                <a:cs typeface="Segoe UI" pitchFamily="34" charset="-120"/>
              </a:rPr>
              <a:t>1</a:t>
            </a:r>
            <a:endParaRPr lang="en-US" sz="3600" dirty="0"/>
          </a:p>
        </p:txBody>
      </p:sp>
      <p:sp>
        <p:nvSpPr>
          <p:cNvPr id="7" name="Text 5"/>
          <p:cNvSpPr/>
          <p:nvPr/>
        </p:nvSpPr>
        <p:spPr>
          <a:xfrm>
            <a:off x="1371600" y="1097280"/>
            <a:ext cx="3474720" cy="868680"/>
          </a:xfrm>
          <a:prstGeom prst="rect">
            <a:avLst/>
          </a:prstGeom>
          <a:noFill/>
          <a:ln/>
        </p:spPr>
        <p:txBody>
          <a:bodyPr wrap="square" lIns="0" tIns="0" rIns="0" bIns="0" rtlCol="0" anchor="ctr"/>
          <a:lstStyle/>
          <a:p>
            <a:pPr indent="0" marL="0">
              <a:lnSpc>
                <a:spcPct val="110000"/>
              </a:lnSpc>
              <a:buNone/>
            </a:pPr>
            <a:r>
              <a:rPr lang="en-US" sz="1900" b="1" dirty="0">
                <a:solidFill>
                  <a:srgbClr val="2D3436"/>
                </a:solidFill>
                <a:latin typeface="BIZ UDPGothic" pitchFamily="34" charset="0"/>
                <a:ea typeface="BIZ UDPGothic" pitchFamily="34" charset="-122"/>
                <a:cs typeface="BIZ UDPGothic" pitchFamily="34" charset="-120"/>
              </a:rPr>
              <a:t>首の痛みの原因は</a:t>
            </a:r>
            <a:endParaRPr lang="en-US" sz="1900" dirty="0"/>
          </a:p>
          <a:p>
            <a:pPr indent="0" marL="0">
              <a:lnSpc>
                <a:spcPct val="110000"/>
              </a:lnSpc>
              <a:buNone/>
            </a:pPr>
            <a:r>
              <a:rPr lang="en-US" sz="1900" b="1" dirty="0">
                <a:solidFill>
                  <a:srgbClr val="2D3436"/>
                </a:solidFill>
                <a:latin typeface="BIZ UDPGothic" pitchFamily="34" charset="0"/>
                <a:ea typeface="BIZ UDPGothic" pitchFamily="34" charset="-122"/>
                <a:cs typeface="BIZ UDPGothic" pitchFamily="34" charset="-120"/>
              </a:rPr>
              <a:t>「筋肉・骨」と「神経」</a:t>
            </a:r>
            <a:endParaRPr lang="en-US" sz="1900" dirty="0"/>
          </a:p>
        </p:txBody>
      </p:sp>
      <p:sp>
        <p:nvSpPr>
          <p:cNvPr id="8" name="Text 6"/>
          <p:cNvSpPr/>
          <p:nvPr/>
        </p:nvSpPr>
        <p:spPr>
          <a:xfrm>
            <a:off x="5029200" y="1143000"/>
            <a:ext cx="3474720" cy="822960"/>
          </a:xfrm>
          <a:prstGeom prst="rect">
            <a:avLst/>
          </a:prstGeom>
          <a:noFill/>
          <a:ln/>
        </p:spPr>
        <p:txBody>
          <a:bodyPr wrap="square" lIns="0" tIns="0" rIns="0" bIns="0" rtlCol="0" anchor="ctr"/>
          <a:lstStyle/>
          <a:p>
            <a:pPr indent="0" marL="0">
              <a:lnSpc>
                <a:spcPct val="120000"/>
              </a:lnSpc>
              <a:buNone/>
            </a:pPr>
            <a:r>
              <a:rPr lang="en-US" sz="1500" dirty="0">
                <a:solidFill>
                  <a:srgbClr val="636E72"/>
                </a:solidFill>
                <a:latin typeface="BIZ UDPGothic" pitchFamily="34" charset="0"/>
                <a:ea typeface="BIZ UDPGothic" pitchFamily="34" charset="-122"/>
                <a:cs typeface="BIZ UDPGothic" pitchFamily="34" charset="-120"/>
              </a:rPr>
              <a:t>痛みだけなら整形外科</a:t>
            </a:r>
            <a:endParaRPr lang="en-US" sz="1500" dirty="0"/>
          </a:p>
          <a:p>
            <a:pPr indent="0" marL="0">
              <a:lnSpc>
                <a:spcPct val="120000"/>
              </a:lnSpc>
              <a:buNone/>
            </a:pPr>
            <a:r>
              <a:rPr lang="en-US" sz="1500" dirty="0">
                <a:solidFill>
                  <a:srgbClr val="636E72"/>
                </a:solidFill>
                <a:latin typeface="BIZ UDPGothic" pitchFamily="34" charset="0"/>
                <a:ea typeface="BIZ UDPGothic" pitchFamily="34" charset="-122"/>
                <a:cs typeface="BIZ UDPGothic" pitchFamily="34" charset="-120"/>
              </a:rPr>
              <a:t>しびれ・脱力があれば脳神経内科</a:t>
            </a:r>
            <a:endParaRPr lang="en-US" sz="1500" dirty="0"/>
          </a:p>
        </p:txBody>
      </p:sp>
      <p:sp>
        <p:nvSpPr>
          <p:cNvPr id="9" name="Shape 7"/>
          <p:cNvSpPr/>
          <p:nvPr/>
        </p:nvSpPr>
        <p:spPr>
          <a:xfrm>
            <a:off x="457200" y="2240280"/>
            <a:ext cx="8229600" cy="1005840"/>
          </a:xfrm>
          <a:prstGeom prst="rect">
            <a:avLst>
              <a:gd name="adj" fmla="val 9091"/>
            </a:avLst>
          </a:prstGeom>
          <a:solidFill>
            <a:srgbClr val="FFFFFF"/>
          </a:solidFill>
          <a:ln/>
          <a:effectLst>
            <a:outerShdw sx="100000" sy="100000" kx="0" ky="0" algn="bl" rotWithShape="0" blurRad="50800" dist="25400" dir="8100000">
              <a:srgbClr val="000000">
                <a:alpha val="12000"/>
              </a:srgbClr>
            </a:outerShdw>
          </a:effectLst>
        </p:spPr>
      </p:sp>
      <p:sp>
        <p:nvSpPr>
          <p:cNvPr id="10" name="Shape 8"/>
          <p:cNvSpPr/>
          <p:nvPr/>
        </p:nvSpPr>
        <p:spPr>
          <a:xfrm>
            <a:off x="457200" y="2240280"/>
            <a:ext cx="109728" cy="1005840"/>
          </a:xfrm>
          <a:prstGeom prst="rect">
            <a:avLst>
              <a:gd name="adj" fmla="val 41667"/>
            </a:avLst>
          </a:prstGeom>
          <a:solidFill>
            <a:srgbClr val="2C5AA0"/>
          </a:solidFill>
          <a:ln/>
        </p:spPr>
      </p:sp>
      <p:sp>
        <p:nvSpPr>
          <p:cNvPr id="11" name="Text 9"/>
          <p:cNvSpPr/>
          <p:nvPr/>
        </p:nvSpPr>
        <p:spPr>
          <a:xfrm>
            <a:off x="640080" y="2331720"/>
            <a:ext cx="640080" cy="822960"/>
          </a:xfrm>
          <a:prstGeom prst="rect">
            <a:avLst/>
          </a:prstGeom>
          <a:noFill/>
          <a:ln/>
        </p:spPr>
        <p:txBody>
          <a:bodyPr wrap="square" lIns="0" tIns="0" rIns="0" bIns="0" rtlCol="0" anchor="ctr"/>
          <a:lstStyle/>
          <a:p>
            <a:pPr algn="ctr" indent="0" marL="0">
              <a:buNone/>
            </a:pPr>
            <a:r>
              <a:rPr lang="en-US" sz="3600" b="1" dirty="0">
                <a:solidFill>
                  <a:srgbClr val="2C5AA0"/>
                </a:solidFill>
                <a:latin typeface="Segoe UI" pitchFamily="34" charset="0"/>
                <a:ea typeface="Segoe UI" pitchFamily="34" charset="-122"/>
                <a:cs typeface="Segoe UI" pitchFamily="34" charset="-120"/>
              </a:rPr>
              <a:t>2</a:t>
            </a:r>
            <a:endParaRPr lang="en-US" sz="3600" dirty="0"/>
          </a:p>
        </p:txBody>
      </p:sp>
      <p:sp>
        <p:nvSpPr>
          <p:cNvPr id="12" name="Text 10"/>
          <p:cNvSpPr/>
          <p:nvPr/>
        </p:nvSpPr>
        <p:spPr>
          <a:xfrm>
            <a:off x="1371600" y="2286000"/>
            <a:ext cx="3474720" cy="868680"/>
          </a:xfrm>
          <a:prstGeom prst="rect">
            <a:avLst/>
          </a:prstGeom>
          <a:noFill/>
          <a:ln/>
        </p:spPr>
        <p:txBody>
          <a:bodyPr wrap="square" lIns="0" tIns="0" rIns="0" bIns="0" rtlCol="0" anchor="ctr"/>
          <a:lstStyle/>
          <a:p>
            <a:pPr indent="0" marL="0">
              <a:lnSpc>
                <a:spcPct val="110000"/>
              </a:lnSpc>
              <a:buNone/>
            </a:pPr>
            <a:r>
              <a:rPr lang="en-US" sz="1900" b="1" dirty="0">
                <a:solidFill>
                  <a:srgbClr val="2D3436"/>
                </a:solidFill>
                <a:latin typeface="BIZ UDPGothic" pitchFamily="34" charset="0"/>
                <a:ea typeface="BIZ UDPGothic" pitchFamily="34" charset="-122"/>
                <a:cs typeface="BIZ UDPGothic" pitchFamily="34" charset="-120"/>
              </a:rPr>
              <a:t>後頭神経痛は意外と多い</a:t>
            </a:r>
            <a:endParaRPr lang="en-US" sz="1900" dirty="0"/>
          </a:p>
          <a:p>
            <a:pPr indent="0" marL="0">
              <a:lnSpc>
                <a:spcPct val="110000"/>
              </a:lnSpc>
              <a:buNone/>
            </a:pPr>
            <a:r>
              <a:rPr lang="en-US" sz="1900" b="1" dirty="0">
                <a:solidFill>
                  <a:srgbClr val="2D3436"/>
                </a:solidFill>
                <a:latin typeface="BIZ UDPGothic" pitchFamily="34" charset="0"/>
                <a:ea typeface="BIZ UDPGothic" pitchFamily="34" charset="-122"/>
                <a:cs typeface="BIZ UDPGothic" pitchFamily="34" charset="-120"/>
              </a:rPr>
              <a:t>「頭痛」の正体</a:t>
            </a:r>
            <a:endParaRPr lang="en-US" sz="1900" dirty="0"/>
          </a:p>
        </p:txBody>
      </p:sp>
      <p:sp>
        <p:nvSpPr>
          <p:cNvPr id="13" name="Text 11"/>
          <p:cNvSpPr/>
          <p:nvPr/>
        </p:nvSpPr>
        <p:spPr>
          <a:xfrm>
            <a:off x="5029200" y="2331720"/>
            <a:ext cx="3474720" cy="822960"/>
          </a:xfrm>
          <a:prstGeom prst="rect">
            <a:avLst/>
          </a:prstGeom>
          <a:noFill/>
          <a:ln/>
        </p:spPr>
        <p:txBody>
          <a:bodyPr wrap="square" lIns="0" tIns="0" rIns="0" bIns="0" rtlCol="0" anchor="ctr"/>
          <a:lstStyle/>
          <a:p>
            <a:pPr indent="0" marL="0">
              <a:lnSpc>
                <a:spcPct val="120000"/>
              </a:lnSpc>
              <a:buNone/>
            </a:pPr>
            <a:r>
              <a:rPr lang="en-US" sz="1500" dirty="0">
                <a:solidFill>
                  <a:srgbClr val="636E72"/>
                </a:solidFill>
                <a:latin typeface="BIZ UDPGothic" pitchFamily="34" charset="0"/>
                <a:ea typeface="BIZ UDPGothic" pitchFamily="34" charset="-122"/>
                <a:cs typeface="BIZ UDPGothic" pitchFamily="34" charset="-120"/>
              </a:rPr>
              <a:t>首の付け根の鋭い痛みが特徴</a:t>
            </a:r>
            <a:endParaRPr lang="en-US" sz="1500" dirty="0"/>
          </a:p>
          <a:p>
            <a:pPr indent="0" marL="0">
              <a:lnSpc>
                <a:spcPct val="120000"/>
              </a:lnSpc>
              <a:buNone/>
            </a:pPr>
            <a:r>
              <a:rPr lang="en-US" sz="1500" dirty="0">
                <a:solidFill>
                  <a:srgbClr val="636E72"/>
                </a:solidFill>
                <a:latin typeface="BIZ UDPGothic" pitchFamily="34" charset="0"/>
                <a:ea typeface="BIZ UDPGothic" pitchFamily="34" charset="-122"/>
                <a:cs typeface="BIZ UDPGothic" pitchFamily="34" charset="-120"/>
              </a:rPr>
              <a:t>ストレス・姿勢不良が誘因に</a:t>
            </a:r>
            <a:endParaRPr lang="en-US" sz="1500" dirty="0"/>
          </a:p>
        </p:txBody>
      </p:sp>
      <p:sp>
        <p:nvSpPr>
          <p:cNvPr id="14" name="Shape 12"/>
          <p:cNvSpPr/>
          <p:nvPr/>
        </p:nvSpPr>
        <p:spPr>
          <a:xfrm>
            <a:off x="457200" y="3429000"/>
            <a:ext cx="8229600" cy="1005840"/>
          </a:xfrm>
          <a:prstGeom prst="rect">
            <a:avLst>
              <a:gd name="adj" fmla="val 9091"/>
            </a:avLst>
          </a:prstGeom>
          <a:solidFill>
            <a:srgbClr val="FFFFFF"/>
          </a:solidFill>
          <a:ln/>
          <a:effectLst>
            <a:outerShdw sx="100000" sy="100000" kx="0" ky="0" algn="bl" rotWithShape="0" blurRad="50800" dist="25400" dir="8100000">
              <a:srgbClr val="000000">
                <a:alpha val="12000"/>
              </a:srgbClr>
            </a:outerShdw>
          </a:effectLst>
        </p:spPr>
      </p:sp>
      <p:sp>
        <p:nvSpPr>
          <p:cNvPr id="15" name="Shape 13"/>
          <p:cNvSpPr/>
          <p:nvPr/>
        </p:nvSpPr>
        <p:spPr>
          <a:xfrm>
            <a:off x="457200" y="3429000"/>
            <a:ext cx="109728" cy="1005840"/>
          </a:xfrm>
          <a:prstGeom prst="rect">
            <a:avLst>
              <a:gd name="adj" fmla="val 41667"/>
            </a:avLst>
          </a:prstGeom>
          <a:solidFill>
            <a:srgbClr val="2C5AA0"/>
          </a:solidFill>
          <a:ln/>
        </p:spPr>
      </p:sp>
      <p:sp>
        <p:nvSpPr>
          <p:cNvPr id="16" name="Text 14"/>
          <p:cNvSpPr/>
          <p:nvPr/>
        </p:nvSpPr>
        <p:spPr>
          <a:xfrm>
            <a:off x="640080" y="3520440"/>
            <a:ext cx="640080" cy="822960"/>
          </a:xfrm>
          <a:prstGeom prst="rect">
            <a:avLst/>
          </a:prstGeom>
          <a:noFill/>
          <a:ln/>
        </p:spPr>
        <p:txBody>
          <a:bodyPr wrap="square" lIns="0" tIns="0" rIns="0" bIns="0" rtlCol="0" anchor="ctr"/>
          <a:lstStyle/>
          <a:p>
            <a:pPr algn="ctr" indent="0" marL="0">
              <a:buNone/>
            </a:pPr>
            <a:r>
              <a:rPr lang="en-US" sz="3600" b="1" dirty="0">
                <a:solidFill>
                  <a:srgbClr val="2C5AA0"/>
                </a:solidFill>
                <a:latin typeface="Segoe UI" pitchFamily="34" charset="0"/>
                <a:ea typeface="Segoe UI" pitchFamily="34" charset="-122"/>
                <a:cs typeface="Segoe UI" pitchFamily="34" charset="-120"/>
              </a:rPr>
              <a:t>3</a:t>
            </a:r>
            <a:endParaRPr lang="en-US" sz="3600" dirty="0"/>
          </a:p>
        </p:txBody>
      </p:sp>
      <p:sp>
        <p:nvSpPr>
          <p:cNvPr id="17" name="Text 15"/>
          <p:cNvSpPr/>
          <p:nvPr/>
        </p:nvSpPr>
        <p:spPr>
          <a:xfrm>
            <a:off x="1371600" y="3474720"/>
            <a:ext cx="3474720" cy="868680"/>
          </a:xfrm>
          <a:prstGeom prst="rect">
            <a:avLst/>
          </a:prstGeom>
          <a:noFill/>
          <a:ln/>
        </p:spPr>
        <p:txBody>
          <a:bodyPr wrap="square" lIns="0" tIns="0" rIns="0" bIns="0" rtlCol="0" anchor="ctr"/>
          <a:lstStyle/>
          <a:p>
            <a:pPr indent="0" marL="0">
              <a:lnSpc>
                <a:spcPct val="110000"/>
              </a:lnSpc>
              <a:buNone/>
            </a:pPr>
            <a:r>
              <a:rPr lang="en-US" sz="1900" b="1" dirty="0">
                <a:solidFill>
                  <a:srgbClr val="2D3436"/>
                </a:solidFill>
                <a:latin typeface="BIZ UDPGothic" pitchFamily="34" charset="0"/>
                <a:ea typeface="BIZ UDPGothic" pitchFamily="34" charset="-122"/>
                <a:cs typeface="BIZ UDPGothic" pitchFamily="34" charset="-120"/>
              </a:rPr>
              <a:t>手の巧緻運動障害・</a:t>
            </a:r>
            <a:endParaRPr lang="en-US" sz="1900" dirty="0"/>
          </a:p>
          <a:p>
            <a:pPr indent="0" marL="0">
              <a:lnSpc>
                <a:spcPct val="110000"/>
              </a:lnSpc>
              <a:buNone/>
            </a:pPr>
            <a:r>
              <a:rPr lang="en-US" sz="1900" b="1" dirty="0">
                <a:solidFill>
                  <a:srgbClr val="2D3436"/>
                </a:solidFill>
                <a:latin typeface="BIZ UDPGothic" pitchFamily="34" charset="0"/>
                <a:ea typeface="BIZ UDPGothic" pitchFamily="34" charset="-122"/>
                <a:cs typeface="BIZ UDPGothic" pitchFamily="34" charset="-120"/>
              </a:rPr>
              <a:t>歩行障害は早めに受診</a:t>
            </a:r>
            <a:endParaRPr lang="en-US" sz="1900" dirty="0"/>
          </a:p>
        </p:txBody>
      </p:sp>
      <p:sp>
        <p:nvSpPr>
          <p:cNvPr id="18" name="Text 16"/>
          <p:cNvSpPr/>
          <p:nvPr/>
        </p:nvSpPr>
        <p:spPr>
          <a:xfrm>
            <a:off x="5029200" y="3520440"/>
            <a:ext cx="3474720" cy="822960"/>
          </a:xfrm>
          <a:prstGeom prst="rect">
            <a:avLst/>
          </a:prstGeom>
          <a:noFill/>
          <a:ln/>
        </p:spPr>
        <p:txBody>
          <a:bodyPr wrap="square" lIns="0" tIns="0" rIns="0" bIns="0" rtlCol="0" anchor="ctr"/>
          <a:lstStyle/>
          <a:p>
            <a:pPr indent="0" marL="0">
              <a:lnSpc>
                <a:spcPct val="120000"/>
              </a:lnSpc>
              <a:buNone/>
            </a:pPr>
            <a:r>
              <a:rPr lang="en-US" sz="1500" dirty="0">
                <a:solidFill>
                  <a:srgbClr val="636E72"/>
                </a:solidFill>
                <a:latin typeface="BIZ UDPGothic" pitchFamily="34" charset="0"/>
                <a:ea typeface="BIZ UDPGothic" pitchFamily="34" charset="-122"/>
                <a:cs typeface="BIZ UDPGothic" pitchFamily="34" charset="-120"/>
              </a:rPr>
              <a:t>頸椎症性脊髄症は放置すると</a:t>
            </a:r>
            <a:endParaRPr lang="en-US" sz="1500" dirty="0"/>
          </a:p>
          <a:p>
            <a:pPr indent="0" marL="0">
              <a:lnSpc>
                <a:spcPct val="120000"/>
              </a:lnSpc>
              <a:buNone/>
            </a:pPr>
            <a:r>
              <a:rPr lang="en-US" sz="1500" dirty="0">
                <a:solidFill>
                  <a:srgbClr val="636E72"/>
                </a:solidFill>
                <a:latin typeface="BIZ UDPGothic" pitchFamily="34" charset="0"/>
                <a:ea typeface="BIZ UDPGothic" pitchFamily="34" charset="-122"/>
                <a:cs typeface="BIZ UDPGothic" pitchFamily="34" charset="-120"/>
              </a:rPr>
              <a:t>回復が難しくなる可能性あり</a:t>
            </a:r>
            <a:endParaRPr lang="en-US" sz="1500" dirty="0"/>
          </a:p>
        </p:txBody>
      </p:sp>
      <p:sp>
        <p:nvSpPr>
          <p:cNvPr id="19" name="Shape 17"/>
          <p:cNvSpPr/>
          <p:nvPr/>
        </p:nvSpPr>
        <p:spPr>
          <a:xfrm>
            <a:off x="0" y="4800600"/>
            <a:ext cx="9144000" cy="347472"/>
          </a:xfrm>
          <a:prstGeom prst="rect">
            <a:avLst/>
          </a:prstGeom>
          <a:solidFill>
            <a:srgbClr val="1B3A5C"/>
          </a:solidFill>
          <a:ln/>
        </p:spPr>
      </p:sp>
      <p:sp>
        <p:nvSpPr>
          <p:cNvPr id="20" name="Text 18"/>
          <p:cNvSpPr/>
          <p:nvPr/>
        </p:nvSpPr>
        <p:spPr>
          <a:xfrm>
            <a:off x="365760" y="4818888"/>
            <a:ext cx="4572000" cy="274320"/>
          </a:xfrm>
          <a:prstGeom prst="rect">
            <a:avLst/>
          </a:prstGeom>
          <a:noFill/>
          <a:ln/>
        </p:spPr>
        <p:txBody>
          <a:bodyPr wrap="square" lIns="0" tIns="0" rIns="0" bIns="0" rtlCol="0" anchor="ctr"/>
          <a:lstStyle/>
          <a:p>
            <a:pPr indent="0" marL="0">
              <a:buNone/>
            </a:pPr>
            <a:r>
              <a:rPr lang="en-US" sz="1000" dirty="0">
                <a:solidFill>
                  <a:srgbClr val="FFFFFF"/>
                </a:solidFill>
                <a:latin typeface="BIZ UDPGothic" pitchFamily="34" charset="0"/>
                <a:ea typeface="BIZ UDPGothic" pitchFamily="34" charset="-122"/>
                <a:cs typeface="BIZ UDPGothic" pitchFamily="34" charset="-120"/>
              </a:rPr>
              <a:t>医知創造ラボ ｜ その症状、大丈夫？ #17</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B3A5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850C"/>
          </a:solidFill>
          <a:ln/>
        </p:spPr>
      </p:sp>
      <p:sp>
        <p:nvSpPr>
          <p:cNvPr id="3" name="Shape 1"/>
          <p:cNvSpPr/>
          <p:nvPr/>
        </p:nvSpPr>
        <p:spPr>
          <a:xfrm>
            <a:off x="0" y="5088636"/>
            <a:ext cx="9144000" cy="54864"/>
          </a:xfrm>
          <a:prstGeom prst="rect">
            <a:avLst/>
          </a:prstGeom>
          <a:solidFill>
            <a:srgbClr val="E8850C"/>
          </a:solidFill>
          <a:ln/>
        </p:spPr>
      </p:sp>
      <p:sp>
        <p:nvSpPr>
          <p:cNvPr id="4" name="Text 2"/>
          <p:cNvSpPr/>
          <p:nvPr/>
        </p:nvSpPr>
        <p:spPr>
          <a:xfrm>
            <a:off x="548640" y="548640"/>
            <a:ext cx="8046720" cy="640080"/>
          </a:xfrm>
          <a:prstGeom prst="rect">
            <a:avLst/>
          </a:prstGeom>
          <a:noFill/>
          <a:ln/>
        </p:spPr>
        <p:txBody>
          <a:bodyPr wrap="square" lIns="0" tIns="0" rIns="0" bIns="0" rtlCol="0" anchor="ctr"/>
          <a:lstStyle/>
          <a:p>
            <a:pPr algn="ctr" indent="0" marL="0">
              <a:buNone/>
            </a:pPr>
            <a:r>
              <a:rPr lang="en-US" sz="3000" b="1" dirty="0">
                <a:solidFill>
                  <a:srgbClr val="FFFFFF"/>
                </a:solidFill>
                <a:latin typeface="BIZ UDPGothic" pitchFamily="34" charset="0"/>
                <a:ea typeface="BIZ UDPGothic" pitchFamily="34" charset="-122"/>
                <a:cs typeface="BIZ UDPGothic" pitchFamily="34" charset="-120"/>
              </a:rPr>
              <a:t>ご視聴ありがとうございました</a:t>
            </a:r>
            <a:endParaRPr lang="en-US" sz="3000" dirty="0"/>
          </a:p>
        </p:txBody>
      </p:sp>
      <p:sp>
        <p:nvSpPr>
          <p:cNvPr id="5" name="Shape 3"/>
          <p:cNvSpPr/>
          <p:nvPr/>
        </p:nvSpPr>
        <p:spPr>
          <a:xfrm>
            <a:off x="2286000" y="1371600"/>
            <a:ext cx="4572000" cy="0"/>
          </a:xfrm>
          <a:prstGeom prst="line">
            <a:avLst/>
          </a:prstGeom>
          <a:noFill/>
          <a:ln w="25400">
            <a:solidFill>
              <a:srgbClr val="E8850C"/>
            </a:solidFill>
            <a:prstDash val="solid"/>
          </a:ln>
        </p:spPr>
      </p:sp>
      <p:sp>
        <p:nvSpPr>
          <p:cNvPr id="6" name="Text 4"/>
          <p:cNvSpPr/>
          <p:nvPr/>
        </p:nvSpPr>
        <p:spPr>
          <a:xfrm>
            <a:off x="548640" y="1554480"/>
            <a:ext cx="8046720" cy="365760"/>
          </a:xfrm>
          <a:prstGeom prst="rect">
            <a:avLst/>
          </a:prstGeom>
          <a:noFill/>
          <a:ln/>
        </p:spPr>
        <p:txBody>
          <a:bodyPr wrap="square" lIns="0" tIns="0" rIns="0" bIns="0" rtlCol="0" anchor="ctr"/>
          <a:lstStyle/>
          <a:p>
            <a:pPr algn="ctr" indent="0" marL="0">
              <a:buNone/>
            </a:pPr>
            <a:r>
              <a:rPr lang="en-US" sz="1800" dirty="0">
                <a:solidFill>
                  <a:srgbClr val="E8850C"/>
                </a:solidFill>
                <a:latin typeface="BIZ UDPGothic" pitchFamily="34" charset="0"/>
                <a:ea typeface="BIZ UDPGothic" pitchFamily="34" charset="-122"/>
                <a:cs typeface="BIZ UDPGothic" pitchFamily="34" charset="-120"/>
              </a:rPr>
              <a:t>チャンネル登録・高評価よろしくお願いします！</a:t>
            </a:r>
            <a:endParaRPr lang="en-US" sz="1800" dirty="0"/>
          </a:p>
        </p:txBody>
      </p:sp>
      <p:sp>
        <p:nvSpPr>
          <p:cNvPr id="7" name="Text 5"/>
          <p:cNvSpPr/>
          <p:nvPr/>
        </p:nvSpPr>
        <p:spPr>
          <a:xfrm>
            <a:off x="1371600" y="2286000"/>
            <a:ext cx="6400800" cy="365760"/>
          </a:xfrm>
          <a:prstGeom prst="rect">
            <a:avLst/>
          </a:prstGeom>
          <a:noFill/>
          <a:ln/>
        </p:spPr>
        <p:txBody>
          <a:bodyPr wrap="square" lIns="0" tIns="0" rIns="0" bIns="0" rtlCol="0" anchor="ctr"/>
          <a:lstStyle/>
          <a:p>
            <a:pPr indent="0" marL="0">
              <a:buNone/>
            </a:pPr>
            <a:r>
              <a:rPr lang="en-US" sz="1600" dirty="0">
                <a:solidFill>
                  <a:srgbClr val="B0BEC5"/>
                </a:solidFill>
                <a:latin typeface="BIZ UDPGothic" pitchFamily="34" charset="0"/>
                <a:ea typeface="BIZ UDPGothic" pitchFamily="34" charset="-122"/>
                <a:cs typeface="BIZ UDPGothic" pitchFamily="34" charset="-120"/>
              </a:rPr>
              <a:t>🔗 ブログ記事で詳しく読む（概要欄にリンク）</a:t>
            </a:r>
            <a:endParaRPr lang="en-US" sz="1600" dirty="0"/>
          </a:p>
        </p:txBody>
      </p:sp>
      <p:sp>
        <p:nvSpPr>
          <p:cNvPr id="8" name="Text 6"/>
          <p:cNvSpPr/>
          <p:nvPr/>
        </p:nvSpPr>
        <p:spPr>
          <a:xfrm>
            <a:off x="548640" y="3017520"/>
            <a:ext cx="8046720" cy="365760"/>
          </a:xfrm>
          <a:prstGeom prst="rect">
            <a:avLst/>
          </a:prstGeom>
          <a:noFill/>
          <a:ln/>
        </p:spPr>
        <p:txBody>
          <a:bodyPr wrap="square" lIns="0" tIns="0" rIns="0" bIns="0" rtlCol="0" anchor="ctr"/>
          <a:lstStyle/>
          <a:p>
            <a:pPr algn="ctr" indent="0" marL="0">
              <a:buNone/>
            </a:pPr>
            <a:r>
              <a:rPr lang="en-US" sz="1400" b="1" dirty="0">
                <a:solidFill>
                  <a:srgbClr val="E8850C"/>
                </a:solidFill>
                <a:latin typeface="BIZ UDPGothic" pitchFamily="34" charset="0"/>
                <a:ea typeface="BIZ UDPGothic" pitchFamily="34" charset="-122"/>
                <a:cs typeface="BIZ UDPGothic" pitchFamily="34" charset="-120"/>
              </a:rPr>
              <a:t>次回予告</a:t>
            </a:r>
            <a:endParaRPr lang="en-US" sz="1400" dirty="0"/>
          </a:p>
        </p:txBody>
      </p:sp>
      <p:sp>
        <p:nvSpPr>
          <p:cNvPr id="9" name="Text 7"/>
          <p:cNvSpPr/>
          <p:nvPr/>
        </p:nvSpPr>
        <p:spPr>
          <a:xfrm>
            <a:off x="548640" y="3383280"/>
            <a:ext cx="8046720" cy="365760"/>
          </a:xfrm>
          <a:prstGeom prst="rect">
            <a:avLst/>
          </a:prstGeom>
          <a:noFill/>
          <a:ln/>
        </p:spPr>
        <p:txBody>
          <a:bodyPr wrap="square" lIns="0" tIns="0" rIns="0" bIns="0" rtlCol="0" anchor="ctr"/>
          <a:lstStyle/>
          <a:p>
            <a:pPr algn="ctr" indent="0" marL="0">
              <a:buNone/>
            </a:pPr>
            <a:r>
              <a:rPr lang="en-US" sz="1700" dirty="0">
                <a:solidFill>
                  <a:srgbClr val="90A4AE"/>
                </a:solidFill>
                <a:latin typeface="BIZ UDPGothic" pitchFamily="34" charset="0"/>
                <a:ea typeface="BIZ UDPGothic" pitchFamily="34" charset="-122"/>
                <a:cs typeface="BIZ UDPGothic" pitchFamily="34" charset="-120"/>
              </a:rPr>
              <a:t>#18 子どもが「頭が痛い」と言ったら ― 親が知るべき判断基準</a:t>
            </a:r>
            <a:endParaRPr lang="en-US" sz="1700" dirty="0"/>
          </a:p>
        </p:txBody>
      </p:sp>
      <p:sp>
        <p:nvSpPr>
          <p:cNvPr id="10" name="Text 8"/>
          <p:cNvSpPr/>
          <p:nvPr/>
        </p:nvSpPr>
        <p:spPr>
          <a:xfrm>
            <a:off x="548640" y="4389120"/>
            <a:ext cx="8046720" cy="365760"/>
          </a:xfrm>
          <a:prstGeom prst="rect">
            <a:avLst/>
          </a:prstGeom>
          <a:noFill/>
          <a:ln/>
        </p:spPr>
        <p:txBody>
          <a:bodyPr wrap="square" lIns="0" tIns="0" rIns="0" bIns="0" rtlCol="0" anchor="ctr"/>
          <a:lstStyle/>
          <a:p>
            <a:pPr algn="ctr" indent="0" marL="0">
              <a:buNone/>
            </a:pPr>
            <a:r>
              <a:rPr lang="en-US" sz="1400" dirty="0">
                <a:solidFill>
                  <a:srgbClr val="78909C"/>
                </a:solidFill>
                <a:latin typeface="BIZ UDPGothic" pitchFamily="34" charset="0"/>
                <a:ea typeface="BIZ UDPGothic" pitchFamily="34" charset="-122"/>
                <a:cs typeface="BIZ UDPGothic" pitchFamily="34" charset="-120"/>
              </a:rPr>
              <a:t>医知創造ラボ</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【その症状、大丈夫？#17】その首の痛み、実は神経が原因？ ― 整形外科と脳神経内科の境界線</dc:title>
  <dc:subject>PptxGenJS Presentation</dc:subject>
  <dc:creator>今村久司</dc:creator>
  <cp:lastModifiedBy>今村久司</cp:lastModifiedBy>
  <cp:revision>1</cp:revision>
  <dcterms:created xsi:type="dcterms:W3CDTF">2026-04-14T04:03:39Z</dcterms:created>
  <dcterms:modified xsi:type="dcterms:W3CDTF">2026-04-14T04:03:39Z</dcterms:modified>
</cp:coreProperties>
</file>