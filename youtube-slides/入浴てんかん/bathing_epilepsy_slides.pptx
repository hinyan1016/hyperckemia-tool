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🛁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お風呂で決まって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意識を失う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256032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入浴てんかんの正体と安全対策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脳神経内科専門医が解説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こんな経験、ありませんか？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お風呂に入ると毎回意識が飛ぶ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6596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63040" y="2057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入浴中にけいれんを起こして倒れた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湯船で意識がなくなり溺れかけた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0332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94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🤔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63040" y="3794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ヒートショック？失神？原因が分からない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入浴てんかん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入浴てんかんとは？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>
              <a:gd name="adj" fmla="val 8333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0972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反射てんかんの一種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入浴という特定の状況でのみ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発作が繰り返し誘発されるてんかん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109728" cy="64008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2423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最大の特徴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24231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入浴時にしか発作が起きない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54680"/>
            <a:ext cx="109728" cy="64008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8016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入浴外発作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91840" y="32004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経過中62%に入浴外の自然発作も出現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31920"/>
            <a:ext cx="109728" cy="64008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3977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反射てんかんで最多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91840" y="39776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反射てんかんの中で最も頻度が高い型の一つ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入浴てんかん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入浴てんかんの2つのタイプ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47472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34747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🔥 熱水てんかん (HWE)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 Water Epilepsy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温水（37〜50℃）で誘発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頭部への湯かけが主な誘因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小児後期〜成人に多い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男女比 約3:1（男性優位）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インド南部で多い報告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347472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109728" cy="34747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💧 浸水型入浴てんかん (BE)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Bathing Epilepsy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92024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水温に関係なく浸水で誘発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体温に近い温度でも発症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乳幼児に多い（平均15ヶ月）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SYN1遺伝子変異（X連鎖性）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経過は良性、自然消失多い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入浴てんかん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なぜ入浴で発作が起きるのか？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9728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🌡️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体温上昇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5087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入浴→急速な体温上昇→脳の興奮性閾値が低下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動物実験：直腸温41.5℃で発作出現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109728" cy="10972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774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7160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異常な温度調節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7432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温水が頭皮に接触→側頭葉（海馬周辺）を異常刺激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脳波で側頭部に異常波を認める症例が多い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109728" cy="109728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118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🧬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37160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遺伝的素因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9776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SYN1遺伝子変異（X連鎖性）：シナプス小胞制御異常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浸水型入浴てんかんで同定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入浴てんかん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入浴てんかんの症状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発作型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17520" y="1005840"/>
            <a:ext cx="182880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頻度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256032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63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焦点性発作（意識減損）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017520" y="1463040"/>
            <a:ext cx="18288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最も多い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46320" y="1463040"/>
            <a:ext cx="384048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ぼーっとする、口もぐもぐ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1965960"/>
            <a:ext cx="25603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二次性全般化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017520" y="1965960"/>
            <a:ext cx="1828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10896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約38%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1965960"/>
            <a:ext cx="3840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965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全身けいれんに移行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256032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全般性発作のみ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017520" y="2468880"/>
            <a:ext cx="18288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3108960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まれ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46320" y="2468880"/>
            <a:ext cx="384048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最初から全身けいれん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8229600" cy="1554480"/>
          </a:xfrm>
          <a:prstGeom prst="rect">
            <a:avLst>
              <a:gd name="adj" fmla="val 5882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108960"/>
            <a:ext cx="109728" cy="155448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発作の典型的な流れ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1520" y="352044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入浴後 数分〜15分 で前兆（不安感、胃からこみ上げる感覚）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意識がぼんやり → 反応がなくなる（焦点性発作）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約4割で全身けいれん（強直間代発作）に移行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④ 発作後はもうろう状態が続く（記憶なし）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入浴てんかん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ヒートショック・失神との見分け方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82880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鑑別ポイント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3120" y="960120"/>
            <a:ext cx="228600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960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入浴てんかん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960120"/>
            <a:ext cx="228600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960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ヒートショック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960120"/>
            <a:ext cx="246888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迷走神経反射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417320"/>
            <a:ext cx="18288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41732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再現性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03120" y="1417320"/>
            <a:ext cx="22860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2176272" y="141732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毎回ほぼ確実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1417320"/>
            <a:ext cx="22860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4462272" y="141732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寒暖差で時々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1417320"/>
            <a:ext cx="246888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6748272" y="141732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長湯で時々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1920240"/>
            <a:ext cx="1828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192024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けいれん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03120" y="1920240"/>
            <a:ext cx="22860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176272" y="19202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あり（多い）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9120" y="1920240"/>
            <a:ext cx="22860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462272" y="19202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通常なし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75120" y="1920240"/>
            <a:ext cx="24688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748272" y="192024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通常なし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2423160"/>
            <a:ext cx="18288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" y="242316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好発年齢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03120" y="2423160"/>
            <a:ext cx="22860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1" name="Text 29"/>
          <p:cNvSpPr/>
          <p:nvPr/>
        </p:nvSpPr>
        <p:spPr>
          <a:xfrm>
            <a:off x="2176272" y="242316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小児〜若年成人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89120" y="2423160"/>
            <a:ext cx="22860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3" name="Text 31"/>
          <p:cNvSpPr/>
          <p:nvPr/>
        </p:nvSpPr>
        <p:spPr>
          <a:xfrm>
            <a:off x="4462272" y="242316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高齢者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75120" y="2423160"/>
            <a:ext cx="246888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5" name="Text 33"/>
          <p:cNvSpPr/>
          <p:nvPr/>
        </p:nvSpPr>
        <p:spPr>
          <a:xfrm>
            <a:off x="6748272" y="242316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全年齢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" y="2926080"/>
            <a:ext cx="1828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347472" y="29260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意識回復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103120" y="2926080"/>
            <a:ext cx="22860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176272" y="29260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もうろう状態続く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389120" y="2926080"/>
            <a:ext cx="22860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462272" y="29260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比較的速い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675120" y="2926080"/>
            <a:ext cx="24688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748272" y="29260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横で速やかに回復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4320" y="3429000"/>
            <a:ext cx="18288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5" name="Text 43"/>
          <p:cNvSpPr/>
          <p:nvPr/>
        </p:nvSpPr>
        <p:spPr>
          <a:xfrm>
            <a:off x="347472" y="34290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自動症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103120" y="3429000"/>
            <a:ext cx="22860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7" name="Text 45"/>
          <p:cNvSpPr/>
          <p:nvPr/>
        </p:nvSpPr>
        <p:spPr>
          <a:xfrm>
            <a:off x="2176272" y="342900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口もぐもぐ等あり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389120" y="3429000"/>
            <a:ext cx="22860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9" name="Text 47"/>
          <p:cNvSpPr/>
          <p:nvPr/>
        </p:nvSpPr>
        <p:spPr>
          <a:xfrm>
            <a:off x="4462272" y="342900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なし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675120" y="3429000"/>
            <a:ext cx="246888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1" name="Text 49"/>
          <p:cNvSpPr/>
          <p:nvPr/>
        </p:nvSpPr>
        <p:spPr>
          <a:xfrm>
            <a:off x="6748272" y="342900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なし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74320" y="3931920"/>
            <a:ext cx="1828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347472" y="393192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脳波異常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103120" y="3931920"/>
            <a:ext cx="22860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2176272" y="393192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40%に異常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389120" y="3931920"/>
            <a:ext cx="22860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462272" y="393192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なし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675120" y="3931920"/>
            <a:ext cx="24688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748272" y="393192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なし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57200" y="4480560"/>
            <a:ext cx="8229600" cy="274320"/>
          </a:xfrm>
          <a:prstGeom prst="rect">
            <a:avLst>
              <a:gd name="adj" fmla="val 33333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57200" y="4480560"/>
            <a:ext cx="109728" cy="2743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2" name="Text 60"/>
          <p:cNvSpPr/>
          <p:nvPr/>
        </p:nvSpPr>
        <p:spPr>
          <a:xfrm>
            <a:off x="73152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「毎回」＋「けいれん」＋「もうろう状態」→ 入浴てんかんを疑う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入浴てんかん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診断 — どんな検査で分かる？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>
              <a:gd name="adj" fmla="val 100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144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🔑 最も重要なのは「詳細な問診」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発作と入浴の関連、湯温、発作の様子、熱性けいれんの既往、家族歴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68580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48840"/>
            <a:ext cx="109728" cy="6858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94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脳波検査（EEG）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194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てんかん性異常波の検出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2194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約40%に側頭部異常波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8229600" cy="68580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71800"/>
            <a:ext cx="109728" cy="68580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17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頭部MRI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3017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器質的脳病変の除外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35040" y="3017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多くの症例で正常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68580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94760"/>
            <a:ext cx="109728" cy="6858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ビデオ脳波モニタリング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74720" y="3840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入浴中の発作を記録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35040" y="3840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誘発試験で発作記録可能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182880"/>
          </a:xfrm>
          <a:prstGeom prst="rect">
            <a:avLst>
              <a:gd name="adj" fmla="val 50000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💡 脳波正常でもてんかんは否定できない → 発作時のスマホ動画が重要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入浴てんかん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 — まず湯温を下げる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274320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✅ 非薬物療法（第一歩）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湯温を 37〜38℃以下 に設定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これだけで消失する症例あり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入浴時間を 10分以内 に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シャワー浴に切り替え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頭から湯をかぶらない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109728" cy="2743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💊 薬物療法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カルバマゼピン（CBZ）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焦点性発作に有効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バルプロ酸（VPA）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全般性発作を伴う場合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クロバザム（CLB）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入浴前1〜2時間の頓用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229600" cy="731520"/>
          </a:xfrm>
          <a:prstGeom prst="rect">
            <a:avLst>
              <a:gd name="adj" fmla="val 12500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931920"/>
            <a:ext cx="109728" cy="73152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📈 予後は一般的に良好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15年間の長期フォローアップ研究で、多くの患者が成長とともに発作を卒業（自然寛解）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入浴てんかん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入浴中の発作を防ぐ — 7つの安全対策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45720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09728" cy="4572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05840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9784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🌡️ 湯温は38℃以下に設定する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490472"/>
            <a:ext cx="8229600" cy="45720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490472"/>
            <a:ext cx="109728" cy="4572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536192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150876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⏱️ 入浴時間は10分以内にする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8229600" cy="45720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020824"/>
            <a:ext cx="109728" cy="4572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066544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03911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💧 浴槽の湯量を減らす（半身浴程度）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2551176"/>
            <a:ext cx="8229600" cy="45720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51176"/>
            <a:ext cx="109728" cy="4572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596896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256946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🗣️ 入浴前に家族に声をかける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" y="3081528"/>
            <a:ext cx="8229600" cy="45720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081528"/>
            <a:ext cx="109728" cy="4572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3127248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309981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🔓 浴室の鍵をかけない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7200" y="3611880"/>
            <a:ext cx="8229600" cy="45720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611880"/>
            <a:ext cx="109728" cy="4572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3657600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8720" y="36301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🚿 シャワー浴を検討（椅子使用）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57200" y="4142232"/>
            <a:ext cx="8229600" cy="45720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142232"/>
            <a:ext cx="109728" cy="4572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4187952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88720" y="41605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不安定期は入浴を控える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入浴てんかん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入浴中に発作が起きたら — 緊急対応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68680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86868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188720"/>
            <a:ext cx="1097280" cy="365760"/>
          </a:xfrm>
          <a:prstGeom prst="rect">
            <a:avLst>
              <a:gd name="adj" fmla="val 12500"/>
            </a:avLst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112471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頭を水面の上に持ち上げる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20240" y="1508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まず気道を確保。顔が水に浸からないように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868680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57400"/>
            <a:ext cx="109728" cy="86868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194560"/>
            <a:ext cx="1097280" cy="365760"/>
          </a:xfrm>
          <a:prstGeom prst="rect">
            <a:avLst>
              <a:gd name="adj" fmla="val 12500"/>
            </a:avLst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213055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浴槽の栓を抜いて排水する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20240" y="25146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本人を持ち上げるのが難しければ、先に湯を抜く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868680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63240"/>
            <a:ext cx="109728" cy="86868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200400"/>
            <a:ext cx="1097280" cy="365760"/>
          </a:xfrm>
          <a:prstGeom prst="rect">
            <a:avLst>
              <a:gd name="adj" fmla="val 12500"/>
            </a:avLst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20240" y="313639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安全な場所に移す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920240" y="3520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意識回復後、ゆっくり浴槽から出す。無理は禁物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548640"/>
          </a:xfrm>
          <a:prstGeom prst="rect">
            <a:avLst>
              <a:gd name="adj" fmla="val 16667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114800"/>
            <a:ext cx="109728" cy="5486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330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🚑 119番を呼ぶ：発作5分以上 / 水を飲んだ / 意識戻らず / 初めての発作 / 怪我あり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入浴てんかん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02412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入浴てんかん = 入浴時に限って発作が起きる反射てんかん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0020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161848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2タイプ：熱水てんかん（温度）と浸水型（浸水行為）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9456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221284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ヒートショック・失神との鑑別が重要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822960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78892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28072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治療の第一歩は湯温を38℃以下に下げること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38328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97280" y="34015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予後は一般的に良好 — 多くの患者が発作を卒業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7764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7280" y="399592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溺水事故の予防が最優先 — 7つの安全対策を実践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371600" y="4617720"/>
            <a:ext cx="6400800" cy="137160"/>
          </a:xfrm>
          <a:prstGeom prst="rect">
            <a:avLst>
              <a:gd name="adj" fmla="val 66667"/>
            </a:avLst>
          </a:prstGeom>
          <a:solidFill>
            <a:srgbClr val="E885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入浴てんかん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0" y="155448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入浴中に繰り返し意識を失う場合は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脳神経内科を受診してください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チャンネル登録・高評価をお願いします！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🔔 通知ONで最新情報をお届け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～脳神経内科医がAIで紡ぐ最新医療情報～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お風呂で決まって意識を失う — 入浴てんかんの正体と安全対策</dc:title>
  <dc:subject>PptxGenJS Presentation</dc:subject>
  <dc:creator>今村久司</dc:creator>
  <cp:lastModifiedBy>今村久司</cp:lastModifiedBy>
  <cp:revision>1</cp:revision>
  <dcterms:created xsi:type="dcterms:W3CDTF">2026-04-13T16:24:47Z</dcterms:created>
  <dcterms:modified xsi:type="dcterms:W3CDTF">2026-04-13T16:24:47Z</dcterms:modified>
</cp:coreProperties>
</file>