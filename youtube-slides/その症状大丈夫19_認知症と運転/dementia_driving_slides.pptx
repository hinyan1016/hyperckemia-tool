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🚗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認知症と運転免許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家族が知っておくべき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制度と説得のコツ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親の運転が心配だが、どう伝えればよいかわからない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駐車が下手になった、道に迷うことが増えた気がする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😟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「まだ運転できる」と言い張って聞いてくれない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免許返納を勧めたいが、制度がよくわからない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免許を返したら生活が不便になるのでは、と心配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認知症と運転 ― なぜ危険？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安全な運転には、複数の脳機能が同時に働く必要があります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20624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記憶障害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道順を忘れる・駐車場所を忘れる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420624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3736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判断力の低下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飛び出しへの反応が遅れる・優先判断を誤る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20624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2588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空間認識の障害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車線変更を誤る・縁石に乗り上げる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420624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6324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1546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71500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注意力の分散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複数のことに同時対応できなくなる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548640"/>
          </a:xfrm>
          <a:prstGeom prst="rect">
            <a:avLst>
              <a:gd name="adj" fmla="val 1666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認知症と診断されていなくても、MCIの段階から運転リスクは上昇します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運転に必要な脳の機能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運転は「脳の総合テスト」― 多くの認知機能を同時に使います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注意・集中力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標識・歩行者・対向車を同時に把握する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脳領域: 前頭葉・頭頂葉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957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59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2459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7797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「曲がれるか」「止まるべきか」を瞬時に決める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脳領域: 前頭前野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455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95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7160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空間認識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5295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車の位置・距離・車線の幅を感じる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脳領域: 頭頂葉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953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593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371600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反応速度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危険を察知してブレーキを踏む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脳領域: 小脳・運動野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認知症の初期に現れる運転の変化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「まだ大丈夫」と本人が言っていても、こんな変化が出ていたら要注意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64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🅿️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07008" y="17647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駐車がうまくできない・縁石に乗り上げる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69164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764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96128" y="17647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いつも走る道なのに迷ってしまう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5176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249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07008" y="2724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信号を見落とす・一時停止を無視する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5176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7249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6128" y="2724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小さなこすり傷や接触が増えた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1188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850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07008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あおり運転や急ブレーキが増えた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611880"/>
            <a:ext cx="4206240" cy="804672"/>
          </a:xfrm>
          <a:prstGeom prst="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611880"/>
            <a:ext cx="109728" cy="80467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6850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96128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駐車した場所を忘れる・エンジンを切り忘れる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日本の制度 ― 75歳以上の免許更新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道路交通法（2022年改正）で75歳以上の運転者への規制が強化されました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7373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認知機能検査（更新時・3年ごと）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06654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時計の描写・記憶力テストなど。「第1分類」と判定されると医師の診断が必要になります。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70048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432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743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高齢者講習（75歳以上全員）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07238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実車評価を含む講習。運転技能を客観的に確認します。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75888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7490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749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運転技能検査（2022年改正で新設）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0782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過去3年間に一定の交通違反がある75歳以上は、合格しないと免許更新ができません。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45720"/>
          </a:xfrm>
          <a:prstGeom prst="rect">
            <a:avLst>
              <a:gd name="adj" fmla="val 20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臨時適性検査とは ― 診断後の手続き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認知症と診断された場合、医師には公安委員会への通知義務があります（2017年改正）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免許取り消しまでの流れ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194560"/>
            <a:ext cx="822960" cy="347472"/>
          </a:xfrm>
          <a:prstGeom prst="rect">
            <a:avLst>
              <a:gd name="adj" fmla="val 13158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1945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専門医が認知症（アルツハイマー型・レビー小体型など）と診断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724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61488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52928"/>
            <a:ext cx="822960" cy="347472"/>
          </a:xfrm>
          <a:prstGeom prst="rect">
            <a:avLst>
              <a:gd name="adj" fmla="val 13158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852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医師が都道府県公安委員会に診断内容を通知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19856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511296"/>
            <a:ext cx="822960" cy="347472"/>
          </a:xfrm>
          <a:prstGeom prst="rect">
            <a:avLst>
              <a:gd name="adj" fmla="val 13158"/>
            </a:avLst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112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0200" y="351129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公安委員会が臨時適性検査を実施（または医師に診断書を提出）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78224"/>
            <a:ext cx="109728" cy="5486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169664"/>
            <a:ext cx="822960" cy="347472"/>
          </a:xfrm>
          <a:prstGeom prst="rect">
            <a:avLst>
              <a:gd name="adj" fmla="val 13158"/>
            </a:avLst>
          </a:prstGeom>
          <a:solidFill>
            <a:srgbClr val="DC35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9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処分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00200" y="41696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認知症と確認されると免許取り消し・停止の行政処分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家族の対応 ― 説得のコツ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対立ではなく「一緒に考える」姿勢が鍵です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やること（推奨）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やらないこと（NG）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114800" cy="438912"/>
          </a:xfrm>
          <a:prstGeom prst="rect">
            <a:avLst>
              <a:gd name="adj" fmla="val 208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29968"/>
            <a:ext cx="109728" cy="4389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66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医師から直接伝えてもらう（医師の言葉は権威がある）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4114800" cy="438912"/>
          </a:xfrm>
          <a:prstGeom prst="rect">
            <a:avLst>
              <a:gd name="adj" fmla="val 208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51176"/>
            <a:ext cx="109728" cy="4389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87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具体的なエピソードで話す（「先日○○で…」）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4114800" cy="438912"/>
          </a:xfrm>
          <a:prstGeom prst="rect">
            <a:avLst>
              <a:gd name="adj" fmla="val 208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72384"/>
            <a:ext cx="109728" cy="4389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「家族が心配している」という気持ちを伝える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114800" cy="438912"/>
          </a:xfrm>
          <a:prstGeom prst="rect">
            <a:avLst>
              <a:gd name="adj" fmla="val 208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93592"/>
            <a:ext cx="109728" cy="4389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630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免許返納後の生活サポートを先に提示する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114800" cy="438912"/>
          </a:xfrm>
          <a:prstGeom prst="rect">
            <a:avLst>
              <a:gd name="adj" fmla="val 208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14800"/>
            <a:ext cx="109728" cy="4389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地域の返納支援制度を一緒に調べる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29968"/>
            <a:ext cx="4114800" cy="438912"/>
          </a:xfrm>
          <a:prstGeom prst="rect">
            <a:avLst>
              <a:gd name="adj" fmla="val 208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029968"/>
            <a:ext cx="109728" cy="43891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2066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「あなたは認知症だから」と病名で攻める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551176"/>
            <a:ext cx="4114800" cy="438912"/>
          </a:xfrm>
          <a:prstGeom prst="rect">
            <a:avLst>
              <a:gd name="adj" fmla="val 208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51176"/>
            <a:ext cx="109728" cy="43891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2587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感情的に怒鳴ったり責める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072384"/>
            <a:ext cx="4114800" cy="438912"/>
          </a:xfrm>
          <a:prstGeom prst="rect">
            <a:avLst>
              <a:gd name="adj" fmla="val 208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72384"/>
            <a:ext cx="109728" cy="43891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頭ごなしに「絶対ダメ」と禁止する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593592"/>
            <a:ext cx="4114800" cy="438912"/>
          </a:xfrm>
          <a:prstGeom prst="rect">
            <a:avLst>
              <a:gd name="adj" fmla="val 208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593592"/>
            <a:ext cx="109728" cy="43891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3630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一度の会話で決めようとする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4114800"/>
            <a:ext cx="4114800" cy="438912"/>
          </a:xfrm>
          <a:prstGeom prst="rect">
            <a:avLst>
              <a:gd name="adj" fmla="val 208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4114800"/>
            <a:ext cx="109728" cy="43891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8" name="Text 36"/>
          <p:cNvSpPr/>
          <p:nvPr/>
        </p:nvSpPr>
        <p:spPr>
          <a:xfrm>
            <a:off x="5010912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本人の尊厳を傷つける言い方をする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運転をやめた後の生活支援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「車がないと生活できない」は今や過去の話 ― 代替手段を一緒に整えましょう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98448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タクシー助成券・乗車クーポン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19568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多くの市区町村が高齢者向けに補助。免許返納者は特典を受けられることも。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76856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22576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コミュニティバス・デマンド交通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25694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地域の乗合サービス。予約制で自宅付近まで来てくれる地域も増加。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9504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35224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98448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買い物・食事の宅配サービス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31821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スーパーの宅配・食材キット・弁当配送。日常の買い物困難を解決。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02152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47872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98448" y="3538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家族・近隣とのサポート体制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37947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定期的な送迎の役割分担。「○曜日は私が送る」の明示が重要。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14800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98448" y="4151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移動支援アプリ・シニア向け交通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98448" y="44074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Uber・乗合タクシーアプリ。自治体のシニア向けライドシェアも各地で普及中。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70432"/>
          </a:xfrm>
          <a:prstGeom prst="rect">
            <a:avLst>
              <a:gd name="adj" fmla="val 781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117043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0332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すぐに受診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3807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逆走・信号無視など重大な交通違反があった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63677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事故を起こしたが本人が覚えていない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帰宅できずに警察に保護された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1170432"/>
          </a:xfrm>
          <a:prstGeom prst="rect">
            <a:avLst>
              <a:gd name="adj" fmla="val 7813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58568"/>
            <a:ext cx="109728" cy="1170432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3317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" y="26791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小さな接触事故・こすり傷が増えてきた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29352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いつもの道で迷うことが複数回あった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1912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家族が運転に同乗して不安を感じた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8229600" cy="1170432"/>
          </a:xfrm>
          <a:prstGeom prst="rect">
            <a:avLst>
              <a:gd name="adj" fmla="val 781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57016"/>
            <a:ext cx="109728" cy="117043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6301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かかりつけ医に相談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" y="39776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駐車が少し下手になった気がする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42336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標識への反応が遅くなった（同乗者の感覚）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4897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本人が「運転が怖い」と言い始めた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早期発見のためにできること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認知症は早期発見・早期対応で進行を遅らせることができます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282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53312" y="1728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かかりつけ医への相談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53312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「物忘れが気になる」と伝えるだけでOK。血液検査・簡単な認知機能テスト（MMSE・HDS-R）を受けられます。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1401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780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もの忘れ外来・神経内科の受診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53312" y="27614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専門医によるMRI・神経心理検査で認知症の種類と程度を詳しく評価します。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6382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278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53312" y="3227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認知機能のセルフチェック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53312" y="35112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「認知症チェックリスト」は市区町村や厚生労働省のサイトで無料公開。まず自分でチェック。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1363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53312" y="3977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家族が気になることをメモする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53312" y="42611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「いつから、どんなこと」を具体的に記録して受診時に持参すると診断がスムーズです。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078992"/>
          </a:xfrm>
          <a:prstGeom prst="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87552"/>
            <a:ext cx="109728" cy="107899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15568"/>
            <a:ext cx="50292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078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認知症は運転能力に直接影響する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98448" y="14447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記憶・判断・空間認識・反応速度が低下し、事故リスクが高まります。MCI段階からリスクは上昇します。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1078992"/>
          </a:xfrm>
          <a:prstGeom prst="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21992"/>
            <a:ext cx="109728" cy="107899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50008"/>
            <a:ext cx="502920" cy="502920"/>
          </a:xfrm>
          <a:prstGeom prst="rect">
            <a:avLst>
              <a:gd name="adj" fmla="val 14545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8448" y="2313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制度を知ることが家族の力になる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98448" y="26791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75歳以上の認知機能検査・臨時適性検査・免許取り消し制度を把握し、「本人だけの問題」にしない。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8229600" cy="1078992"/>
          </a:xfrm>
          <a:prstGeom prst="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56432"/>
            <a:ext cx="109728" cy="107899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584448"/>
            <a:ext cx="502920" cy="502920"/>
          </a:xfrm>
          <a:prstGeom prst="rect">
            <a:avLst>
              <a:gd name="adj" fmla="val 14545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98448" y="3547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対立せず、代替案を示しながら説得を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98448" y="39136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医師の力を借り、生活支援を先に提示する。免許返納後も「生活できる」と見せることが鍵です。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15568"/>
            <a:ext cx="6400800" cy="0"/>
          </a:xfrm>
          <a:prstGeom prst="line">
            <a:avLst/>
          </a:prstGeom>
          <a:noFill/>
          <a:ln w="19050">
            <a:solidFill>
              <a:srgbClr val="E885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98448"/>
            <a:ext cx="7315200" cy="1234440"/>
          </a:xfrm>
          <a:prstGeom prst="rect">
            <a:avLst>
              <a:gd name="adj" fmla="val 7407"/>
            </a:avLst>
          </a:prstGeom>
          <a:solidFill>
            <a:srgbClr val="1E2D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 #20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脳ドックは受けるべき？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検査の意味と結果の活かし方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チャンネル登録・高評価をよろしくお願いします！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概要欄にブログ記事・参考文献リンクを掲載しています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【その症状、大丈夫？#19】認知症と運転免許 ― 家族が知っておくべき制度と説得のコツ</dc:title>
  <dc:subject>PptxGenJS Presentation</dc:subject>
  <dc:creator>今村久司</dc:creator>
  <cp:lastModifiedBy>今村久司</cp:lastModifiedBy>
  <cp:revision>1</cp:revision>
  <dcterms:created xsi:type="dcterms:W3CDTF">2026-04-14T09:31:27Z</dcterms:created>
  <dcterms:modified xsi:type="dcterms:W3CDTF">2026-04-14T09:31:27Z</dcterms:modified>
</cp:coreProperties>
</file>