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🧠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脳ドックは受けるべき？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286000" y="210312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検査の意味と結果の活かし方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その症状、大丈夫？ #20（最終回）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～脳神経内科医がAIで紡ぐ最新医療情報～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こんな経験、ありませんか？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1051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脳ドックを受けてみたいが、本当に必要か迷っている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19072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64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😰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17647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脳梗塞や脳腫瘍が心配で、「何か見つかったら…」と怖い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432304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432304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4780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👨‍👩‍👦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63040" y="247802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親が脳梗塞になった。自分も受けるべき？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145536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45536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19125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463040" y="319125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費用が高そうで、どこで受ければいいかわからない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858768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044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463040" y="39044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「異常あり」と言われたら、どうすればいいの？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脳ドックとは ― 何を調べる？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02920"/>
          </a:xfrm>
          <a:prstGeom prst="rect">
            <a:avLst>
              <a:gd name="adj" fmla="val 18182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789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症状がなくても脳・血管の異常を画像で早期発見する検査です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20624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37360"/>
            <a:ext cx="109728" cy="11430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25880" y="1828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MRI（脳）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194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脳の断面を磁気で撮影。脳梗塞・腫瘍・萎縮・白質病変を検出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737360"/>
            <a:ext cx="420624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737360"/>
            <a:ext cx="109728" cy="11430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8288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🩸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715000" y="1828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MRA（脳血管）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0" y="2194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脳の動脈を3Dで描出。脳動脈瘤・狭窄・閉塞を確認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420624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54680"/>
            <a:ext cx="109728" cy="11430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461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🫀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325880" y="3246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頸動脈超音波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611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頸部の動脈の狭窄・動脈硬化プラークをリアルタイムで評価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3154680"/>
            <a:ext cx="420624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154680"/>
            <a:ext cx="109728" cy="11430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2461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715000" y="3246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血液検査・血圧測定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15000" y="3611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脳卒中リスクとなる糖尿病・脂質異常・高血圧を評価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脳ドックでわかること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>
              <a:gd name="adj" fmla="val 2000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457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無症状でも発見されることがある主な異常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8229600" cy="521208"/>
          </a:xfrm>
          <a:prstGeom prst="rect">
            <a:avLst>
              <a:gd name="adj" fmla="val 1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64208"/>
            <a:ext cx="109728" cy="521208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💥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17007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未破裂脳動脈瘤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1938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発見率：2〜3%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0" y="17556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くも膜下出血の原因。大きさや形で経過観察か治療かを判断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21208"/>
          </a:xfrm>
          <a:prstGeom prst="rect">
            <a:avLst>
              <a:gd name="adj" fmla="val 1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76856"/>
            <a:ext cx="109728" cy="521208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22576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2313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無症候性脳梗塞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25511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発見率：約10%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3682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気づかないうちに起きた小さな脳梗塞。将来の脳卒中リスク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889504"/>
            <a:ext cx="8229600" cy="521208"/>
          </a:xfrm>
          <a:prstGeom prst="rect">
            <a:avLst>
              <a:gd name="adj" fmla="val 1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89504"/>
            <a:ext cx="109728" cy="521208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35224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⬜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29260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白質病変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31638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発見率：加齢で増加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29809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脳の白い部分の変化。高血圧・動脈硬化と関連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502152"/>
            <a:ext cx="8229600" cy="521208"/>
          </a:xfrm>
          <a:prstGeom prst="rect">
            <a:avLst>
              <a:gd name="adj" fmla="val 1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502152"/>
            <a:ext cx="109728" cy="521208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547872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234440" y="35387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脳萎縮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34440" y="3776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発見率：加齢で進行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31920" y="35935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認知症の早期サインになることもある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8229600" cy="521208"/>
          </a:xfrm>
          <a:prstGeom prst="rect">
            <a:avLst>
              <a:gd name="adj" fmla="val 1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114800"/>
            <a:ext cx="109728" cy="521208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160520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🫀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234440" y="41513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頸動脈狭窄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34440" y="4389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発見率：リスクで変動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931920" y="4206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脳への血流障害のリスク。動脈硬化の指標にもなる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脳ドックを受けるべき人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02920"/>
          </a:xfrm>
          <a:prstGeom prst="rect">
            <a:avLst>
              <a:gd name="adj" fmla="val 18182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502920"/>
          </a:xfrm>
          <a:prstGeom prst="rect">
            <a:avLst>
              <a:gd name="adj" fmla="val 41667"/>
            </a:avLst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789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特にリスクが高い方は積極的に検討しましょう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受けるべきリスク因子（当てはまる方は受診推奨）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420624"/>
          </a:xfrm>
          <a:prstGeom prst="rect">
            <a:avLst>
              <a:gd name="adj" fmla="val 21739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109728" cy="420624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4825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04825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40歳以上（特に50〜60代）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420624"/>
          </a:xfrm>
          <a:prstGeom prst="rect">
            <a:avLst>
              <a:gd name="adj" fmla="val 21739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14600"/>
            <a:ext cx="109728" cy="420624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511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👨‍👩‍👦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255117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家族に脳卒中・脳動脈瘤の人がいる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420624"/>
          </a:xfrm>
          <a:prstGeom prst="rect">
            <a:avLst>
              <a:gd name="adj" fmla="val 21739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109728" cy="420624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540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305409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高血圧・糖尿病・脂質異常症がある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420624"/>
          </a:xfrm>
          <a:prstGeom prst="rect">
            <a:avLst>
              <a:gd name="adj" fmla="val 21739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520440"/>
            <a:ext cx="109728" cy="420624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55701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🚬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34440" y="355701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喫煙習慣がある、または長年あった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7200" y="4096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受診時期の目安（リスクが低い方）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4074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✅ 定期的な健康診断で異常なし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44074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🏃 生活習慣が整っている若年者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4074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😌 「安心したい」だけの場合も選択肢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脳ドックの費用と受診頻度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206240" cy="457200"/>
          </a:xfrm>
          <a:prstGeom prst="rect">
            <a:avLst>
              <a:gd name="adj" fmla="val 20000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45720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💴 費用の目安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420624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27632"/>
            <a:ext cx="109728" cy="5029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7335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基本コース：3〜5万円（自費）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420624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21992"/>
            <a:ext cx="109728" cy="5029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6771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簡易コース：1〜2万円のところも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16352"/>
            <a:ext cx="420624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16352"/>
            <a:ext cx="109728" cy="5029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86207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健康保険は原則適用されない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10712"/>
            <a:ext cx="420624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10712"/>
            <a:ext cx="109728" cy="5029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4564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自治体の助成制度を活用しよう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005072"/>
            <a:ext cx="420624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005072"/>
            <a:ext cx="109728" cy="5029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0507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企業健診の一環として実施も増加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4206240" cy="457200"/>
          </a:xfrm>
          <a:prstGeom prst="rect">
            <a:avLst>
              <a:gd name="adj" fmla="val 2000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05840"/>
            <a:ext cx="109728" cy="457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📅 受診頻度の目安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54880" y="1627632"/>
            <a:ext cx="420624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627632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167335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初回：まず1回受けて基準値を把握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2221992"/>
            <a:ext cx="420624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221992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226771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リスクなし：2〜3年に1回が目安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2816352"/>
            <a:ext cx="420624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816352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286207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リスクあり：1〜2年に1回を推奨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754880" y="3410712"/>
            <a:ext cx="420624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410712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34564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異常あり後：主治医の指示に従う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54880" y="4005072"/>
            <a:ext cx="420624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4005072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39" name="Text 37"/>
          <p:cNvSpPr/>
          <p:nvPr/>
        </p:nvSpPr>
        <p:spPr>
          <a:xfrm>
            <a:off x="4983480" y="40507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毎年は不要なことが多い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57200" y="4572000"/>
            <a:ext cx="8229600" cy="274320"/>
          </a:xfrm>
          <a:prstGeom prst="rect">
            <a:avLst>
              <a:gd name="adj" fmla="val 33333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" y="4572000"/>
            <a:ext cx="109728" cy="27432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" y="459943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💡 自治体によっては補助金・クーポンあり。まず市区町村の窓口に問い合わせを！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「異常あり」と言われたら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02920"/>
          </a:xfrm>
          <a:prstGeom prst="rect">
            <a:avLst>
              <a:gd name="adj" fmla="val 18182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502920"/>
          </a:xfrm>
          <a:prstGeom prst="rect">
            <a:avLst>
              <a:gd name="adj" fmla="val 41667"/>
            </a:avLst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789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「異常あり」＝「すぐ手術・すぐ入院」ではありません。まず主治医に相談を。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521208"/>
          </a:xfrm>
          <a:prstGeom prst="rect">
            <a:avLst>
              <a:gd name="adj" fmla="val 17544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109728" cy="521208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282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未破裂脳動脈瘤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46120" y="172821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サイズ・形・部位により経過観察 or 治療。専門医受診が必須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8229600" cy="521208"/>
          </a:xfrm>
          <a:prstGeom prst="rect">
            <a:avLst>
              <a:gd name="adj" fmla="val 17544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04288"/>
            <a:ext cx="109728" cy="521208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408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無症候性脳梗塞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234086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危険因子（血圧・血糖・脂質）の管理が最優先。抗血小板薬を検討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16936"/>
            <a:ext cx="8229600" cy="521208"/>
          </a:xfrm>
          <a:prstGeom prst="rect">
            <a:avLst>
              <a:gd name="adj" fmla="val 17544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16936"/>
            <a:ext cx="109728" cy="521208"/>
          </a:xfrm>
          <a:prstGeom prst="rect">
            <a:avLst>
              <a:gd name="adj" fmla="val 41667"/>
            </a:avLst>
          </a:prstGeom>
          <a:solidFill>
            <a:srgbClr val="F5C51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953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白質病変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46120" y="29535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軽度なら経過観察。血圧・血糖を適切にコントロールすることが重要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529584"/>
            <a:ext cx="8229600" cy="521208"/>
          </a:xfrm>
          <a:prstGeom prst="rect">
            <a:avLst>
              <a:gd name="adj" fmla="val 17544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29584"/>
            <a:ext cx="109728" cy="521208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頸動脈狭窄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46120" y="3566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狭窄度により内科治療 or 外科的治療。専門科（脳神経内科・外科）へ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42232"/>
            <a:ext cx="8229600" cy="521208"/>
          </a:xfrm>
          <a:prstGeom prst="rect">
            <a:avLst>
              <a:gd name="adj" fmla="val 17544"/>
            </a:avLst>
          </a:prstGeom>
          <a:solidFill>
            <a:srgbClr val="EEEEE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142232"/>
            <a:ext cx="109728" cy="521208"/>
          </a:xfrm>
          <a:prstGeom prst="rect">
            <a:avLst>
              <a:gd name="adj" fmla="val 41667"/>
            </a:avLst>
          </a:prstGeom>
          <a:solidFill>
            <a:srgbClr val="636E72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178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脳萎縮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46120" y="417880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程度・年齢によって異なる。認知機能低下を伴う場合は専門医へ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未破裂脳動脈瘤と言われたら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02920"/>
          </a:xfrm>
          <a:prstGeom prst="rect">
            <a:avLst>
              <a:gd name="adj" fmla="val 18182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789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発見された＝すぐ破裂するわけではない。「大きさ」と「部位」が最重要です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023360" cy="146304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109728" cy="146304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37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✅ 経過観察が基本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1579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直径 5mm 未満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414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症状なし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後方循環以外の部位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破裂リスク年 0.5〜1%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4023360" cy="146304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691640"/>
            <a:ext cx="109728" cy="14630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737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治療を検討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21579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直径 5〜7mm 以上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414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不整形・多房性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670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後交通動脈・前交通動脈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増大が確認された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8229600" cy="530352"/>
          </a:xfrm>
          <a:prstGeom prst="rect">
            <a:avLst>
              <a:gd name="adj" fmla="val 17241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337560"/>
            <a:ext cx="109728" cy="530352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3741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🔧 開頭クリッピング術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31920" y="33741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頭を開けて動脈瘤の根元を金属クリップで止める手術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8229600" cy="530352"/>
          </a:xfrm>
          <a:prstGeom prst="rect">
            <a:avLst>
              <a:gd name="adj" fmla="val 17241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959352"/>
            <a:ext cx="109728" cy="530352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9959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🔧 コイル塞栓術（血管内治療）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31920" y="39959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カテーテルを使って動脈瘤内にコイルを詰めて閉塞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脳ドックの限界 ― 万能ではありません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02920"/>
          </a:xfrm>
          <a:prstGeom prst="rect">
            <a:avLst>
              <a:gd name="adj" fmla="val 18182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5029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789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脳ドックは「安心のための全額保証」ではありません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8229600" cy="621792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19072"/>
            <a:ext cx="109728" cy="621792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922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❌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98448" y="17739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すべての異常を検出できるわけではない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0482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極小の動脈瘤・初期のがん・脳炎などは見逃すことも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41448"/>
            <a:ext cx="8229600" cy="621792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41448"/>
            <a:ext cx="109728" cy="621792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😰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98448" y="24963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偽陽性による不必要な不安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98448" y="27706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「加齢変化」を過剰解釈して心配しすぎる可能性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163824"/>
            <a:ext cx="8229600" cy="621792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63824"/>
            <a:ext cx="109728" cy="621792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369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98448" y="32186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受けたら終わりではない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98448" y="34930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脳ドックはスクリーニング。その後の生活習慣改善がなければ意味は薄い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621792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86200"/>
            <a:ext cx="109728" cy="621792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593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298448" y="394106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費用対効果は人によって異なる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98448" y="42153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リスク因子のない若年者では費用に見合わない場合も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受診の目安 ― 脳ドック vs 症状受診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65760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36576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789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🏥 脳ドックを検討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517904"/>
            <a:ext cx="4023360" cy="521208"/>
          </a:xfrm>
          <a:prstGeom prst="rect">
            <a:avLst>
              <a:gd name="adj" fmla="val 17544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17904"/>
            <a:ext cx="109728" cy="521208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5544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症状は特にないが心配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30552"/>
            <a:ext cx="4023360" cy="521208"/>
          </a:xfrm>
          <a:prstGeom prst="rect">
            <a:avLst>
              <a:gd name="adj" fmla="val 17544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30552"/>
            <a:ext cx="109728" cy="521208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671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40歳以上で初めて受ける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23360" cy="521208"/>
          </a:xfrm>
          <a:prstGeom prst="rect">
            <a:avLst>
              <a:gd name="adj" fmla="val 17544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43200"/>
            <a:ext cx="109728" cy="521208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77977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家族に脳卒中・動脈瘤歴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55848"/>
            <a:ext cx="4023360" cy="521208"/>
          </a:xfrm>
          <a:prstGeom prst="rect">
            <a:avLst>
              <a:gd name="adj" fmla="val 17544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355848"/>
            <a:ext cx="109728" cy="521208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39242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高血圧・糖尿病・喫煙あり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968496"/>
            <a:ext cx="4023360" cy="521208"/>
          </a:xfrm>
          <a:prstGeom prst="rect">
            <a:avLst>
              <a:gd name="adj" fmla="val 17544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68496"/>
            <a:ext cx="109728" cy="521208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00507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定期的な健康チェックとして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4023360" cy="365760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005840"/>
            <a:ext cx="109728" cy="36576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0789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🚨 すぐに受診（症状あり）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63440" y="1517904"/>
            <a:ext cx="4023360" cy="521208"/>
          </a:xfrm>
          <a:prstGeom prst="rect">
            <a:avLst>
              <a:gd name="adj" fmla="val 17544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517904"/>
            <a:ext cx="109728" cy="521208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15544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！ 突然の激しい頭痛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2130552"/>
            <a:ext cx="4023360" cy="521208"/>
          </a:xfrm>
          <a:prstGeom prst="rect">
            <a:avLst>
              <a:gd name="adj" fmla="val 17544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130552"/>
            <a:ext cx="109728" cy="521208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21671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！ 手足のしびれ・脱力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663440" y="2743200"/>
            <a:ext cx="4023360" cy="521208"/>
          </a:xfrm>
          <a:prstGeom prst="rect">
            <a:avLst>
              <a:gd name="adj" fmla="val 17544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743200"/>
            <a:ext cx="109728" cy="521208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33" name="Text 31"/>
          <p:cNvSpPr/>
          <p:nvPr/>
        </p:nvSpPr>
        <p:spPr>
          <a:xfrm>
            <a:off x="4864608" y="277977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！ ろれつが回らない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663440" y="3355848"/>
            <a:ext cx="4023360" cy="521208"/>
          </a:xfrm>
          <a:prstGeom prst="rect">
            <a:avLst>
              <a:gd name="adj" fmla="val 17544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355848"/>
            <a:ext cx="109728" cy="521208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36" name="Text 34"/>
          <p:cNvSpPr/>
          <p:nvPr/>
        </p:nvSpPr>
        <p:spPr>
          <a:xfrm>
            <a:off x="4864608" y="339242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！ 片側の視野が欠ける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663440" y="3968496"/>
            <a:ext cx="4023360" cy="521208"/>
          </a:xfrm>
          <a:prstGeom prst="rect">
            <a:avLst>
              <a:gd name="adj" fmla="val 17544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968496"/>
            <a:ext cx="109728" cy="521208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39" name="Text 37"/>
          <p:cNvSpPr/>
          <p:nvPr/>
        </p:nvSpPr>
        <p:spPr>
          <a:xfrm>
            <a:off x="4864608" y="400507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！ 意識がもうろうとする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脳を守る日常習慣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02920"/>
          </a:xfrm>
          <a:prstGeom prst="rect">
            <a:avLst>
              <a:gd name="adj" fmla="val 18182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50292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789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脳ドックより大切なのは、脳卒中リスクを下げる毎日の習慣です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521208"/>
          </a:xfrm>
          <a:prstGeom prst="rect">
            <a:avLst>
              <a:gd name="adj" fmla="val 1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109728" cy="521208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37360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17282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血圧管理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7647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収縮期血圧 130mmHg 未満が目標。自宅での血圧測定が重要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8229600" cy="521208"/>
          </a:xfrm>
          <a:prstGeom prst="rect">
            <a:avLst>
              <a:gd name="adj" fmla="val 1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04288"/>
            <a:ext cx="109728" cy="521208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50008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🏃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23408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有酸素運動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23774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週150分以上の中強度運動（ウォーキング等）で脳卒中リスクが低下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521208"/>
          </a:xfrm>
          <a:prstGeom prst="rect">
            <a:avLst>
              <a:gd name="adj" fmla="val 1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16936"/>
            <a:ext cx="109728" cy="521208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62656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🚭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34440" y="2953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禁煙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83280" y="29900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喫煙は脳卒中リスクを2〜4倍に。禁煙外来の活用を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529584"/>
            <a:ext cx="8229600" cy="521208"/>
          </a:xfrm>
          <a:prstGeom prst="rect">
            <a:avLst>
              <a:gd name="adj" fmla="val 1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529584"/>
            <a:ext cx="109728" cy="521208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575304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🥗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34440" y="35661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食事の見直し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383280" y="36027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減塩・野菜・魚中心。DASH食・地中海食を参考に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142232"/>
            <a:ext cx="8229600" cy="521208"/>
          </a:xfrm>
          <a:prstGeom prst="rect">
            <a:avLst>
              <a:gd name="adj" fmla="val 1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142232"/>
            <a:ext cx="109728" cy="521208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87952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234440" y="41788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認知活動・社会参加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383280" y="421538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読書・会話・趣味。脳への刺激が認知症予防につながる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>
              <a:gd name="adj" fmla="val 2000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457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今日の3つのポイント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8229600" cy="896112"/>
          </a:xfrm>
          <a:prstGeom prst="rect">
            <a:avLst>
              <a:gd name="adj" fmla="val 10204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64208"/>
            <a:ext cx="109728" cy="896112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64208"/>
            <a:ext cx="658368" cy="896112"/>
          </a:xfrm>
          <a:prstGeom prst="rect">
            <a:avLst>
              <a:gd name="adj" fmla="val 6944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64208"/>
            <a:ext cx="658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34440" y="171907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脳ドックは「リスクのある人」が効果的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066544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40歳以上・家族歴・高血圧・糖尿病・喫煙がある方は積極的に受検を。リスクが低い方も「基準値を知る」ために1回受けるのは有益。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8229600" cy="896112"/>
          </a:xfrm>
          <a:prstGeom prst="rect">
            <a:avLst>
              <a:gd name="adj" fmla="val 10204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70048"/>
            <a:ext cx="109728" cy="896112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670048"/>
            <a:ext cx="658368" cy="896112"/>
          </a:xfrm>
          <a:prstGeom prst="rect">
            <a:avLst>
              <a:gd name="adj" fmla="val 6944"/>
            </a:avLst>
          </a:prstGeom>
          <a:solidFill>
            <a:srgbClr val="E8850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70048"/>
            <a:ext cx="658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34440" y="272491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「異常あり」でも慌てない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072384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未破裂脳動脈瘤も無症候性脳梗塞も、すぐに命に直結するものは少ない。専門医と相談してから治療方針を決めるのが基本。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75888"/>
            <a:ext cx="8229600" cy="896112"/>
          </a:xfrm>
          <a:prstGeom prst="rect">
            <a:avLst>
              <a:gd name="adj" fmla="val 10204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75888"/>
            <a:ext cx="109728" cy="896112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675888"/>
            <a:ext cx="658368" cy="896112"/>
          </a:xfrm>
          <a:prstGeom prst="rect">
            <a:avLst>
              <a:gd name="adj" fmla="val 6944"/>
            </a:avLst>
          </a:prstGeom>
          <a:solidFill>
            <a:srgbClr val="28A74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75888"/>
            <a:ext cx="658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234440" y="37307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最大の脳卒中予防は毎日の習慣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4078224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血圧管理・禁煙・運動・食事改善が脳卒中リスクを大幅に下げる。脳ドックはあくまで現状把握ツール。その後の行動が大切。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🧠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シリーズ全20回</a:t>
            </a:r>
            <a:endParaRPr lang="en-US" sz="3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371600" y="2103120"/>
            <a:ext cx="64008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「その症状、大丈夫？」シリーズ完結！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#01〜#20まで、脳や神経にまつわる症状・病気を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脳神経内科医がわかりやすく解説してきました。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54787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チャンネル登録・高評価をよろしくお願いします！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引き続き医知創造ラボをよろしくお願いします。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～脳神経内科医がAIで紡ぐ最新医療情報～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【その症状、大丈夫？#20】脳ドックは受けるべき？ ― 検査の意味と結果の活かし方</dc:title>
  <dc:subject>PptxGenJS Presentation</dc:subject>
  <dc:creator>今村久司</dc:creator>
  <cp:lastModifiedBy>今村久司</cp:lastModifiedBy>
  <cp:revision>1</cp:revision>
  <dcterms:created xsi:type="dcterms:W3CDTF">2026-04-14T09:40:40Z</dcterms:created>
  <dcterms:modified xsi:type="dcterms:W3CDTF">2026-04-14T09:40:40Z</dcterms:modified>
</cp:coreProperties>
</file>