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降圧薬シリーズ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ミネブロ（エサキセレノン）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MRA4剤比較と臨床での使い分け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非ステロイド型MRA  |  </a:t>
            </a:r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ESAX-HTN / ESAX-DN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アルドステロンの多面的作用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アルドステロンとは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副腎皮質から分泌される
ミネラルコルチコイドホルモン
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腎臓での作用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MR受容体に結合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Na再吸収 </a:t>
            </a:r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↑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+ K排泄 </a:t>
            </a:r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↑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循環血液量↑ →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血圧上昇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臓器障害への関与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心筋線維化 → 心肥大・拡張障害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3317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血管炎症・リモデリング → 動脈硬化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0632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メサンギウム増殖・硬化 → CKD進行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79476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アルドステロンブレイクスルー
</a:t>
            </a:r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RAS阻害下でもアルドステロンが再上昇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MRA（ミネラルコルチコイド受容体拮抗薬）の世代分類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554480"/>
                <a:gridCol w="1280160"/>
                <a:gridCol w="91440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世代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商品名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一般名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構造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承認年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適応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第1世代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アルダクトンA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スピロノラクトン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ステロイド型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1978年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高血圧・心不全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原発性アルドステロン症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第2世代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セララ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エプレレノン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ステロイド型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2007年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高血圧・心不全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第3世代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ミネブロ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エサキセレノン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非ステロイド型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2019年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高血圧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第3世代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ケレンディア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フィネレノン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非ステロイド型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2022年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CKD(2型DM)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心不全(2025年追加)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非ステロイド型MRAの利点：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ステロイド骨格を持たないため、スピロノラクトンで問題となった</a:t>
            </a:r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女性化乳房・月経異常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などの性ホルモン関連副作用を回避できる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ミネブロ（エサキセレノン）の薬理プロファイル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薬物動態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半減期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約18.6時間（1日1回投与）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Tmax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2〜3時間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89%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主にCYP3A（酸化）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食事影響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臨床上の強み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554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非ステロイド型 → 性ホルモン副作用なし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中等度腎機能障害にも使用可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DM+アルブミン尿の高血圧にも使用可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651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CYP3A4強力阻害薬との併用禁忌なし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017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2.5mg ≒ エプレレノン50mg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18872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患者群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開始用量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最大用量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備考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通常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2.5mg 1日1回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5mg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効果不十分時に増量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中等度腎機能障害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(eGFR 30-60)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1.25mg 1日1回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2.5mg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4週以降に増量可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DM+アルブミン尿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1.25mg 1日1回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2.5mg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K値頻回モニタリング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MRA4剤 完全比較表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アルダクトンA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スピロノラクトン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セララ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エプレレノン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ミネブロ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エサキセレノン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ケレンディア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フィネレノン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構造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ステロイド型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ステロイド型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非ステロイド型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非ステロイド型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適応症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高血圧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心不全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原発性アルド症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高血圧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心不全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高血圧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CKD(2型DM)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心不全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降圧力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強い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中等度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強い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弱い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(3-7mmHg)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半減期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活性代謝物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16.5h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4-6h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18.6h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2-3h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腎機能制限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重度で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慎重投与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CCr&lt;50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禁忌(HT)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850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eGFR&lt;30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850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禁忌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CKD制限なし</a:t>
                      </a:r>
                      <a:endParaRPr lang="en-US" sz="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HF:eGFR&lt;25禁忌</a:t>
                      </a:r>
                      <a:endParaRPr lang="en-US" sz="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DM+腎症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使用可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禁忌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使用可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(1.25mg開始)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適応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性ホルモン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副作用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あり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まれ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なし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なし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ESAX-HTN試験 ― 本態性高血圧における降圧効果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試験デザイン：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無作為化二重盲検実薬対照第3相試験  |  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本態性高血圧 1,001例  |  12週間
</a:t>
            </a:r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3群：エサキセレノン2.5mg / 5mg / エプレレノン50mg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群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座位収縮期血圧変化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判定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エサキセレノン 2.5mg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-13.7 mmHg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非劣性達成 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エサキセレノン 5mg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-14.3 mmHg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優越性達成 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エプレレノン 50mg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36E7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-12.4 mmHg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Point：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ミネブロ2.5mgはエプレレノン50mgと同等以上の降圧効果。24時間持続的な降圧を実現。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Ito S, et al. Hypertension. 2020;75(1):51-58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ESAX-DN試験 ― 糖尿病性腎症におけるアルブミン尿改善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試験デザイン：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プラセボ対照二重盲検比較試験  |  2型DM+微量アルブミン尿 455例  |  52週間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40233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主要結果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UACR寛解率（主要評価項目）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エサキセレノン </a:t>
            </a:r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22%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vs  プラセボ </a:t>
            </a:r>
            <a:pPr indent="0" marL="0">
              <a:buNone/>
            </a:pPr>
            <a:r>
              <a:rPr lang="en-US" sz="22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&lt; 0.001  |  絶対差 18%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UACR変化率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エサキセレノン </a:t>
            </a:r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-58%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vs  プラセボ </a:t>
            </a:r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11680"/>
            <a:ext cx="40233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高カリウム血症発現率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エサキセレノン </a:t>
            </a:r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9%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vs  プラセボ </a:t>
            </a:r>
            <a:pPr indent="0" marL="0">
              <a:buNone/>
            </a:pPr>
            <a:r>
              <a:rPr lang="en-US" sz="22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顕性アルブミン尿への進行率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エサキセレノン </a:t>
            </a:r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1.4%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 プラセボ </a:t>
            </a:r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Ito S, et al. Clin J Am Soc Nephrol. 2020;15(12):1715-1727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 臨床での使い分けフローチャート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降圧が主目的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eGFR ≥ 60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DM腎症なし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 2.5mg or セララ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eGFR 30-60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DM+アルブミン尿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 1.25mg
</a:t>
            </a:r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（セララは禁忌）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心不全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1645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HFrEF / HFpEF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83280" y="2377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セララ
</a:t>
            </a:r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(Fantastic Four)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ケレンディア
</a:t>
            </a:r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(FINEARTS-HF)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ミネブロは心不全適応なし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腎保護が主目的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1645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2型DM + CKD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42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2377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6F42C1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ケレンディア
</a:t>
            </a:r>
            <a:pPr algn="ctr"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(FIDELIO/FIGARO)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降圧効果は弱い
</a:t>
            </a:r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(3-7mmHg)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 処方時の実務チェックポイント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K値モニタリングスケジュール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投与開始前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 &gt; 5.0 → 投与不可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2週以内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K値測定（必須）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約1ヵ月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K値測定（必須）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以後定期的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増量時は増量後2週以内にも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処方前 5項目チェック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eGFR確認（&lt;30 → 禁忌）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1938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血清K値（&gt;5.0 → 禁忌）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3225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322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DM+アルブミン尿 → 1.25mg開始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7066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706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他MRA・K製剤 → 併用禁忌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090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RAS阻害薬 → 高K血症に注意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204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520440"/>
            <a:ext cx="841248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K値上昇時の対応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" y="40690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3CD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 ≥ 5.5 mEq/L
</a:t>
            </a:r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減量 or 休薬を検討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0" y="40690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8D7DA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 &gt; 6.0 mEq/L
</a:t>
            </a:r>
            <a:pPr algn="ctr"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ただちに中止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ミネブロは非ステロイド型MRAで、2.5mgでエプレレノン50mgと同等の降圧効果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セララで禁忌の中等度腎機能障害・DM+腎症にもMRAが使える唯一の選択肢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ESAX-DN試験でアルブミン尿の寛解率22% vs 4%、UACR 58%低下を達成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最重要の副作用は高カリウム血症。投与前・2週・1ヵ月のK値測定が必須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MRA選択のコツ：降圧→ミネブロ、心不全→セララ、腎保護→ケレンディア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73152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|  脳神経内科専門医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ミネブロ（エサキセレノン）徹底解説｜MRA4剤比較と臨床での使い分け</dc:title>
  <dc:subject>PptxGenJS Presentation</dc:subject>
  <dc:creator>今村久司</dc:creator>
  <cp:lastModifiedBy>今村久司</cp:lastModifiedBy>
  <cp:revision>1</cp:revision>
  <dcterms:created xsi:type="dcterms:W3CDTF">2026-04-16T08:38:06Z</dcterms:created>
  <dcterms:modified xsi:type="dcterms:W3CDTF">2026-04-16T08:38:06Z</dcterms:modified>
</cp:coreProperties>
</file>