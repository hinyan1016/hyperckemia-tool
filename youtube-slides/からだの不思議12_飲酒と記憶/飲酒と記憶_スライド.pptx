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4572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脳神経内科医が答える からだの不思議 #12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097280"/>
            <a:ext cx="7680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お酒を飲むと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記憶がなくなる理由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31520" y="2651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4A90D9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― ブラックアウトのメカニズムを解説 ―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743200" y="3383280"/>
            <a:ext cx="3657600" cy="0"/>
          </a:xfrm>
          <a:prstGeom prst="line">
            <a:avLst/>
          </a:prstGeom>
          <a:noFill/>
          <a:ln w="25400">
            <a:solidFill>
              <a:srgbClr val="4A9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脳神経内科専門医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こんな経験ありませんか？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914400" y="1097280"/>
            <a:ext cx="73152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188720" y="118872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「昨日、どうやって帰ったか覚えていない……」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2331720"/>
            <a:ext cx="73152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188720" y="242316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「飲み会の後半の記憶がまったくない」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14400" y="3566160"/>
            <a:ext cx="731520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88720" y="3657600"/>
            <a:ext cx="6766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「周りはしっかりしてたって言うのに、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  自分だけ覚えていない」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572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これが「アルコール性ブラックアウト」 ― 意識はあるのに記憶だけが作られない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2/9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記憶の要 ― 海馬とLTP（長期増強）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28016" cy="118872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海馬（かいば）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側頭葉の内側にある構造。経験した出来事をシナプスで強化して「長期記憶」へ変換する記憶の固定（memory consolidation）を担う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57200" y="246888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2468880"/>
            <a:ext cx="265176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① 神経活動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シナプスに繰り返し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信号が入る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291840" y="246888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91840" y="2468880"/>
            <a:ext cx="265176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4" name="Text 12"/>
          <p:cNvSpPr/>
          <p:nvPr/>
        </p:nvSpPr>
        <p:spPr>
          <a:xfrm>
            <a:off x="329184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② LTP発動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91840" y="3017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シナプスが強化され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接続が確立する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126480" y="2468880"/>
            <a:ext cx="265176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2468880"/>
            <a:ext cx="2651760" cy="45720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18" name="Text 16"/>
          <p:cNvSpPr/>
          <p:nvPr/>
        </p:nvSpPr>
        <p:spPr>
          <a:xfrm>
            <a:off x="6126480" y="24688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③ 長期記憶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26480" y="3017520"/>
            <a:ext cx="2651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体験が記憶として</a:t>
            </a:r>
            <a:endParaRPr lang="en-US" sz="15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保存される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88036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90D9"/>
                </a:solidFill>
              </a:rPr>
              <a:t>→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715000" y="3017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4A90D9"/>
                </a:solidFill>
              </a:rPr>
              <a:t>→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3/9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アルコールが記憶を妨げる2つの機序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05840"/>
            <a:ext cx="4023360" cy="50292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NMDA受容体 を抑制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本来の役割：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LTP（長期増強）を開始するスイッチ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アルコールの影響：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このスイッチをブロック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LTPが発動せず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記憶の固定が起きない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4023360"/>
            <a:ext cx="4023360" cy="3657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記憶が最初から作られない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02336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4023360" cy="50292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2" name="Text 10"/>
          <p:cNvSpPr/>
          <p:nvPr/>
        </p:nvSpPr>
        <p:spPr>
          <a:xfrm>
            <a:off x="4846320" y="1005840"/>
            <a:ext cx="3840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GABA-A受容体 を増強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937760" y="160020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本来の役割：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脳の興奮を抑える（抑制性）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アルコールの影響：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過剰に活性化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海馬ニューロンの発火が低下</a:t>
            </a:r>
            <a:endParaRPr lang="en-US" sz="15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記憶回路全体が鈍る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754880" y="4023360"/>
            <a:ext cx="4023360" cy="36576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5" name="Text 13"/>
          <p:cNvSpPr/>
          <p:nvPr/>
        </p:nvSpPr>
        <p:spPr>
          <a:xfrm>
            <a:off x="4846320" y="4023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50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脳全体の活動が抑制される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06240" y="2286000"/>
            <a:ext cx="365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+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4/9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2種類のブラックアウト ― 断片型 vs 完全型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828800" cy="502920"/>
          </a:xfrm>
          <a:prstGeom prst="rect">
            <a:avLst/>
          </a:prstGeom>
          <a:solidFill>
            <a:srgbClr val="1B3A5C"/>
          </a:solidFill>
          <a:ln/>
        </p:spPr>
      </p:sp>
      <p:sp>
        <p:nvSpPr>
          <p:cNvPr id="5" name="Shape 3"/>
          <p:cNvSpPr/>
          <p:nvPr/>
        </p:nvSpPr>
        <p:spPr>
          <a:xfrm>
            <a:off x="2103120" y="1005840"/>
            <a:ext cx="3291840" cy="50292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6" name="Shape 4"/>
          <p:cNvSpPr/>
          <p:nvPr/>
        </p:nvSpPr>
        <p:spPr>
          <a:xfrm>
            <a:off x="5394960" y="1005840"/>
            <a:ext cx="3474720" cy="50292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05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項目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103120" y="1005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断片型（fragmentary）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394960" y="1005840"/>
            <a:ext cx="3474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完全型（en bloc）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508760"/>
            <a:ext cx="8595360" cy="685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274320" y="1508760"/>
            <a:ext cx="18288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別名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03120" y="15087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グレーアウト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94960" y="15087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完全ブラックアウト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74320" y="2194560"/>
            <a:ext cx="859536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194560"/>
            <a:ext cx="18288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記憶の欠落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103120" y="21945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部分的・断片的な空白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394960" y="21945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一定時間の記憶が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まるごと消失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880360"/>
            <a:ext cx="8595360" cy="685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274320" y="2880360"/>
            <a:ext cx="18288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ヒントで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思い出せるか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03120" y="28803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断片的に思い出せる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ことがある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394960" y="28803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いくらヒントを出されても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思い出せない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74320" y="3566160"/>
            <a:ext cx="8595360" cy="6858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3566160"/>
            <a:ext cx="18288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血中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アルコール濃度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103120" y="35661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比較的低め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394960" y="35661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高値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（0.15%以上が多い）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274320" y="4251960"/>
            <a:ext cx="8595360" cy="6858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251960"/>
            <a:ext cx="1828800" cy="685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深刻度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103120" y="4251960"/>
            <a:ext cx="3291840" cy="6858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より一般的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394960" y="4251960"/>
            <a:ext cx="3474720" cy="685800"/>
          </a:xfrm>
          <a:prstGeom prst="rect">
            <a:avLst/>
          </a:prstGeom>
          <a:noFill/>
          <a:ln/>
        </p:spPr>
        <p:txBody>
          <a:bodyPr wrap="square" lIns="0" tIns="101600" rIns="10160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より深刻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（問題飲酒と関連）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飲酒経験のある大学生の51%がブラックアウトを経験（Duke大学 2002）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5/9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記憶が飛びやすい条件 ― リスク要因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1148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4114800" cy="4572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飲み方のリスク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365760" cy="3657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6002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急速な飲酒（一気・短時間での大量摂取）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BACが急上昇し海馬への影響が強まる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651760"/>
            <a:ext cx="365760" cy="3657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651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05840" y="25146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空腹での飲酒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胃からの吸収が速くBACが急上昇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566160"/>
            <a:ext cx="365760" cy="365760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566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342900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度数の高いアルコール（蒸留酒）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→ 同量でも血中濃度上昇が早い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005840"/>
            <a:ext cx="411480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1005840"/>
            <a:ext cx="4114800" cy="4572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8" name="Text 16"/>
          <p:cNvSpPr/>
          <p:nvPr/>
        </p:nvSpPr>
        <p:spPr>
          <a:xfrm>
            <a:off x="4846320" y="10058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個人差のリスク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937760" y="1691640"/>
            <a:ext cx="320040" cy="32004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20" name="Text 18"/>
          <p:cNvSpPr/>
          <p:nvPr/>
        </p:nvSpPr>
        <p:spPr>
          <a:xfrm>
            <a:off x="4937760" y="16916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394960" y="160020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女性：水分量が少なくBACが上がりやすい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937760" y="2395728"/>
            <a:ext cx="320040" cy="32004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23" name="Text 21"/>
          <p:cNvSpPr/>
          <p:nvPr/>
        </p:nvSpPr>
        <p:spPr>
          <a:xfrm>
            <a:off x="4937760" y="2395728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394960" y="2304288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若年者：前頭前野が未発達で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飲み過ぎやすい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37760" y="3099816"/>
            <a:ext cx="320040" cy="32004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26" name="Text 24"/>
          <p:cNvSpPr/>
          <p:nvPr/>
        </p:nvSpPr>
        <p:spPr>
          <a:xfrm>
            <a:off x="4937760" y="309981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394960" y="3008376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遺伝的素因：GABA受容体の個人差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937760" y="3803904"/>
            <a:ext cx="320040" cy="320040"/>
          </a:xfrm>
          <a:prstGeom prst="ellipse">
            <a:avLst/>
          </a:prstGeom>
          <a:solidFill>
            <a:srgbClr val="E8850C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380390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94960" y="3712464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睡眠不足・疲労：脳の予備能が低下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solidFill>
            <a:srgbClr val="F5C518"/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「酒が強い＝記憶が飛ばない」は誤解！ 耐性と記憶形成への影響は別物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6/9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繰り返すとどうなるか ― 長期的な脳への影響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8595360" cy="2148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05840"/>
            <a:ext cx="8595360" cy="4572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ウェルニッケ脳症 → コルサコフ症候群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原因：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慢性アルコール依存によるビタミンB1（チアミン）欠乏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ウェルニッケ脳症：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眼球運動障害・歩行失調・意識障害の三徴候（急性期）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b="1" dirty="0">
                <a:solidFill>
                  <a:srgbClr val="DC3545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コルサコフ症候群：</a:t>
            </a:r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前向性＆逆向性健忘・作話。不可逆的な記憶障害が残ることが多い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3291840"/>
            <a:ext cx="859536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74320" y="3291840"/>
            <a:ext cx="8595360" cy="457200"/>
          </a:xfrm>
          <a:prstGeom prst="rect">
            <a:avLst/>
          </a:prstGeom>
          <a:solidFill>
            <a:srgbClr val="E8850C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アルコール性認知症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長期多量飲酒 → 海馬・前頭前野の神経細胞喪失・白質変性 → 記憶だけでなく判断力・実行機能・社会行動にも影響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solidFill>
            <a:srgbClr val="E8F0FE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AA0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生活習慣病リスク増加の目安：男性 純アルコール40g/日以上、女性 20g/日以上（厚労省ガイドライン 2024）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7/9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2C5AA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こんなときは要注意 ― 受診を考えるサイン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170432"/>
            <a:ext cx="347472" cy="347472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04672" y="100584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少量（缶ビール1〜2本程度）でもブラックアウトが起きるようになった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892808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2057400"/>
            <a:ext cx="347472" cy="347472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0" name="Text 8"/>
          <p:cNvSpPr/>
          <p:nvPr/>
        </p:nvSpPr>
        <p:spPr>
          <a:xfrm>
            <a:off x="365760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4672" y="189280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ブラックアウトの頻度が増えてきた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2779776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5760" y="2944368"/>
            <a:ext cx="347472" cy="347472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" y="2779776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飲んでいないときでも物忘れが目立つようになった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74320" y="3666744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831336"/>
            <a:ext cx="347472" cy="347472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8313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04672" y="3666744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目がかすれる・ふらつく・手が震えるなどが飲酒後に出る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1005840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846320" y="1170432"/>
            <a:ext cx="347472" cy="347472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1704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85232" y="1005840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断酒すると手が震えたり、汗が出たり、気分が悪くなる（離脱症状の可能性）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754880" y="1892808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46320" y="2057400"/>
            <a:ext cx="347472" cy="347472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26" name="Text 24"/>
          <p:cNvSpPr/>
          <p:nvPr/>
        </p:nvSpPr>
        <p:spPr>
          <a:xfrm>
            <a:off x="4846320" y="20574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85232" y="1892808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「飲まないと眠れない」「飲まないとイライラする」と感じる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2779776"/>
            <a:ext cx="420624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846320" y="2944368"/>
            <a:ext cx="347472" cy="347472"/>
          </a:xfrm>
          <a:prstGeom prst="ellipse">
            <a:avLst/>
          </a:prstGeom>
          <a:solidFill>
            <a:srgbClr val="DC3545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29443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85232" y="2779776"/>
            <a:ext cx="356616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2D3436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周囲から「最近ひどく酔っていることが多い」と言われる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274320" y="4572000"/>
            <a:ext cx="8595360" cy="457200"/>
          </a:xfrm>
          <a:prstGeom prst="rect">
            <a:avLst/>
          </a:prstGeom>
          <a:solidFill>
            <a:srgbClr val="DC3545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救急受診が必要：意識消失・呼びかけに反応しない・けいれん・眼が動かない＋ふらつき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8/9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B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Take Home Message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05840"/>
            <a:ext cx="7680960" cy="685800"/>
          </a:xfrm>
          <a:prstGeom prst="roundRect">
            <a:avLst>
              <a:gd name="adj" fmla="val 13333"/>
            </a:avLst>
          </a:prstGeom>
          <a:solidFill>
            <a:srgbClr val="243B5C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097280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972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00584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ブラックアウトは記憶が「消えた」のではなく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「最初から作られなかった」 ― 海馬のLTPがブロックされるため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792224"/>
            <a:ext cx="7680960" cy="685800"/>
          </a:xfrm>
          <a:prstGeom prst="roundRect">
            <a:avLst>
              <a:gd name="adj" fmla="val 13333"/>
            </a:avLst>
          </a:prstGeom>
          <a:solidFill>
            <a:srgbClr val="243B5C"/>
          </a:solidFill>
          <a:ln/>
        </p:spPr>
      </p:sp>
      <p:sp>
        <p:nvSpPr>
          <p:cNvPr id="9" name="Shape 7"/>
          <p:cNvSpPr/>
          <p:nvPr/>
        </p:nvSpPr>
        <p:spPr>
          <a:xfrm>
            <a:off x="914400" y="1883664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883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600200" y="1792224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NMDA受容体遮断 ＋ GABA-A受容体増強の2重作用が記憶形成を妨げる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2578608"/>
            <a:ext cx="7680960" cy="685800"/>
          </a:xfrm>
          <a:prstGeom prst="roundRect">
            <a:avLst>
              <a:gd name="adj" fmla="val 13333"/>
            </a:avLst>
          </a:prstGeom>
          <a:solidFill>
            <a:srgbClr val="243B5C"/>
          </a:solidFill>
          <a:ln/>
        </p:spPr>
      </p:sp>
      <p:sp>
        <p:nvSpPr>
          <p:cNvPr id="13" name="Shape 11"/>
          <p:cNvSpPr/>
          <p:nvPr/>
        </p:nvSpPr>
        <p:spPr>
          <a:xfrm>
            <a:off x="914400" y="2670048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670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600200" y="2578608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断片型（fragmentary）と完全型（en bloc）の2種類があり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後者のほうが深刻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31520" y="3364992"/>
            <a:ext cx="7680960" cy="685800"/>
          </a:xfrm>
          <a:prstGeom prst="roundRect">
            <a:avLst>
              <a:gd name="adj" fmla="val 13333"/>
            </a:avLst>
          </a:prstGeom>
          <a:solidFill>
            <a:srgbClr val="243B5C"/>
          </a:solidFill>
          <a:ln/>
        </p:spPr>
      </p:sp>
      <p:sp>
        <p:nvSpPr>
          <p:cNvPr id="17" name="Shape 15"/>
          <p:cNvSpPr/>
          <p:nvPr/>
        </p:nvSpPr>
        <p:spPr>
          <a:xfrm>
            <a:off x="914400" y="3456432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4564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00200" y="3364992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急速飲酒・空腹・女性・若年者がリスク大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「酒が強い人」でも油断は禁物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31520" y="4151376"/>
            <a:ext cx="7680960" cy="685800"/>
          </a:xfrm>
          <a:prstGeom prst="roundRect">
            <a:avLst>
              <a:gd name="adj" fmla="val 13333"/>
            </a:avLst>
          </a:prstGeom>
          <a:solidFill>
            <a:srgbClr val="243B5C"/>
          </a:solidFill>
          <a:ln/>
        </p:spPr>
      </p:sp>
      <p:sp>
        <p:nvSpPr>
          <p:cNvPr id="21" name="Shape 19"/>
          <p:cNvSpPr/>
          <p:nvPr/>
        </p:nvSpPr>
        <p:spPr>
          <a:xfrm>
            <a:off x="914400" y="4242816"/>
            <a:ext cx="502920" cy="502920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242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600200" y="4151376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繰り返す多量飲酒 → ウェルニッケ・コルサコフ症候群や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E8F0FE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アルコール性認知症につながる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1828800" y="4892040"/>
            <a:ext cx="5486400" cy="0"/>
          </a:xfrm>
          <a:prstGeom prst="line">
            <a:avLst/>
          </a:prstGeom>
          <a:noFill/>
          <a:ln w="12700">
            <a:solidFill>
              <a:srgbClr val="4A90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983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医知創造ラボ  今村久司  ｜  チャンネル登録よろしくお願いします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412480" y="475488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36E72"/>
                </a:solidFill>
                <a:latin typeface="BIZ UDPGothic" pitchFamily="34" charset="0"/>
                <a:ea typeface="BIZ UDPGothic" pitchFamily="34" charset="-122"/>
                <a:cs typeface="BIZ UDPGothic" pitchFamily="34" charset="-120"/>
              </a:rPr>
              <a:t>9/9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お酒を飲むと記憶がなくなる理由 ― ブラックアウトのメカニズムを脳神経内科医が解説</dc:title>
  <dc:subject>PptxGenJS Presentation</dc:subject>
  <dc:creator>今村久司</dc:creator>
  <cp:lastModifiedBy>今村久司</cp:lastModifiedBy>
  <cp:revision>1</cp:revision>
  <dcterms:created xsi:type="dcterms:W3CDTF">2026-04-02T02:39:39Z</dcterms:created>
  <dcterms:modified xsi:type="dcterms:W3CDTF">2026-04-02T02:39:39Z</dcterms:modified>
</cp:coreProperties>
</file>