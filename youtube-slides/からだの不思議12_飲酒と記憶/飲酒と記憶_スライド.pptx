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572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A90D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脳神経内科医が答える からだの不思議 #12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109728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お酒を飲むと</a:t>
            </a:r>
            <a:endParaRPr lang="en-US" sz="3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記憶がなくなる理由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31520" y="2651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90D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― ブラックアウトのメカニズムを解説 ―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2743200" y="3383280"/>
            <a:ext cx="3657600" cy="0"/>
          </a:xfrm>
          <a:prstGeom prst="line">
            <a:avLst/>
          </a:prstGeom>
          <a:noFill/>
          <a:ln w="25400">
            <a:solidFill>
              <a:srgbClr val="4A9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8F0F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医知創造ラボ  今村久司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31520" y="42062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脳神経内科専門医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5AA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こんな経験ありませんか？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14400" y="1097280"/>
            <a:ext cx="73152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188720" y="1188720"/>
            <a:ext cx="6766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「昨日、どうやって帰ったか覚えていない……」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14400" y="2331720"/>
            <a:ext cx="73152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188720" y="2423160"/>
            <a:ext cx="6766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「飲み会の後半の記憶がまったくない」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14400" y="3566160"/>
            <a:ext cx="73152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188720" y="3657600"/>
            <a:ext cx="6766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「周りはしっかりしてたって言うのに、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  自分だけ覚えていない」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14400" y="4572000"/>
            <a:ext cx="7315200" cy="457200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45720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これが「アルコール性ブラックアウト」 ― 意識はあるのに記憶だけが作られない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412480" y="4754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2/9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5AA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記憶の要 ― 海馬とLTP（長期増強）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05840"/>
            <a:ext cx="128016" cy="118872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5156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海馬（かいば）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31520" y="146304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側頭葉の内側にある構造。経験した出来事をシナプスで強化して「長期記憶」へ変換する記憶の固定（memory consolidation）を担う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468880"/>
            <a:ext cx="265176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2468880"/>
            <a:ext cx="2651760" cy="457200"/>
          </a:xfrm>
          <a:prstGeom prst="rect">
            <a:avLst/>
          </a:prstGeom>
          <a:solidFill>
            <a:srgbClr val="2C5AA0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468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① 神経活動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" y="301752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シナプスに繰り返し</a:t>
            </a:r>
            <a:endParaRPr lang="en-US" sz="15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信号が入る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291840" y="2468880"/>
            <a:ext cx="265176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2468880"/>
            <a:ext cx="2651760" cy="457200"/>
          </a:xfrm>
          <a:prstGeom prst="rect">
            <a:avLst/>
          </a:prstGeom>
          <a:solidFill>
            <a:srgbClr val="2C5AA0"/>
          </a:solidFill>
          <a:ln/>
        </p:spPr>
      </p:sp>
      <p:sp>
        <p:nvSpPr>
          <p:cNvPr id="14" name="Text 12"/>
          <p:cNvSpPr/>
          <p:nvPr/>
        </p:nvSpPr>
        <p:spPr>
          <a:xfrm>
            <a:off x="3291840" y="2468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② LTP発動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291840" y="301752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シナプスが強化され</a:t>
            </a:r>
            <a:endParaRPr lang="en-US" sz="15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接続が確立する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126480" y="2468880"/>
            <a:ext cx="265176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26480" y="2468880"/>
            <a:ext cx="2651760" cy="457200"/>
          </a:xfrm>
          <a:prstGeom prst="rect">
            <a:avLst/>
          </a:prstGeom>
          <a:solidFill>
            <a:srgbClr val="2C5AA0"/>
          </a:solidFill>
          <a:ln/>
        </p:spPr>
      </p:sp>
      <p:sp>
        <p:nvSpPr>
          <p:cNvPr id="18" name="Text 16"/>
          <p:cNvSpPr/>
          <p:nvPr/>
        </p:nvSpPr>
        <p:spPr>
          <a:xfrm>
            <a:off x="6126480" y="2468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③ 長期記憶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126480" y="301752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体験が記憶として</a:t>
            </a:r>
            <a:endParaRPr lang="en-US" sz="15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保存される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288036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A90D9"/>
                </a:solidFill>
              </a:rPr>
              <a:t>→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571500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A90D9"/>
                </a:solidFill>
              </a:rPr>
              <a:t>→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412480" y="4754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3/9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5AA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アルコールが記憶を妨げる2つの機序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402336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05840"/>
            <a:ext cx="4023360" cy="50292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058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NMDA受容体 を抑制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1600200"/>
            <a:ext cx="3657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本来の役割：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LTP（長期増強）を開始するスイッチ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DC35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アルコールの影響：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このスイッチをブロック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→ LTPが発動せず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→ 記憶の固定が起きない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65760" y="4023360"/>
            <a:ext cx="4023360" cy="365760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40233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35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記憶が最初から作られない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54880" y="1005840"/>
            <a:ext cx="402336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005840"/>
            <a:ext cx="4023360" cy="502920"/>
          </a:xfrm>
          <a:prstGeom prst="rect">
            <a:avLst/>
          </a:prstGeom>
          <a:solidFill>
            <a:srgbClr val="E8850C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10058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GABA-A受容体 を増強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937760" y="1600200"/>
            <a:ext cx="3657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本来の役割：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脳の興奮を抑える（抑制性）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E8850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アルコールの影響：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過剰に活性化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→ 海馬ニューロンの発火が低下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→ 記憶回路全体が鈍る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754880" y="4023360"/>
            <a:ext cx="4023360" cy="365760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40233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850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脳全体の活動が抑制される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206240" y="22860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8412480" y="4754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4/9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5AA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2種類のブラックアウト ― 断片型 vs 完全型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1645920" cy="4572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5" name="Shape 3"/>
          <p:cNvSpPr/>
          <p:nvPr/>
        </p:nvSpPr>
        <p:spPr>
          <a:xfrm>
            <a:off x="1920240" y="1005840"/>
            <a:ext cx="3383280" cy="457200"/>
          </a:xfrm>
          <a:prstGeom prst="rect">
            <a:avLst/>
          </a:prstGeom>
          <a:solidFill>
            <a:srgbClr val="E8850C"/>
          </a:solidFill>
          <a:ln/>
        </p:spPr>
      </p:sp>
      <p:sp>
        <p:nvSpPr>
          <p:cNvPr id="6" name="Shape 4"/>
          <p:cNvSpPr/>
          <p:nvPr/>
        </p:nvSpPr>
        <p:spPr>
          <a:xfrm>
            <a:off x="5303520" y="1005840"/>
            <a:ext cx="3566160" cy="45720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10058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項目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920240" y="10058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断片型（fragmentary）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303520" y="10058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完全型（en bloc）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74320" y="1463040"/>
            <a:ext cx="8595360" cy="58521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1463040"/>
            <a:ext cx="1645920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別名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920240" y="1463040"/>
            <a:ext cx="3383280" cy="585216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グレーアウト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303520" y="1463040"/>
            <a:ext cx="3566160" cy="585216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DC35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完全ブラックアウト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74320" y="2048256"/>
            <a:ext cx="8595360" cy="5852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2048256"/>
            <a:ext cx="1645920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記憶の欠落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920240" y="2048256"/>
            <a:ext cx="3383280" cy="585216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部分的・断片的な空白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303520" y="2048256"/>
            <a:ext cx="3566160" cy="585216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DC35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一定時間の記憶がまるごと消失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" y="2633472"/>
            <a:ext cx="8595360" cy="58521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9" name="Text 17"/>
          <p:cNvSpPr/>
          <p:nvPr/>
        </p:nvSpPr>
        <p:spPr>
          <a:xfrm>
            <a:off x="274320" y="2633472"/>
            <a:ext cx="1645920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ヒントで</a:t>
            </a:r>
            <a:endParaRPr lang="en-US" sz="11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思い出せるか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920240" y="2633472"/>
            <a:ext cx="3383280" cy="585216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断片的に思い出せることがある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303520" y="2633472"/>
            <a:ext cx="3566160" cy="585216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DC35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いくらヒントを出されても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DC35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思い出せない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74320" y="3218688"/>
            <a:ext cx="8595360" cy="5852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274320" y="3218688"/>
            <a:ext cx="1645920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血中アルコール</a:t>
            </a:r>
            <a:endParaRPr lang="en-US" sz="11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濃度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920240" y="3218688"/>
            <a:ext cx="3383280" cy="585216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比較的低め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303520" y="3218688"/>
            <a:ext cx="3566160" cy="585216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DC35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高値（0.15%以上が多い）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74320" y="3803904"/>
            <a:ext cx="8595360" cy="58521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7" name="Text 25"/>
          <p:cNvSpPr/>
          <p:nvPr/>
        </p:nvSpPr>
        <p:spPr>
          <a:xfrm>
            <a:off x="274320" y="3803904"/>
            <a:ext cx="1645920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深刻度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920240" y="3803904"/>
            <a:ext cx="3383280" cy="585216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より一般的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303520" y="3803904"/>
            <a:ext cx="3566160" cy="585216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DC35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より深刻（問題飲酒と関連）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74320" y="4526280"/>
            <a:ext cx="8595360" cy="384048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452628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飲酒経験のある大学生の51%がブラックアウトを経験（Duke大学 2002）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412480" y="4754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5/9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5AA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記憶が飛びやすい条件 ― リスク要因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41148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005840"/>
            <a:ext cx="4114800" cy="45720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0058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飲み方のリスク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365760" cy="365760"/>
          </a:xfrm>
          <a:prstGeom prst="ellipse">
            <a:avLst/>
          </a:prstGeom>
          <a:solidFill>
            <a:srgbClr val="DC3545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16002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急速な飲酒（一気・短時間での大量摂取）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→ BACが急上昇し海馬への影響が強まる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651760"/>
            <a:ext cx="365760" cy="365760"/>
          </a:xfrm>
          <a:prstGeom prst="ellipse">
            <a:avLst/>
          </a:prstGeom>
          <a:solidFill>
            <a:srgbClr val="DC3545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651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05840" y="25146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空腹での飲酒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→ 胃からの吸収が速くBACが急上昇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566160"/>
            <a:ext cx="365760" cy="365760"/>
          </a:xfrm>
          <a:prstGeom prst="ellipse">
            <a:avLst/>
          </a:prstGeom>
          <a:solidFill>
            <a:srgbClr val="DC3545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566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05840" y="34290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度数の高いアルコール（蒸留酒）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→ 同量でも血中濃度上昇が早い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754880" y="1005840"/>
            <a:ext cx="41148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54880" y="1005840"/>
            <a:ext cx="4114800" cy="457200"/>
          </a:xfrm>
          <a:prstGeom prst="rect">
            <a:avLst/>
          </a:prstGeom>
          <a:solidFill>
            <a:srgbClr val="E8850C"/>
          </a:solidFill>
          <a:ln/>
        </p:spPr>
      </p:sp>
      <p:sp>
        <p:nvSpPr>
          <p:cNvPr id="18" name="Text 16"/>
          <p:cNvSpPr/>
          <p:nvPr/>
        </p:nvSpPr>
        <p:spPr>
          <a:xfrm>
            <a:off x="4846320" y="10058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個人差のリスク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937760" y="1691640"/>
            <a:ext cx="320040" cy="320040"/>
          </a:xfrm>
          <a:prstGeom prst="ellipse">
            <a:avLst/>
          </a:prstGeom>
          <a:solidFill>
            <a:srgbClr val="E8850C"/>
          </a:solidFill>
          <a:ln/>
        </p:spPr>
      </p:sp>
      <p:sp>
        <p:nvSpPr>
          <p:cNvPr id="20" name="Text 18"/>
          <p:cNvSpPr/>
          <p:nvPr/>
        </p:nvSpPr>
        <p:spPr>
          <a:xfrm>
            <a:off x="4937760" y="16916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394960" y="16002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女性：水分量が少なくBACが上がりやすい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937760" y="2395728"/>
            <a:ext cx="320040" cy="320040"/>
          </a:xfrm>
          <a:prstGeom prst="ellipse">
            <a:avLst/>
          </a:prstGeom>
          <a:solidFill>
            <a:srgbClr val="E8850C"/>
          </a:solidFill>
          <a:ln/>
        </p:spPr>
      </p:sp>
      <p:sp>
        <p:nvSpPr>
          <p:cNvPr id="23" name="Text 21"/>
          <p:cNvSpPr/>
          <p:nvPr/>
        </p:nvSpPr>
        <p:spPr>
          <a:xfrm>
            <a:off x="4937760" y="23957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394960" y="2304288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若年者：前頭前野が未発達で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飲み過ぎやすい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937760" y="3099816"/>
            <a:ext cx="320040" cy="320040"/>
          </a:xfrm>
          <a:prstGeom prst="ellipse">
            <a:avLst/>
          </a:prstGeom>
          <a:solidFill>
            <a:srgbClr val="E8850C"/>
          </a:solidFill>
          <a:ln/>
        </p:spPr>
      </p:sp>
      <p:sp>
        <p:nvSpPr>
          <p:cNvPr id="26" name="Text 24"/>
          <p:cNvSpPr/>
          <p:nvPr/>
        </p:nvSpPr>
        <p:spPr>
          <a:xfrm>
            <a:off x="4937760" y="309981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394960" y="3008376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遺伝的素因：GABA受容体の個人差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937760" y="3803904"/>
            <a:ext cx="320040" cy="320040"/>
          </a:xfrm>
          <a:prstGeom prst="ellipse">
            <a:avLst/>
          </a:prstGeom>
          <a:solidFill>
            <a:srgbClr val="E8850C"/>
          </a:solidFill>
          <a:ln/>
        </p:spPr>
      </p:sp>
      <p:sp>
        <p:nvSpPr>
          <p:cNvPr id="29" name="Text 27"/>
          <p:cNvSpPr/>
          <p:nvPr/>
        </p:nvSpPr>
        <p:spPr>
          <a:xfrm>
            <a:off x="4937760" y="380390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394960" y="3712464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睡眠不足・疲労：脳の予備能が低下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74320" y="4572000"/>
            <a:ext cx="8595360" cy="457200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「酒が強い＝記憶が飛ばない」は誤解！ 耐性と記憶形成への影響は別物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412480" y="4754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6/9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5AA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繰り返すとどうなるか ― 長期的な脳への影響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8595360" cy="2148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005840"/>
            <a:ext cx="8595360" cy="45720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ウェルニッケ脳症 → コルサコフ症候群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55448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b="1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原因：</a:t>
            </a:r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慢性アルコール依存によるビタミンB1（チアミン）欠乏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b="1" dirty="0">
                <a:solidFill>
                  <a:srgbClr val="DC35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ウェルニッケ脳症：</a:t>
            </a:r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眼球運動障害・歩行失調・意識障害の三徴候（急性期）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b="1" dirty="0">
                <a:solidFill>
                  <a:srgbClr val="DC354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コルサコフ症候群：</a:t>
            </a:r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前向性＆逆向性健忘・作話。不可逆的な記憶障害が残ることが多い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74320" y="3291840"/>
            <a:ext cx="859536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74320" y="3291840"/>
            <a:ext cx="8595360" cy="457200"/>
          </a:xfrm>
          <a:prstGeom prst="rect">
            <a:avLst/>
          </a:prstGeom>
          <a:solidFill>
            <a:srgbClr val="E8850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アルコール性認知症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" y="37947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長期多量飲酒 → 海馬・前頭前野の神経細胞喪失・白質変性 → 記憶だけでなく判断力・実行機能・社会行動にも影響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74320" y="4572000"/>
            <a:ext cx="8595360" cy="457200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AA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生活習慣病リスク増加の目安：男性 純アルコール40g/日以上、女性 20g/日以上（厚労省ガイドライン 2024）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412480" y="4754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7/9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2C5AA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こんなときは要注意 ― 受診を考えるサイン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420624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170432"/>
            <a:ext cx="347472" cy="347472"/>
          </a:xfrm>
          <a:prstGeom prst="ellipse">
            <a:avLst/>
          </a:prstGeom>
          <a:solidFill>
            <a:srgbClr val="DC3545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1704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04672" y="1005840"/>
            <a:ext cx="3566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少量（缶ビール1〜2本程度）でもブラックアウトが起きるようになった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1892808"/>
            <a:ext cx="420624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2057400"/>
            <a:ext cx="347472" cy="347472"/>
          </a:xfrm>
          <a:prstGeom prst="ellipse">
            <a:avLst/>
          </a:prstGeom>
          <a:solidFill>
            <a:srgbClr val="DC3545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20574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04672" y="1892808"/>
            <a:ext cx="3566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ブラックアウトの頻度が増えてきた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2779776"/>
            <a:ext cx="420624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5760" y="2944368"/>
            <a:ext cx="347472" cy="347472"/>
          </a:xfrm>
          <a:prstGeom prst="ellipse">
            <a:avLst/>
          </a:prstGeom>
          <a:solidFill>
            <a:srgbClr val="DC3545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" y="29443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04672" y="2779776"/>
            <a:ext cx="3566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飲んでいないときでも物忘れが目立つようになった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" y="3666744"/>
            <a:ext cx="420624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3831336"/>
            <a:ext cx="347472" cy="347472"/>
          </a:xfrm>
          <a:prstGeom prst="ellipse">
            <a:avLst/>
          </a:prstGeom>
          <a:solidFill>
            <a:srgbClr val="DC3545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38313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04672" y="3666744"/>
            <a:ext cx="3566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目がかすれる・ふらつく・手が震えるなどが飲酒後に出る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54880" y="1005840"/>
            <a:ext cx="420624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846320" y="1170432"/>
            <a:ext cx="347472" cy="347472"/>
          </a:xfrm>
          <a:prstGeom prst="ellipse">
            <a:avLst/>
          </a:prstGeom>
          <a:solidFill>
            <a:srgbClr val="DC3545"/>
          </a:solidFill>
          <a:ln/>
        </p:spPr>
      </p:sp>
      <p:sp>
        <p:nvSpPr>
          <p:cNvPr id="22" name="Text 20"/>
          <p:cNvSpPr/>
          <p:nvPr/>
        </p:nvSpPr>
        <p:spPr>
          <a:xfrm>
            <a:off x="4846320" y="11704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85232" y="1005840"/>
            <a:ext cx="3566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断酒すると手が震えたり、汗が出たり、気分が悪くなる（離脱症状の可能性）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754880" y="1892808"/>
            <a:ext cx="420624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846320" y="2057400"/>
            <a:ext cx="347472" cy="347472"/>
          </a:xfrm>
          <a:prstGeom prst="ellipse">
            <a:avLst/>
          </a:prstGeom>
          <a:solidFill>
            <a:srgbClr val="DC3545"/>
          </a:solidFill>
          <a:ln/>
        </p:spPr>
      </p:sp>
      <p:sp>
        <p:nvSpPr>
          <p:cNvPr id="26" name="Text 24"/>
          <p:cNvSpPr/>
          <p:nvPr/>
        </p:nvSpPr>
        <p:spPr>
          <a:xfrm>
            <a:off x="4846320" y="20574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285232" y="1892808"/>
            <a:ext cx="3566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「飲まないと眠れない」「飲まないとイライラする」と感じる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754880" y="2779776"/>
            <a:ext cx="420624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846320" y="2944368"/>
            <a:ext cx="347472" cy="347472"/>
          </a:xfrm>
          <a:prstGeom prst="ellipse">
            <a:avLst/>
          </a:prstGeom>
          <a:solidFill>
            <a:srgbClr val="DC3545"/>
          </a:solidFill>
          <a:ln/>
        </p:spPr>
      </p:sp>
      <p:sp>
        <p:nvSpPr>
          <p:cNvPr id="30" name="Text 28"/>
          <p:cNvSpPr/>
          <p:nvPr/>
        </p:nvSpPr>
        <p:spPr>
          <a:xfrm>
            <a:off x="4846320" y="29443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285232" y="2779776"/>
            <a:ext cx="3566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343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周囲から「最近ひどく酔っていることが多い」と言われる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74320" y="4572000"/>
            <a:ext cx="8595360" cy="45720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救急受診が必要：意識消失・呼びかけに反応しない・けいれん・眼が動かない＋ふらつき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412480" y="4754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8/9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Take Home Message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8046720" cy="658368"/>
          </a:xfrm>
          <a:prstGeom prst="roundRect">
            <a:avLst>
              <a:gd name="adj" fmla="val 13889"/>
            </a:avLst>
          </a:prstGeom>
          <a:solidFill>
            <a:srgbClr val="243B5C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033272"/>
            <a:ext cx="475488" cy="475488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332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17320" y="960120"/>
            <a:ext cx="6995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8F0F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ブラックアウトは記憶が「消えた」のではなく「最初から作られなかった」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8F0F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― 海馬のLTPがブロックされるため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691640"/>
            <a:ext cx="8046720" cy="658368"/>
          </a:xfrm>
          <a:prstGeom prst="roundRect">
            <a:avLst>
              <a:gd name="adj" fmla="val 13889"/>
            </a:avLst>
          </a:prstGeom>
          <a:solidFill>
            <a:srgbClr val="243B5C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0" y="1764792"/>
            <a:ext cx="475488" cy="475488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7647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17320" y="1691640"/>
            <a:ext cx="6995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8F0F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NMDA受容体遮断 ＋ GABA-A受容体増強の2重作用が記憶形成を妨げる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423160"/>
            <a:ext cx="8046720" cy="658368"/>
          </a:xfrm>
          <a:prstGeom prst="roundRect">
            <a:avLst>
              <a:gd name="adj" fmla="val 13889"/>
            </a:avLst>
          </a:prstGeom>
          <a:solidFill>
            <a:srgbClr val="243B5C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0" y="2496312"/>
            <a:ext cx="475488" cy="475488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4963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17320" y="2423160"/>
            <a:ext cx="6995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8F0F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断片型と完全型の2種類があり、完全型のほうが深刻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154680"/>
            <a:ext cx="8046720" cy="658368"/>
          </a:xfrm>
          <a:prstGeom prst="roundRect">
            <a:avLst>
              <a:gd name="adj" fmla="val 13889"/>
            </a:avLst>
          </a:prstGeom>
          <a:solidFill>
            <a:srgbClr val="243B5C"/>
          </a:solidFill>
          <a:ln/>
        </p:spPr>
      </p:sp>
      <p:sp>
        <p:nvSpPr>
          <p:cNvPr id="17" name="Shape 15"/>
          <p:cNvSpPr/>
          <p:nvPr/>
        </p:nvSpPr>
        <p:spPr>
          <a:xfrm>
            <a:off x="731520" y="3227832"/>
            <a:ext cx="475488" cy="475488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227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17320" y="3154680"/>
            <a:ext cx="6995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8F0F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急速飲酒・空腹・女性・若年者がリスク大。「酒が強い人」でも油断禁物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886200"/>
            <a:ext cx="8046720" cy="658368"/>
          </a:xfrm>
          <a:prstGeom prst="roundRect">
            <a:avLst>
              <a:gd name="adj" fmla="val 13889"/>
            </a:avLst>
          </a:prstGeom>
          <a:solidFill>
            <a:srgbClr val="243B5C"/>
          </a:solidFill>
          <a:ln/>
        </p:spPr>
      </p:sp>
      <p:sp>
        <p:nvSpPr>
          <p:cNvPr id="21" name="Shape 19"/>
          <p:cNvSpPr/>
          <p:nvPr/>
        </p:nvSpPr>
        <p:spPr>
          <a:xfrm>
            <a:off x="731520" y="3959352"/>
            <a:ext cx="475488" cy="475488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39593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417320" y="3886200"/>
            <a:ext cx="6995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8F0F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繰り返す多量飲酒 → ウェルニッケ・コルサコフ症候群やアルコール性認知症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828800" y="4709160"/>
            <a:ext cx="5486400" cy="0"/>
          </a:xfrm>
          <a:prstGeom prst="line">
            <a:avLst/>
          </a:prstGeom>
          <a:noFill/>
          <a:ln w="12700">
            <a:solidFill>
              <a:srgbClr val="4A9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4754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医知創造ラボ  今村久司  ｜  チャンネル登録よろしくお願いします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412480" y="4754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6E72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9/9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お酒を飲むと記憶がなくなる理由 ― ブラックアウトのメカニズムを脳神経内科医が解説</dc:title>
  <dc:subject>PptxGenJS Presentation</dc:subject>
  <dc:creator>今村久司</dc:creator>
  <cp:lastModifiedBy>今村久司</cp:lastModifiedBy>
  <cp:revision>1</cp:revision>
  <dcterms:created xsi:type="dcterms:W3CDTF">2026-04-11T02:29:00Z</dcterms:created>
  <dcterms:modified xsi:type="dcterms:W3CDTF">2026-04-11T02:29:00Z</dcterms:modified>
</cp:coreProperties>
</file>