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3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45720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4A90D9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脳神経内科医が答える からだの不思議 #13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1097280"/>
            <a:ext cx="7680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この頭痛、病院に行くべき？</a:t>
            </a:r>
            <a:endParaRPr lang="en-US" sz="34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― 危険な頭痛の見分け方 ―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731520" y="265176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A90D9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一次性 vs 二次性・雷鳴頭痛・SNNOOP10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2743200" y="3383280"/>
            <a:ext cx="3657600" cy="0"/>
          </a:xfrm>
          <a:prstGeom prst="line">
            <a:avLst/>
          </a:prstGeom>
          <a:noFill/>
          <a:ln w="25400">
            <a:solidFill>
              <a:srgbClr val="4A9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365760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E8F0FE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医知創造ラボ  今村久司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731520" y="420624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36E72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脳神経内科専門医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2C5AA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こんな経験ありませんか？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31520" y="1005840"/>
            <a:ext cx="7680960" cy="7315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1188720"/>
            <a:ext cx="365760" cy="365760"/>
          </a:xfrm>
          <a:prstGeom prst="ellipse">
            <a:avLst/>
          </a:prstGeom>
          <a:solidFill>
            <a:srgbClr val="DC3545"/>
          </a:solidFill>
          <a:ln/>
        </p:spPr>
      </p:sp>
      <p:sp>
        <p:nvSpPr>
          <p:cNvPr id="6" name="Text 4"/>
          <p:cNvSpPr/>
          <p:nvPr/>
        </p:nvSpPr>
        <p:spPr>
          <a:xfrm>
            <a:off x="1371600" y="1005840"/>
            <a:ext cx="6858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「バットで殴られたような頭痛が突然きて、救急車を呼んだ」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31520" y="1920240"/>
            <a:ext cx="7680960" cy="7315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DC3545"/>
          </a:solidFill>
          <a:ln/>
        </p:spPr>
      </p:sp>
      <p:sp>
        <p:nvSpPr>
          <p:cNvPr id="9" name="Text 7"/>
          <p:cNvSpPr/>
          <p:nvPr/>
        </p:nvSpPr>
        <p:spPr>
          <a:xfrm>
            <a:off x="1371600" y="1920240"/>
            <a:ext cx="6858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「月に数回、目の奥がズキズキして光がまぶしくなる」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731520" y="2834640"/>
            <a:ext cx="7680960" cy="7315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22960" y="3017520"/>
            <a:ext cx="365760" cy="365760"/>
          </a:xfrm>
          <a:prstGeom prst="ellipse">
            <a:avLst/>
          </a:prstGeom>
          <a:solidFill>
            <a:srgbClr val="DC3545"/>
          </a:solidFill>
          <a:ln/>
        </p:spPr>
      </p:sp>
      <p:sp>
        <p:nvSpPr>
          <p:cNvPr id="12" name="Text 10"/>
          <p:cNvSpPr/>
          <p:nvPr/>
        </p:nvSpPr>
        <p:spPr>
          <a:xfrm>
            <a:off x="1371600" y="2834640"/>
            <a:ext cx="6858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「毎日のように頭全体が締め付けられる感じがある」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731520" y="3749040"/>
            <a:ext cx="7680960" cy="7315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22960" y="3931920"/>
            <a:ext cx="365760" cy="365760"/>
          </a:xfrm>
          <a:prstGeom prst="ellipse">
            <a:avLst/>
          </a:prstGeom>
          <a:solidFill>
            <a:srgbClr val="DC3545"/>
          </a:solidFill>
          <a:ln/>
        </p:spPr>
      </p:sp>
      <p:sp>
        <p:nvSpPr>
          <p:cNvPr id="15" name="Text 13"/>
          <p:cNvSpPr/>
          <p:nvPr/>
        </p:nvSpPr>
        <p:spPr>
          <a:xfrm>
            <a:off x="1371600" y="3749040"/>
            <a:ext cx="6858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「高熱と一緒に頭痛が来て、首が硬い気がした」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731520" y="4572000"/>
            <a:ext cx="7680960" cy="457200"/>
          </a:xfrm>
          <a:prstGeom prst="rect">
            <a:avLst/>
          </a:prstGeom>
          <a:solidFill>
            <a:srgbClr val="E8F0FE"/>
          </a:solidFill>
          <a:ln/>
        </p:spPr>
      </p:sp>
      <p:sp>
        <p:nvSpPr>
          <p:cNvPr id="17" name="Text 15"/>
          <p:cNvSpPr/>
          <p:nvPr/>
        </p:nvSpPr>
        <p:spPr>
          <a:xfrm>
            <a:off x="731520" y="457200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C5AA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すべて「頭痛」でも、緊急度はまったく異なります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412480" y="47548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36E72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2/9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2C5AA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頭痛の2大分類 ― 一次性 vs 二次性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274320" y="914400"/>
            <a:ext cx="1828800" cy="50292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5" name="Shape 3"/>
          <p:cNvSpPr/>
          <p:nvPr/>
        </p:nvSpPr>
        <p:spPr>
          <a:xfrm>
            <a:off x="2103120" y="914400"/>
            <a:ext cx="3383280" cy="502920"/>
          </a:xfrm>
          <a:prstGeom prst="rect">
            <a:avLst/>
          </a:prstGeom>
          <a:solidFill>
            <a:srgbClr val="28A745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0" y="914400"/>
            <a:ext cx="3383280" cy="502920"/>
          </a:xfrm>
          <a:prstGeom prst="rect">
            <a:avLst/>
          </a:prstGeom>
          <a:solidFill>
            <a:srgbClr val="DC3545"/>
          </a:solidFill>
          <a:ln/>
        </p:spPr>
      </p:sp>
      <p:sp>
        <p:nvSpPr>
          <p:cNvPr id="7" name="Text 5"/>
          <p:cNvSpPr/>
          <p:nvPr/>
        </p:nvSpPr>
        <p:spPr>
          <a:xfrm>
            <a:off x="274320" y="91440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項目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2103120" y="914400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一次性頭痛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0" y="914400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二次性頭痛（要注意）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274320" y="1417320"/>
            <a:ext cx="8595360" cy="713232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1" name="Text 9"/>
          <p:cNvSpPr/>
          <p:nvPr/>
        </p:nvSpPr>
        <p:spPr>
          <a:xfrm>
            <a:off x="274320" y="1417320"/>
            <a:ext cx="18288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C5AA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定義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103120" y="1417320"/>
            <a:ext cx="3383280" cy="713232"/>
          </a:xfrm>
          <a:prstGeom prst="rect">
            <a:avLst/>
          </a:prstGeom>
          <a:noFill/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頭痛自体が疾患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（構造的異常なし）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486400" y="1417320"/>
            <a:ext cx="3383280" cy="713232"/>
          </a:xfrm>
          <a:prstGeom prst="rect">
            <a:avLst/>
          </a:prstGeom>
          <a:noFill/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C354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他の病気が原因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274320" y="2130552"/>
            <a:ext cx="8595360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2130552"/>
            <a:ext cx="18288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C5AA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頻度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2103120" y="2130552"/>
            <a:ext cx="3383280" cy="713232"/>
          </a:xfrm>
          <a:prstGeom prst="rect">
            <a:avLst/>
          </a:prstGeom>
          <a:noFill/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全頭痛の約90%以上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486400" y="2130552"/>
            <a:ext cx="3383280" cy="713232"/>
          </a:xfrm>
          <a:prstGeom prst="rect">
            <a:avLst/>
          </a:prstGeom>
          <a:noFill/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C354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全頭痛の約10%未満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274320" y="2843784"/>
            <a:ext cx="8595360" cy="713232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9" name="Text 17"/>
          <p:cNvSpPr/>
          <p:nvPr/>
        </p:nvSpPr>
        <p:spPr>
          <a:xfrm>
            <a:off x="274320" y="2843784"/>
            <a:ext cx="18288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C5AA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代表例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2103120" y="2843784"/>
            <a:ext cx="3383280" cy="713232"/>
          </a:xfrm>
          <a:prstGeom prst="rect">
            <a:avLst/>
          </a:prstGeom>
          <a:noFill/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緊張型・片頭痛・群発頭痛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486400" y="2843784"/>
            <a:ext cx="3383280" cy="713232"/>
          </a:xfrm>
          <a:prstGeom prst="rect">
            <a:avLst/>
          </a:prstGeom>
          <a:noFill/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C354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くも膜下出血・髄膜炎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DC354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脳腫瘍・高血圧性頭痛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274320" y="3557016"/>
            <a:ext cx="8595360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3" name="Text 21"/>
          <p:cNvSpPr/>
          <p:nvPr/>
        </p:nvSpPr>
        <p:spPr>
          <a:xfrm>
            <a:off x="274320" y="3557016"/>
            <a:ext cx="18288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C5AA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命の危険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2103120" y="3557016"/>
            <a:ext cx="3383280" cy="713232"/>
          </a:xfrm>
          <a:prstGeom prst="rect">
            <a:avLst/>
          </a:prstGeom>
          <a:noFill/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基本的になし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486400" y="3557016"/>
            <a:ext cx="3383280" cy="713232"/>
          </a:xfrm>
          <a:prstGeom prst="rect">
            <a:avLst/>
          </a:prstGeom>
          <a:noFill/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C354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場合により生命に関わる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274320" y="4270248"/>
            <a:ext cx="8595360" cy="713232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27" name="Text 25"/>
          <p:cNvSpPr/>
          <p:nvPr/>
        </p:nvSpPr>
        <p:spPr>
          <a:xfrm>
            <a:off x="274320" y="4270248"/>
            <a:ext cx="18288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C5AA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発症パターン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2103120" y="4270248"/>
            <a:ext cx="3383280" cy="713232"/>
          </a:xfrm>
          <a:prstGeom prst="rect">
            <a:avLst/>
          </a:prstGeom>
          <a:noFill/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繰り返す・慢性・パターンあり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5486400" y="4270248"/>
            <a:ext cx="3383280" cy="713232"/>
          </a:xfrm>
          <a:prstGeom prst="rect">
            <a:avLst/>
          </a:prstGeom>
          <a:noFill/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C354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突然の発症・今まで経験なし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8412480" y="47548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36E72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3/9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2C5AA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「人生最悪の頭痛」― くも膜下出血のサイン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914400"/>
            <a:ext cx="8229600" cy="1005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914400"/>
            <a:ext cx="137160" cy="1005840"/>
          </a:xfrm>
          <a:prstGeom prst="rect">
            <a:avLst/>
          </a:prstGeom>
          <a:solidFill>
            <a:srgbClr val="DC3545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960120"/>
            <a:ext cx="7680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DC354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雷鳴頭痛（サンダークラップヘッドエイク）</a:t>
            </a:r>
            <a:endParaRPr lang="en-US" sz="18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雷が落ちたように突然（1秒以内）に始まる、人生最強の頭痛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057400"/>
            <a:ext cx="8229600" cy="411480"/>
          </a:xfrm>
          <a:prstGeom prst="rect">
            <a:avLst/>
          </a:prstGeom>
          <a:solidFill>
            <a:srgbClr val="DC3545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20574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今すぐ119番　― 以下のどれか1つでも当てはまれば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57200" y="2560320"/>
            <a:ext cx="8229600" cy="365760"/>
          </a:xfrm>
          <a:prstGeom prst="rect">
            <a:avLst/>
          </a:prstGeom>
          <a:solidFill>
            <a:srgbClr val="FFF5F5"/>
          </a:solidFill>
          <a:ln/>
        </p:spPr>
      </p:sp>
      <p:sp>
        <p:nvSpPr>
          <p:cNvPr id="10" name="Shape 8"/>
          <p:cNvSpPr/>
          <p:nvPr/>
        </p:nvSpPr>
        <p:spPr>
          <a:xfrm>
            <a:off x="594360" y="2633472"/>
            <a:ext cx="219456" cy="219456"/>
          </a:xfrm>
          <a:prstGeom prst="ellipse">
            <a:avLst/>
          </a:prstGeom>
          <a:solidFill>
            <a:srgbClr val="DC3545"/>
          </a:solidFill>
          <a:ln/>
        </p:spPr>
      </p:sp>
      <p:sp>
        <p:nvSpPr>
          <p:cNvPr id="11" name="Text 9"/>
          <p:cNvSpPr/>
          <p:nvPr/>
        </p:nvSpPr>
        <p:spPr>
          <a:xfrm>
            <a:off x="960120" y="2560320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突然始まった「今まで生きてきた中で最もひどい頭痛」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2980944"/>
            <a:ext cx="8229600" cy="3657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3" name="Shape 11"/>
          <p:cNvSpPr/>
          <p:nvPr/>
        </p:nvSpPr>
        <p:spPr>
          <a:xfrm>
            <a:off x="594360" y="3054096"/>
            <a:ext cx="219456" cy="219456"/>
          </a:xfrm>
          <a:prstGeom prst="ellipse">
            <a:avLst/>
          </a:prstGeom>
          <a:solidFill>
            <a:srgbClr val="DC3545"/>
          </a:solidFill>
          <a:ln/>
        </p:spPr>
      </p:sp>
      <p:sp>
        <p:nvSpPr>
          <p:cNvPr id="14" name="Text 12"/>
          <p:cNvSpPr/>
          <p:nvPr/>
        </p:nvSpPr>
        <p:spPr>
          <a:xfrm>
            <a:off x="960120" y="2980944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頭痛と同時に意識を失いかけた・失った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57200" y="3401568"/>
            <a:ext cx="8229600" cy="365760"/>
          </a:xfrm>
          <a:prstGeom prst="rect">
            <a:avLst/>
          </a:prstGeom>
          <a:solidFill>
            <a:srgbClr val="FFF5F5"/>
          </a:solidFill>
          <a:ln/>
        </p:spPr>
      </p:sp>
      <p:sp>
        <p:nvSpPr>
          <p:cNvPr id="16" name="Shape 14"/>
          <p:cNvSpPr/>
          <p:nvPr/>
        </p:nvSpPr>
        <p:spPr>
          <a:xfrm>
            <a:off x="594360" y="3474720"/>
            <a:ext cx="219456" cy="219456"/>
          </a:xfrm>
          <a:prstGeom prst="ellipse">
            <a:avLst/>
          </a:prstGeom>
          <a:solidFill>
            <a:srgbClr val="DC3545"/>
          </a:solidFill>
          <a:ln/>
        </p:spPr>
      </p:sp>
      <p:sp>
        <p:nvSpPr>
          <p:cNvPr id="17" name="Text 15"/>
          <p:cNvSpPr/>
          <p:nvPr/>
        </p:nvSpPr>
        <p:spPr>
          <a:xfrm>
            <a:off x="960120" y="3401568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頭痛と同時に首が硬くなった（項部硬直）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57200" y="3822192"/>
            <a:ext cx="8229600" cy="3657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9" name="Shape 17"/>
          <p:cNvSpPr/>
          <p:nvPr/>
        </p:nvSpPr>
        <p:spPr>
          <a:xfrm>
            <a:off x="594360" y="3895344"/>
            <a:ext cx="219456" cy="219456"/>
          </a:xfrm>
          <a:prstGeom prst="ellipse">
            <a:avLst/>
          </a:prstGeom>
          <a:solidFill>
            <a:srgbClr val="DC3545"/>
          </a:solidFill>
          <a:ln/>
        </p:spPr>
      </p:sp>
      <p:sp>
        <p:nvSpPr>
          <p:cNvPr id="20" name="Text 18"/>
          <p:cNvSpPr/>
          <p:nvPr/>
        </p:nvSpPr>
        <p:spPr>
          <a:xfrm>
            <a:off x="960120" y="3822192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頭痛に加えて手足の麻痺・ろれつが回らない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57200" y="4242816"/>
            <a:ext cx="8229600" cy="365760"/>
          </a:xfrm>
          <a:prstGeom prst="rect">
            <a:avLst/>
          </a:prstGeom>
          <a:solidFill>
            <a:srgbClr val="FFF5F5"/>
          </a:solidFill>
          <a:ln/>
        </p:spPr>
      </p:sp>
      <p:sp>
        <p:nvSpPr>
          <p:cNvPr id="22" name="Shape 20"/>
          <p:cNvSpPr/>
          <p:nvPr/>
        </p:nvSpPr>
        <p:spPr>
          <a:xfrm>
            <a:off x="594360" y="4315968"/>
            <a:ext cx="219456" cy="219456"/>
          </a:xfrm>
          <a:prstGeom prst="ellipse">
            <a:avLst/>
          </a:prstGeom>
          <a:solidFill>
            <a:srgbClr val="DC3545"/>
          </a:solidFill>
          <a:ln/>
        </p:spPr>
      </p:sp>
      <p:sp>
        <p:nvSpPr>
          <p:cNvPr id="23" name="Text 21"/>
          <p:cNvSpPr/>
          <p:nvPr/>
        </p:nvSpPr>
        <p:spPr>
          <a:xfrm>
            <a:off x="960120" y="4242816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頭痛と同時に高熱・意識の混濁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8412480" y="47548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36E72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4/9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2C5AA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危険な頭痛のレッドフラッグ ― SNNOOP10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36E72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国際頭痛学会が提唱。1つでも当てはまれば医療機関での精査が必要です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274320" y="1417320"/>
            <a:ext cx="4206240" cy="7498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1417320"/>
            <a:ext cx="548640" cy="749808"/>
          </a:xfrm>
          <a:prstGeom prst="rect">
            <a:avLst/>
          </a:prstGeom>
          <a:solidFill>
            <a:srgbClr val="DC3545"/>
          </a:solidFill>
          <a:ln/>
        </p:spPr>
      </p:sp>
      <p:sp>
        <p:nvSpPr>
          <p:cNvPr id="7" name="Text 5"/>
          <p:cNvSpPr/>
          <p:nvPr/>
        </p:nvSpPr>
        <p:spPr>
          <a:xfrm>
            <a:off x="274320" y="1417320"/>
            <a:ext cx="548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14400" y="1435608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5AA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Systemic symptoms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14400" y="173736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全身症状：発熱・体重減少・悪性腫瘍の既往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74320" y="2304288"/>
            <a:ext cx="4206240" cy="7498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74320" y="2304288"/>
            <a:ext cx="548640" cy="749808"/>
          </a:xfrm>
          <a:prstGeom prst="rect">
            <a:avLst/>
          </a:prstGeom>
          <a:solidFill>
            <a:srgbClr val="DC3545"/>
          </a:solidFill>
          <a:ln/>
        </p:spPr>
      </p:sp>
      <p:sp>
        <p:nvSpPr>
          <p:cNvPr id="12" name="Text 10"/>
          <p:cNvSpPr/>
          <p:nvPr/>
        </p:nvSpPr>
        <p:spPr>
          <a:xfrm>
            <a:off x="274320" y="2304288"/>
            <a:ext cx="548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914400" y="2322576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5AA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Neuropathy / Neurodeficit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914400" y="2624328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神経症状：麻痺・言語障害・視力障害・意識変容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274320" y="3191256"/>
            <a:ext cx="4206240" cy="7498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274320" y="3191256"/>
            <a:ext cx="548640" cy="749808"/>
          </a:xfrm>
          <a:prstGeom prst="rect">
            <a:avLst/>
          </a:prstGeom>
          <a:solidFill>
            <a:srgbClr val="DC3545"/>
          </a:solidFill>
          <a:ln/>
        </p:spPr>
      </p:sp>
      <p:sp>
        <p:nvSpPr>
          <p:cNvPr id="17" name="Text 15"/>
          <p:cNvSpPr/>
          <p:nvPr/>
        </p:nvSpPr>
        <p:spPr>
          <a:xfrm>
            <a:off x="274320" y="3191256"/>
            <a:ext cx="548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914400" y="3209544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5AA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New / different headache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914400" y="3511296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新しい頭痛・いつもと違う頭痛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274320" y="4078224"/>
            <a:ext cx="4206240" cy="7498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274320" y="4078224"/>
            <a:ext cx="548640" cy="749808"/>
          </a:xfrm>
          <a:prstGeom prst="rect">
            <a:avLst/>
          </a:prstGeom>
          <a:solidFill>
            <a:srgbClr val="DC3545"/>
          </a:solidFill>
          <a:ln/>
        </p:spPr>
      </p:sp>
      <p:sp>
        <p:nvSpPr>
          <p:cNvPr id="22" name="Text 20"/>
          <p:cNvSpPr/>
          <p:nvPr/>
        </p:nvSpPr>
        <p:spPr>
          <a:xfrm>
            <a:off x="274320" y="4078224"/>
            <a:ext cx="548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914400" y="4096512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5AA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Onset thunderclap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914400" y="4398264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突然発症：雷鳴頭痛・1分以内に最強になる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54880" y="1417320"/>
            <a:ext cx="4206240" cy="7498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54880" y="1417320"/>
            <a:ext cx="548640" cy="749808"/>
          </a:xfrm>
          <a:prstGeom prst="rect">
            <a:avLst/>
          </a:prstGeom>
          <a:solidFill>
            <a:srgbClr val="DC3545"/>
          </a:solidFill>
          <a:ln/>
        </p:spPr>
      </p:sp>
      <p:sp>
        <p:nvSpPr>
          <p:cNvPr id="27" name="Text 25"/>
          <p:cNvSpPr/>
          <p:nvPr/>
        </p:nvSpPr>
        <p:spPr>
          <a:xfrm>
            <a:off x="4754880" y="1417320"/>
            <a:ext cx="548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5394960" y="1435608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5AA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Older age (&gt;50)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5394960" y="173736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高齢発症：50歳以降に初めて起こった頭痛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4754880" y="2304288"/>
            <a:ext cx="4206240" cy="7498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4754880" y="2304288"/>
            <a:ext cx="548640" cy="749808"/>
          </a:xfrm>
          <a:prstGeom prst="rect">
            <a:avLst/>
          </a:prstGeom>
          <a:solidFill>
            <a:srgbClr val="DC3545"/>
          </a:solidFill>
          <a:ln/>
        </p:spPr>
      </p:sp>
      <p:sp>
        <p:nvSpPr>
          <p:cNvPr id="32" name="Text 30"/>
          <p:cNvSpPr/>
          <p:nvPr/>
        </p:nvSpPr>
        <p:spPr>
          <a:xfrm>
            <a:off x="4754880" y="2304288"/>
            <a:ext cx="548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5394960" y="2322576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5AA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Progressive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5394960" y="2624328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進行性：徐々に悪化している頭痛パターン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4754880" y="3191256"/>
            <a:ext cx="4206240" cy="7498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4754880" y="3191256"/>
            <a:ext cx="548640" cy="749808"/>
          </a:xfrm>
          <a:prstGeom prst="rect">
            <a:avLst/>
          </a:prstGeom>
          <a:solidFill>
            <a:srgbClr val="DC3545"/>
          </a:solidFill>
          <a:ln/>
        </p:spPr>
      </p:sp>
      <p:sp>
        <p:nvSpPr>
          <p:cNvPr id="37" name="Text 35"/>
          <p:cNvSpPr/>
          <p:nvPr/>
        </p:nvSpPr>
        <p:spPr>
          <a:xfrm>
            <a:off x="4754880" y="3191256"/>
            <a:ext cx="548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+4</a:t>
            </a:r>
            <a:endParaRPr lang="en-US" sz="1800" dirty="0"/>
          </a:p>
        </p:txBody>
      </p:sp>
      <p:sp>
        <p:nvSpPr>
          <p:cNvPr id="38" name="Text 36"/>
          <p:cNvSpPr/>
          <p:nvPr/>
        </p:nvSpPr>
        <p:spPr>
          <a:xfrm>
            <a:off x="5394960" y="3209544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5AA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追加サイン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5394960" y="3511296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体位変換で増悪 / 咳・いきみで誘発 / 免疫不全 / 妊娠・産褥期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8412480" y="47548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36E72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5/9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2C5AA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救急車 vs 専門外来 ― どちらに行くべきか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274320" y="914400"/>
            <a:ext cx="3931920" cy="38404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74320" y="914400"/>
            <a:ext cx="3931920" cy="502920"/>
          </a:xfrm>
          <a:prstGeom prst="rect">
            <a:avLst/>
          </a:prstGeom>
          <a:solidFill>
            <a:srgbClr val="DC3545"/>
          </a:solidFill>
          <a:ln/>
        </p:spPr>
      </p:sp>
      <p:sp>
        <p:nvSpPr>
          <p:cNvPr id="6" name="Text 4"/>
          <p:cNvSpPr/>
          <p:nvPr/>
        </p:nvSpPr>
        <p:spPr>
          <a:xfrm>
            <a:off x="274320" y="91440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今すぐ119番（救急車）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57200" y="1636776"/>
            <a:ext cx="274320" cy="274320"/>
          </a:xfrm>
          <a:prstGeom prst="ellipse">
            <a:avLst/>
          </a:prstGeom>
          <a:solidFill>
            <a:srgbClr val="DC3545"/>
          </a:solidFill>
          <a:ln/>
        </p:spPr>
      </p:sp>
      <p:sp>
        <p:nvSpPr>
          <p:cNvPr id="8" name="Text 6"/>
          <p:cNvSpPr/>
          <p:nvPr/>
        </p:nvSpPr>
        <p:spPr>
          <a:xfrm>
            <a:off x="868680" y="150876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今まで経験なし・突然始まった最強の頭痛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2258568"/>
            <a:ext cx="274320" cy="274320"/>
          </a:xfrm>
          <a:prstGeom prst="ellipse">
            <a:avLst/>
          </a:prstGeom>
          <a:solidFill>
            <a:srgbClr val="DC3545"/>
          </a:solidFill>
          <a:ln/>
        </p:spPr>
      </p:sp>
      <p:sp>
        <p:nvSpPr>
          <p:cNvPr id="10" name="Text 8"/>
          <p:cNvSpPr/>
          <p:nvPr/>
        </p:nvSpPr>
        <p:spPr>
          <a:xfrm>
            <a:off x="868680" y="2130552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意識がおかしい・呼びかけに反応しない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2880360"/>
            <a:ext cx="274320" cy="274320"/>
          </a:xfrm>
          <a:prstGeom prst="ellipse">
            <a:avLst/>
          </a:prstGeom>
          <a:solidFill>
            <a:srgbClr val="DC3545"/>
          </a:solidFill>
          <a:ln/>
        </p:spPr>
      </p:sp>
      <p:sp>
        <p:nvSpPr>
          <p:cNvPr id="12" name="Text 10"/>
          <p:cNvSpPr/>
          <p:nvPr/>
        </p:nvSpPr>
        <p:spPr>
          <a:xfrm>
            <a:off x="868680" y="2752344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手足の麻痺・顔の歪み・ろれつが回らない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3502152"/>
            <a:ext cx="274320" cy="274320"/>
          </a:xfrm>
          <a:prstGeom prst="ellipse">
            <a:avLst/>
          </a:prstGeom>
          <a:solidFill>
            <a:srgbClr val="DC3545"/>
          </a:solidFill>
          <a:ln/>
        </p:spPr>
      </p:sp>
      <p:sp>
        <p:nvSpPr>
          <p:cNvPr id="14" name="Text 12"/>
          <p:cNvSpPr/>
          <p:nvPr/>
        </p:nvSpPr>
        <p:spPr>
          <a:xfrm>
            <a:off x="868680" y="3374136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高熱＋頭痛＋首が前に曲がらない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4123944"/>
            <a:ext cx="274320" cy="274320"/>
          </a:xfrm>
          <a:prstGeom prst="ellipse">
            <a:avLst/>
          </a:prstGeom>
          <a:solidFill>
            <a:srgbClr val="DC3545"/>
          </a:solidFill>
          <a:ln/>
        </p:spPr>
      </p:sp>
      <p:sp>
        <p:nvSpPr>
          <p:cNvPr id="16" name="Text 14"/>
          <p:cNvSpPr/>
          <p:nvPr/>
        </p:nvSpPr>
        <p:spPr>
          <a:xfrm>
            <a:off x="868680" y="3995928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けいれん発作を起こした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0" y="914400"/>
            <a:ext cx="4297680" cy="38404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572000" y="914400"/>
            <a:ext cx="4297680" cy="502920"/>
          </a:xfrm>
          <a:prstGeom prst="rect">
            <a:avLst/>
          </a:prstGeom>
          <a:solidFill>
            <a:srgbClr val="E8850C"/>
          </a:solidFill>
          <a:ln/>
        </p:spPr>
      </p:sp>
      <p:sp>
        <p:nvSpPr>
          <p:cNvPr id="19" name="Text 17"/>
          <p:cNvSpPr/>
          <p:nvPr/>
        </p:nvSpPr>
        <p:spPr>
          <a:xfrm>
            <a:off x="4572000" y="914400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数日以内に専門外来（脳神経内科）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4709160" y="1636776"/>
            <a:ext cx="274320" cy="274320"/>
          </a:xfrm>
          <a:prstGeom prst="ellipse">
            <a:avLst/>
          </a:prstGeom>
          <a:solidFill>
            <a:srgbClr val="E8850C"/>
          </a:solidFill>
          <a:ln/>
        </p:spPr>
      </p:sp>
      <p:sp>
        <p:nvSpPr>
          <p:cNvPr id="21" name="Text 19"/>
          <p:cNvSpPr/>
          <p:nvPr/>
        </p:nvSpPr>
        <p:spPr>
          <a:xfrm>
            <a:off x="5120640" y="150876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いつもの頭痛と何か違う気がする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709160" y="2258568"/>
            <a:ext cx="274320" cy="274320"/>
          </a:xfrm>
          <a:prstGeom prst="ellipse">
            <a:avLst/>
          </a:prstGeom>
          <a:solidFill>
            <a:srgbClr val="E8850C"/>
          </a:solidFill>
          <a:ln/>
        </p:spPr>
      </p:sp>
      <p:sp>
        <p:nvSpPr>
          <p:cNvPr id="23" name="Text 21"/>
          <p:cNvSpPr/>
          <p:nvPr/>
        </p:nvSpPr>
        <p:spPr>
          <a:xfrm>
            <a:off x="5120640" y="2130552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頭痛の頻度・強さが最近増してきた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709160" y="2880360"/>
            <a:ext cx="274320" cy="274320"/>
          </a:xfrm>
          <a:prstGeom prst="ellipse">
            <a:avLst/>
          </a:prstGeom>
          <a:solidFill>
            <a:srgbClr val="E8850C"/>
          </a:solidFill>
          <a:ln/>
        </p:spPr>
      </p:sp>
      <p:sp>
        <p:nvSpPr>
          <p:cNvPr id="25" name="Text 23"/>
          <p:cNvSpPr/>
          <p:nvPr/>
        </p:nvSpPr>
        <p:spPr>
          <a:xfrm>
            <a:off x="5120640" y="2752344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市販薬を月に10日以上飲んでいる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4709160" y="3502152"/>
            <a:ext cx="274320" cy="274320"/>
          </a:xfrm>
          <a:prstGeom prst="ellipse">
            <a:avLst/>
          </a:prstGeom>
          <a:solidFill>
            <a:srgbClr val="E8850C"/>
          </a:solidFill>
          <a:ln/>
        </p:spPr>
      </p:sp>
      <p:sp>
        <p:nvSpPr>
          <p:cNvPr id="27" name="Text 25"/>
          <p:cNvSpPr/>
          <p:nvPr/>
        </p:nvSpPr>
        <p:spPr>
          <a:xfrm>
            <a:off x="5120640" y="3374136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50歳以降に初めて頭痛が出現した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4709160" y="4123944"/>
            <a:ext cx="274320" cy="274320"/>
          </a:xfrm>
          <a:prstGeom prst="ellipse">
            <a:avLst/>
          </a:prstGeom>
          <a:solidFill>
            <a:srgbClr val="E8850C"/>
          </a:solidFill>
          <a:ln/>
        </p:spPr>
      </p:sp>
      <p:sp>
        <p:nvSpPr>
          <p:cNvPr id="29" name="Text 27"/>
          <p:cNvSpPr/>
          <p:nvPr/>
        </p:nvSpPr>
        <p:spPr>
          <a:xfrm>
            <a:off x="5120640" y="3995928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日常生活・仕事に支障が出ている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8412480" y="47548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36E72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6/9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2C5AA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代表的な一次性頭痛 ― 3種類を押さえよう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274320" y="914400"/>
            <a:ext cx="2743200" cy="4023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74320" y="914400"/>
            <a:ext cx="2743200" cy="594360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6" name="Text 4"/>
          <p:cNvSpPr/>
          <p:nvPr/>
        </p:nvSpPr>
        <p:spPr>
          <a:xfrm>
            <a:off x="274320" y="9144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緊張型頭痛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274320" y="126187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最も頻度が高い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11480" y="1828800"/>
            <a:ext cx="182880" cy="182880"/>
          </a:xfrm>
          <a:prstGeom prst="ellipse">
            <a:avLst/>
          </a:prstGeom>
          <a:solidFill>
            <a:srgbClr val="4A90D9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60020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頭全体の締め付け感・重い圧迫感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11480" y="2606040"/>
            <a:ext cx="182880" cy="182880"/>
          </a:xfrm>
          <a:prstGeom prst="ellipse">
            <a:avLst/>
          </a:prstGeom>
          <a:solidFill>
            <a:srgbClr val="4A90D9"/>
          </a:solidFill>
          <a:ln/>
        </p:spPr>
      </p:sp>
      <p:sp>
        <p:nvSpPr>
          <p:cNvPr id="11" name="Text 9"/>
          <p:cNvSpPr/>
          <p:nvPr/>
        </p:nvSpPr>
        <p:spPr>
          <a:xfrm>
            <a:off x="685800" y="237744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日本人の約30〜40%が経験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11480" y="3383280"/>
            <a:ext cx="182880" cy="182880"/>
          </a:xfrm>
          <a:prstGeom prst="ellipse">
            <a:avLst/>
          </a:prstGeom>
          <a:solidFill>
            <a:srgbClr val="4A90D9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315468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市販鎮痛薬が有効（使い過ぎ注意）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11480" y="4160520"/>
            <a:ext cx="182880" cy="182880"/>
          </a:xfrm>
          <a:prstGeom prst="ellipse">
            <a:avLst/>
          </a:prstGeom>
          <a:solidFill>
            <a:srgbClr val="4A90D9"/>
          </a:solidFill>
          <a:ln/>
        </p:spPr>
      </p:sp>
      <p:sp>
        <p:nvSpPr>
          <p:cNvPr id="15" name="Text 13"/>
          <p:cNvSpPr/>
          <p:nvPr/>
        </p:nvSpPr>
        <p:spPr>
          <a:xfrm>
            <a:off x="685800" y="393192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長時間のPC・スマホ作業で増加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200400" y="914400"/>
            <a:ext cx="2743200" cy="4023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200400" y="914400"/>
            <a:ext cx="2743200" cy="594360"/>
          </a:xfrm>
          <a:prstGeom prst="rect">
            <a:avLst/>
          </a:prstGeom>
          <a:solidFill>
            <a:srgbClr val="2C5AA0"/>
          </a:solidFill>
          <a:ln/>
        </p:spPr>
      </p:sp>
      <p:sp>
        <p:nvSpPr>
          <p:cNvPr id="18" name="Text 16"/>
          <p:cNvSpPr/>
          <p:nvPr/>
        </p:nvSpPr>
        <p:spPr>
          <a:xfrm>
            <a:off x="3200400" y="9144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片頭痛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3200400" y="126187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脳神経内科で最もよく診る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337560" y="1828800"/>
            <a:ext cx="182880" cy="182880"/>
          </a:xfrm>
          <a:prstGeom prst="ellipse">
            <a:avLst/>
          </a:prstGeom>
          <a:solidFill>
            <a:srgbClr val="2C5AA0"/>
          </a:solidFill>
          <a:ln/>
        </p:spPr>
      </p:sp>
      <p:sp>
        <p:nvSpPr>
          <p:cNvPr id="21" name="Text 19"/>
          <p:cNvSpPr/>
          <p:nvPr/>
        </p:nvSpPr>
        <p:spPr>
          <a:xfrm>
            <a:off x="3611880" y="160020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片側のズキンズキンする拍動性頭痛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337560" y="2606040"/>
            <a:ext cx="182880" cy="182880"/>
          </a:xfrm>
          <a:prstGeom prst="ellipse">
            <a:avLst/>
          </a:prstGeom>
          <a:solidFill>
            <a:srgbClr val="2C5AA0"/>
          </a:solidFill>
          <a:ln/>
        </p:spPr>
      </p:sp>
      <p:sp>
        <p:nvSpPr>
          <p:cNvPr id="23" name="Text 21"/>
          <p:cNvSpPr/>
          <p:nvPr/>
        </p:nvSpPr>
        <p:spPr>
          <a:xfrm>
            <a:off x="3611880" y="237744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吐き気・光過敏・音過敏を伴う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3337560" y="3383280"/>
            <a:ext cx="182880" cy="182880"/>
          </a:xfrm>
          <a:prstGeom prst="ellipse">
            <a:avLst/>
          </a:prstGeom>
          <a:solidFill>
            <a:srgbClr val="2C5AA0"/>
          </a:solidFill>
          <a:ln/>
        </p:spPr>
      </p:sp>
      <p:sp>
        <p:nvSpPr>
          <p:cNvPr id="25" name="Text 23"/>
          <p:cNvSpPr/>
          <p:nvPr/>
        </p:nvSpPr>
        <p:spPr>
          <a:xfrm>
            <a:off x="3611880" y="315468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日本では約840万人（20〜40代女性に多い）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337560" y="4160520"/>
            <a:ext cx="182880" cy="182880"/>
          </a:xfrm>
          <a:prstGeom prst="ellipse">
            <a:avLst/>
          </a:prstGeom>
          <a:solidFill>
            <a:srgbClr val="2C5AA0"/>
          </a:solidFill>
          <a:ln/>
        </p:spPr>
      </p:sp>
      <p:sp>
        <p:nvSpPr>
          <p:cNvPr id="27" name="Text 25"/>
          <p:cNvSpPr/>
          <p:nvPr/>
        </p:nvSpPr>
        <p:spPr>
          <a:xfrm>
            <a:off x="3611880" y="393192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トリプタン系薬が特効薬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126480" y="914400"/>
            <a:ext cx="2743200" cy="4023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6126480" y="914400"/>
            <a:ext cx="2743200" cy="594360"/>
          </a:xfrm>
          <a:prstGeom prst="rect">
            <a:avLst/>
          </a:prstGeom>
          <a:solidFill>
            <a:srgbClr val="DC3545"/>
          </a:solidFill>
          <a:ln/>
        </p:spPr>
      </p:sp>
      <p:sp>
        <p:nvSpPr>
          <p:cNvPr id="30" name="Text 28"/>
          <p:cNvSpPr/>
          <p:nvPr/>
        </p:nvSpPr>
        <p:spPr>
          <a:xfrm>
            <a:off x="6126480" y="9144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群発頭痛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6126480" y="126187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最もつらい頭痛のひとつ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263640" y="1828800"/>
            <a:ext cx="182880" cy="182880"/>
          </a:xfrm>
          <a:prstGeom prst="ellipse">
            <a:avLst/>
          </a:prstGeom>
          <a:solidFill>
            <a:srgbClr val="DC3545"/>
          </a:solidFill>
          <a:ln/>
        </p:spPr>
      </p:sp>
      <p:sp>
        <p:nvSpPr>
          <p:cNvPr id="33" name="Text 31"/>
          <p:cNvSpPr/>
          <p:nvPr/>
        </p:nvSpPr>
        <p:spPr>
          <a:xfrm>
            <a:off x="6537960" y="160020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目の奥をえぐるような片側激痛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263640" y="2606040"/>
            <a:ext cx="182880" cy="182880"/>
          </a:xfrm>
          <a:prstGeom prst="ellipse">
            <a:avLst/>
          </a:prstGeom>
          <a:solidFill>
            <a:srgbClr val="DC3545"/>
          </a:solidFill>
          <a:ln/>
        </p:spPr>
      </p:sp>
      <p:sp>
        <p:nvSpPr>
          <p:cNvPr id="35" name="Text 33"/>
          <p:cNvSpPr/>
          <p:nvPr/>
        </p:nvSpPr>
        <p:spPr>
          <a:xfrm>
            <a:off x="6537960" y="237744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1〜2時間続き数週間毎日同時刻に発作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6263640" y="3383280"/>
            <a:ext cx="182880" cy="182880"/>
          </a:xfrm>
          <a:prstGeom prst="ellipse">
            <a:avLst/>
          </a:prstGeom>
          <a:solidFill>
            <a:srgbClr val="DC3545"/>
          </a:solidFill>
          <a:ln/>
        </p:spPr>
      </p:sp>
      <p:sp>
        <p:nvSpPr>
          <p:cNvPr id="37" name="Text 35"/>
          <p:cNvSpPr/>
          <p:nvPr/>
        </p:nvSpPr>
        <p:spPr>
          <a:xfrm>
            <a:off x="6537960" y="315468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涙・鼻水・まぶたの腫れを伴う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6263640" y="4160520"/>
            <a:ext cx="182880" cy="182880"/>
          </a:xfrm>
          <a:prstGeom prst="ellipse">
            <a:avLst/>
          </a:prstGeom>
          <a:solidFill>
            <a:srgbClr val="DC3545"/>
          </a:solidFill>
          <a:ln/>
        </p:spPr>
      </p:sp>
      <p:sp>
        <p:nvSpPr>
          <p:cNvPr id="39" name="Text 37"/>
          <p:cNvSpPr/>
          <p:nvPr/>
        </p:nvSpPr>
        <p:spPr>
          <a:xfrm>
            <a:off x="6537960" y="393192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トリプタン注射・酸素吸入が有効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8412480" y="47548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36E72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7/9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2C5AA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「警告頭痛」を見逃さない ― SAH発症の前兆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822960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005840"/>
            <a:ext cx="137160" cy="1371600"/>
          </a:xfrm>
          <a:prstGeom prst="rect">
            <a:avLst/>
          </a:prstGeom>
          <a:solidFill>
            <a:srgbClr val="E8850C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051560"/>
            <a:ext cx="76809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700" b="1" dirty="0">
                <a:solidFill>
                  <a:srgbClr val="E8850C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警告頭痛（sentinel headache）</a:t>
            </a:r>
            <a:endParaRPr lang="en-US" sz="17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くも膜下出血の約30〜50%は、大出血の数日〜数週間前に一過性の頭痛が起こる</a:t>
            </a:r>
            <a:endParaRPr lang="en-US" sz="17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2C5AA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「突然ひどい頭痛がして、数時間で治まった」 → この段階で受診すれば動脈瘤破裂を防げる場合がある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457200" y="2606040"/>
            <a:ext cx="8229600" cy="1005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2606040"/>
            <a:ext cx="137160" cy="1005840"/>
          </a:xfrm>
          <a:prstGeom prst="rect">
            <a:avLst/>
          </a:prstGeom>
          <a:solidFill>
            <a:srgbClr val="F5C518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2651760"/>
            <a:ext cx="7680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b="1" dirty="0">
                <a:solidFill>
                  <a:srgbClr val="E8850C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50歳以降の新規頭痛は特に注意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脳腫瘍・側頭動脈炎（巨細胞性動脈炎）など見逃せない疾患を念頭に。眼科・神経内科への早期受診を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457200" y="3749040"/>
            <a:ext cx="8229600" cy="914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7200" y="3749040"/>
            <a:ext cx="137160" cy="914400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12" name="Text 10"/>
          <p:cNvSpPr/>
          <p:nvPr/>
        </p:nvSpPr>
        <p:spPr>
          <a:xfrm>
            <a:off x="777240" y="379476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2C5AA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薬物乱用頭痛（MOH）にも注意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市販鎮痛薬を月10日以上服用 → 慢性頭痛へ移行するリスク。脳神経内科への相談を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8412480" y="47548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36E72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8/9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B3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3716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A90D9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まとめ ― Take Home Message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822960"/>
            <a:ext cx="8229600" cy="713232"/>
          </a:xfrm>
          <a:prstGeom prst="rect">
            <a:avLst/>
          </a:prstGeom>
          <a:solidFill>
            <a:srgbClr val="1F3D5C"/>
          </a:solidFill>
          <a:ln/>
        </p:spPr>
      </p:sp>
      <p:sp>
        <p:nvSpPr>
          <p:cNvPr id="6" name="Shape 4"/>
          <p:cNvSpPr/>
          <p:nvPr/>
        </p:nvSpPr>
        <p:spPr>
          <a:xfrm>
            <a:off x="594360" y="950976"/>
            <a:ext cx="457200" cy="457200"/>
          </a:xfrm>
          <a:prstGeom prst="ellipse">
            <a:avLst/>
          </a:prstGeom>
          <a:solidFill>
            <a:srgbClr val="4A90D9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9509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3A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234440" y="822960"/>
            <a:ext cx="7223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頭痛は「一次性（命に関わらない）」と「二次性（要注意）」に大別される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1664208"/>
            <a:ext cx="8229600" cy="713232"/>
          </a:xfrm>
          <a:prstGeom prst="rect">
            <a:avLst/>
          </a:prstGeom>
          <a:solidFill>
            <a:srgbClr val="1F3D5C"/>
          </a:solidFill>
          <a:ln/>
        </p:spPr>
      </p:sp>
      <p:sp>
        <p:nvSpPr>
          <p:cNvPr id="10" name="Shape 8"/>
          <p:cNvSpPr/>
          <p:nvPr/>
        </p:nvSpPr>
        <p:spPr>
          <a:xfrm>
            <a:off x="594360" y="1792224"/>
            <a:ext cx="457200" cy="457200"/>
          </a:xfrm>
          <a:prstGeom prst="ellipse">
            <a:avLst/>
          </a:prstGeom>
          <a:solidFill>
            <a:srgbClr val="DC3545"/>
          </a:solidFill>
          <a:ln/>
        </p:spPr>
      </p:sp>
      <p:sp>
        <p:nvSpPr>
          <p:cNvPr id="11" name="Text 9"/>
          <p:cNvSpPr/>
          <p:nvPr/>
        </p:nvSpPr>
        <p:spPr>
          <a:xfrm>
            <a:off x="594360" y="179222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3A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234440" y="1664208"/>
            <a:ext cx="7223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「突然始まった人生最悪の頭痛」はくも膜下出血の可能性 → 即119番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57200" y="2505456"/>
            <a:ext cx="8229600" cy="713232"/>
          </a:xfrm>
          <a:prstGeom prst="rect">
            <a:avLst/>
          </a:prstGeom>
          <a:solidFill>
            <a:srgbClr val="1F3D5C"/>
          </a:solidFill>
          <a:ln/>
        </p:spPr>
      </p:sp>
      <p:sp>
        <p:nvSpPr>
          <p:cNvPr id="14" name="Shape 12"/>
          <p:cNvSpPr/>
          <p:nvPr/>
        </p:nvSpPr>
        <p:spPr>
          <a:xfrm>
            <a:off x="594360" y="2633472"/>
            <a:ext cx="457200" cy="457200"/>
          </a:xfrm>
          <a:prstGeom prst="ellipse">
            <a:avLst/>
          </a:prstGeom>
          <a:solidFill>
            <a:srgbClr val="E8850C"/>
          </a:solidFill>
          <a:ln/>
        </p:spPr>
      </p:sp>
      <p:sp>
        <p:nvSpPr>
          <p:cNvPr id="15" name="Text 13"/>
          <p:cNvSpPr/>
          <p:nvPr/>
        </p:nvSpPr>
        <p:spPr>
          <a:xfrm>
            <a:off x="594360" y="2633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3A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234440" y="2505456"/>
            <a:ext cx="7223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SNNOOP10のサインが1つでもあれば必ず医療機関で精査を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57200" y="3346704"/>
            <a:ext cx="8229600" cy="713232"/>
          </a:xfrm>
          <a:prstGeom prst="rect">
            <a:avLst/>
          </a:prstGeom>
          <a:solidFill>
            <a:srgbClr val="1F3D5C"/>
          </a:solidFill>
          <a:ln/>
        </p:spPr>
      </p:sp>
      <p:sp>
        <p:nvSpPr>
          <p:cNvPr id="18" name="Shape 16"/>
          <p:cNvSpPr/>
          <p:nvPr/>
        </p:nvSpPr>
        <p:spPr>
          <a:xfrm>
            <a:off x="594360" y="3474720"/>
            <a:ext cx="457200" cy="457200"/>
          </a:xfrm>
          <a:prstGeom prst="ellipse">
            <a:avLst/>
          </a:prstGeom>
          <a:solidFill>
            <a:srgbClr val="F5C518"/>
          </a:solidFill>
          <a:ln/>
        </p:spPr>
      </p:sp>
      <p:sp>
        <p:nvSpPr>
          <p:cNvPr id="19" name="Text 17"/>
          <p:cNvSpPr/>
          <p:nvPr/>
        </p:nvSpPr>
        <p:spPr>
          <a:xfrm>
            <a:off x="594360" y="3474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3A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1234440" y="3346704"/>
            <a:ext cx="7223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「いつもと何か違う」という感覚を大切に。その直感が命を救うことがある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57200" y="4187952"/>
            <a:ext cx="8229600" cy="713232"/>
          </a:xfrm>
          <a:prstGeom prst="rect">
            <a:avLst/>
          </a:prstGeom>
          <a:solidFill>
            <a:srgbClr val="1F3D5C"/>
          </a:solidFill>
          <a:ln/>
        </p:spPr>
      </p:sp>
      <p:sp>
        <p:nvSpPr>
          <p:cNvPr id="22" name="Shape 20"/>
          <p:cNvSpPr/>
          <p:nvPr/>
        </p:nvSpPr>
        <p:spPr>
          <a:xfrm>
            <a:off x="594360" y="4315968"/>
            <a:ext cx="457200" cy="457200"/>
          </a:xfrm>
          <a:prstGeom prst="ellipse">
            <a:avLst/>
          </a:prstGeom>
          <a:solidFill>
            <a:srgbClr val="28A745"/>
          </a:solidFill>
          <a:ln/>
        </p:spPr>
      </p:sp>
      <p:sp>
        <p:nvSpPr>
          <p:cNvPr id="23" name="Text 21"/>
          <p:cNvSpPr/>
          <p:nvPr/>
        </p:nvSpPr>
        <p:spPr>
          <a:xfrm>
            <a:off x="594360" y="43159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3A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234440" y="4187952"/>
            <a:ext cx="7223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片頭痛・緊張型は脳神経内科で管理できる。我慢せず相談を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457200" y="4937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36E72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医知創造ラボ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この頭痛、病院に行くべき？ ― 危険な頭痛の見分け方</dc:title>
  <dc:subject>PptxGenJS Presentation</dc:subject>
  <dc:creator>今村久司</dc:creator>
  <cp:lastModifiedBy>今村久司</cp:lastModifiedBy>
  <cp:revision>1</cp:revision>
  <dcterms:created xsi:type="dcterms:W3CDTF">2026-04-13T07:11:46Z</dcterms:created>
  <dcterms:modified xsi:type="dcterms:W3CDTF">2026-04-13T07:11:46Z</dcterms:modified>
</cp:coreProperties>
</file>