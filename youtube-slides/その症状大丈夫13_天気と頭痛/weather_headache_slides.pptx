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365760"/>
            <a:ext cx="804672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548640" y="1188720"/>
            <a:ext cx="8046720" cy="1097280"/>
          </a:xfrm>
          <a:prstGeom prst="rect">
            <a:avLst/>
          </a:prstGeom>
          <a:noFill/>
          <a:ln/>
        </p:spPr>
        <p:txBody>
          <a:bodyPr wrap="square" lIns="0" tIns="0" rIns="0" bIns="0" rtlCol="0" anchor="ctr"/>
          <a:lstStyle/>
          <a:p>
            <a:pPr algn="ctr" indent="0" marL="0">
              <a:lnSpc>
                <a:spcPct val="115000"/>
              </a:lnSpc>
              <a:buNone/>
            </a:pPr>
            <a:r>
              <a:rPr lang="en-US" sz="4000" b="1" dirty="0">
                <a:solidFill>
                  <a:srgbClr val="FFFFFF"/>
                </a:solidFill>
                <a:latin typeface="BIZ UDPGothic" pitchFamily="34" charset="0"/>
                <a:ea typeface="BIZ UDPGothic" pitchFamily="34" charset="-122"/>
                <a:cs typeface="BIZ UDPGothic" pitchFamily="34" charset="-120"/>
              </a:rPr>
              <a:t>雨の日に頭が痛くなる</a:t>
            </a:r>
            <a:endParaRPr lang="en-US" sz="4000" dirty="0"/>
          </a:p>
          <a:p>
            <a:pPr algn="ctr" indent="0" marL="0">
              <a:lnSpc>
                <a:spcPct val="115000"/>
              </a:lnSpc>
              <a:buNone/>
            </a:pPr>
            <a:r>
              <a:rPr lang="en-US" sz="4000" b="1" dirty="0">
                <a:solidFill>
                  <a:srgbClr val="FFFFFF"/>
                </a:solidFill>
                <a:latin typeface="BIZ UDPGothic" pitchFamily="34" charset="0"/>
                <a:ea typeface="BIZ UDPGothic" pitchFamily="34" charset="-122"/>
                <a:cs typeface="BIZ UDPGothic" pitchFamily="34" charset="-120"/>
              </a:rPr>
              <a:t>科学的理由</a:t>
            </a:r>
            <a:endParaRPr lang="en-US" sz="4000" dirty="0"/>
          </a:p>
        </p:txBody>
      </p:sp>
      <p:sp>
        <p:nvSpPr>
          <p:cNvPr id="6" name="Shape 4"/>
          <p:cNvSpPr/>
          <p:nvPr/>
        </p:nvSpPr>
        <p:spPr>
          <a:xfrm>
            <a:off x="2286000" y="2468880"/>
            <a:ext cx="4572000" cy="0"/>
          </a:xfrm>
          <a:prstGeom prst="line">
            <a:avLst/>
          </a:prstGeom>
          <a:noFill/>
          <a:ln w="25400">
            <a:solidFill>
              <a:srgbClr val="E8850C"/>
            </a:solidFill>
            <a:prstDash val="solid"/>
          </a:ln>
        </p:spPr>
      </p:sp>
      <p:sp>
        <p:nvSpPr>
          <p:cNvPr id="7" name="Text 5"/>
          <p:cNvSpPr/>
          <p:nvPr/>
        </p:nvSpPr>
        <p:spPr>
          <a:xfrm>
            <a:off x="548640" y="2651760"/>
            <a:ext cx="8046720" cy="822960"/>
          </a:xfrm>
          <a:prstGeom prst="rect">
            <a:avLst/>
          </a:prstGeom>
          <a:noFill/>
          <a:ln/>
        </p:spPr>
        <p:txBody>
          <a:bodyPr wrap="square" lIns="0" tIns="0" rIns="0" bIns="0" rtlCol="0" anchor="ctr"/>
          <a:lstStyle/>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気象病と片頭痛の関係を</a:t>
            </a:r>
            <a:endParaRPr lang="en-US" sz="2400" dirty="0"/>
          </a:p>
          <a:p>
            <a:pPr algn="ctr" indent="0" marL="0">
              <a:lnSpc>
                <a:spcPct val="120000"/>
              </a:lnSpc>
              <a:buNone/>
            </a:pPr>
            <a:r>
              <a:rPr lang="en-US" sz="2400" dirty="0">
                <a:solidFill>
                  <a:srgbClr val="E8850C"/>
                </a:solidFill>
                <a:latin typeface="BIZ UDPGothic" pitchFamily="34" charset="0"/>
                <a:ea typeface="BIZ UDPGothic" pitchFamily="34" charset="-122"/>
                <a:cs typeface="BIZ UDPGothic" pitchFamily="34" charset="-120"/>
              </a:rPr>
              <a:t>脳神経内科医が解説</a:t>
            </a:r>
            <a:endParaRPr lang="en-US" sz="2400" dirty="0"/>
          </a:p>
        </p:txBody>
      </p:sp>
      <p:sp>
        <p:nvSpPr>
          <p:cNvPr id="8" name="Text 6"/>
          <p:cNvSpPr/>
          <p:nvPr/>
        </p:nvSpPr>
        <p:spPr>
          <a:xfrm>
            <a:off x="548640" y="3840480"/>
            <a:ext cx="8046720" cy="365760"/>
          </a:xfrm>
          <a:prstGeom prst="rect">
            <a:avLst/>
          </a:prstGeom>
          <a:noFill/>
          <a:ln/>
        </p:spPr>
        <p:txBody>
          <a:bodyPr wrap="square" lIns="0" tIns="0" rIns="0" bIns="0" rtlCol="0" anchor="ctr"/>
          <a:lstStyle/>
          <a:p>
            <a:pPr algn="ctr" indent="0" marL="0">
              <a:buNone/>
            </a:pPr>
            <a:r>
              <a:rPr lang="en-US" sz="1600" dirty="0">
                <a:solidFill>
                  <a:srgbClr val="90A4AE"/>
                </a:solidFill>
                <a:latin typeface="BIZ UDPGothic" pitchFamily="34" charset="0"/>
                <a:ea typeface="BIZ UDPGothic" pitchFamily="34" charset="-122"/>
                <a:cs typeface="BIZ UDPGothic" pitchFamily="34" charset="-120"/>
              </a:rPr>
              <a:t>その症状、大丈夫？ #13</a:t>
            </a:r>
            <a:endParaRPr lang="en-US" sz="1600" dirty="0"/>
          </a:p>
        </p:txBody>
      </p:sp>
      <p:sp>
        <p:nvSpPr>
          <p:cNvPr id="9" name="Text 7"/>
          <p:cNvSpPr/>
          <p:nvPr/>
        </p:nvSpPr>
        <p:spPr>
          <a:xfrm>
            <a:off x="548640" y="4297680"/>
            <a:ext cx="8046720" cy="365760"/>
          </a:xfrm>
          <a:prstGeom prst="rect">
            <a:avLst/>
          </a:prstGeom>
          <a:noFill/>
          <a:ln/>
        </p:spPr>
        <p:txBody>
          <a:bodyPr wrap="square" lIns="0" tIns="0" rIns="0" bIns="0" rtlCol="0" anchor="ctr"/>
          <a:lstStyle/>
          <a:p>
            <a:pPr algn="ctr" indent="0" marL="0">
              <a:buNone/>
            </a:pPr>
            <a:r>
              <a:rPr lang="en-US" sz="1200" dirty="0">
                <a:solidFill>
                  <a:srgbClr val="78909C"/>
                </a:solidFill>
                <a:latin typeface="BIZ UDPGothic" pitchFamily="34" charset="0"/>
                <a:ea typeface="BIZ UDPGothic" pitchFamily="34" charset="-122"/>
                <a:cs typeface="BIZ UDPGothic" pitchFamily="34" charset="-120"/>
              </a:rPr>
              <a:t>医知創造ラボ ～脳神経内科医がAIで紡ぐ最新医療情報～</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こんな経験、ありませんか？</a:t>
            </a:r>
            <a:endParaRPr lang="en-US" sz="2600" dirty="0"/>
          </a:p>
        </p:txBody>
      </p:sp>
      <p:sp>
        <p:nvSpPr>
          <p:cNvPr id="4" name="Shape 2"/>
          <p:cNvSpPr/>
          <p:nvPr/>
        </p:nvSpPr>
        <p:spPr>
          <a:xfrm>
            <a:off x="548640" y="1005840"/>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1005840"/>
            <a:ext cx="109728" cy="594360"/>
          </a:xfrm>
          <a:prstGeom prst="rect">
            <a:avLst>
              <a:gd name="adj" fmla="val 41667"/>
            </a:avLst>
          </a:prstGeom>
          <a:solidFill>
            <a:srgbClr val="2C5AA0"/>
          </a:solidFill>
          <a:ln/>
        </p:spPr>
      </p:sp>
      <p:sp>
        <p:nvSpPr>
          <p:cNvPr id="6" name="Text 4"/>
          <p:cNvSpPr/>
          <p:nvPr/>
        </p:nvSpPr>
        <p:spPr>
          <a:xfrm>
            <a:off x="777240" y="1051560"/>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463040" y="1051560"/>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雨が降る前に頭が痛くなる</a:t>
            </a:r>
            <a:endParaRPr lang="en-US" sz="2200" dirty="0"/>
          </a:p>
        </p:txBody>
      </p:sp>
      <p:sp>
        <p:nvSpPr>
          <p:cNvPr id="8" name="Shape 6"/>
          <p:cNvSpPr/>
          <p:nvPr/>
        </p:nvSpPr>
        <p:spPr>
          <a:xfrm>
            <a:off x="548640" y="1719072"/>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548640" y="1719072"/>
            <a:ext cx="109728" cy="594360"/>
          </a:xfrm>
          <a:prstGeom prst="rect">
            <a:avLst>
              <a:gd name="adj" fmla="val 41667"/>
            </a:avLst>
          </a:prstGeom>
          <a:solidFill>
            <a:srgbClr val="2C5AA0"/>
          </a:solidFill>
          <a:ln/>
        </p:spPr>
      </p:sp>
      <p:sp>
        <p:nvSpPr>
          <p:cNvPr id="10" name="Text 8"/>
          <p:cNvSpPr/>
          <p:nvPr/>
        </p:nvSpPr>
        <p:spPr>
          <a:xfrm>
            <a:off x="777240" y="1764792"/>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1463040" y="1764792"/>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天気予報を見ると頭痛が予測できる</a:t>
            </a:r>
            <a:endParaRPr lang="en-US" sz="2200" dirty="0"/>
          </a:p>
        </p:txBody>
      </p:sp>
      <p:sp>
        <p:nvSpPr>
          <p:cNvPr id="12" name="Shape 10"/>
          <p:cNvSpPr/>
          <p:nvPr/>
        </p:nvSpPr>
        <p:spPr>
          <a:xfrm>
            <a:off x="548640" y="2432304"/>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548640" y="2432304"/>
            <a:ext cx="109728" cy="594360"/>
          </a:xfrm>
          <a:prstGeom prst="rect">
            <a:avLst>
              <a:gd name="adj" fmla="val 41667"/>
            </a:avLst>
          </a:prstGeom>
          <a:solidFill>
            <a:srgbClr val="2C5AA0"/>
          </a:solidFill>
          <a:ln/>
        </p:spPr>
      </p:sp>
      <p:sp>
        <p:nvSpPr>
          <p:cNvPr id="14" name="Text 12"/>
          <p:cNvSpPr/>
          <p:nvPr/>
        </p:nvSpPr>
        <p:spPr>
          <a:xfrm>
            <a:off x="777240" y="2478024"/>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5" name="Text 13"/>
          <p:cNvSpPr/>
          <p:nvPr/>
        </p:nvSpPr>
        <p:spPr>
          <a:xfrm>
            <a:off x="1463040" y="2478024"/>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台風が近づくと体調が悪くなる</a:t>
            </a:r>
            <a:endParaRPr lang="en-US" sz="2200" dirty="0"/>
          </a:p>
        </p:txBody>
      </p:sp>
      <p:sp>
        <p:nvSpPr>
          <p:cNvPr id="16" name="Shape 14"/>
          <p:cNvSpPr/>
          <p:nvPr/>
        </p:nvSpPr>
        <p:spPr>
          <a:xfrm>
            <a:off x="548640" y="3145536"/>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548640" y="3145536"/>
            <a:ext cx="109728" cy="594360"/>
          </a:xfrm>
          <a:prstGeom prst="rect">
            <a:avLst>
              <a:gd name="adj" fmla="val 41667"/>
            </a:avLst>
          </a:prstGeom>
          <a:solidFill>
            <a:srgbClr val="2C5AA0"/>
          </a:solidFill>
          <a:ln/>
        </p:spPr>
      </p:sp>
      <p:sp>
        <p:nvSpPr>
          <p:cNvPr id="18" name="Text 16"/>
          <p:cNvSpPr/>
          <p:nvPr/>
        </p:nvSpPr>
        <p:spPr>
          <a:xfrm>
            <a:off x="777240" y="3191256"/>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1463040" y="3191256"/>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「気のせい」と言われてつらい</a:t>
            </a:r>
            <a:endParaRPr lang="en-US" sz="2200" dirty="0"/>
          </a:p>
        </p:txBody>
      </p:sp>
      <p:sp>
        <p:nvSpPr>
          <p:cNvPr id="20" name="Shape 18"/>
          <p:cNvSpPr/>
          <p:nvPr/>
        </p:nvSpPr>
        <p:spPr>
          <a:xfrm>
            <a:off x="548640" y="3858768"/>
            <a:ext cx="8046720" cy="594360"/>
          </a:xfrm>
          <a:prstGeom prst="rect">
            <a:avLst>
              <a:gd name="adj" fmla="val 15385"/>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548640" y="3858768"/>
            <a:ext cx="109728" cy="594360"/>
          </a:xfrm>
          <a:prstGeom prst="rect">
            <a:avLst>
              <a:gd name="adj" fmla="val 41667"/>
            </a:avLst>
          </a:prstGeom>
          <a:solidFill>
            <a:srgbClr val="2C5AA0"/>
          </a:solidFill>
          <a:ln/>
        </p:spPr>
      </p:sp>
      <p:sp>
        <p:nvSpPr>
          <p:cNvPr id="22" name="Text 20"/>
          <p:cNvSpPr/>
          <p:nvPr/>
        </p:nvSpPr>
        <p:spPr>
          <a:xfrm>
            <a:off x="777240" y="3904488"/>
            <a:ext cx="64008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1463040" y="3904488"/>
            <a:ext cx="6858000" cy="502920"/>
          </a:xfrm>
          <a:prstGeom prst="rect">
            <a:avLst/>
          </a:prstGeom>
          <a:noFill/>
          <a:ln/>
        </p:spPr>
        <p:txBody>
          <a:bodyPr wrap="square" lIns="0" tIns="0" rIns="0" bIns="0" rtlCol="0" anchor="ctr"/>
          <a:lstStyle/>
          <a:p>
            <a:pPr indent="0" marL="0">
              <a:buNone/>
            </a:pPr>
            <a:r>
              <a:rPr lang="en-US" sz="2200" dirty="0">
                <a:solidFill>
                  <a:srgbClr val="2D3436"/>
                </a:solidFill>
                <a:latin typeface="BIZ UDPGothic" pitchFamily="34" charset="0"/>
                <a:ea typeface="BIZ UDPGothic" pitchFamily="34" charset="-122"/>
                <a:cs typeface="BIZ UDPGothic" pitchFamily="34" charset="-120"/>
              </a:rPr>
              <a:t>痛み止めが手放せない</a:t>
            </a:r>
            <a:endParaRPr lang="en-US" sz="22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なぜ天気で頭痛が起こるか ― 科学的メカニズム</a:t>
            </a:r>
            <a:endParaRPr lang="en-US" sz="2600" dirty="0"/>
          </a:p>
        </p:txBody>
      </p:sp>
      <p:sp>
        <p:nvSpPr>
          <p:cNvPr id="4" name="Shape 2"/>
          <p:cNvSpPr/>
          <p:nvPr/>
        </p:nvSpPr>
        <p:spPr>
          <a:xfrm>
            <a:off x="457200" y="10058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77240"/>
          </a:xfrm>
          <a:prstGeom prst="rect">
            <a:avLst>
              <a:gd name="adj" fmla="val 41667"/>
            </a:avLst>
          </a:prstGeom>
          <a:solidFill>
            <a:srgbClr val="2C5AA0"/>
          </a:solidFill>
          <a:ln/>
        </p:spPr>
      </p:sp>
      <p:sp>
        <p:nvSpPr>
          <p:cNvPr id="6" name="Text 4"/>
          <p:cNvSpPr/>
          <p:nvPr/>
        </p:nvSpPr>
        <p:spPr>
          <a:xfrm>
            <a:off x="640080" y="10972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1280160" y="1051560"/>
            <a:ext cx="2286000" cy="365760"/>
          </a:xfrm>
          <a:prstGeom prst="rect">
            <a:avLst/>
          </a:prstGeom>
          <a:noFill/>
          <a:ln/>
        </p:spPr>
        <p:txBody>
          <a:bodyPr wrap="square" lIns="0" tIns="0" rIns="0" bIns="0" rtlCol="0" anchor="ctr"/>
          <a:lstStyle/>
          <a:p>
            <a:pPr indent="0" marL="0">
              <a:buNone/>
            </a:pPr>
            <a:r>
              <a:rPr lang="en-US" sz="1900" b="1" dirty="0">
                <a:solidFill>
                  <a:srgbClr val="2C5AA0"/>
                </a:solidFill>
                <a:latin typeface="BIZ UDPGothic" pitchFamily="34" charset="0"/>
                <a:ea typeface="BIZ UDPGothic" pitchFamily="34" charset="-122"/>
                <a:cs typeface="BIZ UDPGothic" pitchFamily="34" charset="-120"/>
              </a:rPr>
              <a:t>気圧が低下</a:t>
            </a:r>
            <a:endParaRPr lang="en-US" sz="1900" dirty="0"/>
          </a:p>
        </p:txBody>
      </p:sp>
      <p:sp>
        <p:nvSpPr>
          <p:cNvPr id="8" name="Text 6"/>
          <p:cNvSpPr/>
          <p:nvPr/>
        </p:nvSpPr>
        <p:spPr>
          <a:xfrm>
            <a:off x="3657600" y="10515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低気圧が近づくと大気圧が下がる</a:t>
            </a:r>
            <a:endParaRPr lang="en-US" sz="1500" dirty="0"/>
          </a:p>
        </p:txBody>
      </p:sp>
      <p:sp>
        <p:nvSpPr>
          <p:cNvPr id="9" name="Shape 7"/>
          <p:cNvSpPr/>
          <p:nvPr/>
        </p:nvSpPr>
        <p:spPr>
          <a:xfrm>
            <a:off x="457200" y="19202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920240"/>
            <a:ext cx="109728" cy="777240"/>
          </a:xfrm>
          <a:prstGeom prst="rect">
            <a:avLst>
              <a:gd name="adj" fmla="val 41667"/>
            </a:avLst>
          </a:prstGeom>
          <a:solidFill>
            <a:srgbClr val="E8850C"/>
          </a:solidFill>
          <a:ln/>
        </p:spPr>
      </p:sp>
      <p:sp>
        <p:nvSpPr>
          <p:cNvPr id="11" name="Text 9"/>
          <p:cNvSpPr/>
          <p:nvPr/>
        </p:nvSpPr>
        <p:spPr>
          <a:xfrm>
            <a:off x="640080" y="20116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2" name="Text 10"/>
          <p:cNvSpPr/>
          <p:nvPr/>
        </p:nvSpPr>
        <p:spPr>
          <a:xfrm>
            <a:off x="1280160" y="1965960"/>
            <a:ext cx="2286000" cy="365760"/>
          </a:xfrm>
          <a:prstGeom prst="rect">
            <a:avLst/>
          </a:prstGeom>
          <a:noFill/>
          <a:ln/>
        </p:spPr>
        <p:txBody>
          <a:bodyPr wrap="square" lIns="0" tIns="0" rIns="0" bIns="0" rtlCol="0" anchor="ctr"/>
          <a:lstStyle/>
          <a:p>
            <a:pPr indent="0" marL="0">
              <a:buNone/>
            </a:pPr>
            <a:r>
              <a:rPr lang="en-US" sz="1900" b="1" dirty="0">
                <a:solidFill>
                  <a:srgbClr val="E8850C"/>
                </a:solidFill>
                <a:latin typeface="BIZ UDPGothic" pitchFamily="34" charset="0"/>
                <a:ea typeface="BIZ UDPGothic" pitchFamily="34" charset="-122"/>
                <a:cs typeface="BIZ UDPGothic" pitchFamily="34" charset="-120"/>
              </a:rPr>
              <a:t>内耳が感知</a:t>
            </a:r>
            <a:endParaRPr lang="en-US" sz="1900" dirty="0"/>
          </a:p>
        </p:txBody>
      </p:sp>
      <p:sp>
        <p:nvSpPr>
          <p:cNvPr id="13" name="Text 11"/>
          <p:cNvSpPr/>
          <p:nvPr/>
        </p:nvSpPr>
        <p:spPr>
          <a:xfrm>
            <a:off x="3657600" y="19659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内耳のセンサーが気圧変化をキャッチ</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脳に「環境変化」のシグナルを送る</a:t>
            </a:r>
            <a:endParaRPr lang="en-US" sz="1500" dirty="0"/>
          </a:p>
        </p:txBody>
      </p:sp>
      <p:sp>
        <p:nvSpPr>
          <p:cNvPr id="14" name="Shape 12"/>
          <p:cNvSpPr/>
          <p:nvPr/>
        </p:nvSpPr>
        <p:spPr>
          <a:xfrm>
            <a:off x="457200" y="28346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834640"/>
            <a:ext cx="109728" cy="777240"/>
          </a:xfrm>
          <a:prstGeom prst="rect">
            <a:avLst>
              <a:gd name="adj" fmla="val 41667"/>
            </a:avLst>
          </a:prstGeom>
          <a:solidFill>
            <a:srgbClr val="7B2D8E"/>
          </a:solidFill>
          <a:ln/>
        </p:spPr>
      </p:sp>
      <p:sp>
        <p:nvSpPr>
          <p:cNvPr id="16" name="Text 14"/>
          <p:cNvSpPr/>
          <p:nvPr/>
        </p:nvSpPr>
        <p:spPr>
          <a:xfrm>
            <a:off x="640080" y="29260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280160" y="2880360"/>
            <a:ext cx="2286000" cy="365760"/>
          </a:xfrm>
          <a:prstGeom prst="rect">
            <a:avLst/>
          </a:prstGeom>
          <a:noFill/>
          <a:ln/>
        </p:spPr>
        <p:txBody>
          <a:bodyPr wrap="square" lIns="0" tIns="0" rIns="0" bIns="0" rtlCol="0" anchor="ctr"/>
          <a:lstStyle/>
          <a:p>
            <a:pPr indent="0" marL="0">
              <a:buNone/>
            </a:pPr>
            <a:r>
              <a:rPr lang="en-US" sz="1900" b="1" dirty="0">
                <a:solidFill>
                  <a:srgbClr val="7B2D8E"/>
                </a:solidFill>
                <a:latin typeface="BIZ UDPGothic" pitchFamily="34" charset="0"/>
                <a:ea typeface="BIZ UDPGothic" pitchFamily="34" charset="-122"/>
                <a:cs typeface="BIZ UDPGothic" pitchFamily="34" charset="-120"/>
              </a:rPr>
              <a:t>自律神経が乱れる</a:t>
            </a:r>
            <a:endParaRPr lang="en-US" sz="1900" dirty="0"/>
          </a:p>
        </p:txBody>
      </p:sp>
      <p:sp>
        <p:nvSpPr>
          <p:cNvPr id="18" name="Text 16"/>
          <p:cNvSpPr/>
          <p:nvPr/>
        </p:nvSpPr>
        <p:spPr>
          <a:xfrm>
            <a:off x="3657600" y="28803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交感神経が過剰に活性化</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血管の収縮・拡張のバランスが崩れる</a:t>
            </a:r>
            <a:endParaRPr lang="en-US" sz="1500" dirty="0"/>
          </a:p>
        </p:txBody>
      </p:sp>
      <p:sp>
        <p:nvSpPr>
          <p:cNvPr id="19" name="Shape 17"/>
          <p:cNvSpPr/>
          <p:nvPr/>
        </p:nvSpPr>
        <p:spPr>
          <a:xfrm>
            <a:off x="457200" y="37490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749040"/>
            <a:ext cx="109728" cy="777240"/>
          </a:xfrm>
          <a:prstGeom prst="rect">
            <a:avLst>
              <a:gd name="adj" fmla="val 41667"/>
            </a:avLst>
          </a:prstGeom>
          <a:solidFill>
            <a:srgbClr val="DC3545"/>
          </a:solidFill>
          <a:ln/>
        </p:spPr>
      </p:sp>
      <p:sp>
        <p:nvSpPr>
          <p:cNvPr id="21" name="Text 19"/>
          <p:cNvSpPr/>
          <p:nvPr/>
        </p:nvSpPr>
        <p:spPr>
          <a:xfrm>
            <a:off x="640080" y="38404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2" name="Text 20"/>
          <p:cNvSpPr/>
          <p:nvPr/>
        </p:nvSpPr>
        <p:spPr>
          <a:xfrm>
            <a:off x="1280160" y="3794760"/>
            <a:ext cx="2286000" cy="365760"/>
          </a:xfrm>
          <a:prstGeom prst="rect">
            <a:avLst/>
          </a:prstGeom>
          <a:noFill/>
          <a:ln/>
        </p:spPr>
        <p:txBody>
          <a:bodyPr wrap="square" lIns="0" tIns="0" rIns="0" bIns="0" rtlCol="0" anchor="ctr"/>
          <a:lstStyle/>
          <a:p>
            <a:pPr indent="0" marL="0">
              <a:buNone/>
            </a:pPr>
            <a:r>
              <a:rPr lang="en-US" sz="1900" b="1" dirty="0">
                <a:solidFill>
                  <a:srgbClr val="DC3545"/>
                </a:solidFill>
                <a:latin typeface="BIZ UDPGothic" pitchFamily="34" charset="0"/>
                <a:ea typeface="BIZ UDPGothic" pitchFamily="34" charset="-122"/>
                <a:cs typeface="BIZ UDPGothic" pitchFamily="34" charset="-120"/>
              </a:rPr>
              <a:t>頭痛が発生</a:t>
            </a:r>
            <a:endParaRPr lang="en-US" sz="1900" dirty="0"/>
          </a:p>
        </p:txBody>
      </p:sp>
      <p:sp>
        <p:nvSpPr>
          <p:cNvPr id="23" name="Text 21"/>
          <p:cNvSpPr/>
          <p:nvPr/>
        </p:nvSpPr>
        <p:spPr>
          <a:xfrm>
            <a:off x="3657600" y="3794760"/>
            <a:ext cx="4846320" cy="68580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脳の血管が拡張 → 周囲の神経を刺激</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炎症物質が放出されて痛みが起こる</a:t>
            </a:r>
            <a:endParaRPr lang="en-US" sz="15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天気で悪化しやすい頭痛 ― 片頭痛の特徴</a:t>
            </a:r>
            <a:endParaRPr lang="en-US" sz="2600" dirty="0"/>
          </a:p>
        </p:txBody>
      </p:sp>
      <p:sp>
        <p:nvSpPr>
          <p:cNvPr id="4" name="Shape 2"/>
          <p:cNvSpPr/>
          <p:nvPr/>
        </p:nvSpPr>
        <p:spPr>
          <a:xfrm>
            <a:off x="457200" y="10058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777240"/>
          </a:xfrm>
          <a:prstGeom prst="rect">
            <a:avLst>
              <a:gd name="adj" fmla="val 41667"/>
            </a:avLst>
          </a:prstGeom>
          <a:solidFill>
            <a:srgbClr val="DC3545"/>
          </a:solidFill>
          <a:ln/>
        </p:spPr>
      </p:sp>
      <p:sp>
        <p:nvSpPr>
          <p:cNvPr id="6" name="Text 4"/>
          <p:cNvSpPr/>
          <p:nvPr/>
        </p:nvSpPr>
        <p:spPr>
          <a:xfrm>
            <a:off x="640080" y="10972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1280160" y="1051560"/>
            <a:ext cx="3200400" cy="365760"/>
          </a:xfrm>
          <a:prstGeom prst="rect">
            <a:avLst/>
          </a:prstGeom>
          <a:noFill/>
          <a:ln/>
        </p:spPr>
        <p:txBody>
          <a:bodyPr wrap="square" lIns="0" tIns="0" rIns="0" bIns="0" rtlCol="0" anchor="ctr"/>
          <a:lstStyle/>
          <a:p>
            <a:pPr indent="0" marL="0">
              <a:buNone/>
            </a:pPr>
            <a:r>
              <a:rPr lang="en-US" sz="1800" b="1" dirty="0">
                <a:solidFill>
                  <a:srgbClr val="DC3545"/>
                </a:solidFill>
                <a:latin typeface="BIZ UDPGothic" pitchFamily="34" charset="0"/>
                <a:ea typeface="BIZ UDPGothic" pitchFamily="34" charset="-122"/>
                <a:cs typeface="BIZ UDPGothic" pitchFamily="34" charset="-120"/>
              </a:rPr>
              <a:t>ズキンズキンと脈打つ痛み</a:t>
            </a:r>
            <a:endParaRPr lang="en-US" sz="1800" dirty="0"/>
          </a:p>
        </p:txBody>
      </p:sp>
      <p:sp>
        <p:nvSpPr>
          <p:cNvPr id="8" name="Text 6"/>
          <p:cNvSpPr/>
          <p:nvPr/>
        </p:nvSpPr>
        <p:spPr>
          <a:xfrm>
            <a:off x="1280160" y="1417320"/>
            <a:ext cx="7132320" cy="3200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心臓の拍動に合わせた痛み。片側が多いが両側のことも</a:t>
            </a:r>
            <a:endParaRPr lang="en-US" sz="1400" dirty="0"/>
          </a:p>
        </p:txBody>
      </p:sp>
      <p:sp>
        <p:nvSpPr>
          <p:cNvPr id="9" name="Shape 7"/>
          <p:cNvSpPr/>
          <p:nvPr/>
        </p:nvSpPr>
        <p:spPr>
          <a:xfrm>
            <a:off x="457200" y="19202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1920240"/>
            <a:ext cx="109728" cy="777240"/>
          </a:xfrm>
          <a:prstGeom prst="rect">
            <a:avLst>
              <a:gd name="adj" fmla="val 41667"/>
            </a:avLst>
          </a:prstGeom>
          <a:solidFill>
            <a:srgbClr val="E8850C"/>
          </a:solidFill>
          <a:ln/>
        </p:spPr>
      </p:sp>
      <p:sp>
        <p:nvSpPr>
          <p:cNvPr id="11" name="Text 9"/>
          <p:cNvSpPr/>
          <p:nvPr/>
        </p:nvSpPr>
        <p:spPr>
          <a:xfrm>
            <a:off x="640080" y="20116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2" name="Text 10"/>
          <p:cNvSpPr/>
          <p:nvPr/>
        </p:nvSpPr>
        <p:spPr>
          <a:xfrm>
            <a:off x="1280160" y="1965960"/>
            <a:ext cx="3200400" cy="36576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光・音・においに敏感になる</a:t>
            </a:r>
            <a:endParaRPr lang="en-US" sz="1800" dirty="0"/>
          </a:p>
        </p:txBody>
      </p:sp>
      <p:sp>
        <p:nvSpPr>
          <p:cNvPr id="13" name="Text 11"/>
          <p:cNvSpPr/>
          <p:nvPr/>
        </p:nvSpPr>
        <p:spPr>
          <a:xfrm>
            <a:off x="1280160" y="2331720"/>
            <a:ext cx="7132320" cy="3200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明るい場所や騒がしい場所がつらい。暗い静かな部屋で休みたい</a:t>
            </a:r>
            <a:endParaRPr lang="en-US" sz="1400" dirty="0"/>
          </a:p>
        </p:txBody>
      </p:sp>
      <p:sp>
        <p:nvSpPr>
          <p:cNvPr id="14" name="Shape 12"/>
          <p:cNvSpPr/>
          <p:nvPr/>
        </p:nvSpPr>
        <p:spPr>
          <a:xfrm>
            <a:off x="457200" y="28346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2834640"/>
            <a:ext cx="109728" cy="777240"/>
          </a:xfrm>
          <a:prstGeom prst="rect">
            <a:avLst>
              <a:gd name="adj" fmla="val 41667"/>
            </a:avLst>
          </a:prstGeom>
          <a:solidFill>
            <a:srgbClr val="2C5AA0"/>
          </a:solidFill>
          <a:ln/>
        </p:spPr>
      </p:sp>
      <p:sp>
        <p:nvSpPr>
          <p:cNvPr id="16" name="Text 14"/>
          <p:cNvSpPr/>
          <p:nvPr/>
        </p:nvSpPr>
        <p:spPr>
          <a:xfrm>
            <a:off x="640080" y="29260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280160" y="2880360"/>
            <a:ext cx="3200400" cy="365760"/>
          </a:xfrm>
          <a:prstGeom prst="rect">
            <a:avLst/>
          </a:prstGeom>
          <a:noFill/>
          <a:ln/>
        </p:spPr>
        <p:txBody>
          <a:bodyPr wrap="square" lIns="0" tIns="0" rIns="0" bIns="0" rtlCol="0" anchor="ctr"/>
          <a:lstStyle/>
          <a:p>
            <a:pPr indent="0" marL="0">
              <a:buNone/>
            </a:pPr>
            <a:r>
              <a:rPr lang="en-US" sz="1800" b="1" dirty="0">
                <a:solidFill>
                  <a:srgbClr val="2C5AA0"/>
                </a:solidFill>
                <a:latin typeface="BIZ UDPGothic" pitchFamily="34" charset="0"/>
                <a:ea typeface="BIZ UDPGothic" pitchFamily="34" charset="-122"/>
                <a:cs typeface="BIZ UDPGothic" pitchFamily="34" charset="-120"/>
              </a:rPr>
              <a:t>吐き気・嘔吐を伴う</a:t>
            </a:r>
            <a:endParaRPr lang="en-US" sz="1800" dirty="0"/>
          </a:p>
        </p:txBody>
      </p:sp>
      <p:sp>
        <p:nvSpPr>
          <p:cNvPr id="18" name="Text 16"/>
          <p:cNvSpPr/>
          <p:nvPr/>
        </p:nvSpPr>
        <p:spPr>
          <a:xfrm>
            <a:off x="1280160" y="3246120"/>
            <a:ext cx="7132320" cy="3200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頭痛と同時に気持ちが悪くなる。食事がとれないことも</a:t>
            </a:r>
            <a:endParaRPr lang="en-US" sz="1400" dirty="0"/>
          </a:p>
        </p:txBody>
      </p:sp>
      <p:sp>
        <p:nvSpPr>
          <p:cNvPr id="19" name="Shape 17"/>
          <p:cNvSpPr/>
          <p:nvPr/>
        </p:nvSpPr>
        <p:spPr>
          <a:xfrm>
            <a:off x="457200" y="3749040"/>
            <a:ext cx="8229600" cy="777240"/>
          </a:xfrm>
          <a:prstGeom prst="rect">
            <a:avLst>
              <a:gd name="adj" fmla="val 11765"/>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457200" y="3749040"/>
            <a:ext cx="109728" cy="777240"/>
          </a:xfrm>
          <a:prstGeom prst="rect">
            <a:avLst>
              <a:gd name="adj" fmla="val 41667"/>
            </a:avLst>
          </a:prstGeom>
          <a:solidFill>
            <a:srgbClr val="7B2D8E"/>
          </a:solidFill>
          <a:ln/>
        </p:spPr>
      </p:sp>
      <p:sp>
        <p:nvSpPr>
          <p:cNvPr id="21" name="Text 19"/>
          <p:cNvSpPr/>
          <p:nvPr/>
        </p:nvSpPr>
        <p:spPr>
          <a:xfrm>
            <a:off x="640080" y="3840480"/>
            <a:ext cx="548640"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2" name="Text 20"/>
          <p:cNvSpPr/>
          <p:nvPr/>
        </p:nvSpPr>
        <p:spPr>
          <a:xfrm>
            <a:off x="1280160" y="3794760"/>
            <a:ext cx="3200400" cy="365760"/>
          </a:xfrm>
          <a:prstGeom prst="rect">
            <a:avLst/>
          </a:prstGeom>
          <a:noFill/>
          <a:ln/>
        </p:spPr>
        <p:txBody>
          <a:bodyPr wrap="square" lIns="0" tIns="0" rIns="0" bIns="0" rtlCol="0" anchor="ctr"/>
          <a:lstStyle/>
          <a:p>
            <a:pPr indent="0" marL="0">
              <a:buNone/>
            </a:pPr>
            <a:r>
              <a:rPr lang="en-US" sz="1800" b="1" dirty="0">
                <a:solidFill>
                  <a:srgbClr val="7B2D8E"/>
                </a:solidFill>
                <a:latin typeface="BIZ UDPGothic" pitchFamily="34" charset="0"/>
                <a:ea typeface="BIZ UDPGothic" pitchFamily="34" charset="-122"/>
                <a:cs typeface="BIZ UDPGothic" pitchFamily="34" charset="-120"/>
              </a:rPr>
              <a:t>4〜72時間続く</a:t>
            </a:r>
            <a:endParaRPr lang="en-US" sz="1800" dirty="0"/>
          </a:p>
        </p:txBody>
      </p:sp>
      <p:sp>
        <p:nvSpPr>
          <p:cNvPr id="23" name="Text 21"/>
          <p:cNvSpPr/>
          <p:nvPr/>
        </p:nvSpPr>
        <p:spPr>
          <a:xfrm>
            <a:off x="1280160" y="4160520"/>
            <a:ext cx="7132320" cy="320040"/>
          </a:xfrm>
          <a:prstGeom prst="rect">
            <a:avLst/>
          </a:prstGeom>
          <a:noFill/>
          <a:ln/>
        </p:spPr>
        <p:txBody>
          <a:bodyPr wrap="square" lIns="0" tIns="0" rIns="0" bIns="0" rtlCol="0" anchor="ctr"/>
          <a:lstStyle/>
          <a:p>
            <a:pPr indent="0" marL="0">
              <a:lnSpc>
                <a:spcPct val="115000"/>
              </a:lnSpc>
              <a:buNone/>
            </a:pPr>
            <a:r>
              <a:rPr lang="en-US" sz="1400" dirty="0">
                <a:solidFill>
                  <a:srgbClr val="2D3436"/>
                </a:solidFill>
                <a:latin typeface="BIZ UDPGothic" pitchFamily="34" charset="0"/>
                <a:ea typeface="BIZ UDPGothic" pitchFamily="34" charset="-122"/>
                <a:cs typeface="BIZ UDPGothic" pitchFamily="34" charset="-120"/>
              </a:rPr>
              <a:t>頭痛の発作は数時間〜3日間。日常生活に支障が出る</a:t>
            </a:r>
            <a:endParaRPr lang="en-US" sz="1400" dirty="0"/>
          </a:p>
        </p:txBody>
      </p:sp>
      <p:sp>
        <p:nvSpPr>
          <p:cNvPr id="24" name="Shape 22"/>
          <p:cNvSpPr/>
          <p:nvPr/>
        </p:nvSpPr>
        <p:spPr>
          <a:xfrm>
            <a:off x="0" y="4800600"/>
            <a:ext cx="9144000" cy="347472"/>
          </a:xfrm>
          <a:prstGeom prst="rect">
            <a:avLst/>
          </a:prstGeom>
          <a:solidFill>
            <a:srgbClr val="1B3A5C"/>
          </a:solidFill>
          <a:ln/>
        </p:spPr>
      </p:sp>
      <p:sp>
        <p:nvSpPr>
          <p:cNvPr id="25" name="Text 23"/>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片頭痛と緊張型頭痛の見分け方</a:t>
            </a:r>
            <a:endParaRPr lang="en-US" sz="2600" dirty="0"/>
          </a:p>
        </p:txBody>
      </p:sp>
      <p:sp>
        <p:nvSpPr>
          <p:cNvPr id="4" name="Shape 2"/>
          <p:cNvSpPr/>
          <p:nvPr/>
        </p:nvSpPr>
        <p:spPr>
          <a:xfrm>
            <a:off x="457200" y="960120"/>
            <a:ext cx="8229600" cy="457200"/>
          </a:xfrm>
          <a:prstGeom prst="rect">
            <a:avLst>
              <a:gd name="adj" fmla="val 20000"/>
            </a:avLst>
          </a:prstGeom>
          <a:solidFill>
            <a:srgbClr val="2C5AA0"/>
          </a:solidFill>
          <a:ln/>
          <a:effectLst>
            <a:outerShdw sx="100000" sy="100000" kx="0" ky="0" algn="bl" rotWithShape="0" blurRad="50800" dist="25400" dir="8100000">
              <a:srgbClr val="000000">
                <a:alpha val="12000"/>
              </a:srgbClr>
            </a:outerShdw>
          </a:effectLst>
        </p:spPr>
      </p:sp>
      <p:sp>
        <p:nvSpPr>
          <p:cNvPr id="5" name="Text 3"/>
          <p:cNvSpPr/>
          <p:nvPr/>
        </p:nvSpPr>
        <p:spPr>
          <a:xfrm>
            <a:off x="640080" y="987552"/>
            <a:ext cx="1828800" cy="411480"/>
          </a:xfrm>
          <a:prstGeom prst="rect">
            <a:avLst/>
          </a:prstGeom>
          <a:noFill/>
          <a:ln/>
        </p:spPr>
        <p:txBody>
          <a:bodyPr wrap="square" lIns="0" tIns="0" rIns="0" bIns="0" rtlCol="0" anchor="ctr"/>
          <a:lstStyle/>
          <a:p>
            <a:pPr indent="0" marL="0">
              <a:buNone/>
            </a:pPr>
            <a:r>
              <a:rPr lang="en-US" sz="1600" b="1" dirty="0">
                <a:solidFill>
                  <a:srgbClr val="FFFFFF"/>
                </a:solidFill>
                <a:latin typeface="BIZ UDPGothic" pitchFamily="34" charset="0"/>
                <a:ea typeface="BIZ UDPGothic" pitchFamily="34" charset="-122"/>
                <a:cs typeface="BIZ UDPGothic" pitchFamily="34" charset="-120"/>
              </a:rPr>
              <a:t>項目</a:t>
            </a:r>
            <a:endParaRPr lang="en-US" sz="1600" dirty="0"/>
          </a:p>
        </p:txBody>
      </p:sp>
      <p:sp>
        <p:nvSpPr>
          <p:cNvPr id="6" name="Text 4"/>
          <p:cNvSpPr/>
          <p:nvPr/>
        </p:nvSpPr>
        <p:spPr>
          <a:xfrm>
            <a:off x="2560320" y="987552"/>
            <a:ext cx="29260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片頭痛</a:t>
            </a:r>
            <a:endParaRPr lang="en-US" sz="1600" dirty="0"/>
          </a:p>
        </p:txBody>
      </p:sp>
      <p:sp>
        <p:nvSpPr>
          <p:cNvPr id="7" name="Text 5"/>
          <p:cNvSpPr/>
          <p:nvPr/>
        </p:nvSpPr>
        <p:spPr>
          <a:xfrm>
            <a:off x="5577840" y="987552"/>
            <a:ext cx="29260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緊張型頭痛</a:t>
            </a:r>
            <a:endParaRPr lang="en-US" sz="1600" dirty="0"/>
          </a:p>
        </p:txBody>
      </p:sp>
      <p:sp>
        <p:nvSpPr>
          <p:cNvPr id="8" name="Shape 6"/>
          <p:cNvSpPr/>
          <p:nvPr/>
        </p:nvSpPr>
        <p:spPr>
          <a:xfrm>
            <a:off x="457200" y="1463040"/>
            <a:ext cx="8229600" cy="457200"/>
          </a:xfrm>
          <a:prstGeom prst="rect">
            <a:avLst>
              <a:gd name="adj" fmla="val 20000"/>
            </a:avLst>
          </a:prstGeom>
          <a:solidFill>
            <a:srgbClr val="E8F4FD"/>
          </a:solidFill>
          <a:ln/>
          <a:effectLst>
            <a:outerShdw sx="100000" sy="100000" kx="0" ky="0" algn="bl" rotWithShape="0" blurRad="50800" dist="25400" dir="8100000">
              <a:srgbClr val="000000">
                <a:alpha val="12000"/>
              </a:srgbClr>
            </a:outerShdw>
          </a:effectLst>
        </p:spPr>
      </p:sp>
      <p:sp>
        <p:nvSpPr>
          <p:cNvPr id="9" name="Text 7"/>
          <p:cNvSpPr/>
          <p:nvPr/>
        </p:nvSpPr>
        <p:spPr>
          <a:xfrm>
            <a:off x="640080" y="1508760"/>
            <a:ext cx="182880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痛みの質</a:t>
            </a:r>
            <a:endParaRPr lang="en-US" sz="1500" dirty="0"/>
          </a:p>
        </p:txBody>
      </p:sp>
      <p:sp>
        <p:nvSpPr>
          <p:cNvPr id="10" name="Text 8"/>
          <p:cNvSpPr/>
          <p:nvPr/>
        </p:nvSpPr>
        <p:spPr>
          <a:xfrm>
            <a:off x="2560320" y="1508760"/>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ズキンズキン（拍動性）</a:t>
            </a:r>
            <a:endParaRPr lang="en-US" sz="1400" dirty="0"/>
          </a:p>
        </p:txBody>
      </p:sp>
      <p:sp>
        <p:nvSpPr>
          <p:cNvPr id="11" name="Text 9"/>
          <p:cNvSpPr/>
          <p:nvPr/>
        </p:nvSpPr>
        <p:spPr>
          <a:xfrm>
            <a:off x="5577840" y="1508760"/>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締めつけられる感じ</a:t>
            </a:r>
            <a:endParaRPr lang="en-US" sz="1400" dirty="0"/>
          </a:p>
        </p:txBody>
      </p:sp>
      <p:sp>
        <p:nvSpPr>
          <p:cNvPr id="12" name="Shape 10"/>
          <p:cNvSpPr/>
          <p:nvPr/>
        </p:nvSpPr>
        <p:spPr>
          <a:xfrm>
            <a:off x="457200" y="1993392"/>
            <a:ext cx="8229600" cy="457200"/>
          </a:xfrm>
          <a:prstGeom prst="rect">
            <a:avLst>
              <a:gd name="adj" fmla="val 20000"/>
            </a:avLst>
          </a:prstGeom>
          <a:solidFill>
            <a:srgbClr val="FFFFFF"/>
          </a:solidFill>
          <a:ln/>
          <a:effectLst>
            <a:outerShdw sx="100000" sy="100000" kx="0" ky="0" algn="bl" rotWithShape="0" blurRad="50800" dist="25400" dir="8100000">
              <a:srgbClr val="000000">
                <a:alpha val="12000"/>
              </a:srgbClr>
            </a:outerShdw>
          </a:effectLst>
        </p:spPr>
      </p:sp>
      <p:sp>
        <p:nvSpPr>
          <p:cNvPr id="13" name="Text 11"/>
          <p:cNvSpPr/>
          <p:nvPr/>
        </p:nvSpPr>
        <p:spPr>
          <a:xfrm>
            <a:off x="640080" y="2039112"/>
            <a:ext cx="182880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場所</a:t>
            </a:r>
            <a:endParaRPr lang="en-US" sz="1500" dirty="0"/>
          </a:p>
        </p:txBody>
      </p:sp>
      <p:sp>
        <p:nvSpPr>
          <p:cNvPr id="14" name="Text 12"/>
          <p:cNvSpPr/>
          <p:nvPr/>
        </p:nvSpPr>
        <p:spPr>
          <a:xfrm>
            <a:off x="2560320" y="2039112"/>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片側が多い</a:t>
            </a:r>
            <a:endParaRPr lang="en-US" sz="1400" dirty="0"/>
          </a:p>
        </p:txBody>
      </p:sp>
      <p:sp>
        <p:nvSpPr>
          <p:cNvPr id="15" name="Text 13"/>
          <p:cNvSpPr/>
          <p:nvPr/>
        </p:nvSpPr>
        <p:spPr>
          <a:xfrm>
            <a:off x="5577840" y="2039112"/>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両側・頭全体</a:t>
            </a:r>
            <a:endParaRPr lang="en-US" sz="1400" dirty="0"/>
          </a:p>
        </p:txBody>
      </p:sp>
      <p:sp>
        <p:nvSpPr>
          <p:cNvPr id="16" name="Shape 14"/>
          <p:cNvSpPr/>
          <p:nvPr/>
        </p:nvSpPr>
        <p:spPr>
          <a:xfrm>
            <a:off x="457200" y="2523744"/>
            <a:ext cx="8229600" cy="457200"/>
          </a:xfrm>
          <a:prstGeom prst="rect">
            <a:avLst>
              <a:gd name="adj" fmla="val 20000"/>
            </a:avLst>
          </a:prstGeom>
          <a:solidFill>
            <a:srgbClr val="E8F4FD"/>
          </a:solidFill>
          <a:ln/>
          <a:effectLst>
            <a:outerShdw sx="100000" sy="100000" kx="0" ky="0" algn="bl" rotWithShape="0" blurRad="50800" dist="25400" dir="8100000">
              <a:srgbClr val="000000">
                <a:alpha val="12000"/>
              </a:srgbClr>
            </a:outerShdw>
          </a:effectLst>
        </p:spPr>
      </p:sp>
      <p:sp>
        <p:nvSpPr>
          <p:cNvPr id="17" name="Text 15"/>
          <p:cNvSpPr/>
          <p:nvPr/>
        </p:nvSpPr>
        <p:spPr>
          <a:xfrm>
            <a:off x="640080" y="2569464"/>
            <a:ext cx="182880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動くと</a:t>
            </a:r>
            <a:endParaRPr lang="en-US" sz="1500" dirty="0"/>
          </a:p>
        </p:txBody>
      </p:sp>
      <p:sp>
        <p:nvSpPr>
          <p:cNvPr id="18" name="Text 16"/>
          <p:cNvSpPr/>
          <p:nvPr/>
        </p:nvSpPr>
        <p:spPr>
          <a:xfrm>
            <a:off x="2560320" y="2569464"/>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悪化する（寝込む）</a:t>
            </a:r>
            <a:endParaRPr lang="en-US" sz="1400" dirty="0"/>
          </a:p>
        </p:txBody>
      </p:sp>
      <p:sp>
        <p:nvSpPr>
          <p:cNvPr id="19" name="Text 17"/>
          <p:cNvSpPr/>
          <p:nvPr/>
        </p:nvSpPr>
        <p:spPr>
          <a:xfrm>
            <a:off x="5577840" y="2569464"/>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変わらない・軽減</a:t>
            </a:r>
            <a:endParaRPr lang="en-US" sz="1400" dirty="0"/>
          </a:p>
        </p:txBody>
      </p:sp>
      <p:sp>
        <p:nvSpPr>
          <p:cNvPr id="20" name="Shape 18"/>
          <p:cNvSpPr/>
          <p:nvPr/>
        </p:nvSpPr>
        <p:spPr>
          <a:xfrm>
            <a:off x="457200" y="3054096"/>
            <a:ext cx="8229600" cy="457200"/>
          </a:xfrm>
          <a:prstGeom prst="rect">
            <a:avLst>
              <a:gd name="adj" fmla="val 20000"/>
            </a:avLst>
          </a:prstGeom>
          <a:solidFill>
            <a:srgbClr val="FFFFFF"/>
          </a:solidFill>
          <a:ln/>
          <a:effectLst>
            <a:outerShdw sx="100000" sy="100000" kx="0" ky="0" algn="bl" rotWithShape="0" blurRad="50800" dist="25400" dir="8100000">
              <a:srgbClr val="000000">
                <a:alpha val="12000"/>
              </a:srgbClr>
            </a:outerShdw>
          </a:effectLst>
        </p:spPr>
      </p:sp>
      <p:sp>
        <p:nvSpPr>
          <p:cNvPr id="21" name="Text 19"/>
          <p:cNvSpPr/>
          <p:nvPr/>
        </p:nvSpPr>
        <p:spPr>
          <a:xfrm>
            <a:off x="640080" y="3099816"/>
            <a:ext cx="182880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光・音</a:t>
            </a:r>
            <a:endParaRPr lang="en-US" sz="1500" dirty="0"/>
          </a:p>
        </p:txBody>
      </p:sp>
      <p:sp>
        <p:nvSpPr>
          <p:cNvPr id="22" name="Text 20"/>
          <p:cNvSpPr/>
          <p:nvPr/>
        </p:nvSpPr>
        <p:spPr>
          <a:xfrm>
            <a:off x="2560320" y="3099816"/>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敏感になる</a:t>
            </a:r>
            <a:endParaRPr lang="en-US" sz="1400" dirty="0"/>
          </a:p>
        </p:txBody>
      </p:sp>
      <p:sp>
        <p:nvSpPr>
          <p:cNvPr id="23" name="Text 21"/>
          <p:cNvSpPr/>
          <p:nvPr/>
        </p:nvSpPr>
        <p:spPr>
          <a:xfrm>
            <a:off x="5577840" y="3099816"/>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通常影響なし</a:t>
            </a:r>
            <a:endParaRPr lang="en-US" sz="1400" dirty="0"/>
          </a:p>
        </p:txBody>
      </p:sp>
      <p:sp>
        <p:nvSpPr>
          <p:cNvPr id="24" name="Shape 22"/>
          <p:cNvSpPr/>
          <p:nvPr/>
        </p:nvSpPr>
        <p:spPr>
          <a:xfrm>
            <a:off x="457200" y="3584448"/>
            <a:ext cx="8229600" cy="457200"/>
          </a:xfrm>
          <a:prstGeom prst="rect">
            <a:avLst>
              <a:gd name="adj" fmla="val 20000"/>
            </a:avLst>
          </a:prstGeom>
          <a:solidFill>
            <a:srgbClr val="E8F4FD"/>
          </a:solidFill>
          <a:ln/>
          <a:effectLst>
            <a:outerShdw sx="100000" sy="100000" kx="0" ky="0" algn="bl" rotWithShape="0" blurRad="50800" dist="25400" dir="8100000">
              <a:srgbClr val="000000">
                <a:alpha val="12000"/>
              </a:srgbClr>
            </a:outerShdw>
          </a:effectLst>
        </p:spPr>
      </p:sp>
      <p:sp>
        <p:nvSpPr>
          <p:cNvPr id="25" name="Text 23"/>
          <p:cNvSpPr/>
          <p:nvPr/>
        </p:nvSpPr>
        <p:spPr>
          <a:xfrm>
            <a:off x="640080" y="3630168"/>
            <a:ext cx="182880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吐き気</a:t>
            </a:r>
            <a:endParaRPr lang="en-US" sz="1500" dirty="0"/>
          </a:p>
        </p:txBody>
      </p:sp>
      <p:sp>
        <p:nvSpPr>
          <p:cNvPr id="26" name="Text 24"/>
          <p:cNvSpPr/>
          <p:nvPr/>
        </p:nvSpPr>
        <p:spPr>
          <a:xfrm>
            <a:off x="2560320" y="3630168"/>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伴うことが多い</a:t>
            </a:r>
            <a:endParaRPr lang="en-US" sz="1400" dirty="0"/>
          </a:p>
        </p:txBody>
      </p:sp>
      <p:sp>
        <p:nvSpPr>
          <p:cNvPr id="27" name="Text 25"/>
          <p:cNvSpPr/>
          <p:nvPr/>
        </p:nvSpPr>
        <p:spPr>
          <a:xfrm>
            <a:off x="5577840" y="3630168"/>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通常なし</a:t>
            </a:r>
            <a:endParaRPr lang="en-US" sz="1400" dirty="0"/>
          </a:p>
        </p:txBody>
      </p:sp>
      <p:sp>
        <p:nvSpPr>
          <p:cNvPr id="28" name="Shape 26"/>
          <p:cNvSpPr/>
          <p:nvPr/>
        </p:nvSpPr>
        <p:spPr>
          <a:xfrm>
            <a:off x="457200" y="4114800"/>
            <a:ext cx="8229600" cy="457200"/>
          </a:xfrm>
          <a:prstGeom prst="rect">
            <a:avLst>
              <a:gd name="adj" fmla="val 20000"/>
            </a:avLst>
          </a:prstGeom>
          <a:solidFill>
            <a:srgbClr val="FFFFFF"/>
          </a:solidFill>
          <a:ln/>
          <a:effectLst>
            <a:outerShdw sx="100000" sy="100000" kx="0" ky="0" algn="bl" rotWithShape="0" blurRad="50800" dist="25400" dir="8100000">
              <a:srgbClr val="000000">
                <a:alpha val="12000"/>
              </a:srgbClr>
            </a:outerShdw>
          </a:effectLst>
        </p:spPr>
      </p:sp>
      <p:sp>
        <p:nvSpPr>
          <p:cNvPr id="29" name="Text 27"/>
          <p:cNvSpPr/>
          <p:nvPr/>
        </p:nvSpPr>
        <p:spPr>
          <a:xfrm>
            <a:off x="640080" y="4160520"/>
            <a:ext cx="1828800" cy="36576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天気の影響</a:t>
            </a:r>
            <a:endParaRPr lang="en-US" sz="1500" dirty="0"/>
          </a:p>
        </p:txBody>
      </p:sp>
      <p:sp>
        <p:nvSpPr>
          <p:cNvPr id="30" name="Text 28"/>
          <p:cNvSpPr/>
          <p:nvPr/>
        </p:nvSpPr>
        <p:spPr>
          <a:xfrm>
            <a:off x="2560320" y="4160520"/>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悪化しやすい</a:t>
            </a:r>
            <a:endParaRPr lang="en-US" sz="1400" dirty="0"/>
          </a:p>
        </p:txBody>
      </p:sp>
      <p:sp>
        <p:nvSpPr>
          <p:cNvPr id="31" name="Text 29"/>
          <p:cNvSpPr/>
          <p:nvPr/>
        </p:nvSpPr>
        <p:spPr>
          <a:xfrm>
            <a:off x="5577840" y="4160520"/>
            <a:ext cx="2926080" cy="365760"/>
          </a:xfrm>
          <a:prstGeom prst="rect">
            <a:avLst/>
          </a:prstGeom>
          <a:noFill/>
          <a:ln/>
        </p:spPr>
        <p:txBody>
          <a:bodyPr wrap="square" lIns="0" tIns="0" rIns="0" bIns="0" rtlCol="0" anchor="ctr"/>
          <a:lstStyle/>
          <a:p>
            <a:pPr algn="ctr" indent="0" marL="0">
              <a:buNone/>
            </a:pPr>
            <a:r>
              <a:rPr lang="en-US" sz="1400" dirty="0">
                <a:solidFill>
                  <a:srgbClr val="2D3436"/>
                </a:solidFill>
                <a:latin typeface="BIZ UDPGothic" pitchFamily="34" charset="0"/>
                <a:ea typeface="BIZ UDPGothic" pitchFamily="34" charset="-122"/>
                <a:cs typeface="BIZ UDPGothic" pitchFamily="34" charset="-120"/>
              </a:rPr>
              <a:t>影響は少ない</a:t>
            </a:r>
            <a:endParaRPr lang="en-US" sz="1400" dirty="0"/>
          </a:p>
        </p:txBody>
      </p:sp>
      <p:sp>
        <p:nvSpPr>
          <p:cNvPr id="32" name="Shape 30"/>
          <p:cNvSpPr/>
          <p:nvPr/>
        </p:nvSpPr>
        <p:spPr>
          <a:xfrm>
            <a:off x="0" y="4800600"/>
            <a:ext cx="9144000" cy="347472"/>
          </a:xfrm>
          <a:prstGeom prst="rect">
            <a:avLst/>
          </a:prstGeom>
          <a:solidFill>
            <a:srgbClr val="1B3A5C"/>
          </a:solidFill>
          <a:ln/>
        </p:spPr>
      </p:sp>
      <p:sp>
        <p:nvSpPr>
          <p:cNvPr id="33" name="Text 3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片頭痛の治療 ― 発作時と予防</a:t>
            </a:r>
            <a:endParaRPr lang="en-US" sz="2600" dirty="0"/>
          </a:p>
        </p:txBody>
      </p:sp>
      <p:sp>
        <p:nvSpPr>
          <p:cNvPr id="4" name="Text 2"/>
          <p:cNvSpPr/>
          <p:nvPr/>
        </p:nvSpPr>
        <p:spPr>
          <a:xfrm>
            <a:off x="457200" y="960120"/>
            <a:ext cx="3931920" cy="320040"/>
          </a:xfrm>
          <a:prstGeom prst="rect">
            <a:avLst/>
          </a:prstGeom>
          <a:noFill/>
          <a:ln/>
        </p:spPr>
        <p:txBody>
          <a:bodyPr wrap="square" lIns="0" tIns="0" rIns="0" bIns="0" rtlCol="0" anchor="ctr"/>
          <a:lstStyle/>
          <a:p>
            <a:pPr indent="0" marL="0">
              <a:buNone/>
            </a:pPr>
            <a:r>
              <a:rPr lang="en-US" sz="1700" b="1" dirty="0">
                <a:solidFill>
                  <a:srgbClr val="DC3545"/>
                </a:solidFill>
                <a:latin typeface="BIZ UDPGothic" pitchFamily="34" charset="0"/>
                <a:ea typeface="BIZ UDPGothic" pitchFamily="34" charset="-122"/>
                <a:cs typeface="BIZ UDPGothic" pitchFamily="34" charset="-120"/>
              </a:rPr>
              <a:t>発作時の治療</a:t>
            </a:r>
            <a:endParaRPr lang="en-US" sz="1700" dirty="0"/>
          </a:p>
        </p:txBody>
      </p:sp>
      <p:sp>
        <p:nvSpPr>
          <p:cNvPr id="5" name="Shape 3"/>
          <p:cNvSpPr/>
          <p:nvPr/>
        </p:nvSpPr>
        <p:spPr>
          <a:xfrm>
            <a:off x="457200" y="1371600"/>
            <a:ext cx="3931920" cy="548640"/>
          </a:xfrm>
          <a:prstGeom prst="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6" name="Shape 4"/>
          <p:cNvSpPr/>
          <p:nvPr/>
        </p:nvSpPr>
        <p:spPr>
          <a:xfrm>
            <a:off x="457200" y="1371600"/>
            <a:ext cx="109728" cy="548640"/>
          </a:xfrm>
          <a:prstGeom prst="rect">
            <a:avLst>
              <a:gd name="adj" fmla="val 41667"/>
            </a:avLst>
          </a:prstGeom>
          <a:solidFill>
            <a:srgbClr val="DC3545"/>
          </a:solidFill>
          <a:ln/>
        </p:spPr>
      </p:sp>
      <p:sp>
        <p:nvSpPr>
          <p:cNvPr id="7" name="Text 5"/>
          <p:cNvSpPr/>
          <p:nvPr/>
        </p:nvSpPr>
        <p:spPr>
          <a:xfrm>
            <a:off x="640080" y="1417320"/>
            <a:ext cx="1645920" cy="22860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トリプタン</a:t>
            </a:r>
            <a:endParaRPr lang="en-US" sz="1600" dirty="0"/>
          </a:p>
        </p:txBody>
      </p:sp>
      <p:sp>
        <p:nvSpPr>
          <p:cNvPr id="8" name="Text 6"/>
          <p:cNvSpPr/>
          <p:nvPr/>
        </p:nvSpPr>
        <p:spPr>
          <a:xfrm>
            <a:off x="640080" y="1645920"/>
            <a:ext cx="3474720" cy="2286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片頭痛の特効薬。痛みが出たら早めに服用</a:t>
            </a:r>
            <a:endParaRPr lang="en-US" sz="1300" dirty="0"/>
          </a:p>
        </p:txBody>
      </p:sp>
      <p:sp>
        <p:nvSpPr>
          <p:cNvPr id="9" name="Shape 7"/>
          <p:cNvSpPr/>
          <p:nvPr/>
        </p:nvSpPr>
        <p:spPr>
          <a:xfrm>
            <a:off x="457200" y="2011680"/>
            <a:ext cx="3931920" cy="548640"/>
          </a:xfrm>
          <a:prstGeom prst="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011680"/>
            <a:ext cx="109728" cy="548640"/>
          </a:xfrm>
          <a:prstGeom prst="rect">
            <a:avLst>
              <a:gd name="adj" fmla="val 41667"/>
            </a:avLst>
          </a:prstGeom>
          <a:solidFill>
            <a:srgbClr val="DC3545"/>
          </a:solidFill>
          <a:ln/>
        </p:spPr>
      </p:sp>
      <p:sp>
        <p:nvSpPr>
          <p:cNvPr id="11" name="Text 9"/>
          <p:cNvSpPr/>
          <p:nvPr/>
        </p:nvSpPr>
        <p:spPr>
          <a:xfrm>
            <a:off x="640080" y="2057400"/>
            <a:ext cx="1645920" cy="228600"/>
          </a:xfrm>
          <a:prstGeom prst="rect">
            <a:avLst/>
          </a:prstGeom>
          <a:noFill/>
          <a:ln/>
        </p:spPr>
        <p:txBody>
          <a:bodyPr wrap="square" lIns="0" tIns="0" rIns="0" bIns="0" rtlCol="0" anchor="ctr"/>
          <a:lstStyle/>
          <a:p>
            <a:pPr indent="0" marL="0">
              <a:buNone/>
            </a:pPr>
            <a:r>
              <a:rPr lang="en-US" sz="1600" b="1" dirty="0">
                <a:solidFill>
                  <a:srgbClr val="DC3545"/>
                </a:solidFill>
                <a:latin typeface="BIZ UDPGothic" pitchFamily="34" charset="0"/>
                <a:ea typeface="BIZ UDPGothic" pitchFamily="34" charset="-122"/>
                <a:cs typeface="BIZ UDPGothic" pitchFamily="34" charset="-120"/>
              </a:rPr>
              <a:t>NSAIDs</a:t>
            </a:r>
            <a:endParaRPr lang="en-US" sz="1600" dirty="0"/>
          </a:p>
        </p:txBody>
      </p:sp>
      <p:sp>
        <p:nvSpPr>
          <p:cNvPr id="12" name="Text 10"/>
          <p:cNvSpPr/>
          <p:nvPr/>
        </p:nvSpPr>
        <p:spPr>
          <a:xfrm>
            <a:off x="640080" y="2286000"/>
            <a:ext cx="3474720" cy="2286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市販の鎮痛薬。軽い発作に。月10日以上は要注意</a:t>
            </a:r>
            <a:endParaRPr lang="en-US" sz="1300" dirty="0"/>
          </a:p>
        </p:txBody>
      </p:sp>
      <p:sp>
        <p:nvSpPr>
          <p:cNvPr id="13" name="Text 11"/>
          <p:cNvSpPr/>
          <p:nvPr/>
        </p:nvSpPr>
        <p:spPr>
          <a:xfrm>
            <a:off x="4754880" y="960120"/>
            <a:ext cx="3931920" cy="320040"/>
          </a:xfrm>
          <a:prstGeom prst="rect">
            <a:avLst/>
          </a:prstGeom>
          <a:noFill/>
          <a:ln/>
        </p:spPr>
        <p:txBody>
          <a:bodyPr wrap="square" lIns="0" tIns="0" rIns="0" bIns="0" rtlCol="0" anchor="ctr"/>
          <a:lstStyle/>
          <a:p>
            <a:pPr indent="0" marL="0">
              <a:buNone/>
            </a:pPr>
            <a:r>
              <a:rPr lang="en-US" sz="1700" b="1" dirty="0">
                <a:solidFill>
                  <a:srgbClr val="2C5AA0"/>
                </a:solidFill>
                <a:latin typeface="BIZ UDPGothic" pitchFamily="34" charset="0"/>
                <a:ea typeface="BIZ UDPGothic" pitchFamily="34" charset="-122"/>
                <a:cs typeface="BIZ UDPGothic" pitchFamily="34" charset="-120"/>
              </a:rPr>
              <a:t>予防の治療</a:t>
            </a:r>
            <a:endParaRPr lang="en-US" sz="1700" dirty="0"/>
          </a:p>
        </p:txBody>
      </p:sp>
      <p:sp>
        <p:nvSpPr>
          <p:cNvPr id="14" name="Shape 12"/>
          <p:cNvSpPr/>
          <p:nvPr/>
        </p:nvSpPr>
        <p:spPr>
          <a:xfrm>
            <a:off x="4754880" y="1371600"/>
            <a:ext cx="3931920" cy="548640"/>
          </a:xfrm>
          <a:prstGeom prst="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754880" y="1371600"/>
            <a:ext cx="109728" cy="548640"/>
          </a:xfrm>
          <a:prstGeom prst="rect">
            <a:avLst>
              <a:gd name="adj" fmla="val 41667"/>
            </a:avLst>
          </a:prstGeom>
          <a:solidFill>
            <a:srgbClr val="2C5AA0"/>
          </a:solidFill>
          <a:ln/>
        </p:spPr>
      </p:sp>
      <p:sp>
        <p:nvSpPr>
          <p:cNvPr id="16" name="Text 14"/>
          <p:cNvSpPr/>
          <p:nvPr/>
        </p:nvSpPr>
        <p:spPr>
          <a:xfrm>
            <a:off x="4937760" y="1417320"/>
            <a:ext cx="1828800" cy="22860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予防薬</a:t>
            </a:r>
            <a:endParaRPr lang="en-US" sz="1600" dirty="0"/>
          </a:p>
        </p:txBody>
      </p:sp>
      <p:sp>
        <p:nvSpPr>
          <p:cNvPr id="17" name="Text 15"/>
          <p:cNvSpPr/>
          <p:nvPr/>
        </p:nvSpPr>
        <p:spPr>
          <a:xfrm>
            <a:off x="4937760" y="1645920"/>
            <a:ext cx="3474720" cy="2286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月4回以上の発作に。毎日服用して頻度を減らす</a:t>
            </a:r>
            <a:endParaRPr lang="en-US" sz="1300" dirty="0"/>
          </a:p>
        </p:txBody>
      </p:sp>
      <p:sp>
        <p:nvSpPr>
          <p:cNvPr id="18" name="Shape 16"/>
          <p:cNvSpPr/>
          <p:nvPr/>
        </p:nvSpPr>
        <p:spPr>
          <a:xfrm>
            <a:off x="4754880" y="2011680"/>
            <a:ext cx="3931920" cy="548640"/>
          </a:xfrm>
          <a:prstGeom prst="rect">
            <a:avLst>
              <a:gd name="adj" fmla="val 16667"/>
            </a:avLst>
          </a:prstGeom>
          <a:solidFill>
            <a:srgbClr val="FFFFFF"/>
          </a:solidFill>
          <a:ln/>
          <a:effectLst>
            <a:outerShdw sx="100000" sy="100000" kx="0" ky="0" algn="bl" rotWithShape="0" blurRad="50800" dist="25400" dir="8100000">
              <a:srgbClr val="000000">
                <a:alpha val="12000"/>
              </a:srgbClr>
            </a:outerShdw>
          </a:effectLst>
        </p:spPr>
      </p:sp>
      <p:sp>
        <p:nvSpPr>
          <p:cNvPr id="19" name="Shape 17"/>
          <p:cNvSpPr/>
          <p:nvPr/>
        </p:nvSpPr>
        <p:spPr>
          <a:xfrm>
            <a:off x="4754880" y="2011680"/>
            <a:ext cx="109728" cy="548640"/>
          </a:xfrm>
          <a:prstGeom prst="rect">
            <a:avLst>
              <a:gd name="adj" fmla="val 41667"/>
            </a:avLst>
          </a:prstGeom>
          <a:solidFill>
            <a:srgbClr val="2C5AA0"/>
          </a:solidFill>
          <a:ln/>
        </p:spPr>
      </p:sp>
      <p:sp>
        <p:nvSpPr>
          <p:cNvPr id="20" name="Text 18"/>
          <p:cNvSpPr/>
          <p:nvPr/>
        </p:nvSpPr>
        <p:spPr>
          <a:xfrm>
            <a:off x="4937760" y="2057400"/>
            <a:ext cx="1828800" cy="22860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CGRP関連抗体</a:t>
            </a:r>
            <a:endParaRPr lang="en-US" sz="1600" dirty="0"/>
          </a:p>
        </p:txBody>
      </p:sp>
      <p:sp>
        <p:nvSpPr>
          <p:cNvPr id="21" name="Text 19"/>
          <p:cNvSpPr/>
          <p:nvPr/>
        </p:nvSpPr>
        <p:spPr>
          <a:xfrm>
            <a:off x="4937760" y="2286000"/>
            <a:ext cx="3474720" cy="2286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注射の新薬。月1回で片頭痛日数を大幅に減少</a:t>
            </a:r>
            <a:endParaRPr lang="en-US" sz="1300" dirty="0"/>
          </a:p>
        </p:txBody>
      </p:sp>
      <p:sp>
        <p:nvSpPr>
          <p:cNvPr id="22" name="Shape 20"/>
          <p:cNvSpPr/>
          <p:nvPr/>
        </p:nvSpPr>
        <p:spPr>
          <a:xfrm>
            <a:off x="457200" y="2834640"/>
            <a:ext cx="8229600" cy="731520"/>
          </a:xfrm>
          <a:prstGeom prst="rect">
            <a:avLst>
              <a:gd name="adj" fmla="val 12500"/>
            </a:avLst>
          </a:prstGeom>
          <a:solidFill>
            <a:srgbClr val="FFF3CD"/>
          </a:solidFill>
          <a:ln/>
          <a:effectLst>
            <a:outerShdw sx="100000" sy="100000" kx="0" ky="0" algn="bl" rotWithShape="0" blurRad="50800" dist="25400" dir="8100000">
              <a:srgbClr val="000000">
                <a:alpha val="12000"/>
              </a:srgbClr>
            </a:outerShdw>
          </a:effectLst>
        </p:spPr>
      </p:sp>
      <p:sp>
        <p:nvSpPr>
          <p:cNvPr id="23" name="Shape 21"/>
          <p:cNvSpPr/>
          <p:nvPr/>
        </p:nvSpPr>
        <p:spPr>
          <a:xfrm>
            <a:off x="457200" y="2834640"/>
            <a:ext cx="109728" cy="731520"/>
          </a:xfrm>
          <a:prstGeom prst="rect">
            <a:avLst>
              <a:gd name="adj" fmla="val 41667"/>
            </a:avLst>
          </a:prstGeom>
          <a:solidFill>
            <a:srgbClr val="F5C518"/>
          </a:solidFill>
          <a:ln/>
        </p:spPr>
      </p:sp>
      <p:sp>
        <p:nvSpPr>
          <p:cNvPr id="24" name="Text 22"/>
          <p:cNvSpPr/>
          <p:nvPr/>
        </p:nvSpPr>
        <p:spPr>
          <a:xfrm>
            <a:off x="731520" y="2880360"/>
            <a:ext cx="7772400" cy="320040"/>
          </a:xfrm>
          <a:prstGeom prst="rect">
            <a:avLst/>
          </a:prstGeom>
          <a:noFill/>
          <a:ln/>
        </p:spPr>
        <p:txBody>
          <a:bodyPr wrap="square" lIns="0" tIns="0" rIns="0" bIns="0" rtlCol="0" anchor="ctr"/>
          <a:lstStyle/>
          <a:p>
            <a:pPr indent="0" marL="0">
              <a:buNone/>
            </a:pPr>
            <a:r>
              <a:rPr lang="en-US" sz="1700" b="1" dirty="0">
                <a:solidFill>
                  <a:srgbClr val="856404"/>
                </a:solidFill>
                <a:latin typeface="BIZ UDPGothic" pitchFamily="34" charset="0"/>
                <a:ea typeface="BIZ UDPGothic" pitchFamily="34" charset="-122"/>
                <a:cs typeface="BIZ UDPGothic" pitchFamily="34" charset="-120"/>
              </a:rPr>
              <a:t>⚠️ 薬物乱用頭痛に注意</a:t>
            </a:r>
            <a:endParaRPr lang="en-US" sz="1700" dirty="0"/>
          </a:p>
        </p:txBody>
      </p:sp>
      <p:sp>
        <p:nvSpPr>
          <p:cNvPr id="25" name="Text 23"/>
          <p:cNvSpPr/>
          <p:nvPr/>
        </p:nvSpPr>
        <p:spPr>
          <a:xfrm>
            <a:off x="731520" y="3200400"/>
            <a:ext cx="7772400" cy="320040"/>
          </a:xfrm>
          <a:prstGeom prst="rect">
            <a:avLst/>
          </a:prstGeom>
          <a:noFill/>
          <a:ln/>
        </p:spPr>
        <p:txBody>
          <a:bodyPr wrap="square" lIns="0" tIns="0" rIns="0" bIns="0" rtlCol="0" anchor="ctr"/>
          <a:lstStyle/>
          <a:p>
            <a:pP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鎮痛薬を月10日以上使用すると、かえって頭痛が悪化する「薬物乱用頭痛」になることがあります。</a:t>
            </a:r>
            <a:endParaRPr lang="en-US" sz="1300" dirty="0"/>
          </a:p>
          <a:p>
            <a:pP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頻繁に薬が必要な方は脳神経内科・頭痛外来を受診してください。</a:t>
            </a:r>
            <a:endParaRPr lang="en-US" sz="1300" dirty="0"/>
          </a:p>
        </p:txBody>
      </p:sp>
      <p:sp>
        <p:nvSpPr>
          <p:cNvPr id="26" name="Text 24"/>
          <p:cNvSpPr/>
          <p:nvPr/>
        </p:nvSpPr>
        <p:spPr>
          <a:xfrm>
            <a:off x="457200" y="3794760"/>
            <a:ext cx="8229600" cy="274320"/>
          </a:xfrm>
          <a:prstGeom prst="rect">
            <a:avLst/>
          </a:prstGeom>
          <a:noFill/>
          <a:ln/>
        </p:spPr>
        <p:txBody>
          <a:bodyPr wrap="square" lIns="0" tIns="0" rIns="0" bIns="0" rtlCol="0" anchor="ctr"/>
          <a:lstStyle/>
          <a:p>
            <a:pPr indent="0" marL="0">
              <a:buNone/>
            </a:pPr>
            <a:r>
              <a:rPr lang="en-US" sz="1600" b="1" dirty="0">
                <a:solidFill>
                  <a:srgbClr val="E8850C"/>
                </a:solidFill>
                <a:latin typeface="BIZ UDPGothic" pitchFamily="34" charset="0"/>
                <a:ea typeface="BIZ UDPGothic" pitchFamily="34" charset="-122"/>
                <a:cs typeface="BIZ UDPGothic" pitchFamily="34" charset="-120"/>
              </a:rPr>
              <a:t>セルフケア</a:t>
            </a:r>
            <a:endParaRPr lang="en-US" sz="1600" dirty="0"/>
          </a:p>
        </p:txBody>
      </p:sp>
      <p:sp>
        <p:nvSpPr>
          <p:cNvPr id="27" name="Shape 25"/>
          <p:cNvSpPr/>
          <p:nvPr/>
        </p:nvSpPr>
        <p:spPr>
          <a:xfrm>
            <a:off x="457200" y="4114800"/>
            <a:ext cx="1920240" cy="502920"/>
          </a:xfrm>
          <a:prstGeom prst="rect">
            <a:avLst>
              <a:gd name="adj" fmla="val 18182"/>
            </a:avLst>
          </a:prstGeom>
          <a:solidFill>
            <a:srgbClr val="FFFFFF"/>
          </a:solidFill>
          <a:ln/>
          <a:effectLst>
            <a:outerShdw sx="100000" sy="100000" kx="0" ky="0" algn="bl" rotWithShape="0" blurRad="50800" dist="25400" dir="8100000">
              <a:srgbClr val="000000">
                <a:alpha val="12000"/>
              </a:srgbClr>
            </a:outerShdw>
          </a:effectLst>
        </p:spPr>
      </p:sp>
      <p:sp>
        <p:nvSpPr>
          <p:cNvPr id="28" name="Shape 26"/>
          <p:cNvSpPr/>
          <p:nvPr/>
        </p:nvSpPr>
        <p:spPr>
          <a:xfrm>
            <a:off x="457200" y="4114800"/>
            <a:ext cx="109728" cy="502920"/>
          </a:xfrm>
          <a:prstGeom prst="rect">
            <a:avLst>
              <a:gd name="adj" fmla="val 41667"/>
            </a:avLst>
          </a:prstGeom>
          <a:solidFill>
            <a:srgbClr val="E8850C"/>
          </a:solidFill>
          <a:ln/>
        </p:spPr>
      </p:sp>
      <p:sp>
        <p:nvSpPr>
          <p:cNvPr id="29" name="Text 27"/>
          <p:cNvSpPr/>
          <p:nvPr/>
        </p:nvSpPr>
        <p:spPr>
          <a:xfrm>
            <a:off x="594360" y="4142232"/>
            <a:ext cx="1691640" cy="4572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頭痛ダイアリーをつける</a:t>
            </a:r>
            <a:endParaRPr lang="en-US" sz="1300" dirty="0"/>
          </a:p>
        </p:txBody>
      </p:sp>
      <p:sp>
        <p:nvSpPr>
          <p:cNvPr id="30" name="Shape 28"/>
          <p:cNvSpPr/>
          <p:nvPr/>
        </p:nvSpPr>
        <p:spPr>
          <a:xfrm>
            <a:off x="2560320" y="4114800"/>
            <a:ext cx="1920240" cy="502920"/>
          </a:xfrm>
          <a:prstGeom prst="rect">
            <a:avLst>
              <a:gd name="adj" fmla="val 18182"/>
            </a:avLst>
          </a:prstGeom>
          <a:solidFill>
            <a:srgbClr val="FFFFFF"/>
          </a:solidFill>
          <a:ln/>
          <a:effectLst>
            <a:outerShdw sx="100000" sy="100000" kx="0" ky="0" algn="bl" rotWithShape="0" blurRad="50800" dist="25400" dir="8100000">
              <a:srgbClr val="000000">
                <a:alpha val="12000"/>
              </a:srgbClr>
            </a:outerShdw>
          </a:effectLst>
        </p:spPr>
      </p:sp>
      <p:sp>
        <p:nvSpPr>
          <p:cNvPr id="31" name="Shape 29"/>
          <p:cNvSpPr/>
          <p:nvPr/>
        </p:nvSpPr>
        <p:spPr>
          <a:xfrm>
            <a:off x="2560320" y="4114800"/>
            <a:ext cx="109728" cy="502920"/>
          </a:xfrm>
          <a:prstGeom prst="rect">
            <a:avLst>
              <a:gd name="adj" fmla="val 41667"/>
            </a:avLst>
          </a:prstGeom>
          <a:solidFill>
            <a:srgbClr val="E8850C"/>
          </a:solidFill>
          <a:ln/>
        </p:spPr>
      </p:sp>
      <p:sp>
        <p:nvSpPr>
          <p:cNvPr id="32" name="Text 30"/>
          <p:cNvSpPr/>
          <p:nvPr/>
        </p:nvSpPr>
        <p:spPr>
          <a:xfrm>
            <a:off x="2697480" y="4142232"/>
            <a:ext cx="1691640" cy="4572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規則正しい睡眠</a:t>
            </a:r>
            <a:endParaRPr lang="en-US" sz="1300" dirty="0"/>
          </a:p>
        </p:txBody>
      </p:sp>
      <p:sp>
        <p:nvSpPr>
          <p:cNvPr id="33" name="Shape 31"/>
          <p:cNvSpPr/>
          <p:nvPr/>
        </p:nvSpPr>
        <p:spPr>
          <a:xfrm>
            <a:off x="4663440" y="4114800"/>
            <a:ext cx="1920240" cy="502920"/>
          </a:xfrm>
          <a:prstGeom prst="rect">
            <a:avLst>
              <a:gd name="adj" fmla="val 18182"/>
            </a:avLst>
          </a:prstGeom>
          <a:solidFill>
            <a:srgbClr val="FFFFFF"/>
          </a:solidFill>
          <a:ln/>
          <a:effectLst>
            <a:outerShdw sx="100000" sy="100000" kx="0" ky="0" algn="bl" rotWithShape="0" blurRad="50800" dist="25400" dir="8100000">
              <a:srgbClr val="000000">
                <a:alpha val="12000"/>
              </a:srgbClr>
            </a:outerShdw>
          </a:effectLst>
        </p:spPr>
      </p:sp>
      <p:sp>
        <p:nvSpPr>
          <p:cNvPr id="34" name="Shape 32"/>
          <p:cNvSpPr/>
          <p:nvPr/>
        </p:nvSpPr>
        <p:spPr>
          <a:xfrm>
            <a:off x="4663440" y="4114800"/>
            <a:ext cx="109728" cy="502920"/>
          </a:xfrm>
          <a:prstGeom prst="rect">
            <a:avLst>
              <a:gd name="adj" fmla="val 41667"/>
            </a:avLst>
          </a:prstGeom>
          <a:solidFill>
            <a:srgbClr val="E8850C"/>
          </a:solidFill>
          <a:ln/>
        </p:spPr>
      </p:sp>
      <p:sp>
        <p:nvSpPr>
          <p:cNvPr id="35" name="Text 33"/>
          <p:cNvSpPr/>
          <p:nvPr/>
        </p:nvSpPr>
        <p:spPr>
          <a:xfrm>
            <a:off x="4800600" y="4142232"/>
            <a:ext cx="1691640" cy="4572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気圧予報アプリの活用</a:t>
            </a:r>
            <a:endParaRPr lang="en-US" sz="1300" dirty="0"/>
          </a:p>
        </p:txBody>
      </p:sp>
      <p:sp>
        <p:nvSpPr>
          <p:cNvPr id="36" name="Shape 34"/>
          <p:cNvSpPr/>
          <p:nvPr/>
        </p:nvSpPr>
        <p:spPr>
          <a:xfrm>
            <a:off x="6766560" y="4114800"/>
            <a:ext cx="1920240" cy="502920"/>
          </a:xfrm>
          <a:prstGeom prst="rect">
            <a:avLst>
              <a:gd name="adj" fmla="val 18182"/>
            </a:avLst>
          </a:prstGeom>
          <a:solidFill>
            <a:srgbClr val="FFFFFF"/>
          </a:solidFill>
          <a:ln/>
          <a:effectLst>
            <a:outerShdw sx="100000" sy="100000" kx="0" ky="0" algn="bl" rotWithShape="0" blurRad="50800" dist="25400" dir="8100000">
              <a:srgbClr val="000000">
                <a:alpha val="12000"/>
              </a:srgbClr>
            </a:outerShdw>
          </a:effectLst>
        </p:spPr>
      </p:sp>
      <p:sp>
        <p:nvSpPr>
          <p:cNvPr id="37" name="Shape 35"/>
          <p:cNvSpPr/>
          <p:nvPr/>
        </p:nvSpPr>
        <p:spPr>
          <a:xfrm>
            <a:off x="6766560" y="4114800"/>
            <a:ext cx="109728" cy="502920"/>
          </a:xfrm>
          <a:prstGeom prst="rect">
            <a:avLst>
              <a:gd name="adj" fmla="val 41667"/>
            </a:avLst>
          </a:prstGeom>
          <a:solidFill>
            <a:srgbClr val="E8850C"/>
          </a:solidFill>
          <a:ln/>
        </p:spPr>
      </p:sp>
      <p:sp>
        <p:nvSpPr>
          <p:cNvPr id="38" name="Text 36"/>
          <p:cNvSpPr/>
          <p:nvPr/>
        </p:nvSpPr>
        <p:spPr>
          <a:xfrm>
            <a:off x="6903720" y="4142232"/>
            <a:ext cx="1691640" cy="45720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カフェインの適度な摂取</a:t>
            </a:r>
            <a:endParaRPr lang="en-US" sz="1300" dirty="0"/>
          </a:p>
        </p:txBody>
      </p:sp>
      <p:sp>
        <p:nvSpPr>
          <p:cNvPr id="39" name="Shape 37"/>
          <p:cNvSpPr/>
          <p:nvPr/>
        </p:nvSpPr>
        <p:spPr>
          <a:xfrm>
            <a:off x="0" y="4800600"/>
            <a:ext cx="9144000" cy="347472"/>
          </a:xfrm>
          <a:prstGeom prst="rect">
            <a:avLst/>
          </a:prstGeom>
          <a:solidFill>
            <a:srgbClr val="1B3A5C"/>
          </a:solidFill>
          <a:ln/>
        </p:spPr>
      </p:sp>
      <p:sp>
        <p:nvSpPr>
          <p:cNvPr id="40" name="Text 3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頭痛ダイアリー ― 記録が治療の第一歩</a:t>
            </a:r>
            <a:endParaRPr lang="en-US" sz="2600" dirty="0"/>
          </a:p>
        </p:txBody>
      </p:sp>
      <p:sp>
        <p:nvSpPr>
          <p:cNvPr id="4" name="Shape 2"/>
          <p:cNvSpPr/>
          <p:nvPr/>
        </p:nvSpPr>
        <p:spPr>
          <a:xfrm>
            <a:off x="457200" y="1005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960120"/>
          </a:xfrm>
          <a:prstGeom prst="rect">
            <a:avLst>
              <a:gd name="adj" fmla="val 41667"/>
            </a:avLst>
          </a:prstGeom>
          <a:solidFill>
            <a:srgbClr val="2C5AA0"/>
          </a:solidFill>
          <a:ln/>
        </p:spPr>
      </p:sp>
      <p:sp>
        <p:nvSpPr>
          <p:cNvPr id="6" name="Text 4"/>
          <p:cNvSpPr/>
          <p:nvPr/>
        </p:nvSpPr>
        <p:spPr>
          <a:xfrm>
            <a:off x="640080" y="1097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143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8" name="Text 6"/>
          <p:cNvSpPr/>
          <p:nvPr/>
        </p:nvSpPr>
        <p:spPr>
          <a:xfrm>
            <a:off x="2103120" y="1097280"/>
            <a:ext cx="3200400" cy="41148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いつ・どのくらい続いたか</a:t>
            </a:r>
            <a:endParaRPr lang="en-US" sz="2000" dirty="0"/>
          </a:p>
        </p:txBody>
      </p:sp>
      <p:sp>
        <p:nvSpPr>
          <p:cNvPr id="9" name="Text 7"/>
          <p:cNvSpPr/>
          <p:nvPr/>
        </p:nvSpPr>
        <p:spPr>
          <a:xfrm>
            <a:off x="2103120" y="1508760"/>
            <a:ext cx="5943600" cy="411480"/>
          </a:xfrm>
          <a:prstGeom prst="rect">
            <a:avLst/>
          </a:prstGeom>
          <a:noFill/>
          <a:ln/>
        </p:spPr>
        <p:txBody>
          <a:bodyPr wrap="square" lIns="0" tIns="0" rIns="0" bIns="0" rtlCol="0" anchor="ctr"/>
          <a:lstStyle/>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日時・持続時間を記録</a:t>
            </a:r>
            <a:endParaRPr lang="en-US" sz="1500" dirty="0"/>
          </a:p>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天気（気圧）もメモすると傾向が見える</a:t>
            </a:r>
            <a:endParaRPr lang="en-US" sz="1500" dirty="0"/>
          </a:p>
        </p:txBody>
      </p:sp>
      <p:sp>
        <p:nvSpPr>
          <p:cNvPr id="10" name="Shape 8"/>
          <p:cNvSpPr/>
          <p:nvPr/>
        </p:nvSpPr>
        <p:spPr>
          <a:xfrm>
            <a:off x="457200" y="2148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148840"/>
            <a:ext cx="109728" cy="960120"/>
          </a:xfrm>
          <a:prstGeom prst="rect">
            <a:avLst>
              <a:gd name="adj" fmla="val 41667"/>
            </a:avLst>
          </a:prstGeom>
          <a:solidFill>
            <a:srgbClr val="2C5AA0"/>
          </a:solidFill>
          <a:ln/>
        </p:spPr>
      </p:sp>
      <p:sp>
        <p:nvSpPr>
          <p:cNvPr id="12" name="Text 10"/>
          <p:cNvSpPr/>
          <p:nvPr/>
        </p:nvSpPr>
        <p:spPr>
          <a:xfrm>
            <a:off x="640080" y="2240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3" name="Text 11"/>
          <p:cNvSpPr/>
          <p:nvPr/>
        </p:nvSpPr>
        <p:spPr>
          <a:xfrm>
            <a:off x="1371600" y="2286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4" name="Text 12"/>
          <p:cNvSpPr/>
          <p:nvPr/>
        </p:nvSpPr>
        <p:spPr>
          <a:xfrm>
            <a:off x="2103120" y="2240280"/>
            <a:ext cx="3200400" cy="41148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どんな痛みか</a:t>
            </a:r>
            <a:endParaRPr lang="en-US" sz="2000" dirty="0"/>
          </a:p>
        </p:txBody>
      </p:sp>
      <p:sp>
        <p:nvSpPr>
          <p:cNvPr id="15" name="Text 13"/>
          <p:cNvSpPr/>
          <p:nvPr/>
        </p:nvSpPr>
        <p:spPr>
          <a:xfrm>
            <a:off x="2103120" y="2651760"/>
            <a:ext cx="5943600" cy="411480"/>
          </a:xfrm>
          <a:prstGeom prst="rect">
            <a:avLst/>
          </a:prstGeom>
          <a:noFill/>
          <a:ln/>
        </p:spPr>
        <p:txBody>
          <a:bodyPr wrap="square" lIns="0" tIns="0" rIns="0" bIns="0" rtlCol="0" anchor="ctr"/>
          <a:lstStyle/>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ズキンズキン？締めつけ？強さは10段階で</a:t>
            </a:r>
            <a:endParaRPr lang="en-US" sz="1500" dirty="0"/>
          </a:p>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場所（片側・両側・後頭部）も記録</a:t>
            </a:r>
            <a:endParaRPr lang="en-US" sz="1500" dirty="0"/>
          </a:p>
        </p:txBody>
      </p:sp>
      <p:sp>
        <p:nvSpPr>
          <p:cNvPr id="16" name="Shape 14"/>
          <p:cNvSpPr/>
          <p:nvPr/>
        </p:nvSpPr>
        <p:spPr>
          <a:xfrm>
            <a:off x="457200" y="3291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291840"/>
            <a:ext cx="109728" cy="960120"/>
          </a:xfrm>
          <a:prstGeom prst="rect">
            <a:avLst>
              <a:gd name="adj" fmla="val 41667"/>
            </a:avLst>
          </a:prstGeom>
          <a:solidFill>
            <a:srgbClr val="2C5AA0"/>
          </a:solidFill>
          <a:ln/>
        </p:spPr>
      </p:sp>
      <p:sp>
        <p:nvSpPr>
          <p:cNvPr id="18" name="Text 16"/>
          <p:cNvSpPr/>
          <p:nvPr/>
        </p:nvSpPr>
        <p:spPr>
          <a:xfrm>
            <a:off x="640080" y="3383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9" name="Text 17"/>
          <p:cNvSpPr/>
          <p:nvPr/>
        </p:nvSpPr>
        <p:spPr>
          <a:xfrm>
            <a:off x="1371600" y="3429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20" name="Text 18"/>
          <p:cNvSpPr/>
          <p:nvPr/>
        </p:nvSpPr>
        <p:spPr>
          <a:xfrm>
            <a:off x="2103120" y="3383280"/>
            <a:ext cx="3200400" cy="41148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何をしたか・何が効いたか</a:t>
            </a:r>
            <a:endParaRPr lang="en-US" sz="2000" dirty="0"/>
          </a:p>
        </p:txBody>
      </p:sp>
      <p:sp>
        <p:nvSpPr>
          <p:cNvPr id="21" name="Text 19"/>
          <p:cNvSpPr/>
          <p:nvPr/>
        </p:nvSpPr>
        <p:spPr>
          <a:xfrm>
            <a:off x="2103120" y="3794760"/>
            <a:ext cx="5943600" cy="411480"/>
          </a:xfrm>
          <a:prstGeom prst="rect">
            <a:avLst/>
          </a:prstGeom>
          <a:noFill/>
          <a:ln/>
        </p:spPr>
        <p:txBody>
          <a:bodyPr wrap="square" lIns="0" tIns="0" rIns="0" bIns="0" rtlCol="0" anchor="ctr"/>
          <a:lstStyle/>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服用した薬と効果・寝込んだか・トリガー</a:t>
            </a:r>
            <a:endParaRPr lang="en-US" sz="1500" dirty="0"/>
          </a:p>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（食事・睡眠・ストレス・月経周期）</a:t>
            </a:r>
            <a:endParaRPr lang="en-US" sz="1500" dirty="0"/>
          </a:p>
        </p:txBody>
      </p:sp>
      <p:sp>
        <p:nvSpPr>
          <p:cNvPr id="22" name="Text 20"/>
          <p:cNvSpPr/>
          <p:nvPr/>
        </p:nvSpPr>
        <p:spPr>
          <a:xfrm>
            <a:off x="457200" y="4434840"/>
            <a:ext cx="8229600" cy="320040"/>
          </a:xfrm>
          <a:prstGeom prst="rect">
            <a:avLst/>
          </a:prstGeom>
          <a:noFill/>
          <a:ln/>
        </p:spPr>
        <p:txBody>
          <a:bodyPr wrap="square" lIns="0" tIns="0" rIns="0" bIns="0" rtlCol="0" anchor="ctr"/>
          <a:lstStyle/>
          <a:p>
            <a:pPr indent="0" marL="0">
              <a:buNone/>
            </a:pPr>
            <a:r>
              <a:rPr lang="en-US" sz="1300" dirty="0">
                <a:solidFill>
                  <a:srgbClr val="636E72"/>
                </a:solidFill>
                <a:latin typeface="BIZ UDPGothic" pitchFamily="34" charset="0"/>
                <a:ea typeface="BIZ UDPGothic" pitchFamily="34" charset="-122"/>
                <a:cs typeface="BIZ UDPGothic" pitchFamily="34" charset="-120"/>
              </a:rPr>
              <a:t>※ 1〜2ヶ月分の記録があると、医師が的確に診断できます</a:t>
            </a:r>
            <a:endParaRPr lang="en-US" sz="1300" dirty="0"/>
          </a:p>
        </p:txBody>
      </p:sp>
      <p:sp>
        <p:nvSpPr>
          <p:cNvPr id="23" name="Shape 21"/>
          <p:cNvSpPr/>
          <p:nvPr/>
        </p:nvSpPr>
        <p:spPr>
          <a:xfrm>
            <a:off x="0" y="4800600"/>
            <a:ext cx="9144000" cy="347472"/>
          </a:xfrm>
          <a:prstGeom prst="rect">
            <a:avLst/>
          </a:prstGeom>
          <a:solidFill>
            <a:srgbClr val="1B3A5C"/>
          </a:solidFill>
          <a:ln/>
        </p:spPr>
      </p:sp>
      <p:sp>
        <p:nvSpPr>
          <p:cNvPr id="24" name="Text 22"/>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C3545"/>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気象病ではない ― 危険な頭痛のサイン</a:t>
            </a:r>
            <a:endParaRPr lang="en-US" sz="2600" dirty="0"/>
          </a:p>
        </p:txBody>
      </p:sp>
      <p:sp>
        <p:nvSpPr>
          <p:cNvPr id="4" name="Shape 2"/>
          <p:cNvSpPr/>
          <p:nvPr/>
        </p:nvSpPr>
        <p:spPr>
          <a:xfrm>
            <a:off x="457200" y="1051560"/>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594360"/>
          </a:xfrm>
          <a:prstGeom prst="rect">
            <a:avLst>
              <a:gd name="adj" fmla="val 41667"/>
            </a:avLst>
          </a:prstGeom>
          <a:solidFill>
            <a:srgbClr val="DC3545"/>
          </a:solidFill>
          <a:ln/>
        </p:spPr>
      </p:sp>
      <p:sp>
        <p:nvSpPr>
          <p:cNvPr id="6" name="Text 4"/>
          <p:cNvSpPr/>
          <p:nvPr/>
        </p:nvSpPr>
        <p:spPr>
          <a:xfrm>
            <a:off x="731520" y="1097280"/>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1371600" y="1097280"/>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人生最悪の突然の激しい頭痛（くも膜下出血）</a:t>
            </a:r>
            <a:endParaRPr lang="en-US" sz="1800" dirty="0"/>
          </a:p>
        </p:txBody>
      </p:sp>
      <p:sp>
        <p:nvSpPr>
          <p:cNvPr id="8" name="Shape 6"/>
          <p:cNvSpPr/>
          <p:nvPr/>
        </p:nvSpPr>
        <p:spPr>
          <a:xfrm>
            <a:off x="457200" y="1764792"/>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9" name="Shape 7"/>
          <p:cNvSpPr/>
          <p:nvPr/>
        </p:nvSpPr>
        <p:spPr>
          <a:xfrm>
            <a:off x="457200" y="1764792"/>
            <a:ext cx="109728" cy="594360"/>
          </a:xfrm>
          <a:prstGeom prst="rect">
            <a:avLst>
              <a:gd name="adj" fmla="val 41667"/>
            </a:avLst>
          </a:prstGeom>
          <a:solidFill>
            <a:srgbClr val="DC3545"/>
          </a:solidFill>
          <a:ln/>
        </p:spPr>
      </p:sp>
      <p:sp>
        <p:nvSpPr>
          <p:cNvPr id="10" name="Text 8"/>
          <p:cNvSpPr/>
          <p:nvPr/>
        </p:nvSpPr>
        <p:spPr>
          <a:xfrm>
            <a:off x="731520" y="1810512"/>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1371600" y="1810512"/>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発熱＋頭痛＋首の硬さ（髄膜炎）</a:t>
            </a:r>
            <a:endParaRPr lang="en-US" sz="1800" dirty="0"/>
          </a:p>
        </p:txBody>
      </p:sp>
      <p:sp>
        <p:nvSpPr>
          <p:cNvPr id="12" name="Shape 10"/>
          <p:cNvSpPr/>
          <p:nvPr/>
        </p:nvSpPr>
        <p:spPr>
          <a:xfrm>
            <a:off x="457200" y="2478024"/>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13" name="Shape 11"/>
          <p:cNvSpPr/>
          <p:nvPr/>
        </p:nvSpPr>
        <p:spPr>
          <a:xfrm>
            <a:off x="457200" y="2478024"/>
            <a:ext cx="109728" cy="594360"/>
          </a:xfrm>
          <a:prstGeom prst="rect">
            <a:avLst>
              <a:gd name="adj" fmla="val 41667"/>
            </a:avLst>
          </a:prstGeom>
          <a:solidFill>
            <a:srgbClr val="DC3545"/>
          </a:solidFill>
          <a:ln/>
        </p:spPr>
      </p:sp>
      <p:sp>
        <p:nvSpPr>
          <p:cNvPr id="14" name="Text 12"/>
          <p:cNvSpPr/>
          <p:nvPr/>
        </p:nvSpPr>
        <p:spPr>
          <a:xfrm>
            <a:off x="731520" y="2523744"/>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1371600" y="2523744"/>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日に日に悪化する頭痛（脳腫瘍・慢性硬膜下血腫）</a:t>
            </a:r>
            <a:endParaRPr lang="en-US" sz="1800" dirty="0"/>
          </a:p>
        </p:txBody>
      </p:sp>
      <p:sp>
        <p:nvSpPr>
          <p:cNvPr id="16" name="Shape 14"/>
          <p:cNvSpPr/>
          <p:nvPr/>
        </p:nvSpPr>
        <p:spPr>
          <a:xfrm>
            <a:off x="457200" y="3191256"/>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191256"/>
            <a:ext cx="109728" cy="594360"/>
          </a:xfrm>
          <a:prstGeom prst="rect">
            <a:avLst>
              <a:gd name="adj" fmla="val 41667"/>
            </a:avLst>
          </a:prstGeom>
          <a:solidFill>
            <a:srgbClr val="DC3545"/>
          </a:solidFill>
          <a:ln/>
        </p:spPr>
      </p:sp>
      <p:sp>
        <p:nvSpPr>
          <p:cNvPr id="18" name="Text 16"/>
          <p:cNvSpPr/>
          <p:nvPr/>
        </p:nvSpPr>
        <p:spPr>
          <a:xfrm>
            <a:off x="731520" y="3236976"/>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1371600" y="3236976"/>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50歳以降に初めて起きた頭痛</a:t>
            </a:r>
            <a:endParaRPr lang="en-US" sz="1800" dirty="0"/>
          </a:p>
        </p:txBody>
      </p:sp>
      <p:sp>
        <p:nvSpPr>
          <p:cNvPr id="20" name="Shape 18"/>
          <p:cNvSpPr/>
          <p:nvPr/>
        </p:nvSpPr>
        <p:spPr>
          <a:xfrm>
            <a:off x="457200" y="3904488"/>
            <a:ext cx="8229600" cy="594360"/>
          </a:xfrm>
          <a:prstGeom prst="rect">
            <a:avLst>
              <a:gd name="adj" fmla="val 15385"/>
            </a:avLst>
          </a:prstGeom>
          <a:solidFill>
            <a:srgbClr val="F8D7DA"/>
          </a:solidFill>
          <a:ln/>
          <a:effectLst>
            <a:outerShdw sx="100000" sy="100000" kx="0" ky="0" algn="bl" rotWithShape="0" blurRad="50800" dist="25400" dir="8100000">
              <a:srgbClr val="000000">
                <a:alpha val="12000"/>
              </a:srgbClr>
            </a:outerShdw>
          </a:effectLst>
        </p:spPr>
      </p:sp>
      <p:sp>
        <p:nvSpPr>
          <p:cNvPr id="21" name="Shape 19"/>
          <p:cNvSpPr/>
          <p:nvPr/>
        </p:nvSpPr>
        <p:spPr>
          <a:xfrm>
            <a:off x="457200" y="3904488"/>
            <a:ext cx="109728" cy="594360"/>
          </a:xfrm>
          <a:prstGeom prst="rect">
            <a:avLst>
              <a:gd name="adj" fmla="val 41667"/>
            </a:avLst>
          </a:prstGeom>
          <a:solidFill>
            <a:srgbClr val="DC3545"/>
          </a:solidFill>
          <a:ln/>
        </p:spPr>
      </p:sp>
      <p:sp>
        <p:nvSpPr>
          <p:cNvPr id="22" name="Text 20"/>
          <p:cNvSpPr/>
          <p:nvPr/>
        </p:nvSpPr>
        <p:spPr>
          <a:xfrm>
            <a:off x="731520" y="3950208"/>
            <a:ext cx="548640" cy="50292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1371600" y="3950208"/>
            <a:ext cx="7040880" cy="502920"/>
          </a:xfrm>
          <a:prstGeom prst="rect">
            <a:avLst/>
          </a:prstGeom>
          <a:noFill/>
          <a:ln/>
        </p:spPr>
        <p:txBody>
          <a:bodyPr wrap="square" lIns="0" tIns="0" rIns="0" bIns="0" rtlCol="0" anchor="ctr"/>
          <a:lstStyle/>
          <a:p>
            <a:pPr indent="0" marL="0">
              <a:buNone/>
            </a:pPr>
            <a:r>
              <a:rPr lang="en-US" sz="1800" dirty="0">
                <a:solidFill>
                  <a:srgbClr val="2D3436"/>
                </a:solidFill>
                <a:latin typeface="BIZ UDPGothic" pitchFamily="34" charset="0"/>
                <a:ea typeface="BIZ UDPGothic" pitchFamily="34" charset="-122"/>
                <a:cs typeface="BIZ UDPGothic" pitchFamily="34" charset="-120"/>
              </a:rPr>
              <a:t>視力低下や意識障害を伴う頭痛</a:t>
            </a:r>
            <a:endParaRPr lang="en-US" sz="1800" dirty="0"/>
          </a:p>
        </p:txBody>
      </p:sp>
      <p:sp>
        <p:nvSpPr>
          <p:cNvPr id="24" name="Shape 22"/>
          <p:cNvSpPr/>
          <p:nvPr/>
        </p:nvSpPr>
        <p:spPr>
          <a:xfrm>
            <a:off x="914400" y="4572000"/>
            <a:ext cx="7315200" cy="182880"/>
          </a:xfrm>
          <a:prstGeom prst="rect">
            <a:avLst>
              <a:gd name="adj" fmla="val 50000"/>
            </a:avLst>
          </a:prstGeom>
          <a:solidFill>
            <a:srgbClr val="DC3545"/>
          </a:solidFill>
          <a:ln/>
          <a:effectLst>
            <a:outerShdw sx="100000" sy="100000" kx="0" ky="0" algn="bl" rotWithShape="0" blurRad="50800" dist="25400" dir="8100000">
              <a:srgbClr val="000000">
                <a:alpha val="12000"/>
              </a:srgbClr>
            </a:outerShdw>
          </a:effectLst>
        </p:spPr>
      </p:sp>
      <p:sp>
        <p:nvSpPr>
          <p:cNvPr id="25" name="Shape 23"/>
          <p:cNvSpPr/>
          <p:nvPr/>
        </p:nvSpPr>
        <p:spPr>
          <a:xfrm>
            <a:off x="0" y="4800600"/>
            <a:ext cx="9144000" cy="347472"/>
          </a:xfrm>
          <a:prstGeom prst="rect">
            <a:avLst/>
          </a:prstGeom>
          <a:solidFill>
            <a:srgbClr val="1B3A5C"/>
          </a:solidFill>
          <a:ln/>
        </p:spPr>
      </p:sp>
      <p:sp>
        <p:nvSpPr>
          <p:cNvPr id="26" name="Text 24"/>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受診の目安 ― 緊急度3段階</a:t>
            </a:r>
            <a:endParaRPr lang="en-US" sz="2600" dirty="0"/>
          </a:p>
        </p:txBody>
      </p:sp>
      <p:sp>
        <p:nvSpPr>
          <p:cNvPr id="4" name="Shape 2"/>
          <p:cNvSpPr/>
          <p:nvPr/>
        </p:nvSpPr>
        <p:spPr>
          <a:xfrm>
            <a:off x="457200" y="1051560"/>
            <a:ext cx="8229600" cy="1005840"/>
          </a:xfrm>
          <a:prstGeom prst="rect">
            <a:avLst>
              <a:gd name="adj" fmla="val 9091"/>
            </a:avLst>
          </a:prstGeom>
          <a:solidFill>
            <a:srgbClr val="F8D7DA"/>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DC3545"/>
          </a:solidFill>
          <a:ln/>
        </p:spPr>
      </p:sp>
      <p:sp>
        <p:nvSpPr>
          <p:cNvPr id="6" name="Text 4"/>
          <p:cNvSpPr/>
          <p:nvPr/>
        </p:nvSpPr>
        <p:spPr>
          <a:xfrm>
            <a:off x="731520" y="1097280"/>
            <a:ext cx="2743200" cy="411480"/>
          </a:xfrm>
          <a:prstGeom prst="rect">
            <a:avLst/>
          </a:prstGeom>
          <a:noFill/>
          <a:ln/>
        </p:spPr>
        <p:txBody>
          <a:bodyPr wrap="square" lIns="0" tIns="0" rIns="0" bIns="0" rtlCol="0" anchor="ctr"/>
          <a:lstStyle/>
          <a:p>
            <a:pPr indent="0" marL="0">
              <a:buNone/>
            </a:pPr>
            <a:r>
              <a:rPr lang="en-US" sz="2100" b="1" dirty="0">
                <a:solidFill>
                  <a:srgbClr val="DC3545"/>
                </a:solidFill>
                <a:latin typeface="BIZ UDPGothic" pitchFamily="34" charset="0"/>
                <a:ea typeface="BIZ UDPGothic" pitchFamily="34" charset="-122"/>
                <a:cs typeface="BIZ UDPGothic" pitchFamily="34" charset="-120"/>
              </a:rPr>
              <a:t>🔴 すぐ受診</a:t>
            </a:r>
            <a:endParaRPr lang="en-US" sz="2100" dirty="0"/>
          </a:p>
        </p:txBody>
      </p:sp>
      <p:sp>
        <p:nvSpPr>
          <p:cNvPr id="7" name="Text 5"/>
          <p:cNvSpPr/>
          <p:nvPr/>
        </p:nvSpPr>
        <p:spPr>
          <a:xfrm>
            <a:off x="731520" y="150876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突然の激しい頭痛（人生最悪）</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発熱＋頭痛＋首の硬さ</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意識障害・けいれんを伴う</a:t>
            </a:r>
            <a:endParaRPr lang="en-US" sz="1500" dirty="0"/>
          </a:p>
        </p:txBody>
      </p:sp>
      <p:sp>
        <p:nvSpPr>
          <p:cNvPr id="8" name="Text 6"/>
          <p:cNvSpPr/>
          <p:nvPr/>
        </p:nvSpPr>
        <p:spPr>
          <a:xfrm>
            <a:off x="5486400" y="118872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くも膜下出血・髄膜炎</a:t>
            </a:r>
            <a:endParaRPr lang="en-US" sz="1600" dirty="0"/>
          </a:p>
          <a:p>
            <a:pPr indent="0" marL="0">
              <a:lnSpc>
                <a:spcPct val="115000"/>
              </a:lnSpc>
              <a:buNone/>
            </a:pPr>
            <a:r>
              <a:rPr lang="en-US" sz="1600" b="1" dirty="0">
                <a:solidFill>
                  <a:srgbClr val="DC3545"/>
                </a:solidFill>
                <a:latin typeface="BIZ UDPGothic" pitchFamily="34" charset="0"/>
                <a:ea typeface="BIZ UDPGothic" pitchFamily="34" charset="-122"/>
                <a:cs typeface="BIZ UDPGothic" pitchFamily="34" charset="-120"/>
              </a:rPr>
              <a:t>→119番</a:t>
            </a:r>
            <a:endParaRPr lang="en-US" sz="1600" dirty="0"/>
          </a:p>
        </p:txBody>
      </p:sp>
      <p:sp>
        <p:nvSpPr>
          <p:cNvPr id="9" name="Shape 7"/>
          <p:cNvSpPr/>
          <p:nvPr/>
        </p:nvSpPr>
        <p:spPr>
          <a:xfrm>
            <a:off x="457200" y="2240280"/>
            <a:ext cx="8229600" cy="1005840"/>
          </a:xfrm>
          <a:prstGeom prst="rect">
            <a:avLst>
              <a:gd name="adj" fmla="val 9091"/>
            </a:avLst>
          </a:prstGeom>
          <a:solidFill>
            <a:srgbClr val="FFF3CD"/>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856404"/>
          </a:solidFill>
          <a:ln/>
        </p:spPr>
      </p:sp>
      <p:sp>
        <p:nvSpPr>
          <p:cNvPr id="11" name="Text 9"/>
          <p:cNvSpPr/>
          <p:nvPr/>
        </p:nvSpPr>
        <p:spPr>
          <a:xfrm>
            <a:off x="731520" y="2286000"/>
            <a:ext cx="2743200" cy="411480"/>
          </a:xfrm>
          <a:prstGeom prst="rect">
            <a:avLst/>
          </a:prstGeom>
          <a:noFill/>
          <a:ln/>
        </p:spPr>
        <p:txBody>
          <a:bodyPr wrap="square" lIns="0" tIns="0" rIns="0" bIns="0" rtlCol="0" anchor="ctr"/>
          <a:lstStyle/>
          <a:p>
            <a:pPr indent="0" marL="0">
              <a:buNone/>
            </a:pPr>
            <a:r>
              <a:rPr lang="en-US" sz="2100" b="1" dirty="0">
                <a:solidFill>
                  <a:srgbClr val="856404"/>
                </a:solidFill>
                <a:latin typeface="BIZ UDPGothic" pitchFamily="34" charset="0"/>
                <a:ea typeface="BIZ UDPGothic" pitchFamily="34" charset="-122"/>
                <a:cs typeface="BIZ UDPGothic" pitchFamily="34" charset="-120"/>
              </a:rPr>
              <a:t>🟡 早めに受診</a:t>
            </a:r>
            <a:endParaRPr lang="en-US" sz="2100" dirty="0"/>
          </a:p>
        </p:txBody>
      </p:sp>
      <p:sp>
        <p:nvSpPr>
          <p:cNvPr id="12" name="Text 10"/>
          <p:cNvSpPr/>
          <p:nvPr/>
        </p:nvSpPr>
        <p:spPr>
          <a:xfrm>
            <a:off x="731520" y="269748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月4回以上の頭痛がある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鎮痛薬を月10日以上使用している</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日常生活に支障が出ている</a:t>
            </a:r>
            <a:endParaRPr lang="en-US" sz="1500" dirty="0"/>
          </a:p>
        </p:txBody>
      </p:sp>
      <p:sp>
        <p:nvSpPr>
          <p:cNvPr id="13" name="Text 11"/>
          <p:cNvSpPr/>
          <p:nvPr/>
        </p:nvSpPr>
        <p:spPr>
          <a:xfrm>
            <a:off x="5486400" y="237744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脳神経内科・頭痛外来</a:t>
            </a:r>
            <a:endParaRPr lang="en-US" sz="1600" dirty="0"/>
          </a:p>
          <a:p>
            <a:pPr indent="0" marL="0">
              <a:lnSpc>
                <a:spcPct val="115000"/>
              </a:lnSpc>
              <a:buNone/>
            </a:pPr>
            <a:r>
              <a:rPr lang="en-US" sz="1600" b="1" dirty="0">
                <a:solidFill>
                  <a:srgbClr val="856404"/>
                </a:solidFill>
                <a:latin typeface="BIZ UDPGothic" pitchFamily="34" charset="0"/>
                <a:ea typeface="BIZ UDPGothic" pitchFamily="34" charset="-122"/>
                <a:cs typeface="BIZ UDPGothic" pitchFamily="34" charset="-120"/>
              </a:rPr>
              <a:t>→ 予防治療の相談</a:t>
            </a:r>
            <a:endParaRPr lang="en-US" sz="1600" dirty="0"/>
          </a:p>
        </p:txBody>
      </p:sp>
      <p:sp>
        <p:nvSpPr>
          <p:cNvPr id="14" name="Shape 12"/>
          <p:cNvSpPr/>
          <p:nvPr/>
        </p:nvSpPr>
        <p:spPr>
          <a:xfrm>
            <a:off x="457200" y="3429000"/>
            <a:ext cx="8229600" cy="1005840"/>
          </a:xfrm>
          <a:prstGeom prst="rect">
            <a:avLst>
              <a:gd name="adj" fmla="val 9091"/>
            </a:avLst>
          </a:prstGeom>
          <a:solidFill>
            <a:srgbClr val="D4EDDA"/>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8A745"/>
          </a:solidFill>
          <a:ln/>
        </p:spPr>
      </p:sp>
      <p:sp>
        <p:nvSpPr>
          <p:cNvPr id="16" name="Text 14"/>
          <p:cNvSpPr/>
          <p:nvPr/>
        </p:nvSpPr>
        <p:spPr>
          <a:xfrm>
            <a:off x="731520" y="3474720"/>
            <a:ext cx="2743200" cy="411480"/>
          </a:xfrm>
          <a:prstGeom prst="rect">
            <a:avLst/>
          </a:prstGeom>
          <a:noFill/>
          <a:ln/>
        </p:spPr>
        <p:txBody>
          <a:bodyPr wrap="square" lIns="0" tIns="0" rIns="0" bIns="0" rtlCol="0" anchor="ctr"/>
          <a:lstStyle/>
          <a:p>
            <a:pPr indent="0" marL="0">
              <a:buNone/>
            </a:pPr>
            <a:r>
              <a:rPr lang="en-US" sz="2100" b="1" dirty="0">
                <a:solidFill>
                  <a:srgbClr val="28A745"/>
                </a:solidFill>
                <a:latin typeface="BIZ UDPGothic" pitchFamily="34" charset="0"/>
                <a:ea typeface="BIZ UDPGothic" pitchFamily="34" charset="-122"/>
                <a:cs typeface="BIZ UDPGothic" pitchFamily="34" charset="-120"/>
              </a:rPr>
              <a:t>🟢 様子見OK</a:t>
            </a:r>
            <a:endParaRPr lang="en-US" sz="2100" dirty="0"/>
          </a:p>
        </p:txBody>
      </p:sp>
      <p:sp>
        <p:nvSpPr>
          <p:cNvPr id="17" name="Text 15"/>
          <p:cNvSpPr/>
          <p:nvPr/>
        </p:nvSpPr>
        <p:spPr>
          <a:xfrm>
            <a:off x="731520" y="3886200"/>
            <a:ext cx="4572000" cy="502920"/>
          </a:xfrm>
          <a:prstGeom prst="rect">
            <a:avLst/>
          </a:prstGeom>
          <a:noFill/>
          <a:ln/>
        </p:spPr>
        <p:txBody>
          <a:bodyPr wrap="square" lIns="0" tIns="0" rIns="0" bIns="0" rtlCol="0" anchor="ctr"/>
          <a:lstStyle/>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天気の変わり目の軽い頭痛</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市販薬で数時間で改善</a:t>
            </a:r>
            <a:endParaRPr lang="en-US" sz="1500" dirty="0"/>
          </a:p>
          <a:p>
            <a:pPr indent="0" marL="0">
              <a:lnSpc>
                <a:spcPct val="115000"/>
              </a:lnSpc>
              <a:buNone/>
            </a:pPr>
            <a:r>
              <a:rPr lang="en-US" sz="1500" dirty="0">
                <a:solidFill>
                  <a:srgbClr val="2D3436"/>
                </a:solidFill>
                <a:latin typeface="BIZ UDPGothic" pitchFamily="34" charset="0"/>
                <a:ea typeface="BIZ UDPGothic" pitchFamily="34" charset="-122"/>
                <a:cs typeface="BIZ UDPGothic" pitchFamily="34" charset="-120"/>
              </a:rPr>
              <a:t>月に数回程度</a:t>
            </a:r>
            <a:endParaRPr lang="en-US" sz="1500" dirty="0"/>
          </a:p>
        </p:txBody>
      </p:sp>
      <p:sp>
        <p:nvSpPr>
          <p:cNvPr id="18" name="Text 16"/>
          <p:cNvSpPr/>
          <p:nvPr/>
        </p:nvSpPr>
        <p:spPr>
          <a:xfrm>
            <a:off x="5486400" y="3566160"/>
            <a:ext cx="3017520" cy="731520"/>
          </a:xfrm>
          <a:prstGeom prst="rect">
            <a:avLst/>
          </a:prstGeom>
          <a:noFill/>
          <a:ln/>
        </p:spPr>
        <p:txBody>
          <a:bodyPr wrap="square" lIns="0" tIns="0" rIns="0" bIns="0" rtlCol="0" anchor="ctr"/>
          <a:lstStyle/>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頭痛ダイアリーで</a:t>
            </a:r>
            <a:endParaRPr lang="en-US" sz="1600" dirty="0"/>
          </a:p>
          <a:p>
            <a:pPr indent="0" marL="0">
              <a:lnSpc>
                <a:spcPct val="115000"/>
              </a:lnSpc>
              <a:buNone/>
            </a:pPr>
            <a:r>
              <a:rPr lang="en-US" sz="1600" b="1" dirty="0">
                <a:solidFill>
                  <a:srgbClr val="28A745"/>
                </a:solidFill>
                <a:latin typeface="BIZ UDPGothic" pitchFamily="34" charset="0"/>
                <a:ea typeface="BIZ UDPGothic" pitchFamily="34" charset="-122"/>
                <a:cs typeface="BIZ UDPGothic" pitchFamily="34" charset="-120"/>
              </a:rPr>
              <a:t>記録を開始</a:t>
            </a:r>
            <a:endParaRPr lang="en-US" sz="16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天気頭痛のセルフケア</a:t>
            </a:r>
            <a:endParaRPr lang="en-US" sz="2600" dirty="0"/>
          </a:p>
        </p:txBody>
      </p:sp>
      <p:sp>
        <p:nvSpPr>
          <p:cNvPr id="4" name="Shape 2"/>
          <p:cNvSpPr/>
          <p:nvPr/>
        </p:nvSpPr>
        <p:spPr>
          <a:xfrm>
            <a:off x="457200" y="1005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960120"/>
          </a:xfrm>
          <a:prstGeom prst="rect">
            <a:avLst>
              <a:gd name="adj" fmla="val 41667"/>
            </a:avLst>
          </a:prstGeom>
          <a:solidFill>
            <a:srgbClr val="2C5AA0"/>
          </a:solidFill>
          <a:ln/>
        </p:spPr>
      </p:sp>
      <p:sp>
        <p:nvSpPr>
          <p:cNvPr id="6" name="Text 4"/>
          <p:cNvSpPr/>
          <p:nvPr/>
        </p:nvSpPr>
        <p:spPr>
          <a:xfrm>
            <a:off x="640080" y="1097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143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8" name="Text 6"/>
          <p:cNvSpPr/>
          <p:nvPr/>
        </p:nvSpPr>
        <p:spPr>
          <a:xfrm>
            <a:off x="2103120" y="1097280"/>
            <a:ext cx="3200400" cy="41148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気圧予報アプリを活用</a:t>
            </a:r>
            <a:endParaRPr lang="en-US" sz="2000" dirty="0"/>
          </a:p>
        </p:txBody>
      </p:sp>
      <p:sp>
        <p:nvSpPr>
          <p:cNvPr id="9" name="Text 7"/>
          <p:cNvSpPr/>
          <p:nvPr/>
        </p:nvSpPr>
        <p:spPr>
          <a:xfrm>
            <a:off x="2103120" y="1508760"/>
            <a:ext cx="5943600" cy="411480"/>
          </a:xfrm>
          <a:prstGeom prst="rect">
            <a:avLst/>
          </a:prstGeom>
          <a:noFill/>
          <a:ln/>
        </p:spPr>
        <p:txBody>
          <a:bodyPr wrap="square" lIns="0" tIns="0" rIns="0" bIns="0" rtlCol="0" anchor="ctr"/>
          <a:lstStyle/>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気圧の低下を事前に把握 → 予兆段階で薬を服用</a:t>
            </a:r>
            <a:endParaRPr lang="en-US" sz="1500" dirty="0"/>
          </a:p>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「頭痛ーる」などのアプリが便利</a:t>
            </a:r>
            <a:endParaRPr lang="en-US" sz="1500" dirty="0"/>
          </a:p>
        </p:txBody>
      </p:sp>
      <p:sp>
        <p:nvSpPr>
          <p:cNvPr id="10" name="Shape 8"/>
          <p:cNvSpPr/>
          <p:nvPr/>
        </p:nvSpPr>
        <p:spPr>
          <a:xfrm>
            <a:off x="457200" y="2148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148840"/>
            <a:ext cx="109728" cy="960120"/>
          </a:xfrm>
          <a:prstGeom prst="rect">
            <a:avLst>
              <a:gd name="adj" fmla="val 41667"/>
            </a:avLst>
          </a:prstGeom>
          <a:solidFill>
            <a:srgbClr val="2C5AA0"/>
          </a:solidFill>
          <a:ln/>
        </p:spPr>
      </p:sp>
      <p:sp>
        <p:nvSpPr>
          <p:cNvPr id="12" name="Text 10"/>
          <p:cNvSpPr/>
          <p:nvPr/>
        </p:nvSpPr>
        <p:spPr>
          <a:xfrm>
            <a:off x="640080" y="2240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3" name="Text 11"/>
          <p:cNvSpPr/>
          <p:nvPr/>
        </p:nvSpPr>
        <p:spPr>
          <a:xfrm>
            <a:off x="1371600" y="2286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4" name="Text 12"/>
          <p:cNvSpPr/>
          <p:nvPr/>
        </p:nvSpPr>
        <p:spPr>
          <a:xfrm>
            <a:off x="2103120" y="2240280"/>
            <a:ext cx="3200400" cy="41148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規則正しい生活リズム</a:t>
            </a:r>
            <a:endParaRPr lang="en-US" sz="2000" dirty="0"/>
          </a:p>
        </p:txBody>
      </p:sp>
      <p:sp>
        <p:nvSpPr>
          <p:cNvPr id="15" name="Text 13"/>
          <p:cNvSpPr/>
          <p:nvPr/>
        </p:nvSpPr>
        <p:spPr>
          <a:xfrm>
            <a:off x="2103120" y="2651760"/>
            <a:ext cx="5943600" cy="411480"/>
          </a:xfrm>
          <a:prstGeom prst="rect">
            <a:avLst/>
          </a:prstGeom>
          <a:noFill/>
          <a:ln/>
        </p:spPr>
        <p:txBody>
          <a:bodyPr wrap="square" lIns="0" tIns="0" rIns="0" bIns="0" rtlCol="0" anchor="ctr"/>
          <a:lstStyle/>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睡眠の過不足・空腹・脱水は片頭痛のトリガー</a:t>
            </a:r>
            <a:endParaRPr lang="en-US" sz="1500" dirty="0"/>
          </a:p>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週末の寝だめも避ける</a:t>
            </a:r>
            <a:endParaRPr lang="en-US" sz="1500" dirty="0"/>
          </a:p>
        </p:txBody>
      </p:sp>
      <p:sp>
        <p:nvSpPr>
          <p:cNvPr id="16" name="Shape 14"/>
          <p:cNvSpPr/>
          <p:nvPr/>
        </p:nvSpPr>
        <p:spPr>
          <a:xfrm>
            <a:off x="457200" y="3291840"/>
            <a:ext cx="8229600" cy="960120"/>
          </a:xfrm>
          <a:prstGeom prst="rect">
            <a:avLst>
              <a:gd name="adj" fmla="val 9524"/>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291840"/>
            <a:ext cx="109728" cy="960120"/>
          </a:xfrm>
          <a:prstGeom prst="rect">
            <a:avLst>
              <a:gd name="adj" fmla="val 41667"/>
            </a:avLst>
          </a:prstGeom>
          <a:solidFill>
            <a:srgbClr val="2C5AA0"/>
          </a:solidFill>
          <a:ln/>
        </p:spPr>
      </p:sp>
      <p:sp>
        <p:nvSpPr>
          <p:cNvPr id="18" name="Text 16"/>
          <p:cNvSpPr/>
          <p:nvPr/>
        </p:nvSpPr>
        <p:spPr>
          <a:xfrm>
            <a:off x="640080" y="3383280"/>
            <a:ext cx="640080" cy="77724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9" name="Text 17"/>
          <p:cNvSpPr/>
          <p:nvPr/>
        </p:nvSpPr>
        <p:spPr>
          <a:xfrm>
            <a:off x="1371600" y="3429000"/>
            <a:ext cx="64008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20" name="Text 18"/>
          <p:cNvSpPr/>
          <p:nvPr/>
        </p:nvSpPr>
        <p:spPr>
          <a:xfrm>
            <a:off x="2103120" y="3383280"/>
            <a:ext cx="3200400" cy="411480"/>
          </a:xfrm>
          <a:prstGeom prst="rect">
            <a:avLst/>
          </a:prstGeom>
          <a:noFill/>
          <a:ln/>
        </p:spPr>
        <p:txBody>
          <a:bodyPr wrap="square" lIns="0" tIns="0" rIns="0" bIns="0" rtlCol="0" anchor="ctr"/>
          <a:lstStyle/>
          <a:p>
            <a:pPr indent="0" marL="0">
              <a:buNone/>
            </a:pPr>
            <a:r>
              <a:rPr lang="en-US" sz="2000" b="1" dirty="0">
                <a:solidFill>
                  <a:srgbClr val="2C5AA0"/>
                </a:solidFill>
                <a:latin typeface="BIZ UDPGothic" pitchFamily="34" charset="0"/>
                <a:ea typeface="BIZ UDPGothic" pitchFamily="34" charset="-122"/>
                <a:cs typeface="BIZ UDPGothic" pitchFamily="34" charset="-120"/>
              </a:rPr>
              <a:t>耳のマッサージ</a:t>
            </a:r>
            <a:endParaRPr lang="en-US" sz="2000" dirty="0"/>
          </a:p>
        </p:txBody>
      </p:sp>
      <p:sp>
        <p:nvSpPr>
          <p:cNvPr id="21" name="Text 19"/>
          <p:cNvSpPr/>
          <p:nvPr/>
        </p:nvSpPr>
        <p:spPr>
          <a:xfrm>
            <a:off x="2103120" y="3794760"/>
            <a:ext cx="5943600" cy="411480"/>
          </a:xfrm>
          <a:prstGeom prst="rect">
            <a:avLst/>
          </a:prstGeom>
          <a:noFill/>
          <a:ln/>
        </p:spPr>
        <p:txBody>
          <a:bodyPr wrap="square" lIns="0" tIns="0" rIns="0" bIns="0" rtlCol="0" anchor="ctr"/>
          <a:lstStyle/>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耳を引っ張る・回す → 内耳の血流を改善</a:t>
            </a:r>
            <a:endParaRPr lang="en-US" sz="1500" dirty="0"/>
          </a:p>
          <a:p>
            <a:pPr indent="0" marL="0">
              <a:lnSpc>
                <a:spcPct val="110000"/>
              </a:lnSpc>
              <a:buNone/>
            </a:pPr>
            <a:r>
              <a:rPr lang="en-US" sz="1500" dirty="0">
                <a:solidFill>
                  <a:srgbClr val="2D3436"/>
                </a:solidFill>
                <a:latin typeface="BIZ UDPGothic" pitchFamily="34" charset="0"/>
                <a:ea typeface="BIZ UDPGothic" pitchFamily="34" charset="-122"/>
                <a:cs typeface="BIZ UDPGothic" pitchFamily="34" charset="-120"/>
              </a:rPr>
              <a:t>気圧変化による不調の緩和に効果が期待</a:t>
            </a:r>
            <a:endParaRPr lang="en-US" sz="15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よくある質問 Q&amp;A</a:t>
            </a:r>
            <a:endParaRPr lang="en-US" sz="2600" dirty="0"/>
          </a:p>
        </p:txBody>
      </p:sp>
      <p:sp>
        <p:nvSpPr>
          <p:cNvPr id="4" name="Shape 2"/>
          <p:cNvSpPr/>
          <p:nvPr/>
        </p:nvSpPr>
        <p:spPr>
          <a:xfrm>
            <a:off x="457200" y="100584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109728" cy="1051560"/>
          </a:xfrm>
          <a:prstGeom prst="rect">
            <a:avLst>
              <a:gd name="adj" fmla="val 41667"/>
            </a:avLst>
          </a:prstGeom>
          <a:solidFill>
            <a:srgbClr val="E8850C"/>
          </a:solidFill>
          <a:ln/>
        </p:spPr>
      </p:sp>
      <p:sp>
        <p:nvSpPr>
          <p:cNvPr id="6" name="Text 4"/>
          <p:cNvSpPr/>
          <p:nvPr/>
        </p:nvSpPr>
        <p:spPr>
          <a:xfrm>
            <a:off x="731520" y="105156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7" name="Text 5"/>
          <p:cNvSpPr/>
          <p:nvPr/>
        </p:nvSpPr>
        <p:spPr>
          <a:xfrm>
            <a:off x="1188720" y="105156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気象病は正式な病名ですか？</a:t>
            </a:r>
            <a:endParaRPr lang="en-US" sz="1800" dirty="0"/>
          </a:p>
        </p:txBody>
      </p:sp>
      <p:sp>
        <p:nvSpPr>
          <p:cNvPr id="8" name="Text 6"/>
          <p:cNvSpPr/>
          <p:nvPr/>
        </p:nvSpPr>
        <p:spPr>
          <a:xfrm>
            <a:off x="731520" y="150876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9" name="Text 7"/>
          <p:cNvSpPr/>
          <p:nvPr/>
        </p:nvSpPr>
        <p:spPr>
          <a:xfrm>
            <a:off x="1188720" y="150876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「気象病」は正式な医学用語ではありませんが、気圧変化が片頭痛やめまいを悪化させることは医学的に認められています。近年は「気象関連頭痛」として研究が進んでいます</a:t>
            </a:r>
            <a:endParaRPr lang="en-US" sz="1400" dirty="0"/>
          </a:p>
        </p:txBody>
      </p:sp>
      <p:sp>
        <p:nvSpPr>
          <p:cNvPr id="10" name="Shape 8"/>
          <p:cNvSpPr/>
          <p:nvPr/>
        </p:nvSpPr>
        <p:spPr>
          <a:xfrm>
            <a:off x="457200" y="224028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1" name="Shape 9"/>
          <p:cNvSpPr/>
          <p:nvPr/>
        </p:nvSpPr>
        <p:spPr>
          <a:xfrm>
            <a:off x="457200" y="2240280"/>
            <a:ext cx="109728" cy="1051560"/>
          </a:xfrm>
          <a:prstGeom prst="rect">
            <a:avLst>
              <a:gd name="adj" fmla="val 41667"/>
            </a:avLst>
          </a:prstGeom>
          <a:solidFill>
            <a:srgbClr val="E8850C"/>
          </a:solidFill>
          <a:ln/>
        </p:spPr>
      </p:sp>
      <p:sp>
        <p:nvSpPr>
          <p:cNvPr id="12" name="Text 10"/>
          <p:cNvSpPr/>
          <p:nvPr/>
        </p:nvSpPr>
        <p:spPr>
          <a:xfrm>
            <a:off x="731520" y="228600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3" name="Text 11"/>
          <p:cNvSpPr/>
          <p:nvPr/>
        </p:nvSpPr>
        <p:spPr>
          <a:xfrm>
            <a:off x="1188720" y="228600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片頭痛は遺伝しますか？</a:t>
            </a:r>
            <a:endParaRPr lang="en-US" sz="1800" dirty="0"/>
          </a:p>
        </p:txBody>
      </p:sp>
      <p:sp>
        <p:nvSpPr>
          <p:cNvPr id="14" name="Text 12"/>
          <p:cNvSpPr/>
          <p:nvPr/>
        </p:nvSpPr>
        <p:spPr>
          <a:xfrm>
            <a:off x="731520" y="274320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15" name="Text 13"/>
          <p:cNvSpPr/>
          <p:nvPr/>
        </p:nvSpPr>
        <p:spPr>
          <a:xfrm>
            <a:off x="1188720" y="274320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片頭痛は遺伝的要因が大きく、親が片頭痛の場合は子どもの発症リスクが約2〜4倍高くなります。特に母親からの遺伝が多いとされています</a:t>
            </a:r>
            <a:endParaRPr lang="en-US" sz="1400" dirty="0"/>
          </a:p>
        </p:txBody>
      </p:sp>
      <p:sp>
        <p:nvSpPr>
          <p:cNvPr id="16" name="Shape 14"/>
          <p:cNvSpPr/>
          <p:nvPr/>
        </p:nvSpPr>
        <p:spPr>
          <a:xfrm>
            <a:off x="457200" y="3474720"/>
            <a:ext cx="8229600" cy="1051560"/>
          </a:xfrm>
          <a:prstGeom prst="rect">
            <a:avLst>
              <a:gd name="adj" fmla="val 8696"/>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457200" y="3474720"/>
            <a:ext cx="109728" cy="1051560"/>
          </a:xfrm>
          <a:prstGeom prst="rect">
            <a:avLst>
              <a:gd name="adj" fmla="val 41667"/>
            </a:avLst>
          </a:prstGeom>
          <a:solidFill>
            <a:srgbClr val="E8850C"/>
          </a:solidFill>
          <a:ln/>
        </p:spPr>
      </p:sp>
      <p:sp>
        <p:nvSpPr>
          <p:cNvPr id="18" name="Text 16"/>
          <p:cNvSpPr/>
          <p:nvPr/>
        </p:nvSpPr>
        <p:spPr>
          <a:xfrm>
            <a:off x="731520" y="3520440"/>
            <a:ext cx="457200" cy="411480"/>
          </a:xfrm>
          <a:prstGeom prst="rect">
            <a:avLst/>
          </a:prstGeom>
          <a:noFill/>
          <a:ln/>
        </p:spPr>
        <p:txBody>
          <a:bodyPr wrap="square" lIns="0" tIns="0" rIns="0" bIns="0" rtlCol="0" anchor="ctr"/>
          <a:lstStyle/>
          <a:p>
            <a:pPr indent="0" marL="0">
              <a:buNone/>
            </a:pPr>
            <a:r>
              <a:rPr lang="en-US" sz="2200" b="1" dirty="0">
                <a:solidFill>
                  <a:srgbClr val="E8850C"/>
                </a:solidFill>
                <a:latin typeface="Segoe UI" pitchFamily="34" charset="0"/>
                <a:ea typeface="Segoe UI" pitchFamily="34" charset="-122"/>
                <a:cs typeface="Segoe UI" pitchFamily="34" charset="-120"/>
              </a:rPr>
              <a:t>Q.</a:t>
            </a:r>
            <a:endParaRPr lang="en-US" sz="2200" dirty="0"/>
          </a:p>
        </p:txBody>
      </p:sp>
      <p:sp>
        <p:nvSpPr>
          <p:cNvPr id="19" name="Text 17"/>
          <p:cNvSpPr/>
          <p:nvPr/>
        </p:nvSpPr>
        <p:spPr>
          <a:xfrm>
            <a:off x="1188720" y="3520440"/>
            <a:ext cx="7315200" cy="411480"/>
          </a:xfrm>
          <a:prstGeom prst="rect">
            <a:avLst/>
          </a:prstGeom>
          <a:noFill/>
          <a:ln/>
        </p:spPr>
        <p:txBody>
          <a:bodyPr wrap="square" lIns="0" tIns="0" rIns="0" bIns="0" rtlCol="0" anchor="ctr"/>
          <a:lstStyle/>
          <a:p>
            <a:pPr indent="0" marL="0">
              <a:buNone/>
            </a:pPr>
            <a:r>
              <a:rPr lang="en-US" sz="1800" b="1" dirty="0">
                <a:solidFill>
                  <a:srgbClr val="E8850C"/>
                </a:solidFill>
                <a:latin typeface="BIZ UDPGothic" pitchFamily="34" charset="0"/>
                <a:ea typeface="BIZ UDPGothic" pitchFamily="34" charset="-122"/>
                <a:cs typeface="BIZ UDPGothic" pitchFamily="34" charset="-120"/>
              </a:rPr>
              <a:t>市販の頭痛薬だけで大丈夫ですか？</a:t>
            </a:r>
            <a:endParaRPr lang="en-US" sz="1800" dirty="0"/>
          </a:p>
        </p:txBody>
      </p:sp>
      <p:sp>
        <p:nvSpPr>
          <p:cNvPr id="20" name="Text 18"/>
          <p:cNvSpPr/>
          <p:nvPr/>
        </p:nvSpPr>
        <p:spPr>
          <a:xfrm>
            <a:off x="731520" y="3977640"/>
            <a:ext cx="457200" cy="457200"/>
          </a:xfrm>
          <a:prstGeom prst="rect">
            <a:avLst/>
          </a:prstGeom>
          <a:noFill/>
          <a:ln/>
        </p:spPr>
        <p:txBody>
          <a:bodyPr wrap="square" lIns="0" tIns="0" rIns="0" bIns="0" rtlCol="0" anchor="ctr"/>
          <a:lstStyle/>
          <a:p>
            <a:pPr indent="0" marL="0">
              <a:buNone/>
            </a:pPr>
            <a:r>
              <a:rPr lang="en-US" sz="2200" b="1" dirty="0">
                <a:solidFill>
                  <a:srgbClr val="2C5AA0"/>
                </a:solidFill>
                <a:latin typeface="Segoe UI" pitchFamily="34" charset="0"/>
                <a:ea typeface="Segoe UI" pitchFamily="34" charset="-122"/>
                <a:cs typeface="Segoe UI" pitchFamily="34" charset="-120"/>
              </a:rPr>
              <a:t>A.</a:t>
            </a:r>
            <a:endParaRPr lang="en-US" sz="2200" dirty="0"/>
          </a:p>
        </p:txBody>
      </p:sp>
      <p:sp>
        <p:nvSpPr>
          <p:cNvPr id="21" name="Text 19"/>
          <p:cNvSpPr/>
          <p:nvPr/>
        </p:nvSpPr>
        <p:spPr>
          <a:xfrm>
            <a:off x="1188720" y="3977640"/>
            <a:ext cx="7315200" cy="502920"/>
          </a:xfrm>
          <a:prstGeom prst="rect">
            <a:avLst/>
          </a:prstGeom>
          <a:noFill/>
          <a:ln/>
        </p:spPr>
        <p:txBody>
          <a:bodyPr wrap="square" lIns="0" tIns="0" rIns="0" bIns="0" rtlCol="0" anchor="ctr"/>
          <a:lstStyle/>
          <a:p>
            <a:pPr indent="0" marL="0">
              <a:lnSpc>
                <a:spcPct val="110000"/>
              </a:lnSpc>
              <a:buNone/>
            </a:pPr>
            <a:r>
              <a:rPr lang="en-US" sz="1400" dirty="0">
                <a:solidFill>
                  <a:srgbClr val="2D3436"/>
                </a:solidFill>
                <a:latin typeface="BIZ UDPGothic" pitchFamily="34" charset="0"/>
                <a:ea typeface="BIZ UDPGothic" pitchFamily="34" charset="-122"/>
                <a:cs typeface="BIZ UDPGothic" pitchFamily="34" charset="-120"/>
              </a:rPr>
              <a:t>軽い発作には有効ですが、月に10日以上使用すると薬物乱用頭痛のリスクがあります。頻繁に薬が必要な方はトリプタンや予防薬の処方を相談してください</a:t>
            </a:r>
            <a:endParaRPr lang="en-US" sz="1400" dirty="0"/>
          </a:p>
        </p:txBody>
      </p:sp>
      <p:sp>
        <p:nvSpPr>
          <p:cNvPr id="22" name="Shape 20"/>
          <p:cNvSpPr/>
          <p:nvPr/>
        </p:nvSpPr>
        <p:spPr>
          <a:xfrm>
            <a:off x="0" y="4800600"/>
            <a:ext cx="9144000" cy="347472"/>
          </a:xfrm>
          <a:prstGeom prst="rect">
            <a:avLst/>
          </a:prstGeom>
          <a:solidFill>
            <a:srgbClr val="1B3A5C"/>
          </a:solidFill>
          <a:ln/>
        </p:spPr>
      </p:sp>
      <p:sp>
        <p:nvSpPr>
          <p:cNvPr id="23" name="Text 21"/>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BIZ UDPGothic" pitchFamily="34" charset="0"/>
                <a:ea typeface="BIZ UDPGothic" pitchFamily="34" charset="-122"/>
                <a:cs typeface="BIZ UDPGothic" pitchFamily="34" charset="-120"/>
              </a:rPr>
              <a:t>まとめ ― 天気と頭痛の付き合い方</a:t>
            </a:r>
            <a:endParaRPr lang="en-US" sz="2600" dirty="0"/>
          </a:p>
        </p:txBody>
      </p:sp>
      <p:sp>
        <p:nvSpPr>
          <p:cNvPr id="4" name="Shape 2"/>
          <p:cNvSpPr/>
          <p:nvPr/>
        </p:nvSpPr>
        <p:spPr>
          <a:xfrm>
            <a:off x="457200" y="105156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09728" cy="1005840"/>
          </a:xfrm>
          <a:prstGeom prst="rect">
            <a:avLst>
              <a:gd name="adj" fmla="val 41667"/>
            </a:avLst>
          </a:prstGeom>
          <a:solidFill>
            <a:srgbClr val="2C5AA0"/>
          </a:solidFill>
          <a:ln/>
        </p:spPr>
      </p:sp>
      <p:sp>
        <p:nvSpPr>
          <p:cNvPr id="6" name="Text 4"/>
          <p:cNvSpPr/>
          <p:nvPr/>
        </p:nvSpPr>
        <p:spPr>
          <a:xfrm>
            <a:off x="640080" y="114300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1</a:t>
            </a:r>
            <a:endParaRPr lang="en-US" sz="3600" dirty="0"/>
          </a:p>
        </p:txBody>
      </p:sp>
      <p:sp>
        <p:nvSpPr>
          <p:cNvPr id="7" name="Text 5"/>
          <p:cNvSpPr/>
          <p:nvPr/>
        </p:nvSpPr>
        <p:spPr>
          <a:xfrm>
            <a:off x="1371600" y="109728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天気頭痛は「気のせい」</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ではない</a:t>
            </a:r>
            <a:endParaRPr lang="en-US" sz="1900" dirty="0"/>
          </a:p>
        </p:txBody>
      </p:sp>
      <p:sp>
        <p:nvSpPr>
          <p:cNvPr id="8" name="Text 6"/>
          <p:cNvSpPr/>
          <p:nvPr/>
        </p:nvSpPr>
        <p:spPr>
          <a:xfrm>
            <a:off x="5029200" y="114300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内耳が気圧変化を感知し</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自律神経を介して頭痛を引き起こす</a:t>
            </a:r>
            <a:endParaRPr lang="en-US" sz="1500" dirty="0"/>
          </a:p>
        </p:txBody>
      </p:sp>
      <p:sp>
        <p:nvSpPr>
          <p:cNvPr id="9" name="Shape 7"/>
          <p:cNvSpPr/>
          <p:nvPr/>
        </p:nvSpPr>
        <p:spPr>
          <a:xfrm>
            <a:off x="457200" y="224028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40280"/>
            <a:ext cx="109728" cy="1005840"/>
          </a:xfrm>
          <a:prstGeom prst="rect">
            <a:avLst>
              <a:gd name="adj" fmla="val 41667"/>
            </a:avLst>
          </a:prstGeom>
          <a:solidFill>
            <a:srgbClr val="2C5AA0"/>
          </a:solidFill>
          <a:ln/>
        </p:spPr>
      </p:sp>
      <p:sp>
        <p:nvSpPr>
          <p:cNvPr id="11" name="Text 9"/>
          <p:cNvSpPr/>
          <p:nvPr/>
        </p:nvSpPr>
        <p:spPr>
          <a:xfrm>
            <a:off x="640080" y="233172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2</a:t>
            </a:r>
            <a:endParaRPr lang="en-US" sz="3600" dirty="0"/>
          </a:p>
        </p:txBody>
      </p:sp>
      <p:sp>
        <p:nvSpPr>
          <p:cNvPr id="12" name="Text 10"/>
          <p:cNvSpPr/>
          <p:nvPr/>
        </p:nvSpPr>
        <p:spPr>
          <a:xfrm>
            <a:off x="1371600" y="228600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片頭痛には効果的な</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治療がある</a:t>
            </a:r>
            <a:endParaRPr lang="en-US" sz="1900" dirty="0"/>
          </a:p>
        </p:txBody>
      </p:sp>
      <p:sp>
        <p:nvSpPr>
          <p:cNvPr id="13" name="Text 11"/>
          <p:cNvSpPr/>
          <p:nvPr/>
        </p:nvSpPr>
        <p:spPr>
          <a:xfrm>
            <a:off x="5029200" y="233172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トリプタン・予防薬・CGRP関連抗体</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我慢せず脳神経内科へ</a:t>
            </a:r>
            <a:endParaRPr lang="en-US" sz="1500" dirty="0"/>
          </a:p>
        </p:txBody>
      </p:sp>
      <p:sp>
        <p:nvSpPr>
          <p:cNvPr id="14" name="Shape 12"/>
          <p:cNvSpPr/>
          <p:nvPr/>
        </p:nvSpPr>
        <p:spPr>
          <a:xfrm>
            <a:off x="457200" y="3429000"/>
            <a:ext cx="8229600" cy="1005840"/>
          </a:xfrm>
          <a:prstGeom prst="rect">
            <a:avLst>
              <a:gd name="adj" fmla="val 9091"/>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429000"/>
            <a:ext cx="109728" cy="1005840"/>
          </a:xfrm>
          <a:prstGeom prst="rect">
            <a:avLst>
              <a:gd name="adj" fmla="val 41667"/>
            </a:avLst>
          </a:prstGeom>
          <a:solidFill>
            <a:srgbClr val="2C5AA0"/>
          </a:solidFill>
          <a:ln/>
        </p:spPr>
      </p:sp>
      <p:sp>
        <p:nvSpPr>
          <p:cNvPr id="16" name="Text 14"/>
          <p:cNvSpPr/>
          <p:nvPr/>
        </p:nvSpPr>
        <p:spPr>
          <a:xfrm>
            <a:off x="640080" y="3520440"/>
            <a:ext cx="640080" cy="822960"/>
          </a:xfrm>
          <a:prstGeom prst="rect">
            <a:avLst/>
          </a:prstGeom>
          <a:noFill/>
          <a:ln/>
        </p:spPr>
        <p:txBody>
          <a:bodyPr wrap="square" lIns="0" tIns="0" rIns="0" bIns="0" rtlCol="0" anchor="ctr"/>
          <a:lstStyle/>
          <a:p>
            <a:pPr algn="ctr" indent="0" marL="0">
              <a:buNone/>
            </a:pPr>
            <a:r>
              <a:rPr lang="en-US" sz="3600" b="1" dirty="0">
                <a:solidFill>
                  <a:srgbClr val="2C5AA0"/>
                </a:solidFill>
                <a:latin typeface="Segoe UI" pitchFamily="34" charset="0"/>
                <a:ea typeface="Segoe UI" pitchFamily="34" charset="-122"/>
                <a:cs typeface="Segoe UI" pitchFamily="34" charset="-120"/>
              </a:rPr>
              <a:t>3</a:t>
            </a:r>
            <a:endParaRPr lang="en-US" sz="3600" dirty="0"/>
          </a:p>
        </p:txBody>
      </p:sp>
      <p:sp>
        <p:nvSpPr>
          <p:cNvPr id="17" name="Text 15"/>
          <p:cNvSpPr/>
          <p:nvPr/>
        </p:nvSpPr>
        <p:spPr>
          <a:xfrm>
            <a:off x="1371600" y="3474720"/>
            <a:ext cx="3474720" cy="868680"/>
          </a:xfrm>
          <a:prstGeom prst="rect">
            <a:avLst/>
          </a:prstGeom>
          <a:noFill/>
          <a:ln/>
        </p:spPr>
        <p:txBody>
          <a:bodyPr wrap="square" lIns="0" tIns="0" rIns="0" bIns="0" rtlCol="0" anchor="ctr"/>
          <a:lstStyle/>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頭痛ダイアリーが</a:t>
            </a:r>
            <a:endParaRPr lang="en-US" sz="1900" dirty="0"/>
          </a:p>
          <a:p>
            <a:pPr indent="0" marL="0">
              <a:lnSpc>
                <a:spcPct val="110000"/>
              </a:lnSpc>
              <a:buNone/>
            </a:pPr>
            <a:r>
              <a:rPr lang="en-US" sz="1900" b="1" dirty="0">
                <a:solidFill>
                  <a:srgbClr val="2D3436"/>
                </a:solidFill>
                <a:latin typeface="BIZ UDPGothic" pitchFamily="34" charset="0"/>
                <a:ea typeface="BIZ UDPGothic" pitchFamily="34" charset="-122"/>
                <a:cs typeface="BIZ UDPGothic" pitchFamily="34" charset="-120"/>
              </a:rPr>
              <a:t>治療の第一歩</a:t>
            </a:r>
            <a:endParaRPr lang="en-US" sz="1900" dirty="0"/>
          </a:p>
        </p:txBody>
      </p:sp>
      <p:sp>
        <p:nvSpPr>
          <p:cNvPr id="18" name="Text 16"/>
          <p:cNvSpPr/>
          <p:nvPr/>
        </p:nvSpPr>
        <p:spPr>
          <a:xfrm>
            <a:off x="5029200" y="3520440"/>
            <a:ext cx="3474720" cy="822960"/>
          </a:xfrm>
          <a:prstGeom prst="rect">
            <a:avLst/>
          </a:prstGeom>
          <a:noFill/>
          <a:ln/>
        </p:spPr>
        <p:txBody>
          <a:bodyPr wrap="square" lIns="0" tIns="0" rIns="0" bIns="0" rtlCol="0" anchor="ctr"/>
          <a:lstStyle/>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記録があれば医師が的確に</a:t>
            </a:r>
            <a:endParaRPr lang="en-US" sz="1500" dirty="0"/>
          </a:p>
          <a:p>
            <a:pPr indent="0" marL="0">
              <a:lnSpc>
                <a:spcPct val="120000"/>
              </a:lnSpc>
              <a:buNone/>
            </a:pPr>
            <a:r>
              <a:rPr lang="en-US" sz="1500" dirty="0">
                <a:solidFill>
                  <a:srgbClr val="636E72"/>
                </a:solidFill>
                <a:latin typeface="BIZ UDPGothic" pitchFamily="34" charset="0"/>
                <a:ea typeface="BIZ UDPGothic" pitchFamily="34" charset="-122"/>
                <a:cs typeface="BIZ UDPGothic" pitchFamily="34" charset="-120"/>
              </a:rPr>
              <a:t>診断・治療方針を立てられる</a:t>
            </a:r>
            <a:endParaRPr lang="en-US" sz="1500" dirty="0"/>
          </a:p>
        </p:txBody>
      </p:sp>
      <p:sp>
        <p:nvSpPr>
          <p:cNvPr id="19" name="Shape 17"/>
          <p:cNvSpPr/>
          <p:nvPr/>
        </p:nvSpPr>
        <p:spPr>
          <a:xfrm>
            <a:off x="0" y="4800600"/>
            <a:ext cx="9144000" cy="347472"/>
          </a:xfrm>
          <a:prstGeom prst="rect">
            <a:avLst/>
          </a:prstGeom>
          <a:solidFill>
            <a:srgbClr val="1B3A5C"/>
          </a:solidFill>
          <a:ln/>
        </p:spPr>
      </p:sp>
      <p:sp>
        <p:nvSpPr>
          <p:cNvPr id="20" name="Text 18"/>
          <p:cNvSpPr/>
          <p:nvPr/>
        </p:nvSpPr>
        <p:spPr>
          <a:xfrm>
            <a:off x="365760" y="4818888"/>
            <a:ext cx="4572000" cy="274320"/>
          </a:xfrm>
          <a:prstGeom prst="rect">
            <a:avLst/>
          </a:prstGeom>
          <a:noFill/>
          <a:ln/>
        </p:spPr>
        <p:txBody>
          <a:bodyPr wrap="square" lIns="0" tIns="0" rIns="0" bIns="0" rtlCol="0" anchor="ctr"/>
          <a:lstStyle/>
          <a:p>
            <a:pPr indent="0" marL="0">
              <a:buNone/>
            </a:pPr>
            <a:r>
              <a:rPr lang="en-US" sz="1000" dirty="0">
                <a:solidFill>
                  <a:srgbClr val="FFFFFF"/>
                </a:solidFill>
                <a:latin typeface="BIZ UDPGothic" pitchFamily="34" charset="0"/>
                <a:ea typeface="BIZ UDPGothic" pitchFamily="34" charset="-122"/>
                <a:cs typeface="BIZ UDPGothic" pitchFamily="34" charset="-120"/>
              </a:rPr>
              <a:t>医知創造ラボ ｜ その症状、大丈夫？ #13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850C"/>
          </a:solidFill>
          <a:ln/>
        </p:spPr>
      </p:sp>
      <p:sp>
        <p:nvSpPr>
          <p:cNvPr id="3" name="Shape 1"/>
          <p:cNvSpPr/>
          <p:nvPr/>
        </p:nvSpPr>
        <p:spPr>
          <a:xfrm>
            <a:off x="0" y="5088636"/>
            <a:ext cx="9144000" cy="54864"/>
          </a:xfrm>
          <a:prstGeom prst="rect">
            <a:avLst/>
          </a:prstGeom>
          <a:solidFill>
            <a:srgbClr val="E8850C"/>
          </a:solidFill>
          <a:ln/>
        </p:spPr>
      </p:sp>
      <p:sp>
        <p:nvSpPr>
          <p:cNvPr id="4" name="Text 2"/>
          <p:cNvSpPr/>
          <p:nvPr/>
        </p:nvSpPr>
        <p:spPr>
          <a:xfrm>
            <a:off x="548640" y="548640"/>
            <a:ext cx="80467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BIZ UDPGothic" pitchFamily="34" charset="0"/>
                <a:ea typeface="BIZ UDPGothic" pitchFamily="34" charset="-122"/>
                <a:cs typeface="BIZ UDPGothic" pitchFamily="34" charset="-120"/>
              </a:rPr>
              <a:t>ご視聴ありがとうございました</a:t>
            </a:r>
            <a:endParaRPr lang="en-US" sz="3000" dirty="0"/>
          </a:p>
        </p:txBody>
      </p:sp>
      <p:sp>
        <p:nvSpPr>
          <p:cNvPr id="5" name="Shape 3"/>
          <p:cNvSpPr/>
          <p:nvPr/>
        </p:nvSpPr>
        <p:spPr>
          <a:xfrm>
            <a:off x="2286000" y="1371600"/>
            <a:ext cx="4572000" cy="0"/>
          </a:xfrm>
          <a:prstGeom prst="line">
            <a:avLst/>
          </a:prstGeom>
          <a:noFill/>
          <a:ln w="25400">
            <a:solidFill>
              <a:srgbClr val="E8850C"/>
            </a:solidFill>
            <a:prstDash val="solid"/>
          </a:ln>
        </p:spPr>
      </p:sp>
      <p:sp>
        <p:nvSpPr>
          <p:cNvPr id="6" name="Text 4"/>
          <p:cNvSpPr/>
          <p:nvPr/>
        </p:nvSpPr>
        <p:spPr>
          <a:xfrm>
            <a:off x="548640" y="1554480"/>
            <a:ext cx="8046720" cy="365760"/>
          </a:xfrm>
          <a:prstGeom prst="rect">
            <a:avLst/>
          </a:prstGeom>
          <a:noFill/>
          <a:ln/>
        </p:spPr>
        <p:txBody>
          <a:bodyPr wrap="square" lIns="0" tIns="0" rIns="0" bIns="0" rtlCol="0" anchor="ctr"/>
          <a:lstStyle/>
          <a:p>
            <a:pPr algn="ctr" indent="0" marL="0">
              <a:buNone/>
            </a:pPr>
            <a:r>
              <a:rPr lang="en-US" sz="1800" dirty="0">
                <a:solidFill>
                  <a:srgbClr val="E8850C"/>
                </a:solidFill>
                <a:latin typeface="BIZ UDPGothic" pitchFamily="34" charset="0"/>
                <a:ea typeface="BIZ UDPGothic" pitchFamily="34" charset="-122"/>
                <a:cs typeface="BIZ UDPGothic" pitchFamily="34" charset="-120"/>
              </a:rPr>
              <a:t>チャンネル登録・高評価よろしくお願いします！</a:t>
            </a:r>
            <a:endParaRPr lang="en-US" sz="1800" dirty="0"/>
          </a:p>
        </p:txBody>
      </p:sp>
      <p:sp>
        <p:nvSpPr>
          <p:cNvPr id="7" name="Text 5"/>
          <p:cNvSpPr/>
          <p:nvPr/>
        </p:nvSpPr>
        <p:spPr>
          <a:xfrm>
            <a:off x="1371600" y="2286000"/>
            <a:ext cx="6400800" cy="365760"/>
          </a:xfrm>
          <a:prstGeom prst="rect">
            <a:avLst/>
          </a:prstGeom>
          <a:noFill/>
          <a:ln/>
        </p:spPr>
        <p:txBody>
          <a:bodyPr wrap="square" lIns="0" tIns="0" rIns="0" bIns="0" rtlCol="0" anchor="ctr"/>
          <a:lstStyle/>
          <a:p>
            <a:pPr indent="0" marL="0">
              <a:buNone/>
            </a:pPr>
            <a:r>
              <a:rPr lang="en-US" sz="1600" dirty="0">
                <a:solidFill>
                  <a:srgbClr val="B0BEC5"/>
                </a:solidFill>
                <a:latin typeface="BIZ UDPGothic" pitchFamily="34" charset="0"/>
                <a:ea typeface="BIZ UDPGothic" pitchFamily="34" charset="-122"/>
                <a:cs typeface="BIZ UDPGothic" pitchFamily="34" charset="-120"/>
              </a:rPr>
              <a:t>🔗 ブログ記事で詳しく読む（概要欄にリンク）</a:t>
            </a:r>
            <a:endParaRPr lang="en-US" sz="1600" dirty="0"/>
          </a:p>
        </p:txBody>
      </p:sp>
      <p:sp>
        <p:nvSpPr>
          <p:cNvPr id="8" name="Text 6"/>
          <p:cNvSpPr/>
          <p:nvPr/>
        </p:nvSpPr>
        <p:spPr>
          <a:xfrm>
            <a:off x="548640" y="3017520"/>
            <a:ext cx="8046720" cy="365760"/>
          </a:xfrm>
          <a:prstGeom prst="rect">
            <a:avLst/>
          </a:prstGeom>
          <a:noFill/>
          <a:ln/>
        </p:spPr>
        <p:txBody>
          <a:bodyPr wrap="square" lIns="0" tIns="0" rIns="0" bIns="0" rtlCol="0" anchor="ctr"/>
          <a:lstStyle/>
          <a:p>
            <a:pPr algn="ctr" indent="0" marL="0">
              <a:buNone/>
            </a:pPr>
            <a:r>
              <a:rPr lang="en-US" sz="1400" b="1" dirty="0">
                <a:solidFill>
                  <a:srgbClr val="E8850C"/>
                </a:solidFill>
                <a:latin typeface="BIZ UDPGothic" pitchFamily="34" charset="0"/>
                <a:ea typeface="BIZ UDPGothic" pitchFamily="34" charset="-122"/>
                <a:cs typeface="BIZ UDPGothic" pitchFamily="34" charset="-120"/>
              </a:rPr>
              <a:t>次回予告</a:t>
            </a:r>
            <a:endParaRPr lang="en-US" sz="1400" dirty="0"/>
          </a:p>
        </p:txBody>
      </p:sp>
      <p:sp>
        <p:nvSpPr>
          <p:cNvPr id="9" name="Text 7"/>
          <p:cNvSpPr/>
          <p:nvPr/>
        </p:nvSpPr>
        <p:spPr>
          <a:xfrm>
            <a:off x="548640" y="3383280"/>
            <a:ext cx="8046720" cy="365760"/>
          </a:xfrm>
          <a:prstGeom prst="rect">
            <a:avLst/>
          </a:prstGeom>
          <a:noFill/>
          <a:ln/>
        </p:spPr>
        <p:txBody>
          <a:bodyPr wrap="square" lIns="0" tIns="0" rIns="0" bIns="0" rtlCol="0" anchor="ctr"/>
          <a:lstStyle/>
          <a:p>
            <a:pPr algn="ctr" indent="0" marL="0">
              <a:buNone/>
            </a:pPr>
            <a:r>
              <a:rPr lang="en-US" sz="1800" dirty="0">
                <a:solidFill>
                  <a:srgbClr val="90A4AE"/>
                </a:solidFill>
                <a:latin typeface="BIZ UDPGothic" pitchFamily="34" charset="0"/>
                <a:ea typeface="BIZ UDPGothic" pitchFamily="34" charset="-122"/>
                <a:cs typeface="BIZ UDPGothic" pitchFamily="34" charset="-120"/>
              </a:rPr>
              <a:t>#14 味がしない・味が変わった ― 味覚障害の原因</a:t>
            </a:r>
            <a:endParaRPr lang="en-US" sz="1800" dirty="0"/>
          </a:p>
        </p:txBody>
      </p:sp>
      <p:sp>
        <p:nvSpPr>
          <p:cNvPr id="10" name="Text 8"/>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400" dirty="0">
                <a:solidFill>
                  <a:srgbClr val="78909C"/>
                </a:solidFill>
                <a:latin typeface="BIZ UDPGothic" pitchFamily="34" charset="0"/>
                <a:ea typeface="BIZ UDPGothic" pitchFamily="34" charset="-122"/>
                <a:cs typeface="BIZ UDPGothic" pitchFamily="34" charset="-120"/>
              </a:rPr>
              <a:t>医知創造ラボ</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【その症状、大丈夫？#13】雨の日に頭が痛くなる科学的理由</dc:title>
  <dc:subject>PptxGenJS Presentation</dc:subject>
  <dc:creator>今村久司</dc:creator>
  <cp:lastModifiedBy>今村久司</cp:lastModifiedBy>
  <cp:revision>1</cp:revision>
  <dcterms:created xsi:type="dcterms:W3CDTF">2026-04-13T12:44:54Z</dcterms:created>
  <dcterms:modified xsi:type="dcterms:W3CDTF">2026-04-13T12:44:54Z</dcterms:modified>
</cp:coreProperties>
</file>