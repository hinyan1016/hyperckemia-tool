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850C"/>
          </a:solidFill>
          <a:ln/>
        </p:spPr>
      </p:sp>
      <p:sp>
        <p:nvSpPr>
          <p:cNvPr id="3" name="Shape 1"/>
          <p:cNvSpPr/>
          <p:nvPr/>
        </p:nvSpPr>
        <p:spPr>
          <a:xfrm>
            <a:off x="0" y="5088636"/>
            <a:ext cx="9144000" cy="54864"/>
          </a:xfrm>
          <a:prstGeom prst="rect">
            <a:avLst/>
          </a:prstGeom>
          <a:solidFill>
            <a:srgbClr val="E8850C"/>
          </a:solidFill>
          <a:ln/>
        </p:spPr>
      </p:sp>
      <p:sp>
        <p:nvSpPr>
          <p:cNvPr id="4" name="Text 2"/>
          <p:cNvSpPr/>
          <p:nvPr/>
        </p:nvSpPr>
        <p:spPr>
          <a:xfrm>
            <a:off x="548640" y="365760"/>
            <a:ext cx="8046720" cy="822960"/>
          </a:xfrm>
          <a:prstGeom prst="rect">
            <a:avLst/>
          </a:prstGeom>
          <a:noFill/>
          <a:ln/>
        </p:spPr>
        <p:txBody>
          <a:bodyPr wrap="square" lIns="0" tIns="0" rIns="0" bIns="0" rtlCol="0" anchor="ctr"/>
          <a:lstStyle/>
          <a:p>
            <a:pPr algn="ctr" indent="0" marL="0">
              <a:buNone/>
            </a:pPr>
            <a:r>
              <a:rPr lang="en-US" sz="5200" dirty="0">
                <a:solidFill>
                  <a:srgbClr val="000000"/>
                </a:solidFill>
              </a:rPr>
              <a:t>🦴</a:t>
            </a:r>
            <a:endParaRPr lang="en-US" sz="5200" dirty="0"/>
          </a:p>
        </p:txBody>
      </p:sp>
      <p:sp>
        <p:nvSpPr>
          <p:cNvPr id="5" name="Text 3"/>
          <p:cNvSpPr/>
          <p:nvPr/>
        </p:nvSpPr>
        <p:spPr>
          <a:xfrm>
            <a:off x="548640" y="1188720"/>
            <a:ext cx="8046720" cy="914400"/>
          </a:xfrm>
          <a:prstGeom prst="rect">
            <a:avLst/>
          </a:prstGeom>
          <a:noFill/>
          <a:ln/>
        </p:spPr>
        <p:txBody>
          <a:bodyPr wrap="square" lIns="0" tIns="0" rIns="0" bIns="0" rtlCol="0" anchor="ctr"/>
          <a:lstStyle/>
          <a:p>
            <a:pPr algn="ctr" indent="0" marL="0">
              <a:buNone/>
            </a:pPr>
            <a:r>
              <a:rPr lang="en-US" sz="4200" b="1" dirty="0">
                <a:solidFill>
                  <a:srgbClr val="FFFFFF"/>
                </a:solidFill>
                <a:latin typeface="BIZ UDPGothic" pitchFamily="34" charset="0"/>
                <a:ea typeface="BIZ UDPGothic" pitchFamily="34" charset="-122"/>
                <a:cs typeface="BIZ UDPGothic" pitchFamily="34" charset="-120"/>
              </a:rPr>
              <a:t>首が痛い</a:t>
            </a:r>
            <a:endParaRPr lang="en-US" sz="4200" dirty="0"/>
          </a:p>
        </p:txBody>
      </p:sp>
      <p:sp>
        <p:nvSpPr>
          <p:cNvPr id="6" name="Shape 4"/>
          <p:cNvSpPr/>
          <p:nvPr/>
        </p:nvSpPr>
        <p:spPr>
          <a:xfrm>
            <a:off x="2286000" y="2286000"/>
            <a:ext cx="4572000" cy="0"/>
          </a:xfrm>
          <a:prstGeom prst="line">
            <a:avLst/>
          </a:prstGeom>
          <a:noFill/>
          <a:ln w="25400">
            <a:solidFill>
              <a:srgbClr val="E8850C"/>
            </a:solidFill>
            <a:prstDash val="solid"/>
          </a:ln>
        </p:spPr>
      </p:sp>
      <p:sp>
        <p:nvSpPr>
          <p:cNvPr id="7" name="Text 5"/>
          <p:cNvSpPr/>
          <p:nvPr/>
        </p:nvSpPr>
        <p:spPr>
          <a:xfrm>
            <a:off x="548640" y="2468880"/>
            <a:ext cx="8046720" cy="822960"/>
          </a:xfrm>
          <a:prstGeom prst="rect">
            <a:avLst/>
          </a:prstGeom>
          <a:noFill/>
          <a:ln/>
        </p:spPr>
        <p:txBody>
          <a:bodyPr wrap="square" lIns="0" tIns="0" rIns="0" bIns="0" rtlCol="0" anchor="ctr"/>
          <a:lstStyle/>
          <a:p>
            <a:pPr algn="ctr" indent="0" marL="0">
              <a:lnSpc>
                <a:spcPct val="120000"/>
              </a:lnSpc>
              <a:buNone/>
            </a:pPr>
            <a:r>
              <a:rPr lang="en-US" sz="2400" dirty="0">
                <a:solidFill>
                  <a:srgbClr val="E8850C"/>
                </a:solidFill>
                <a:latin typeface="BIZ UDPGothic" pitchFamily="34" charset="0"/>
                <a:ea typeface="BIZ UDPGothic" pitchFamily="34" charset="-122"/>
                <a:cs typeface="BIZ UDPGothic" pitchFamily="34" charset="-120"/>
              </a:rPr>
              <a:t>原因と見分け方を</a:t>
            </a:r>
            <a:endParaRPr lang="en-US" sz="2400" dirty="0"/>
          </a:p>
          <a:p>
            <a:pPr algn="ctr" indent="0" marL="0">
              <a:lnSpc>
                <a:spcPct val="120000"/>
              </a:lnSpc>
              <a:buNone/>
            </a:pPr>
            <a:r>
              <a:rPr lang="en-US" sz="2400" dirty="0">
                <a:solidFill>
                  <a:srgbClr val="E8850C"/>
                </a:solidFill>
                <a:latin typeface="BIZ UDPGothic" pitchFamily="34" charset="0"/>
                <a:ea typeface="BIZ UDPGothic" pitchFamily="34" charset="-122"/>
                <a:cs typeface="BIZ UDPGothic" pitchFamily="34" charset="-120"/>
              </a:rPr>
              <a:t>脳神経内科医が解説</a:t>
            </a:r>
            <a:endParaRPr lang="en-US" sz="2400" dirty="0"/>
          </a:p>
        </p:txBody>
      </p:sp>
      <p:sp>
        <p:nvSpPr>
          <p:cNvPr id="8" name="Text 6"/>
          <p:cNvSpPr/>
          <p:nvPr/>
        </p:nvSpPr>
        <p:spPr>
          <a:xfrm>
            <a:off x="548640" y="3840480"/>
            <a:ext cx="8046720" cy="365760"/>
          </a:xfrm>
          <a:prstGeom prst="rect">
            <a:avLst/>
          </a:prstGeom>
          <a:noFill/>
          <a:ln/>
        </p:spPr>
        <p:txBody>
          <a:bodyPr wrap="square" lIns="0" tIns="0" rIns="0" bIns="0" rtlCol="0" anchor="ctr"/>
          <a:lstStyle/>
          <a:p>
            <a:pPr algn="ctr" indent="0" marL="0">
              <a:buNone/>
            </a:pPr>
            <a:r>
              <a:rPr lang="en-US" sz="1600" dirty="0">
                <a:solidFill>
                  <a:srgbClr val="90A4AE"/>
                </a:solidFill>
                <a:latin typeface="BIZ UDPGothic" pitchFamily="34" charset="0"/>
                <a:ea typeface="BIZ UDPGothic" pitchFamily="34" charset="-122"/>
                <a:cs typeface="BIZ UDPGothic" pitchFamily="34" charset="-120"/>
              </a:rPr>
              <a:t>その症状、大丈夫？ #09</a:t>
            </a:r>
            <a:endParaRPr lang="en-US" sz="1600" dirty="0"/>
          </a:p>
        </p:txBody>
      </p:sp>
      <p:sp>
        <p:nvSpPr>
          <p:cNvPr id="9" name="Text 7"/>
          <p:cNvSpPr/>
          <p:nvPr/>
        </p:nvSpPr>
        <p:spPr>
          <a:xfrm>
            <a:off x="548640" y="4297680"/>
            <a:ext cx="8046720" cy="365760"/>
          </a:xfrm>
          <a:prstGeom prst="rect">
            <a:avLst/>
          </a:prstGeom>
          <a:noFill/>
          <a:ln/>
        </p:spPr>
        <p:txBody>
          <a:bodyPr wrap="square" lIns="0" tIns="0" rIns="0" bIns="0" rtlCol="0" anchor="ctr"/>
          <a:lstStyle/>
          <a:p>
            <a:pPr algn="ctr" indent="0" marL="0">
              <a:buNone/>
            </a:pPr>
            <a:r>
              <a:rPr lang="en-US" sz="1200" dirty="0">
                <a:solidFill>
                  <a:srgbClr val="78909C"/>
                </a:solidFill>
                <a:latin typeface="BIZ UDPGothic" pitchFamily="34" charset="0"/>
                <a:ea typeface="BIZ UDPGothic" pitchFamily="34" charset="-122"/>
                <a:cs typeface="BIZ UDPGothic" pitchFamily="34" charset="-120"/>
              </a:rPr>
              <a:t>医知創造ラボ ～脳神経内科医がAIで紡ぐ最新医療情報～</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BIZ UDPGothic" pitchFamily="34" charset="0"/>
                <a:ea typeface="BIZ UDPGothic" pitchFamily="34" charset="-122"/>
                <a:cs typeface="BIZ UDPGothic" pitchFamily="34" charset="-120"/>
              </a:rPr>
              <a:t>こんな経験、ありませんか？</a:t>
            </a:r>
            <a:endParaRPr lang="en-US" sz="2600" dirty="0"/>
          </a:p>
        </p:txBody>
      </p:sp>
      <p:sp>
        <p:nvSpPr>
          <p:cNvPr id="4" name="Shape 2"/>
          <p:cNvSpPr/>
          <p:nvPr/>
        </p:nvSpPr>
        <p:spPr>
          <a:xfrm>
            <a:off x="548640" y="1005840"/>
            <a:ext cx="8046720" cy="594360"/>
          </a:xfrm>
          <a:prstGeom prst="rect">
            <a:avLst>
              <a:gd name="adj" fmla="val 15385"/>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548640" y="1005840"/>
            <a:ext cx="109728" cy="594360"/>
          </a:xfrm>
          <a:prstGeom prst="rect">
            <a:avLst>
              <a:gd name="adj" fmla="val 41667"/>
            </a:avLst>
          </a:prstGeom>
          <a:solidFill>
            <a:srgbClr val="2C5AA0"/>
          </a:solidFill>
          <a:ln/>
        </p:spPr>
      </p:sp>
      <p:sp>
        <p:nvSpPr>
          <p:cNvPr id="6" name="Text 4"/>
          <p:cNvSpPr/>
          <p:nvPr/>
        </p:nvSpPr>
        <p:spPr>
          <a:xfrm>
            <a:off x="777240" y="1051560"/>
            <a:ext cx="640080" cy="50292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7" name="Text 5"/>
          <p:cNvSpPr/>
          <p:nvPr/>
        </p:nvSpPr>
        <p:spPr>
          <a:xfrm>
            <a:off x="1463040" y="1051560"/>
            <a:ext cx="6858000" cy="502920"/>
          </a:xfrm>
          <a:prstGeom prst="rect">
            <a:avLst/>
          </a:prstGeom>
          <a:noFill/>
          <a:ln/>
        </p:spPr>
        <p:txBody>
          <a:bodyPr wrap="square" lIns="0" tIns="0" rIns="0" bIns="0" rtlCol="0" anchor="ctr"/>
          <a:lstStyle/>
          <a:p>
            <a:pPr indent="0" marL="0">
              <a:buNone/>
            </a:pPr>
            <a:r>
              <a:rPr lang="en-US" sz="2200" dirty="0">
                <a:solidFill>
                  <a:srgbClr val="2D3436"/>
                </a:solidFill>
                <a:latin typeface="BIZ UDPGothic" pitchFamily="34" charset="0"/>
                <a:ea typeface="BIZ UDPGothic" pitchFamily="34" charset="-122"/>
                <a:cs typeface="BIZ UDPGothic" pitchFamily="34" charset="-120"/>
              </a:rPr>
              <a:t>朝起きたら首が痛くて動かせない</a:t>
            </a:r>
            <a:endParaRPr lang="en-US" sz="2200" dirty="0"/>
          </a:p>
        </p:txBody>
      </p:sp>
      <p:sp>
        <p:nvSpPr>
          <p:cNvPr id="8" name="Shape 6"/>
          <p:cNvSpPr/>
          <p:nvPr/>
        </p:nvSpPr>
        <p:spPr>
          <a:xfrm>
            <a:off x="548640" y="1719072"/>
            <a:ext cx="8046720" cy="594360"/>
          </a:xfrm>
          <a:prstGeom prst="rect">
            <a:avLst>
              <a:gd name="adj" fmla="val 15385"/>
            </a:avLst>
          </a:prstGeom>
          <a:solidFill>
            <a:srgbClr val="FFFFFF"/>
          </a:solidFill>
          <a:ln/>
          <a:effectLst>
            <a:outerShdw sx="100000" sy="100000" kx="0" ky="0" algn="bl" rotWithShape="0" blurRad="50800" dist="25400" dir="8100000">
              <a:srgbClr val="000000">
                <a:alpha val="12000"/>
              </a:srgbClr>
            </a:outerShdw>
          </a:effectLst>
        </p:spPr>
      </p:sp>
      <p:sp>
        <p:nvSpPr>
          <p:cNvPr id="9" name="Shape 7"/>
          <p:cNvSpPr/>
          <p:nvPr/>
        </p:nvSpPr>
        <p:spPr>
          <a:xfrm>
            <a:off x="548640" y="1719072"/>
            <a:ext cx="109728" cy="594360"/>
          </a:xfrm>
          <a:prstGeom prst="rect">
            <a:avLst>
              <a:gd name="adj" fmla="val 41667"/>
            </a:avLst>
          </a:prstGeom>
          <a:solidFill>
            <a:srgbClr val="2C5AA0"/>
          </a:solidFill>
          <a:ln/>
        </p:spPr>
      </p:sp>
      <p:sp>
        <p:nvSpPr>
          <p:cNvPr id="10" name="Text 8"/>
          <p:cNvSpPr/>
          <p:nvPr/>
        </p:nvSpPr>
        <p:spPr>
          <a:xfrm>
            <a:off x="777240" y="1764792"/>
            <a:ext cx="640080" cy="50292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1" name="Text 9"/>
          <p:cNvSpPr/>
          <p:nvPr/>
        </p:nvSpPr>
        <p:spPr>
          <a:xfrm>
            <a:off x="1463040" y="1764792"/>
            <a:ext cx="6858000" cy="502920"/>
          </a:xfrm>
          <a:prstGeom prst="rect">
            <a:avLst/>
          </a:prstGeom>
          <a:noFill/>
          <a:ln/>
        </p:spPr>
        <p:txBody>
          <a:bodyPr wrap="square" lIns="0" tIns="0" rIns="0" bIns="0" rtlCol="0" anchor="ctr"/>
          <a:lstStyle/>
          <a:p>
            <a:pPr indent="0" marL="0">
              <a:buNone/>
            </a:pPr>
            <a:r>
              <a:rPr lang="en-US" sz="2200" dirty="0">
                <a:solidFill>
                  <a:srgbClr val="2D3436"/>
                </a:solidFill>
                <a:latin typeface="BIZ UDPGothic" pitchFamily="34" charset="0"/>
                <a:ea typeface="BIZ UDPGothic" pitchFamily="34" charset="-122"/>
                <a:cs typeface="BIZ UDPGothic" pitchFamily="34" charset="-120"/>
              </a:rPr>
              <a:t>デスクワークの後に首から肩がガチガチ</a:t>
            </a:r>
            <a:endParaRPr lang="en-US" sz="2200" dirty="0"/>
          </a:p>
        </p:txBody>
      </p:sp>
      <p:sp>
        <p:nvSpPr>
          <p:cNvPr id="12" name="Shape 10"/>
          <p:cNvSpPr/>
          <p:nvPr/>
        </p:nvSpPr>
        <p:spPr>
          <a:xfrm>
            <a:off x="548640" y="2432304"/>
            <a:ext cx="8046720" cy="594360"/>
          </a:xfrm>
          <a:prstGeom prst="rect">
            <a:avLst>
              <a:gd name="adj" fmla="val 15385"/>
            </a:avLst>
          </a:prstGeom>
          <a:solidFill>
            <a:srgbClr val="FFFFFF"/>
          </a:solidFill>
          <a:ln/>
          <a:effectLst>
            <a:outerShdw sx="100000" sy="100000" kx="0" ky="0" algn="bl" rotWithShape="0" blurRad="50800" dist="25400" dir="8100000">
              <a:srgbClr val="000000">
                <a:alpha val="12000"/>
              </a:srgbClr>
            </a:outerShdw>
          </a:effectLst>
        </p:spPr>
      </p:sp>
      <p:sp>
        <p:nvSpPr>
          <p:cNvPr id="13" name="Shape 11"/>
          <p:cNvSpPr/>
          <p:nvPr/>
        </p:nvSpPr>
        <p:spPr>
          <a:xfrm>
            <a:off x="548640" y="2432304"/>
            <a:ext cx="109728" cy="594360"/>
          </a:xfrm>
          <a:prstGeom prst="rect">
            <a:avLst>
              <a:gd name="adj" fmla="val 41667"/>
            </a:avLst>
          </a:prstGeom>
          <a:solidFill>
            <a:srgbClr val="2C5AA0"/>
          </a:solidFill>
          <a:ln/>
        </p:spPr>
      </p:sp>
      <p:sp>
        <p:nvSpPr>
          <p:cNvPr id="14" name="Text 12"/>
          <p:cNvSpPr/>
          <p:nvPr/>
        </p:nvSpPr>
        <p:spPr>
          <a:xfrm>
            <a:off x="777240" y="2478024"/>
            <a:ext cx="640080" cy="50292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5" name="Text 13"/>
          <p:cNvSpPr/>
          <p:nvPr/>
        </p:nvSpPr>
        <p:spPr>
          <a:xfrm>
            <a:off x="1463040" y="2478024"/>
            <a:ext cx="6858000" cy="502920"/>
          </a:xfrm>
          <a:prstGeom prst="rect">
            <a:avLst/>
          </a:prstGeom>
          <a:noFill/>
          <a:ln/>
        </p:spPr>
        <p:txBody>
          <a:bodyPr wrap="square" lIns="0" tIns="0" rIns="0" bIns="0" rtlCol="0" anchor="ctr"/>
          <a:lstStyle/>
          <a:p>
            <a:pPr indent="0" marL="0">
              <a:buNone/>
            </a:pPr>
            <a:r>
              <a:rPr lang="en-US" sz="2200" dirty="0">
                <a:solidFill>
                  <a:srgbClr val="2D3436"/>
                </a:solidFill>
                <a:latin typeface="BIZ UDPGothic" pitchFamily="34" charset="0"/>
                <a:ea typeface="BIZ UDPGothic" pitchFamily="34" charset="-122"/>
                <a:cs typeface="BIZ UDPGothic" pitchFamily="34" charset="-120"/>
              </a:rPr>
              <a:t>首を回すと腕や手にしびれが走る</a:t>
            </a:r>
            <a:endParaRPr lang="en-US" sz="2200" dirty="0"/>
          </a:p>
        </p:txBody>
      </p:sp>
      <p:sp>
        <p:nvSpPr>
          <p:cNvPr id="16" name="Shape 14"/>
          <p:cNvSpPr/>
          <p:nvPr/>
        </p:nvSpPr>
        <p:spPr>
          <a:xfrm>
            <a:off x="548640" y="3145536"/>
            <a:ext cx="8046720" cy="594360"/>
          </a:xfrm>
          <a:prstGeom prst="rect">
            <a:avLst>
              <a:gd name="adj" fmla="val 15385"/>
            </a:avLst>
          </a:prstGeom>
          <a:solidFill>
            <a:srgbClr val="FFFFFF"/>
          </a:solidFill>
          <a:ln/>
          <a:effectLst>
            <a:outerShdw sx="100000" sy="100000" kx="0" ky="0" algn="bl" rotWithShape="0" blurRad="50800" dist="25400" dir="8100000">
              <a:srgbClr val="000000">
                <a:alpha val="12000"/>
              </a:srgbClr>
            </a:outerShdw>
          </a:effectLst>
        </p:spPr>
      </p:sp>
      <p:sp>
        <p:nvSpPr>
          <p:cNvPr id="17" name="Shape 15"/>
          <p:cNvSpPr/>
          <p:nvPr/>
        </p:nvSpPr>
        <p:spPr>
          <a:xfrm>
            <a:off x="548640" y="3145536"/>
            <a:ext cx="109728" cy="594360"/>
          </a:xfrm>
          <a:prstGeom prst="rect">
            <a:avLst>
              <a:gd name="adj" fmla="val 41667"/>
            </a:avLst>
          </a:prstGeom>
          <a:solidFill>
            <a:srgbClr val="2C5AA0"/>
          </a:solidFill>
          <a:ln/>
        </p:spPr>
      </p:sp>
      <p:sp>
        <p:nvSpPr>
          <p:cNvPr id="18" name="Text 16"/>
          <p:cNvSpPr/>
          <p:nvPr/>
        </p:nvSpPr>
        <p:spPr>
          <a:xfrm>
            <a:off x="777240" y="3191256"/>
            <a:ext cx="640080" cy="50292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9" name="Text 17"/>
          <p:cNvSpPr/>
          <p:nvPr/>
        </p:nvSpPr>
        <p:spPr>
          <a:xfrm>
            <a:off x="1463040" y="3191256"/>
            <a:ext cx="6858000" cy="502920"/>
          </a:xfrm>
          <a:prstGeom prst="rect">
            <a:avLst/>
          </a:prstGeom>
          <a:noFill/>
          <a:ln/>
        </p:spPr>
        <p:txBody>
          <a:bodyPr wrap="square" lIns="0" tIns="0" rIns="0" bIns="0" rtlCol="0" anchor="ctr"/>
          <a:lstStyle/>
          <a:p>
            <a:pPr indent="0" marL="0">
              <a:buNone/>
            </a:pPr>
            <a:r>
              <a:rPr lang="en-US" sz="2200" dirty="0">
                <a:solidFill>
                  <a:srgbClr val="2D3436"/>
                </a:solidFill>
                <a:latin typeface="BIZ UDPGothic" pitchFamily="34" charset="0"/>
                <a:ea typeface="BIZ UDPGothic" pitchFamily="34" charset="-122"/>
                <a:cs typeface="BIZ UDPGothic" pitchFamily="34" charset="-120"/>
              </a:rPr>
              <a:t>首の痛みとともに頭痛がする</a:t>
            </a:r>
            <a:endParaRPr lang="en-US" sz="2200" dirty="0"/>
          </a:p>
        </p:txBody>
      </p:sp>
      <p:sp>
        <p:nvSpPr>
          <p:cNvPr id="20" name="Shape 18"/>
          <p:cNvSpPr/>
          <p:nvPr/>
        </p:nvSpPr>
        <p:spPr>
          <a:xfrm>
            <a:off x="548640" y="3858768"/>
            <a:ext cx="8046720" cy="594360"/>
          </a:xfrm>
          <a:prstGeom prst="rect">
            <a:avLst>
              <a:gd name="adj" fmla="val 15385"/>
            </a:avLst>
          </a:prstGeom>
          <a:solidFill>
            <a:srgbClr val="FFFFFF"/>
          </a:solidFill>
          <a:ln/>
          <a:effectLst>
            <a:outerShdw sx="100000" sy="100000" kx="0" ky="0" algn="bl" rotWithShape="0" blurRad="50800" dist="25400" dir="8100000">
              <a:srgbClr val="000000">
                <a:alpha val="12000"/>
              </a:srgbClr>
            </a:outerShdw>
          </a:effectLst>
        </p:spPr>
      </p:sp>
      <p:sp>
        <p:nvSpPr>
          <p:cNvPr id="21" name="Shape 19"/>
          <p:cNvSpPr/>
          <p:nvPr/>
        </p:nvSpPr>
        <p:spPr>
          <a:xfrm>
            <a:off x="548640" y="3858768"/>
            <a:ext cx="109728" cy="594360"/>
          </a:xfrm>
          <a:prstGeom prst="rect">
            <a:avLst>
              <a:gd name="adj" fmla="val 41667"/>
            </a:avLst>
          </a:prstGeom>
          <a:solidFill>
            <a:srgbClr val="2C5AA0"/>
          </a:solidFill>
          <a:ln/>
        </p:spPr>
      </p:sp>
      <p:sp>
        <p:nvSpPr>
          <p:cNvPr id="22" name="Text 20"/>
          <p:cNvSpPr/>
          <p:nvPr/>
        </p:nvSpPr>
        <p:spPr>
          <a:xfrm>
            <a:off x="777240" y="3904488"/>
            <a:ext cx="640080" cy="50292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23" name="Text 21"/>
          <p:cNvSpPr/>
          <p:nvPr/>
        </p:nvSpPr>
        <p:spPr>
          <a:xfrm>
            <a:off x="1463040" y="3904488"/>
            <a:ext cx="6858000" cy="502920"/>
          </a:xfrm>
          <a:prstGeom prst="rect">
            <a:avLst/>
          </a:prstGeom>
          <a:noFill/>
          <a:ln/>
        </p:spPr>
        <p:txBody>
          <a:bodyPr wrap="square" lIns="0" tIns="0" rIns="0" bIns="0" rtlCol="0" anchor="ctr"/>
          <a:lstStyle/>
          <a:p>
            <a:pPr indent="0" marL="0">
              <a:buNone/>
            </a:pPr>
            <a:r>
              <a:rPr lang="en-US" sz="2200" dirty="0">
                <a:solidFill>
                  <a:srgbClr val="2D3436"/>
                </a:solidFill>
                <a:latin typeface="BIZ UDPGothic" pitchFamily="34" charset="0"/>
                <a:ea typeface="BIZ UDPGothic" pitchFamily="34" charset="-122"/>
                <a:cs typeface="BIZ UDPGothic" pitchFamily="34" charset="-120"/>
              </a:rPr>
              <a:t>つまずきやすい・箸が使いにくくなった</a:t>
            </a:r>
            <a:endParaRPr lang="en-US" sz="2200" dirty="0"/>
          </a:p>
        </p:txBody>
      </p:sp>
      <p:sp>
        <p:nvSpPr>
          <p:cNvPr id="24" name="Shape 22"/>
          <p:cNvSpPr/>
          <p:nvPr/>
        </p:nvSpPr>
        <p:spPr>
          <a:xfrm>
            <a:off x="0" y="4800600"/>
            <a:ext cx="9144000" cy="347472"/>
          </a:xfrm>
          <a:prstGeom prst="rect">
            <a:avLst/>
          </a:prstGeom>
          <a:solidFill>
            <a:srgbClr val="1B3A5C"/>
          </a:solidFill>
          <a:ln/>
        </p:spPr>
      </p:sp>
      <p:sp>
        <p:nvSpPr>
          <p:cNvPr id="25" name="Text 23"/>
          <p:cNvSpPr/>
          <p:nvPr/>
        </p:nvSpPr>
        <p:spPr>
          <a:xfrm>
            <a:off x="365760" y="4818888"/>
            <a:ext cx="4572000" cy="274320"/>
          </a:xfrm>
          <a:prstGeom prst="rect">
            <a:avLst/>
          </a:prstGeom>
          <a:noFill/>
          <a:ln/>
        </p:spPr>
        <p:txBody>
          <a:bodyPr wrap="square" lIns="0" tIns="0" rIns="0" bIns="0" rtlCol="0" anchor="ctr"/>
          <a:lstStyle/>
          <a:p>
            <a:pPr indent="0" marL="0">
              <a:buNone/>
            </a:pPr>
            <a:r>
              <a:rPr lang="en-US" sz="1000" dirty="0">
                <a:solidFill>
                  <a:srgbClr val="FFFFFF"/>
                </a:solidFill>
                <a:latin typeface="BIZ UDPGothic" pitchFamily="34" charset="0"/>
                <a:ea typeface="BIZ UDPGothic" pitchFamily="34" charset="-122"/>
                <a:cs typeface="BIZ UDPGothic" pitchFamily="34" charset="-120"/>
              </a:rPr>
              <a:t>医知創造ラボ ｜ その症状、大丈夫？ #09</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BIZ UDPGothic" pitchFamily="34" charset="0"/>
                <a:ea typeface="BIZ UDPGothic" pitchFamily="34" charset="-122"/>
                <a:cs typeface="BIZ UDPGothic" pitchFamily="34" charset="-120"/>
              </a:rPr>
              <a:t>首の痛み ― 2つのタイプ</a:t>
            </a:r>
            <a:endParaRPr lang="en-US" sz="2600" dirty="0"/>
          </a:p>
        </p:txBody>
      </p:sp>
      <p:sp>
        <p:nvSpPr>
          <p:cNvPr id="4" name="Shape 2"/>
          <p:cNvSpPr/>
          <p:nvPr/>
        </p:nvSpPr>
        <p:spPr>
          <a:xfrm>
            <a:off x="365760" y="1097280"/>
            <a:ext cx="4023360" cy="2560320"/>
          </a:xfrm>
          <a:prstGeom prst="rect">
            <a:avLst>
              <a:gd name="adj" fmla="val 3571"/>
            </a:avLst>
          </a:prstGeom>
          <a:solidFill>
            <a:srgbClr val="D4EDDA"/>
          </a:solidFill>
          <a:ln/>
          <a:effectLst>
            <a:outerShdw sx="100000" sy="100000" kx="0" ky="0" algn="bl" rotWithShape="0" blurRad="50800" dist="25400" dir="8100000">
              <a:srgbClr val="000000">
                <a:alpha val="12000"/>
              </a:srgbClr>
            </a:outerShdw>
          </a:effectLst>
        </p:spPr>
      </p:sp>
      <p:sp>
        <p:nvSpPr>
          <p:cNvPr id="5" name="Shape 3"/>
          <p:cNvSpPr/>
          <p:nvPr/>
        </p:nvSpPr>
        <p:spPr>
          <a:xfrm>
            <a:off x="365760" y="1097280"/>
            <a:ext cx="109728" cy="2560320"/>
          </a:xfrm>
          <a:prstGeom prst="rect">
            <a:avLst>
              <a:gd name="adj" fmla="val 41667"/>
            </a:avLst>
          </a:prstGeom>
          <a:solidFill>
            <a:srgbClr val="28A745"/>
          </a:solidFill>
          <a:ln/>
        </p:spPr>
      </p:sp>
      <p:sp>
        <p:nvSpPr>
          <p:cNvPr id="6" name="Text 4"/>
          <p:cNvSpPr/>
          <p:nvPr/>
        </p:nvSpPr>
        <p:spPr>
          <a:xfrm>
            <a:off x="640080" y="1188720"/>
            <a:ext cx="3474720" cy="457200"/>
          </a:xfrm>
          <a:prstGeom prst="rect">
            <a:avLst/>
          </a:prstGeom>
          <a:noFill/>
          <a:ln/>
        </p:spPr>
        <p:txBody>
          <a:bodyPr wrap="square" lIns="0" tIns="0" rIns="0" bIns="0" rtlCol="0" anchor="ctr"/>
          <a:lstStyle/>
          <a:p>
            <a:pPr indent="0" marL="0">
              <a:buNone/>
            </a:pPr>
            <a:r>
              <a:rPr lang="en-US" sz="2100" b="1" dirty="0">
                <a:solidFill>
                  <a:srgbClr val="28A745"/>
                </a:solidFill>
                <a:latin typeface="BIZ UDPGothic" pitchFamily="34" charset="0"/>
                <a:ea typeface="BIZ UDPGothic" pitchFamily="34" charset="-122"/>
                <a:cs typeface="BIZ UDPGothic" pitchFamily="34" charset="-120"/>
              </a:rPr>
              <a:t>💪 筋骨格系の痛み</a:t>
            </a:r>
            <a:endParaRPr lang="en-US" sz="2100" dirty="0"/>
          </a:p>
        </p:txBody>
      </p:sp>
      <p:sp>
        <p:nvSpPr>
          <p:cNvPr id="7" name="Text 5"/>
          <p:cNvSpPr/>
          <p:nvPr/>
        </p:nvSpPr>
        <p:spPr>
          <a:xfrm>
            <a:off x="640080" y="1645920"/>
            <a:ext cx="3474720" cy="320040"/>
          </a:xfrm>
          <a:prstGeom prst="rect">
            <a:avLst/>
          </a:prstGeom>
          <a:noFill/>
          <a:ln/>
        </p:spPr>
        <p:txBody>
          <a:bodyPr wrap="square" lIns="0" tIns="0" rIns="0" bIns="0" rtlCol="0" anchor="ctr"/>
          <a:lstStyle/>
          <a:p>
            <a:pPr indent="0" marL="0">
              <a:buNone/>
            </a:pPr>
            <a:r>
              <a:rPr lang="en-US" sz="1600" dirty="0">
                <a:solidFill>
                  <a:srgbClr val="2D3436"/>
                </a:solidFill>
                <a:latin typeface="BIZ UDPGothic" pitchFamily="34" charset="0"/>
                <a:ea typeface="BIZ UDPGothic" pitchFamily="34" charset="-122"/>
                <a:cs typeface="BIZ UDPGothic" pitchFamily="34" charset="-120"/>
              </a:rPr>
              <a:t>首や肩の筋肉・関節が原因</a:t>
            </a:r>
            <a:endParaRPr lang="en-US" sz="1600" dirty="0"/>
          </a:p>
        </p:txBody>
      </p:sp>
      <p:sp>
        <p:nvSpPr>
          <p:cNvPr id="8" name="Text 6"/>
          <p:cNvSpPr/>
          <p:nvPr/>
        </p:nvSpPr>
        <p:spPr>
          <a:xfrm>
            <a:off x="731520" y="2103120"/>
            <a:ext cx="3474720" cy="301752"/>
          </a:xfrm>
          <a:prstGeom prst="rect">
            <a:avLst/>
          </a:prstGeom>
          <a:noFill/>
          <a:ln/>
        </p:spPr>
        <p:txBody>
          <a:bodyPr wrap="square" lIns="0" tIns="0" rIns="0" bIns="0" rtlCol="0" anchor="ctr"/>
          <a:lstStyle/>
          <a:p>
            <a:pPr indent="0" marL="0">
              <a:buNone/>
            </a:pPr>
            <a:r>
              <a:rPr lang="en-US" sz="1500" dirty="0">
                <a:solidFill>
                  <a:srgbClr val="2D3436"/>
                </a:solidFill>
                <a:latin typeface="BIZ UDPGothic" pitchFamily="34" charset="0"/>
                <a:ea typeface="BIZ UDPGothic" pitchFamily="34" charset="-122"/>
                <a:cs typeface="BIZ UDPGothic" pitchFamily="34" charset="-120"/>
              </a:rPr>
              <a:t>・肩こり・寝違え</a:t>
            </a:r>
            <a:endParaRPr lang="en-US" sz="1500" dirty="0"/>
          </a:p>
        </p:txBody>
      </p:sp>
      <p:sp>
        <p:nvSpPr>
          <p:cNvPr id="9" name="Text 7"/>
          <p:cNvSpPr/>
          <p:nvPr/>
        </p:nvSpPr>
        <p:spPr>
          <a:xfrm>
            <a:off x="731520" y="2450592"/>
            <a:ext cx="3474720" cy="301752"/>
          </a:xfrm>
          <a:prstGeom prst="rect">
            <a:avLst/>
          </a:prstGeom>
          <a:noFill/>
          <a:ln/>
        </p:spPr>
        <p:txBody>
          <a:bodyPr wrap="square" lIns="0" tIns="0" rIns="0" bIns="0" rtlCol="0" anchor="ctr"/>
          <a:lstStyle/>
          <a:p>
            <a:pPr indent="0" marL="0">
              <a:buNone/>
            </a:pPr>
            <a:r>
              <a:rPr lang="en-US" sz="1500" dirty="0">
                <a:solidFill>
                  <a:srgbClr val="2D3436"/>
                </a:solidFill>
                <a:latin typeface="BIZ UDPGothic" pitchFamily="34" charset="0"/>
                <a:ea typeface="BIZ UDPGothic" pitchFamily="34" charset="-122"/>
                <a:cs typeface="BIZ UDPGothic" pitchFamily="34" charset="-120"/>
              </a:rPr>
              <a:t>・筋筋膜性疼痛</a:t>
            </a:r>
            <a:endParaRPr lang="en-US" sz="1500" dirty="0"/>
          </a:p>
        </p:txBody>
      </p:sp>
      <p:sp>
        <p:nvSpPr>
          <p:cNvPr id="10" name="Text 8"/>
          <p:cNvSpPr/>
          <p:nvPr/>
        </p:nvSpPr>
        <p:spPr>
          <a:xfrm>
            <a:off x="731520" y="2798064"/>
            <a:ext cx="3474720" cy="301752"/>
          </a:xfrm>
          <a:prstGeom prst="rect">
            <a:avLst/>
          </a:prstGeom>
          <a:noFill/>
          <a:ln/>
        </p:spPr>
        <p:txBody>
          <a:bodyPr wrap="square" lIns="0" tIns="0" rIns="0" bIns="0" rtlCol="0" anchor="ctr"/>
          <a:lstStyle/>
          <a:p>
            <a:pPr indent="0" marL="0">
              <a:buNone/>
            </a:pPr>
            <a:r>
              <a:rPr lang="en-US" sz="1500" dirty="0">
                <a:solidFill>
                  <a:srgbClr val="2D3436"/>
                </a:solidFill>
                <a:latin typeface="BIZ UDPGothic" pitchFamily="34" charset="0"/>
                <a:ea typeface="BIZ UDPGothic" pitchFamily="34" charset="-122"/>
                <a:cs typeface="BIZ UDPGothic" pitchFamily="34" charset="-120"/>
              </a:rPr>
              <a:t>・変形性頚椎症（軽度）</a:t>
            </a:r>
            <a:endParaRPr lang="en-US" sz="1500" dirty="0"/>
          </a:p>
        </p:txBody>
      </p:sp>
      <p:sp>
        <p:nvSpPr>
          <p:cNvPr id="11" name="Text 9"/>
          <p:cNvSpPr/>
          <p:nvPr/>
        </p:nvSpPr>
        <p:spPr>
          <a:xfrm>
            <a:off x="731520" y="3145536"/>
            <a:ext cx="3474720" cy="301752"/>
          </a:xfrm>
          <a:prstGeom prst="rect">
            <a:avLst/>
          </a:prstGeom>
          <a:noFill/>
          <a:ln/>
        </p:spPr>
        <p:txBody>
          <a:bodyPr wrap="square" lIns="0" tIns="0" rIns="0" bIns="0" rtlCol="0" anchor="ctr"/>
          <a:lstStyle/>
          <a:p>
            <a:pPr indent="0" marL="0">
              <a:buNone/>
            </a:pPr>
            <a:r>
              <a:rPr lang="en-US" sz="1500" dirty="0">
                <a:solidFill>
                  <a:srgbClr val="2D3436"/>
                </a:solidFill>
                <a:latin typeface="BIZ UDPGothic" pitchFamily="34" charset="0"/>
                <a:ea typeface="BIZ UDPGothic" pitchFamily="34" charset="-122"/>
                <a:cs typeface="BIZ UDPGothic" pitchFamily="34" charset="-120"/>
              </a:rPr>
              <a:t>・→ 整形外科が主な受診先</a:t>
            </a:r>
            <a:endParaRPr lang="en-US" sz="1500" dirty="0"/>
          </a:p>
        </p:txBody>
      </p:sp>
      <p:sp>
        <p:nvSpPr>
          <p:cNvPr id="12" name="Shape 10"/>
          <p:cNvSpPr/>
          <p:nvPr/>
        </p:nvSpPr>
        <p:spPr>
          <a:xfrm>
            <a:off x="4754880" y="1097280"/>
            <a:ext cx="4023360" cy="2560320"/>
          </a:xfrm>
          <a:prstGeom prst="rect">
            <a:avLst>
              <a:gd name="adj" fmla="val 3571"/>
            </a:avLst>
          </a:prstGeom>
          <a:solidFill>
            <a:srgbClr val="F8D7DA"/>
          </a:solidFill>
          <a:ln/>
          <a:effectLst>
            <a:outerShdw sx="100000" sy="100000" kx="0" ky="0" algn="bl" rotWithShape="0" blurRad="50800" dist="25400" dir="8100000">
              <a:srgbClr val="000000">
                <a:alpha val="12000"/>
              </a:srgbClr>
            </a:outerShdw>
          </a:effectLst>
        </p:spPr>
      </p:sp>
      <p:sp>
        <p:nvSpPr>
          <p:cNvPr id="13" name="Shape 11"/>
          <p:cNvSpPr/>
          <p:nvPr/>
        </p:nvSpPr>
        <p:spPr>
          <a:xfrm>
            <a:off x="4754880" y="1097280"/>
            <a:ext cx="109728" cy="2560320"/>
          </a:xfrm>
          <a:prstGeom prst="rect">
            <a:avLst>
              <a:gd name="adj" fmla="val 41667"/>
            </a:avLst>
          </a:prstGeom>
          <a:solidFill>
            <a:srgbClr val="DC3545"/>
          </a:solidFill>
          <a:ln/>
        </p:spPr>
      </p:sp>
      <p:sp>
        <p:nvSpPr>
          <p:cNvPr id="14" name="Text 12"/>
          <p:cNvSpPr/>
          <p:nvPr/>
        </p:nvSpPr>
        <p:spPr>
          <a:xfrm>
            <a:off x="5029200" y="1188720"/>
            <a:ext cx="3474720" cy="457200"/>
          </a:xfrm>
          <a:prstGeom prst="rect">
            <a:avLst/>
          </a:prstGeom>
          <a:noFill/>
          <a:ln/>
        </p:spPr>
        <p:txBody>
          <a:bodyPr wrap="square" lIns="0" tIns="0" rIns="0" bIns="0" rtlCol="0" anchor="ctr"/>
          <a:lstStyle/>
          <a:p>
            <a:pPr indent="0" marL="0">
              <a:buNone/>
            </a:pPr>
            <a:r>
              <a:rPr lang="en-US" sz="2100" b="1" dirty="0">
                <a:solidFill>
                  <a:srgbClr val="DC3545"/>
                </a:solidFill>
                <a:latin typeface="BIZ UDPGothic" pitchFamily="34" charset="0"/>
                <a:ea typeface="BIZ UDPGothic" pitchFamily="34" charset="-122"/>
                <a:cs typeface="BIZ UDPGothic" pitchFamily="34" charset="-120"/>
              </a:rPr>
              <a:t>🧠 神経系の痛み</a:t>
            </a:r>
            <a:endParaRPr lang="en-US" sz="2100" dirty="0"/>
          </a:p>
        </p:txBody>
      </p:sp>
      <p:sp>
        <p:nvSpPr>
          <p:cNvPr id="15" name="Text 13"/>
          <p:cNvSpPr/>
          <p:nvPr/>
        </p:nvSpPr>
        <p:spPr>
          <a:xfrm>
            <a:off x="5029200" y="1645920"/>
            <a:ext cx="3474720" cy="320040"/>
          </a:xfrm>
          <a:prstGeom prst="rect">
            <a:avLst/>
          </a:prstGeom>
          <a:noFill/>
          <a:ln/>
        </p:spPr>
        <p:txBody>
          <a:bodyPr wrap="square" lIns="0" tIns="0" rIns="0" bIns="0" rtlCol="0" anchor="ctr"/>
          <a:lstStyle/>
          <a:p>
            <a:pPr indent="0" marL="0">
              <a:buNone/>
            </a:pPr>
            <a:r>
              <a:rPr lang="en-US" sz="1600" dirty="0">
                <a:solidFill>
                  <a:srgbClr val="2D3436"/>
                </a:solidFill>
                <a:latin typeface="BIZ UDPGothic" pitchFamily="34" charset="0"/>
                <a:ea typeface="BIZ UDPGothic" pitchFamily="34" charset="-122"/>
                <a:cs typeface="BIZ UDPGothic" pitchFamily="34" charset="-120"/>
              </a:rPr>
              <a:t>頚椎の神経や脊髄・脳の病気</a:t>
            </a:r>
            <a:endParaRPr lang="en-US" sz="1600" dirty="0"/>
          </a:p>
        </p:txBody>
      </p:sp>
      <p:sp>
        <p:nvSpPr>
          <p:cNvPr id="16" name="Text 14"/>
          <p:cNvSpPr/>
          <p:nvPr/>
        </p:nvSpPr>
        <p:spPr>
          <a:xfrm>
            <a:off x="5120640" y="2103120"/>
            <a:ext cx="3474720" cy="301752"/>
          </a:xfrm>
          <a:prstGeom prst="rect">
            <a:avLst/>
          </a:prstGeom>
          <a:noFill/>
          <a:ln/>
        </p:spPr>
        <p:txBody>
          <a:bodyPr wrap="square" lIns="0" tIns="0" rIns="0" bIns="0" rtlCol="0" anchor="ctr"/>
          <a:lstStyle/>
          <a:p>
            <a:pPr indent="0" marL="0">
              <a:buNone/>
            </a:pPr>
            <a:r>
              <a:rPr lang="en-US" sz="1500" dirty="0">
                <a:solidFill>
                  <a:srgbClr val="2D3436"/>
                </a:solidFill>
                <a:latin typeface="BIZ UDPGothic" pitchFamily="34" charset="0"/>
                <a:ea typeface="BIZ UDPGothic" pitchFamily="34" charset="-122"/>
                <a:cs typeface="BIZ UDPGothic" pitchFamily="34" charset="-120"/>
              </a:rPr>
              <a:t>・頚椎症性脊髄症</a:t>
            </a:r>
            <a:endParaRPr lang="en-US" sz="1500" dirty="0"/>
          </a:p>
        </p:txBody>
      </p:sp>
      <p:sp>
        <p:nvSpPr>
          <p:cNvPr id="17" name="Text 15"/>
          <p:cNvSpPr/>
          <p:nvPr/>
        </p:nvSpPr>
        <p:spPr>
          <a:xfrm>
            <a:off x="5120640" y="2450592"/>
            <a:ext cx="3474720" cy="301752"/>
          </a:xfrm>
          <a:prstGeom prst="rect">
            <a:avLst/>
          </a:prstGeom>
          <a:noFill/>
          <a:ln/>
        </p:spPr>
        <p:txBody>
          <a:bodyPr wrap="square" lIns="0" tIns="0" rIns="0" bIns="0" rtlCol="0" anchor="ctr"/>
          <a:lstStyle/>
          <a:p>
            <a:pPr indent="0" marL="0">
              <a:buNone/>
            </a:pPr>
            <a:r>
              <a:rPr lang="en-US" sz="1500" dirty="0">
                <a:solidFill>
                  <a:srgbClr val="2D3436"/>
                </a:solidFill>
                <a:latin typeface="BIZ UDPGothic" pitchFamily="34" charset="0"/>
                <a:ea typeface="BIZ UDPGothic" pitchFamily="34" charset="-122"/>
                <a:cs typeface="BIZ UDPGothic" pitchFamily="34" charset="-120"/>
              </a:rPr>
              <a:t>・椎間板ヘルニア（神経圧迫）</a:t>
            </a:r>
            <a:endParaRPr lang="en-US" sz="1500" dirty="0"/>
          </a:p>
        </p:txBody>
      </p:sp>
      <p:sp>
        <p:nvSpPr>
          <p:cNvPr id="18" name="Text 16"/>
          <p:cNvSpPr/>
          <p:nvPr/>
        </p:nvSpPr>
        <p:spPr>
          <a:xfrm>
            <a:off x="5120640" y="2798064"/>
            <a:ext cx="3474720" cy="301752"/>
          </a:xfrm>
          <a:prstGeom prst="rect">
            <a:avLst/>
          </a:prstGeom>
          <a:noFill/>
          <a:ln/>
        </p:spPr>
        <p:txBody>
          <a:bodyPr wrap="square" lIns="0" tIns="0" rIns="0" bIns="0" rtlCol="0" anchor="ctr"/>
          <a:lstStyle/>
          <a:p>
            <a:pPr indent="0" marL="0">
              <a:buNone/>
            </a:pPr>
            <a:r>
              <a:rPr lang="en-US" sz="1500" dirty="0">
                <a:solidFill>
                  <a:srgbClr val="2D3436"/>
                </a:solidFill>
                <a:latin typeface="BIZ UDPGothic" pitchFamily="34" charset="0"/>
                <a:ea typeface="BIZ UDPGothic" pitchFamily="34" charset="-122"/>
                <a:cs typeface="BIZ UDPGothic" pitchFamily="34" charset="-120"/>
              </a:rPr>
              <a:t>・髄膜炎・椎骨動脈解離</a:t>
            </a:r>
            <a:endParaRPr lang="en-US" sz="1500" dirty="0"/>
          </a:p>
        </p:txBody>
      </p:sp>
      <p:sp>
        <p:nvSpPr>
          <p:cNvPr id="19" name="Text 17"/>
          <p:cNvSpPr/>
          <p:nvPr/>
        </p:nvSpPr>
        <p:spPr>
          <a:xfrm>
            <a:off x="5120640" y="3145536"/>
            <a:ext cx="3474720" cy="301752"/>
          </a:xfrm>
          <a:prstGeom prst="rect">
            <a:avLst/>
          </a:prstGeom>
          <a:noFill/>
          <a:ln/>
        </p:spPr>
        <p:txBody>
          <a:bodyPr wrap="square" lIns="0" tIns="0" rIns="0" bIns="0" rtlCol="0" anchor="ctr"/>
          <a:lstStyle/>
          <a:p>
            <a:pPr indent="0" marL="0">
              <a:buNone/>
            </a:pPr>
            <a:r>
              <a:rPr lang="en-US" sz="1500" dirty="0">
                <a:solidFill>
                  <a:srgbClr val="2D3436"/>
                </a:solidFill>
                <a:latin typeface="BIZ UDPGothic" pitchFamily="34" charset="0"/>
                <a:ea typeface="BIZ UDPGothic" pitchFamily="34" charset="-122"/>
                <a:cs typeface="BIZ UDPGothic" pitchFamily="34" charset="-120"/>
              </a:rPr>
              <a:t>・→ 脳神経内科の受診が必要</a:t>
            </a:r>
            <a:endParaRPr lang="en-US" sz="1500" dirty="0"/>
          </a:p>
        </p:txBody>
      </p:sp>
      <p:sp>
        <p:nvSpPr>
          <p:cNvPr id="20" name="Text 18"/>
          <p:cNvSpPr/>
          <p:nvPr/>
        </p:nvSpPr>
        <p:spPr>
          <a:xfrm>
            <a:off x="457200" y="4526280"/>
            <a:ext cx="8229600" cy="274320"/>
          </a:xfrm>
          <a:prstGeom prst="rect">
            <a:avLst/>
          </a:prstGeom>
          <a:noFill/>
          <a:ln/>
        </p:spPr>
        <p:txBody>
          <a:bodyPr wrap="square" lIns="0" tIns="0" rIns="0" bIns="0" rtlCol="0" anchor="ctr"/>
          <a:lstStyle/>
          <a:p>
            <a:pPr indent="0" marL="0">
              <a:buNone/>
            </a:pPr>
            <a:r>
              <a:rPr lang="en-US" sz="1400" b="1" dirty="0">
                <a:solidFill>
                  <a:srgbClr val="DC3545"/>
                </a:solidFill>
                <a:latin typeface="BIZ UDPGothic" pitchFamily="34" charset="0"/>
                <a:ea typeface="BIZ UDPGothic" pitchFamily="34" charset="-122"/>
                <a:cs typeface="BIZ UDPGothic" pitchFamily="34" charset="-120"/>
              </a:rPr>
              <a:t>⚠️ 手のしびれ・脱力・歩行障害を伴う首の痛みは神経の問題を疑いましょう</a:t>
            </a:r>
            <a:endParaRPr lang="en-US" sz="1400" dirty="0"/>
          </a:p>
        </p:txBody>
      </p:sp>
      <p:sp>
        <p:nvSpPr>
          <p:cNvPr id="21" name="Shape 19"/>
          <p:cNvSpPr/>
          <p:nvPr/>
        </p:nvSpPr>
        <p:spPr>
          <a:xfrm>
            <a:off x="0" y="4800600"/>
            <a:ext cx="9144000" cy="347472"/>
          </a:xfrm>
          <a:prstGeom prst="rect">
            <a:avLst/>
          </a:prstGeom>
          <a:solidFill>
            <a:srgbClr val="1B3A5C"/>
          </a:solidFill>
          <a:ln/>
        </p:spPr>
      </p:sp>
      <p:sp>
        <p:nvSpPr>
          <p:cNvPr id="22" name="Text 20"/>
          <p:cNvSpPr/>
          <p:nvPr/>
        </p:nvSpPr>
        <p:spPr>
          <a:xfrm>
            <a:off x="365760" y="4818888"/>
            <a:ext cx="4572000" cy="274320"/>
          </a:xfrm>
          <a:prstGeom prst="rect">
            <a:avLst/>
          </a:prstGeom>
          <a:noFill/>
          <a:ln/>
        </p:spPr>
        <p:txBody>
          <a:bodyPr wrap="square" lIns="0" tIns="0" rIns="0" bIns="0" rtlCol="0" anchor="ctr"/>
          <a:lstStyle/>
          <a:p>
            <a:pPr indent="0" marL="0">
              <a:buNone/>
            </a:pPr>
            <a:r>
              <a:rPr lang="en-US" sz="1000" dirty="0">
                <a:solidFill>
                  <a:srgbClr val="FFFFFF"/>
                </a:solidFill>
                <a:latin typeface="BIZ UDPGothic" pitchFamily="34" charset="0"/>
                <a:ea typeface="BIZ UDPGothic" pitchFamily="34" charset="-122"/>
                <a:cs typeface="BIZ UDPGothic" pitchFamily="34" charset="-120"/>
              </a:rPr>
              <a:t>医知創造ラボ ｜ その症状、大丈夫？ #09</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BIZ UDPGothic" pitchFamily="34" charset="0"/>
                <a:ea typeface="BIZ UDPGothic" pitchFamily="34" charset="-122"/>
                <a:cs typeface="BIZ UDPGothic" pitchFamily="34" charset="-120"/>
              </a:rPr>
              <a:t>首の痛みの原因 ― 心配度で分類</a:t>
            </a:r>
            <a:endParaRPr lang="en-US" sz="2600" dirty="0"/>
          </a:p>
        </p:txBody>
      </p:sp>
      <p:sp>
        <p:nvSpPr>
          <p:cNvPr id="4" name="Shape 2"/>
          <p:cNvSpPr/>
          <p:nvPr/>
        </p:nvSpPr>
        <p:spPr>
          <a:xfrm>
            <a:off x="457200" y="1005840"/>
            <a:ext cx="8229600" cy="612648"/>
          </a:xfrm>
          <a:prstGeom prst="rect">
            <a:avLst>
              <a:gd name="adj" fmla="val 14925"/>
            </a:avLst>
          </a:prstGeom>
          <a:solidFill>
            <a:srgbClr val="D4EDDA"/>
          </a:solidFill>
          <a:ln/>
          <a:effectLst>
            <a:outerShdw sx="100000" sy="100000" kx="0" ky="0" algn="bl" rotWithShape="0" blurRad="50800" dist="25400" dir="8100000">
              <a:srgbClr val="000000">
                <a:alpha val="12000"/>
              </a:srgbClr>
            </a:outerShdw>
          </a:effectLst>
        </p:spPr>
      </p:sp>
      <p:sp>
        <p:nvSpPr>
          <p:cNvPr id="5" name="Shape 3"/>
          <p:cNvSpPr/>
          <p:nvPr/>
        </p:nvSpPr>
        <p:spPr>
          <a:xfrm>
            <a:off x="457200" y="1005840"/>
            <a:ext cx="109728" cy="612648"/>
          </a:xfrm>
          <a:prstGeom prst="rect">
            <a:avLst>
              <a:gd name="adj" fmla="val 41667"/>
            </a:avLst>
          </a:prstGeom>
          <a:solidFill>
            <a:srgbClr val="28A745"/>
          </a:solidFill>
          <a:ln/>
        </p:spPr>
      </p:sp>
      <p:sp>
        <p:nvSpPr>
          <p:cNvPr id="6" name="Text 4"/>
          <p:cNvSpPr/>
          <p:nvPr/>
        </p:nvSpPr>
        <p:spPr>
          <a:xfrm>
            <a:off x="640080" y="1051560"/>
            <a:ext cx="1188720" cy="502920"/>
          </a:xfrm>
          <a:prstGeom prst="rect">
            <a:avLst/>
          </a:prstGeom>
          <a:noFill/>
          <a:ln/>
        </p:spPr>
        <p:txBody>
          <a:bodyPr wrap="square" lIns="0" tIns="0" rIns="0" bIns="0" rtlCol="0" anchor="ctr"/>
          <a:lstStyle/>
          <a:p>
            <a:pPr indent="0" marL="0">
              <a:buNone/>
            </a:pPr>
            <a:r>
              <a:rPr lang="en-US" sz="1500" b="1" dirty="0">
                <a:solidFill>
                  <a:srgbClr val="28A745"/>
                </a:solidFill>
                <a:latin typeface="BIZ UDPGothic" pitchFamily="34" charset="0"/>
                <a:ea typeface="BIZ UDPGothic" pitchFamily="34" charset="-122"/>
                <a:cs typeface="BIZ UDPGothic" pitchFamily="34" charset="-120"/>
              </a:rPr>
              <a:t>🟢 軽度</a:t>
            </a:r>
            <a:endParaRPr lang="en-US" sz="1500" dirty="0"/>
          </a:p>
        </p:txBody>
      </p:sp>
      <p:sp>
        <p:nvSpPr>
          <p:cNvPr id="7" name="Text 5"/>
          <p:cNvSpPr/>
          <p:nvPr/>
        </p:nvSpPr>
        <p:spPr>
          <a:xfrm>
            <a:off x="1828800" y="1051560"/>
            <a:ext cx="2743200" cy="502920"/>
          </a:xfrm>
          <a:prstGeom prst="rect">
            <a:avLst/>
          </a:prstGeom>
          <a:noFill/>
          <a:ln/>
        </p:spPr>
        <p:txBody>
          <a:bodyPr wrap="square" lIns="0" tIns="0" rIns="0" bIns="0" rtlCol="0" anchor="ctr"/>
          <a:lstStyle/>
          <a:p>
            <a:pPr indent="0" marL="0">
              <a:buNone/>
            </a:pPr>
            <a:r>
              <a:rPr lang="en-US" sz="1700" b="1" dirty="0">
                <a:solidFill>
                  <a:srgbClr val="2D3436"/>
                </a:solidFill>
                <a:latin typeface="BIZ UDPGothic" pitchFamily="34" charset="0"/>
                <a:ea typeface="BIZ UDPGothic" pitchFamily="34" charset="-122"/>
                <a:cs typeface="BIZ UDPGothic" pitchFamily="34" charset="-120"/>
              </a:rPr>
              <a:t>肩こり・寝違え</a:t>
            </a:r>
            <a:endParaRPr lang="en-US" sz="1700" dirty="0"/>
          </a:p>
        </p:txBody>
      </p:sp>
      <p:sp>
        <p:nvSpPr>
          <p:cNvPr id="8" name="Text 6"/>
          <p:cNvSpPr/>
          <p:nvPr/>
        </p:nvSpPr>
        <p:spPr>
          <a:xfrm>
            <a:off x="4663440" y="1051560"/>
            <a:ext cx="3840480" cy="502920"/>
          </a:xfrm>
          <a:prstGeom prst="rect">
            <a:avLst/>
          </a:prstGeom>
          <a:noFill/>
          <a:ln/>
        </p:spPr>
        <p:txBody>
          <a:bodyPr wrap="square" lIns="0" tIns="0" rIns="0" bIns="0" rtlCol="0" anchor="ctr"/>
          <a:lstStyle/>
          <a:p>
            <a:pPr indent="0" marL="0">
              <a:lnSpc>
                <a:spcPct val="110000"/>
              </a:lnSpc>
              <a:buNone/>
            </a:pPr>
            <a:r>
              <a:rPr lang="en-US" sz="1400" dirty="0">
                <a:solidFill>
                  <a:srgbClr val="636E72"/>
                </a:solidFill>
                <a:latin typeface="BIZ UDPGothic" pitchFamily="34" charset="0"/>
                <a:ea typeface="BIZ UDPGothic" pitchFamily="34" charset="-122"/>
                <a:cs typeface="BIZ UDPGothic" pitchFamily="34" charset="-120"/>
              </a:rPr>
              <a:t>筋肉の緊張やこり。ストレッチや姿勢改善で軽快</a:t>
            </a:r>
            <a:endParaRPr lang="en-US" sz="1400" dirty="0"/>
          </a:p>
        </p:txBody>
      </p:sp>
      <p:sp>
        <p:nvSpPr>
          <p:cNvPr id="9" name="Shape 7"/>
          <p:cNvSpPr/>
          <p:nvPr/>
        </p:nvSpPr>
        <p:spPr>
          <a:xfrm>
            <a:off x="457200" y="1737360"/>
            <a:ext cx="8229600" cy="612648"/>
          </a:xfrm>
          <a:prstGeom prst="rect">
            <a:avLst>
              <a:gd name="adj" fmla="val 14925"/>
            </a:avLst>
          </a:prstGeom>
          <a:solidFill>
            <a:srgbClr val="FFF3CD"/>
          </a:solidFill>
          <a:ln/>
          <a:effectLst>
            <a:outerShdw sx="100000" sy="100000" kx="0" ky="0" algn="bl" rotWithShape="0" blurRad="50800" dist="25400" dir="8100000">
              <a:srgbClr val="000000">
                <a:alpha val="12000"/>
              </a:srgbClr>
            </a:outerShdw>
          </a:effectLst>
        </p:spPr>
      </p:sp>
      <p:sp>
        <p:nvSpPr>
          <p:cNvPr id="10" name="Shape 8"/>
          <p:cNvSpPr/>
          <p:nvPr/>
        </p:nvSpPr>
        <p:spPr>
          <a:xfrm>
            <a:off x="457200" y="1737360"/>
            <a:ext cx="109728" cy="612648"/>
          </a:xfrm>
          <a:prstGeom prst="rect">
            <a:avLst>
              <a:gd name="adj" fmla="val 41667"/>
            </a:avLst>
          </a:prstGeom>
          <a:solidFill>
            <a:srgbClr val="856404"/>
          </a:solidFill>
          <a:ln/>
        </p:spPr>
      </p:sp>
      <p:sp>
        <p:nvSpPr>
          <p:cNvPr id="11" name="Text 9"/>
          <p:cNvSpPr/>
          <p:nvPr/>
        </p:nvSpPr>
        <p:spPr>
          <a:xfrm>
            <a:off x="640080" y="1783080"/>
            <a:ext cx="1188720" cy="502920"/>
          </a:xfrm>
          <a:prstGeom prst="rect">
            <a:avLst/>
          </a:prstGeom>
          <a:noFill/>
          <a:ln/>
        </p:spPr>
        <p:txBody>
          <a:bodyPr wrap="square" lIns="0" tIns="0" rIns="0" bIns="0" rtlCol="0" anchor="ctr"/>
          <a:lstStyle/>
          <a:p>
            <a:pPr indent="0" marL="0">
              <a:buNone/>
            </a:pPr>
            <a:r>
              <a:rPr lang="en-US" sz="1500" b="1" dirty="0">
                <a:solidFill>
                  <a:srgbClr val="856404"/>
                </a:solidFill>
                <a:latin typeface="BIZ UDPGothic" pitchFamily="34" charset="0"/>
                <a:ea typeface="BIZ UDPGothic" pitchFamily="34" charset="-122"/>
                <a:cs typeface="BIZ UDPGothic" pitchFamily="34" charset="-120"/>
              </a:rPr>
              <a:t>🟡 要注意</a:t>
            </a:r>
            <a:endParaRPr lang="en-US" sz="1500" dirty="0"/>
          </a:p>
        </p:txBody>
      </p:sp>
      <p:sp>
        <p:nvSpPr>
          <p:cNvPr id="12" name="Text 10"/>
          <p:cNvSpPr/>
          <p:nvPr/>
        </p:nvSpPr>
        <p:spPr>
          <a:xfrm>
            <a:off x="1828800" y="1783080"/>
            <a:ext cx="2743200" cy="502920"/>
          </a:xfrm>
          <a:prstGeom prst="rect">
            <a:avLst/>
          </a:prstGeom>
          <a:noFill/>
          <a:ln/>
        </p:spPr>
        <p:txBody>
          <a:bodyPr wrap="square" lIns="0" tIns="0" rIns="0" bIns="0" rtlCol="0" anchor="ctr"/>
          <a:lstStyle/>
          <a:p>
            <a:pPr indent="0" marL="0">
              <a:buNone/>
            </a:pPr>
            <a:r>
              <a:rPr lang="en-US" sz="1700" b="1" dirty="0">
                <a:solidFill>
                  <a:srgbClr val="2D3436"/>
                </a:solidFill>
                <a:latin typeface="BIZ UDPGothic" pitchFamily="34" charset="0"/>
                <a:ea typeface="BIZ UDPGothic" pitchFamily="34" charset="-122"/>
                <a:cs typeface="BIZ UDPGothic" pitchFamily="34" charset="-120"/>
              </a:rPr>
              <a:t>頚椎症（変形性）</a:t>
            </a:r>
            <a:endParaRPr lang="en-US" sz="1700" dirty="0"/>
          </a:p>
        </p:txBody>
      </p:sp>
      <p:sp>
        <p:nvSpPr>
          <p:cNvPr id="13" name="Text 11"/>
          <p:cNvSpPr/>
          <p:nvPr/>
        </p:nvSpPr>
        <p:spPr>
          <a:xfrm>
            <a:off x="4663440" y="1783080"/>
            <a:ext cx="3840480" cy="502920"/>
          </a:xfrm>
          <a:prstGeom prst="rect">
            <a:avLst/>
          </a:prstGeom>
          <a:noFill/>
          <a:ln/>
        </p:spPr>
        <p:txBody>
          <a:bodyPr wrap="square" lIns="0" tIns="0" rIns="0" bIns="0" rtlCol="0" anchor="ctr"/>
          <a:lstStyle/>
          <a:p>
            <a:pPr indent="0" marL="0">
              <a:lnSpc>
                <a:spcPct val="110000"/>
              </a:lnSpc>
              <a:buNone/>
            </a:pPr>
            <a:r>
              <a:rPr lang="en-US" sz="1400" dirty="0">
                <a:solidFill>
                  <a:srgbClr val="636E72"/>
                </a:solidFill>
                <a:latin typeface="BIZ UDPGothic" pitchFamily="34" charset="0"/>
                <a:ea typeface="BIZ UDPGothic" pitchFamily="34" charset="-122"/>
                <a:cs typeface="BIZ UDPGothic" pitchFamily="34" charset="-120"/>
              </a:rPr>
              <a:t>加齢で頚椎が変形。50歳以上に非常に多い</a:t>
            </a:r>
            <a:endParaRPr lang="en-US" sz="1400" dirty="0"/>
          </a:p>
        </p:txBody>
      </p:sp>
      <p:sp>
        <p:nvSpPr>
          <p:cNvPr id="14" name="Shape 12"/>
          <p:cNvSpPr/>
          <p:nvPr/>
        </p:nvSpPr>
        <p:spPr>
          <a:xfrm>
            <a:off x="457200" y="2468880"/>
            <a:ext cx="8229600" cy="612648"/>
          </a:xfrm>
          <a:prstGeom prst="rect">
            <a:avLst>
              <a:gd name="adj" fmla="val 14925"/>
            </a:avLst>
          </a:prstGeom>
          <a:solidFill>
            <a:srgbClr val="FFF3CD"/>
          </a:solidFill>
          <a:ln/>
          <a:effectLst>
            <a:outerShdw sx="100000" sy="100000" kx="0" ky="0" algn="bl" rotWithShape="0" blurRad="50800" dist="25400" dir="8100000">
              <a:srgbClr val="000000">
                <a:alpha val="12000"/>
              </a:srgbClr>
            </a:outerShdw>
          </a:effectLst>
        </p:spPr>
      </p:sp>
      <p:sp>
        <p:nvSpPr>
          <p:cNvPr id="15" name="Shape 13"/>
          <p:cNvSpPr/>
          <p:nvPr/>
        </p:nvSpPr>
        <p:spPr>
          <a:xfrm>
            <a:off x="457200" y="2468880"/>
            <a:ext cx="109728" cy="612648"/>
          </a:xfrm>
          <a:prstGeom prst="rect">
            <a:avLst>
              <a:gd name="adj" fmla="val 41667"/>
            </a:avLst>
          </a:prstGeom>
          <a:solidFill>
            <a:srgbClr val="856404"/>
          </a:solidFill>
          <a:ln/>
        </p:spPr>
      </p:sp>
      <p:sp>
        <p:nvSpPr>
          <p:cNvPr id="16" name="Text 14"/>
          <p:cNvSpPr/>
          <p:nvPr/>
        </p:nvSpPr>
        <p:spPr>
          <a:xfrm>
            <a:off x="640080" y="2514600"/>
            <a:ext cx="1188720" cy="502920"/>
          </a:xfrm>
          <a:prstGeom prst="rect">
            <a:avLst/>
          </a:prstGeom>
          <a:noFill/>
          <a:ln/>
        </p:spPr>
        <p:txBody>
          <a:bodyPr wrap="square" lIns="0" tIns="0" rIns="0" bIns="0" rtlCol="0" anchor="ctr"/>
          <a:lstStyle/>
          <a:p>
            <a:pPr indent="0" marL="0">
              <a:buNone/>
            </a:pPr>
            <a:r>
              <a:rPr lang="en-US" sz="1500" b="1" dirty="0">
                <a:solidFill>
                  <a:srgbClr val="856404"/>
                </a:solidFill>
                <a:latin typeface="BIZ UDPGothic" pitchFamily="34" charset="0"/>
                <a:ea typeface="BIZ UDPGothic" pitchFamily="34" charset="-122"/>
                <a:cs typeface="BIZ UDPGothic" pitchFamily="34" charset="-120"/>
              </a:rPr>
              <a:t>🟡 要注意</a:t>
            </a:r>
            <a:endParaRPr lang="en-US" sz="1500" dirty="0"/>
          </a:p>
        </p:txBody>
      </p:sp>
      <p:sp>
        <p:nvSpPr>
          <p:cNvPr id="17" name="Text 15"/>
          <p:cNvSpPr/>
          <p:nvPr/>
        </p:nvSpPr>
        <p:spPr>
          <a:xfrm>
            <a:off x="1828800" y="2514600"/>
            <a:ext cx="2743200" cy="502920"/>
          </a:xfrm>
          <a:prstGeom prst="rect">
            <a:avLst/>
          </a:prstGeom>
          <a:noFill/>
          <a:ln/>
        </p:spPr>
        <p:txBody>
          <a:bodyPr wrap="square" lIns="0" tIns="0" rIns="0" bIns="0" rtlCol="0" anchor="ctr"/>
          <a:lstStyle/>
          <a:p>
            <a:pPr indent="0" marL="0">
              <a:buNone/>
            </a:pPr>
            <a:r>
              <a:rPr lang="en-US" sz="1700" b="1" dirty="0">
                <a:solidFill>
                  <a:srgbClr val="2D3436"/>
                </a:solidFill>
                <a:latin typeface="BIZ UDPGothic" pitchFamily="34" charset="0"/>
                <a:ea typeface="BIZ UDPGothic" pitchFamily="34" charset="-122"/>
                <a:cs typeface="BIZ UDPGothic" pitchFamily="34" charset="-120"/>
              </a:rPr>
              <a:t>頚椎椎間板ヘルニア</a:t>
            </a:r>
            <a:endParaRPr lang="en-US" sz="1700" dirty="0"/>
          </a:p>
        </p:txBody>
      </p:sp>
      <p:sp>
        <p:nvSpPr>
          <p:cNvPr id="18" name="Text 16"/>
          <p:cNvSpPr/>
          <p:nvPr/>
        </p:nvSpPr>
        <p:spPr>
          <a:xfrm>
            <a:off x="4663440" y="2514600"/>
            <a:ext cx="3840480" cy="502920"/>
          </a:xfrm>
          <a:prstGeom prst="rect">
            <a:avLst/>
          </a:prstGeom>
          <a:noFill/>
          <a:ln/>
        </p:spPr>
        <p:txBody>
          <a:bodyPr wrap="square" lIns="0" tIns="0" rIns="0" bIns="0" rtlCol="0" anchor="ctr"/>
          <a:lstStyle/>
          <a:p>
            <a:pPr indent="0" marL="0">
              <a:lnSpc>
                <a:spcPct val="110000"/>
              </a:lnSpc>
              <a:buNone/>
            </a:pPr>
            <a:r>
              <a:rPr lang="en-US" sz="1400" dirty="0">
                <a:solidFill>
                  <a:srgbClr val="636E72"/>
                </a:solidFill>
                <a:latin typeface="BIZ UDPGothic" pitchFamily="34" charset="0"/>
                <a:ea typeface="BIZ UDPGothic" pitchFamily="34" charset="-122"/>
                <a:cs typeface="BIZ UDPGothic" pitchFamily="34" charset="-120"/>
              </a:rPr>
              <a:t>椎間板の突出で神経を圧迫。腕のしびれが特徴</a:t>
            </a:r>
            <a:endParaRPr lang="en-US" sz="1400" dirty="0"/>
          </a:p>
        </p:txBody>
      </p:sp>
      <p:sp>
        <p:nvSpPr>
          <p:cNvPr id="19" name="Shape 17"/>
          <p:cNvSpPr/>
          <p:nvPr/>
        </p:nvSpPr>
        <p:spPr>
          <a:xfrm>
            <a:off x="457200" y="3200400"/>
            <a:ext cx="8229600" cy="612648"/>
          </a:xfrm>
          <a:prstGeom prst="rect">
            <a:avLst>
              <a:gd name="adj" fmla="val 14925"/>
            </a:avLst>
          </a:prstGeom>
          <a:solidFill>
            <a:srgbClr val="F8D7DA"/>
          </a:solidFill>
          <a:ln/>
          <a:effectLst>
            <a:outerShdw sx="100000" sy="100000" kx="0" ky="0" algn="bl" rotWithShape="0" blurRad="50800" dist="25400" dir="8100000">
              <a:srgbClr val="000000">
                <a:alpha val="12000"/>
              </a:srgbClr>
            </a:outerShdw>
          </a:effectLst>
        </p:spPr>
      </p:sp>
      <p:sp>
        <p:nvSpPr>
          <p:cNvPr id="20" name="Shape 18"/>
          <p:cNvSpPr/>
          <p:nvPr/>
        </p:nvSpPr>
        <p:spPr>
          <a:xfrm>
            <a:off x="457200" y="3200400"/>
            <a:ext cx="109728" cy="612648"/>
          </a:xfrm>
          <a:prstGeom prst="rect">
            <a:avLst>
              <a:gd name="adj" fmla="val 41667"/>
            </a:avLst>
          </a:prstGeom>
          <a:solidFill>
            <a:srgbClr val="DC3545"/>
          </a:solidFill>
          <a:ln/>
        </p:spPr>
      </p:sp>
      <p:sp>
        <p:nvSpPr>
          <p:cNvPr id="21" name="Text 19"/>
          <p:cNvSpPr/>
          <p:nvPr/>
        </p:nvSpPr>
        <p:spPr>
          <a:xfrm>
            <a:off x="640080" y="3246120"/>
            <a:ext cx="1188720" cy="502920"/>
          </a:xfrm>
          <a:prstGeom prst="rect">
            <a:avLst/>
          </a:prstGeom>
          <a:noFill/>
          <a:ln/>
        </p:spPr>
        <p:txBody>
          <a:bodyPr wrap="square" lIns="0" tIns="0" rIns="0" bIns="0" rtlCol="0" anchor="ctr"/>
          <a:lstStyle/>
          <a:p>
            <a:pPr indent="0" marL="0">
              <a:buNone/>
            </a:pPr>
            <a:r>
              <a:rPr lang="en-US" sz="1500" b="1" dirty="0">
                <a:solidFill>
                  <a:srgbClr val="DC3545"/>
                </a:solidFill>
                <a:latin typeface="BIZ UDPGothic" pitchFamily="34" charset="0"/>
                <a:ea typeface="BIZ UDPGothic" pitchFamily="34" charset="-122"/>
                <a:cs typeface="BIZ UDPGothic" pitchFamily="34" charset="-120"/>
              </a:rPr>
              <a:t>🔴 緊急</a:t>
            </a:r>
            <a:endParaRPr lang="en-US" sz="1500" dirty="0"/>
          </a:p>
        </p:txBody>
      </p:sp>
      <p:sp>
        <p:nvSpPr>
          <p:cNvPr id="22" name="Text 20"/>
          <p:cNvSpPr/>
          <p:nvPr/>
        </p:nvSpPr>
        <p:spPr>
          <a:xfrm>
            <a:off x="1828800" y="3246120"/>
            <a:ext cx="2743200" cy="502920"/>
          </a:xfrm>
          <a:prstGeom prst="rect">
            <a:avLst/>
          </a:prstGeom>
          <a:noFill/>
          <a:ln/>
        </p:spPr>
        <p:txBody>
          <a:bodyPr wrap="square" lIns="0" tIns="0" rIns="0" bIns="0" rtlCol="0" anchor="ctr"/>
          <a:lstStyle/>
          <a:p>
            <a:pPr indent="0" marL="0">
              <a:buNone/>
            </a:pPr>
            <a:r>
              <a:rPr lang="en-US" sz="1700" b="1" dirty="0">
                <a:solidFill>
                  <a:srgbClr val="2D3436"/>
                </a:solidFill>
                <a:latin typeface="BIZ UDPGothic" pitchFamily="34" charset="0"/>
                <a:ea typeface="BIZ UDPGothic" pitchFamily="34" charset="-122"/>
                <a:cs typeface="BIZ UDPGothic" pitchFamily="34" charset="-120"/>
              </a:rPr>
              <a:t>頚椎症性脊髄症</a:t>
            </a:r>
            <a:endParaRPr lang="en-US" sz="1700" dirty="0"/>
          </a:p>
        </p:txBody>
      </p:sp>
      <p:sp>
        <p:nvSpPr>
          <p:cNvPr id="23" name="Text 21"/>
          <p:cNvSpPr/>
          <p:nvPr/>
        </p:nvSpPr>
        <p:spPr>
          <a:xfrm>
            <a:off x="4663440" y="3246120"/>
            <a:ext cx="3840480" cy="502920"/>
          </a:xfrm>
          <a:prstGeom prst="rect">
            <a:avLst/>
          </a:prstGeom>
          <a:noFill/>
          <a:ln/>
        </p:spPr>
        <p:txBody>
          <a:bodyPr wrap="square" lIns="0" tIns="0" rIns="0" bIns="0" rtlCol="0" anchor="ctr"/>
          <a:lstStyle/>
          <a:p>
            <a:pPr indent="0" marL="0">
              <a:lnSpc>
                <a:spcPct val="110000"/>
              </a:lnSpc>
              <a:buNone/>
            </a:pPr>
            <a:r>
              <a:rPr lang="en-US" sz="1400" dirty="0">
                <a:solidFill>
                  <a:srgbClr val="636E72"/>
                </a:solidFill>
                <a:latin typeface="BIZ UDPGothic" pitchFamily="34" charset="0"/>
                <a:ea typeface="BIZ UDPGothic" pitchFamily="34" charset="-122"/>
                <a:cs typeface="BIZ UDPGothic" pitchFamily="34" charset="-120"/>
              </a:rPr>
              <a:t>脊髄の圧迫。手の巧緻運動障害＋歩行障害</a:t>
            </a:r>
            <a:endParaRPr lang="en-US" sz="1400" dirty="0"/>
          </a:p>
        </p:txBody>
      </p:sp>
      <p:sp>
        <p:nvSpPr>
          <p:cNvPr id="24" name="Shape 22"/>
          <p:cNvSpPr/>
          <p:nvPr/>
        </p:nvSpPr>
        <p:spPr>
          <a:xfrm>
            <a:off x="457200" y="3931920"/>
            <a:ext cx="8229600" cy="612648"/>
          </a:xfrm>
          <a:prstGeom prst="rect">
            <a:avLst>
              <a:gd name="adj" fmla="val 14925"/>
            </a:avLst>
          </a:prstGeom>
          <a:solidFill>
            <a:srgbClr val="F8D7DA"/>
          </a:solidFill>
          <a:ln/>
          <a:effectLst>
            <a:outerShdw sx="100000" sy="100000" kx="0" ky="0" algn="bl" rotWithShape="0" blurRad="50800" dist="25400" dir="8100000">
              <a:srgbClr val="000000">
                <a:alpha val="12000"/>
              </a:srgbClr>
            </a:outerShdw>
          </a:effectLst>
        </p:spPr>
      </p:sp>
      <p:sp>
        <p:nvSpPr>
          <p:cNvPr id="25" name="Shape 23"/>
          <p:cNvSpPr/>
          <p:nvPr/>
        </p:nvSpPr>
        <p:spPr>
          <a:xfrm>
            <a:off x="457200" y="3931920"/>
            <a:ext cx="109728" cy="612648"/>
          </a:xfrm>
          <a:prstGeom prst="rect">
            <a:avLst>
              <a:gd name="adj" fmla="val 41667"/>
            </a:avLst>
          </a:prstGeom>
          <a:solidFill>
            <a:srgbClr val="DC3545"/>
          </a:solidFill>
          <a:ln/>
        </p:spPr>
      </p:sp>
      <p:sp>
        <p:nvSpPr>
          <p:cNvPr id="26" name="Text 24"/>
          <p:cNvSpPr/>
          <p:nvPr/>
        </p:nvSpPr>
        <p:spPr>
          <a:xfrm>
            <a:off x="640080" y="3977640"/>
            <a:ext cx="1188720" cy="502920"/>
          </a:xfrm>
          <a:prstGeom prst="rect">
            <a:avLst/>
          </a:prstGeom>
          <a:noFill/>
          <a:ln/>
        </p:spPr>
        <p:txBody>
          <a:bodyPr wrap="square" lIns="0" tIns="0" rIns="0" bIns="0" rtlCol="0" anchor="ctr"/>
          <a:lstStyle/>
          <a:p>
            <a:pPr indent="0" marL="0">
              <a:buNone/>
            </a:pPr>
            <a:r>
              <a:rPr lang="en-US" sz="1500" b="1" dirty="0">
                <a:solidFill>
                  <a:srgbClr val="DC3545"/>
                </a:solidFill>
                <a:latin typeface="BIZ UDPGothic" pitchFamily="34" charset="0"/>
                <a:ea typeface="BIZ UDPGothic" pitchFamily="34" charset="-122"/>
                <a:cs typeface="BIZ UDPGothic" pitchFamily="34" charset="-120"/>
              </a:rPr>
              <a:t>🔴 緊急</a:t>
            </a:r>
            <a:endParaRPr lang="en-US" sz="1500" dirty="0"/>
          </a:p>
        </p:txBody>
      </p:sp>
      <p:sp>
        <p:nvSpPr>
          <p:cNvPr id="27" name="Text 25"/>
          <p:cNvSpPr/>
          <p:nvPr/>
        </p:nvSpPr>
        <p:spPr>
          <a:xfrm>
            <a:off x="1828800" y="3977640"/>
            <a:ext cx="2743200" cy="502920"/>
          </a:xfrm>
          <a:prstGeom prst="rect">
            <a:avLst/>
          </a:prstGeom>
          <a:noFill/>
          <a:ln/>
        </p:spPr>
        <p:txBody>
          <a:bodyPr wrap="square" lIns="0" tIns="0" rIns="0" bIns="0" rtlCol="0" anchor="ctr"/>
          <a:lstStyle/>
          <a:p>
            <a:pPr indent="0" marL="0">
              <a:buNone/>
            </a:pPr>
            <a:r>
              <a:rPr lang="en-US" sz="1700" b="1" dirty="0">
                <a:solidFill>
                  <a:srgbClr val="2D3436"/>
                </a:solidFill>
                <a:latin typeface="BIZ UDPGothic" pitchFamily="34" charset="0"/>
                <a:ea typeface="BIZ UDPGothic" pitchFamily="34" charset="-122"/>
                <a:cs typeface="BIZ UDPGothic" pitchFamily="34" charset="-120"/>
              </a:rPr>
              <a:t>髄膜炎・椎骨動脈解離</a:t>
            </a:r>
            <a:endParaRPr lang="en-US" sz="1700" dirty="0"/>
          </a:p>
        </p:txBody>
      </p:sp>
      <p:sp>
        <p:nvSpPr>
          <p:cNvPr id="28" name="Text 26"/>
          <p:cNvSpPr/>
          <p:nvPr/>
        </p:nvSpPr>
        <p:spPr>
          <a:xfrm>
            <a:off x="4663440" y="3977640"/>
            <a:ext cx="3840480" cy="502920"/>
          </a:xfrm>
          <a:prstGeom prst="rect">
            <a:avLst/>
          </a:prstGeom>
          <a:noFill/>
          <a:ln/>
        </p:spPr>
        <p:txBody>
          <a:bodyPr wrap="square" lIns="0" tIns="0" rIns="0" bIns="0" rtlCol="0" anchor="ctr"/>
          <a:lstStyle/>
          <a:p>
            <a:pPr indent="0" marL="0">
              <a:lnSpc>
                <a:spcPct val="110000"/>
              </a:lnSpc>
              <a:buNone/>
            </a:pPr>
            <a:r>
              <a:rPr lang="en-US" sz="1400" dirty="0">
                <a:solidFill>
                  <a:srgbClr val="636E72"/>
                </a:solidFill>
                <a:latin typeface="BIZ UDPGothic" pitchFamily="34" charset="0"/>
                <a:ea typeface="BIZ UDPGothic" pitchFamily="34" charset="-122"/>
                <a:cs typeface="BIZ UDPGothic" pitchFamily="34" charset="-120"/>
              </a:rPr>
              <a:t>発熱＋首の硬直、突然の後頭部痛。命に関わる</a:t>
            </a:r>
            <a:endParaRPr lang="en-US" sz="1400" dirty="0"/>
          </a:p>
        </p:txBody>
      </p:sp>
      <p:sp>
        <p:nvSpPr>
          <p:cNvPr id="29" name="Shape 27"/>
          <p:cNvSpPr/>
          <p:nvPr/>
        </p:nvSpPr>
        <p:spPr>
          <a:xfrm>
            <a:off x="0" y="4800600"/>
            <a:ext cx="9144000" cy="347472"/>
          </a:xfrm>
          <a:prstGeom prst="rect">
            <a:avLst/>
          </a:prstGeom>
          <a:solidFill>
            <a:srgbClr val="1B3A5C"/>
          </a:solidFill>
          <a:ln/>
        </p:spPr>
      </p:sp>
      <p:sp>
        <p:nvSpPr>
          <p:cNvPr id="30" name="Text 28"/>
          <p:cNvSpPr/>
          <p:nvPr/>
        </p:nvSpPr>
        <p:spPr>
          <a:xfrm>
            <a:off x="365760" y="4818888"/>
            <a:ext cx="4572000" cy="274320"/>
          </a:xfrm>
          <a:prstGeom prst="rect">
            <a:avLst/>
          </a:prstGeom>
          <a:noFill/>
          <a:ln/>
        </p:spPr>
        <p:txBody>
          <a:bodyPr wrap="square" lIns="0" tIns="0" rIns="0" bIns="0" rtlCol="0" anchor="ctr"/>
          <a:lstStyle/>
          <a:p>
            <a:pPr indent="0" marL="0">
              <a:buNone/>
            </a:pPr>
            <a:r>
              <a:rPr lang="en-US" sz="1000" dirty="0">
                <a:solidFill>
                  <a:srgbClr val="FFFFFF"/>
                </a:solidFill>
                <a:latin typeface="BIZ UDPGothic" pitchFamily="34" charset="0"/>
                <a:ea typeface="BIZ UDPGothic" pitchFamily="34" charset="-122"/>
                <a:cs typeface="BIZ UDPGothic" pitchFamily="34" charset="-120"/>
              </a:rPr>
              <a:t>医知創造ラボ ｜ その症状、大丈夫？ #09</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BIZ UDPGothic" pitchFamily="34" charset="0"/>
                <a:ea typeface="BIZ UDPGothic" pitchFamily="34" charset="-122"/>
                <a:cs typeface="BIZ UDPGothic" pitchFamily="34" charset="-120"/>
              </a:rPr>
              <a:t>見逃されやすい原因 ― 脳神経の病気</a:t>
            </a:r>
            <a:endParaRPr lang="en-US" sz="2600" dirty="0"/>
          </a:p>
        </p:txBody>
      </p:sp>
      <p:sp>
        <p:nvSpPr>
          <p:cNvPr id="4" name="Shape 2"/>
          <p:cNvSpPr/>
          <p:nvPr/>
        </p:nvSpPr>
        <p:spPr>
          <a:xfrm>
            <a:off x="457200" y="1005840"/>
            <a:ext cx="8229600" cy="777240"/>
          </a:xfrm>
          <a:prstGeom prst="rect">
            <a:avLst>
              <a:gd name="adj" fmla="val 11765"/>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457200" y="1005840"/>
            <a:ext cx="109728" cy="777240"/>
          </a:xfrm>
          <a:prstGeom prst="rect">
            <a:avLst>
              <a:gd name="adj" fmla="val 41667"/>
            </a:avLst>
          </a:prstGeom>
          <a:solidFill>
            <a:srgbClr val="2C5AA0"/>
          </a:solidFill>
          <a:ln/>
        </p:spPr>
      </p:sp>
      <p:sp>
        <p:nvSpPr>
          <p:cNvPr id="6" name="Text 4"/>
          <p:cNvSpPr/>
          <p:nvPr/>
        </p:nvSpPr>
        <p:spPr>
          <a:xfrm>
            <a:off x="640080" y="1097280"/>
            <a:ext cx="548640" cy="59436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7" name="Text 5"/>
          <p:cNvSpPr/>
          <p:nvPr/>
        </p:nvSpPr>
        <p:spPr>
          <a:xfrm>
            <a:off x="1280160" y="1051560"/>
            <a:ext cx="2560320" cy="365760"/>
          </a:xfrm>
          <a:prstGeom prst="rect">
            <a:avLst/>
          </a:prstGeom>
          <a:noFill/>
          <a:ln/>
        </p:spPr>
        <p:txBody>
          <a:bodyPr wrap="square" lIns="0" tIns="0" rIns="0" bIns="0" rtlCol="0" anchor="ctr"/>
          <a:lstStyle/>
          <a:p>
            <a:pPr indent="0" marL="0">
              <a:buNone/>
            </a:pPr>
            <a:r>
              <a:rPr lang="en-US" sz="1900" b="1" dirty="0">
                <a:solidFill>
                  <a:srgbClr val="2C5AA0"/>
                </a:solidFill>
                <a:latin typeface="BIZ UDPGothic" pitchFamily="34" charset="0"/>
                <a:ea typeface="BIZ UDPGothic" pitchFamily="34" charset="-122"/>
                <a:cs typeface="BIZ UDPGothic" pitchFamily="34" charset="-120"/>
              </a:rPr>
              <a:t>頚椎症性脊髄症</a:t>
            </a:r>
            <a:endParaRPr lang="en-US" sz="1900" dirty="0"/>
          </a:p>
        </p:txBody>
      </p:sp>
      <p:sp>
        <p:nvSpPr>
          <p:cNvPr id="8" name="Text 6"/>
          <p:cNvSpPr/>
          <p:nvPr/>
        </p:nvSpPr>
        <p:spPr>
          <a:xfrm>
            <a:off x="1280160" y="1371600"/>
            <a:ext cx="7132320" cy="365760"/>
          </a:xfrm>
          <a:prstGeom prst="rect">
            <a:avLst/>
          </a:prstGeom>
          <a:noFill/>
          <a:ln/>
        </p:spPr>
        <p:txBody>
          <a:bodyPr wrap="square" lIns="0" tIns="0" rIns="0" bIns="0" rtlCol="0" anchor="ctr"/>
          <a:lstStyle/>
          <a:p>
            <a:pPr indent="0" marL="0">
              <a:lnSpc>
                <a:spcPct val="115000"/>
              </a:lnSpc>
              <a:buNone/>
            </a:pPr>
            <a:r>
              <a:rPr lang="en-US" sz="1400" dirty="0">
                <a:solidFill>
                  <a:srgbClr val="2D3436"/>
                </a:solidFill>
                <a:latin typeface="BIZ UDPGothic" pitchFamily="34" charset="0"/>
                <a:ea typeface="BIZ UDPGothic" pitchFamily="34" charset="-122"/>
                <a:cs typeface="BIZ UDPGothic" pitchFamily="34" charset="-120"/>
              </a:rPr>
              <a:t>脊髄の圧迫で手の巧緻運動障害＋歩行障害。</a:t>
            </a:r>
            <a:endParaRPr lang="en-US" sz="1400" dirty="0"/>
          </a:p>
          <a:p>
            <a:pPr indent="0" marL="0">
              <a:lnSpc>
                <a:spcPct val="115000"/>
              </a:lnSpc>
              <a:buNone/>
            </a:pPr>
            <a:r>
              <a:rPr lang="en-US" sz="1400" dirty="0">
                <a:solidFill>
                  <a:srgbClr val="2D3436"/>
                </a:solidFill>
                <a:latin typeface="BIZ UDPGothic" pitchFamily="34" charset="0"/>
                <a:ea typeface="BIZ UDPGothic" pitchFamily="34" charset="-122"/>
                <a:cs typeface="BIZ UDPGothic" pitchFamily="34" charset="-120"/>
              </a:rPr>
              <a:t>首の痛みが軽い・ないこともあり見逃されやすい</a:t>
            </a:r>
            <a:endParaRPr lang="en-US" sz="1400" dirty="0"/>
          </a:p>
        </p:txBody>
      </p:sp>
      <p:sp>
        <p:nvSpPr>
          <p:cNvPr id="9" name="Shape 7"/>
          <p:cNvSpPr/>
          <p:nvPr/>
        </p:nvSpPr>
        <p:spPr>
          <a:xfrm>
            <a:off x="457200" y="1920240"/>
            <a:ext cx="8229600" cy="777240"/>
          </a:xfrm>
          <a:prstGeom prst="rect">
            <a:avLst>
              <a:gd name="adj" fmla="val 11765"/>
            </a:avLst>
          </a:prstGeom>
          <a:solidFill>
            <a:srgbClr val="FFFFFF"/>
          </a:solidFill>
          <a:ln/>
          <a:effectLst>
            <a:outerShdw sx="100000" sy="100000" kx="0" ky="0" algn="bl" rotWithShape="0" blurRad="50800" dist="25400" dir="8100000">
              <a:srgbClr val="000000">
                <a:alpha val="12000"/>
              </a:srgbClr>
            </a:outerShdw>
          </a:effectLst>
        </p:spPr>
      </p:sp>
      <p:sp>
        <p:nvSpPr>
          <p:cNvPr id="10" name="Shape 8"/>
          <p:cNvSpPr/>
          <p:nvPr/>
        </p:nvSpPr>
        <p:spPr>
          <a:xfrm>
            <a:off x="457200" y="1920240"/>
            <a:ext cx="109728" cy="777240"/>
          </a:xfrm>
          <a:prstGeom prst="rect">
            <a:avLst>
              <a:gd name="adj" fmla="val 41667"/>
            </a:avLst>
          </a:prstGeom>
          <a:solidFill>
            <a:srgbClr val="DC3545"/>
          </a:solidFill>
          <a:ln/>
        </p:spPr>
      </p:sp>
      <p:sp>
        <p:nvSpPr>
          <p:cNvPr id="11" name="Text 9"/>
          <p:cNvSpPr/>
          <p:nvPr/>
        </p:nvSpPr>
        <p:spPr>
          <a:xfrm>
            <a:off x="640080" y="2011680"/>
            <a:ext cx="548640" cy="59436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2" name="Text 10"/>
          <p:cNvSpPr/>
          <p:nvPr/>
        </p:nvSpPr>
        <p:spPr>
          <a:xfrm>
            <a:off x="1280160" y="1965960"/>
            <a:ext cx="2560320" cy="365760"/>
          </a:xfrm>
          <a:prstGeom prst="rect">
            <a:avLst/>
          </a:prstGeom>
          <a:noFill/>
          <a:ln/>
        </p:spPr>
        <p:txBody>
          <a:bodyPr wrap="square" lIns="0" tIns="0" rIns="0" bIns="0" rtlCol="0" anchor="ctr"/>
          <a:lstStyle/>
          <a:p>
            <a:pPr indent="0" marL="0">
              <a:buNone/>
            </a:pPr>
            <a:r>
              <a:rPr lang="en-US" sz="1900" b="1" dirty="0">
                <a:solidFill>
                  <a:srgbClr val="DC3545"/>
                </a:solidFill>
                <a:latin typeface="BIZ UDPGothic" pitchFamily="34" charset="0"/>
                <a:ea typeface="BIZ UDPGothic" pitchFamily="34" charset="-122"/>
                <a:cs typeface="BIZ UDPGothic" pitchFamily="34" charset="-120"/>
              </a:rPr>
              <a:t>髄膜炎</a:t>
            </a:r>
            <a:endParaRPr lang="en-US" sz="1900" dirty="0"/>
          </a:p>
        </p:txBody>
      </p:sp>
      <p:sp>
        <p:nvSpPr>
          <p:cNvPr id="13" name="Text 11"/>
          <p:cNvSpPr/>
          <p:nvPr/>
        </p:nvSpPr>
        <p:spPr>
          <a:xfrm>
            <a:off x="1280160" y="2286000"/>
            <a:ext cx="7132320" cy="365760"/>
          </a:xfrm>
          <a:prstGeom prst="rect">
            <a:avLst/>
          </a:prstGeom>
          <a:noFill/>
          <a:ln/>
        </p:spPr>
        <p:txBody>
          <a:bodyPr wrap="square" lIns="0" tIns="0" rIns="0" bIns="0" rtlCol="0" anchor="ctr"/>
          <a:lstStyle/>
          <a:p>
            <a:pPr indent="0" marL="0">
              <a:lnSpc>
                <a:spcPct val="115000"/>
              </a:lnSpc>
              <a:buNone/>
            </a:pPr>
            <a:r>
              <a:rPr lang="en-US" sz="1400" dirty="0">
                <a:solidFill>
                  <a:srgbClr val="2D3436"/>
                </a:solidFill>
                <a:latin typeface="BIZ UDPGothic" pitchFamily="34" charset="0"/>
                <a:ea typeface="BIZ UDPGothic" pitchFamily="34" charset="-122"/>
                <a:cs typeface="BIZ UDPGothic" pitchFamily="34" charset="-120"/>
              </a:rPr>
              <a:t>脳と脊髄を包む膜の感染症。</a:t>
            </a:r>
            <a:endParaRPr lang="en-US" sz="1400" dirty="0"/>
          </a:p>
          <a:p>
            <a:pPr indent="0" marL="0">
              <a:lnSpc>
                <a:spcPct val="115000"/>
              </a:lnSpc>
              <a:buNone/>
            </a:pPr>
            <a:r>
              <a:rPr lang="en-US" sz="1400" dirty="0">
                <a:solidFill>
                  <a:srgbClr val="2D3436"/>
                </a:solidFill>
                <a:latin typeface="BIZ UDPGothic" pitchFamily="34" charset="0"/>
                <a:ea typeface="BIZ UDPGothic" pitchFamily="34" charset="-122"/>
                <a:cs typeface="BIZ UDPGothic" pitchFamily="34" charset="-120"/>
              </a:rPr>
              <a:t>発熱＋首の硬直（前に曲げると痛い）が特徴</a:t>
            </a:r>
            <a:endParaRPr lang="en-US" sz="1400" dirty="0"/>
          </a:p>
        </p:txBody>
      </p:sp>
      <p:sp>
        <p:nvSpPr>
          <p:cNvPr id="14" name="Shape 12"/>
          <p:cNvSpPr/>
          <p:nvPr/>
        </p:nvSpPr>
        <p:spPr>
          <a:xfrm>
            <a:off x="457200" y="2834640"/>
            <a:ext cx="8229600" cy="777240"/>
          </a:xfrm>
          <a:prstGeom prst="rect">
            <a:avLst>
              <a:gd name="adj" fmla="val 11765"/>
            </a:avLst>
          </a:prstGeom>
          <a:solidFill>
            <a:srgbClr val="FFFFFF"/>
          </a:solidFill>
          <a:ln/>
          <a:effectLst>
            <a:outerShdw sx="100000" sy="100000" kx="0" ky="0" algn="bl" rotWithShape="0" blurRad="50800" dist="25400" dir="8100000">
              <a:srgbClr val="000000">
                <a:alpha val="12000"/>
              </a:srgbClr>
            </a:outerShdw>
          </a:effectLst>
        </p:spPr>
      </p:sp>
      <p:sp>
        <p:nvSpPr>
          <p:cNvPr id="15" name="Shape 13"/>
          <p:cNvSpPr/>
          <p:nvPr/>
        </p:nvSpPr>
        <p:spPr>
          <a:xfrm>
            <a:off x="457200" y="2834640"/>
            <a:ext cx="109728" cy="777240"/>
          </a:xfrm>
          <a:prstGeom prst="rect">
            <a:avLst>
              <a:gd name="adj" fmla="val 41667"/>
            </a:avLst>
          </a:prstGeom>
          <a:solidFill>
            <a:srgbClr val="E8850C"/>
          </a:solidFill>
          <a:ln/>
        </p:spPr>
      </p:sp>
      <p:sp>
        <p:nvSpPr>
          <p:cNvPr id="16" name="Text 14"/>
          <p:cNvSpPr/>
          <p:nvPr/>
        </p:nvSpPr>
        <p:spPr>
          <a:xfrm>
            <a:off x="640080" y="2926080"/>
            <a:ext cx="548640" cy="59436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7" name="Text 15"/>
          <p:cNvSpPr/>
          <p:nvPr/>
        </p:nvSpPr>
        <p:spPr>
          <a:xfrm>
            <a:off x="1280160" y="2880360"/>
            <a:ext cx="2560320" cy="365760"/>
          </a:xfrm>
          <a:prstGeom prst="rect">
            <a:avLst/>
          </a:prstGeom>
          <a:noFill/>
          <a:ln/>
        </p:spPr>
        <p:txBody>
          <a:bodyPr wrap="square" lIns="0" tIns="0" rIns="0" bIns="0" rtlCol="0" anchor="ctr"/>
          <a:lstStyle/>
          <a:p>
            <a:pPr indent="0" marL="0">
              <a:buNone/>
            </a:pPr>
            <a:r>
              <a:rPr lang="en-US" sz="1900" b="1" dirty="0">
                <a:solidFill>
                  <a:srgbClr val="E8850C"/>
                </a:solidFill>
                <a:latin typeface="BIZ UDPGothic" pitchFamily="34" charset="0"/>
                <a:ea typeface="BIZ UDPGothic" pitchFamily="34" charset="-122"/>
                <a:cs typeface="BIZ UDPGothic" pitchFamily="34" charset="-120"/>
              </a:rPr>
              <a:t>椎骨動脈解離</a:t>
            </a:r>
            <a:endParaRPr lang="en-US" sz="1900" dirty="0"/>
          </a:p>
        </p:txBody>
      </p:sp>
      <p:sp>
        <p:nvSpPr>
          <p:cNvPr id="18" name="Text 16"/>
          <p:cNvSpPr/>
          <p:nvPr/>
        </p:nvSpPr>
        <p:spPr>
          <a:xfrm>
            <a:off x="1280160" y="3200400"/>
            <a:ext cx="7132320" cy="365760"/>
          </a:xfrm>
          <a:prstGeom prst="rect">
            <a:avLst/>
          </a:prstGeom>
          <a:noFill/>
          <a:ln/>
        </p:spPr>
        <p:txBody>
          <a:bodyPr wrap="square" lIns="0" tIns="0" rIns="0" bIns="0" rtlCol="0" anchor="ctr"/>
          <a:lstStyle/>
          <a:p>
            <a:pPr indent="0" marL="0">
              <a:lnSpc>
                <a:spcPct val="115000"/>
              </a:lnSpc>
              <a:buNone/>
            </a:pPr>
            <a:r>
              <a:rPr lang="en-US" sz="1400" dirty="0">
                <a:solidFill>
                  <a:srgbClr val="2D3436"/>
                </a:solidFill>
                <a:latin typeface="BIZ UDPGothic" pitchFamily="34" charset="0"/>
                <a:ea typeface="BIZ UDPGothic" pitchFamily="34" charset="-122"/>
                <a:cs typeface="BIZ UDPGothic" pitchFamily="34" charset="-120"/>
              </a:rPr>
              <a:t>首の後ろの動脈壁が裂ける。突然の後頭部痛。</a:t>
            </a:r>
            <a:endParaRPr lang="en-US" sz="1400" dirty="0"/>
          </a:p>
          <a:p>
            <a:pPr indent="0" marL="0">
              <a:lnSpc>
                <a:spcPct val="115000"/>
              </a:lnSpc>
              <a:buNone/>
            </a:pPr>
            <a:r>
              <a:rPr lang="en-US" sz="1400" dirty="0">
                <a:solidFill>
                  <a:srgbClr val="2D3436"/>
                </a:solidFill>
                <a:latin typeface="BIZ UDPGothic" pitchFamily="34" charset="0"/>
                <a:ea typeface="BIZ UDPGothic" pitchFamily="34" charset="-122"/>
                <a:cs typeface="BIZ UDPGothic" pitchFamily="34" charset="-120"/>
              </a:rPr>
              <a:t>脳卒中の原因になる重大な病気</a:t>
            </a:r>
            <a:endParaRPr lang="en-US" sz="1400" dirty="0"/>
          </a:p>
        </p:txBody>
      </p:sp>
      <p:sp>
        <p:nvSpPr>
          <p:cNvPr id="19" name="Shape 17"/>
          <p:cNvSpPr/>
          <p:nvPr/>
        </p:nvSpPr>
        <p:spPr>
          <a:xfrm>
            <a:off x="457200" y="3749040"/>
            <a:ext cx="8229600" cy="777240"/>
          </a:xfrm>
          <a:prstGeom prst="rect">
            <a:avLst>
              <a:gd name="adj" fmla="val 11765"/>
            </a:avLst>
          </a:prstGeom>
          <a:solidFill>
            <a:srgbClr val="FFFFFF"/>
          </a:solidFill>
          <a:ln/>
          <a:effectLst>
            <a:outerShdw sx="100000" sy="100000" kx="0" ky="0" algn="bl" rotWithShape="0" blurRad="50800" dist="25400" dir="8100000">
              <a:srgbClr val="000000">
                <a:alpha val="12000"/>
              </a:srgbClr>
            </a:outerShdw>
          </a:effectLst>
        </p:spPr>
      </p:sp>
      <p:sp>
        <p:nvSpPr>
          <p:cNvPr id="20" name="Shape 18"/>
          <p:cNvSpPr/>
          <p:nvPr/>
        </p:nvSpPr>
        <p:spPr>
          <a:xfrm>
            <a:off x="457200" y="3749040"/>
            <a:ext cx="109728" cy="777240"/>
          </a:xfrm>
          <a:prstGeom prst="rect">
            <a:avLst>
              <a:gd name="adj" fmla="val 41667"/>
            </a:avLst>
          </a:prstGeom>
          <a:solidFill>
            <a:srgbClr val="7B2D8E"/>
          </a:solidFill>
          <a:ln/>
        </p:spPr>
      </p:sp>
      <p:sp>
        <p:nvSpPr>
          <p:cNvPr id="21" name="Text 19"/>
          <p:cNvSpPr/>
          <p:nvPr/>
        </p:nvSpPr>
        <p:spPr>
          <a:xfrm>
            <a:off x="640080" y="3840480"/>
            <a:ext cx="548640" cy="59436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22" name="Text 20"/>
          <p:cNvSpPr/>
          <p:nvPr/>
        </p:nvSpPr>
        <p:spPr>
          <a:xfrm>
            <a:off x="1280160" y="3794760"/>
            <a:ext cx="2560320" cy="365760"/>
          </a:xfrm>
          <a:prstGeom prst="rect">
            <a:avLst/>
          </a:prstGeom>
          <a:noFill/>
          <a:ln/>
        </p:spPr>
        <p:txBody>
          <a:bodyPr wrap="square" lIns="0" tIns="0" rIns="0" bIns="0" rtlCol="0" anchor="ctr"/>
          <a:lstStyle/>
          <a:p>
            <a:pPr indent="0" marL="0">
              <a:buNone/>
            </a:pPr>
            <a:r>
              <a:rPr lang="en-US" sz="1900" b="1" dirty="0">
                <a:solidFill>
                  <a:srgbClr val="7B2D8E"/>
                </a:solidFill>
                <a:latin typeface="BIZ UDPGothic" pitchFamily="34" charset="0"/>
                <a:ea typeface="BIZ UDPGothic" pitchFamily="34" charset="-122"/>
                <a:cs typeface="BIZ UDPGothic" pitchFamily="34" charset="-120"/>
              </a:rPr>
              <a:t>くも膜下出血</a:t>
            </a:r>
            <a:endParaRPr lang="en-US" sz="1900" dirty="0"/>
          </a:p>
        </p:txBody>
      </p:sp>
      <p:sp>
        <p:nvSpPr>
          <p:cNvPr id="23" name="Text 21"/>
          <p:cNvSpPr/>
          <p:nvPr/>
        </p:nvSpPr>
        <p:spPr>
          <a:xfrm>
            <a:off x="1280160" y="4114800"/>
            <a:ext cx="7132320" cy="365760"/>
          </a:xfrm>
          <a:prstGeom prst="rect">
            <a:avLst/>
          </a:prstGeom>
          <a:noFill/>
          <a:ln/>
        </p:spPr>
        <p:txBody>
          <a:bodyPr wrap="square" lIns="0" tIns="0" rIns="0" bIns="0" rtlCol="0" anchor="ctr"/>
          <a:lstStyle/>
          <a:p>
            <a:pPr indent="0" marL="0">
              <a:lnSpc>
                <a:spcPct val="115000"/>
              </a:lnSpc>
              <a:buNone/>
            </a:pPr>
            <a:r>
              <a:rPr lang="en-US" sz="1400" dirty="0">
                <a:solidFill>
                  <a:srgbClr val="2D3436"/>
                </a:solidFill>
                <a:latin typeface="BIZ UDPGothic" pitchFamily="34" charset="0"/>
                <a:ea typeface="BIZ UDPGothic" pitchFamily="34" charset="-122"/>
                <a:cs typeface="BIZ UDPGothic" pitchFamily="34" charset="-120"/>
              </a:rPr>
              <a:t>突然の激しい頭痛＋首の痛み・硬直。</a:t>
            </a:r>
            <a:endParaRPr lang="en-US" sz="1400" dirty="0"/>
          </a:p>
          <a:p>
            <a:pPr indent="0" marL="0">
              <a:lnSpc>
                <a:spcPct val="115000"/>
              </a:lnSpc>
              <a:buNone/>
            </a:pPr>
            <a:r>
              <a:rPr lang="en-US" sz="1400" dirty="0">
                <a:solidFill>
                  <a:srgbClr val="2D3436"/>
                </a:solidFill>
                <a:latin typeface="BIZ UDPGothic" pitchFamily="34" charset="0"/>
                <a:ea typeface="BIZ UDPGothic" pitchFamily="34" charset="-122"/>
                <a:cs typeface="BIZ UDPGothic" pitchFamily="34" charset="-120"/>
              </a:rPr>
              <a:t>一刻を争う緊急事態</a:t>
            </a:r>
            <a:endParaRPr lang="en-US" sz="1400" dirty="0"/>
          </a:p>
        </p:txBody>
      </p:sp>
      <p:sp>
        <p:nvSpPr>
          <p:cNvPr id="24" name="Shape 22"/>
          <p:cNvSpPr/>
          <p:nvPr/>
        </p:nvSpPr>
        <p:spPr>
          <a:xfrm>
            <a:off x="0" y="4800600"/>
            <a:ext cx="9144000" cy="347472"/>
          </a:xfrm>
          <a:prstGeom prst="rect">
            <a:avLst/>
          </a:prstGeom>
          <a:solidFill>
            <a:srgbClr val="1B3A5C"/>
          </a:solidFill>
          <a:ln/>
        </p:spPr>
      </p:sp>
      <p:sp>
        <p:nvSpPr>
          <p:cNvPr id="25" name="Text 23"/>
          <p:cNvSpPr/>
          <p:nvPr/>
        </p:nvSpPr>
        <p:spPr>
          <a:xfrm>
            <a:off x="365760" y="4818888"/>
            <a:ext cx="4572000" cy="274320"/>
          </a:xfrm>
          <a:prstGeom prst="rect">
            <a:avLst/>
          </a:prstGeom>
          <a:noFill/>
          <a:ln/>
        </p:spPr>
        <p:txBody>
          <a:bodyPr wrap="square" lIns="0" tIns="0" rIns="0" bIns="0" rtlCol="0" anchor="ctr"/>
          <a:lstStyle/>
          <a:p>
            <a:pPr indent="0" marL="0">
              <a:buNone/>
            </a:pPr>
            <a:r>
              <a:rPr lang="en-US" sz="1000" dirty="0">
                <a:solidFill>
                  <a:srgbClr val="FFFFFF"/>
                </a:solidFill>
                <a:latin typeface="BIZ UDPGothic" pitchFamily="34" charset="0"/>
                <a:ea typeface="BIZ UDPGothic" pitchFamily="34" charset="-122"/>
                <a:cs typeface="BIZ UDPGothic" pitchFamily="34" charset="-120"/>
              </a:rPr>
              <a:t>医知創造ラボ ｜ その症状、大丈夫？ #09</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BIZ UDPGothic" pitchFamily="34" charset="0"/>
                <a:ea typeface="BIZ UDPGothic" pitchFamily="34" charset="-122"/>
                <a:cs typeface="BIZ UDPGothic" pitchFamily="34" charset="-120"/>
              </a:rPr>
              <a:t>首の痛みと頚椎症性脊髄症</a:t>
            </a:r>
            <a:endParaRPr lang="en-US" sz="2600" dirty="0"/>
          </a:p>
        </p:txBody>
      </p:sp>
      <p:sp>
        <p:nvSpPr>
          <p:cNvPr id="4" name="Shape 2"/>
          <p:cNvSpPr/>
          <p:nvPr/>
        </p:nvSpPr>
        <p:spPr>
          <a:xfrm>
            <a:off x="457200" y="1005840"/>
            <a:ext cx="8229600" cy="731520"/>
          </a:xfrm>
          <a:prstGeom prst="rect">
            <a:avLst>
              <a:gd name="adj" fmla="val 12500"/>
            </a:avLst>
          </a:prstGeom>
          <a:solidFill>
            <a:srgbClr val="E8F4FD"/>
          </a:solidFill>
          <a:ln/>
          <a:effectLst>
            <a:outerShdw sx="100000" sy="100000" kx="0" ky="0" algn="bl" rotWithShape="0" blurRad="50800" dist="25400" dir="8100000">
              <a:srgbClr val="000000">
                <a:alpha val="12000"/>
              </a:srgbClr>
            </a:outerShdw>
          </a:effectLst>
        </p:spPr>
      </p:sp>
      <p:sp>
        <p:nvSpPr>
          <p:cNvPr id="5" name="Shape 3"/>
          <p:cNvSpPr/>
          <p:nvPr/>
        </p:nvSpPr>
        <p:spPr>
          <a:xfrm>
            <a:off x="457200" y="1005840"/>
            <a:ext cx="109728" cy="731520"/>
          </a:xfrm>
          <a:prstGeom prst="rect">
            <a:avLst>
              <a:gd name="adj" fmla="val 41667"/>
            </a:avLst>
          </a:prstGeom>
          <a:solidFill>
            <a:srgbClr val="2C5AA0"/>
          </a:solidFill>
          <a:ln/>
        </p:spPr>
      </p:sp>
      <p:sp>
        <p:nvSpPr>
          <p:cNvPr id="6" name="Text 4"/>
          <p:cNvSpPr/>
          <p:nvPr/>
        </p:nvSpPr>
        <p:spPr>
          <a:xfrm>
            <a:off x="731520" y="1051560"/>
            <a:ext cx="7772400" cy="320040"/>
          </a:xfrm>
          <a:prstGeom prst="rect">
            <a:avLst/>
          </a:prstGeom>
          <a:noFill/>
          <a:ln/>
        </p:spPr>
        <p:txBody>
          <a:bodyPr wrap="square" lIns="0" tIns="0" rIns="0" bIns="0" rtlCol="0" anchor="ctr"/>
          <a:lstStyle/>
          <a:p>
            <a:pPr indent="0" marL="0">
              <a:buNone/>
            </a:pPr>
            <a:r>
              <a:rPr lang="en-US" sz="1800" b="1" dirty="0">
                <a:solidFill>
                  <a:srgbClr val="2C5AA0"/>
                </a:solidFill>
                <a:latin typeface="BIZ UDPGothic" pitchFamily="34" charset="0"/>
                <a:ea typeface="BIZ UDPGothic" pitchFamily="34" charset="-122"/>
                <a:cs typeface="BIZ UDPGothic" pitchFamily="34" charset="-120"/>
              </a:rPr>
              <a:t>頚椎の変形で脊髄が圧迫される病気 ― 脳神経内科で最も多い首の疾患の一つ</a:t>
            </a:r>
            <a:endParaRPr lang="en-US" sz="1800" dirty="0"/>
          </a:p>
        </p:txBody>
      </p:sp>
      <p:sp>
        <p:nvSpPr>
          <p:cNvPr id="7" name="Text 5"/>
          <p:cNvSpPr/>
          <p:nvPr/>
        </p:nvSpPr>
        <p:spPr>
          <a:xfrm>
            <a:off x="731520" y="1417320"/>
            <a:ext cx="7772400" cy="274320"/>
          </a:xfrm>
          <a:prstGeom prst="rect">
            <a:avLst/>
          </a:prstGeom>
          <a:noFill/>
          <a:ln/>
        </p:spPr>
        <p:txBody>
          <a:bodyPr wrap="square" lIns="0" tIns="0" rIns="0" bIns="0" rtlCol="0" anchor="ctr"/>
          <a:lstStyle/>
          <a:p>
            <a:pPr indent="0" marL="0">
              <a:buNone/>
            </a:pPr>
            <a:r>
              <a:rPr lang="en-US" sz="1500" dirty="0">
                <a:solidFill>
                  <a:srgbClr val="2D3436"/>
                </a:solidFill>
                <a:latin typeface="BIZ UDPGothic" pitchFamily="34" charset="0"/>
                <a:ea typeface="BIZ UDPGothic" pitchFamily="34" charset="-122"/>
                <a:cs typeface="BIZ UDPGothic" pitchFamily="34" charset="-120"/>
              </a:rPr>
              <a:t>首の痛みが軽い・全くないこともあり、見逃されやすい</a:t>
            </a:r>
            <a:endParaRPr lang="en-US" sz="1500" dirty="0"/>
          </a:p>
        </p:txBody>
      </p:sp>
      <p:sp>
        <p:nvSpPr>
          <p:cNvPr id="8" name="Shape 6"/>
          <p:cNvSpPr/>
          <p:nvPr/>
        </p:nvSpPr>
        <p:spPr>
          <a:xfrm>
            <a:off x="365760" y="1965960"/>
            <a:ext cx="4114800" cy="1097280"/>
          </a:xfrm>
          <a:prstGeom prst="rect">
            <a:avLst>
              <a:gd name="adj" fmla="val 8333"/>
            </a:avLst>
          </a:prstGeom>
          <a:solidFill>
            <a:srgbClr val="FFFFFF"/>
          </a:solidFill>
          <a:ln/>
          <a:effectLst>
            <a:outerShdw sx="100000" sy="100000" kx="0" ky="0" algn="bl" rotWithShape="0" blurRad="50800" dist="25400" dir="8100000">
              <a:srgbClr val="000000">
                <a:alpha val="12000"/>
              </a:srgbClr>
            </a:outerShdw>
          </a:effectLst>
        </p:spPr>
      </p:sp>
      <p:sp>
        <p:nvSpPr>
          <p:cNvPr id="9" name="Shape 7"/>
          <p:cNvSpPr/>
          <p:nvPr/>
        </p:nvSpPr>
        <p:spPr>
          <a:xfrm>
            <a:off x="365760" y="1965960"/>
            <a:ext cx="109728" cy="1097280"/>
          </a:xfrm>
          <a:prstGeom prst="rect">
            <a:avLst>
              <a:gd name="adj" fmla="val 41667"/>
            </a:avLst>
          </a:prstGeom>
          <a:solidFill>
            <a:srgbClr val="2C5AA0"/>
          </a:solidFill>
          <a:ln/>
        </p:spPr>
      </p:sp>
      <p:sp>
        <p:nvSpPr>
          <p:cNvPr id="10" name="Text 8"/>
          <p:cNvSpPr/>
          <p:nvPr/>
        </p:nvSpPr>
        <p:spPr>
          <a:xfrm>
            <a:off x="548640" y="2039112"/>
            <a:ext cx="54864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1" name="Text 9"/>
          <p:cNvSpPr/>
          <p:nvPr/>
        </p:nvSpPr>
        <p:spPr>
          <a:xfrm>
            <a:off x="1097280" y="2039112"/>
            <a:ext cx="3108960" cy="365760"/>
          </a:xfrm>
          <a:prstGeom prst="rect">
            <a:avLst/>
          </a:prstGeom>
          <a:noFill/>
          <a:ln/>
        </p:spPr>
        <p:txBody>
          <a:bodyPr wrap="square" lIns="0" tIns="0" rIns="0" bIns="0" rtlCol="0" anchor="ctr"/>
          <a:lstStyle/>
          <a:p>
            <a:pPr indent="0" marL="0">
              <a:buNone/>
            </a:pPr>
            <a:r>
              <a:rPr lang="en-US" sz="1700" b="1" dirty="0">
                <a:solidFill>
                  <a:srgbClr val="2C5AA0"/>
                </a:solidFill>
                <a:latin typeface="BIZ UDPGothic" pitchFamily="34" charset="0"/>
                <a:ea typeface="BIZ UDPGothic" pitchFamily="34" charset="-122"/>
                <a:cs typeface="BIZ UDPGothic" pitchFamily="34" charset="-120"/>
              </a:rPr>
              <a:t>手の巧緻運動障害</a:t>
            </a:r>
            <a:endParaRPr lang="en-US" sz="1700" dirty="0"/>
          </a:p>
        </p:txBody>
      </p:sp>
      <p:sp>
        <p:nvSpPr>
          <p:cNvPr id="12" name="Text 10"/>
          <p:cNvSpPr/>
          <p:nvPr/>
        </p:nvSpPr>
        <p:spPr>
          <a:xfrm>
            <a:off x="1097280" y="2423160"/>
            <a:ext cx="3108960" cy="548640"/>
          </a:xfrm>
          <a:prstGeom prst="rect">
            <a:avLst/>
          </a:prstGeom>
          <a:noFill/>
          <a:ln/>
        </p:spPr>
        <p:txBody>
          <a:bodyPr wrap="square" lIns="0" tIns="0" rIns="0" bIns="0" rtlCol="0" anchor="ctr"/>
          <a:lstStyle/>
          <a:p>
            <a:pPr indent="0" marL="0">
              <a:lnSpc>
                <a:spcPct val="115000"/>
              </a:lnSpc>
              <a:buNone/>
            </a:pPr>
            <a:r>
              <a:rPr lang="en-US" sz="1400" dirty="0">
                <a:solidFill>
                  <a:srgbClr val="2D3436"/>
                </a:solidFill>
                <a:latin typeface="BIZ UDPGothic" pitchFamily="34" charset="0"/>
                <a:ea typeface="BIZ UDPGothic" pitchFamily="34" charset="-122"/>
                <a:cs typeface="BIZ UDPGothic" pitchFamily="34" charset="-120"/>
              </a:rPr>
              <a:t>ボタンが留めにくい</a:t>
            </a:r>
            <a:endParaRPr lang="en-US" sz="1400" dirty="0"/>
          </a:p>
          <a:p>
            <a:pPr indent="0" marL="0">
              <a:lnSpc>
                <a:spcPct val="115000"/>
              </a:lnSpc>
              <a:buNone/>
            </a:pPr>
            <a:r>
              <a:rPr lang="en-US" sz="1400" dirty="0">
                <a:solidFill>
                  <a:srgbClr val="2D3436"/>
                </a:solidFill>
                <a:latin typeface="BIZ UDPGothic" pitchFamily="34" charset="0"/>
                <a:ea typeface="BIZ UDPGothic" pitchFamily="34" charset="-122"/>
                <a:cs typeface="BIZ UDPGothic" pitchFamily="34" charset="-120"/>
              </a:rPr>
              <a:t>箸が使いにくい・字が下手に</a:t>
            </a:r>
            <a:endParaRPr lang="en-US" sz="1400" dirty="0"/>
          </a:p>
        </p:txBody>
      </p:sp>
      <p:sp>
        <p:nvSpPr>
          <p:cNvPr id="13" name="Shape 11"/>
          <p:cNvSpPr/>
          <p:nvPr/>
        </p:nvSpPr>
        <p:spPr>
          <a:xfrm>
            <a:off x="4754880" y="1965960"/>
            <a:ext cx="4114800" cy="1097280"/>
          </a:xfrm>
          <a:prstGeom prst="rect">
            <a:avLst>
              <a:gd name="adj" fmla="val 8333"/>
            </a:avLst>
          </a:prstGeom>
          <a:solidFill>
            <a:srgbClr val="FFFFFF"/>
          </a:solidFill>
          <a:ln/>
          <a:effectLst>
            <a:outerShdw sx="100000" sy="100000" kx="0" ky="0" algn="bl" rotWithShape="0" blurRad="50800" dist="25400" dir="8100000">
              <a:srgbClr val="000000">
                <a:alpha val="12000"/>
              </a:srgbClr>
            </a:outerShdw>
          </a:effectLst>
        </p:spPr>
      </p:sp>
      <p:sp>
        <p:nvSpPr>
          <p:cNvPr id="14" name="Shape 12"/>
          <p:cNvSpPr/>
          <p:nvPr/>
        </p:nvSpPr>
        <p:spPr>
          <a:xfrm>
            <a:off x="4754880" y="1965960"/>
            <a:ext cx="109728" cy="1097280"/>
          </a:xfrm>
          <a:prstGeom prst="rect">
            <a:avLst>
              <a:gd name="adj" fmla="val 41667"/>
            </a:avLst>
          </a:prstGeom>
          <a:solidFill>
            <a:srgbClr val="2C5AA0"/>
          </a:solidFill>
          <a:ln/>
        </p:spPr>
      </p:sp>
      <p:sp>
        <p:nvSpPr>
          <p:cNvPr id="15" name="Text 13"/>
          <p:cNvSpPr/>
          <p:nvPr/>
        </p:nvSpPr>
        <p:spPr>
          <a:xfrm>
            <a:off x="4937760" y="2039112"/>
            <a:ext cx="54864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Text 14"/>
          <p:cNvSpPr/>
          <p:nvPr/>
        </p:nvSpPr>
        <p:spPr>
          <a:xfrm>
            <a:off x="5486400" y="2039112"/>
            <a:ext cx="3108960" cy="365760"/>
          </a:xfrm>
          <a:prstGeom prst="rect">
            <a:avLst/>
          </a:prstGeom>
          <a:noFill/>
          <a:ln/>
        </p:spPr>
        <p:txBody>
          <a:bodyPr wrap="square" lIns="0" tIns="0" rIns="0" bIns="0" rtlCol="0" anchor="ctr"/>
          <a:lstStyle/>
          <a:p>
            <a:pPr indent="0" marL="0">
              <a:buNone/>
            </a:pPr>
            <a:r>
              <a:rPr lang="en-US" sz="1700" b="1" dirty="0">
                <a:solidFill>
                  <a:srgbClr val="2C5AA0"/>
                </a:solidFill>
                <a:latin typeface="BIZ UDPGothic" pitchFamily="34" charset="0"/>
                <a:ea typeface="BIZ UDPGothic" pitchFamily="34" charset="-122"/>
                <a:cs typeface="BIZ UDPGothic" pitchFamily="34" charset="-120"/>
              </a:rPr>
              <a:t>歩行障害</a:t>
            </a:r>
            <a:endParaRPr lang="en-US" sz="1700" dirty="0"/>
          </a:p>
        </p:txBody>
      </p:sp>
      <p:sp>
        <p:nvSpPr>
          <p:cNvPr id="17" name="Text 15"/>
          <p:cNvSpPr/>
          <p:nvPr/>
        </p:nvSpPr>
        <p:spPr>
          <a:xfrm>
            <a:off x="5486400" y="2423160"/>
            <a:ext cx="3108960" cy="548640"/>
          </a:xfrm>
          <a:prstGeom prst="rect">
            <a:avLst/>
          </a:prstGeom>
          <a:noFill/>
          <a:ln/>
        </p:spPr>
        <p:txBody>
          <a:bodyPr wrap="square" lIns="0" tIns="0" rIns="0" bIns="0" rtlCol="0" anchor="ctr"/>
          <a:lstStyle/>
          <a:p>
            <a:pPr indent="0" marL="0">
              <a:lnSpc>
                <a:spcPct val="115000"/>
              </a:lnSpc>
              <a:buNone/>
            </a:pPr>
            <a:r>
              <a:rPr lang="en-US" sz="1400" dirty="0">
                <a:solidFill>
                  <a:srgbClr val="2D3436"/>
                </a:solidFill>
                <a:latin typeface="BIZ UDPGothic" pitchFamily="34" charset="0"/>
                <a:ea typeface="BIZ UDPGothic" pitchFamily="34" charset="-122"/>
                <a:cs typeface="BIZ UDPGothic" pitchFamily="34" charset="-120"/>
              </a:rPr>
              <a:t>階段の下りが怖い</a:t>
            </a:r>
            <a:endParaRPr lang="en-US" sz="1400" dirty="0"/>
          </a:p>
          <a:p>
            <a:pPr indent="0" marL="0">
              <a:lnSpc>
                <a:spcPct val="115000"/>
              </a:lnSpc>
              <a:buNone/>
            </a:pPr>
            <a:r>
              <a:rPr lang="en-US" sz="1400" dirty="0">
                <a:solidFill>
                  <a:srgbClr val="2D3436"/>
                </a:solidFill>
                <a:latin typeface="BIZ UDPGothic" pitchFamily="34" charset="0"/>
                <a:ea typeface="BIZ UDPGothic" pitchFamily="34" charset="-122"/>
                <a:cs typeface="BIZ UDPGothic" pitchFamily="34" charset="-120"/>
              </a:rPr>
              <a:t>小走りができなくなる</a:t>
            </a:r>
            <a:endParaRPr lang="en-US" sz="1400" dirty="0"/>
          </a:p>
        </p:txBody>
      </p:sp>
      <p:sp>
        <p:nvSpPr>
          <p:cNvPr id="18" name="Shape 16"/>
          <p:cNvSpPr/>
          <p:nvPr/>
        </p:nvSpPr>
        <p:spPr>
          <a:xfrm>
            <a:off x="365760" y="3246120"/>
            <a:ext cx="4114800" cy="1097280"/>
          </a:xfrm>
          <a:prstGeom prst="rect">
            <a:avLst>
              <a:gd name="adj" fmla="val 8333"/>
            </a:avLst>
          </a:prstGeom>
          <a:solidFill>
            <a:srgbClr val="FFFFFF"/>
          </a:solidFill>
          <a:ln/>
          <a:effectLst>
            <a:outerShdw sx="100000" sy="100000" kx="0" ky="0" algn="bl" rotWithShape="0" blurRad="50800" dist="25400" dir="8100000">
              <a:srgbClr val="000000">
                <a:alpha val="12000"/>
              </a:srgbClr>
            </a:outerShdw>
          </a:effectLst>
        </p:spPr>
      </p:sp>
      <p:sp>
        <p:nvSpPr>
          <p:cNvPr id="19" name="Shape 17"/>
          <p:cNvSpPr/>
          <p:nvPr/>
        </p:nvSpPr>
        <p:spPr>
          <a:xfrm>
            <a:off x="365760" y="3246120"/>
            <a:ext cx="109728" cy="1097280"/>
          </a:xfrm>
          <a:prstGeom prst="rect">
            <a:avLst>
              <a:gd name="adj" fmla="val 41667"/>
            </a:avLst>
          </a:prstGeom>
          <a:solidFill>
            <a:srgbClr val="2C5AA0"/>
          </a:solidFill>
          <a:ln/>
        </p:spPr>
      </p:sp>
      <p:sp>
        <p:nvSpPr>
          <p:cNvPr id="20" name="Text 18"/>
          <p:cNvSpPr/>
          <p:nvPr/>
        </p:nvSpPr>
        <p:spPr>
          <a:xfrm>
            <a:off x="548640" y="3319272"/>
            <a:ext cx="54864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1" name="Text 19"/>
          <p:cNvSpPr/>
          <p:nvPr/>
        </p:nvSpPr>
        <p:spPr>
          <a:xfrm>
            <a:off x="1097280" y="3319272"/>
            <a:ext cx="3108960" cy="365760"/>
          </a:xfrm>
          <a:prstGeom prst="rect">
            <a:avLst/>
          </a:prstGeom>
          <a:noFill/>
          <a:ln/>
        </p:spPr>
        <p:txBody>
          <a:bodyPr wrap="square" lIns="0" tIns="0" rIns="0" bIns="0" rtlCol="0" anchor="ctr"/>
          <a:lstStyle/>
          <a:p>
            <a:pPr indent="0" marL="0">
              <a:buNone/>
            </a:pPr>
            <a:r>
              <a:rPr lang="en-US" sz="1700" b="1" dirty="0">
                <a:solidFill>
                  <a:srgbClr val="2C5AA0"/>
                </a:solidFill>
                <a:latin typeface="BIZ UDPGothic" pitchFamily="34" charset="0"/>
                <a:ea typeface="BIZ UDPGothic" pitchFamily="34" charset="-122"/>
                <a:cs typeface="BIZ UDPGothic" pitchFamily="34" charset="-120"/>
              </a:rPr>
              <a:t>しびれ</a:t>
            </a:r>
            <a:endParaRPr lang="en-US" sz="1700" dirty="0"/>
          </a:p>
        </p:txBody>
      </p:sp>
      <p:sp>
        <p:nvSpPr>
          <p:cNvPr id="22" name="Text 20"/>
          <p:cNvSpPr/>
          <p:nvPr/>
        </p:nvSpPr>
        <p:spPr>
          <a:xfrm>
            <a:off x="1097280" y="3703320"/>
            <a:ext cx="3108960" cy="548640"/>
          </a:xfrm>
          <a:prstGeom prst="rect">
            <a:avLst/>
          </a:prstGeom>
          <a:noFill/>
          <a:ln/>
        </p:spPr>
        <p:txBody>
          <a:bodyPr wrap="square" lIns="0" tIns="0" rIns="0" bIns="0" rtlCol="0" anchor="ctr"/>
          <a:lstStyle/>
          <a:p>
            <a:pPr indent="0" marL="0">
              <a:lnSpc>
                <a:spcPct val="115000"/>
              </a:lnSpc>
              <a:buNone/>
            </a:pPr>
            <a:r>
              <a:rPr lang="en-US" sz="1400" dirty="0">
                <a:solidFill>
                  <a:srgbClr val="2D3436"/>
                </a:solidFill>
                <a:latin typeface="BIZ UDPGothic" pitchFamily="34" charset="0"/>
                <a:ea typeface="BIZ UDPGothic" pitchFamily="34" charset="-122"/>
                <a:cs typeface="BIZ UDPGothic" pitchFamily="34" charset="-120"/>
              </a:rPr>
              <a:t>両手のしびれが多い</a:t>
            </a:r>
            <a:endParaRPr lang="en-US" sz="1400" dirty="0"/>
          </a:p>
          <a:p>
            <a:pPr indent="0" marL="0">
              <a:lnSpc>
                <a:spcPct val="115000"/>
              </a:lnSpc>
              <a:buNone/>
            </a:pPr>
            <a:r>
              <a:rPr lang="en-US" sz="1400" dirty="0">
                <a:solidFill>
                  <a:srgbClr val="2D3436"/>
                </a:solidFill>
                <a:latin typeface="BIZ UDPGothic" pitchFamily="34" charset="0"/>
                <a:ea typeface="BIZ UDPGothic" pitchFamily="34" charset="-122"/>
                <a:cs typeface="BIZ UDPGothic" pitchFamily="34" charset="-120"/>
              </a:rPr>
              <a:t>足のしびれを伴うことも</a:t>
            </a:r>
            <a:endParaRPr lang="en-US" sz="1400" dirty="0"/>
          </a:p>
        </p:txBody>
      </p:sp>
      <p:sp>
        <p:nvSpPr>
          <p:cNvPr id="23" name="Shape 21"/>
          <p:cNvSpPr/>
          <p:nvPr/>
        </p:nvSpPr>
        <p:spPr>
          <a:xfrm>
            <a:off x="4754880" y="3246120"/>
            <a:ext cx="4114800" cy="1097280"/>
          </a:xfrm>
          <a:prstGeom prst="rect">
            <a:avLst>
              <a:gd name="adj" fmla="val 8333"/>
            </a:avLst>
          </a:prstGeom>
          <a:solidFill>
            <a:srgbClr val="FFFFFF"/>
          </a:solidFill>
          <a:ln/>
          <a:effectLst>
            <a:outerShdw sx="100000" sy="100000" kx="0" ky="0" algn="bl" rotWithShape="0" blurRad="50800" dist="25400" dir="8100000">
              <a:srgbClr val="000000">
                <a:alpha val="12000"/>
              </a:srgbClr>
            </a:outerShdw>
          </a:effectLst>
        </p:spPr>
      </p:sp>
      <p:sp>
        <p:nvSpPr>
          <p:cNvPr id="24" name="Shape 22"/>
          <p:cNvSpPr/>
          <p:nvPr/>
        </p:nvSpPr>
        <p:spPr>
          <a:xfrm>
            <a:off x="4754880" y="3246120"/>
            <a:ext cx="109728" cy="1097280"/>
          </a:xfrm>
          <a:prstGeom prst="rect">
            <a:avLst>
              <a:gd name="adj" fmla="val 41667"/>
            </a:avLst>
          </a:prstGeom>
          <a:solidFill>
            <a:srgbClr val="2C5AA0"/>
          </a:solidFill>
          <a:ln/>
        </p:spPr>
      </p:sp>
      <p:sp>
        <p:nvSpPr>
          <p:cNvPr id="25" name="Text 23"/>
          <p:cNvSpPr/>
          <p:nvPr/>
        </p:nvSpPr>
        <p:spPr>
          <a:xfrm>
            <a:off x="4937760" y="3319272"/>
            <a:ext cx="54864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6" name="Text 24"/>
          <p:cNvSpPr/>
          <p:nvPr/>
        </p:nvSpPr>
        <p:spPr>
          <a:xfrm>
            <a:off x="5486400" y="3319272"/>
            <a:ext cx="3108960" cy="365760"/>
          </a:xfrm>
          <a:prstGeom prst="rect">
            <a:avLst/>
          </a:prstGeom>
          <a:noFill/>
          <a:ln/>
        </p:spPr>
        <p:txBody>
          <a:bodyPr wrap="square" lIns="0" tIns="0" rIns="0" bIns="0" rtlCol="0" anchor="ctr"/>
          <a:lstStyle/>
          <a:p>
            <a:pPr indent="0" marL="0">
              <a:buNone/>
            </a:pPr>
            <a:r>
              <a:rPr lang="en-US" sz="1700" b="1" dirty="0">
                <a:solidFill>
                  <a:srgbClr val="2C5AA0"/>
                </a:solidFill>
                <a:latin typeface="BIZ UDPGothic" pitchFamily="34" charset="0"/>
                <a:ea typeface="BIZ UDPGothic" pitchFamily="34" charset="-122"/>
                <a:cs typeface="BIZ UDPGothic" pitchFamily="34" charset="-120"/>
              </a:rPr>
              <a:t>放置すると進行</a:t>
            </a:r>
            <a:endParaRPr lang="en-US" sz="1700" dirty="0"/>
          </a:p>
        </p:txBody>
      </p:sp>
      <p:sp>
        <p:nvSpPr>
          <p:cNvPr id="27" name="Text 25"/>
          <p:cNvSpPr/>
          <p:nvPr/>
        </p:nvSpPr>
        <p:spPr>
          <a:xfrm>
            <a:off x="5486400" y="3703320"/>
            <a:ext cx="3108960" cy="548640"/>
          </a:xfrm>
          <a:prstGeom prst="rect">
            <a:avLst/>
          </a:prstGeom>
          <a:noFill/>
          <a:ln/>
        </p:spPr>
        <p:txBody>
          <a:bodyPr wrap="square" lIns="0" tIns="0" rIns="0" bIns="0" rtlCol="0" anchor="ctr"/>
          <a:lstStyle/>
          <a:p>
            <a:pPr indent="0" marL="0">
              <a:lnSpc>
                <a:spcPct val="115000"/>
              </a:lnSpc>
              <a:buNone/>
            </a:pPr>
            <a:r>
              <a:rPr lang="en-US" sz="1400" dirty="0">
                <a:solidFill>
                  <a:srgbClr val="2D3436"/>
                </a:solidFill>
                <a:latin typeface="BIZ UDPGothic" pitchFamily="34" charset="0"/>
                <a:ea typeface="BIZ UDPGothic" pitchFamily="34" charset="-122"/>
                <a:cs typeface="BIZ UDPGothic" pitchFamily="34" charset="-120"/>
              </a:rPr>
              <a:t>不可逆的な障害が残る</a:t>
            </a:r>
            <a:endParaRPr lang="en-US" sz="1400" dirty="0"/>
          </a:p>
          <a:p>
            <a:pPr indent="0" marL="0">
              <a:lnSpc>
                <a:spcPct val="115000"/>
              </a:lnSpc>
              <a:buNone/>
            </a:pPr>
            <a:r>
              <a:rPr lang="en-US" sz="1400" dirty="0">
                <a:solidFill>
                  <a:srgbClr val="2D3436"/>
                </a:solidFill>
                <a:latin typeface="BIZ UDPGothic" pitchFamily="34" charset="0"/>
                <a:ea typeface="BIZ UDPGothic" pitchFamily="34" charset="-122"/>
                <a:cs typeface="BIZ UDPGothic" pitchFamily="34" charset="-120"/>
              </a:rPr>
              <a:t>早期発見・早期治療が重要</a:t>
            </a:r>
            <a:endParaRPr lang="en-US" sz="1400" dirty="0"/>
          </a:p>
        </p:txBody>
      </p:sp>
      <p:sp>
        <p:nvSpPr>
          <p:cNvPr id="28" name="Shape 26"/>
          <p:cNvSpPr/>
          <p:nvPr/>
        </p:nvSpPr>
        <p:spPr>
          <a:xfrm>
            <a:off x="0" y="4800600"/>
            <a:ext cx="9144000" cy="347472"/>
          </a:xfrm>
          <a:prstGeom prst="rect">
            <a:avLst/>
          </a:prstGeom>
          <a:solidFill>
            <a:srgbClr val="1B3A5C"/>
          </a:solidFill>
          <a:ln/>
        </p:spPr>
      </p:sp>
      <p:sp>
        <p:nvSpPr>
          <p:cNvPr id="29" name="Text 27"/>
          <p:cNvSpPr/>
          <p:nvPr/>
        </p:nvSpPr>
        <p:spPr>
          <a:xfrm>
            <a:off x="365760" y="4818888"/>
            <a:ext cx="4572000" cy="274320"/>
          </a:xfrm>
          <a:prstGeom prst="rect">
            <a:avLst/>
          </a:prstGeom>
          <a:noFill/>
          <a:ln/>
        </p:spPr>
        <p:txBody>
          <a:bodyPr wrap="square" lIns="0" tIns="0" rIns="0" bIns="0" rtlCol="0" anchor="ctr"/>
          <a:lstStyle/>
          <a:p>
            <a:pPr indent="0" marL="0">
              <a:buNone/>
            </a:pPr>
            <a:r>
              <a:rPr lang="en-US" sz="1000" dirty="0">
                <a:solidFill>
                  <a:srgbClr val="FFFFFF"/>
                </a:solidFill>
                <a:latin typeface="BIZ UDPGothic" pitchFamily="34" charset="0"/>
                <a:ea typeface="BIZ UDPGothic" pitchFamily="34" charset="-122"/>
                <a:cs typeface="BIZ UDPGothic" pitchFamily="34" charset="-120"/>
              </a:rPr>
              <a:t>医知創造ラボ ｜ その症状、大丈夫？ #09</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BIZ UDPGothic" pitchFamily="34" charset="0"/>
                <a:ea typeface="BIZ UDPGothic" pitchFamily="34" charset="-122"/>
                <a:cs typeface="BIZ UDPGothic" pitchFamily="34" charset="-120"/>
              </a:rPr>
              <a:t>自分でできるチェック ― 3つのテスト</a:t>
            </a:r>
            <a:endParaRPr lang="en-US" sz="2600" dirty="0"/>
          </a:p>
        </p:txBody>
      </p:sp>
      <p:sp>
        <p:nvSpPr>
          <p:cNvPr id="4" name="Shape 2"/>
          <p:cNvSpPr/>
          <p:nvPr/>
        </p:nvSpPr>
        <p:spPr>
          <a:xfrm>
            <a:off x="457200" y="1005840"/>
            <a:ext cx="8229600" cy="960120"/>
          </a:xfrm>
          <a:prstGeom prst="rect">
            <a:avLst>
              <a:gd name="adj" fmla="val 9524"/>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457200" y="1005840"/>
            <a:ext cx="109728" cy="960120"/>
          </a:xfrm>
          <a:prstGeom prst="rect">
            <a:avLst>
              <a:gd name="adj" fmla="val 41667"/>
            </a:avLst>
          </a:prstGeom>
          <a:solidFill>
            <a:srgbClr val="2C5AA0"/>
          </a:solidFill>
          <a:ln/>
        </p:spPr>
      </p:sp>
      <p:sp>
        <p:nvSpPr>
          <p:cNvPr id="6" name="Text 4"/>
          <p:cNvSpPr/>
          <p:nvPr/>
        </p:nvSpPr>
        <p:spPr>
          <a:xfrm>
            <a:off x="640080" y="1097280"/>
            <a:ext cx="640080" cy="777240"/>
          </a:xfrm>
          <a:prstGeom prst="rect">
            <a:avLst/>
          </a:prstGeom>
          <a:noFill/>
          <a:ln/>
        </p:spPr>
        <p:txBody>
          <a:bodyPr wrap="square" lIns="0" tIns="0" rIns="0" bIns="0" rtlCol="0" anchor="ctr"/>
          <a:lstStyle/>
          <a:p>
            <a:pPr algn="ctr" indent="0" marL="0">
              <a:buNone/>
            </a:pPr>
            <a:r>
              <a:rPr lang="en-US" sz="3600" b="1" dirty="0">
                <a:solidFill>
                  <a:srgbClr val="2C5AA0"/>
                </a:solidFill>
                <a:latin typeface="Segoe UI" pitchFamily="34" charset="0"/>
                <a:ea typeface="Segoe UI" pitchFamily="34" charset="-122"/>
                <a:cs typeface="Segoe UI" pitchFamily="34" charset="-120"/>
              </a:rPr>
              <a:t>1</a:t>
            </a:r>
            <a:endParaRPr lang="en-US" sz="3600" dirty="0"/>
          </a:p>
        </p:txBody>
      </p:sp>
      <p:sp>
        <p:nvSpPr>
          <p:cNvPr id="7" name="Text 5"/>
          <p:cNvSpPr/>
          <p:nvPr/>
        </p:nvSpPr>
        <p:spPr>
          <a:xfrm>
            <a:off x="1371600" y="1143000"/>
            <a:ext cx="640080" cy="640080"/>
          </a:xfrm>
          <a:prstGeom prst="rect">
            <a:avLst/>
          </a:prstGeom>
          <a:noFill/>
          <a:ln/>
        </p:spPr>
        <p:txBody>
          <a:bodyPr wrap="square" lIns="0" tIns="0" rIns="0" bIns="0" rtlCol="0" anchor="ctr"/>
          <a:lstStyle/>
          <a:p>
            <a:pPr algn="ctr" indent="0" marL="0">
              <a:buNone/>
            </a:pPr>
            <a:r>
              <a:rPr lang="en-US" sz="3000" dirty="0">
                <a:solidFill>
                  <a:srgbClr val="000000"/>
                </a:solidFill>
              </a:rPr>
              <a:t>✊</a:t>
            </a:r>
            <a:endParaRPr lang="en-US" sz="3000" dirty="0"/>
          </a:p>
        </p:txBody>
      </p:sp>
      <p:sp>
        <p:nvSpPr>
          <p:cNvPr id="8" name="Text 6"/>
          <p:cNvSpPr/>
          <p:nvPr/>
        </p:nvSpPr>
        <p:spPr>
          <a:xfrm>
            <a:off x="2103120" y="1097280"/>
            <a:ext cx="2743200" cy="411480"/>
          </a:xfrm>
          <a:prstGeom prst="rect">
            <a:avLst/>
          </a:prstGeom>
          <a:noFill/>
          <a:ln/>
        </p:spPr>
        <p:txBody>
          <a:bodyPr wrap="square" lIns="0" tIns="0" rIns="0" bIns="0" rtlCol="0" anchor="ctr"/>
          <a:lstStyle/>
          <a:p>
            <a:pPr indent="0" marL="0">
              <a:buNone/>
            </a:pPr>
            <a:r>
              <a:rPr lang="en-US" sz="2100" b="1" dirty="0">
                <a:solidFill>
                  <a:srgbClr val="2C5AA0"/>
                </a:solidFill>
                <a:latin typeface="BIZ UDPGothic" pitchFamily="34" charset="0"/>
                <a:ea typeface="BIZ UDPGothic" pitchFamily="34" charset="-122"/>
                <a:cs typeface="BIZ UDPGothic" pitchFamily="34" charset="-120"/>
              </a:rPr>
              <a:t>10秒テスト</a:t>
            </a:r>
            <a:endParaRPr lang="en-US" sz="2100" dirty="0"/>
          </a:p>
        </p:txBody>
      </p:sp>
      <p:sp>
        <p:nvSpPr>
          <p:cNvPr id="9" name="Text 7"/>
          <p:cNvSpPr/>
          <p:nvPr/>
        </p:nvSpPr>
        <p:spPr>
          <a:xfrm>
            <a:off x="2103120" y="1508760"/>
            <a:ext cx="5943600" cy="411480"/>
          </a:xfrm>
          <a:prstGeom prst="rect">
            <a:avLst/>
          </a:prstGeom>
          <a:noFill/>
          <a:ln/>
        </p:spPr>
        <p:txBody>
          <a:bodyPr wrap="square" lIns="0" tIns="0" rIns="0" bIns="0" rtlCol="0" anchor="ctr"/>
          <a:lstStyle/>
          <a:p>
            <a:pPr indent="0" marL="0">
              <a:lnSpc>
                <a:spcPct val="110000"/>
              </a:lnSpc>
              <a:buNone/>
            </a:pPr>
            <a:r>
              <a:rPr lang="en-US" sz="1600" dirty="0">
                <a:solidFill>
                  <a:srgbClr val="2D3436"/>
                </a:solidFill>
                <a:latin typeface="BIZ UDPGothic" pitchFamily="34" charset="0"/>
                <a:ea typeface="BIZ UDPGothic" pitchFamily="34" charset="-122"/>
                <a:cs typeface="BIZ UDPGothic" pitchFamily="34" charset="-120"/>
              </a:rPr>
              <a:t>両手をパーに開いて10秒間グーパーを繰り返す</a:t>
            </a:r>
            <a:endParaRPr lang="en-US" sz="1600" dirty="0"/>
          </a:p>
          <a:p>
            <a:pPr indent="0" marL="0">
              <a:lnSpc>
                <a:spcPct val="110000"/>
              </a:lnSpc>
              <a:buNone/>
            </a:pPr>
            <a:r>
              <a:rPr lang="en-US" sz="1600" dirty="0">
                <a:solidFill>
                  <a:srgbClr val="2D3436"/>
                </a:solidFill>
                <a:latin typeface="BIZ UDPGothic" pitchFamily="34" charset="0"/>
                <a:ea typeface="BIZ UDPGothic" pitchFamily="34" charset="-122"/>
                <a:cs typeface="BIZ UDPGothic" pitchFamily="34" charset="-120"/>
              </a:rPr>
              <a:t>20回以上→正常 / 20回未満→巧緻運動障害の疑い</a:t>
            </a:r>
            <a:endParaRPr lang="en-US" sz="1600" dirty="0"/>
          </a:p>
        </p:txBody>
      </p:sp>
      <p:sp>
        <p:nvSpPr>
          <p:cNvPr id="10" name="Shape 8"/>
          <p:cNvSpPr/>
          <p:nvPr/>
        </p:nvSpPr>
        <p:spPr>
          <a:xfrm>
            <a:off x="457200" y="2148840"/>
            <a:ext cx="8229600" cy="960120"/>
          </a:xfrm>
          <a:prstGeom prst="rect">
            <a:avLst>
              <a:gd name="adj" fmla="val 9524"/>
            </a:avLst>
          </a:prstGeom>
          <a:solidFill>
            <a:srgbClr val="FFFFFF"/>
          </a:solidFill>
          <a:ln/>
          <a:effectLst>
            <a:outerShdw sx="100000" sy="100000" kx="0" ky="0" algn="bl" rotWithShape="0" blurRad="50800" dist="25400" dir="8100000">
              <a:srgbClr val="000000">
                <a:alpha val="12000"/>
              </a:srgbClr>
            </a:outerShdw>
          </a:effectLst>
        </p:spPr>
      </p:sp>
      <p:sp>
        <p:nvSpPr>
          <p:cNvPr id="11" name="Shape 9"/>
          <p:cNvSpPr/>
          <p:nvPr/>
        </p:nvSpPr>
        <p:spPr>
          <a:xfrm>
            <a:off x="457200" y="2148840"/>
            <a:ext cx="109728" cy="960120"/>
          </a:xfrm>
          <a:prstGeom prst="rect">
            <a:avLst>
              <a:gd name="adj" fmla="val 41667"/>
            </a:avLst>
          </a:prstGeom>
          <a:solidFill>
            <a:srgbClr val="2C5AA0"/>
          </a:solidFill>
          <a:ln/>
        </p:spPr>
      </p:sp>
      <p:sp>
        <p:nvSpPr>
          <p:cNvPr id="12" name="Text 10"/>
          <p:cNvSpPr/>
          <p:nvPr/>
        </p:nvSpPr>
        <p:spPr>
          <a:xfrm>
            <a:off x="640080" y="2240280"/>
            <a:ext cx="640080" cy="777240"/>
          </a:xfrm>
          <a:prstGeom prst="rect">
            <a:avLst/>
          </a:prstGeom>
          <a:noFill/>
          <a:ln/>
        </p:spPr>
        <p:txBody>
          <a:bodyPr wrap="square" lIns="0" tIns="0" rIns="0" bIns="0" rtlCol="0" anchor="ctr"/>
          <a:lstStyle/>
          <a:p>
            <a:pPr algn="ctr" indent="0" marL="0">
              <a:buNone/>
            </a:pPr>
            <a:r>
              <a:rPr lang="en-US" sz="3600" b="1" dirty="0">
                <a:solidFill>
                  <a:srgbClr val="2C5AA0"/>
                </a:solidFill>
                <a:latin typeface="Segoe UI" pitchFamily="34" charset="0"/>
                <a:ea typeface="Segoe UI" pitchFamily="34" charset="-122"/>
                <a:cs typeface="Segoe UI" pitchFamily="34" charset="-120"/>
              </a:rPr>
              <a:t>2</a:t>
            </a:r>
            <a:endParaRPr lang="en-US" sz="3600" dirty="0"/>
          </a:p>
        </p:txBody>
      </p:sp>
      <p:sp>
        <p:nvSpPr>
          <p:cNvPr id="13" name="Text 11"/>
          <p:cNvSpPr/>
          <p:nvPr/>
        </p:nvSpPr>
        <p:spPr>
          <a:xfrm>
            <a:off x="1371600" y="2286000"/>
            <a:ext cx="640080" cy="640080"/>
          </a:xfrm>
          <a:prstGeom prst="rect">
            <a:avLst/>
          </a:prstGeom>
          <a:noFill/>
          <a:ln/>
        </p:spPr>
        <p:txBody>
          <a:bodyPr wrap="square" lIns="0" tIns="0" rIns="0" bIns="0" rtlCol="0" anchor="ctr"/>
          <a:lstStyle/>
          <a:p>
            <a:pPr algn="ctr" indent="0" marL="0">
              <a:buNone/>
            </a:pPr>
            <a:r>
              <a:rPr lang="en-US" sz="3000" dirty="0">
                <a:solidFill>
                  <a:srgbClr val="000000"/>
                </a:solidFill>
              </a:rPr>
              <a:t>🔍</a:t>
            </a:r>
            <a:endParaRPr lang="en-US" sz="3000" dirty="0"/>
          </a:p>
        </p:txBody>
      </p:sp>
      <p:sp>
        <p:nvSpPr>
          <p:cNvPr id="14" name="Text 12"/>
          <p:cNvSpPr/>
          <p:nvPr/>
        </p:nvSpPr>
        <p:spPr>
          <a:xfrm>
            <a:off x="2103120" y="2240280"/>
            <a:ext cx="2743200" cy="411480"/>
          </a:xfrm>
          <a:prstGeom prst="rect">
            <a:avLst/>
          </a:prstGeom>
          <a:noFill/>
          <a:ln/>
        </p:spPr>
        <p:txBody>
          <a:bodyPr wrap="square" lIns="0" tIns="0" rIns="0" bIns="0" rtlCol="0" anchor="ctr"/>
          <a:lstStyle/>
          <a:p>
            <a:pPr indent="0" marL="0">
              <a:buNone/>
            </a:pPr>
            <a:r>
              <a:rPr lang="en-US" sz="2100" b="1" dirty="0">
                <a:solidFill>
                  <a:srgbClr val="2C5AA0"/>
                </a:solidFill>
                <a:latin typeface="BIZ UDPGothic" pitchFamily="34" charset="0"/>
                <a:ea typeface="BIZ UDPGothic" pitchFamily="34" charset="-122"/>
                <a:cs typeface="BIZ UDPGothic" pitchFamily="34" charset="-120"/>
              </a:rPr>
              <a:t>スパーリングテスト</a:t>
            </a:r>
            <a:endParaRPr lang="en-US" sz="2100" dirty="0"/>
          </a:p>
        </p:txBody>
      </p:sp>
      <p:sp>
        <p:nvSpPr>
          <p:cNvPr id="15" name="Text 13"/>
          <p:cNvSpPr/>
          <p:nvPr/>
        </p:nvSpPr>
        <p:spPr>
          <a:xfrm>
            <a:off x="2103120" y="2651760"/>
            <a:ext cx="5943600" cy="411480"/>
          </a:xfrm>
          <a:prstGeom prst="rect">
            <a:avLst/>
          </a:prstGeom>
          <a:noFill/>
          <a:ln/>
        </p:spPr>
        <p:txBody>
          <a:bodyPr wrap="square" lIns="0" tIns="0" rIns="0" bIns="0" rtlCol="0" anchor="ctr"/>
          <a:lstStyle/>
          <a:p>
            <a:pPr indent="0" marL="0">
              <a:lnSpc>
                <a:spcPct val="110000"/>
              </a:lnSpc>
              <a:buNone/>
            </a:pPr>
            <a:r>
              <a:rPr lang="en-US" sz="1600" dirty="0">
                <a:solidFill>
                  <a:srgbClr val="2D3436"/>
                </a:solidFill>
                <a:latin typeface="BIZ UDPGothic" pitchFamily="34" charset="0"/>
                <a:ea typeface="BIZ UDPGothic" pitchFamily="34" charset="-122"/>
                <a:cs typeface="BIZ UDPGothic" pitchFamily="34" charset="-120"/>
              </a:rPr>
              <a:t>首をやや後ろに反らして痛い側に傾ける</a:t>
            </a:r>
            <a:endParaRPr lang="en-US" sz="1600" dirty="0"/>
          </a:p>
          <a:p>
            <a:pPr indent="0" marL="0">
              <a:lnSpc>
                <a:spcPct val="110000"/>
              </a:lnSpc>
              <a:buNone/>
            </a:pPr>
            <a:r>
              <a:rPr lang="en-US" sz="1600" dirty="0">
                <a:solidFill>
                  <a:srgbClr val="2D3436"/>
                </a:solidFill>
                <a:latin typeface="BIZ UDPGothic" pitchFamily="34" charset="0"/>
                <a:ea typeface="BIZ UDPGothic" pitchFamily="34" charset="-122"/>
                <a:cs typeface="BIZ UDPGothic" pitchFamily="34" charset="-120"/>
              </a:rPr>
              <a:t>腕に痛み・しびれが放散→神経根の圧迫の疑い</a:t>
            </a:r>
            <a:endParaRPr lang="en-US" sz="1600" dirty="0"/>
          </a:p>
        </p:txBody>
      </p:sp>
      <p:sp>
        <p:nvSpPr>
          <p:cNvPr id="16" name="Shape 14"/>
          <p:cNvSpPr/>
          <p:nvPr/>
        </p:nvSpPr>
        <p:spPr>
          <a:xfrm>
            <a:off x="457200" y="3291840"/>
            <a:ext cx="8229600" cy="960120"/>
          </a:xfrm>
          <a:prstGeom prst="rect">
            <a:avLst>
              <a:gd name="adj" fmla="val 9524"/>
            </a:avLst>
          </a:prstGeom>
          <a:solidFill>
            <a:srgbClr val="FFFFFF"/>
          </a:solidFill>
          <a:ln/>
          <a:effectLst>
            <a:outerShdw sx="100000" sy="100000" kx="0" ky="0" algn="bl" rotWithShape="0" blurRad="50800" dist="25400" dir="8100000">
              <a:srgbClr val="000000">
                <a:alpha val="12000"/>
              </a:srgbClr>
            </a:outerShdw>
          </a:effectLst>
        </p:spPr>
      </p:sp>
      <p:sp>
        <p:nvSpPr>
          <p:cNvPr id="17" name="Shape 15"/>
          <p:cNvSpPr/>
          <p:nvPr/>
        </p:nvSpPr>
        <p:spPr>
          <a:xfrm>
            <a:off x="457200" y="3291840"/>
            <a:ext cx="109728" cy="960120"/>
          </a:xfrm>
          <a:prstGeom prst="rect">
            <a:avLst>
              <a:gd name="adj" fmla="val 41667"/>
            </a:avLst>
          </a:prstGeom>
          <a:solidFill>
            <a:srgbClr val="2C5AA0"/>
          </a:solidFill>
          <a:ln/>
        </p:spPr>
      </p:sp>
      <p:sp>
        <p:nvSpPr>
          <p:cNvPr id="18" name="Text 16"/>
          <p:cNvSpPr/>
          <p:nvPr/>
        </p:nvSpPr>
        <p:spPr>
          <a:xfrm>
            <a:off x="640080" y="3383280"/>
            <a:ext cx="640080" cy="777240"/>
          </a:xfrm>
          <a:prstGeom prst="rect">
            <a:avLst/>
          </a:prstGeom>
          <a:noFill/>
          <a:ln/>
        </p:spPr>
        <p:txBody>
          <a:bodyPr wrap="square" lIns="0" tIns="0" rIns="0" bIns="0" rtlCol="0" anchor="ctr"/>
          <a:lstStyle/>
          <a:p>
            <a:pPr algn="ctr" indent="0" marL="0">
              <a:buNone/>
            </a:pPr>
            <a:r>
              <a:rPr lang="en-US" sz="3600" b="1" dirty="0">
                <a:solidFill>
                  <a:srgbClr val="2C5AA0"/>
                </a:solidFill>
                <a:latin typeface="Segoe UI" pitchFamily="34" charset="0"/>
                <a:ea typeface="Segoe UI" pitchFamily="34" charset="-122"/>
                <a:cs typeface="Segoe UI" pitchFamily="34" charset="-120"/>
              </a:rPr>
              <a:t>3</a:t>
            </a:r>
            <a:endParaRPr lang="en-US" sz="3600" dirty="0"/>
          </a:p>
        </p:txBody>
      </p:sp>
      <p:sp>
        <p:nvSpPr>
          <p:cNvPr id="19" name="Text 17"/>
          <p:cNvSpPr/>
          <p:nvPr/>
        </p:nvSpPr>
        <p:spPr>
          <a:xfrm>
            <a:off x="1371600" y="3429000"/>
            <a:ext cx="640080" cy="640080"/>
          </a:xfrm>
          <a:prstGeom prst="rect">
            <a:avLst/>
          </a:prstGeom>
          <a:noFill/>
          <a:ln/>
        </p:spPr>
        <p:txBody>
          <a:bodyPr wrap="square" lIns="0" tIns="0" rIns="0" bIns="0" rtlCol="0" anchor="ctr"/>
          <a:lstStyle/>
          <a:p>
            <a:pPr algn="ctr" indent="0" marL="0">
              <a:buNone/>
            </a:pPr>
            <a:r>
              <a:rPr lang="en-US" sz="3000" dirty="0">
                <a:solidFill>
                  <a:srgbClr val="000000"/>
                </a:solidFill>
              </a:rPr>
              <a:t>🚶</a:t>
            </a:r>
            <a:endParaRPr lang="en-US" sz="3000" dirty="0"/>
          </a:p>
        </p:txBody>
      </p:sp>
      <p:sp>
        <p:nvSpPr>
          <p:cNvPr id="20" name="Text 18"/>
          <p:cNvSpPr/>
          <p:nvPr/>
        </p:nvSpPr>
        <p:spPr>
          <a:xfrm>
            <a:off x="2103120" y="3383280"/>
            <a:ext cx="2743200" cy="411480"/>
          </a:xfrm>
          <a:prstGeom prst="rect">
            <a:avLst/>
          </a:prstGeom>
          <a:noFill/>
          <a:ln/>
        </p:spPr>
        <p:txBody>
          <a:bodyPr wrap="square" lIns="0" tIns="0" rIns="0" bIns="0" rtlCol="0" anchor="ctr"/>
          <a:lstStyle/>
          <a:p>
            <a:pPr indent="0" marL="0">
              <a:buNone/>
            </a:pPr>
            <a:r>
              <a:rPr lang="en-US" sz="2100" b="1" dirty="0">
                <a:solidFill>
                  <a:srgbClr val="2C5AA0"/>
                </a:solidFill>
                <a:latin typeface="BIZ UDPGothic" pitchFamily="34" charset="0"/>
                <a:ea typeface="BIZ UDPGothic" pitchFamily="34" charset="-122"/>
                <a:cs typeface="BIZ UDPGothic" pitchFamily="34" charset="-120"/>
              </a:rPr>
              <a:t>歩行チェック</a:t>
            </a:r>
            <a:endParaRPr lang="en-US" sz="2100" dirty="0"/>
          </a:p>
        </p:txBody>
      </p:sp>
      <p:sp>
        <p:nvSpPr>
          <p:cNvPr id="21" name="Text 19"/>
          <p:cNvSpPr/>
          <p:nvPr/>
        </p:nvSpPr>
        <p:spPr>
          <a:xfrm>
            <a:off x="2103120" y="3794760"/>
            <a:ext cx="5943600" cy="411480"/>
          </a:xfrm>
          <a:prstGeom prst="rect">
            <a:avLst/>
          </a:prstGeom>
          <a:noFill/>
          <a:ln/>
        </p:spPr>
        <p:txBody>
          <a:bodyPr wrap="square" lIns="0" tIns="0" rIns="0" bIns="0" rtlCol="0" anchor="ctr"/>
          <a:lstStyle/>
          <a:p>
            <a:pPr indent="0" marL="0">
              <a:lnSpc>
                <a:spcPct val="110000"/>
              </a:lnSpc>
              <a:buNone/>
            </a:pPr>
            <a:r>
              <a:rPr lang="en-US" sz="1600" dirty="0">
                <a:solidFill>
                  <a:srgbClr val="2D3436"/>
                </a:solidFill>
                <a:latin typeface="BIZ UDPGothic" pitchFamily="34" charset="0"/>
                <a:ea typeface="BIZ UDPGothic" pitchFamily="34" charset="-122"/>
                <a:cs typeface="BIZ UDPGothic" pitchFamily="34" charset="-120"/>
              </a:rPr>
              <a:t>一直線上を歩く / つま先歩き・かかと歩き</a:t>
            </a:r>
            <a:endParaRPr lang="en-US" sz="1600" dirty="0"/>
          </a:p>
          <a:p>
            <a:pPr indent="0" marL="0">
              <a:lnSpc>
                <a:spcPct val="110000"/>
              </a:lnSpc>
              <a:buNone/>
            </a:pPr>
            <a:r>
              <a:rPr lang="en-US" sz="1600" dirty="0">
                <a:solidFill>
                  <a:srgbClr val="2D3436"/>
                </a:solidFill>
                <a:latin typeface="BIZ UDPGothic" pitchFamily="34" charset="0"/>
                <a:ea typeface="BIZ UDPGothic" pitchFamily="34" charset="-122"/>
                <a:cs typeface="BIZ UDPGothic" pitchFamily="34" charset="-120"/>
              </a:rPr>
              <a:t>ふらつきがあれば脊髄症の可能性</a:t>
            </a:r>
            <a:endParaRPr lang="en-US" sz="1600" dirty="0"/>
          </a:p>
        </p:txBody>
      </p:sp>
      <p:sp>
        <p:nvSpPr>
          <p:cNvPr id="22" name="Text 20"/>
          <p:cNvSpPr/>
          <p:nvPr/>
        </p:nvSpPr>
        <p:spPr>
          <a:xfrm>
            <a:off x="457200" y="4434840"/>
            <a:ext cx="8229600" cy="320040"/>
          </a:xfrm>
          <a:prstGeom prst="rect">
            <a:avLst/>
          </a:prstGeom>
          <a:noFill/>
          <a:ln/>
        </p:spPr>
        <p:txBody>
          <a:bodyPr wrap="square" lIns="0" tIns="0" rIns="0" bIns="0" rtlCol="0" anchor="ctr"/>
          <a:lstStyle/>
          <a:p>
            <a:pPr indent="0" marL="0">
              <a:buNone/>
            </a:pPr>
            <a:r>
              <a:rPr lang="en-US" sz="1300" dirty="0">
                <a:solidFill>
                  <a:srgbClr val="636E72"/>
                </a:solidFill>
                <a:latin typeface="BIZ UDPGothic" pitchFamily="34" charset="0"/>
                <a:ea typeface="BIZ UDPGothic" pitchFamily="34" charset="-122"/>
                <a:cs typeface="BIZ UDPGothic" pitchFamily="34" charset="-120"/>
              </a:rPr>
              <a:t>※ 痛みが強い場合は無理をせず中止してください</a:t>
            </a:r>
            <a:endParaRPr lang="en-US" sz="1300" dirty="0"/>
          </a:p>
        </p:txBody>
      </p:sp>
      <p:sp>
        <p:nvSpPr>
          <p:cNvPr id="23" name="Shape 21"/>
          <p:cNvSpPr/>
          <p:nvPr/>
        </p:nvSpPr>
        <p:spPr>
          <a:xfrm>
            <a:off x="0" y="4800600"/>
            <a:ext cx="9144000" cy="347472"/>
          </a:xfrm>
          <a:prstGeom prst="rect">
            <a:avLst/>
          </a:prstGeom>
          <a:solidFill>
            <a:srgbClr val="1B3A5C"/>
          </a:solidFill>
          <a:ln/>
        </p:spPr>
      </p:sp>
      <p:sp>
        <p:nvSpPr>
          <p:cNvPr id="24" name="Text 22"/>
          <p:cNvSpPr/>
          <p:nvPr/>
        </p:nvSpPr>
        <p:spPr>
          <a:xfrm>
            <a:off x="365760" y="4818888"/>
            <a:ext cx="4572000" cy="274320"/>
          </a:xfrm>
          <a:prstGeom prst="rect">
            <a:avLst/>
          </a:prstGeom>
          <a:noFill/>
          <a:ln/>
        </p:spPr>
        <p:txBody>
          <a:bodyPr wrap="square" lIns="0" tIns="0" rIns="0" bIns="0" rtlCol="0" anchor="ctr"/>
          <a:lstStyle/>
          <a:p>
            <a:pPr indent="0" marL="0">
              <a:buNone/>
            </a:pPr>
            <a:r>
              <a:rPr lang="en-US" sz="1000" dirty="0">
                <a:solidFill>
                  <a:srgbClr val="FFFFFF"/>
                </a:solidFill>
                <a:latin typeface="BIZ UDPGothic" pitchFamily="34" charset="0"/>
                <a:ea typeface="BIZ UDPGothic" pitchFamily="34" charset="-122"/>
                <a:cs typeface="BIZ UDPGothic" pitchFamily="34" charset="-120"/>
              </a:rPr>
              <a:t>医知創造ラボ ｜ その症状、大丈夫？ #09</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DC3545"/>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BIZ UDPGothic" pitchFamily="34" charset="0"/>
                <a:ea typeface="BIZ UDPGothic" pitchFamily="34" charset="-122"/>
                <a:cs typeface="BIZ UDPGothic" pitchFamily="34" charset="-120"/>
              </a:rPr>
              <a:t>こんな場合はすぐ受診 ― 危険なサイン</a:t>
            </a:r>
            <a:endParaRPr lang="en-US" sz="2600" dirty="0"/>
          </a:p>
        </p:txBody>
      </p:sp>
      <p:sp>
        <p:nvSpPr>
          <p:cNvPr id="4" name="Shape 2"/>
          <p:cNvSpPr/>
          <p:nvPr/>
        </p:nvSpPr>
        <p:spPr>
          <a:xfrm>
            <a:off x="457200" y="1051560"/>
            <a:ext cx="8229600" cy="594360"/>
          </a:xfrm>
          <a:prstGeom prst="rect">
            <a:avLst>
              <a:gd name="adj" fmla="val 15385"/>
            </a:avLst>
          </a:prstGeom>
          <a:solidFill>
            <a:srgbClr val="F8D7DA"/>
          </a:solidFill>
          <a:ln/>
          <a:effectLst>
            <a:outerShdw sx="100000" sy="100000" kx="0" ky="0" algn="bl" rotWithShape="0" blurRad="50800" dist="25400" dir="8100000">
              <a:srgbClr val="000000">
                <a:alpha val="12000"/>
              </a:srgbClr>
            </a:outerShdw>
          </a:effectLst>
        </p:spPr>
      </p:sp>
      <p:sp>
        <p:nvSpPr>
          <p:cNvPr id="5" name="Shape 3"/>
          <p:cNvSpPr/>
          <p:nvPr/>
        </p:nvSpPr>
        <p:spPr>
          <a:xfrm>
            <a:off x="457200" y="1051560"/>
            <a:ext cx="109728" cy="594360"/>
          </a:xfrm>
          <a:prstGeom prst="rect">
            <a:avLst>
              <a:gd name="adj" fmla="val 41667"/>
            </a:avLst>
          </a:prstGeom>
          <a:solidFill>
            <a:srgbClr val="DC3545"/>
          </a:solidFill>
          <a:ln/>
        </p:spPr>
      </p:sp>
      <p:sp>
        <p:nvSpPr>
          <p:cNvPr id="6" name="Text 4"/>
          <p:cNvSpPr/>
          <p:nvPr/>
        </p:nvSpPr>
        <p:spPr>
          <a:xfrm>
            <a:off x="731520" y="1097280"/>
            <a:ext cx="548640" cy="50292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7" name="Text 5"/>
          <p:cNvSpPr/>
          <p:nvPr/>
        </p:nvSpPr>
        <p:spPr>
          <a:xfrm>
            <a:off x="1371600" y="1097280"/>
            <a:ext cx="7040880" cy="502920"/>
          </a:xfrm>
          <a:prstGeom prst="rect">
            <a:avLst/>
          </a:prstGeom>
          <a:noFill/>
          <a:ln/>
        </p:spPr>
        <p:txBody>
          <a:bodyPr wrap="square" lIns="0" tIns="0" rIns="0" bIns="0" rtlCol="0" anchor="ctr"/>
          <a:lstStyle/>
          <a:p>
            <a:pPr indent="0" marL="0">
              <a:buNone/>
            </a:pPr>
            <a:r>
              <a:rPr lang="en-US" sz="1800" dirty="0">
                <a:solidFill>
                  <a:srgbClr val="2D3436"/>
                </a:solidFill>
                <a:latin typeface="BIZ UDPGothic" pitchFamily="34" charset="0"/>
                <a:ea typeface="BIZ UDPGothic" pitchFamily="34" charset="-122"/>
                <a:cs typeface="BIZ UDPGothic" pitchFamily="34" charset="-120"/>
              </a:rPr>
              <a:t>発熱＋首の硬直（髄膜炎の可能性）</a:t>
            </a:r>
            <a:endParaRPr lang="en-US" sz="1800" dirty="0"/>
          </a:p>
        </p:txBody>
      </p:sp>
      <p:sp>
        <p:nvSpPr>
          <p:cNvPr id="8" name="Shape 6"/>
          <p:cNvSpPr/>
          <p:nvPr/>
        </p:nvSpPr>
        <p:spPr>
          <a:xfrm>
            <a:off x="457200" y="1764792"/>
            <a:ext cx="8229600" cy="594360"/>
          </a:xfrm>
          <a:prstGeom prst="rect">
            <a:avLst>
              <a:gd name="adj" fmla="val 15385"/>
            </a:avLst>
          </a:prstGeom>
          <a:solidFill>
            <a:srgbClr val="F8D7DA"/>
          </a:solidFill>
          <a:ln/>
          <a:effectLst>
            <a:outerShdw sx="100000" sy="100000" kx="0" ky="0" algn="bl" rotWithShape="0" blurRad="50800" dist="25400" dir="8100000">
              <a:srgbClr val="000000">
                <a:alpha val="12000"/>
              </a:srgbClr>
            </a:outerShdw>
          </a:effectLst>
        </p:spPr>
      </p:sp>
      <p:sp>
        <p:nvSpPr>
          <p:cNvPr id="9" name="Shape 7"/>
          <p:cNvSpPr/>
          <p:nvPr/>
        </p:nvSpPr>
        <p:spPr>
          <a:xfrm>
            <a:off x="457200" y="1764792"/>
            <a:ext cx="109728" cy="594360"/>
          </a:xfrm>
          <a:prstGeom prst="rect">
            <a:avLst>
              <a:gd name="adj" fmla="val 41667"/>
            </a:avLst>
          </a:prstGeom>
          <a:solidFill>
            <a:srgbClr val="DC3545"/>
          </a:solidFill>
          <a:ln/>
        </p:spPr>
      </p:sp>
      <p:sp>
        <p:nvSpPr>
          <p:cNvPr id="10" name="Text 8"/>
          <p:cNvSpPr/>
          <p:nvPr/>
        </p:nvSpPr>
        <p:spPr>
          <a:xfrm>
            <a:off x="731520" y="1810512"/>
            <a:ext cx="548640" cy="50292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11" name="Text 9"/>
          <p:cNvSpPr/>
          <p:nvPr/>
        </p:nvSpPr>
        <p:spPr>
          <a:xfrm>
            <a:off x="1371600" y="1810512"/>
            <a:ext cx="7040880" cy="502920"/>
          </a:xfrm>
          <a:prstGeom prst="rect">
            <a:avLst/>
          </a:prstGeom>
          <a:noFill/>
          <a:ln/>
        </p:spPr>
        <p:txBody>
          <a:bodyPr wrap="square" lIns="0" tIns="0" rIns="0" bIns="0" rtlCol="0" anchor="ctr"/>
          <a:lstStyle/>
          <a:p>
            <a:pPr indent="0" marL="0">
              <a:buNone/>
            </a:pPr>
            <a:r>
              <a:rPr lang="en-US" sz="1800" dirty="0">
                <a:solidFill>
                  <a:srgbClr val="2D3436"/>
                </a:solidFill>
                <a:latin typeface="BIZ UDPGothic" pitchFamily="34" charset="0"/>
                <a:ea typeface="BIZ UDPGothic" pitchFamily="34" charset="-122"/>
                <a:cs typeface="BIZ UDPGothic" pitchFamily="34" charset="-120"/>
              </a:rPr>
              <a:t>突然の激しい後頭部の痛み（椎骨動脈解離・くも膜下出血）</a:t>
            </a:r>
            <a:endParaRPr lang="en-US" sz="1800" dirty="0"/>
          </a:p>
        </p:txBody>
      </p:sp>
      <p:sp>
        <p:nvSpPr>
          <p:cNvPr id="12" name="Shape 10"/>
          <p:cNvSpPr/>
          <p:nvPr/>
        </p:nvSpPr>
        <p:spPr>
          <a:xfrm>
            <a:off x="457200" y="2478024"/>
            <a:ext cx="8229600" cy="594360"/>
          </a:xfrm>
          <a:prstGeom prst="rect">
            <a:avLst>
              <a:gd name="adj" fmla="val 15385"/>
            </a:avLst>
          </a:prstGeom>
          <a:solidFill>
            <a:srgbClr val="F8D7DA"/>
          </a:solidFill>
          <a:ln/>
          <a:effectLst>
            <a:outerShdw sx="100000" sy="100000" kx="0" ky="0" algn="bl" rotWithShape="0" blurRad="50800" dist="25400" dir="8100000">
              <a:srgbClr val="000000">
                <a:alpha val="12000"/>
              </a:srgbClr>
            </a:outerShdw>
          </a:effectLst>
        </p:spPr>
      </p:sp>
      <p:sp>
        <p:nvSpPr>
          <p:cNvPr id="13" name="Shape 11"/>
          <p:cNvSpPr/>
          <p:nvPr/>
        </p:nvSpPr>
        <p:spPr>
          <a:xfrm>
            <a:off x="457200" y="2478024"/>
            <a:ext cx="109728" cy="594360"/>
          </a:xfrm>
          <a:prstGeom prst="rect">
            <a:avLst>
              <a:gd name="adj" fmla="val 41667"/>
            </a:avLst>
          </a:prstGeom>
          <a:solidFill>
            <a:srgbClr val="DC3545"/>
          </a:solidFill>
          <a:ln/>
        </p:spPr>
      </p:sp>
      <p:sp>
        <p:nvSpPr>
          <p:cNvPr id="14" name="Text 12"/>
          <p:cNvSpPr/>
          <p:nvPr/>
        </p:nvSpPr>
        <p:spPr>
          <a:xfrm>
            <a:off x="731520" y="2523744"/>
            <a:ext cx="548640" cy="50292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15" name="Text 13"/>
          <p:cNvSpPr/>
          <p:nvPr/>
        </p:nvSpPr>
        <p:spPr>
          <a:xfrm>
            <a:off x="1371600" y="2523744"/>
            <a:ext cx="7040880" cy="502920"/>
          </a:xfrm>
          <a:prstGeom prst="rect">
            <a:avLst/>
          </a:prstGeom>
          <a:noFill/>
          <a:ln/>
        </p:spPr>
        <p:txBody>
          <a:bodyPr wrap="square" lIns="0" tIns="0" rIns="0" bIns="0" rtlCol="0" anchor="ctr"/>
          <a:lstStyle/>
          <a:p>
            <a:pPr indent="0" marL="0">
              <a:buNone/>
            </a:pPr>
            <a:r>
              <a:rPr lang="en-US" sz="1800" dirty="0">
                <a:solidFill>
                  <a:srgbClr val="2D3436"/>
                </a:solidFill>
                <a:latin typeface="BIZ UDPGothic" pitchFamily="34" charset="0"/>
                <a:ea typeface="BIZ UDPGothic" pitchFamily="34" charset="-122"/>
                <a:cs typeface="BIZ UDPGothic" pitchFamily="34" charset="-120"/>
              </a:rPr>
              <a:t>手の巧緻運動障害・歩行のふらつきが進行（脊髄症）</a:t>
            </a:r>
            <a:endParaRPr lang="en-US" sz="1800" dirty="0"/>
          </a:p>
        </p:txBody>
      </p:sp>
      <p:sp>
        <p:nvSpPr>
          <p:cNvPr id="16" name="Shape 14"/>
          <p:cNvSpPr/>
          <p:nvPr/>
        </p:nvSpPr>
        <p:spPr>
          <a:xfrm>
            <a:off x="457200" y="3191256"/>
            <a:ext cx="8229600" cy="594360"/>
          </a:xfrm>
          <a:prstGeom prst="rect">
            <a:avLst>
              <a:gd name="adj" fmla="val 15385"/>
            </a:avLst>
          </a:prstGeom>
          <a:solidFill>
            <a:srgbClr val="F8D7DA"/>
          </a:solidFill>
          <a:ln/>
          <a:effectLst>
            <a:outerShdw sx="100000" sy="100000" kx="0" ky="0" algn="bl" rotWithShape="0" blurRad="50800" dist="25400" dir="8100000">
              <a:srgbClr val="000000">
                <a:alpha val="12000"/>
              </a:srgbClr>
            </a:outerShdw>
          </a:effectLst>
        </p:spPr>
      </p:sp>
      <p:sp>
        <p:nvSpPr>
          <p:cNvPr id="17" name="Shape 15"/>
          <p:cNvSpPr/>
          <p:nvPr/>
        </p:nvSpPr>
        <p:spPr>
          <a:xfrm>
            <a:off x="457200" y="3191256"/>
            <a:ext cx="109728" cy="594360"/>
          </a:xfrm>
          <a:prstGeom prst="rect">
            <a:avLst>
              <a:gd name="adj" fmla="val 41667"/>
            </a:avLst>
          </a:prstGeom>
          <a:solidFill>
            <a:srgbClr val="DC3545"/>
          </a:solidFill>
          <a:ln/>
        </p:spPr>
      </p:sp>
      <p:sp>
        <p:nvSpPr>
          <p:cNvPr id="18" name="Text 16"/>
          <p:cNvSpPr/>
          <p:nvPr/>
        </p:nvSpPr>
        <p:spPr>
          <a:xfrm>
            <a:off x="731520" y="3236976"/>
            <a:ext cx="548640" cy="50292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19" name="Text 17"/>
          <p:cNvSpPr/>
          <p:nvPr/>
        </p:nvSpPr>
        <p:spPr>
          <a:xfrm>
            <a:off x="1371600" y="3236976"/>
            <a:ext cx="7040880" cy="502920"/>
          </a:xfrm>
          <a:prstGeom prst="rect">
            <a:avLst/>
          </a:prstGeom>
          <a:noFill/>
          <a:ln/>
        </p:spPr>
        <p:txBody>
          <a:bodyPr wrap="square" lIns="0" tIns="0" rIns="0" bIns="0" rtlCol="0" anchor="ctr"/>
          <a:lstStyle/>
          <a:p>
            <a:pPr indent="0" marL="0">
              <a:buNone/>
            </a:pPr>
            <a:r>
              <a:rPr lang="en-US" sz="1800" dirty="0">
                <a:solidFill>
                  <a:srgbClr val="2D3436"/>
                </a:solidFill>
                <a:latin typeface="BIZ UDPGothic" pitchFamily="34" charset="0"/>
                <a:ea typeface="BIZ UDPGothic" pitchFamily="34" charset="-122"/>
                <a:cs typeface="BIZ UDPGothic" pitchFamily="34" charset="-120"/>
              </a:rPr>
              <a:t>首の痛み＋両手足のしびれ（脊髄の圧迫）</a:t>
            </a:r>
            <a:endParaRPr lang="en-US" sz="1800" dirty="0"/>
          </a:p>
        </p:txBody>
      </p:sp>
      <p:sp>
        <p:nvSpPr>
          <p:cNvPr id="20" name="Shape 18"/>
          <p:cNvSpPr/>
          <p:nvPr/>
        </p:nvSpPr>
        <p:spPr>
          <a:xfrm>
            <a:off x="457200" y="3904488"/>
            <a:ext cx="8229600" cy="594360"/>
          </a:xfrm>
          <a:prstGeom prst="rect">
            <a:avLst>
              <a:gd name="adj" fmla="val 15385"/>
            </a:avLst>
          </a:prstGeom>
          <a:solidFill>
            <a:srgbClr val="F8D7DA"/>
          </a:solidFill>
          <a:ln/>
          <a:effectLst>
            <a:outerShdw sx="100000" sy="100000" kx="0" ky="0" algn="bl" rotWithShape="0" blurRad="50800" dist="25400" dir="8100000">
              <a:srgbClr val="000000">
                <a:alpha val="12000"/>
              </a:srgbClr>
            </a:outerShdw>
          </a:effectLst>
        </p:spPr>
      </p:sp>
      <p:sp>
        <p:nvSpPr>
          <p:cNvPr id="21" name="Shape 19"/>
          <p:cNvSpPr/>
          <p:nvPr/>
        </p:nvSpPr>
        <p:spPr>
          <a:xfrm>
            <a:off x="457200" y="3904488"/>
            <a:ext cx="109728" cy="594360"/>
          </a:xfrm>
          <a:prstGeom prst="rect">
            <a:avLst>
              <a:gd name="adj" fmla="val 41667"/>
            </a:avLst>
          </a:prstGeom>
          <a:solidFill>
            <a:srgbClr val="DC3545"/>
          </a:solidFill>
          <a:ln/>
        </p:spPr>
      </p:sp>
      <p:sp>
        <p:nvSpPr>
          <p:cNvPr id="22" name="Text 20"/>
          <p:cNvSpPr/>
          <p:nvPr/>
        </p:nvSpPr>
        <p:spPr>
          <a:xfrm>
            <a:off x="731520" y="3950208"/>
            <a:ext cx="548640" cy="50292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23" name="Text 21"/>
          <p:cNvSpPr/>
          <p:nvPr/>
        </p:nvSpPr>
        <p:spPr>
          <a:xfrm>
            <a:off x="1371600" y="3950208"/>
            <a:ext cx="7040880" cy="502920"/>
          </a:xfrm>
          <a:prstGeom prst="rect">
            <a:avLst/>
          </a:prstGeom>
          <a:noFill/>
          <a:ln/>
        </p:spPr>
        <p:txBody>
          <a:bodyPr wrap="square" lIns="0" tIns="0" rIns="0" bIns="0" rtlCol="0" anchor="ctr"/>
          <a:lstStyle/>
          <a:p>
            <a:pPr indent="0" marL="0">
              <a:buNone/>
            </a:pPr>
            <a:r>
              <a:rPr lang="en-US" sz="1800" dirty="0">
                <a:solidFill>
                  <a:srgbClr val="2D3436"/>
                </a:solidFill>
                <a:latin typeface="BIZ UDPGothic" pitchFamily="34" charset="0"/>
                <a:ea typeface="BIZ UDPGothic" pitchFamily="34" charset="-122"/>
                <a:cs typeface="BIZ UDPGothic" pitchFamily="34" charset="-120"/>
              </a:rPr>
              <a:t>外傷後の首の痛み＋手足のしびれ（頚椎骨折・脊髄損傷）</a:t>
            </a:r>
            <a:endParaRPr lang="en-US" sz="1800" dirty="0"/>
          </a:p>
        </p:txBody>
      </p:sp>
      <p:sp>
        <p:nvSpPr>
          <p:cNvPr id="24" name="Shape 22"/>
          <p:cNvSpPr/>
          <p:nvPr/>
        </p:nvSpPr>
        <p:spPr>
          <a:xfrm>
            <a:off x="914400" y="4572000"/>
            <a:ext cx="7315200" cy="182880"/>
          </a:xfrm>
          <a:prstGeom prst="rect">
            <a:avLst>
              <a:gd name="adj" fmla="val 50000"/>
            </a:avLst>
          </a:prstGeom>
          <a:solidFill>
            <a:srgbClr val="DC3545"/>
          </a:solidFill>
          <a:ln/>
          <a:effectLst>
            <a:outerShdw sx="100000" sy="100000" kx="0" ky="0" algn="bl" rotWithShape="0" blurRad="50800" dist="25400" dir="8100000">
              <a:srgbClr val="000000">
                <a:alpha val="12000"/>
              </a:srgbClr>
            </a:outerShdw>
          </a:effectLst>
        </p:spPr>
      </p:sp>
      <p:sp>
        <p:nvSpPr>
          <p:cNvPr id="25" name="Shape 23"/>
          <p:cNvSpPr/>
          <p:nvPr/>
        </p:nvSpPr>
        <p:spPr>
          <a:xfrm>
            <a:off x="0" y="4800600"/>
            <a:ext cx="9144000" cy="347472"/>
          </a:xfrm>
          <a:prstGeom prst="rect">
            <a:avLst/>
          </a:prstGeom>
          <a:solidFill>
            <a:srgbClr val="1B3A5C"/>
          </a:solidFill>
          <a:ln/>
        </p:spPr>
      </p:sp>
      <p:sp>
        <p:nvSpPr>
          <p:cNvPr id="26" name="Text 24"/>
          <p:cNvSpPr/>
          <p:nvPr/>
        </p:nvSpPr>
        <p:spPr>
          <a:xfrm>
            <a:off x="365760" y="4818888"/>
            <a:ext cx="4572000" cy="274320"/>
          </a:xfrm>
          <a:prstGeom prst="rect">
            <a:avLst/>
          </a:prstGeom>
          <a:noFill/>
          <a:ln/>
        </p:spPr>
        <p:txBody>
          <a:bodyPr wrap="square" lIns="0" tIns="0" rIns="0" bIns="0" rtlCol="0" anchor="ctr"/>
          <a:lstStyle/>
          <a:p>
            <a:pPr indent="0" marL="0">
              <a:buNone/>
            </a:pPr>
            <a:r>
              <a:rPr lang="en-US" sz="1000" dirty="0">
                <a:solidFill>
                  <a:srgbClr val="FFFFFF"/>
                </a:solidFill>
                <a:latin typeface="BIZ UDPGothic" pitchFamily="34" charset="0"/>
                <a:ea typeface="BIZ UDPGothic" pitchFamily="34" charset="-122"/>
                <a:cs typeface="BIZ UDPGothic" pitchFamily="34" charset="-120"/>
              </a:rPr>
              <a:t>医知創造ラボ ｜ その症状、大丈夫？ #09</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BIZ UDPGothic" pitchFamily="34" charset="0"/>
                <a:ea typeface="BIZ UDPGothic" pitchFamily="34" charset="-122"/>
                <a:cs typeface="BIZ UDPGothic" pitchFamily="34" charset="-120"/>
              </a:rPr>
              <a:t>受診の目安 ― 緊急度3段階</a:t>
            </a:r>
            <a:endParaRPr lang="en-US" sz="2600" dirty="0"/>
          </a:p>
        </p:txBody>
      </p:sp>
      <p:sp>
        <p:nvSpPr>
          <p:cNvPr id="4" name="Shape 2"/>
          <p:cNvSpPr/>
          <p:nvPr/>
        </p:nvSpPr>
        <p:spPr>
          <a:xfrm>
            <a:off x="457200" y="1051560"/>
            <a:ext cx="8229600" cy="1005840"/>
          </a:xfrm>
          <a:prstGeom prst="rect">
            <a:avLst>
              <a:gd name="adj" fmla="val 9091"/>
            </a:avLst>
          </a:prstGeom>
          <a:solidFill>
            <a:srgbClr val="F8D7DA"/>
          </a:solidFill>
          <a:ln/>
          <a:effectLst>
            <a:outerShdw sx="100000" sy="100000" kx="0" ky="0" algn="bl" rotWithShape="0" blurRad="50800" dist="25400" dir="8100000">
              <a:srgbClr val="000000">
                <a:alpha val="12000"/>
              </a:srgbClr>
            </a:outerShdw>
          </a:effectLst>
        </p:spPr>
      </p:sp>
      <p:sp>
        <p:nvSpPr>
          <p:cNvPr id="5" name="Shape 3"/>
          <p:cNvSpPr/>
          <p:nvPr/>
        </p:nvSpPr>
        <p:spPr>
          <a:xfrm>
            <a:off x="457200" y="1051560"/>
            <a:ext cx="109728" cy="1005840"/>
          </a:xfrm>
          <a:prstGeom prst="rect">
            <a:avLst>
              <a:gd name="adj" fmla="val 41667"/>
            </a:avLst>
          </a:prstGeom>
          <a:solidFill>
            <a:srgbClr val="DC3545"/>
          </a:solidFill>
          <a:ln/>
        </p:spPr>
      </p:sp>
      <p:sp>
        <p:nvSpPr>
          <p:cNvPr id="6" name="Text 4"/>
          <p:cNvSpPr/>
          <p:nvPr/>
        </p:nvSpPr>
        <p:spPr>
          <a:xfrm>
            <a:off x="731520" y="1097280"/>
            <a:ext cx="2743200" cy="411480"/>
          </a:xfrm>
          <a:prstGeom prst="rect">
            <a:avLst/>
          </a:prstGeom>
          <a:noFill/>
          <a:ln/>
        </p:spPr>
        <p:txBody>
          <a:bodyPr wrap="square" lIns="0" tIns="0" rIns="0" bIns="0" rtlCol="0" anchor="ctr"/>
          <a:lstStyle/>
          <a:p>
            <a:pPr indent="0" marL="0">
              <a:buNone/>
            </a:pPr>
            <a:r>
              <a:rPr lang="en-US" sz="2100" b="1" dirty="0">
                <a:solidFill>
                  <a:srgbClr val="DC3545"/>
                </a:solidFill>
                <a:latin typeface="BIZ UDPGothic" pitchFamily="34" charset="0"/>
                <a:ea typeface="BIZ UDPGothic" pitchFamily="34" charset="-122"/>
                <a:cs typeface="BIZ UDPGothic" pitchFamily="34" charset="-120"/>
              </a:rPr>
              <a:t>🔴 すぐ受診</a:t>
            </a:r>
            <a:endParaRPr lang="en-US" sz="2100" dirty="0"/>
          </a:p>
        </p:txBody>
      </p:sp>
      <p:sp>
        <p:nvSpPr>
          <p:cNvPr id="7" name="Text 5"/>
          <p:cNvSpPr/>
          <p:nvPr/>
        </p:nvSpPr>
        <p:spPr>
          <a:xfrm>
            <a:off x="731520" y="1508760"/>
            <a:ext cx="4572000" cy="502920"/>
          </a:xfrm>
          <a:prstGeom prst="rect">
            <a:avLst/>
          </a:prstGeom>
          <a:noFill/>
          <a:ln/>
        </p:spPr>
        <p:txBody>
          <a:bodyPr wrap="square" lIns="0" tIns="0" rIns="0" bIns="0" rtlCol="0" anchor="ctr"/>
          <a:lstStyle/>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発熱＋首の硬直</a:t>
            </a:r>
            <a:endParaRPr lang="en-US" sz="1500" dirty="0"/>
          </a:p>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突然の激しい後頭部の痛み</a:t>
            </a:r>
            <a:endParaRPr lang="en-US" sz="1500" dirty="0"/>
          </a:p>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外傷後の首の痛み＋手足のしびれ</a:t>
            </a:r>
            <a:endParaRPr lang="en-US" sz="1500" dirty="0"/>
          </a:p>
        </p:txBody>
      </p:sp>
      <p:sp>
        <p:nvSpPr>
          <p:cNvPr id="8" name="Text 6"/>
          <p:cNvSpPr/>
          <p:nvPr/>
        </p:nvSpPr>
        <p:spPr>
          <a:xfrm>
            <a:off x="5486400" y="1188720"/>
            <a:ext cx="3017520" cy="731520"/>
          </a:xfrm>
          <a:prstGeom prst="rect">
            <a:avLst/>
          </a:prstGeom>
          <a:noFill/>
          <a:ln/>
        </p:spPr>
        <p:txBody>
          <a:bodyPr wrap="square" lIns="0" tIns="0" rIns="0" bIns="0" rtlCol="0" anchor="ctr"/>
          <a:lstStyle/>
          <a:p>
            <a:pPr indent="0" marL="0">
              <a:lnSpc>
                <a:spcPct val="115000"/>
              </a:lnSpc>
              <a:buNone/>
            </a:pPr>
            <a:r>
              <a:rPr lang="en-US" sz="1600" b="1" dirty="0">
                <a:solidFill>
                  <a:srgbClr val="DC3545"/>
                </a:solidFill>
                <a:latin typeface="BIZ UDPGothic" pitchFamily="34" charset="0"/>
                <a:ea typeface="BIZ UDPGothic" pitchFamily="34" charset="-122"/>
                <a:cs typeface="BIZ UDPGothic" pitchFamily="34" charset="-120"/>
              </a:rPr>
              <a:t>髄膜炎・くも膜下出血</a:t>
            </a:r>
            <a:endParaRPr lang="en-US" sz="1600" dirty="0"/>
          </a:p>
          <a:p>
            <a:pPr indent="0" marL="0">
              <a:lnSpc>
                <a:spcPct val="115000"/>
              </a:lnSpc>
              <a:buNone/>
            </a:pPr>
            <a:r>
              <a:rPr lang="en-US" sz="1600" b="1" dirty="0">
                <a:solidFill>
                  <a:srgbClr val="DC3545"/>
                </a:solidFill>
                <a:latin typeface="BIZ UDPGothic" pitchFamily="34" charset="0"/>
                <a:ea typeface="BIZ UDPGothic" pitchFamily="34" charset="-122"/>
                <a:cs typeface="BIZ UDPGothic" pitchFamily="34" charset="-120"/>
              </a:rPr>
              <a:t>脊髄損傷→119番</a:t>
            </a:r>
            <a:endParaRPr lang="en-US" sz="1600" dirty="0"/>
          </a:p>
        </p:txBody>
      </p:sp>
      <p:sp>
        <p:nvSpPr>
          <p:cNvPr id="9" name="Shape 7"/>
          <p:cNvSpPr/>
          <p:nvPr/>
        </p:nvSpPr>
        <p:spPr>
          <a:xfrm>
            <a:off x="457200" y="2240280"/>
            <a:ext cx="8229600" cy="1005840"/>
          </a:xfrm>
          <a:prstGeom prst="rect">
            <a:avLst>
              <a:gd name="adj" fmla="val 9091"/>
            </a:avLst>
          </a:prstGeom>
          <a:solidFill>
            <a:srgbClr val="FFF3CD"/>
          </a:solidFill>
          <a:ln/>
          <a:effectLst>
            <a:outerShdw sx="100000" sy="100000" kx="0" ky="0" algn="bl" rotWithShape="0" blurRad="50800" dist="25400" dir="8100000">
              <a:srgbClr val="000000">
                <a:alpha val="12000"/>
              </a:srgbClr>
            </a:outerShdw>
          </a:effectLst>
        </p:spPr>
      </p:sp>
      <p:sp>
        <p:nvSpPr>
          <p:cNvPr id="10" name="Shape 8"/>
          <p:cNvSpPr/>
          <p:nvPr/>
        </p:nvSpPr>
        <p:spPr>
          <a:xfrm>
            <a:off x="457200" y="2240280"/>
            <a:ext cx="109728" cy="1005840"/>
          </a:xfrm>
          <a:prstGeom prst="rect">
            <a:avLst>
              <a:gd name="adj" fmla="val 41667"/>
            </a:avLst>
          </a:prstGeom>
          <a:solidFill>
            <a:srgbClr val="856404"/>
          </a:solidFill>
          <a:ln/>
        </p:spPr>
      </p:sp>
      <p:sp>
        <p:nvSpPr>
          <p:cNvPr id="11" name="Text 9"/>
          <p:cNvSpPr/>
          <p:nvPr/>
        </p:nvSpPr>
        <p:spPr>
          <a:xfrm>
            <a:off x="731520" y="2286000"/>
            <a:ext cx="2743200" cy="411480"/>
          </a:xfrm>
          <a:prstGeom prst="rect">
            <a:avLst/>
          </a:prstGeom>
          <a:noFill/>
          <a:ln/>
        </p:spPr>
        <p:txBody>
          <a:bodyPr wrap="square" lIns="0" tIns="0" rIns="0" bIns="0" rtlCol="0" anchor="ctr"/>
          <a:lstStyle/>
          <a:p>
            <a:pPr indent="0" marL="0">
              <a:buNone/>
            </a:pPr>
            <a:r>
              <a:rPr lang="en-US" sz="2100" b="1" dirty="0">
                <a:solidFill>
                  <a:srgbClr val="856404"/>
                </a:solidFill>
                <a:latin typeface="BIZ UDPGothic" pitchFamily="34" charset="0"/>
                <a:ea typeface="BIZ UDPGothic" pitchFamily="34" charset="-122"/>
                <a:cs typeface="BIZ UDPGothic" pitchFamily="34" charset="-120"/>
              </a:rPr>
              <a:t>🟡 早めに受診</a:t>
            </a:r>
            <a:endParaRPr lang="en-US" sz="2100" dirty="0"/>
          </a:p>
        </p:txBody>
      </p:sp>
      <p:sp>
        <p:nvSpPr>
          <p:cNvPr id="12" name="Text 10"/>
          <p:cNvSpPr/>
          <p:nvPr/>
        </p:nvSpPr>
        <p:spPr>
          <a:xfrm>
            <a:off x="731520" y="2697480"/>
            <a:ext cx="4572000" cy="502920"/>
          </a:xfrm>
          <a:prstGeom prst="rect">
            <a:avLst/>
          </a:prstGeom>
          <a:noFill/>
          <a:ln/>
        </p:spPr>
        <p:txBody>
          <a:bodyPr wrap="square" lIns="0" tIns="0" rIns="0" bIns="0" rtlCol="0" anchor="ctr"/>
          <a:lstStyle/>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手のしびれ・脱力が続く</a:t>
            </a:r>
            <a:endParaRPr lang="en-US" sz="1500" dirty="0"/>
          </a:p>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歩行のふらつきが進行</a:t>
            </a:r>
            <a:endParaRPr lang="en-US" sz="1500" dirty="0"/>
          </a:p>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2週間以上改善しない</a:t>
            </a:r>
            <a:endParaRPr lang="en-US" sz="1500" dirty="0"/>
          </a:p>
        </p:txBody>
      </p:sp>
      <p:sp>
        <p:nvSpPr>
          <p:cNvPr id="13" name="Text 11"/>
          <p:cNvSpPr/>
          <p:nvPr/>
        </p:nvSpPr>
        <p:spPr>
          <a:xfrm>
            <a:off x="5486400" y="2377440"/>
            <a:ext cx="3017520" cy="731520"/>
          </a:xfrm>
          <a:prstGeom prst="rect">
            <a:avLst/>
          </a:prstGeom>
          <a:noFill/>
          <a:ln/>
        </p:spPr>
        <p:txBody>
          <a:bodyPr wrap="square" lIns="0" tIns="0" rIns="0" bIns="0" rtlCol="0" anchor="ctr"/>
          <a:lstStyle/>
          <a:p>
            <a:pPr indent="0" marL="0">
              <a:lnSpc>
                <a:spcPct val="115000"/>
              </a:lnSpc>
              <a:buNone/>
            </a:pPr>
            <a:r>
              <a:rPr lang="en-US" sz="1600" b="1" dirty="0">
                <a:solidFill>
                  <a:srgbClr val="856404"/>
                </a:solidFill>
                <a:latin typeface="BIZ UDPGothic" pitchFamily="34" charset="0"/>
                <a:ea typeface="BIZ UDPGothic" pitchFamily="34" charset="-122"/>
                <a:cs typeface="BIZ UDPGothic" pitchFamily="34" charset="-120"/>
              </a:rPr>
              <a:t>脳神経内科・整形外科</a:t>
            </a:r>
            <a:endParaRPr lang="en-US" sz="1600" dirty="0"/>
          </a:p>
          <a:p>
            <a:pPr indent="0" marL="0">
              <a:lnSpc>
                <a:spcPct val="115000"/>
              </a:lnSpc>
              <a:buNone/>
            </a:pPr>
            <a:r>
              <a:rPr lang="en-US" sz="1600" b="1" dirty="0">
                <a:solidFill>
                  <a:srgbClr val="856404"/>
                </a:solidFill>
                <a:latin typeface="BIZ UDPGothic" pitchFamily="34" charset="0"/>
                <a:ea typeface="BIZ UDPGothic" pitchFamily="34" charset="-122"/>
                <a:cs typeface="BIZ UDPGothic" pitchFamily="34" charset="-120"/>
              </a:rPr>
              <a:t>で原因精査</a:t>
            </a:r>
            <a:endParaRPr lang="en-US" sz="1600" dirty="0"/>
          </a:p>
        </p:txBody>
      </p:sp>
      <p:sp>
        <p:nvSpPr>
          <p:cNvPr id="14" name="Shape 12"/>
          <p:cNvSpPr/>
          <p:nvPr/>
        </p:nvSpPr>
        <p:spPr>
          <a:xfrm>
            <a:off x="457200" y="3429000"/>
            <a:ext cx="8229600" cy="1005840"/>
          </a:xfrm>
          <a:prstGeom prst="rect">
            <a:avLst>
              <a:gd name="adj" fmla="val 9091"/>
            </a:avLst>
          </a:prstGeom>
          <a:solidFill>
            <a:srgbClr val="D4EDDA"/>
          </a:solidFill>
          <a:ln/>
          <a:effectLst>
            <a:outerShdw sx="100000" sy="100000" kx="0" ky="0" algn="bl" rotWithShape="0" blurRad="50800" dist="25400" dir="8100000">
              <a:srgbClr val="000000">
                <a:alpha val="12000"/>
              </a:srgbClr>
            </a:outerShdw>
          </a:effectLst>
        </p:spPr>
      </p:sp>
      <p:sp>
        <p:nvSpPr>
          <p:cNvPr id="15" name="Shape 13"/>
          <p:cNvSpPr/>
          <p:nvPr/>
        </p:nvSpPr>
        <p:spPr>
          <a:xfrm>
            <a:off x="457200" y="3429000"/>
            <a:ext cx="109728" cy="1005840"/>
          </a:xfrm>
          <a:prstGeom prst="rect">
            <a:avLst>
              <a:gd name="adj" fmla="val 41667"/>
            </a:avLst>
          </a:prstGeom>
          <a:solidFill>
            <a:srgbClr val="28A745"/>
          </a:solidFill>
          <a:ln/>
        </p:spPr>
      </p:sp>
      <p:sp>
        <p:nvSpPr>
          <p:cNvPr id="16" name="Text 14"/>
          <p:cNvSpPr/>
          <p:nvPr/>
        </p:nvSpPr>
        <p:spPr>
          <a:xfrm>
            <a:off x="731520" y="3474720"/>
            <a:ext cx="2743200" cy="411480"/>
          </a:xfrm>
          <a:prstGeom prst="rect">
            <a:avLst/>
          </a:prstGeom>
          <a:noFill/>
          <a:ln/>
        </p:spPr>
        <p:txBody>
          <a:bodyPr wrap="square" lIns="0" tIns="0" rIns="0" bIns="0" rtlCol="0" anchor="ctr"/>
          <a:lstStyle/>
          <a:p>
            <a:pPr indent="0" marL="0">
              <a:buNone/>
            </a:pPr>
            <a:r>
              <a:rPr lang="en-US" sz="2100" b="1" dirty="0">
                <a:solidFill>
                  <a:srgbClr val="28A745"/>
                </a:solidFill>
                <a:latin typeface="BIZ UDPGothic" pitchFamily="34" charset="0"/>
                <a:ea typeface="BIZ UDPGothic" pitchFamily="34" charset="-122"/>
                <a:cs typeface="BIZ UDPGothic" pitchFamily="34" charset="-120"/>
              </a:rPr>
              <a:t>🟢 様子見OK</a:t>
            </a:r>
            <a:endParaRPr lang="en-US" sz="2100" dirty="0"/>
          </a:p>
        </p:txBody>
      </p:sp>
      <p:sp>
        <p:nvSpPr>
          <p:cNvPr id="17" name="Text 15"/>
          <p:cNvSpPr/>
          <p:nvPr/>
        </p:nvSpPr>
        <p:spPr>
          <a:xfrm>
            <a:off x="731520" y="3886200"/>
            <a:ext cx="4572000" cy="502920"/>
          </a:xfrm>
          <a:prstGeom prst="rect">
            <a:avLst/>
          </a:prstGeom>
          <a:noFill/>
          <a:ln/>
        </p:spPr>
        <p:txBody>
          <a:bodyPr wrap="square" lIns="0" tIns="0" rIns="0" bIns="0" rtlCol="0" anchor="ctr"/>
          <a:lstStyle/>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寝違え・肩こり程度</a:t>
            </a:r>
            <a:endParaRPr lang="en-US" sz="1500" dirty="0"/>
          </a:p>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ストレッチで改善する</a:t>
            </a:r>
            <a:endParaRPr lang="en-US" sz="1500" dirty="0"/>
          </a:p>
        </p:txBody>
      </p:sp>
      <p:sp>
        <p:nvSpPr>
          <p:cNvPr id="18" name="Text 16"/>
          <p:cNvSpPr/>
          <p:nvPr/>
        </p:nvSpPr>
        <p:spPr>
          <a:xfrm>
            <a:off x="5486400" y="3566160"/>
            <a:ext cx="3017520" cy="731520"/>
          </a:xfrm>
          <a:prstGeom prst="rect">
            <a:avLst/>
          </a:prstGeom>
          <a:noFill/>
          <a:ln/>
        </p:spPr>
        <p:txBody>
          <a:bodyPr wrap="square" lIns="0" tIns="0" rIns="0" bIns="0" rtlCol="0" anchor="ctr"/>
          <a:lstStyle/>
          <a:p>
            <a:pPr indent="0" marL="0">
              <a:lnSpc>
                <a:spcPct val="115000"/>
              </a:lnSpc>
              <a:buNone/>
            </a:pPr>
            <a:r>
              <a:rPr lang="en-US" sz="1600" b="1" dirty="0">
                <a:solidFill>
                  <a:srgbClr val="28A745"/>
                </a:solidFill>
                <a:latin typeface="BIZ UDPGothic" pitchFamily="34" charset="0"/>
                <a:ea typeface="BIZ UDPGothic" pitchFamily="34" charset="-122"/>
                <a:cs typeface="BIZ UDPGothic" pitchFamily="34" charset="-120"/>
              </a:rPr>
              <a:t>悪化したら受診</a:t>
            </a:r>
            <a:endParaRPr lang="en-US" sz="1600" dirty="0"/>
          </a:p>
          <a:p>
            <a:pPr indent="0" marL="0">
              <a:lnSpc>
                <a:spcPct val="115000"/>
              </a:lnSpc>
              <a:buNone/>
            </a:pPr>
            <a:r>
              <a:rPr lang="en-US" sz="1600" b="1" dirty="0">
                <a:solidFill>
                  <a:srgbClr val="28A745"/>
                </a:solidFill>
                <a:latin typeface="BIZ UDPGothic" pitchFamily="34" charset="0"/>
                <a:ea typeface="BIZ UDPGothic" pitchFamily="34" charset="-122"/>
                <a:cs typeface="BIZ UDPGothic" pitchFamily="34" charset="-120"/>
              </a:rPr>
              <a:t>姿勢改善で予防</a:t>
            </a:r>
            <a:endParaRPr lang="en-US" sz="1600" dirty="0"/>
          </a:p>
        </p:txBody>
      </p:sp>
      <p:sp>
        <p:nvSpPr>
          <p:cNvPr id="19" name="Shape 17"/>
          <p:cNvSpPr/>
          <p:nvPr/>
        </p:nvSpPr>
        <p:spPr>
          <a:xfrm>
            <a:off x="0" y="4800600"/>
            <a:ext cx="9144000" cy="347472"/>
          </a:xfrm>
          <a:prstGeom prst="rect">
            <a:avLst/>
          </a:prstGeom>
          <a:solidFill>
            <a:srgbClr val="1B3A5C"/>
          </a:solidFill>
          <a:ln/>
        </p:spPr>
      </p:sp>
      <p:sp>
        <p:nvSpPr>
          <p:cNvPr id="20" name="Text 18"/>
          <p:cNvSpPr/>
          <p:nvPr/>
        </p:nvSpPr>
        <p:spPr>
          <a:xfrm>
            <a:off x="365760" y="4818888"/>
            <a:ext cx="4572000" cy="274320"/>
          </a:xfrm>
          <a:prstGeom prst="rect">
            <a:avLst/>
          </a:prstGeom>
          <a:noFill/>
          <a:ln/>
        </p:spPr>
        <p:txBody>
          <a:bodyPr wrap="square" lIns="0" tIns="0" rIns="0" bIns="0" rtlCol="0" anchor="ctr"/>
          <a:lstStyle/>
          <a:p>
            <a:pPr indent="0" marL="0">
              <a:buNone/>
            </a:pPr>
            <a:r>
              <a:rPr lang="en-US" sz="1000" dirty="0">
                <a:solidFill>
                  <a:srgbClr val="FFFFFF"/>
                </a:solidFill>
                <a:latin typeface="BIZ UDPGothic" pitchFamily="34" charset="0"/>
                <a:ea typeface="BIZ UDPGothic" pitchFamily="34" charset="-122"/>
                <a:cs typeface="BIZ UDPGothic" pitchFamily="34" charset="-120"/>
              </a:rPr>
              <a:t>医知創造ラボ ｜ その症状、大丈夫？ #09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BIZ UDPGothic" pitchFamily="34" charset="0"/>
                <a:ea typeface="BIZ UDPGothic" pitchFamily="34" charset="-122"/>
                <a:cs typeface="BIZ UDPGothic" pitchFamily="34" charset="-120"/>
              </a:rPr>
              <a:t>首の痛みを調べる検査</a:t>
            </a:r>
            <a:endParaRPr lang="en-US" sz="2600" dirty="0"/>
          </a:p>
        </p:txBody>
      </p:sp>
      <p:sp>
        <p:nvSpPr>
          <p:cNvPr id="4" name="Shape 2"/>
          <p:cNvSpPr/>
          <p:nvPr/>
        </p:nvSpPr>
        <p:spPr>
          <a:xfrm>
            <a:off x="457200" y="960120"/>
            <a:ext cx="8229600" cy="640080"/>
          </a:xfrm>
          <a:prstGeom prst="rect">
            <a:avLst>
              <a:gd name="adj" fmla="val 14286"/>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457200" y="960120"/>
            <a:ext cx="109728" cy="640080"/>
          </a:xfrm>
          <a:prstGeom prst="rect">
            <a:avLst>
              <a:gd name="adj" fmla="val 41667"/>
            </a:avLst>
          </a:prstGeom>
          <a:solidFill>
            <a:srgbClr val="2C5AA0"/>
          </a:solidFill>
          <a:ln/>
        </p:spPr>
      </p:sp>
      <p:sp>
        <p:nvSpPr>
          <p:cNvPr id="6" name="Text 4"/>
          <p:cNvSpPr/>
          <p:nvPr/>
        </p:nvSpPr>
        <p:spPr>
          <a:xfrm>
            <a:off x="640080" y="1033272"/>
            <a:ext cx="548640" cy="50292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7" name="Text 5"/>
          <p:cNvSpPr/>
          <p:nvPr/>
        </p:nvSpPr>
        <p:spPr>
          <a:xfrm>
            <a:off x="1280160" y="1033272"/>
            <a:ext cx="2560320" cy="502920"/>
          </a:xfrm>
          <a:prstGeom prst="rect">
            <a:avLst/>
          </a:prstGeom>
          <a:noFill/>
          <a:ln/>
        </p:spPr>
        <p:txBody>
          <a:bodyPr wrap="square" lIns="0" tIns="0" rIns="0" bIns="0" rtlCol="0" anchor="ctr"/>
          <a:lstStyle/>
          <a:p>
            <a:pPr indent="0" marL="0">
              <a:buNone/>
            </a:pPr>
            <a:r>
              <a:rPr lang="en-US" sz="1800" b="1" dirty="0">
                <a:solidFill>
                  <a:srgbClr val="2C5AA0"/>
                </a:solidFill>
                <a:latin typeface="BIZ UDPGothic" pitchFamily="34" charset="0"/>
                <a:ea typeface="BIZ UDPGothic" pitchFamily="34" charset="-122"/>
                <a:cs typeface="BIZ UDPGothic" pitchFamily="34" charset="-120"/>
              </a:rPr>
              <a:t>頚椎MRI</a:t>
            </a:r>
            <a:endParaRPr lang="en-US" sz="1800" dirty="0"/>
          </a:p>
        </p:txBody>
      </p:sp>
      <p:sp>
        <p:nvSpPr>
          <p:cNvPr id="8" name="Text 6"/>
          <p:cNvSpPr/>
          <p:nvPr/>
        </p:nvSpPr>
        <p:spPr>
          <a:xfrm>
            <a:off x="3931920" y="1033272"/>
            <a:ext cx="3657600" cy="320040"/>
          </a:xfrm>
          <a:prstGeom prst="rect">
            <a:avLst/>
          </a:prstGeom>
          <a:noFill/>
          <a:ln/>
        </p:spPr>
        <p:txBody>
          <a:bodyPr wrap="square" lIns="0" tIns="0" rIns="0" bIns="0" rtlCol="0" anchor="ctr"/>
          <a:lstStyle/>
          <a:p>
            <a:pPr indent="0" marL="0">
              <a:buNone/>
            </a:pPr>
            <a:r>
              <a:rPr lang="en-US" sz="1400" dirty="0">
                <a:solidFill>
                  <a:srgbClr val="2D3436"/>
                </a:solidFill>
                <a:latin typeface="BIZ UDPGothic" pitchFamily="34" charset="0"/>
                <a:ea typeface="BIZ UDPGothic" pitchFamily="34" charset="-122"/>
                <a:cs typeface="BIZ UDPGothic" pitchFamily="34" charset="-120"/>
              </a:rPr>
              <a:t>脊髄の圧迫・椎間板ヘルニア・脊髄症</a:t>
            </a:r>
            <a:endParaRPr lang="en-US" sz="1400" dirty="0"/>
          </a:p>
        </p:txBody>
      </p:sp>
      <p:sp>
        <p:nvSpPr>
          <p:cNvPr id="9" name="Text 7"/>
          <p:cNvSpPr/>
          <p:nvPr/>
        </p:nvSpPr>
        <p:spPr>
          <a:xfrm>
            <a:off x="3931920" y="1325880"/>
            <a:ext cx="3657600" cy="228600"/>
          </a:xfrm>
          <a:prstGeom prst="rect">
            <a:avLst/>
          </a:prstGeom>
          <a:noFill/>
          <a:ln/>
        </p:spPr>
        <p:txBody>
          <a:bodyPr wrap="square" lIns="0" tIns="0" rIns="0" bIns="0" rtlCol="0" anchor="ctr"/>
          <a:lstStyle/>
          <a:p>
            <a:pPr indent="0" marL="0">
              <a:buNone/>
            </a:pPr>
            <a:r>
              <a:rPr lang="en-US" sz="1200" dirty="0">
                <a:solidFill>
                  <a:srgbClr val="636E72"/>
                </a:solidFill>
                <a:latin typeface="BIZ UDPGothic" pitchFamily="34" charset="0"/>
                <a:ea typeface="BIZ UDPGothic" pitchFamily="34" charset="-122"/>
                <a:cs typeface="BIZ UDPGothic" pitchFamily="34" charset="-120"/>
              </a:rPr>
              <a:t>しびれ・歩行障害では必須</a:t>
            </a:r>
            <a:endParaRPr lang="en-US" sz="1200" dirty="0"/>
          </a:p>
        </p:txBody>
      </p:sp>
      <p:sp>
        <p:nvSpPr>
          <p:cNvPr id="10" name="Shape 8"/>
          <p:cNvSpPr/>
          <p:nvPr/>
        </p:nvSpPr>
        <p:spPr>
          <a:xfrm>
            <a:off x="457200" y="1709928"/>
            <a:ext cx="8229600" cy="640080"/>
          </a:xfrm>
          <a:prstGeom prst="rect">
            <a:avLst>
              <a:gd name="adj" fmla="val 14286"/>
            </a:avLst>
          </a:prstGeom>
          <a:solidFill>
            <a:srgbClr val="FFFFFF"/>
          </a:solidFill>
          <a:ln/>
          <a:effectLst>
            <a:outerShdw sx="100000" sy="100000" kx="0" ky="0" algn="bl" rotWithShape="0" blurRad="50800" dist="25400" dir="8100000">
              <a:srgbClr val="000000">
                <a:alpha val="12000"/>
              </a:srgbClr>
            </a:outerShdw>
          </a:effectLst>
        </p:spPr>
      </p:sp>
      <p:sp>
        <p:nvSpPr>
          <p:cNvPr id="11" name="Shape 9"/>
          <p:cNvSpPr/>
          <p:nvPr/>
        </p:nvSpPr>
        <p:spPr>
          <a:xfrm>
            <a:off x="457200" y="1709928"/>
            <a:ext cx="109728" cy="640080"/>
          </a:xfrm>
          <a:prstGeom prst="rect">
            <a:avLst>
              <a:gd name="adj" fmla="val 41667"/>
            </a:avLst>
          </a:prstGeom>
          <a:solidFill>
            <a:srgbClr val="2C5AA0"/>
          </a:solidFill>
          <a:ln/>
        </p:spPr>
      </p:sp>
      <p:sp>
        <p:nvSpPr>
          <p:cNvPr id="12" name="Text 10"/>
          <p:cNvSpPr/>
          <p:nvPr/>
        </p:nvSpPr>
        <p:spPr>
          <a:xfrm>
            <a:off x="640080" y="1783080"/>
            <a:ext cx="548640" cy="50292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3" name="Text 11"/>
          <p:cNvSpPr/>
          <p:nvPr/>
        </p:nvSpPr>
        <p:spPr>
          <a:xfrm>
            <a:off x="1280160" y="1783080"/>
            <a:ext cx="2560320" cy="502920"/>
          </a:xfrm>
          <a:prstGeom prst="rect">
            <a:avLst/>
          </a:prstGeom>
          <a:noFill/>
          <a:ln/>
        </p:spPr>
        <p:txBody>
          <a:bodyPr wrap="square" lIns="0" tIns="0" rIns="0" bIns="0" rtlCol="0" anchor="ctr"/>
          <a:lstStyle/>
          <a:p>
            <a:pPr indent="0" marL="0">
              <a:buNone/>
            </a:pPr>
            <a:r>
              <a:rPr lang="en-US" sz="1800" b="1" dirty="0">
                <a:solidFill>
                  <a:srgbClr val="2C5AA0"/>
                </a:solidFill>
                <a:latin typeface="BIZ UDPGothic" pitchFamily="34" charset="0"/>
                <a:ea typeface="BIZ UDPGothic" pitchFamily="34" charset="-122"/>
                <a:cs typeface="BIZ UDPGothic" pitchFamily="34" charset="-120"/>
              </a:rPr>
              <a:t>頚椎レントゲン</a:t>
            </a:r>
            <a:endParaRPr lang="en-US" sz="1800" dirty="0"/>
          </a:p>
        </p:txBody>
      </p:sp>
      <p:sp>
        <p:nvSpPr>
          <p:cNvPr id="14" name="Text 12"/>
          <p:cNvSpPr/>
          <p:nvPr/>
        </p:nvSpPr>
        <p:spPr>
          <a:xfrm>
            <a:off x="3931920" y="1783080"/>
            <a:ext cx="3657600" cy="320040"/>
          </a:xfrm>
          <a:prstGeom prst="rect">
            <a:avLst/>
          </a:prstGeom>
          <a:noFill/>
          <a:ln/>
        </p:spPr>
        <p:txBody>
          <a:bodyPr wrap="square" lIns="0" tIns="0" rIns="0" bIns="0" rtlCol="0" anchor="ctr"/>
          <a:lstStyle/>
          <a:p>
            <a:pPr indent="0" marL="0">
              <a:buNone/>
            </a:pPr>
            <a:r>
              <a:rPr lang="en-US" sz="1400" dirty="0">
                <a:solidFill>
                  <a:srgbClr val="2D3436"/>
                </a:solidFill>
                <a:latin typeface="BIZ UDPGothic" pitchFamily="34" charset="0"/>
                <a:ea typeface="BIZ UDPGothic" pitchFamily="34" charset="-122"/>
                <a:cs typeface="BIZ UDPGothic" pitchFamily="34" charset="-120"/>
              </a:rPr>
              <a:t>骨の変形・配列の異常</a:t>
            </a:r>
            <a:endParaRPr lang="en-US" sz="1400" dirty="0"/>
          </a:p>
        </p:txBody>
      </p:sp>
      <p:sp>
        <p:nvSpPr>
          <p:cNvPr id="15" name="Text 13"/>
          <p:cNvSpPr/>
          <p:nvPr/>
        </p:nvSpPr>
        <p:spPr>
          <a:xfrm>
            <a:off x="3931920" y="2075688"/>
            <a:ext cx="3657600" cy="228600"/>
          </a:xfrm>
          <a:prstGeom prst="rect">
            <a:avLst/>
          </a:prstGeom>
          <a:noFill/>
          <a:ln/>
        </p:spPr>
        <p:txBody>
          <a:bodyPr wrap="square" lIns="0" tIns="0" rIns="0" bIns="0" rtlCol="0" anchor="ctr"/>
          <a:lstStyle/>
          <a:p>
            <a:pPr indent="0" marL="0">
              <a:buNone/>
            </a:pPr>
            <a:r>
              <a:rPr lang="en-US" sz="1200" dirty="0">
                <a:solidFill>
                  <a:srgbClr val="636E72"/>
                </a:solidFill>
                <a:latin typeface="BIZ UDPGothic" pitchFamily="34" charset="0"/>
                <a:ea typeface="BIZ UDPGothic" pitchFamily="34" charset="-122"/>
                <a:cs typeface="BIZ UDPGothic" pitchFamily="34" charset="-120"/>
              </a:rPr>
              <a:t>まず最初のスクリーニング</a:t>
            </a:r>
            <a:endParaRPr lang="en-US" sz="1200" dirty="0"/>
          </a:p>
        </p:txBody>
      </p:sp>
      <p:sp>
        <p:nvSpPr>
          <p:cNvPr id="16" name="Shape 14"/>
          <p:cNvSpPr/>
          <p:nvPr/>
        </p:nvSpPr>
        <p:spPr>
          <a:xfrm>
            <a:off x="457200" y="2459736"/>
            <a:ext cx="8229600" cy="640080"/>
          </a:xfrm>
          <a:prstGeom prst="rect">
            <a:avLst>
              <a:gd name="adj" fmla="val 14286"/>
            </a:avLst>
          </a:prstGeom>
          <a:solidFill>
            <a:srgbClr val="FFFFFF"/>
          </a:solidFill>
          <a:ln/>
          <a:effectLst>
            <a:outerShdw sx="100000" sy="100000" kx="0" ky="0" algn="bl" rotWithShape="0" blurRad="50800" dist="25400" dir="8100000">
              <a:srgbClr val="000000">
                <a:alpha val="12000"/>
              </a:srgbClr>
            </a:outerShdw>
          </a:effectLst>
        </p:spPr>
      </p:sp>
      <p:sp>
        <p:nvSpPr>
          <p:cNvPr id="17" name="Shape 15"/>
          <p:cNvSpPr/>
          <p:nvPr/>
        </p:nvSpPr>
        <p:spPr>
          <a:xfrm>
            <a:off x="457200" y="2459736"/>
            <a:ext cx="109728" cy="640080"/>
          </a:xfrm>
          <a:prstGeom prst="rect">
            <a:avLst>
              <a:gd name="adj" fmla="val 41667"/>
            </a:avLst>
          </a:prstGeom>
          <a:solidFill>
            <a:srgbClr val="2C5AA0"/>
          </a:solidFill>
          <a:ln/>
        </p:spPr>
      </p:sp>
      <p:sp>
        <p:nvSpPr>
          <p:cNvPr id="18" name="Text 16"/>
          <p:cNvSpPr/>
          <p:nvPr/>
        </p:nvSpPr>
        <p:spPr>
          <a:xfrm>
            <a:off x="640080" y="2532888"/>
            <a:ext cx="548640" cy="50292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9" name="Text 17"/>
          <p:cNvSpPr/>
          <p:nvPr/>
        </p:nvSpPr>
        <p:spPr>
          <a:xfrm>
            <a:off x="1280160" y="2532888"/>
            <a:ext cx="2560320" cy="502920"/>
          </a:xfrm>
          <a:prstGeom prst="rect">
            <a:avLst/>
          </a:prstGeom>
          <a:noFill/>
          <a:ln/>
        </p:spPr>
        <p:txBody>
          <a:bodyPr wrap="square" lIns="0" tIns="0" rIns="0" bIns="0" rtlCol="0" anchor="ctr"/>
          <a:lstStyle/>
          <a:p>
            <a:pPr indent="0" marL="0">
              <a:buNone/>
            </a:pPr>
            <a:r>
              <a:rPr lang="en-US" sz="1800" b="1" dirty="0">
                <a:solidFill>
                  <a:srgbClr val="2C5AA0"/>
                </a:solidFill>
                <a:latin typeface="BIZ UDPGothic" pitchFamily="34" charset="0"/>
                <a:ea typeface="BIZ UDPGothic" pitchFamily="34" charset="-122"/>
                <a:cs typeface="BIZ UDPGothic" pitchFamily="34" charset="-120"/>
              </a:rPr>
              <a:t>頭部MRI・MRA</a:t>
            </a:r>
            <a:endParaRPr lang="en-US" sz="1800" dirty="0"/>
          </a:p>
        </p:txBody>
      </p:sp>
      <p:sp>
        <p:nvSpPr>
          <p:cNvPr id="20" name="Text 18"/>
          <p:cNvSpPr/>
          <p:nvPr/>
        </p:nvSpPr>
        <p:spPr>
          <a:xfrm>
            <a:off x="3931920" y="2532888"/>
            <a:ext cx="3657600" cy="320040"/>
          </a:xfrm>
          <a:prstGeom prst="rect">
            <a:avLst/>
          </a:prstGeom>
          <a:noFill/>
          <a:ln/>
        </p:spPr>
        <p:txBody>
          <a:bodyPr wrap="square" lIns="0" tIns="0" rIns="0" bIns="0" rtlCol="0" anchor="ctr"/>
          <a:lstStyle/>
          <a:p>
            <a:pPr indent="0" marL="0">
              <a:buNone/>
            </a:pPr>
            <a:r>
              <a:rPr lang="en-US" sz="1400" dirty="0">
                <a:solidFill>
                  <a:srgbClr val="2D3436"/>
                </a:solidFill>
                <a:latin typeface="BIZ UDPGothic" pitchFamily="34" charset="0"/>
                <a:ea typeface="BIZ UDPGothic" pitchFamily="34" charset="-122"/>
                <a:cs typeface="BIZ UDPGothic" pitchFamily="34" charset="-120"/>
              </a:rPr>
              <a:t>椎骨動脈解離・くも膜下出血</a:t>
            </a:r>
            <a:endParaRPr lang="en-US" sz="1400" dirty="0"/>
          </a:p>
        </p:txBody>
      </p:sp>
      <p:sp>
        <p:nvSpPr>
          <p:cNvPr id="21" name="Text 19"/>
          <p:cNvSpPr/>
          <p:nvPr/>
        </p:nvSpPr>
        <p:spPr>
          <a:xfrm>
            <a:off x="3931920" y="2825496"/>
            <a:ext cx="3657600" cy="228600"/>
          </a:xfrm>
          <a:prstGeom prst="rect">
            <a:avLst/>
          </a:prstGeom>
          <a:noFill/>
          <a:ln/>
        </p:spPr>
        <p:txBody>
          <a:bodyPr wrap="square" lIns="0" tIns="0" rIns="0" bIns="0" rtlCol="0" anchor="ctr"/>
          <a:lstStyle/>
          <a:p>
            <a:pPr indent="0" marL="0">
              <a:buNone/>
            </a:pPr>
            <a:r>
              <a:rPr lang="en-US" sz="1200" dirty="0">
                <a:solidFill>
                  <a:srgbClr val="636E72"/>
                </a:solidFill>
                <a:latin typeface="BIZ UDPGothic" pitchFamily="34" charset="0"/>
                <a:ea typeface="BIZ UDPGothic" pitchFamily="34" charset="-122"/>
                <a:cs typeface="BIZ UDPGothic" pitchFamily="34" charset="-120"/>
              </a:rPr>
              <a:t>突然の痛みでは必須</a:t>
            </a:r>
            <a:endParaRPr lang="en-US" sz="1200" dirty="0"/>
          </a:p>
        </p:txBody>
      </p:sp>
      <p:sp>
        <p:nvSpPr>
          <p:cNvPr id="22" name="Shape 20"/>
          <p:cNvSpPr/>
          <p:nvPr/>
        </p:nvSpPr>
        <p:spPr>
          <a:xfrm>
            <a:off x="457200" y="3209544"/>
            <a:ext cx="8229600" cy="640080"/>
          </a:xfrm>
          <a:prstGeom prst="rect">
            <a:avLst>
              <a:gd name="adj" fmla="val 14286"/>
            </a:avLst>
          </a:prstGeom>
          <a:solidFill>
            <a:srgbClr val="FFFFFF"/>
          </a:solidFill>
          <a:ln/>
          <a:effectLst>
            <a:outerShdw sx="100000" sy="100000" kx="0" ky="0" algn="bl" rotWithShape="0" blurRad="50800" dist="25400" dir="8100000">
              <a:srgbClr val="000000">
                <a:alpha val="12000"/>
              </a:srgbClr>
            </a:outerShdw>
          </a:effectLst>
        </p:spPr>
      </p:sp>
      <p:sp>
        <p:nvSpPr>
          <p:cNvPr id="23" name="Shape 21"/>
          <p:cNvSpPr/>
          <p:nvPr/>
        </p:nvSpPr>
        <p:spPr>
          <a:xfrm>
            <a:off x="457200" y="3209544"/>
            <a:ext cx="109728" cy="640080"/>
          </a:xfrm>
          <a:prstGeom prst="rect">
            <a:avLst>
              <a:gd name="adj" fmla="val 41667"/>
            </a:avLst>
          </a:prstGeom>
          <a:solidFill>
            <a:srgbClr val="2C5AA0"/>
          </a:solidFill>
          <a:ln/>
        </p:spPr>
      </p:sp>
      <p:sp>
        <p:nvSpPr>
          <p:cNvPr id="24" name="Text 22"/>
          <p:cNvSpPr/>
          <p:nvPr/>
        </p:nvSpPr>
        <p:spPr>
          <a:xfrm>
            <a:off x="640080" y="3282696"/>
            <a:ext cx="548640" cy="50292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5" name="Text 23"/>
          <p:cNvSpPr/>
          <p:nvPr/>
        </p:nvSpPr>
        <p:spPr>
          <a:xfrm>
            <a:off x="1280160" y="3282696"/>
            <a:ext cx="2560320" cy="502920"/>
          </a:xfrm>
          <a:prstGeom prst="rect">
            <a:avLst/>
          </a:prstGeom>
          <a:noFill/>
          <a:ln/>
        </p:spPr>
        <p:txBody>
          <a:bodyPr wrap="square" lIns="0" tIns="0" rIns="0" bIns="0" rtlCol="0" anchor="ctr"/>
          <a:lstStyle/>
          <a:p>
            <a:pPr indent="0" marL="0">
              <a:buNone/>
            </a:pPr>
            <a:r>
              <a:rPr lang="en-US" sz="1800" b="1" dirty="0">
                <a:solidFill>
                  <a:srgbClr val="2C5AA0"/>
                </a:solidFill>
                <a:latin typeface="BIZ UDPGothic" pitchFamily="34" charset="0"/>
                <a:ea typeface="BIZ UDPGothic" pitchFamily="34" charset="-122"/>
                <a:cs typeface="BIZ UDPGothic" pitchFamily="34" charset="-120"/>
              </a:rPr>
              <a:t>血液検査・腰椎穿刺</a:t>
            </a:r>
            <a:endParaRPr lang="en-US" sz="1800" dirty="0"/>
          </a:p>
        </p:txBody>
      </p:sp>
      <p:sp>
        <p:nvSpPr>
          <p:cNvPr id="26" name="Text 24"/>
          <p:cNvSpPr/>
          <p:nvPr/>
        </p:nvSpPr>
        <p:spPr>
          <a:xfrm>
            <a:off x="3931920" y="3282696"/>
            <a:ext cx="3657600" cy="320040"/>
          </a:xfrm>
          <a:prstGeom prst="rect">
            <a:avLst/>
          </a:prstGeom>
          <a:noFill/>
          <a:ln/>
        </p:spPr>
        <p:txBody>
          <a:bodyPr wrap="square" lIns="0" tIns="0" rIns="0" bIns="0" rtlCol="0" anchor="ctr"/>
          <a:lstStyle/>
          <a:p>
            <a:pPr indent="0" marL="0">
              <a:buNone/>
            </a:pPr>
            <a:r>
              <a:rPr lang="en-US" sz="1400" dirty="0">
                <a:solidFill>
                  <a:srgbClr val="2D3436"/>
                </a:solidFill>
                <a:latin typeface="BIZ UDPGothic" pitchFamily="34" charset="0"/>
                <a:ea typeface="BIZ UDPGothic" pitchFamily="34" charset="-122"/>
                <a:cs typeface="BIZ UDPGothic" pitchFamily="34" charset="-120"/>
              </a:rPr>
              <a:t>髄膜炎の診断</a:t>
            </a:r>
            <a:endParaRPr lang="en-US" sz="1400" dirty="0"/>
          </a:p>
        </p:txBody>
      </p:sp>
      <p:sp>
        <p:nvSpPr>
          <p:cNvPr id="27" name="Text 25"/>
          <p:cNvSpPr/>
          <p:nvPr/>
        </p:nvSpPr>
        <p:spPr>
          <a:xfrm>
            <a:off x="3931920" y="3575304"/>
            <a:ext cx="3657600" cy="228600"/>
          </a:xfrm>
          <a:prstGeom prst="rect">
            <a:avLst/>
          </a:prstGeom>
          <a:noFill/>
          <a:ln/>
        </p:spPr>
        <p:txBody>
          <a:bodyPr wrap="square" lIns="0" tIns="0" rIns="0" bIns="0" rtlCol="0" anchor="ctr"/>
          <a:lstStyle/>
          <a:p>
            <a:pPr indent="0" marL="0">
              <a:buNone/>
            </a:pPr>
            <a:r>
              <a:rPr lang="en-US" sz="1200" dirty="0">
                <a:solidFill>
                  <a:srgbClr val="636E72"/>
                </a:solidFill>
                <a:latin typeface="BIZ UDPGothic" pitchFamily="34" charset="0"/>
                <a:ea typeface="BIZ UDPGothic" pitchFamily="34" charset="-122"/>
                <a:cs typeface="BIZ UDPGothic" pitchFamily="34" charset="-120"/>
              </a:rPr>
              <a:t>発熱＋首の硬直がある場合</a:t>
            </a:r>
            <a:endParaRPr lang="en-US" sz="1200" dirty="0"/>
          </a:p>
        </p:txBody>
      </p:sp>
      <p:sp>
        <p:nvSpPr>
          <p:cNvPr id="28" name="Shape 26"/>
          <p:cNvSpPr/>
          <p:nvPr/>
        </p:nvSpPr>
        <p:spPr>
          <a:xfrm>
            <a:off x="457200" y="3959352"/>
            <a:ext cx="8229600" cy="640080"/>
          </a:xfrm>
          <a:prstGeom prst="rect">
            <a:avLst>
              <a:gd name="adj" fmla="val 14286"/>
            </a:avLst>
          </a:prstGeom>
          <a:solidFill>
            <a:srgbClr val="FFFFFF"/>
          </a:solidFill>
          <a:ln/>
          <a:effectLst>
            <a:outerShdw sx="100000" sy="100000" kx="0" ky="0" algn="bl" rotWithShape="0" blurRad="50800" dist="25400" dir="8100000">
              <a:srgbClr val="000000">
                <a:alpha val="12000"/>
              </a:srgbClr>
            </a:outerShdw>
          </a:effectLst>
        </p:spPr>
      </p:sp>
      <p:sp>
        <p:nvSpPr>
          <p:cNvPr id="29" name="Shape 27"/>
          <p:cNvSpPr/>
          <p:nvPr/>
        </p:nvSpPr>
        <p:spPr>
          <a:xfrm>
            <a:off x="457200" y="3959352"/>
            <a:ext cx="109728" cy="640080"/>
          </a:xfrm>
          <a:prstGeom prst="rect">
            <a:avLst>
              <a:gd name="adj" fmla="val 41667"/>
            </a:avLst>
          </a:prstGeom>
          <a:solidFill>
            <a:srgbClr val="2C5AA0"/>
          </a:solidFill>
          <a:ln/>
        </p:spPr>
      </p:sp>
      <p:sp>
        <p:nvSpPr>
          <p:cNvPr id="30" name="Text 28"/>
          <p:cNvSpPr/>
          <p:nvPr/>
        </p:nvSpPr>
        <p:spPr>
          <a:xfrm>
            <a:off x="640080" y="4032504"/>
            <a:ext cx="548640" cy="50292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31" name="Text 29"/>
          <p:cNvSpPr/>
          <p:nvPr/>
        </p:nvSpPr>
        <p:spPr>
          <a:xfrm>
            <a:off x="1280160" y="4032504"/>
            <a:ext cx="2560320" cy="502920"/>
          </a:xfrm>
          <a:prstGeom prst="rect">
            <a:avLst/>
          </a:prstGeom>
          <a:noFill/>
          <a:ln/>
        </p:spPr>
        <p:txBody>
          <a:bodyPr wrap="square" lIns="0" tIns="0" rIns="0" bIns="0" rtlCol="0" anchor="ctr"/>
          <a:lstStyle/>
          <a:p>
            <a:pPr indent="0" marL="0">
              <a:buNone/>
            </a:pPr>
            <a:r>
              <a:rPr lang="en-US" sz="1800" b="1" dirty="0">
                <a:solidFill>
                  <a:srgbClr val="2C5AA0"/>
                </a:solidFill>
                <a:latin typeface="BIZ UDPGothic" pitchFamily="34" charset="0"/>
                <a:ea typeface="BIZ UDPGothic" pitchFamily="34" charset="-122"/>
                <a:cs typeface="BIZ UDPGothic" pitchFamily="34" charset="-120"/>
              </a:rPr>
              <a:t>神経伝導検査・筋電図</a:t>
            </a:r>
            <a:endParaRPr lang="en-US" sz="1800" dirty="0"/>
          </a:p>
        </p:txBody>
      </p:sp>
      <p:sp>
        <p:nvSpPr>
          <p:cNvPr id="32" name="Text 30"/>
          <p:cNvSpPr/>
          <p:nvPr/>
        </p:nvSpPr>
        <p:spPr>
          <a:xfrm>
            <a:off x="3931920" y="4032504"/>
            <a:ext cx="3657600" cy="320040"/>
          </a:xfrm>
          <a:prstGeom prst="rect">
            <a:avLst/>
          </a:prstGeom>
          <a:noFill/>
          <a:ln/>
        </p:spPr>
        <p:txBody>
          <a:bodyPr wrap="square" lIns="0" tIns="0" rIns="0" bIns="0" rtlCol="0" anchor="ctr"/>
          <a:lstStyle/>
          <a:p>
            <a:pPr indent="0" marL="0">
              <a:buNone/>
            </a:pPr>
            <a:r>
              <a:rPr lang="en-US" sz="1400" dirty="0">
                <a:solidFill>
                  <a:srgbClr val="2D3436"/>
                </a:solidFill>
                <a:latin typeface="BIZ UDPGothic" pitchFamily="34" charset="0"/>
                <a:ea typeface="BIZ UDPGothic" pitchFamily="34" charset="-122"/>
                <a:cs typeface="BIZ UDPGothic" pitchFamily="34" charset="-120"/>
              </a:rPr>
              <a:t>末梢神経の障害の評価</a:t>
            </a:r>
            <a:endParaRPr lang="en-US" sz="1400" dirty="0"/>
          </a:p>
        </p:txBody>
      </p:sp>
      <p:sp>
        <p:nvSpPr>
          <p:cNvPr id="33" name="Text 31"/>
          <p:cNvSpPr/>
          <p:nvPr/>
        </p:nvSpPr>
        <p:spPr>
          <a:xfrm>
            <a:off x="3931920" y="4325112"/>
            <a:ext cx="3657600" cy="228600"/>
          </a:xfrm>
          <a:prstGeom prst="rect">
            <a:avLst/>
          </a:prstGeom>
          <a:noFill/>
          <a:ln/>
        </p:spPr>
        <p:txBody>
          <a:bodyPr wrap="square" lIns="0" tIns="0" rIns="0" bIns="0" rtlCol="0" anchor="ctr"/>
          <a:lstStyle/>
          <a:p>
            <a:pPr indent="0" marL="0">
              <a:buNone/>
            </a:pPr>
            <a:r>
              <a:rPr lang="en-US" sz="1200" dirty="0">
                <a:solidFill>
                  <a:srgbClr val="636E72"/>
                </a:solidFill>
                <a:latin typeface="BIZ UDPGothic" pitchFamily="34" charset="0"/>
                <a:ea typeface="BIZ UDPGothic" pitchFamily="34" charset="-122"/>
                <a:cs typeface="BIZ UDPGothic" pitchFamily="34" charset="-120"/>
              </a:rPr>
              <a:t>しびれの原因鑑別</a:t>
            </a:r>
            <a:endParaRPr lang="en-US" sz="1200" dirty="0"/>
          </a:p>
        </p:txBody>
      </p:sp>
      <p:sp>
        <p:nvSpPr>
          <p:cNvPr id="34" name="Shape 32"/>
          <p:cNvSpPr/>
          <p:nvPr/>
        </p:nvSpPr>
        <p:spPr>
          <a:xfrm>
            <a:off x="0" y="4800600"/>
            <a:ext cx="9144000" cy="347472"/>
          </a:xfrm>
          <a:prstGeom prst="rect">
            <a:avLst/>
          </a:prstGeom>
          <a:solidFill>
            <a:srgbClr val="1B3A5C"/>
          </a:solidFill>
          <a:ln/>
        </p:spPr>
      </p:sp>
      <p:sp>
        <p:nvSpPr>
          <p:cNvPr id="35" name="Text 33"/>
          <p:cNvSpPr/>
          <p:nvPr/>
        </p:nvSpPr>
        <p:spPr>
          <a:xfrm>
            <a:off x="365760" y="4818888"/>
            <a:ext cx="4572000" cy="274320"/>
          </a:xfrm>
          <a:prstGeom prst="rect">
            <a:avLst/>
          </a:prstGeom>
          <a:noFill/>
          <a:ln/>
        </p:spPr>
        <p:txBody>
          <a:bodyPr wrap="square" lIns="0" tIns="0" rIns="0" bIns="0" rtlCol="0" anchor="ctr"/>
          <a:lstStyle/>
          <a:p>
            <a:pPr indent="0" marL="0">
              <a:buNone/>
            </a:pPr>
            <a:r>
              <a:rPr lang="en-US" sz="1000" dirty="0">
                <a:solidFill>
                  <a:srgbClr val="FFFFFF"/>
                </a:solidFill>
                <a:latin typeface="BIZ UDPGothic" pitchFamily="34" charset="0"/>
                <a:ea typeface="BIZ UDPGothic" pitchFamily="34" charset="-122"/>
                <a:cs typeface="BIZ UDPGothic" pitchFamily="34" charset="-120"/>
              </a:rPr>
              <a:t>医知創造ラボ ｜ その症状、大丈夫？ #09</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BIZ UDPGothic" pitchFamily="34" charset="0"/>
                <a:ea typeface="BIZ UDPGothic" pitchFamily="34" charset="-122"/>
                <a:cs typeface="BIZ UDPGothic" pitchFamily="34" charset="-120"/>
              </a:rPr>
              <a:t>よくある質問 Q&amp;A</a:t>
            </a:r>
            <a:endParaRPr lang="en-US" sz="2600" dirty="0"/>
          </a:p>
        </p:txBody>
      </p:sp>
      <p:sp>
        <p:nvSpPr>
          <p:cNvPr id="4" name="Shape 2"/>
          <p:cNvSpPr/>
          <p:nvPr/>
        </p:nvSpPr>
        <p:spPr>
          <a:xfrm>
            <a:off x="457200" y="1005840"/>
            <a:ext cx="8229600" cy="1051560"/>
          </a:xfrm>
          <a:prstGeom prst="rect">
            <a:avLst>
              <a:gd name="adj" fmla="val 8696"/>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457200" y="1005840"/>
            <a:ext cx="109728" cy="1051560"/>
          </a:xfrm>
          <a:prstGeom prst="rect">
            <a:avLst>
              <a:gd name="adj" fmla="val 41667"/>
            </a:avLst>
          </a:prstGeom>
          <a:solidFill>
            <a:srgbClr val="E8850C"/>
          </a:solidFill>
          <a:ln/>
        </p:spPr>
      </p:sp>
      <p:sp>
        <p:nvSpPr>
          <p:cNvPr id="6" name="Text 4"/>
          <p:cNvSpPr/>
          <p:nvPr/>
        </p:nvSpPr>
        <p:spPr>
          <a:xfrm>
            <a:off x="731520" y="1051560"/>
            <a:ext cx="457200" cy="411480"/>
          </a:xfrm>
          <a:prstGeom prst="rect">
            <a:avLst/>
          </a:prstGeom>
          <a:noFill/>
          <a:ln/>
        </p:spPr>
        <p:txBody>
          <a:bodyPr wrap="square" lIns="0" tIns="0" rIns="0" bIns="0" rtlCol="0" anchor="ctr"/>
          <a:lstStyle/>
          <a:p>
            <a:pPr indent="0" marL="0">
              <a:buNone/>
            </a:pPr>
            <a:r>
              <a:rPr lang="en-US" sz="2200" b="1" dirty="0">
                <a:solidFill>
                  <a:srgbClr val="E8850C"/>
                </a:solidFill>
                <a:latin typeface="Segoe UI" pitchFamily="34" charset="0"/>
                <a:ea typeface="Segoe UI" pitchFamily="34" charset="-122"/>
                <a:cs typeface="Segoe UI" pitchFamily="34" charset="-120"/>
              </a:rPr>
              <a:t>Q.</a:t>
            </a:r>
            <a:endParaRPr lang="en-US" sz="2200" dirty="0"/>
          </a:p>
        </p:txBody>
      </p:sp>
      <p:sp>
        <p:nvSpPr>
          <p:cNvPr id="7" name="Text 5"/>
          <p:cNvSpPr/>
          <p:nvPr/>
        </p:nvSpPr>
        <p:spPr>
          <a:xfrm>
            <a:off x="1188720" y="1051560"/>
            <a:ext cx="7315200" cy="411480"/>
          </a:xfrm>
          <a:prstGeom prst="rect">
            <a:avLst/>
          </a:prstGeom>
          <a:noFill/>
          <a:ln/>
        </p:spPr>
        <p:txBody>
          <a:bodyPr wrap="square" lIns="0" tIns="0" rIns="0" bIns="0" rtlCol="0" anchor="ctr"/>
          <a:lstStyle/>
          <a:p>
            <a:pPr indent="0" marL="0">
              <a:buNone/>
            </a:pPr>
            <a:r>
              <a:rPr lang="en-US" sz="1800" b="1" dirty="0">
                <a:solidFill>
                  <a:srgbClr val="E8850C"/>
                </a:solidFill>
                <a:latin typeface="BIZ UDPGothic" pitchFamily="34" charset="0"/>
                <a:ea typeface="BIZ UDPGothic" pitchFamily="34" charset="-122"/>
                <a:cs typeface="BIZ UDPGothic" pitchFamily="34" charset="-120"/>
              </a:rPr>
              <a:t>ストレートネックが首の痛みの原因？</a:t>
            </a:r>
            <a:endParaRPr lang="en-US" sz="1800" dirty="0"/>
          </a:p>
        </p:txBody>
      </p:sp>
      <p:sp>
        <p:nvSpPr>
          <p:cNvPr id="8" name="Text 6"/>
          <p:cNvSpPr/>
          <p:nvPr/>
        </p:nvSpPr>
        <p:spPr>
          <a:xfrm>
            <a:off x="731520" y="1508760"/>
            <a:ext cx="457200" cy="457200"/>
          </a:xfrm>
          <a:prstGeom prst="rect">
            <a:avLst/>
          </a:prstGeom>
          <a:noFill/>
          <a:ln/>
        </p:spPr>
        <p:txBody>
          <a:bodyPr wrap="square" lIns="0" tIns="0" rIns="0" bIns="0" rtlCol="0" anchor="ctr"/>
          <a:lstStyle/>
          <a:p>
            <a:pPr indent="0" marL="0">
              <a:buNone/>
            </a:pPr>
            <a:r>
              <a:rPr lang="en-US" sz="2200" b="1" dirty="0">
                <a:solidFill>
                  <a:srgbClr val="2C5AA0"/>
                </a:solidFill>
                <a:latin typeface="Segoe UI" pitchFamily="34" charset="0"/>
                <a:ea typeface="Segoe UI" pitchFamily="34" charset="-122"/>
                <a:cs typeface="Segoe UI" pitchFamily="34" charset="-120"/>
              </a:rPr>
              <a:t>A.</a:t>
            </a:r>
            <a:endParaRPr lang="en-US" sz="2200" dirty="0"/>
          </a:p>
        </p:txBody>
      </p:sp>
      <p:sp>
        <p:nvSpPr>
          <p:cNvPr id="9" name="Text 7"/>
          <p:cNvSpPr/>
          <p:nvPr/>
        </p:nvSpPr>
        <p:spPr>
          <a:xfrm>
            <a:off x="1188720" y="1508760"/>
            <a:ext cx="7315200" cy="502920"/>
          </a:xfrm>
          <a:prstGeom prst="rect">
            <a:avLst/>
          </a:prstGeom>
          <a:noFill/>
          <a:ln/>
        </p:spPr>
        <p:txBody>
          <a:bodyPr wrap="square" lIns="0" tIns="0" rIns="0" bIns="0" rtlCol="0" anchor="ctr"/>
          <a:lstStyle/>
          <a:p>
            <a:pPr indent="0" marL="0">
              <a:lnSpc>
                <a:spcPct val="110000"/>
              </a:lnSpc>
              <a:buNone/>
            </a:pPr>
            <a:r>
              <a:rPr lang="en-US" sz="1400" dirty="0">
                <a:solidFill>
                  <a:srgbClr val="2D3436"/>
                </a:solidFill>
                <a:latin typeface="BIZ UDPGothic" pitchFamily="34" charset="0"/>
                <a:ea typeface="BIZ UDPGothic" pitchFamily="34" charset="-122"/>
                <a:cs typeface="BIZ UDPGothic" pitchFamily="34" charset="-120"/>
              </a:rPr>
              <a:t>ストレートネック自体が直接の痛みの原因とは限りませんが、首の筋肉に負担がかかりやすくなります。姿勢の改善とストレッチが基本です</a:t>
            </a:r>
            <a:endParaRPr lang="en-US" sz="1400" dirty="0"/>
          </a:p>
        </p:txBody>
      </p:sp>
      <p:sp>
        <p:nvSpPr>
          <p:cNvPr id="10" name="Shape 8"/>
          <p:cNvSpPr/>
          <p:nvPr/>
        </p:nvSpPr>
        <p:spPr>
          <a:xfrm>
            <a:off x="457200" y="2240280"/>
            <a:ext cx="8229600" cy="1051560"/>
          </a:xfrm>
          <a:prstGeom prst="rect">
            <a:avLst>
              <a:gd name="adj" fmla="val 8696"/>
            </a:avLst>
          </a:prstGeom>
          <a:solidFill>
            <a:srgbClr val="FFFFFF"/>
          </a:solidFill>
          <a:ln/>
          <a:effectLst>
            <a:outerShdw sx="100000" sy="100000" kx="0" ky="0" algn="bl" rotWithShape="0" blurRad="50800" dist="25400" dir="8100000">
              <a:srgbClr val="000000">
                <a:alpha val="12000"/>
              </a:srgbClr>
            </a:outerShdw>
          </a:effectLst>
        </p:spPr>
      </p:sp>
      <p:sp>
        <p:nvSpPr>
          <p:cNvPr id="11" name="Shape 9"/>
          <p:cNvSpPr/>
          <p:nvPr/>
        </p:nvSpPr>
        <p:spPr>
          <a:xfrm>
            <a:off x="457200" y="2240280"/>
            <a:ext cx="109728" cy="1051560"/>
          </a:xfrm>
          <a:prstGeom prst="rect">
            <a:avLst>
              <a:gd name="adj" fmla="val 41667"/>
            </a:avLst>
          </a:prstGeom>
          <a:solidFill>
            <a:srgbClr val="E8850C"/>
          </a:solidFill>
          <a:ln/>
        </p:spPr>
      </p:sp>
      <p:sp>
        <p:nvSpPr>
          <p:cNvPr id="12" name="Text 10"/>
          <p:cNvSpPr/>
          <p:nvPr/>
        </p:nvSpPr>
        <p:spPr>
          <a:xfrm>
            <a:off x="731520" y="2286000"/>
            <a:ext cx="457200" cy="411480"/>
          </a:xfrm>
          <a:prstGeom prst="rect">
            <a:avLst/>
          </a:prstGeom>
          <a:noFill/>
          <a:ln/>
        </p:spPr>
        <p:txBody>
          <a:bodyPr wrap="square" lIns="0" tIns="0" rIns="0" bIns="0" rtlCol="0" anchor="ctr"/>
          <a:lstStyle/>
          <a:p>
            <a:pPr indent="0" marL="0">
              <a:buNone/>
            </a:pPr>
            <a:r>
              <a:rPr lang="en-US" sz="2200" b="1" dirty="0">
                <a:solidFill>
                  <a:srgbClr val="E8850C"/>
                </a:solidFill>
                <a:latin typeface="Segoe UI" pitchFamily="34" charset="0"/>
                <a:ea typeface="Segoe UI" pitchFamily="34" charset="-122"/>
                <a:cs typeface="Segoe UI" pitchFamily="34" charset="-120"/>
              </a:rPr>
              <a:t>Q.</a:t>
            </a:r>
            <a:endParaRPr lang="en-US" sz="2200" dirty="0"/>
          </a:p>
        </p:txBody>
      </p:sp>
      <p:sp>
        <p:nvSpPr>
          <p:cNvPr id="13" name="Text 11"/>
          <p:cNvSpPr/>
          <p:nvPr/>
        </p:nvSpPr>
        <p:spPr>
          <a:xfrm>
            <a:off x="1188720" y="2286000"/>
            <a:ext cx="7315200" cy="411480"/>
          </a:xfrm>
          <a:prstGeom prst="rect">
            <a:avLst/>
          </a:prstGeom>
          <a:noFill/>
          <a:ln/>
        </p:spPr>
        <p:txBody>
          <a:bodyPr wrap="square" lIns="0" tIns="0" rIns="0" bIns="0" rtlCol="0" anchor="ctr"/>
          <a:lstStyle/>
          <a:p>
            <a:pPr indent="0" marL="0">
              <a:buNone/>
            </a:pPr>
            <a:r>
              <a:rPr lang="en-US" sz="1800" b="1" dirty="0">
                <a:solidFill>
                  <a:srgbClr val="E8850C"/>
                </a:solidFill>
                <a:latin typeface="BIZ UDPGothic" pitchFamily="34" charset="0"/>
                <a:ea typeface="BIZ UDPGothic" pitchFamily="34" charset="-122"/>
                <a:cs typeface="BIZ UDPGothic" pitchFamily="34" charset="-120"/>
              </a:rPr>
              <a:t>首をボキボキ鳴らすのは危険ですか？</a:t>
            </a:r>
            <a:endParaRPr lang="en-US" sz="1800" dirty="0"/>
          </a:p>
        </p:txBody>
      </p:sp>
      <p:sp>
        <p:nvSpPr>
          <p:cNvPr id="14" name="Text 12"/>
          <p:cNvSpPr/>
          <p:nvPr/>
        </p:nvSpPr>
        <p:spPr>
          <a:xfrm>
            <a:off x="731520" y="2743200"/>
            <a:ext cx="457200" cy="457200"/>
          </a:xfrm>
          <a:prstGeom prst="rect">
            <a:avLst/>
          </a:prstGeom>
          <a:noFill/>
          <a:ln/>
        </p:spPr>
        <p:txBody>
          <a:bodyPr wrap="square" lIns="0" tIns="0" rIns="0" bIns="0" rtlCol="0" anchor="ctr"/>
          <a:lstStyle/>
          <a:p>
            <a:pPr indent="0" marL="0">
              <a:buNone/>
            </a:pPr>
            <a:r>
              <a:rPr lang="en-US" sz="2200" b="1" dirty="0">
                <a:solidFill>
                  <a:srgbClr val="2C5AA0"/>
                </a:solidFill>
                <a:latin typeface="Segoe UI" pitchFamily="34" charset="0"/>
                <a:ea typeface="Segoe UI" pitchFamily="34" charset="-122"/>
                <a:cs typeface="Segoe UI" pitchFamily="34" charset="-120"/>
              </a:rPr>
              <a:t>A.</a:t>
            </a:r>
            <a:endParaRPr lang="en-US" sz="2200" dirty="0"/>
          </a:p>
        </p:txBody>
      </p:sp>
      <p:sp>
        <p:nvSpPr>
          <p:cNvPr id="15" name="Text 13"/>
          <p:cNvSpPr/>
          <p:nvPr/>
        </p:nvSpPr>
        <p:spPr>
          <a:xfrm>
            <a:off x="1188720" y="2743200"/>
            <a:ext cx="7315200" cy="502920"/>
          </a:xfrm>
          <a:prstGeom prst="rect">
            <a:avLst/>
          </a:prstGeom>
          <a:noFill/>
          <a:ln/>
        </p:spPr>
        <p:txBody>
          <a:bodyPr wrap="square" lIns="0" tIns="0" rIns="0" bIns="0" rtlCol="0" anchor="ctr"/>
          <a:lstStyle/>
          <a:p>
            <a:pPr indent="0" marL="0">
              <a:lnSpc>
                <a:spcPct val="110000"/>
              </a:lnSpc>
              <a:buNone/>
            </a:pPr>
            <a:r>
              <a:rPr lang="en-US" sz="1400" dirty="0">
                <a:solidFill>
                  <a:srgbClr val="2D3436"/>
                </a:solidFill>
                <a:latin typeface="BIZ UDPGothic" pitchFamily="34" charset="0"/>
                <a:ea typeface="BIZ UDPGothic" pitchFamily="34" charset="-122"/>
                <a:cs typeface="BIZ UDPGothic" pitchFamily="34" charset="-120"/>
              </a:rPr>
              <a:t>自分で鳴らす程度では問題ないことが多いですが、他人に強く首をひねるのは危険です。まれに椎骨動脈解離を起こし脳卒中のリスクがあります</a:t>
            </a:r>
            <a:endParaRPr lang="en-US" sz="1400" dirty="0"/>
          </a:p>
        </p:txBody>
      </p:sp>
      <p:sp>
        <p:nvSpPr>
          <p:cNvPr id="16" name="Shape 14"/>
          <p:cNvSpPr/>
          <p:nvPr/>
        </p:nvSpPr>
        <p:spPr>
          <a:xfrm>
            <a:off x="457200" y="3474720"/>
            <a:ext cx="8229600" cy="1051560"/>
          </a:xfrm>
          <a:prstGeom prst="rect">
            <a:avLst>
              <a:gd name="adj" fmla="val 8696"/>
            </a:avLst>
          </a:prstGeom>
          <a:solidFill>
            <a:srgbClr val="FFFFFF"/>
          </a:solidFill>
          <a:ln/>
          <a:effectLst>
            <a:outerShdw sx="100000" sy="100000" kx="0" ky="0" algn="bl" rotWithShape="0" blurRad="50800" dist="25400" dir="8100000">
              <a:srgbClr val="000000">
                <a:alpha val="12000"/>
              </a:srgbClr>
            </a:outerShdw>
          </a:effectLst>
        </p:spPr>
      </p:sp>
      <p:sp>
        <p:nvSpPr>
          <p:cNvPr id="17" name="Shape 15"/>
          <p:cNvSpPr/>
          <p:nvPr/>
        </p:nvSpPr>
        <p:spPr>
          <a:xfrm>
            <a:off x="457200" y="3474720"/>
            <a:ext cx="109728" cy="1051560"/>
          </a:xfrm>
          <a:prstGeom prst="rect">
            <a:avLst>
              <a:gd name="adj" fmla="val 41667"/>
            </a:avLst>
          </a:prstGeom>
          <a:solidFill>
            <a:srgbClr val="E8850C"/>
          </a:solidFill>
          <a:ln/>
        </p:spPr>
      </p:sp>
      <p:sp>
        <p:nvSpPr>
          <p:cNvPr id="18" name="Text 16"/>
          <p:cNvSpPr/>
          <p:nvPr/>
        </p:nvSpPr>
        <p:spPr>
          <a:xfrm>
            <a:off x="731520" y="3520440"/>
            <a:ext cx="457200" cy="411480"/>
          </a:xfrm>
          <a:prstGeom prst="rect">
            <a:avLst/>
          </a:prstGeom>
          <a:noFill/>
          <a:ln/>
        </p:spPr>
        <p:txBody>
          <a:bodyPr wrap="square" lIns="0" tIns="0" rIns="0" bIns="0" rtlCol="0" anchor="ctr"/>
          <a:lstStyle/>
          <a:p>
            <a:pPr indent="0" marL="0">
              <a:buNone/>
            </a:pPr>
            <a:r>
              <a:rPr lang="en-US" sz="2200" b="1" dirty="0">
                <a:solidFill>
                  <a:srgbClr val="E8850C"/>
                </a:solidFill>
                <a:latin typeface="Segoe UI" pitchFamily="34" charset="0"/>
                <a:ea typeface="Segoe UI" pitchFamily="34" charset="-122"/>
                <a:cs typeface="Segoe UI" pitchFamily="34" charset="-120"/>
              </a:rPr>
              <a:t>Q.</a:t>
            </a:r>
            <a:endParaRPr lang="en-US" sz="2200" dirty="0"/>
          </a:p>
        </p:txBody>
      </p:sp>
      <p:sp>
        <p:nvSpPr>
          <p:cNvPr id="19" name="Text 17"/>
          <p:cNvSpPr/>
          <p:nvPr/>
        </p:nvSpPr>
        <p:spPr>
          <a:xfrm>
            <a:off x="1188720" y="3520440"/>
            <a:ext cx="7315200" cy="411480"/>
          </a:xfrm>
          <a:prstGeom prst="rect">
            <a:avLst/>
          </a:prstGeom>
          <a:noFill/>
          <a:ln/>
        </p:spPr>
        <p:txBody>
          <a:bodyPr wrap="square" lIns="0" tIns="0" rIns="0" bIns="0" rtlCol="0" anchor="ctr"/>
          <a:lstStyle/>
          <a:p>
            <a:pPr indent="0" marL="0">
              <a:buNone/>
            </a:pPr>
            <a:r>
              <a:rPr lang="en-US" sz="1800" b="1" dirty="0">
                <a:solidFill>
                  <a:srgbClr val="E8850C"/>
                </a:solidFill>
                <a:latin typeface="BIZ UDPGothic" pitchFamily="34" charset="0"/>
                <a:ea typeface="BIZ UDPGothic" pitchFamily="34" charset="-122"/>
                <a:cs typeface="BIZ UDPGothic" pitchFamily="34" charset="-120"/>
              </a:rPr>
              <a:t>枕を変えれば首の痛みは治りますか？</a:t>
            </a:r>
            <a:endParaRPr lang="en-US" sz="1800" dirty="0"/>
          </a:p>
        </p:txBody>
      </p:sp>
      <p:sp>
        <p:nvSpPr>
          <p:cNvPr id="20" name="Text 18"/>
          <p:cNvSpPr/>
          <p:nvPr/>
        </p:nvSpPr>
        <p:spPr>
          <a:xfrm>
            <a:off x="731520" y="3977640"/>
            <a:ext cx="457200" cy="457200"/>
          </a:xfrm>
          <a:prstGeom prst="rect">
            <a:avLst/>
          </a:prstGeom>
          <a:noFill/>
          <a:ln/>
        </p:spPr>
        <p:txBody>
          <a:bodyPr wrap="square" lIns="0" tIns="0" rIns="0" bIns="0" rtlCol="0" anchor="ctr"/>
          <a:lstStyle/>
          <a:p>
            <a:pPr indent="0" marL="0">
              <a:buNone/>
            </a:pPr>
            <a:r>
              <a:rPr lang="en-US" sz="2200" b="1" dirty="0">
                <a:solidFill>
                  <a:srgbClr val="2C5AA0"/>
                </a:solidFill>
                <a:latin typeface="Segoe UI" pitchFamily="34" charset="0"/>
                <a:ea typeface="Segoe UI" pitchFamily="34" charset="-122"/>
                <a:cs typeface="Segoe UI" pitchFamily="34" charset="-120"/>
              </a:rPr>
              <a:t>A.</a:t>
            </a:r>
            <a:endParaRPr lang="en-US" sz="2200" dirty="0"/>
          </a:p>
        </p:txBody>
      </p:sp>
      <p:sp>
        <p:nvSpPr>
          <p:cNvPr id="21" name="Text 19"/>
          <p:cNvSpPr/>
          <p:nvPr/>
        </p:nvSpPr>
        <p:spPr>
          <a:xfrm>
            <a:off x="1188720" y="3977640"/>
            <a:ext cx="7315200" cy="502920"/>
          </a:xfrm>
          <a:prstGeom prst="rect">
            <a:avLst/>
          </a:prstGeom>
          <a:noFill/>
          <a:ln/>
        </p:spPr>
        <p:txBody>
          <a:bodyPr wrap="square" lIns="0" tIns="0" rIns="0" bIns="0" rtlCol="0" anchor="ctr"/>
          <a:lstStyle/>
          <a:p>
            <a:pPr indent="0" marL="0">
              <a:lnSpc>
                <a:spcPct val="110000"/>
              </a:lnSpc>
              <a:buNone/>
            </a:pPr>
            <a:r>
              <a:rPr lang="en-US" sz="1400" dirty="0">
                <a:solidFill>
                  <a:srgbClr val="2D3436"/>
                </a:solidFill>
                <a:latin typeface="BIZ UDPGothic" pitchFamily="34" charset="0"/>
                <a:ea typeface="BIZ UDPGothic" pitchFamily="34" charset="-122"/>
                <a:cs typeface="BIZ UDPGothic" pitchFamily="34" charset="-120"/>
              </a:rPr>
              <a:t>枕の高さは首の負担に影響しますが、万人に合う枕はありません。2週間以上続く場合は枕の問題ではなく別の原因を疑って受診しましょう</a:t>
            </a:r>
            <a:endParaRPr lang="en-US" sz="1400" dirty="0"/>
          </a:p>
        </p:txBody>
      </p:sp>
      <p:sp>
        <p:nvSpPr>
          <p:cNvPr id="22" name="Shape 20"/>
          <p:cNvSpPr/>
          <p:nvPr/>
        </p:nvSpPr>
        <p:spPr>
          <a:xfrm>
            <a:off x="0" y="4800600"/>
            <a:ext cx="9144000" cy="347472"/>
          </a:xfrm>
          <a:prstGeom prst="rect">
            <a:avLst/>
          </a:prstGeom>
          <a:solidFill>
            <a:srgbClr val="1B3A5C"/>
          </a:solidFill>
          <a:ln/>
        </p:spPr>
      </p:sp>
      <p:sp>
        <p:nvSpPr>
          <p:cNvPr id="23" name="Text 21"/>
          <p:cNvSpPr/>
          <p:nvPr/>
        </p:nvSpPr>
        <p:spPr>
          <a:xfrm>
            <a:off x="365760" y="4818888"/>
            <a:ext cx="4572000" cy="274320"/>
          </a:xfrm>
          <a:prstGeom prst="rect">
            <a:avLst/>
          </a:prstGeom>
          <a:noFill/>
          <a:ln/>
        </p:spPr>
        <p:txBody>
          <a:bodyPr wrap="square" lIns="0" tIns="0" rIns="0" bIns="0" rtlCol="0" anchor="ctr"/>
          <a:lstStyle/>
          <a:p>
            <a:pPr indent="0" marL="0">
              <a:buNone/>
            </a:pPr>
            <a:r>
              <a:rPr lang="en-US" sz="1000" dirty="0">
                <a:solidFill>
                  <a:srgbClr val="FFFFFF"/>
                </a:solidFill>
                <a:latin typeface="BIZ UDPGothic" pitchFamily="34" charset="0"/>
                <a:ea typeface="BIZ UDPGothic" pitchFamily="34" charset="-122"/>
                <a:cs typeface="BIZ UDPGothic" pitchFamily="34" charset="-120"/>
              </a:rPr>
              <a:t>医知創造ラボ ｜ その症状、大丈夫？ #09</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BIZ UDPGothic" pitchFamily="34" charset="0"/>
                <a:ea typeface="BIZ UDPGothic" pitchFamily="34" charset="-122"/>
                <a:cs typeface="BIZ UDPGothic" pitchFamily="34" charset="-120"/>
              </a:rPr>
              <a:t>まとめ ― 首が痛いとき</a:t>
            </a:r>
            <a:endParaRPr lang="en-US" sz="2600" dirty="0"/>
          </a:p>
        </p:txBody>
      </p:sp>
      <p:sp>
        <p:nvSpPr>
          <p:cNvPr id="4" name="Shape 2"/>
          <p:cNvSpPr/>
          <p:nvPr/>
        </p:nvSpPr>
        <p:spPr>
          <a:xfrm>
            <a:off x="457200" y="1051560"/>
            <a:ext cx="8229600" cy="1005840"/>
          </a:xfrm>
          <a:prstGeom prst="rect">
            <a:avLst>
              <a:gd name="adj" fmla="val 9091"/>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457200" y="1051560"/>
            <a:ext cx="109728" cy="1005840"/>
          </a:xfrm>
          <a:prstGeom prst="rect">
            <a:avLst>
              <a:gd name="adj" fmla="val 41667"/>
            </a:avLst>
          </a:prstGeom>
          <a:solidFill>
            <a:srgbClr val="2C5AA0"/>
          </a:solidFill>
          <a:ln/>
        </p:spPr>
      </p:sp>
      <p:sp>
        <p:nvSpPr>
          <p:cNvPr id="6" name="Text 4"/>
          <p:cNvSpPr/>
          <p:nvPr/>
        </p:nvSpPr>
        <p:spPr>
          <a:xfrm>
            <a:off x="640080" y="1143000"/>
            <a:ext cx="640080" cy="822960"/>
          </a:xfrm>
          <a:prstGeom prst="rect">
            <a:avLst/>
          </a:prstGeom>
          <a:noFill/>
          <a:ln/>
        </p:spPr>
        <p:txBody>
          <a:bodyPr wrap="square" lIns="0" tIns="0" rIns="0" bIns="0" rtlCol="0" anchor="ctr"/>
          <a:lstStyle/>
          <a:p>
            <a:pPr algn="ctr" indent="0" marL="0">
              <a:buNone/>
            </a:pPr>
            <a:r>
              <a:rPr lang="en-US" sz="3600" b="1" dirty="0">
                <a:solidFill>
                  <a:srgbClr val="2C5AA0"/>
                </a:solidFill>
                <a:latin typeface="Segoe UI" pitchFamily="34" charset="0"/>
                <a:ea typeface="Segoe UI" pitchFamily="34" charset="-122"/>
                <a:cs typeface="Segoe UI" pitchFamily="34" charset="-120"/>
              </a:rPr>
              <a:t>1</a:t>
            </a:r>
            <a:endParaRPr lang="en-US" sz="3600" dirty="0"/>
          </a:p>
        </p:txBody>
      </p:sp>
      <p:sp>
        <p:nvSpPr>
          <p:cNvPr id="7" name="Text 5"/>
          <p:cNvSpPr/>
          <p:nvPr/>
        </p:nvSpPr>
        <p:spPr>
          <a:xfrm>
            <a:off x="1371600" y="1097280"/>
            <a:ext cx="3474720" cy="868680"/>
          </a:xfrm>
          <a:prstGeom prst="rect">
            <a:avLst/>
          </a:prstGeom>
          <a:noFill/>
          <a:ln/>
        </p:spPr>
        <p:txBody>
          <a:bodyPr wrap="square" lIns="0" tIns="0" rIns="0" bIns="0" rtlCol="0" anchor="ctr"/>
          <a:lstStyle/>
          <a:p>
            <a:pPr indent="0" marL="0">
              <a:lnSpc>
                <a:spcPct val="110000"/>
              </a:lnSpc>
              <a:buNone/>
            </a:pPr>
            <a:r>
              <a:rPr lang="en-US" sz="1900" b="1" dirty="0">
                <a:solidFill>
                  <a:srgbClr val="2D3436"/>
                </a:solidFill>
                <a:latin typeface="BIZ UDPGothic" pitchFamily="34" charset="0"/>
                <a:ea typeface="BIZ UDPGothic" pitchFamily="34" charset="-122"/>
                <a:cs typeface="BIZ UDPGothic" pitchFamily="34" charset="-120"/>
              </a:rPr>
              <a:t>手のしびれ・脱力を</a:t>
            </a:r>
            <a:endParaRPr lang="en-US" sz="1900" dirty="0"/>
          </a:p>
          <a:p>
            <a:pPr indent="0" marL="0">
              <a:lnSpc>
                <a:spcPct val="110000"/>
              </a:lnSpc>
              <a:buNone/>
            </a:pPr>
            <a:r>
              <a:rPr lang="en-US" sz="1900" b="1" dirty="0">
                <a:solidFill>
                  <a:srgbClr val="2D3436"/>
                </a:solidFill>
                <a:latin typeface="BIZ UDPGothic" pitchFamily="34" charset="0"/>
                <a:ea typeface="BIZ UDPGothic" pitchFamily="34" charset="-122"/>
                <a:cs typeface="BIZ UDPGothic" pitchFamily="34" charset="-120"/>
              </a:rPr>
              <a:t>伴う首の痛みに注意</a:t>
            </a:r>
            <a:endParaRPr lang="en-US" sz="1900" dirty="0"/>
          </a:p>
        </p:txBody>
      </p:sp>
      <p:sp>
        <p:nvSpPr>
          <p:cNvPr id="8" name="Text 6"/>
          <p:cNvSpPr/>
          <p:nvPr/>
        </p:nvSpPr>
        <p:spPr>
          <a:xfrm>
            <a:off x="5029200" y="1143000"/>
            <a:ext cx="3474720" cy="822960"/>
          </a:xfrm>
          <a:prstGeom prst="rect">
            <a:avLst/>
          </a:prstGeom>
          <a:noFill/>
          <a:ln/>
        </p:spPr>
        <p:txBody>
          <a:bodyPr wrap="square" lIns="0" tIns="0" rIns="0" bIns="0" rtlCol="0" anchor="ctr"/>
          <a:lstStyle/>
          <a:p>
            <a:pPr indent="0" marL="0">
              <a:lnSpc>
                <a:spcPct val="120000"/>
              </a:lnSpc>
              <a:buNone/>
            </a:pPr>
            <a:r>
              <a:rPr lang="en-US" sz="1500" dirty="0">
                <a:solidFill>
                  <a:srgbClr val="636E72"/>
                </a:solidFill>
                <a:latin typeface="BIZ UDPGothic" pitchFamily="34" charset="0"/>
                <a:ea typeface="BIZ UDPGothic" pitchFamily="34" charset="-122"/>
                <a:cs typeface="BIZ UDPGothic" pitchFamily="34" charset="-120"/>
              </a:rPr>
              <a:t>ボタンが留めにくい等の</a:t>
            </a:r>
            <a:endParaRPr lang="en-US" sz="1500" dirty="0"/>
          </a:p>
          <a:p>
            <a:pPr indent="0" marL="0">
              <a:lnSpc>
                <a:spcPct val="120000"/>
              </a:lnSpc>
              <a:buNone/>
            </a:pPr>
            <a:r>
              <a:rPr lang="en-US" sz="1500" dirty="0">
                <a:solidFill>
                  <a:srgbClr val="636E72"/>
                </a:solidFill>
                <a:latin typeface="BIZ UDPGothic" pitchFamily="34" charset="0"/>
                <a:ea typeface="BIZ UDPGothic" pitchFamily="34" charset="-122"/>
                <a:cs typeface="BIZ UDPGothic" pitchFamily="34" charset="-120"/>
              </a:rPr>
              <a:t>巧緻運動障害は脊髄症のサイン</a:t>
            </a:r>
            <a:endParaRPr lang="en-US" sz="1500" dirty="0"/>
          </a:p>
        </p:txBody>
      </p:sp>
      <p:sp>
        <p:nvSpPr>
          <p:cNvPr id="9" name="Shape 7"/>
          <p:cNvSpPr/>
          <p:nvPr/>
        </p:nvSpPr>
        <p:spPr>
          <a:xfrm>
            <a:off x="457200" y="2240280"/>
            <a:ext cx="8229600" cy="1005840"/>
          </a:xfrm>
          <a:prstGeom prst="rect">
            <a:avLst>
              <a:gd name="adj" fmla="val 9091"/>
            </a:avLst>
          </a:prstGeom>
          <a:solidFill>
            <a:srgbClr val="FFFFFF"/>
          </a:solidFill>
          <a:ln/>
          <a:effectLst>
            <a:outerShdw sx="100000" sy="100000" kx="0" ky="0" algn="bl" rotWithShape="0" blurRad="50800" dist="25400" dir="8100000">
              <a:srgbClr val="000000">
                <a:alpha val="12000"/>
              </a:srgbClr>
            </a:outerShdw>
          </a:effectLst>
        </p:spPr>
      </p:sp>
      <p:sp>
        <p:nvSpPr>
          <p:cNvPr id="10" name="Shape 8"/>
          <p:cNvSpPr/>
          <p:nvPr/>
        </p:nvSpPr>
        <p:spPr>
          <a:xfrm>
            <a:off x="457200" y="2240280"/>
            <a:ext cx="109728" cy="1005840"/>
          </a:xfrm>
          <a:prstGeom prst="rect">
            <a:avLst>
              <a:gd name="adj" fmla="val 41667"/>
            </a:avLst>
          </a:prstGeom>
          <a:solidFill>
            <a:srgbClr val="2C5AA0"/>
          </a:solidFill>
          <a:ln/>
        </p:spPr>
      </p:sp>
      <p:sp>
        <p:nvSpPr>
          <p:cNvPr id="11" name="Text 9"/>
          <p:cNvSpPr/>
          <p:nvPr/>
        </p:nvSpPr>
        <p:spPr>
          <a:xfrm>
            <a:off x="640080" y="2331720"/>
            <a:ext cx="640080" cy="822960"/>
          </a:xfrm>
          <a:prstGeom prst="rect">
            <a:avLst/>
          </a:prstGeom>
          <a:noFill/>
          <a:ln/>
        </p:spPr>
        <p:txBody>
          <a:bodyPr wrap="square" lIns="0" tIns="0" rIns="0" bIns="0" rtlCol="0" anchor="ctr"/>
          <a:lstStyle/>
          <a:p>
            <a:pPr algn="ctr" indent="0" marL="0">
              <a:buNone/>
            </a:pPr>
            <a:r>
              <a:rPr lang="en-US" sz="3600" b="1" dirty="0">
                <a:solidFill>
                  <a:srgbClr val="2C5AA0"/>
                </a:solidFill>
                <a:latin typeface="Segoe UI" pitchFamily="34" charset="0"/>
                <a:ea typeface="Segoe UI" pitchFamily="34" charset="-122"/>
                <a:cs typeface="Segoe UI" pitchFamily="34" charset="-120"/>
              </a:rPr>
              <a:t>2</a:t>
            </a:r>
            <a:endParaRPr lang="en-US" sz="3600" dirty="0"/>
          </a:p>
        </p:txBody>
      </p:sp>
      <p:sp>
        <p:nvSpPr>
          <p:cNvPr id="12" name="Text 10"/>
          <p:cNvSpPr/>
          <p:nvPr/>
        </p:nvSpPr>
        <p:spPr>
          <a:xfrm>
            <a:off x="1371600" y="2286000"/>
            <a:ext cx="3474720" cy="868680"/>
          </a:xfrm>
          <a:prstGeom prst="rect">
            <a:avLst/>
          </a:prstGeom>
          <a:noFill/>
          <a:ln/>
        </p:spPr>
        <p:txBody>
          <a:bodyPr wrap="square" lIns="0" tIns="0" rIns="0" bIns="0" rtlCol="0" anchor="ctr"/>
          <a:lstStyle/>
          <a:p>
            <a:pPr indent="0" marL="0">
              <a:lnSpc>
                <a:spcPct val="110000"/>
              </a:lnSpc>
              <a:buNone/>
            </a:pPr>
            <a:r>
              <a:rPr lang="en-US" sz="1900" b="1" dirty="0">
                <a:solidFill>
                  <a:srgbClr val="2D3436"/>
                </a:solidFill>
                <a:latin typeface="BIZ UDPGothic" pitchFamily="34" charset="0"/>
                <a:ea typeface="BIZ UDPGothic" pitchFamily="34" charset="-122"/>
                <a:cs typeface="BIZ UDPGothic" pitchFamily="34" charset="-120"/>
              </a:rPr>
              <a:t>発熱＋首の硬直、</a:t>
            </a:r>
            <a:endParaRPr lang="en-US" sz="1900" dirty="0"/>
          </a:p>
          <a:p>
            <a:pPr indent="0" marL="0">
              <a:lnSpc>
                <a:spcPct val="110000"/>
              </a:lnSpc>
              <a:buNone/>
            </a:pPr>
            <a:r>
              <a:rPr lang="en-US" sz="1900" b="1" dirty="0">
                <a:solidFill>
                  <a:srgbClr val="2D3436"/>
                </a:solidFill>
                <a:latin typeface="BIZ UDPGothic" pitchFamily="34" charset="0"/>
                <a:ea typeface="BIZ UDPGothic" pitchFamily="34" charset="-122"/>
                <a:cs typeface="BIZ UDPGothic" pitchFamily="34" charset="-120"/>
              </a:rPr>
              <a:t>突然の後頭部痛は緊急</a:t>
            </a:r>
            <a:endParaRPr lang="en-US" sz="1900" dirty="0"/>
          </a:p>
        </p:txBody>
      </p:sp>
      <p:sp>
        <p:nvSpPr>
          <p:cNvPr id="13" name="Text 11"/>
          <p:cNvSpPr/>
          <p:nvPr/>
        </p:nvSpPr>
        <p:spPr>
          <a:xfrm>
            <a:off x="5029200" y="2331720"/>
            <a:ext cx="3474720" cy="822960"/>
          </a:xfrm>
          <a:prstGeom prst="rect">
            <a:avLst/>
          </a:prstGeom>
          <a:noFill/>
          <a:ln/>
        </p:spPr>
        <p:txBody>
          <a:bodyPr wrap="square" lIns="0" tIns="0" rIns="0" bIns="0" rtlCol="0" anchor="ctr"/>
          <a:lstStyle/>
          <a:p>
            <a:pPr indent="0" marL="0">
              <a:lnSpc>
                <a:spcPct val="120000"/>
              </a:lnSpc>
              <a:buNone/>
            </a:pPr>
            <a:r>
              <a:rPr lang="en-US" sz="1500" dirty="0">
                <a:solidFill>
                  <a:srgbClr val="636E72"/>
                </a:solidFill>
                <a:latin typeface="BIZ UDPGothic" pitchFamily="34" charset="0"/>
                <a:ea typeface="BIZ UDPGothic" pitchFamily="34" charset="-122"/>
                <a:cs typeface="BIZ UDPGothic" pitchFamily="34" charset="-120"/>
              </a:rPr>
              <a:t>髄膜炎・椎骨動脈解離・</a:t>
            </a:r>
            <a:endParaRPr lang="en-US" sz="1500" dirty="0"/>
          </a:p>
          <a:p>
            <a:pPr indent="0" marL="0">
              <a:lnSpc>
                <a:spcPct val="120000"/>
              </a:lnSpc>
              <a:buNone/>
            </a:pPr>
            <a:r>
              <a:rPr lang="en-US" sz="1500" dirty="0">
                <a:solidFill>
                  <a:srgbClr val="636E72"/>
                </a:solidFill>
                <a:latin typeface="BIZ UDPGothic" pitchFamily="34" charset="0"/>
                <a:ea typeface="BIZ UDPGothic" pitchFamily="34" charset="-122"/>
                <a:cs typeface="BIZ UDPGothic" pitchFamily="34" charset="-120"/>
              </a:rPr>
              <a:t>くも膜下出血→119番</a:t>
            </a:r>
            <a:endParaRPr lang="en-US" sz="1500" dirty="0"/>
          </a:p>
        </p:txBody>
      </p:sp>
      <p:sp>
        <p:nvSpPr>
          <p:cNvPr id="14" name="Shape 12"/>
          <p:cNvSpPr/>
          <p:nvPr/>
        </p:nvSpPr>
        <p:spPr>
          <a:xfrm>
            <a:off x="457200" y="3429000"/>
            <a:ext cx="8229600" cy="1005840"/>
          </a:xfrm>
          <a:prstGeom prst="rect">
            <a:avLst>
              <a:gd name="adj" fmla="val 9091"/>
            </a:avLst>
          </a:prstGeom>
          <a:solidFill>
            <a:srgbClr val="FFFFFF"/>
          </a:solidFill>
          <a:ln/>
          <a:effectLst>
            <a:outerShdw sx="100000" sy="100000" kx="0" ky="0" algn="bl" rotWithShape="0" blurRad="50800" dist="25400" dir="8100000">
              <a:srgbClr val="000000">
                <a:alpha val="12000"/>
              </a:srgbClr>
            </a:outerShdw>
          </a:effectLst>
        </p:spPr>
      </p:sp>
      <p:sp>
        <p:nvSpPr>
          <p:cNvPr id="15" name="Shape 13"/>
          <p:cNvSpPr/>
          <p:nvPr/>
        </p:nvSpPr>
        <p:spPr>
          <a:xfrm>
            <a:off x="457200" y="3429000"/>
            <a:ext cx="109728" cy="1005840"/>
          </a:xfrm>
          <a:prstGeom prst="rect">
            <a:avLst>
              <a:gd name="adj" fmla="val 41667"/>
            </a:avLst>
          </a:prstGeom>
          <a:solidFill>
            <a:srgbClr val="2C5AA0"/>
          </a:solidFill>
          <a:ln/>
        </p:spPr>
      </p:sp>
      <p:sp>
        <p:nvSpPr>
          <p:cNvPr id="16" name="Text 14"/>
          <p:cNvSpPr/>
          <p:nvPr/>
        </p:nvSpPr>
        <p:spPr>
          <a:xfrm>
            <a:off x="640080" y="3520440"/>
            <a:ext cx="640080" cy="822960"/>
          </a:xfrm>
          <a:prstGeom prst="rect">
            <a:avLst/>
          </a:prstGeom>
          <a:noFill/>
          <a:ln/>
        </p:spPr>
        <p:txBody>
          <a:bodyPr wrap="square" lIns="0" tIns="0" rIns="0" bIns="0" rtlCol="0" anchor="ctr"/>
          <a:lstStyle/>
          <a:p>
            <a:pPr algn="ctr" indent="0" marL="0">
              <a:buNone/>
            </a:pPr>
            <a:r>
              <a:rPr lang="en-US" sz="3600" b="1" dirty="0">
                <a:solidFill>
                  <a:srgbClr val="2C5AA0"/>
                </a:solidFill>
                <a:latin typeface="Segoe UI" pitchFamily="34" charset="0"/>
                <a:ea typeface="Segoe UI" pitchFamily="34" charset="-122"/>
                <a:cs typeface="Segoe UI" pitchFamily="34" charset="-120"/>
              </a:rPr>
              <a:t>3</a:t>
            </a:r>
            <a:endParaRPr lang="en-US" sz="3600" dirty="0"/>
          </a:p>
        </p:txBody>
      </p:sp>
      <p:sp>
        <p:nvSpPr>
          <p:cNvPr id="17" name="Text 15"/>
          <p:cNvSpPr/>
          <p:nvPr/>
        </p:nvSpPr>
        <p:spPr>
          <a:xfrm>
            <a:off x="1371600" y="3474720"/>
            <a:ext cx="3474720" cy="868680"/>
          </a:xfrm>
          <a:prstGeom prst="rect">
            <a:avLst/>
          </a:prstGeom>
          <a:noFill/>
          <a:ln/>
        </p:spPr>
        <p:txBody>
          <a:bodyPr wrap="square" lIns="0" tIns="0" rIns="0" bIns="0" rtlCol="0" anchor="ctr"/>
          <a:lstStyle/>
          <a:p>
            <a:pPr indent="0" marL="0">
              <a:lnSpc>
                <a:spcPct val="110000"/>
              </a:lnSpc>
              <a:buNone/>
            </a:pPr>
            <a:r>
              <a:rPr lang="en-US" sz="1900" b="1" dirty="0">
                <a:solidFill>
                  <a:srgbClr val="2D3436"/>
                </a:solidFill>
                <a:latin typeface="BIZ UDPGothic" pitchFamily="34" charset="0"/>
                <a:ea typeface="BIZ UDPGothic" pitchFamily="34" charset="-122"/>
                <a:cs typeface="BIZ UDPGothic" pitchFamily="34" charset="-120"/>
              </a:rPr>
              <a:t>2週間以上続く首の</a:t>
            </a:r>
            <a:endParaRPr lang="en-US" sz="1900" dirty="0"/>
          </a:p>
          <a:p>
            <a:pPr indent="0" marL="0">
              <a:lnSpc>
                <a:spcPct val="110000"/>
              </a:lnSpc>
              <a:buNone/>
            </a:pPr>
            <a:r>
              <a:rPr lang="en-US" sz="1900" b="1" dirty="0">
                <a:solidFill>
                  <a:srgbClr val="2D3436"/>
                </a:solidFill>
                <a:latin typeface="BIZ UDPGothic" pitchFamily="34" charset="0"/>
                <a:ea typeface="BIZ UDPGothic" pitchFamily="34" charset="-122"/>
                <a:cs typeface="BIZ UDPGothic" pitchFamily="34" charset="-120"/>
              </a:rPr>
              <a:t>痛みは「肩こり」で終わらせない</a:t>
            </a:r>
            <a:endParaRPr lang="en-US" sz="1900" dirty="0"/>
          </a:p>
        </p:txBody>
      </p:sp>
      <p:sp>
        <p:nvSpPr>
          <p:cNvPr id="18" name="Text 16"/>
          <p:cNvSpPr/>
          <p:nvPr/>
        </p:nvSpPr>
        <p:spPr>
          <a:xfrm>
            <a:off x="5029200" y="3520440"/>
            <a:ext cx="3474720" cy="822960"/>
          </a:xfrm>
          <a:prstGeom prst="rect">
            <a:avLst/>
          </a:prstGeom>
          <a:noFill/>
          <a:ln/>
        </p:spPr>
        <p:txBody>
          <a:bodyPr wrap="square" lIns="0" tIns="0" rIns="0" bIns="0" rtlCol="0" anchor="ctr"/>
          <a:lstStyle/>
          <a:p>
            <a:pPr indent="0" marL="0">
              <a:lnSpc>
                <a:spcPct val="120000"/>
              </a:lnSpc>
              <a:buNone/>
            </a:pPr>
            <a:r>
              <a:rPr lang="en-US" sz="1500" dirty="0">
                <a:solidFill>
                  <a:srgbClr val="636E72"/>
                </a:solidFill>
                <a:latin typeface="BIZ UDPGothic" pitchFamily="34" charset="0"/>
                <a:ea typeface="BIZ UDPGothic" pitchFamily="34" charset="-122"/>
                <a:cs typeface="BIZ UDPGothic" pitchFamily="34" charset="-120"/>
              </a:rPr>
              <a:t>脳神経内科・整形外科で</a:t>
            </a:r>
            <a:endParaRPr lang="en-US" sz="1500" dirty="0"/>
          </a:p>
          <a:p>
            <a:pPr indent="0" marL="0">
              <a:lnSpc>
                <a:spcPct val="120000"/>
              </a:lnSpc>
              <a:buNone/>
            </a:pPr>
            <a:r>
              <a:rPr lang="en-US" sz="1500" dirty="0">
                <a:solidFill>
                  <a:srgbClr val="636E72"/>
                </a:solidFill>
                <a:latin typeface="BIZ UDPGothic" pitchFamily="34" charset="0"/>
                <a:ea typeface="BIZ UDPGothic" pitchFamily="34" charset="-122"/>
                <a:cs typeface="BIZ UDPGothic" pitchFamily="34" charset="-120"/>
              </a:rPr>
              <a:t>原因を精査しましょう</a:t>
            </a:r>
            <a:endParaRPr lang="en-US" sz="1500" dirty="0"/>
          </a:p>
        </p:txBody>
      </p:sp>
      <p:sp>
        <p:nvSpPr>
          <p:cNvPr id="19" name="Shape 17"/>
          <p:cNvSpPr/>
          <p:nvPr/>
        </p:nvSpPr>
        <p:spPr>
          <a:xfrm>
            <a:off x="0" y="4800600"/>
            <a:ext cx="9144000" cy="347472"/>
          </a:xfrm>
          <a:prstGeom prst="rect">
            <a:avLst/>
          </a:prstGeom>
          <a:solidFill>
            <a:srgbClr val="1B3A5C"/>
          </a:solidFill>
          <a:ln/>
        </p:spPr>
      </p:sp>
      <p:sp>
        <p:nvSpPr>
          <p:cNvPr id="20" name="Text 18"/>
          <p:cNvSpPr/>
          <p:nvPr/>
        </p:nvSpPr>
        <p:spPr>
          <a:xfrm>
            <a:off x="365760" y="4818888"/>
            <a:ext cx="4572000" cy="274320"/>
          </a:xfrm>
          <a:prstGeom prst="rect">
            <a:avLst/>
          </a:prstGeom>
          <a:noFill/>
          <a:ln/>
        </p:spPr>
        <p:txBody>
          <a:bodyPr wrap="square" lIns="0" tIns="0" rIns="0" bIns="0" rtlCol="0" anchor="ctr"/>
          <a:lstStyle/>
          <a:p>
            <a:pPr indent="0" marL="0">
              <a:buNone/>
            </a:pPr>
            <a:r>
              <a:rPr lang="en-US" sz="1000" dirty="0">
                <a:solidFill>
                  <a:srgbClr val="FFFFFF"/>
                </a:solidFill>
                <a:latin typeface="BIZ UDPGothic" pitchFamily="34" charset="0"/>
                <a:ea typeface="BIZ UDPGothic" pitchFamily="34" charset="-122"/>
                <a:cs typeface="BIZ UDPGothic" pitchFamily="34" charset="-120"/>
              </a:rPr>
              <a:t>医知創造ラボ ｜ その症状、大丈夫？ #09</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850C"/>
          </a:solidFill>
          <a:ln/>
        </p:spPr>
      </p:sp>
      <p:sp>
        <p:nvSpPr>
          <p:cNvPr id="3" name="Shape 1"/>
          <p:cNvSpPr/>
          <p:nvPr/>
        </p:nvSpPr>
        <p:spPr>
          <a:xfrm>
            <a:off x="0" y="5088636"/>
            <a:ext cx="9144000" cy="54864"/>
          </a:xfrm>
          <a:prstGeom prst="rect">
            <a:avLst/>
          </a:prstGeom>
          <a:solidFill>
            <a:srgbClr val="E8850C"/>
          </a:solidFill>
          <a:ln/>
        </p:spPr>
      </p:sp>
      <p:sp>
        <p:nvSpPr>
          <p:cNvPr id="4" name="Text 2"/>
          <p:cNvSpPr/>
          <p:nvPr/>
        </p:nvSpPr>
        <p:spPr>
          <a:xfrm>
            <a:off x="548640" y="731520"/>
            <a:ext cx="8046720" cy="640080"/>
          </a:xfrm>
          <a:prstGeom prst="rect">
            <a:avLst/>
          </a:prstGeom>
          <a:noFill/>
          <a:ln/>
        </p:spPr>
        <p:txBody>
          <a:bodyPr wrap="square" lIns="0" tIns="0" rIns="0" bIns="0" rtlCol="0" anchor="ctr"/>
          <a:lstStyle/>
          <a:p>
            <a:pPr algn="ctr" indent="0" marL="0">
              <a:buNone/>
            </a:pPr>
            <a:r>
              <a:rPr lang="en-US" sz="3000" b="1" dirty="0">
                <a:solidFill>
                  <a:srgbClr val="FFFFFF"/>
                </a:solidFill>
                <a:latin typeface="BIZ UDPGothic" pitchFamily="34" charset="0"/>
                <a:ea typeface="BIZ UDPGothic" pitchFamily="34" charset="-122"/>
                <a:cs typeface="BIZ UDPGothic" pitchFamily="34" charset="-120"/>
              </a:rPr>
              <a:t>ご視聴ありがとうございました</a:t>
            </a:r>
            <a:endParaRPr lang="en-US" sz="3000" dirty="0"/>
          </a:p>
        </p:txBody>
      </p:sp>
      <p:sp>
        <p:nvSpPr>
          <p:cNvPr id="5" name="Shape 3"/>
          <p:cNvSpPr/>
          <p:nvPr/>
        </p:nvSpPr>
        <p:spPr>
          <a:xfrm>
            <a:off x="2286000" y="1554480"/>
            <a:ext cx="4572000" cy="0"/>
          </a:xfrm>
          <a:prstGeom prst="line">
            <a:avLst/>
          </a:prstGeom>
          <a:noFill/>
          <a:ln w="25400">
            <a:solidFill>
              <a:srgbClr val="E8850C"/>
            </a:solidFill>
            <a:prstDash val="solid"/>
          </a:ln>
        </p:spPr>
      </p:sp>
      <p:sp>
        <p:nvSpPr>
          <p:cNvPr id="6" name="Text 4"/>
          <p:cNvSpPr/>
          <p:nvPr/>
        </p:nvSpPr>
        <p:spPr>
          <a:xfrm>
            <a:off x="548640" y="1828800"/>
            <a:ext cx="8046720" cy="457200"/>
          </a:xfrm>
          <a:prstGeom prst="rect">
            <a:avLst/>
          </a:prstGeom>
          <a:noFill/>
          <a:ln/>
        </p:spPr>
        <p:txBody>
          <a:bodyPr wrap="square" lIns="0" tIns="0" rIns="0" bIns="0" rtlCol="0" anchor="ctr"/>
          <a:lstStyle/>
          <a:p>
            <a:pPr algn="ctr" indent="0" marL="0">
              <a:buNone/>
            </a:pPr>
            <a:r>
              <a:rPr lang="en-US" sz="2000" dirty="0">
                <a:solidFill>
                  <a:srgbClr val="E8850C"/>
                </a:solidFill>
                <a:latin typeface="BIZ UDPGothic" pitchFamily="34" charset="0"/>
                <a:ea typeface="BIZ UDPGothic" pitchFamily="34" charset="-122"/>
                <a:cs typeface="BIZ UDPGothic" pitchFamily="34" charset="-120"/>
              </a:rPr>
              <a:t>チャンネル登録・高評価よろしくお願いします！</a:t>
            </a:r>
            <a:endParaRPr lang="en-US" sz="2000" dirty="0"/>
          </a:p>
        </p:txBody>
      </p:sp>
      <p:sp>
        <p:nvSpPr>
          <p:cNvPr id="7" name="Text 5"/>
          <p:cNvSpPr/>
          <p:nvPr/>
        </p:nvSpPr>
        <p:spPr>
          <a:xfrm>
            <a:off x="1371600" y="2651760"/>
            <a:ext cx="6400800" cy="411480"/>
          </a:xfrm>
          <a:prstGeom prst="rect">
            <a:avLst/>
          </a:prstGeom>
          <a:noFill/>
          <a:ln/>
        </p:spPr>
        <p:txBody>
          <a:bodyPr wrap="square" lIns="0" tIns="0" rIns="0" bIns="0" rtlCol="0" anchor="ctr"/>
          <a:lstStyle/>
          <a:p>
            <a:pPr algn="l" indent="0" marL="0">
              <a:buNone/>
            </a:pPr>
            <a:r>
              <a:rPr lang="en-US" sz="1700" dirty="0">
                <a:solidFill>
                  <a:srgbClr val="B0BEC5"/>
                </a:solidFill>
                <a:latin typeface="BIZ UDPGothic" pitchFamily="34" charset="0"/>
                <a:ea typeface="BIZ UDPGothic" pitchFamily="34" charset="-122"/>
                <a:cs typeface="BIZ UDPGothic" pitchFamily="34" charset="-120"/>
              </a:rPr>
              <a:t>🔗 ブログ記事で詳しく読む（概要欄にリンク）</a:t>
            </a:r>
            <a:endParaRPr lang="en-US" sz="1700" dirty="0"/>
          </a:p>
        </p:txBody>
      </p:sp>
      <p:sp>
        <p:nvSpPr>
          <p:cNvPr id="8" name="Text 6"/>
          <p:cNvSpPr/>
          <p:nvPr/>
        </p:nvSpPr>
        <p:spPr>
          <a:xfrm>
            <a:off x="1371600" y="3154680"/>
            <a:ext cx="6400800" cy="411480"/>
          </a:xfrm>
          <a:prstGeom prst="rect">
            <a:avLst/>
          </a:prstGeom>
          <a:noFill/>
          <a:ln/>
        </p:spPr>
        <p:txBody>
          <a:bodyPr wrap="square" lIns="0" tIns="0" rIns="0" bIns="0" rtlCol="0" anchor="ctr"/>
          <a:lstStyle/>
          <a:p>
            <a:pPr algn="l" indent="0" marL="0">
              <a:buNone/>
            </a:pPr>
            <a:r>
              <a:rPr lang="en-US" sz="1700" dirty="0">
                <a:solidFill>
                  <a:srgbClr val="B0BEC5"/>
                </a:solidFill>
                <a:latin typeface="BIZ UDPGothic" pitchFamily="34" charset="0"/>
                <a:ea typeface="BIZ UDPGothic" pitchFamily="34" charset="-122"/>
                <a:cs typeface="BIZ UDPGothic" pitchFamily="34" charset="-120"/>
              </a:rPr>
              <a:t>🔍 首の痛みセルフチェックツール（概要欄にリンク）</a:t>
            </a:r>
            <a:endParaRPr lang="en-US" sz="1700" dirty="0"/>
          </a:p>
        </p:txBody>
      </p:sp>
      <p:sp>
        <p:nvSpPr>
          <p:cNvPr id="9" name="Text 7"/>
          <p:cNvSpPr/>
          <p:nvPr/>
        </p:nvSpPr>
        <p:spPr>
          <a:xfrm>
            <a:off x="1371600" y="3657600"/>
            <a:ext cx="6400800" cy="411480"/>
          </a:xfrm>
          <a:prstGeom prst="rect">
            <a:avLst/>
          </a:prstGeom>
          <a:noFill/>
          <a:ln/>
        </p:spPr>
        <p:txBody>
          <a:bodyPr wrap="square" lIns="0" tIns="0" rIns="0" bIns="0" rtlCol="0" anchor="ctr"/>
          <a:lstStyle/>
          <a:p>
            <a:pPr algn="l" indent="0" marL="0">
              <a:buNone/>
            </a:pPr>
            <a:r>
              <a:rPr lang="en-US" sz="1700" dirty="0">
                <a:solidFill>
                  <a:srgbClr val="B0BEC5"/>
                </a:solidFill>
                <a:latin typeface="BIZ UDPGothic" pitchFamily="34" charset="0"/>
                <a:ea typeface="BIZ UDPGothic" pitchFamily="34" charset="-122"/>
                <a:cs typeface="BIZ UDPGothic" pitchFamily="34" charset="-120"/>
              </a:rPr>
              <a:t>📺 次回：手足がしびれる ― 受診すべき科</a:t>
            </a:r>
            <a:endParaRPr lang="en-US" sz="1700" dirty="0"/>
          </a:p>
        </p:txBody>
      </p:sp>
      <p:sp>
        <p:nvSpPr>
          <p:cNvPr id="10" name="Text 8"/>
          <p:cNvSpPr/>
          <p:nvPr/>
        </p:nvSpPr>
        <p:spPr>
          <a:xfrm>
            <a:off x="548640" y="4389120"/>
            <a:ext cx="8046720" cy="365760"/>
          </a:xfrm>
          <a:prstGeom prst="rect">
            <a:avLst/>
          </a:prstGeom>
          <a:noFill/>
          <a:ln/>
        </p:spPr>
        <p:txBody>
          <a:bodyPr wrap="square" lIns="0" tIns="0" rIns="0" bIns="0" rtlCol="0" anchor="ctr"/>
          <a:lstStyle/>
          <a:p>
            <a:pPr algn="ctr" indent="0" marL="0">
              <a:buNone/>
            </a:pPr>
            <a:r>
              <a:rPr lang="en-US" sz="1400" dirty="0">
                <a:solidFill>
                  <a:srgbClr val="78909C"/>
                </a:solidFill>
                <a:latin typeface="BIZ UDPGothic" pitchFamily="34" charset="0"/>
                <a:ea typeface="BIZ UDPGothic" pitchFamily="34" charset="-122"/>
                <a:cs typeface="BIZ UDPGothic" pitchFamily="34" charset="-120"/>
              </a:rPr>
              <a:t>医知創造ラボ</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【その症状、大丈夫？#09】首が痛い ― 原因と見分け方</dc:title>
  <dc:subject>PptxGenJS Presentation</dc:subject>
  <dc:creator>今村久司</dc:creator>
  <cp:lastModifiedBy>今村久司</cp:lastModifiedBy>
  <cp:revision>1</cp:revision>
  <dcterms:created xsi:type="dcterms:W3CDTF">2026-04-13T07:02:29Z</dcterms:created>
  <dcterms:modified xsi:type="dcterms:W3CDTF">2026-04-13T07:02:29Z</dcterms:modified>
</cp:coreProperties>
</file>