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MCV分類×8ステップで系統的に迫る 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貧血の定義とWHO基準（2024）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対象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 (g/dL)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軽度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中等度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男性 15-65歳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≥13.0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11.0-12.9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8.0-10.9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&lt;8.0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女性 15-65歳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≥12.0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11.0-11.9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8.0-10.9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&lt;8.0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妊娠 1/3期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≥11.0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10.0-10.9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7.0-9.9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&lt;7.0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ポイント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・高地居住・喫煙・脱水で相対的に高値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・Hb値だけでなく症状（動悸・息切れ・倦怠感）も重要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鑑別アルゴリズムの全体像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初期トリアージ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44168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18488" y="1554480"/>
            <a:ext cx="411480" cy="4114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161848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9888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MCV分類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58568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414016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88336" y="1554480"/>
            <a:ext cx="411480" cy="4114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268833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59736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網状赤血球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28416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483864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554480"/>
            <a:ext cx="411480" cy="4114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375818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9584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溶血所見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98264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53712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1554480"/>
            <a:ext cx="411480" cy="4114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99432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鉄代謝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68112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623560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97880" y="1554480"/>
            <a:ext cx="411480" cy="411480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0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末梢血塗抹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693408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67728" y="155448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96772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9128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臨床背景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607808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763256" y="1371600"/>
            <a:ext cx="960120" cy="21945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37576" y="155448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803757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08976" y="21488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確定診断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8つのステップを順序立てて進めることで、効率的に鑑別を絞り込む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A  初期トリアージ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まず緊急性を判断 — 以下があれば即時対応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74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血行動態不安定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頻脈・低血圧・ショック → 輸血・輸液を優先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560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560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Hb低値＋症候性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Hb&lt;7 g/dL＋動悸/呼吸困難 → 輸血検討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46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MAHA疑い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3246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血小板減少＋破砕赤血球 → TTP → 血漿交換を遅らせない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931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神経症状＋巨赤芽球性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931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 → 不可逆性あり → 早期補充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B  MCV分類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DC354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08760"/>
            <a:ext cx="2468880" cy="1828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小球性 (MCV&lt;80)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IDA, サラセミア,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鉄芽球性, 鉛中毒, IRIDA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E8850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508760"/>
            <a:ext cx="2468880" cy="1828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正球性 (80-100)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出血, 溶血, ACD,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CKD, 骨髄不全, PRCA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11887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1887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2C5AA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1508760"/>
            <a:ext cx="2468880" cy="1828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大球性 (MCV&gt;100)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B12欠乏, 葉酸欠乏,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アルコール/肝, MDS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MCVが正常でも鉄欠乏は否定できない（初期や混合欠乏の場合）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C  網状赤血球（RPI）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RPI = 網赤(%) × (Hct / 0.45) ÷ 成熟補正係数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成熟補正: Hct 45%=1.0, 35%=1.5, 25%=2.0, 15%=2.5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E6F7EC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60320"/>
            <a:ext cx="3749040" cy="182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RPI &gt; 3  反応良好（赤↑）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・急性出血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・溶血性貧血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骨髄の代償反応あり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産生は保たれている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28600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560320"/>
            <a:ext cx="3749040" cy="1828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RPI &lt; 2  産生低下（赤↓）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・骨髄不全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・栄養欠乏（Fe, B12, 葉酸）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・慢性疾患（ACD/AI）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骨髄の産生障害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AIHAでもDAT+網赤不十分の場合あり（赤芽球への自己抗体）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小球性貧血の鑑別（5疾患）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43000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IDA（鉄欠乏）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1143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フェリチン↓, pencil cells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1430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出血源検索が重要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80136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01368"/>
            <a:ext cx="109728" cy="566928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01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サラセミア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18013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RBC保たれる, target cells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1801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HbA2↑（β型）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5973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459736"/>
            <a:ext cx="109728" cy="566928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59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鉄芽球性貧血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環状鉄芽球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4597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Pappenheimer bodies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1810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118104"/>
            <a:ext cx="109728" cy="56692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118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鉛中毒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26080" y="31181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塩基性斑点赤血球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1181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血中鉛測定, FEP↑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77647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76472"/>
            <a:ext cx="109728" cy="56692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776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IRIDA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26080" y="3776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経口鉄不応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7764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ヘプシジン高値, TMPRSS6変異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3840480" cy="137160"/>
          </a:xfrm>
          <a:prstGeom prst="roundRect">
            <a:avLst>
              <a:gd name="adj" fmla="val 66667"/>
            </a:avLst>
          </a:prstGeom>
          <a:solidFill>
            <a:srgbClr val="DC3545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正球性貧血の鑑別（11疾患）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DC3545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2560320" cy="1371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🩸 出血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・急性出血性貧血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430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E8850C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417320"/>
            <a:ext cx="2560320" cy="1371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💥 溶血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16459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・AIHA（DAT陽性）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・TMA（破砕赤血球）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・機械的溶血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・遺伝性球状赤血球症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・G6PD欠損症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・PNH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14300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14300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2C5AA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1417320"/>
            <a:ext cx="2743200" cy="1371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⬇️ 低産生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9320" y="16459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・ACD/AI（慢性疾患）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・CKD（EPO低下）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・再生不良性貧血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・骨髄浸潤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・PRCA（赤芽球癆）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大球性貧血の鑑別（5疾患）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31920" cy="18288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巨赤芽球性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過分葉好中球, 神経症状（亜急性脊髄変性症）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MMA↑, ホモシステイン↑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葉酸欠乏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MMA正常（B12との鑑別点）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妊娠・アルコール・薬剤（MTX等）で多い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463040"/>
            <a:ext cx="3931920" cy="1828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非巨赤芽球性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92040" y="182880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アルコール/肝疾患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直接毒性, 栄養障害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6060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EPO産生低下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38328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MDS（骨髄異形成症候群）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芽球%, 染色体異常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鉄代謝指標の読み方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91640"/>
                <a:gridCol w="1691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指標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IDA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ACD/AI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50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血清鉄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 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 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フェリチン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&lt;15-30 ↓↓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正常～高 ↑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TIBC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 ↑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低～正常 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TSAT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 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 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sTfR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 上昇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18872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18872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28A745"/>
          </a:solidFill>
          <a:ln/>
        </p:spPr>
      </p:sp>
      <p:sp>
        <p:nvSpPr>
          <p:cNvPr id="9" name="Shape 6"/>
          <p:cNvSpPr/>
          <p:nvPr/>
        </p:nvSpPr>
        <p:spPr>
          <a:xfrm>
            <a:off x="5852160" y="1417320"/>
            <a:ext cx="2926080" cy="1828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フェリチン カットオフ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783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&lt;15 ng/mL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IDA確定的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（特異度99%）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6517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&lt;30 ng/mL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IDA疑い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（感度92%）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&lt;100 ng/mL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264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炎症合併時の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IDA判定閾値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溶血の評価とDAT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溶血マーカー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・LDH 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・間接ビリルビン 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・ハプトグロビン 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・網状赤血球 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DAT（直接クームス試験）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免疫性溶血 vs 非免疫性溶血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の鑑別に必須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109728" cy="1554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DAT 陽性（+）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AIHA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・温式（IgG型）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・冷式（C3型 / 冷式凝集素症）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・混合型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109728" cy="1554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DAT 陰性（-）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機械的溶血, TMA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遺伝性（HS, G6PD）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PNH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破砕赤血球&gt;1% → TMA疑い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Red Flags ─ 見逃してはいけない所見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52144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TTP / MAHA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0972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治療を遅らせない → 血漿交換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719072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重度貧血＋循環不安定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16642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Hb&lt;7で輸血検討、症状優先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28600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23113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汎血球減少＋芽球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223113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AA / MDS / 白血病 → 緊急紹介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27980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中高年の新規IDA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279806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消化管悪性腫瘍を除外（上下部内視鏡）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36499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419856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3649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神経症状＋巨赤芽球性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0" y="336499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B12欠乏 → 不可逆あり → 早期補充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DE8E8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986784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39319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骨痛＋高Ca＋蛋白異常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06240" y="39319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多発性骨髄腫を疑う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Take-home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89304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まず緊急性を判断（TTP, 出血性ショック, B12＋神経症状）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47672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4708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MCV＋網状赤血球で「産生低下 vs 喪失/破壊」を判断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0545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フェリチンは炎症下で偽高値になる → TSAT・sTfRを併用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64408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16382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DATで溶血の免疫性（AIHA）vs 非免疫性（TMA等）を分岐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22776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82219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中高年の新規IDAは消化管悪性腫瘍の除外が必須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046720" cy="91440"/>
          </a:xfrm>
          <a:prstGeom prst="roundRect">
            <a:avLst>
              <a:gd name="adj" fmla="val 100000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貧血の鑑別診断</dc:title>
  <dc:subject>PptxGenJS Presentation</dc:subject>
  <dc:creator>医知創造ラボ</dc:creator>
  <cp:lastModifiedBy>医知創造ラボ</cp:lastModifiedBy>
  <cp:revision>1</cp:revision>
  <dcterms:created xsi:type="dcterms:W3CDTF">2026-03-22T05:18:39Z</dcterms:created>
  <dcterms:modified xsi:type="dcterms:W3CDTF">2026-03-22T05:18:39Z</dcterms:modified>
</cp:coreProperties>
</file>