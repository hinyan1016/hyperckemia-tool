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脳神経内科・研修医・専攻医のための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脳梗塞急性期のヘパリン</a:t>
            </a:r>
            <a:endParaRPr lang="en-US" sz="3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結局どう使う？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1万単位 vs APTT管理 / ブリッジング不要論 / HIT対応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0" y="3200400"/>
            <a:ext cx="3657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脳卒中治療ガイドライン2021〔改訂2025〕対応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脳神経内科専門医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若手医師が悩む3つの論点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8346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1371600"/>
            <a:ext cx="731520" cy="73152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用量・モニタリング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274320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1万単位/日固定か？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APTTで調整すべきか？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8346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51960" y="1371600"/>
            <a:ext cx="731520" cy="731520"/>
          </a:xfrm>
          <a:prstGeom prst="ellipse">
            <a:avLst/>
          </a:prstGeom>
          <a:solidFill>
            <a:srgbClr val="E8850C"/>
          </a:solidFill>
          <a:ln/>
        </p:spPr>
      </p:sp>
      <p:sp>
        <p:nvSpPr>
          <p:cNvPr id="11" name="Text 9"/>
          <p:cNvSpPr/>
          <p:nvPr/>
        </p:nvSpPr>
        <p:spPr>
          <a:xfrm>
            <a:off x="425196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3756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ブリッジング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37560" y="274320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心原性脳塞栓症で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DOACへの橋渡しは必要？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8346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78040" y="1371600"/>
            <a:ext cx="731520" cy="73152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6364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HIT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274320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低用量でも発症する？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気づけるか？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本日のゴール: </a:t>
            </a:r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最新GL (2025) + ELAN・OPTIMAS に基づき、明日から使える実践方針を整理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2/11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ヘパリンのジレンマ ― 再発は防ぐが転帰は改善せず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『脳卒中治療ガイドライン2021〔改訂2025〕』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脳梗塞急性期の未分画ヘパリン使用は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「考慮しても良い（推奨度C、エビデンスレベル中）」</a:t>
            </a:r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欧米GL: 再発予防・症候改善目的のルーチン抗凝固は推奨されない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286000"/>
            <a:ext cx="8595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286000"/>
            <a:ext cx="8595360" cy="365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International Stroke Trial (IST, n=19,435, Lancet 1997)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14日以内の脳梗塞再発  </a:t>
            </a:r>
            <a:pPr indent="0" marL="0">
              <a:buNone/>
            </a:pPr>
            <a:r>
              <a:rPr lang="en-US" sz="16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2.9% </a:t>
            </a:r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vs アスピリン </a:t>
            </a:r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3.8%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しかし </a:t>
            </a:r>
            <a:pPr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出血性脳卒中が有意に増加</a:t>
            </a:r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→ ベネフィットを相殺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8046720" cy="109728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6118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結論: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虚血再発を抑える力はあるが、出血増加で全体転帰は改善せず
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漫然投与ではなく </a:t>
            </a:r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「病態を選んで使う個別化治療」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が求められる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3/11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1万単位固定 vs APTT管理 ― どちらが正解？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926080" cy="100584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体重ベース治療量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91840" y="11887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欧米標準: 80 U/kg ボーラス + 18 U/kg/hr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1600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60kg例で&gt;25,000 U/日 → 脳梗塞では出血リスク大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8595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40280"/>
            <a:ext cx="2926080" cy="10058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2402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固定用量1万 U/日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23317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日本の経験的開始用量（添付文書ベース）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2743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簡便・出血リスク低いが、効果不足例あり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383280"/>
            <a:ext cx="8595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383280"/>
            <a:ext cx="2926080" cy="10058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3832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APTT調整（前値の2〜2.5倍）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34747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ガイドラインが言及する目標値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0" y="3886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固定で開始 → APTTで微調整するのが現実的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現実解: </a:t>
            </a:r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固定用量で開始 → 早期APTT測定 → 目標値へ微調整 (= 3方式の折衷)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4/11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実践タイムライン ― 開始から微調整まで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1031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2103120" cy="50292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88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開始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未分画ヘパリン 10,000〜15,000 U/日 持続静注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（体重・腎機能・出血リスク考慮）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rot="5400000">
            <a:off x="2395728" y="2606040"/>
            <a:ext cx="137160" cy="274320"/>
          </a:xfrm>
          <a:prstGeom prst="rtTriangle">
            <a:avLst/>
          </a:prstGeom>
          <a:solidFill>
            <a:srgbClr val="636E72"/>
          </a:solidFill>
          <a:ln/>
        </p:spPr>
      </p:sp>
      <p:sp>
        <p:nvSpPr>
          <p:cNvPr id="10" name="Shape 8"/>
          <p:cNvSpPr/>
          <p:nvPr/>
        </p:nvSpPr>
        <p:spPr>
          <a:xfrm>
            <a:off x="2468880" y="1188720"/>
            <a:ext cx="21031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188720"/>
            <a:ext cx="2103120" cy="5029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188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6〜12h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60320" y="1783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初回APTT測定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60320" y="233172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目標: 投与前値の 2〜2.5倍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（施設により1.5〜2.5倍）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rot="5400000">
            <a:off x="4590288" y="2606040"/>
            <a:ext cx="137160" cy="274320"/>
          </a:xfrm>
          <a:prstGeom prst="rtTriangle">
            <a:avLst/>
          </a:prstGeom>
          <a:solidFill>
            <a:srgbClr val="636E72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0" y="1188720"/>
            <a:ext cx="21031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188720"/>
            <a:ext cx="2103120" cy="50292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188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調整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1783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用量増減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54880" y="233172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目標未達 → 増量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過延長 → 減量または一時中止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rot="5400000">
            <a:off x="6784848" y="2606040"/>
            <a:ext cx="137160" cy="274320"/>
          </a:xfrm>
          <a:prstGeom prst="rtTriangle">
            <a:avLst/>
          </a:prstGeom>
          <a:solidFill>
            <a:srgbClr val="636E72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0" y="1188720"/>
            <a:ext cx="21031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0" y="1188720"/>
            <a:ext cx="2103120" cy="50292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1188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毎日〜隔日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49440" y="1783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継続モニタ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49440" y="233172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APTT + 血小板数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HIT発症時期 (5〜14日) に注意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572000"/>
            <a:ext cx="8595360" cy="4572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KEY: </a:t>
            </a:r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固定用量は「開始用量」に過ぎない。APTTでの微調整が不可欠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5/11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心原性脳塞栓症 ― ブリッジングは過去のもの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かつて: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ワルファリン治療域到達までヘパリン持続静注で「橋渡し」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現在: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DOAC早期開始が新しい標準 (GL2025 推奨度B) → ルーチンのヘパリンブリッジング不要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965960"/>
            <a:ext cx="28346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965960"/>
            <a:ext cx="283464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965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2514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Circulation 2022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9260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発症4日以内開始は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5〜10日後開始に非劣性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1965960"/>
            <a:ext cx="28346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965960"/>
            <a:ext cx="283464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965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ELAN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37560" y="2514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NEJM 2023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29260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30日複合エンドポイント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早期 2.9% vs 遅延 4.1%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1965960"/>
            <a:ext cx="28346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965960"/>
            <a:ext cx="283464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965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OPTIMAS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63640" y="2514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Lancet 2024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29260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≤4日 vs 7〜14日で非劣性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症候性頭蓋内出血 0.6%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434840"/>
            <a:ext cx="8595360" cy="64008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4348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結論: </a:t>
            </a:r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NVAF合併急性期脳梗塞 → </a:t>
            </a:r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血圧管理の下、早期DOAC開始が標準</a:t>
            </a:r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(ヘパリンブリッジング不要)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6/11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1-2-3-4日ルール ― 梗塞サイズで開始日を決める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国立循環器病研究センターの提唱 (旧: 1-3-6-12日ルール)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1031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2103120" cy="6400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TIA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症状は24時間以内に消失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画像上の急性期梗塞なし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1371600"/>
            <a:ext cx="21031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371600"/>
            <a:ext cx="2103120" cy="6400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371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2日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032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軽症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60320" y="260604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小梗塞 (≤1.5cm)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NIHSS低値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371600"/>
            <a:ext cx="21031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371600"/>
            <a:ext cx="2103120" cy="64008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371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3日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5488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中等症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260604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中梗塞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出血リスク中等度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0" y="1371600"/>
            <a:ext cx="21031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0" y="1371600"/>
            <a:ext cx="2103120" cy="6400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371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4日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4944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重症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49440" y="260604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大梗塞 (皮質含む)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出血性変化リスク高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572000"/>
            <a:ext cx="8595360" cy="4572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応用: </a:t>
            </a:r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梗塞サイズ・出血リスクを評価 → 該当日数後にDOAC開始 (血圧140/90以下も確認)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7/11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ヘパリンが主役となる4つの病態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206240" cy="4572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51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脳静脈・静脈洞血栓症 (CSVT)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頭蓋内出血合併例でも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急性期の第一選択は未分画ヘパリン持続静注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377440"/>
            <a:ext cx="3931920" cy="32004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377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推奨度B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51560"/>
            <a:ext cx="4206240" cy="45720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051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癌関連脳梗塞 (Trousseau症候群)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5544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多発性・進行性の急性期は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ヘパリンによる強力抗凝固が主体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2377440"/>
            <a:ext cx="3931920" cy="32004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2377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DOACも選択肢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26080"/>
            <a:ext cx="420624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926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抗リン脂質抗体症候群 (APS)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4290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急性期はヘパリン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維持期はワルファリン (PT-INR 2〜3)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4251960"/>
            <a:ext cx="3931920" cy="32004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251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DOAC非推奨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92608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926080"/>
            <a:ext cx="4206240" cy="457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2926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頭蓋外動脈解離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0600" y="34290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虚血発症急性期の選択肢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抗血小板薬と並んで考慮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4251960"/>
            <a:ext cx="3931920" cy="32004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4251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推奨度B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ルーチンは不要だが、これらの病態では依然として「強力な武器」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8/11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HIT ― 低用量でも発症する免疫原性疾患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97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297680" cy="4114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頻度 (神経内科領域)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ヘパリン投与患者: </a:t>
            </a:r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0.1〜7%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急性期脳梗塞: </a:t>
            </a:r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definite HIT 1.7%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神経内科全体: </a:t>
            </a:r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 2.5%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05840"/>
            <a:ext cx="4206240" cy="41148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005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発症時期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46304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通常型: </a:t>
            </a:r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投与開始後 5〜14日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迅速発症型: </a:t>
            </a:r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数時間〜24時間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(過去30日以内のヘパリン曝露歴あり)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8595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26080"/>
            <a:ext cx="8595360" cy="41148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260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病態 ― 用量依存ではなく免疫原性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3832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ヘパリン ＋ PF4 (血小板第4因子) 複合体に対するIgG抗体 → 血小板強力活性化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大量トロンビン産生 →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血小板減少を伴いながら「強力な血栓傾向 (白色血栓)」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251960"/>
            <a:ext cx="8595360" cy="822960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25196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 重要: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HITは用量依存ではない →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DVT予防の低用量 (5,000 U皮下注) でも発症しうる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「低用量だから安全」は成り立たない。必ず血小板数をモニタリング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9/11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4Tsスコア ― 検査に進む前のスクリーニング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377440" cy="41148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51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項目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51760" y="1051560"/>
            <a:ext cx="2194560" cy="41148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7" name="Text 5"/>
          <p:cNvSpPr/>
          <p:nvPr/>
        </p:nvSpPr>
        <p:spPr>
          <a:xfrm>
            <a:off x="2651760" y="1051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2点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2194560" cy="41148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051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1点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040880" y="1051560"/>
            <a:ext cx="1828800" cy="41148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0" y="1051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0点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1463040"/>
            <a:ext cx="2377440" cy="621792"/>
          </a:xfrm>
          <a:prstGeom prst="rect">
            <a:avLst/>
          </a:prstGeom>
          <a:solidFill>
            <a:srgbClr val="E8F0FE"/>
          </a:solidFill>
          <a:ln w="6350">
            <a:solidFill>
              <a:srgbClr val="636E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46304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Thrombocytopenia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(血小板減少)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51760" y="1463040"/>
            <a:ext cx="21945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636E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146304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&gt;50%低下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最低値≥20,000/μL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463040"/>
            <a:ext cx="21945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636E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46304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30〜50%低下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または10,000〜19,000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40880" y="1463040"/>
            <a:ext cx="1828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636E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0" y="146304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&lt;30%低下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または&lt;10,000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084832"/>
            <a:ext cx="2377440" cy="621792"/>
          </a:xfrm>
          <a:prstGeom prst="rect">
            <a:avLst/>
          </a:prstGeom>
          <a:solidFill>
            <a:srgbClr val="E8F0FE"/>
          </a:solidFill>
          <a:ln w="6350">
            <a:solidFill>
              <a:srgbClr val="636E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08483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Timing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(発症時期)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51760" y="2084832"/>
            <a:ext cx="21945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636E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7480" y="2084832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5〜10日、または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過去30日以内曝露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084832"/>
            <a:ext cx="21945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636E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084832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&gt;10日、または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過去30〜100日曝露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040880" y="2084832"/>
            <a:ext cx="1828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636E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86600" y="208483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≤4日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(曝露歴なし)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706624"/>
            <a:ext cx="2377440" cy="621792"/>
          </a:xfrm>
          <a:prstGeom prst="rect">
            <a:avLst/>
          </a:prstGeom>
          <a:solidFill>
            <a:srgbClr val="E8F0FE"/>
          </a:solidFill>
          <a:ln w="6350">
            <a:solidFill>
              <a:srgbClr val="636E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706624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Thrombosis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(血栓症)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51760" y="2706624"/>
            <a:ext cx="21945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636E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97480" y="2706624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新規血栓/皮膚壊死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急性全身反応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2706624"/>
            <a:ext cx="21945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636E7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706624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血栓進行/皮膚紅斑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血栓疑い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040880" y="2706624"/>
            <a:ext cx="1828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636E7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86600" y="2706624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なし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3328416"/>
            <a:ext cx="2377440" cy="621792"/>
          </a:xfrm>
          <a:prstGeom prst="rect">
            <a:avLst/>
          </a:prstGeom>
          <a:solidFill>
            <a:srgbClr val="E8F0FE"/>
          </a:solidFill>
          <a:ln w="6350">
            <a:solidFill>
              <a:srgbClr val="636E7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32841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oTher causes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(他原因)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651760" y="3328416"/>
            <a:ext cx="21945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636E7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97480" y="332841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他原因なし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3328416"/>
            <a:ext cx="21945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636E7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332841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他原因の可能性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040880" y="3328416"/>
            <a:ext cx="1828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636E7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86600" y="3328416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他原因が明らか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4023360"/>
            <a:ext cx="8595360" cy="10515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4023360"/>
            <a:ext cx="8046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0〜3点: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低確率 (陰性的中率 99%)
</a:t>
            </a:r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4〜5点: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中等度 → 抗PF4抗体検査へ
</a:t>
            </a:r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6〜8点: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高確率 → 検査と並行してヘパリン中止＋代替抗凝固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10/11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HIT疑い時の4ステップ ＆ 本日のまとめ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8595360" cy="4114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4Tsスコア≥4点で即実施 (検査結果を待たない)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① すべてのヘパリン即時中止 (持続静注・皮下注・ルートフラッシュ・コートカテーテル)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92224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② アルガトロバン開始 0.7 μg/kg/min → APTT前値の1.5〜3倍に調整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214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③ ワルファリン禁忌 (血小板≥150,000/μL回復まで) ― 皮膚壊死・四肢壊疽回避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4505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④ 血小板輸血は原則禁忌 (重篤な出血時のみ) ― 血栓助長を防ぐ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926080"/>
            <a:ext cx="85953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926080"/>
            <a:ext cx="8595360" cy="41148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9260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本日の Take Home Message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474720"/>
            <a:ext cx="228600" cy="22860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429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ルーチンのヘパリンブリッジングは不要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858768"/>
            <a:ext cx="228600" cy="2286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81304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使うなら 1万〜1万5千 U/日 開始 → APTT 2〜2.5倍に微調整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4242816"/>
            <a:ext cx="228600" cy="228600"/>
          </a:xfrm>
          <a:prstGeom prst="ellipse">
            <a:avLst/>
          </a:prstGeom>
          <a:solidFill>
            <a:srgbClr val="E8850C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19709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投与後 5〜14日 は血小板数を毎日確認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626864"/>
            <a:ext cx="228600" cy="22860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58114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4Tsスコア≥4点 → ヘパリン即中止＋アルガトロバン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11/11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脳梗塞急性期のヘパリン 結局どう使う？</dc:title>
  <dc:subject>PptxGenJS Presentation</dc:subject>
  <dc:creator>今村久司</dc:creator>
  <cp:lastModifiedBy>今村久司</cp:lastModifiedBy>
  <cp:revision>1</cp:revision>
  <dcterms:created xsi:type="dcterms:W3CDTF">2026-04-22T01:57:29Z</dcterms:created>
  <dcterms:modified xsi:type="dcterms:W3CDTF">2026-04-22T01:57:29Z</dcterms:modified>
</cp:coreProperties>
</file>