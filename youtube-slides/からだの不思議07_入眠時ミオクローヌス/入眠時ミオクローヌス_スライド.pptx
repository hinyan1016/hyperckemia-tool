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Shape 1"/>
          <p:cNvSpPr/>
          <p:nvPr/>
        </p:nvSpPr>
        <p:spPr>
          <a:xfrm>
            <a:off x="0" y="5088636"/>
            <a:ext cx="9144000" cy="54864"/>
          </a:xfrm>
          <a:prstGeom prst="rect">
            <a:avLst/>
          </a:prstGeom>
          <a:solidFill>
            <a:srgbClr val="4A90D9"/>
          </a:solidFill>
          <a:ln/>
        </p:spPr>
      </p:sp>
      <p:sp>
        <p:nvSpPr>
          <p:cNvPr id="4" name="Text 2"/>
          <p:cNvSpPr/>
          <p:nvPr/>
        </p:nvSpPr>
        <p:spPr>
          <a:xfrm>
            <a:off x="731520" y="457200"/>
            <a:ext cx="7680960" cy="457200"/>
          </a:xfrm>
          <a:prstGeom prst="rect">
            <a:avLst/>
          </a:prstGeom>
          <a:noFill/>
          <a:ln/>
        </p:spPr>
        <p:txBody>
          <a:bodyPr wrap="square" lIns="0" tIns="0" rIns="0" bIns="0" rtlCol="0" anchor="ctr"/>
          <a:lstStyle/>
          <a:p>
            <a:pPr algn="ctr" indent="0" marL="0">
              <a:buNone/>
            </a:pPr>
            <a:r>
              <a:rPr lang="en-US" sz="1600" dirty="0">
                <a:solidFill>
                  <a:srgbClr val="4A90D9"/>
                </a:solidFill>
                <a:latin typeface="BIZ UDPGothic" pitchFamily="34" charset="0"/>
                <a:ea typeface="BIZ UDPGothic" pitchFamily="34" charset="-122"/>
                <a:cs typeface="BIZ UDPGothic" pitchFamily="34" charset="-120"/>
              </a:rPr>
              <a:t>脳神経内科医が答える からだの不思議 #07</a:t>
            </a:r>
            <a:endParaRPr lang="en-US" sz="1600" dirty="0"/>
          </a:p>
        </p:txBody>
      </p:sp>
      <p:sp>
        <p:nvSpPr>
          <p:cNvPr id="5" name="Text 3"/>
          <p:cNvSpPr/>
          <p:nvPr/>
        </p:nvSpPr>
        <p:spPr>
          <a:xfrm>
            <a:off x="731520" y="1097280"/>
            <a:ext cx="7680960" cy="914400"/>
          </a:xfrm>
          <a:prstGeom prst="rect">
            <a:avLst/>
          </a:prstGeom>
          <a:noFill/>
          <a:ln/>
        </p:spPr>
        <p:txBody>
          <a:bodyPr wrap="square" lIns="0" tIns="0" rIns="0" bIns="0" rtlCol="0" anchor="ctr"/>
          <a:lstStyle/>
          <a:p>
            <a:pPr algn="ctr" indent="0" marL="0">
              <a:lnSpc>
                <a:spcPct val="120000"/>
              </a:lnSpc>
              <a:buNone/>
            </a:pPr>
            <a:r>
              <a:rPr lang="en-US" sz="3400" b="1" dirty="0">
                <a:solidFill>
                  <a:srgbClr val="FFFFFF"/>
                </a:solidFill>
                <a:latin typeface="BIZ UDPGothic" pitchFamily="34" charset="0"/>
                <a:ea typeface="BIZ UDPGothic" pitchFamily="34" charset="-122"/>
                <a:cs typeface="BIZ UDPGothic" pitchFamily="34" charset="-120"/>
              </a:rPr>
              <a:t>寝てる時にビクッとなるのはなぜ？</a:t>
            </a:r>
            <a:endParaRPr lang="en-US" sz="3400" dirty="0"/>
          </a:p>
        </p:txBody>
      </p:sp>
      <p:sp>
        <p:nvSpPr>
          <p:cNvPr id="6" name="Text 4"/>
          <p:cNvSpPr/>
          <p:nvPr/>
        </p:nvSpPr>
        <p:spPr>
          <a:xfrm>
            <a:off x="731520" y="2057400"/>
            <a:ext cx="7680960" cy="731520"/>
          </a:xfrm>
          <a:prstGeom prst="rect">
            <a:avLst/>
          </a:prstGeom>
          <a:noFill/>
          <a:ln/>
        </p:spPr>
        <p:txBody>
          <a:bodyPr wrap="square" lIns="0" tIns="0" rIns="0" bIns="0" rtlCol="0" anchor="ctr"/>
          <a:lstStyle/>
          <a:p>
            <a:pPr algn="ctr" indent="0" marL="0">
              <a:buNone/>
            </a:pPr>
            <a:r>
              <a:rPr lang="en-US" sz="3000" b="1" dirty="0">
                <a:solidFill>
                  <a:srgbClr val="F5C518"/>
                </a:solidFill>
                <a:latin typeface="BIZ UDPGothic" pitchFamily="34" charset="0"/>
                <a:ea typeface="BIZ UDPGothic" pitchFamily="34" charset="-122"/>
                <a:cs typeface="BIZ UDPGothic" pitchFamily="34" charset="-120"/>
              </a:rPr>
              <a:t>「入眠時ミオクローヌス」の正体</a:t>
            </a:r>
            <a:endParaRPr lang="en-US" sz="3000" dirty="0"/>
          </a:p>
        </p:txBody>
      </p:sp>
      <p:sp>
        <p:nvSpPr>
          <p:cNvPr id="7" name="Text 5"/>
          <p:cNvSpPr/>
          <p:nvPr/>
        </p:nvSpPr>
        <p:spPr>
          <a:xfrm>
            <a:off x="731520" y="2880360"/>
            <a:ext cx="7680960" cy="502920"/>
          </a:xfrm>
          <a:prstGeom prst="rect">
            <a:avLst/>
          </a:prstGeom>
          <a:noFill/>
          <a:ln/>
        </p:spPr>
        <p:txBody>
          <a:bodyPr wrap="square" lIns="0" tIns="0" rIns="0" bIns="0" rtlCol="0" anchor="ctr"/>
          <a:lstStyle/>
          <a:p>
            <a:pPr algn="ctr" indent="0" marL="0">
              <a:buNone/>
            </a:pPr>
            <a:r>
              <a:rPr lang="en-US" sz="1800" dirty="0">
                <a:solidFill>
                  <a:srgbClr val="4A90D9"/>
                </a:solidFill>
                <a:latin typeface="BIZ UDPGothic" pitchFamily="34" charset="0"/>
                <a:ea typeface="BIZ UDPGothic" pitchFamily="34" charset="-122"/>
                <a:cs typeface="BIZ UDPGothic" pitchFamily="34" charset="-120"/>
              </a:rPr>
              <a:t>― 脳神経内科医が解説するそのメカニズム ―</a:t>
            </a:r>
            <a:endParaRPr lang="en-US" sz="1800" dirty="0"/>
          </a:p>
        </p:txBody>
      </p:sp>
      <p:sp>
        <p:nvSpPr>
          <p:cNvPr id="8" name="Shape 6"/>
          <p:cNvSpPr/>
          <p:nvPr/>
        </p:nvSpPr>
        <p:spPr>
          <a:xfrm>
            <a:off x="2743200" y="3520440"/>
            <a:ext cx="3657600" cy="0"/>
          </a:xfrm>
          <a:prstGeom prst="line">
            <a:avLst/>
          </a:prstGeom>
          <a:noFill/>
          <a:ln w="25400">
            <a:solidFill>
              <a:srgbClr val="4A90D9"/>
            </a:solidFill>
            <a:prstDash val="solid"/>
          </a:ln>
        </p:spPr>
      </p:sp>
      <p:sp>
        <p:nvSpPr>
          <p:cNvPr id="9" name="Text 7"/>
          <p:cNvSpPr/>
          <p:nvPr/>
        </p:nvSpPr>
        <p:spPr>
          <a:xfrm>
            <a:off x="731520" y="3749040"/>
            <a:ext cx="7680960" cy="457200"/>
          </a:xfrm>
          <a:prstGeom prst="rect">
            <a:avLst/>
          </a:prstGeom>
          <a:noFill/>
          <a:ln/>
        </p:spPr>
        <p:txBody>
          <a:bodyPr wrap="square" lIns="0" tIns="0" rIns="0" bIns="0" rtlCol="0" anchor="ctr"/>
          <a:lstStyle/>
          <a:p>
            <a:pPr algn="ctr" indent="0" marL="0">
              <a:buNone/>
            </a:pPr>
            <a:r>
              <a:rPr lang="en-US" sz="2000" dirty="0">
                <a:solidFill>
                  <a:srgbClr val="E8F0FE"/>
                </a:solidFill>
                <a:latin typeface="BIZ UDPGothic" pitchFamily="34" charset="0"/>
                <a:ea typeface="BIZ UDPGothic" pitchFamily="34" charset="-122"/>
                <a:cs typeface="BIZ UDPGothic" pitchFamily="34" charset="-120"/>
              </a:rPr>
              <a:t>医知創造ラボ  今村久司</a:t>
            </a:r>
            <a:endParaRPr lang="en-US" sz="2000" dirty="0"/>
          </a:p>
        </p:txBody>
      </p:sp>
      <p:sp>
        <p:nvSpPr>
          <p:cNvPr id="10" name="Text 8"/>
          <p:cNvSpPr/>
          <p:nvPr/>
        </p:nvSpPr>
        <p:spPr>
          <a:xfrm>
            <a:off x="731520" y="4251960"/>
            <a:ext cx="7680960" cy="365760"/>
          </a:xfrm>
          <a:prstGeom prst="rect">
            <a:avLst/>
          </a:prstGeom>
          <a:noFill/>
          <a:ln/>
        </p:spPr>
        <p:txBody>
          <a:bodyPr wrap="square" lIns="0" tIns="0" rIns="0" bIns="0" rtlCol="0" anchor="ctr"/>
          <a:lstStyle/>
          <a:p>
            <a:pPr algn="ctr" indent="0" marL="0">
              <a:buNone/>
            </a:pPr>
            <a:r>
              <a:rPr lang="en-US" sz="1400" i="1" dirty="0">
                <a:solidFill>
                  <a:srgbClr val="636E72"/>
                </a:solidFill>
                <a:latin typeface="BIZ UDPGothic" pitchFamily="34" charset="0"/>
                <a:ea typeface="BIZ UDPGothic" pitchFamily="34" charset="-122"/>
                <a:cs typeface="BIZ UDPGothic" pitchFamily="34" charset="-120"/>
              </a:rPr>
              <a:t>脳神経内科専門医</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こんな経験ありませんか？</a:t>
            </a:r>
            <a:endParaRPr lang="en-US" sz="2400" dirty="0"/>
          </a:p>
        </p:txBody>
      </p:sp>
      <p:sp>
        <p:nvSpPr>
          <p:cNvPr id="4" name="Shape 2"/>
          <p:cNvSpPr/>
          <p:nvPr/>
        </p:nvSpPr>
        <p:spPr>
          <a:xfrm>
            <a:off x="914400" y="109728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1188720" y="118872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「電車でうとうとしていたら、急にビクッとなって恥ずかしかった…」</a:t>
            </a:r>
            <a:endParaRPr lang="en-US" sz="1800" dirty="0"/>
          </a:p>
        </p:txBody>
      </p:sp>
      <p:sp>
        <p:nvSpPr>
          <p:cNvPr id="6" name="Shape 4"/>
          <p:cNvSpPr/>
          <p:nvPr/>
        </p:nvSpPr>
        <p:spPr>
          <a:xfrm>
            <a:off x="914400" y="233172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7" name="Text 5"/>
          <p:cNvSpPr/>
          <p:nvPr/>
        </p:nvSpPr>
        <p:spPr>
          <a:xfrm>
            <a:off x="1188720" y="242316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「眠りに落ちる瞬間に、崖から落ちる夢を見てビクッと目が覚める」</a:t>
            </a:r>
            <a:endParaRPr lang="en-US" sz="1800" dirty="0"/>
          </a:p>
        </p:txBody>
      </p:sp>
      <p:sp>
        <p:nvSpPr>
          <p:cNvPr id="8" name="Shape 6"/>
          <p:cNvSpPr/>
          <p:nvPr/>
        </p:nvSpPr>
        <p:spPr>
          <a:xfrm>
            <a:off x="914400" y="356616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1188720" y="365760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「疲れた日の夜は特に強くて、パートナーに『大丈夫？』と心配された」</a:t>
            </a:r>
            <a:endParaRPr lang="en-US" sz="1800" dirty="0"/>
          </a:p>
        </p:txBody>
      </p:sp>
      <p:sp>
        <p:nvSpPr>
          <p:cNvPr id="10" name="Shape 8"/>
          <p:cNvSpPr/>
          <p:nvPr/>
        </p:nvSpPr>
        <p:spPr>
          <a:xfrm>
            <a:off x="914400" y="4572000"/>
            <a:ext cx="7315200" cy="457200"/>
          </a:xfrm>
          <a:prstGeom prst="rect">
            <a:avLst/>
          </a:prstGeom>
          <a:solidFill>
            <a:srgbClr val="E8F0FE"/>
          </a:solidFill>
          <a:ln/>
        </p:spPr>
      </p:sp>
      <p:sp>
        <p:nvSpPr>
          <p:cNvPr id="11" name="Text 9"/>
          <p:cNvSpPr/>
          <p:nvPr/>
        </p:nvSpPr>
        <p:spPr>
          <a:xfrm>
            <a:off x="914400" y="4572000"/>
            <a:ext cx="7315200" cy="457200"/>
          </a:xfrm>
          <a:prstGeom prst="rect">
            <a:avLst/>
          </a:prstGeom>
          <a:noFill/>
          <a:ln/>
        </p:spPr>
        <p:txBody>
          <a:bodyPr wrap="square" lIns="0" tIns="0" rIns="0" bIns="0" rtlCol="0" anchor="ctr"/>
          <a:lstStyle/>
          <a:p>
            <a:pPr algn="ctr" indent="0" marL="0">
              <a:buNone/>
            </a:pPr>
            <a:r>
              <a:rPr lang="en-US" sz="1600" b="1" dirty="0">
                <a:solidFill>
                  <a:srgbClr val="2C5AA0"/>
                </a:solidFill>
                <a:latin typeface="BIZ UDPGothic" pitchFamily="34" charset="0"/>
                <a:ea typeface="BIZ UDPGothic" pitchFamily="34" charset="-122"/>
                <a:cs typeface="BIZ UDPGothic" pitchFamily="34" charset="-120"/>
              </a:rPr>
              <a:t>健康な成人の60〜70%が経験する、ごく一般的な現象</a:t>
            </a:r>
            <a:endParaRPr lang="en-US" sz="1600" dirty="0"/>
          </a:p>
        </p:txBody>
      </p:sp>
      <p:sp>
        <p:nvSpPr>
          <p:cNvPr id="12" name="Text 1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2/9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入眠時ミオクローヌスとは</a:t>
            </a:r>
            <a:endParaRPr lang="en-US" sz="2400" dirty="0"/>
          </a:p>
        </p:txBody>
      </p:sp>
      <p:sp>
        <p:nvSpPr>
          <p:cNvPr id="4" name="Shape 2"/>
          <p:cNvSpPr/>
          <p:nvPr/>
        </p:nvSpPr>
        <p:spPr>
          <a:xfrm>
            <a:off x="457200" y="1005840"/>
            <a:ext cx="82296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97280"/>
            <a:ext cx="7680960" cy="457200"/>
          </a:xfrm>
          <a:prstGeom prst="rect">
            <a:avLst/>
          </a:prstGeom>
          <a:noFill/>
          <a:ln/>
        </p:spPr>
        <p:txBody>
          <a:bodyPr wrap="square" lIns="0" tIns="0" rIns="0" bIns="0" rtlCol="0" anchor="ctr"/>
          <a:lstStyle/>
          <a:p>
            <a:pPr indent="0" marL="0">
              <a:buNone/>
            </a:pPr>
            <a:r>
              <a:rPr lang="en-US" sz="2200" b="1" i="1" dirty="0">
                <a:solidFill>
                  <a:srgbClr val="2C5AA0"/>
                </a:solidFill>
                <a:latin typeface="Segoe UI" pitchFamily="34" charset="0"/>
                <a:ea typeface="Segoe UI" pitchFamily="34" charset="-122"/>
                <a:cs typeface="Segoe UI" pitchFamily="34" charset="-120"/>
              </a:rPr>
              <a:t>Hypnic Jerk  /  Sleep Start</a:t>
            </a:r>
            <a:endParaRPr lang="en-US" sz="2200" dirty="0"/>
          </a:p>
        </p:txBody>
      </p:sp>
      <p:sp>
        <p:nvSpPr>
          <p:cNvPr id="6" name="Text 4"/>
          <p:cNvSpPr/>
          <p:nvPr/>
        </p:nvSpPr>
        <p:spPr>
          <a:xfrm>
            <a:off x="731520" y="1554480"/>
            <a:ext cx="7680960" cy="640080"/>
          </a:xfrm>
          <a:prstGeom prst="rect">
            <a:avLst/>
          </a:prstGeom>
          <a:noFill/>
          <a:ln/>
        </p:spPr>
        <p:txBody>
          <a:bodyPr wrap="square" lIns="0" tIns="0" rIns="0" bIns="0" rtlCol="0" anchor="ctr"/>
          <a:lstStyle/>
          <a:p>
            <a:pPr indent="0" marL="0">
              <a:buNone/>
            </a:pPr>
            <a:r>
              <a:rPr lang="en-US" sz="1600" dirty="0">
                <a:solidFill>
                  <a:srgbClr val="2D3436"/>
                </a:solidFill>
                <a:latin typeface="BIZ UDPGothic" pitchFamily="34" charset="0"/>
                <a:ea typeface="BIZ UDPGothic" pitchFamily="34" charset="-122"/>
                <a:cs typeface="BIZ UDPGothic" pitchFamily="34" charset="-120"/>
              </a:rPr>
              <a:t>眠りに落ちる瞬間に全身または四肢がビクッと収縮する生理的現象</a:t>
            </a:r>
            <a:endParaRPr lang="en-US" sz="1600" dirty="0"/>
          </a:p>
        </p:txBody>
      </p:sp>
      <p:sp>
        <p:nvSpPr>
          <p:cNvPr id="7" name="Shape 5"/>
          <p:cNvSpPr/>
          <p:nvPr/>
        </p:nvSpPr>
        <p:spPr>
          <a:xfrm>
            <a:off x="457200" y="2606040"/>
            <a:ext cx="8229600" cy="502920"/>
          </a:xfrm>
          <a:prstGeom prst="rect">
            <a:avLst/>
          </a:prstGeom>
          <a:solidFill>
            <a:srgbClr val="E8F0FE"/>
          </a:solidFill>
          <a:ln/>
        </p:spPr>
      </p:sp>
      <p:sp>
        <p:nvSpPr>
          <p:cNvPr id="8" name="Text 6"/>
          <p:cNvSpPr/>
          <p:nvPr/>
        </p:nvSpPr>
        <p:spPr>
          <a:xfrm>
            <a:off x="640080" y="2606040"/>
            <a:ext cx="7863840" cy="502920"/>
          </a:xfrm>
          <a:prstGeom prst="rect">
            <a:avLst/>
          </a:prstGeom>
          <a:noFill/>
          <a:ln/>
        </p:spPr>
        <p:txBody>
          <a:bodyPr wrap="square" lIns="0" tIns="0" rIns="0" bIns="0" rtlCol="0" anchor="ctr"/>
          <a:lstStyle/>
          <a:p>
            <a:pPr indent="0" marL="0">
              <a:buNone/>
            </a:pPr>
            <a:r>
              <a:rPr lang="en-US" sz="1400" dirty="0">
                <a:solidFill>
                  <a:srgbClr val="2C5AA0"/>
                </a:solidFill>
                <a:latin typeface="BIZ UDPGothic" pitchFamily="34" charset="0"/>
                <a:ea typeface="BIZ UDPGothic" pitchFamily="34" charset="-122"/>
                <a:cs typeface="BIZ UDPGothic" pitchFamily="34" charset="-120"/>
              </a:rPr>
              <a:t>ミオクローヌス ＝「ミオ（筋）」＋「クローヌス（痙攣性の収縮）」　→ 生理的（正常な）ミオクローヌスに分類</a:t>
            </a:r>
            <a:endParaRPr lang="en-US" sz="1400" dirty="0"/>
          </a:p>
        </p:txBody>
      </p:sp>
      <p:sp>
        <p:nvSpPr>
          <p:cNvPr id="9" name="Shape 7"/>
          <p:cNvSpPr/>
          <p:nvPr/>
        </p:nvSpPr>
        <p:spPr>
          <a:xfrm>
            <a:off x="457200" y="3337560"/>
            <a:ext cx="2651760" cy="16459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3337560"/>
            <a:ext cx="2651760" cy="457200"/>
          </a:xfrm>
          <a:prstGeom prst="rect">
            <a:avLst/>
          </a:prstGeom>
          <a:solidFill>
            <a:srgbClr val="28A745"/>
          </a:solidFill>
          <a:ln/>
        </p:spPr>
      </p:sp>
      <p:sp>
        <p:nvSpPr>
          <p:cNvPr id="11" name="Text 9"/>
          <p:cNvSpPr/>
          <p:nvPr/>
        </p:nvSpPr>
        <p:spPr>
          <a:xfrm>
            <a:off x="457200" y="3337560"/>
            <a:ext cx="26517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成人全体</a:t>
            </a:r>
            <a:endParaRPr lang="en-US" sz="1500" dirty="0"/>
          </a:p>
        </p:txBody>
      </p:sp>
      <p:sp>
        <p:nvSpPr>
          <p:cNvPr id="12" name="Text 10"/>
          <p:cNvSpPr/>
          <p:nvPr/>
        </p:nvSpPr>
        <p:spPr>
          <a:xfrm>
            <a:off x="457200" y="3840480"/>
            <a:ext cx="2651760" cy="594360"/>
          </a:xfrm>
          <a:prstGeom prst="rect">
            <a:avLst/>
          </a:prstGeom>
          <a:noFill/>
          <a:ln/>
        </p:spPr>
        <p:txBody>
          <a:bodyPr wrap="square" lIns="0" tIns="0" rIns="0" bIns="0" rtlCol="0" anchor="ctr"/>
          <a:lstStyle/>
          <a:p>
            <a:pPr algn="ctr" indent="0" marL="0">
              <a:buNone/>
            </a:pPr>
            <a:r>
              <a:rPr lang="en-US" sz="2200" b="1" dirty="0">
                <a:solidFill>
                  <a:srgbClr val="28A745"/>
                </a:solidFill>
                <a:latin typeface="BIZ UDPGothic" pitchFamily="34" charset="0"/>
                <a:ea typeface="BIZ UDPGothic" pitchFamily="34" charset="-122"/>
                <a:cs typeface="BIZ UDPGothic" pitchFamily="34" charset="-120"/>
              </a:rPr>
              <a:t>60〜70%</a:t>
            </a:r>
            <a:endParaRPr lang="en-US" sz="2200" dirty="0"/>
          </a:p>
        </p:txBody>
      </p:sp>
      <p:sp>
        <p:nvSpPr>
          <p:cNvPr id="13" name="Text 11"/>
          <p:cNvSpPr/>
          <p:nvPr/>
        </p:nvSpPr>
        <p:spPr>
          <a:xfrm>
            <a:off x="457200" y="4480560"/>
            <a:ext cx="2651760" cy="41148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経験あり</a:t>
            </a:r>
            <a:endParaRPr lang="en-US" sz="1300" dirty="0"/>
          </a:p>
        </p:txBody>
      </p:sp>
      <p:sp>
        <p:nvSpPr>
          <p:cNvPr id="14" name="Shape 12"/>
          <p:cNvSpPr/>
          <p:nvPr/>
        </p:nvSpPr>
        <p:spPr>
          <a:xfrm>
            <a:off x="3291840" y="3337560"/>
            <a:ext cx="2651760" cy="16459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3291840" y="3337560"/>
            <a:ext cx="2651760" cy="457200"/>
          </a:xfrm>
          <a:prstGeom prst="rect">
            <a:avLst/>
          </a:prstGeom>
          <a:solidFill>
            <a:srgbClr val="E8850C"/>
          </a:solidFill>
          <a:ln/>
        </p:spPr>
      </p:sp>
      <p:sp>
        <p:nvSpPr>
          <p:cNvPr id="16" name="Text 14"/>
          <p:cNvSpPr/>
          <p:nvPr/>
        </p:nvSpPr>
        <p:spPr>
          <a:xfrm>
            <a:off x="3291840" y="3337560"/>
            <a:ext cx="26517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疲労・睡眠不足時</a:t>
            </a:r>
            <a:endParaRPr lang="en-US" sz="1500" dirty="0"/>
          </a:p>
        </p:txBody>
      </p:sp>
      <p:sp>
        <p:nvSpPr>
          <p:cNvPr id="17" name="Text 15"/>
          <p:cNvSpPr/>
          <p:nvPr/>
        </p:nvSpPr>
        <p:spPr>
          <a:xfrm>
            <a:off x="3291840" y="3840480"/>
            <a:ext cx="2651760" cy="594360"/>
          </a:xfrm>
          <a:prstGeom prst="rect">
            <a:avLst/>
          </a:prstGeom>
          <a:noFill/>
          <a:ln/>
        </p:spPr>
        <p:txBody>
          <a:bodyPr wrap="square" lIns="0" tIns="0" rIns="0" bIns="0" rtlCol="0" anchor="ctr"/>
          <a:lstStyle/>
          <a:p>
            <a:pPr algn="ctr" indent="0" marL="0">
              <a:buNone/>
            </a:pPr>
            <a:r>
              <a:rPr lang="en-US" sz="2200" b="1" dirty="0">
                <a:solidFill>
                  <a:srgbClr val="E8850C"/>
                </a:solidFill>
                <a:latin typeface="BIZ UDPGothic" pitchFamily="34" charset="0"/>
                <a:ea typeface="BIZ UDPGothic" pitchFamily="34" charset="-122"/>
                <a:cs typeface="BIZ UDPGothic" pitchFamily="34" charset="-120"/>
              </a:rPr>
              <a:t>頻度↑</a:t>
            </a:r>
            <a:endParaRPr lang="en-US" sz="2200" dirty="0"/>
          </a:p>
        </p:txBody>
      </p:sp>
      <p:sp>
        <p:nvSpPr>
          <p:cNvPr id="18" name="Text 16"/>
          <p:cNvSpPr/>
          <p:nvPr/>
        </p:nvSpPr>
        <p:spPr>
          <a:xfrm>
            <a:off x="3291840" y="4480560"/>
            <a:ext cx="2651760" cy="41148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強度も増す</a:t>
            </a:r>
            <a:endParaRPr lang="en-US" sz="1300" dirty="0"/>
          </a:p>
        </p:txBody>
      </p:sp>
      <p:sp>
        <p:nvSpPr>
          <p:cNvPr id="19" name="Shape 17"/>
          <p:cNvSpPr/>
          <p:nvPr/>
        </p:nvSpPr>
        <p:spPr>
          <a:xfrm>
            <a:off x="6126480" y="3337560"/>
            <a:ext cx="2651760" cy="16459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Shape 18"/>
          <p:cNvSpPr/>
          <p:nvPr/>
        </p:nvSpPr>
        <p:spPr>
          <a:xfrm>
            <a:off x="6126480" y="3337560"/>
            <a:ext cx="2651760" cy="457200"/>
          </a:xfrm>
          <a:prstGeom prst="rect">
            <a:avLst/>
          </a:prstGeom>
          <a:solidFill>
            <a:srgbClr val="2C5AA0"/>
          </a:solidFill>
          <a:ln/>
        </p:spPr>
      </p:sp>
      <p:sp>
        <p:nvSpPr>
          <p:cNvPr id="21" name="Text 19"/>
          <p:cNvSpPr/>
          <p:nvPr/>
        </p:nvSpPr>
        <p:spPr>
          <a:xfrm>
            <a:off x="6126480" y="3337560"/>
            <a:ext cx="265176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危険な病気？</a:t>
            </a:r>
            <a:endParaRPr lang="en-US" sz="1500" dirty="0"/>
          </a:p>
        </p:txBody>
      </p:sp>
      <p:sp>
        <p:nvSpPr>
          <p:cNvPr id="22" name="Text 20"/>
          <p:cNvSpPr/>
          <p:nvPr/>
        </p:nvSpPr>
        <p:spPr>
          <a:xfrm>
            <a:off x="6126480" y="3840480"/>
            <a:ext cx="2651760" cy="594360"/>
          </a:xfrm>
          <a:prstGeom prst="rect">
            <a:avLst/>
          </a:prstGeom>
          <a:noFill/>
          <a:ln/>
        </p:spPr>
        <p:txBody>
          <a:bodyPr wrap="square" lIns="0" tIns="0" rIns="0" bIns="0" rtlCol="0" anchor="ctr"/>
          <a:lstStyle/>
          <a:p>
            <a:pPr algn="ctr" indent="0" marL="0">
              <a:buNone/>
            </a:pPr>
            <a:r>
              <a:rPr lang="en-US" sz="2200" b="1" dirty="0">
                <a:solidFill>
                  <a:srgbClr val="2C5AA0"/>
                </a:solidFill>
                <a:latin typeface="BIZ UDPGothic" pitchFamily="34" charset="0"/>
                <a:ea typeface="BIZ UDPGothic" pitchFamily="34" charset="-122"/>
                <a:cs typeface="BIZ UDPGothic" pitchFamily="34" charset="-120"/>
              </a:rPr>
              <a:t>ほとんどNO</a:t>
            </a:r>
            <a:endParaRPr lang="en-US" sz="2200" dirty="0"/>
          </a:p>
        </p:txBody>
      </p:sp>
      <p:sp>
        <p:nvSpPr>
          <p:cNvPr id="23" name="Text 21"/>
          <p:cNvSpPr/>
          <p:nvPr/>
        </p:nvSpPr>
        <p:spPr>
          <a:xfrm>
            <a:off x="6126480" y="4480560"/>
            <a:ext cx="2651760" cy="411480"/>
          </a:xfrm>
          <a:prstGeom prst="rect">
            <a:avLst/>
          </a:prstGeom>
          <a:noFill/>
          <a:ln/>
        </p:spPr>
        <p:txBody>
          <a:bodyPr wrap="square" lIns="0" tIns="0" rIns="0" bIns="0" rtlCol="0" anchor="ctr"/>
          <a:lstStyle/>
          <a:p>
            <a:pPr algn="ctr" indent="0" marL="0">
              <a:buNone/>
            </a:pPr>
            <a:r>
              <a:rPr lang="en-US" sz="1300" dirty="0">
                <a:solidFill>
                  <a:srgbClr val="636E72"/>
                </a:solidFill>
                <a:latin typeface="BIZ UDPGothic" pitchFamily="34" charset="0"/>
                <a:ea typeface="BIZ UDPGothic" pitchFamily="34" charset="-122"/>
                <a:cs typeface="BIZ UDPGothic" pitchFamily="34" charset="-120"/>
              </a:rPr>
              <a:t>生理的現象</a:t>
            </a:r>
            <a:endParaRPr lang="en-US" sz="1300" dirty="0"/>
          </a:p>
        </p:txBody>
      </p:sp>
      <p:sp>
        <p:nvSpPr>
          <p:cNvPr id="24" name="Text 22"/>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3/9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脳の中で何が起きているか ― 覚醒→睡眠の切り替え時</a:t>
            </a:r>
            <a:endParaRPr lang="en-US" sz="2400" dirty="0"/>
          </a:p>
        </p:txBody>
      </p:sp>
      <p:sp>
        <p:nvSpPr>
          <p:cNvPr id="4" name="Shape 2"/>
          <p:cNvSpPr/>
          <p:nvPr/>
        </p:nvSpPr>
        <p:spPr>
          <a:xfrm>
            <a:off x="274320" y="1097280"/>
            <a:ext cx="274320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274320" y="1097280"/>
            <a:ext cx="2743200" cy="457200"/>
          </a:xfrm>
          <a:prstGeom prst="rect">
            <a:avLst/>
          </a:prstGeom>
          <a:solidFill>
            <a:srgbClr val="E8850C"/>
          </a:solidFill>
          <a:ln/>
        </p:spPr>
      </p:sp>
      <p:sp>
        <p:nvSpPr>
          <p:cNvPr id="6" name="Text 4"/>
          <p:cNvSpPr/>
          <p:nvPr/>
        </p:nvSpPr>
        <p:spPr>
          <a:xfrm>
            <a:off x="274320" y="1097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7" name="Text 5"/>
          <p:cNvSpPr/>
          <p:nvPr/>
        </p:nvSpPr>
        <p:spPr>
          <a:xfrm>
            <a:off x="640080" y="1097280"/>
            <a:ext cx="2286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覚醒モード</a:t>
            </a:r>
            <a:endParaRPr lang="en-US" sz="1400" dirty="0"/>
          </a:p>
        </p:txBody>
      </p:sp>
      <p:sp>
        <p:nvSpPr>
          <p:cNvPr id="8" name="Text 6"/>
          <p:cNvSpPr/>
          <p:nvPr/>
        </p:nvSpPr>
        <p:spPr>
          <a:xfrm>
            <a:off x="274320" y="1600200"/>
            <a:ext cx="2743200" cy="1005840"/>
          </a:xfrm>
          <a:prstGeom prst="rect">
            <a:avLst/>
          </a:prstGeom>
          <a:noFill/>
          <a:ln/>
        </p:spPr>
        <p:txBody>
          <a:bodyPr wrap="square" lIns="101600" tIns="76200" rIns="76200" bIns="0" rtlCol="0" anchor="t"/>
          <a:lstStyle/>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脳幹の網様体賦活系が</a:t>
            </a:r>
            <a:endParaRPr lang="en-US" sz="1400" dirty="0"/>
          </a:p>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全身筋肉に「緊張維持」の</a:t>
            </a:r>
            <a:endParaRPr lang="en-US" sz="1400" dirty="0"/>
          </a:p>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信号を送り続ける</a:t>
            </a:r>
            <a:endParaRPr lang="en-US" sz="1400" dirty="0"/>
          </a:p>
        </p:txBody>
      </p:sp>
      <p:sp>
        <p:nvSpPr>
          <p:cNvPr id="9" name="Shape 7"/>
          <p:cNvSpPr/>
          <p:nvPr/>
        </p:nvSpPr>
        <p:spPr>
          <a:xfrm>
            <a:off x="3200400" y="1097280"/>
            <a:ext cx="274320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200400" y="1097280"/>
            <a:ext cx="2743200" cy="457200"/>
          </a:xfrm>
          <a:prstGeom prst="rect">
            <a:avLst/>
          </a:prstGeom>
          <a:solidFill>
            <a:srgbClr val="DC3545"/>
          </a:solidFill>
          <a:ln/>
        </p:spPr>
      </p:sp>
      <p:sp>
        <p:nvSpPr>
          <p:cNvPr id="11" name="Text 9"/>
          <p:cNvSpPr/>
          <p:nvPr/>
        </p:nvSpPr>
        <p:spPr>
          <a:xfrm>
            <a:off x="3200400" y="1097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2</a:t>
            </a:r>
            <a:endParaRPr lang="en-US" sz="1800" dirty="0"/>
          </a:p>
        </p:txBody>
      </p:sp>
      <p:sp>
        <p:nvSpPr>
          <p:cNvPr id="12" name="Text 10"/>
          <p:cNvSpPr/>
          <p:nvPr/>
        </p:nvSpPr>
        <p:spPr>
          <a:xfrm>
            <a:off x="3566160" y="1097280"/>
            <a:ext cx="2286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移行期（ここでビクッ！）</a:t>
            </a:r>
            <a:endParaRPr lang="en-US" sz="1400" dirty="0"/>
          </a:p>
        </p:txBody>
      </p:sp>
      <p:sp>
        <p:nvSpPr>
          <p:cNvPr id="13" name="Text 11"/>
          <p:cNvSpPr/>
          <p:nvPr/>
        </p:nvSpPr>
        <p:spPr>
          <a:xfrm>
            <a:off x="3200400" y="1600200"/>
            <a:ext cx="2743200" cy="1005840"/>
          </a:xfrm>
          <a:prstGeom prst="rect">
            <a:avLst/>
          </a:prstGeom>
          <a:noFill/>
          <a:ln/>
        </p:spPr>
        <p:txBody>
          <a:bodyPr wrap="square" lIns="101600" tIns="76200" rIns="76200" bIns="0" rtlCol="0" anchor="t"/>
          <a:lstStyle/>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網様体の信号が急減弱する</a:t>
            </a:r>
            <a:endParaRPr lang="en-US" sz="1400" dirty="0"/>
          </a:p>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過渡期に「誤放電」が発生</a:t>
            </a:r>
            <a:endParaRPr lang="en-US" sz="1400" dirty="0"/>
          </a:p>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 これが入眠時ミオクローヌス</a:t>
            </a:r>
            <a:endParaRPr lang="en-US" sz="1400" dirty="0"/>
          </a:p>
        </p:txBody>
      </p:sp>
      <p:sp>
        <p:nvSpPr>
          <p:cNvPr id="14" name="Shape 12"/>
          <p:cNvSpPr/>
          <p:nvPr/>
        </p:nvSpPr>
        <p:spPr>
          <a:xfrm>
            <a:off x="6126480" y="1097280"/>
            <a:ext cx="274320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126480" y="1097280"/>
            <a:ext cx="2743200" cy="457200"/>
          </a:xfrm>
          <a:prstGeom prst="rect">
            <a:avLst/>
          </a:prstGeom>
          <a:solidFill>
            <a:srgbClr val="28A745"/>
          </a:solidFill>
          <a:ln/>
        </p:spPr>
      </p:sp>
      <p:sp>
        <p:nvSpPr>
          <p:cNvPr id="16" name="Text 14"/>
          <p:cNvSpPr/>
          <p:nvPr/>
        </p:nvSpPr>
        <p:spPr>
          <a:xfrm>
            <a:off x="6126480" y="10972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3</a:t>
            </a:r>
            <a:endParaRPr lang="en-US" sz="1800" dirty="0"/>
          </a:p>
        </p:txBody>
      </p:sp>
      <p:sp>
        <p:nvSpPr>
          <p:cNvPr id="17" name="Text 15"/>
          <p:cNvSpPr/>
          <p:nvPr/>
        </p:nvSpPr>
        <p:spPr>
          <a:xfrm>
            <a:off x="6492240" y="1097280"/>
            <a:ext cx="228600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睡眠モード</a:t>
            </a:r>
            <a:endParaRPr lang="en-US" sz="1400" dirty="0"/>
          </a:p>
        </p:txBody>
      </p:sp>
      <p:sp>
        <p:nvSpPr>
          <p:cNvPr id="18" name="Text 16"/>
          <p:cNvSpPr/>
          <p:nvPr/>
        </p:nvSpPr>
        <p:spPr>
          <a:xfrm>
            <a:off x="6126480" y="1600200"/>
            <a:ext cx="2743200" cy="1005840"/>
          </a:xfrm>
          <a:prstGeom prst="rect">
            <a:avLst/>
          </a:prstGeom>
          <a:noFill/>
          <a:ln/>
        </p:spPr>
        <p:txBody>
          <a:bodyPr wrap="square" lIns="101600" tIns="76200" rIns="76200" bIns="0" rtlCol="0" anchor="t"/>
          <a:lstStyle/>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筋緊張が低下し</a:t>
            </a:r>
            <a:endParaRPr lang="en-US" sz="1400" dirty="0"/>
          </a:p>
          <a:p>
            <a:pPr algn="ctr" indent="0" marL="0">
              <a:lnSpc>
                <a:spcPct val="125000"/>
              </a:lnSpc>
              <a:buNone/>
            </a:pPr>
            <a:r>
              <a:rPr lang="en-US" sz="1400" dirty="0">
                <a:solidFill>
                  <a:srgbClr val="2D3436"/>
                </a:solidFill>
                <a:latin typeface="BIZ UDPGothic" pitchFamily="34" charset="0"/>
                <a:ea typeface="BIZ UDPGothic" pitchFamily="34" charset="-122"/>
                <a:cs typeface="BIZ UDPGothic" pitchFamily="34" charset="-120"/>
              </a:rPr>
              <a:t>安定した睡眠へ移行</a:t>
            </a:r>
            <a:endParaRPr lang="en-US" sz="1400" dirty="0"/>
          </a:p>
        </p:txBody>
      </p:sp>
      <p:sp>
        <p:nvSpPr>
          <p:cNvPr id="19" name="Text 17"/>
          <p:cNvSpPr/>
          <p:nvPr/>
        </p:nvSpPr>
        <p:spPr>
          <a:xfrm>
            <a:off x="2788920" y="2011680"/>
            <a:ext cx="411480" cy="457200"/>
          </a:xfrm>
          <a:prstGeom prst="rect">
            <a:avLst/>
          </a:prstGeom>
          <a:noFill/>
          <a:ln/>
        </p:spPr>
        <p:txBody>
          <a:bodyPr wrap="square" lIns="0" tIns="0" rIns="0" bIns="0" rtlCol="0" anchor="ctr"/>
          <a:lstStyle/>
          <a:p>
            <a:pPr algn="ctr" indent="0" marL="0">
              <a:buNone/>
            </a:pPr>
            <a:r>
              <a:rPr lang="en-US" sz="2400" dirty="0">
                <a:solidFill>
                  <a:srgbClr val="4A90D9"/>
                </a:solidFill>
              </a:rPr>
              <a:t>→</a:t>
            </a:r>
            <a:endParaRPr lang="en-US" sz="2400" dirty="0"/>
          </a:p>
        </p:txBody>
      </p:sp>
      <p:sp>
        <p:nvSpPr>
          <p:cNvPr id="20" name="Text 18"/>
          <p:cNvSpPr/>
          <p:nvPr/>
        </p:nvSpPr>
        <p:spPr>
          <a:xfrm>
            <a:off x="5715000" y="2011680"/>
            <a:ext cx="411480" cy="457200"/>
          </a:xfrm>
          <a:prstGeom prst="rect">
            <a:avLst/>
          </a:prstGeom>
          <a:noFill/>
          <a:ln/>
        </p:spPr>
        <p:txBody>
          <a:bodyPr wrap="square" lIns="0" tIns="0" rIns="0" bIns="0" rtlCol="0" anchor="ctr"/>
          <a:lstStyle/>
          <a:p>
            <a:pPr algn="ctr" indent="0" marL="0">
              <a:buNone/>
            </a:pPr>
            <a:r>
              <a:rPr lang="en-US" sz="2400" dirty="0">
                <a:solidFill>
                  <a:srgbClr val="4A90D9"/>
                </a:solidFill>
              </a:rPr>
              <a:t>→</a:t>
            </a:r>
            <a:endParaRPr lang="en-US" sz="2400" dirty="0"/>
          </a:p>
        </p:txBody>
      </p:sp>
      <p:sp>
        <p:nvSpPr>
          <p:cNvPr id="21" name="Shape 19"/>
          <p:cNvSpPr/>
          <p:nvPr/>
        </p:nvSpPr>
        <p:spPr>
          <a:xfrm>
            <a:off x="457200" y="3886200"/>
            <a:ext cx="8229600" cy="10972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2" name="Shape 20"/>
          <p:cNvSpPr/>
          <p:nvPr/>
        </p:nvSpPr>
        <p:spPr>
          <a:xfrm>
            <a:off x="457200" y="3886200"/>
            <a:ext cx="8229600" cy="411480"/>
          </a:xfrm>
          <a:prstGeom prst="rect">
            <a:avLst/>
          </a:prstGeom>
          <a:solidFill>
            <a:srgbClr val="2C5AA0"/>
          </a:solidFill>
          <a:ln/>
        </p:spPr>
      </p:sp>
      <p:sp>
        <p:nvSpPr>
          <p:cNvPr id="23" name="Text 21"/>
          <p:cNvSpPr/>
          <p:nvPr/>
        </p:nvSpPr>
        <p:spPr>
          <a:xfrm>
            <a:off x="640080" y="3886200"/>
            <a:ext cx="7863840" cy="411480"/>
          </a:xfrm>
          <a:prstGeom prst="rect">
            <a:avLst/>
          </a:prstGeom>
          <a:noFill/>
          <a:ln/>
        </p:spPr>
        <p:txBody>
          <a:bodyPr wrap="square" lIns="0" tIns="0" rIns="0" bIns="0" rtlCol="0" anchor="ctr"/>
          <a:lstStyle/>
          <a:p>
            <a:pPr indent="0" marL="0">
              <a:buNone/>
            </a:pPr>
            <a:r>
              <a:rPr lang="en-US" sz="1600" b="1" dirty="0">
                <a:solidFill>
                  <a:srgbClr val="FFFFFF"/>
                </a:solidFill>
                <a:latin typeface="BIZ UDPGothic" pitchFamily="34" charset="0"/>
                <a:ea typeface="BIZ UDPGothic" pitchFamily="34" charset="-122"/>
                <a:cs typeface="BIZ UDPGothic" pitchFamily="34" charset="-120"/>
              </a:rPr>
              <a:t>「崖から落ちる夢」の謎</a:t>
            </a:r>
            <a:endParaRPr lang="en-US" sz="1600" dirty="0"/>
          </a:p>
        </p:txBody>
      </p:sp>
      <p:sp>
        <p:nvSpPr>
          <p:cNvPr id="24" name="Text 22"/>
          <p:cNvSpPr/>
          <p:nvPr/>
        </p:nvSpPr>
        <p:spPr>
          <a:xfrm>
            <a:off x="640080" y="4343400"/>
            <a:ext cx="7863840" cy="548640"/>
          </a:xfrm>
          <a:prstGeom prst="rect">
            <a:avLst/>
          </a:prstGeom>
          <a:noFill/>
          <a:ln/>
        </p:spPr>
        <p:txBody>
          <a:bodyPr wrap="square" lIns="0" tIns="0" rIns="0" bIns="0" rtlCol="0" anchor="t"/>
          <a:lstStyle/>
          <a:p>
            <a:pP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筋肉のビクつきが先 → 脳がそれを感知して「落下した」というストーリーを後付けで生成</a:t>
            </a:r>
            <a:endParaRPr lang="en-US" sz="1400" dirty="0"/>
          </a:p>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夢が原因ではなく、ビクつきへの脳の解釈が夢を生む</a:t>
            </a:r>
            <a:endParaRPr lang="en-US" sz="1400" dirty="0"/>
          </a:p>
        </p:txBody>
      </p:sp>
      <p:sp>
        <p:nvSpPr>
          <p:cNvPr id="25" name="Text 23"/>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似ているけれど別の疾患 ― 鑑別のポイント</a:t>
            </a:r>
            <a:endParaRPr lang="en-US" sz="2400" dirty="0"/>
          </a:p>
        </p:txBody>
      </p:sp>
      <p:sp>
        <p:nvSpPr>
          <p:cNvPr id="4" name="Shape 2"/>
          <p:cNvSpPr/>
          <p:nvPr/>
        </p:nvSpPr>
        <p:spPr>
          <a:xfrm>
            <a:off x="274320" y="914400"/>
            <a:ext cx="2194560" cy="502920"/>
          </a:xfrm>
          <a:prstGeom prst="rect">
            <a:avLst/>
          </a:prstGeom>
          <a:solidFill>
            <a:srgbClr val="1B3A5C"/>
          </a:solidFill>
          <a:ln/>
        </p:spPr>
      </p:sp>
      <p:sp>
        <p:nvSpPr>
          <p:cNvPr id="5" name="Shape 3"/>
          <p:cNvSpPr/>
          <p:nvPr/>
        </p:nvSpPr>
        <p:spPr>
          <a:xfrm>
            <a:off x="2468880" y="914400"/>
            <a:ext cx="3474720" cy="502920"/>
          </a:xfrm>
          <a:prstGeom prst="rect">
            <a:avLst/>
          </a:prstGeom>
          <a:solidFill>
            <a:srgbClr val="2C5AA0"/>
          </a:solidFill>
          <a:ln/>
        </p:spPr>
      </p:sp>
      <p:sp>
        <p:nvSpPr>
          <p:cNvPr id="6" name="Shape 4"/>
          <p:cNvSpPr/>
          <p:nvPr/>
        </p:nvSpPr>
        <p:spPr>
          <a:xfrm>
            <a:off x="5943600" y="914400"/>
            <a:ext cx="3017520" cy="502920"/>
          </a:xfrm>
          <a:prstGeom prst="rect">
            <a:avLst/>
          </a:prstGeom>
          <a:solidFill>
            <a:srgbClr val="4A90D9"/>
          </a:solidFill>
          <a:ln/>
        </p:spPr>
      </p:sp>
      <p:sp>
        <p:nvSpPr>
          <p:cNvPr id="7" name="Text 5"/>
          <p:cNvSpPr/>
          <p:nvPr/>
        </p:nvSpPr>
        <p:spPr>
          <a:xfrm>
            <a:off x="274320" y="914400"/>
            <a:ext cx="219456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疾患</a:t>
            </a:r>
            <a:endParaRPr lang="en-US" sz="1400" dirty="0"/>
          </a:p>
        </p:txBody>
      </p:sp>
      <p:sp>
        <p:nvSpPr>
          <p:cNvPr id="8" name="Text 6"/>
          <p:cNvSpPr/>
          <p:nvPr/>
        </p:nvSpPr>
        <p:spPr>
          <a:xfrm>
            <a:off x="2468880" y="914400"/>
            <a:ext cx="34747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BIZ UDPGothic" pitchFamily="34" charset="0"/>
                <a:ea typeface="BIZ UDPGothic" pitchFamily="34" charset="-122"/>
                <a:cs typeface="BIZ UDPGothic" pitchFamily="34" charset="-120"/>
              </a:rPr>
              <a:t>入眠時ミオクローヌスとの違い</a:t>
            </a:r>
            <a:endParaRPr lang="en-US" sz="1300" dirty="0"/>
          </a:p>
        </p:txBody>
      </p:sp>
      <p:sp>
        <p:nvSpPr>
          <p:cNvPr id="9" name="Text 7"/>
          <p:cNvSpPr/>
          <p:nvPr/>
        </p:nvSpPr>
        <p:spPr>
          <a:xfrm>
            <a:off x="5943600" y="91440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特徴的なサイン</a:t>
            </a:r>
            <a:endParaRPr lang="en-US" sz="1400" dirty="0"/>
          </a:p>
        </p:txBody>
      </p:sp>
      <p:sp>
        <p:nvSpPr>
          <p:cNvPr id="10" name="Shape 8"/>
          <p:cNvSpPr/>
          <p:nvPr/>
        </p:nvSpPr>
        <p:spPr>
          <a:xfrm>
            <a:off x="274320" y="1417320"/>
            <a:ext cx="8686800" cy="1097280"/>
          </a:xfrm>
          <a:prstGeom prst="rect">
            <a:avLst/>
          </a:prstGeom>
          <a:solidFill>
            <a:srgbClr val="F5F7FA"/>
          </a:solidFill>
          <a:ln/>
        </p:spPr>
      </p:sp>
      <p:sp>
        <p:nvSpPr>
          <p:cNvPr id="11" name="Text 9"/>
          <p:cNvSpPr/>
          <p:nvPr/>
        </p:nvSpPr>
        <p:spPr>
          <a:xfrm>
            <a:off x="274320" y="1417320"/>
            <a:ext cx="2194560" cy="1097280"/>
          </a:xfrm>
          <a:prstGeom prst="rect">
            <a:avLst/>
          </a:prstGeom>
          <a:noFill/>
          <a:ln/>
        </p:spPr>
        <p:txBody>
          <a:bodyPr wrap="square" lIns="25400" tIns="25400" rIns="25400" bIns="25400" rtlCol="0" anchor="ctr"/>
          <a:lstStyle/>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てんかん</a:t>
            </a:r>
            <a:endParaRPr lang="en-US" sz="1200" dirty="0"/>
          </a:p>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（ミオクロニー発作）</a:t>
            </a:r>
            <a:endParaRPr lang="en-US" sz="1200" dirty="0"/>
          </a:p>
        </p:txBody>
      </p:sp>
      <p:sp>
        <p:nvSpPr>
          <p:cNvPr id="12" name="Text 10"/>
          <p:cNvSpPr/>
          <p:nvPr/>
        </p:nvSpPr>
        <p:spPr>
          <a:xfrm>
            <a:off x="2468880" y="1417320"/>
            <a:ext cx="34747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覚醒時にも起こる</a:t>
            </a:r>
            <a:endParaRPr lang="en-US" sz="1200" dirty="0"/>
          </a:p>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朝方（起床直後）に多い</a:t>
            </a:r>
            <a:endParaRPr lang="en-US" sz="1200" dirty="0"/>
          </a:p>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繰り返す・意識消失を伴うことも</a:t>
            </a:r>
            <a:endParaRPr lang="en-US" sz="1200" dirty="0"/>
          </a:p>
        </p:txBody>
      </p:sp>
      <p:sp>
        <p:nvSpPr>
          <p:cNvPr id="13" name="Text 11"/>
          <p:cNvSpPr/>
          <p:nvPr/>
        </p:nvSpPr>
        <p:spPr>
          <a:xfrm>
            <a:off x="5943600" y="1417320"/>
            <a:ext cx="30175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明け方にコーヒーをこぼす</a:t>
            </a:r>
            <a:endParaRPr lang="en-US" sz="1200" dirty="0"/>
          </a:p>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箸を落とすなどが続く</a:t>
            </a:r>
            <a:endParaRPr lang="en-US" sz="1200" dirty="0"/>
          </a:p>
        </p:txBody>
      </p:sp>
      <p:sp>
        <p:nvSpPr>
          <p:cNvPr id="14" name="Shape 12"/>
          <p:cNvSpPr/>
          <p:nvPr/>
        </p:nvSpPr>
        <p:spPr>
          <a:xfrm>
            <a:off x="274320" y="2560320"/>
            <a:ext cx="8686800" cy="1097280"/>
          </a:xfrm>
          <a:prstGeom prst="rect">
            <a:avLst/>
          </a:prstGeom>
          <a:solidFill>
            <a:srgbClr val="FFFFFF"/>
          </a:solidFill>
          <a:ln/>
        </p:spPr>
      </p:sp>
      <p:sp>
        <p:nvSpPr>
          <p:cNvPr id="15" name="Text 13"/>
          <p:cNvSpPr/>
          <p:nvPr/>
        </p:nvSpPr>
        <p:spPr>
          <a:xfrm>
            <a:off x="274320" y="2560320"/>
            <a:ext cx="2194560" cy="1097280"/>
          </a:xfrm>
          <a:prstGeom prst="rect">
            <a:avLst/>
          </a:prstGeom>
          <a:noFill/>
          <a:ln/>
        </p:spPr>
        <p:txBody>
          <a:bodyPr wrap="square" lIns="25400" tIns="25400" rIns="25400" bIns="25400" rtlCol="0" anchor="ctr"/>
          <a:lstStyle/>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むずむず脚症候群</a:t>
            </a:r>
            <a:endParaRPr lang="en-US" sz="1200" dirty="0"/>
          </a:p>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（RLS）</a:t>
            </a:r>
            <a:endParaRPr lang="en-US" sz="1200" dirty="0"/>
          </a:p>
        </p:txBody>
      </p:sp>
      <p:sp>
        <p:nvSpPr>
          <p:cNvPr id="16" name="Text 14"/>
          <p:cNvSpPr/>
          <p:nvPr/>
        </p:nvSpPr>
        <p:spPr>
          <a:xfrm>
            <a:off x="2468880" y="2560320"/>
            <a:ext cx="34747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「動かさずにいられない不快感」が主</a:t>
            </a:r>
            <a:endParaRPr lang="en-US" sz="1200" dirty="0"/>
          </a:p>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ビクッではなく「むずむず・ほてり」</a:t>
            </a:r>
            <a:endParaRPr lang="en-US" sz="1200" dirty="0"/>
          </a:p>
        </p:txBody>
      </p:sp>
      <p:sp>
        <p:nvSpPr>
          <p:cNvPr id="17" name="Text 15"/>
          <p:cNvSpPr/>
          <p:nvPr/>
        </p:nvSpPr>
        <p:spPr>
          <a:xfrm>
            <a:off x="5943600" y="2560320"/>
            <a:ext cx="30175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夕方〜夜間に悪化</a:t>
            </a:r>
            <a:endParaRPr lang="en-US" sz="1200" dirty="0"/>
          </a:p>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歩くと楽になる</a:t>
            </a:r>
            <a:endParaRPr lang="en-US" sz="1200" dirty="0"/>
          </a:p>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鉄欠乏・腎不全に伴うことも</a:t>
            </a:r>
            <a:endParaRPr lang="en-US" sz="1200" dirty="0"/>
          </a:p>
        </p:txBody>
      </p:sp>
      <p:sp>
        <p:nvSpPr>
          <p:cNvPr id="18" name="Shape 16"/>
          <p:cNvSpPr/>
          <p:nvPr/>
        </p:nvSpPr>
        <p:spPr>
          <a:xfrm>
            <a:off x="274320" y="3703320"/>
            <a:ext cx="8686800" cy="1097280"/>
          </a:xfrm>
          <a:prstGeom prst="rect">
            <a:avLst/>
          </a:prstGeom>
          <a:solidFill>
            <a:srgbClr val="F5F7FA"/>
          </a:solidFill>
          <a:ln/>
        </p:spPr>
      </p:sp>
      <p:sp>
        <p:nvSpPr>
          <p:cNvPr id="19" name="Text 17"/>
          <p:cNvSpPr/>
          <p:nvPr/>
        </p:nvSpPr>
        <p:spPr>
          <a:xfrm>
            <a:off x="274320" y="3703320"/>
            <a:ext cx="2194560" cy="1097280"/>
          </a:xfrm>
          <a:prstGeom prst="rect">
            <a:avLst/>
          </a:prstGeom>
          <a:noFill/>
          <a:ln/>
        </p:spPr>
        <p:txBody>
          <a:bodyPr wrap="square" lIns="25400" tIns="25400" rIns="25400" bIns="25400" rtlCol="0" anchor="ctr"/>
          <a:lstStyle/>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周期性四肢運動障害</a:t>
            </a:r>
            <a:endParaRPr lang="en-US" sz="1200" dirty="0"/>
          </a:p>
          <a:p>
            <a:pPr algn="ctr" indent="0" marL="0">
              <a:lnSpc>
                <a:spcPct val="120000"/>
              </a:lnSpc>
              <a:buNone/>
            </a:pPr>
            <a:r>
              <a:rPr lang="en-US" sz="1200" b="1" dirty="0">
                <a:solidFill>
                  <a:srgbClr val="2C5AA0"/>
                </a:solidFill>
                <a:latin typeface="BIZ UDPGothic" pitchFamily="34" charset="0"/>
                <a:ea typeface="BIZ UDPGothic" pitchFamily="34" charset="-122"/>
                <a:cs typeface="BIZ UDPGothic" pitchFamily="34" charset="-120"/>
              </a:rPr>
              <a:t>（PLMD）</a:t>
            </a:r>
            <a:endParaRPr lang="en-US" sz="1200" dirty="0"/>
          </a:p>
        </p:txBody>
      </p:sp>
      <p:sp>
        <p:nvSpPr>
          <p:cNvPr id="20" name="Text 18"/>
          <p:cNvSpPr/>
          <p:nvPr/>
        </p:nvSpPr>
        <p:spPr>
          <a:xfrm>
            <a:off x="2468880" y="3703320"/>
            <a:ext cx="34747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睡眠中に20〜40秒ごとに</a:t>
            </a:r>
            <a:endParaRPr lang="en-US" sz="1200" dirty="0"/>
          </a:p>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足がピクつく</a:t>
            </a:r>
            <a:endParaRPr lang="en-US" sz="1200" dirty="0"/>
          </a:p>
          <a:p>
            <a:pPr indent="0" marL="0">
              <a:lnSpc>
                <a:spcPct val="120000"/>
              </a:lnSpc>
              <a:buNone/>
            </a:pPr>
            <a:r>
              <a:rPr lang="en-US" sz="1200" dirty="0">
                <a:solidFill>
                  <a:srgbClr val="2D3436"/>
                </a:solidFill>
                <a:latin typeface="BIZ UDPGothic" pitchFamily="34" charset="0"/>
                <a:ea typeface="BIZ UDPGothic" pitchFamily="34" charset="-122"/>
                <a:cs typeface="BIZ UDPGothic" pitchFamily="34" charset="-120"/>
              </a:rPr>
              <a:t>本人は気づかないことが多い</a:t>
            </a:r>
            <a:endParaRPr lang="en-US" sz="1200" dirty="0"/>
          </a:p>
        </p:txBody>
      </p:sp>
      <p:sp>
        <p:nvSpPr>
          <p:cNvPr id="21" name="Text 19"/>
          <p:cNvSpPr/>
          <p:nvPr/>
        </p:nvSpPr>
        <p:spPr>
          <a:xfrm>
            <a:off x="5943600" y="3703320"/>
            <a:ext cx="3017520" cy="1097280"/>
          </a:xfrm>
          <a:prstGeom prst="rect">
            <a:avLst/>
          </a:prstGeom>
          <a:noFill/>
          <a:ln/>
        </p:spPr>
        <p:txBody>
          <a:bodyPr wrap="square" lIns="0" tIns="76200" rIns="76200" bIns="0" rtlCol="0" anchor="ctr"/>
          <a:lstStyle/>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「眠れない」「日中に強い眠気」</a:t>
            </a:r>
            <a:endParaRPr lang="en-US" sz="1200" dirty="0"/>
          </a:p>
          <a:p>
            <a:pPr indent="0" marL="0">
              <a:lnSpc>
                <a:spcPct val="120000"/>
              </a:lnSpc>
              <a:buNone/>
            </a:pPr>
            <a:r>
              <a:rPr lang="en-US" sz="1200" dirty="0">
                <a:solidFill>
                  <a:srgbClr val="636E72"/>
                </a:solidFill>
                <a:latin typeface="BIZ UDPGothic" pitchFamily="34" charset="0"/>
                <a:ea typeface="BIZ UDPGothic" pitchFamily="34" charset="-122"/>
                <a:cs typeface="BIZ UDPGothic" pitchFamily="34" charset="-120"/>
              </a:rPr>
              <a:t>パートナーが「足が動いている」と指摘</a:t>
            </a:r>
            <a:endParaRPr lang="en-US" sz="1200" dirty="0"/>
          </a:p>
        </p:txBody>
      </p:sp>
      <p:sp>
        <p:nvSpPr>
          <p:cNvPr id="22" name="Shape 20"/>
          <p:cNvSpPr/>
          <p:nvPr/>
        </p:nvSpPr>
        <p:spPr>
          <a:xfrm>
            <a:off x="274320" y="4617720"/>
            <a:ext cx="8686800" cy="457200"/>
          </a:xfrm>
          <a:prstGeom prst="rect">
            <a:avLst/>
          </a:prstGeom>
          <a:solidFill>
            <a:srgbClr val="E8F0FE"/>
          </a:solidFill>
          <a:ln/>
        </p:spPr>
      </p:sp>
      <p:sp>
        <p:nvSpPr>
          <p:cNvPr id="23" name="Text 21"/>
          <p:cNvSpPr/>
          <p:nvPr/>
        </p:nvSpPr>
        <p:spPr>
          <a:xfrm>
            <a:off x="457200" y="4617720"/>
            <a:ext cx="8412480" cy="457200"/>
          </a:xfrm>
          <a:prstGeom prst="rect">
            <a:avLst/>
          </a:prstGeom>
          <a:noFill/>
          <a:ln/>
        </p:spPr>
        <p:txBody>
          <a:bodyPr wrap="square" lIns="0" tIns="0" rIns="0" bIns="0" rtlCol="0" anchor="ctr"/>
          <a:lstStyle/>
          <a:p>
            <a:pPr indent="0" marL="0">
              <a:buNone/>
            </a:pPr>
            <a:r>
              <a:rPr lang="en-US" sz="1300" b="1" dirty="0">
                <a:solidFill>
                  <a:srgbClr val="2C5AA0"/>
                </a:solidFill>
                <a:latin typeface="BIZ UDPGothic" pitchFamily="34" charset="0"/>
                <a:ea typeface="BIZ UDPGothic" pitchFamily="34" charset="-122"/>
                <a:cs typeface="BIZ UDPGothic" pitchFamily="34" charset="-120"/>
              </a:rPr>
              <a:t>典型的な入眠時ミオクローヌス：「眠りに落ちる瞬間だけ」「1〜2回で終わる」「翌朝には何ともない」</a:t>
            </a:r>
            <a:endParaRPr lang="en-US" sz="1300" dirty="0"/>
          </a:p>
        </p:txBody>
      </p:sp>
      <p:sp>
        <p:nvSpPr>
          <p:cNvPr id="24" name="Text 22"/>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5/9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こんなとき起こりやすい ― 誘因</a:t>
            </a:r>
            <a:endParaRPr lang="en-US" sz="2400" dirty="0"/>
          </a:p>
        </p:txBody>
      </p:sp>
      <p:sp>
        <p:nvSpPr>
          <p:cNvPr id="4" name="Shape 2"/>
          <p:cNvSpPr/>
          <p:nvPr/>
        </p:nvSpPr>
        <p:spPr>
          <a:xfrm>
            <a:off x="365760" y="100584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457200" y="1143000"/>
            <a:ext cx="914400" cy="10972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6" name="Text 4"/>
          <p:cNvSpPr/>
          <p:nvPr/>
        </p:nvSpPr>
        <p:spPr>
          <a:xfrm>
            <a:off x="1371600" y="1097280"/>
            <a:ext cx="2926080" cy="5029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カフェインの過剰摂取</a:t>
            </a:r>
            <a:endParaRPr lang="en-US" sz="1600" dirty="0"/>
          </a:p>
        </p:txBody>
      </p:sp>
      <p:sp>
        <p:nvSpPr>
          <p:cNvPr id="7" name="Text 5"/>
          <p:cNvSpPr/>
          <p:nvPr/>
        </p:nvSpPr>
        <p:spPr>
          <a:xfrm>
            <a:off x="1371600" y="1600200"/>
            <a:ext cx="2926080" cy="914400"/>
          </a:xfrm>
          <a:prstGeom prst="rect">
            <a:avLst/>
          </a:prstGeom>
          <a:noFill/>
          <a:ln/>
        </p:spPr>
        <p:txBody>
          <a:bodyPr wrap="square" lIns="0" tIns="0" rIns="0" bIns="0" rtlCol="0" anchor="t"/>
          <a:lstStyle/>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覚醒から睡眠への移行が</a:t>
            </a:r>
            <a:endParaRPr lang="en-US" sz="1300" dirty="0"/>
          </a:p>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不安定になりやすい</a:t>
            </a:r>
            <a:endParaRPr lang="en-US" sz="1300" dirty="0"/>
          </a:p>
        </p:txBody>
      </p:sp>
      <p:sp>
        <p:nvSpPr>
          <p:cNvPr id="8" name="Shape 6"/>
          <p:cNvSpPr/>
          <p:nvPr/>
        </p:nvSpPr>
        <p:spPr>
          <a:xfrm>
            <a:off x="4800600" y="100584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4892040" y="1143000"/>
            <a:ext cx="914400" cy="10972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0" name="Text 8"/>
          <p:cNvSpPr/>
          <p:nvPr/>
        </p:nvSpPr>
        <p:spPr>
          <a:xfrm>
            <a:off x="5806440" y="1097280"/>
            <a:ext cx="2926080" cy="5029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強い精神的ストレス</a:t>
            </a:r>
            <a:endParaRPr lang="en-US" sz="1600" dirty="0"/>
          </a:p>
        </p:txBody>
      </p:sp>
      <p:sp>
        <p:nvSpPr>
          <p:cNvPr id="11" name="Text 9"/>
          <p:cNvSpPr/>
          <p:nvPr/>
        </p:nvSpPr>
        <p:spPr>
          <a:xfrm>
            <a:off x="5806440" y="1600200"/>
            <a:ext cx="2926080" cy="914400"/>
          </a:xfrm>
          <a:prstGeom prst="rect">
            <a:avLst/>
          </a:prstGeom>
          <a:noFill/>
          <a:ln/>
        </p:spPr>
        <p:txBody>
          <a:bodyPr wrap="square" lIns="0" tIns="0" rIns="0" bIns="0" rtlCol="0" anchor="t"/>
          <a:lstStyle/>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神経系の興奮が高まり</a:t>
            </a:r>
            <a:endParaRPr lang="en-US" sz="1300" dirty="0"/>
          </a:p>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睡眠移行が乱れる</a:t>
            </a:r>
            <a:endParaRPr lang="en-US" sz="1300" dirty="0"/>
          </a:p>
        </p:txBody>
      </p:sp>
      <p:sp>
        <p:nvSpPr>
          <p:cNvPr id="12" name="Shape 10"/>
          <p:cNvSpPr/>
          <p:nvPr/>
        </p:nvSpPr>
        <p:spPr>
          <a:xfrm>
            <a:off x="365760" y="292608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Text 11"/>
          <p:cNvSpPr/>
          <p:nvPr/>
        </p:nvSpPr>
        <p:spPr>
          <a:xfrm>
            <a:off x="457200" y="3063240"/>
            <a:ext cx="914400" cy="10972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4" name="Text 12"/>
          <p:cNvSpPr/>
          <p:nvPr/>
        </p:nvSpPr>
        <p:spPr>
          <a:xfrm>
            <a:off x="1371600" y="3017520"/>
            <a:ext cx="2926080" cy="5029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睡眠不足・慢性的疲労</a:t>
            </a:r>
            <a:endParaRPr lang="en-US" sz="1600" dirty="0"/>
          </a:p>
        </p:txBody>
      </p:sp>
      <p:sp>
        <p:nvSpPr>
          <p:cNvPr id="15" name="Text 13"/>
          <p:cNvSpPr/>
          <p:nvPr/>
        </p:nvSpPr>
        <p:spPr>
          <a:xfrm>
            <a:off x="1371600" y="3520440"/>
            <a:ext cx="2926080" cy="914400"/>
          </a:xfrm>
          <a:prstGeom prst="rect">
            <a:avLst/>
          </a:prstGeom>
          <a:noFill/>
          <a:ln/>
        </p:spPr>
        <p:txBody>
          <a:bodyPr wrap="square" lIns="0" tIns="0" rIns="0" bIns="0" rtlCol="0" anchor="t"/>
          <a:lstStyle/>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疲れているほど逆説的に</a:t>
            </a:r>
            <a:endParaRPr lang="en-US" sz="1300" dirty="0"/>
          </a:p>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頻度・強度が増す</a:t>
            </a:r>
            <a:endParaRPr lang="en-US" sz="1300" dirty="0"/>
          </a:p>
        </p:txBody>
      </p:sp>
      <p:sp>
        <p:nvSpPr>
          <p:cNvPr id="16" name="Shape 14"/>
          <p:cNvSpPr/>
          <p:nvPr/>
        </p:nvSpPr>
        <p:spPr>
          <a:xfrm>
            <a:off x="4800600" y="292608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Text 15"/>
          <p:cNvSpPr/>
          <p:nvPr/>
        </p:nvSpPr>
        <p:spPr>
          <a:xfrm>
            <a:off x="4892040" y="3063240"/>
            <a:ext cx="914400" cy="109728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8" name="Text 16"/>
          <p:cNvSpPr/>
          <p:nvPr/>
        </p:nvSpPr>
        <p:spPr>
          <a:xfrm>
            <a:off x="5806440" y="3017520"/>
            <a:ext cx="2926080" cy="502920"/>
          </a:xfrm>
          <a:prstGeom prst="rect">
            <a:avLst/>
          </a:prstGeom>
          <a:noFill/>
          <a:ln/>
        </p:spPr>
        <p:txBody>
          <a:bodyPr wrap="square" lIns="0" tIns="0" rIns="0" bIns="0" rtlCol="0" anchor="ctr"/>
          <a:lstStyle/>
          <a:p>
            <a:pPr indent="0" marL="0">
              <a:buNone/>
            </a:pPr>
            <a:r>
              <a:rPr lang="en-US" sz="1600" b="1" dirty="0">
                <a:solidFill>
                  <a:srgbClr val="2C5AA0"/>
                </a:solidFill>
                <a:latin typeface="BIZ UDPGothic" pitchFamily="34" charset="0"/>
                <a:ea typeface="BIZ UDPGothic" pitchFamily="34" charset="-122"/>
                <a:cs typeface="BIZ UDPGothic" pitchFamily="34" charset="-120"/>
              </a:rPr>
              <a:t>激しい運動（就寝前）</a:t>
            </a:r>
            <a:endParaRPr lang="en-US" sz="1600" dirty="0"/>
          </a:p>
        </p:txBody>
      </p:sp>
      <p:sp>
        <p:nvSpPr>
          <p:cNvPr id="19" name="Text 17"/>
          <p:cNvSpPr/>
          <p:nvPr/>
        </p:nvSpPr>
        <p:spPr>
          <a:xfrm>
            <a:off x="5806440" y="3520440"/>
            <a:ext cx="2926080" cy="914400"/>
          </a:xfrm>
          <a:prstGeom prst="rect">
            <a:avLst/>
          </a:prstGeom>
          <a:noFill/>
          <a:ln/>
        </p:spPr>
        <p:txBody>
          <a:bodyPr wrap="square" lIns="0" tIns="0" rIns="0" bIns="0" rtlCol="0" anchor="t"/>
          <a:lstStyle/>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交感神経亢進状態のまま</a:t>
            </a:r>
            <a:endParaRPr lang="en-US" sz="1300" dirty="0"/>
          </a:p>
          <a:p>
            <a:pPr indent="0" marL="0">
              <a:lnSpc>
                <a:spcPct val="130000"/>
              </a:lnSpc>
              <a:buNone/>
            </a:pPr>
            <a:r>
              <a:rPr lang="en-US" sz="1300" dirty="0">
                <a:solidFill>
                  <a:srgbClr val="636E72"/>
                </a:solidFill>
                <a:latin typeface="BIZ UDPGothic" pitchFamily="34" charset="0"/>
                <a:ea typeface="BIZ UDPGothic" pitchFamily="34" charset="-122"/>
                <a:cs typeface="BIZ UDPGothic" pitchFamily="34" charset="-120"/>
              </a:rPr>
              <a:t>眠りに入るため誤放電↑</a:t>
            </a:r>
            <a:endParaRPr lang="en-US" sz="1300" dirty="0"/>
          </a:p>
        </p:txBody>
      </p:sp>
      <p:sp>
        <p:nvSpPr>
          <p:cNvPr id="20" name="Shape 18"/>
          <p:cNvSpPr/>
          <p:nvPr/>
        </p:nvSpPr>
        <p:spPr>
          <a:xfrm>
            <a:off x="365760" y="4617720"/>
            <a:ext cx="8412480" cy="457200"/>
          </a:xfrm>
          <a:prstGeom prst="rect">
            <a:avLst/>
          </a:prstGeom>
          <a:solidFill>
            <a:srgbClr val="E8F0FE"/>
          </a:solidFill>
          <a:ln/>
        </p:spPr>
      </p:sp>
      <p:sp>
        <p:nvSpPr>
          <p:cNvPr id="21" name="Text 19"/>
          <p:cNvSpPr/>
          <p:nvPr/>
        </p:nvSpPr>
        <p:spPr>
          <a:xfrm>
            <a:off x="548640" y="4617720"/>
            <a:ext cx="8229600" cy="457200"/>
          </a:xfrm>
          <a:prstGeom prst="rect">
            <a:avLst/>
          </a:prstGeom>
          <a:noFill/>
          <a:ln/>
        </p:spPr>
        <p:txBody>
          <a:bodyPr wrap="square" lIns="0" tIns="0" rIns="0" bIns="0" rtlCol="0" anchor="ctr"/>
          <a:lstStyle/>
          <a:p>
            <a:pPr indent="0" marL="0">
              <a:buNone/>
            </a:pPr>
            <a:r>
              <a:rPr lang="en-US" sz="1500" b="1" dirty="0">
                <a:solidFill>
                  <a:srgbClr val="2C5AA0"/>
                </a:solidFill>
                <a:latin typeface="BIZ UDPGothic" pitchFamily="34" charset="0"/>
                <a:ea typeface="BIZ UDPGothic" pitchFamily="34" charset="-122"/>
                <a:cs typeface="BIZ UDPGothic" pitchFamily="34" charset="-120"/>
              </a:rPr>
              <a:t>→ これらを見直すだけで頻度・強度が改善することが多い</a:t>
            </a:r>
            <a:endParaRPr lang="en-US" sz="1500" dirty="0"/>
          </a:p>
        </p:txBody>
      </p:sp>
      <p:sp>
        <p:nvSpPr>
          <p:cNvPr id="22" name="Text 2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6/9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こんなときは要注意 ― 受診を考えるサイン</a:t>
            </a:r>
            <a:endParaRPr lang="en-US" sz="2400" dirty="0"/>
          </a:p>
        </p:txBody>
      </p:sp>
      <p:sp>
        <p:nvSpPr>
          <p:cNvPr id="4" name="Shape 2"/>
          <p:cNvSpPr/>
          <p:nvPr/>
        </p:nvSpPr>
        <p:spPr>
          <a:xfrm>
            <a:off x="274320" y="960120"/>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1161288"/>
            <a:ext cx="320040" cy="320040"/>
          </a:xfrm>
          <a:prstGeom prst="ellipse">
            <a:avLst/>
          </a:prstGeom>
          <a:solidFill>
            <a:srgbClr val="E8850C"/>
          </a:solidFill>
          <a:ln/>
        </p:spPr>
      </p:sp>
      <p:sp>
        <p:nvSpPr>
          <p:cNvPr id="6" name="Text 4"/>
          <p:cNvSpPr/>
          <p:nvPr/>
        </p:nvSpPr>
        <p:spPr>
          <a:xfrm>
            <a:off x="365760" y="116128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a:t>
            </a:r>
            <a:endParaRPr lang="en-US" sz="1100" dirty="0"/>
          </a:p>
        </p:txBody>
      </p:sp>
      <p:sp>
        <p:nvSpPr>
          <p:cNvPr id="7" name="Text 5"/>
          <p:cNvSpPr/>
          <p:nvPr/>
        </p:nvSpPr>
        <p:spPr>
          <a:xfrm>
            <a:off x="777240" y="960120"/>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ビクつきが1晩に何十回も繰り返す（入眠できないほど）</a:t>
            </a:r>
            <a:endParaRPr lang="en-US" sz="1200" dirty="0"/>
          </a:p>
        </p:txBody>
      </p:sp>
      <p:sp>
        <p:nvSpPr>
          <p:cNvPr id="8" name="Shape 6"/>
          <p:cNvSpPr/>
          <p:nvPr/>
        </p:nvSpPr>
        <p:spPr>
          <a:xfrm>
            <a:off x="274320" y="1856232"/>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365760" y="2057400"/>
            <a:ext cx="320040" cy="320040"/>
          </a:xfrm>
          <a:prstGeom prst="ellipse">
            <a:avLst/>
          </a:prstGeom>
          <a:solidFill>
            <a:srgbClr val="E8850C"/>
          </a:solidFill>
          <a:ln/>
        </p:spPr>
      </p:sp>
      <p:sp>
        <p:nvSpPr>
          <p:cNvPr id="10" name="Text 8"/>
          <p:cNvSpPr/>
          <p:nvPr/>
        </p:nvSpPr>
        <p:spPr>
          <a:xfrm>
            <a:off x="365760" y="20574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2</a:t>
            </a:r>
            <a:endParaRPr lang="en-US" sz="1100" dirty="0"/>
          </a:p>
        </p:txBody>
      </p:sp>
      <p:sp>
        <p:nvSpPr>
          <p:cNvPr id="11" name="Text 9"/>
          <p:cNvSpPr/>
          <p:nvPr/>
        </p:nvSpPr>
        <p:spPr>
          <a:xfrm>
            <a:off x="777240" y="1856232"/>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朝方（起床直後）にも手足がビクつく</a:t>
            </a:r>
            <a:endParaRPr lang="en-US" sz="1200" dirty="0"/>
          </a:p>
        </p:txBody>
      </p:sp>
      <p:sp>
        <p:nvSpPr>
          <p:cNvPr id="12" name="Shape 10"/>
          <p:cNvSpPr/>
          <p:nvPr/>
        </p:nvSpPr>
        <p:spPr>
          <a:xfrm>
            <a:off x="274320" y="2752344"/>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365760" y="2953512"/>
            <a:ext cx="320040" cy="320040"/>
          </a:xfrm>
          <a:prstGeom prst="ellipse">
            <a:avLst/>
          </a:prstGeom>
          <a:solidFill>
            <a:srgbClr val="E8850C"/>
          </a:solidFill>
          <a:ln/>
        </p:spPr>
      </p:sp>
      <p:sp>
        <p:nvSpPr>
          <p:cNvPr id="14" name="Text 12"/>
          <p:cNvSpPr/>
          <p:nvPr/>
        </p:nvSpPr>
        <p:spPr>
          <a:xfrm>
            <a:off x="365760" y="295351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3</a:t>
            </a:r>
            <a:endParaRPr lang="en-US" sz="1100" dirty="0"/>
          </a:p>
        </p:txBody>
      </p:sp>
      <p:sp>
        <p:nvSpPr>
          <p:cNvPr id="15" name="Text 13"/>
          <p:cNvSpPr/>
          <p:nvPr/>
        </p:nvSpPr>
        <p:spPr>
          <a:xfrm>
            <a:off x="777240" y="2752344"/>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日中（覚醒中）にも突然筋肉がビクつく</a:t>
            </a:r>
            <a:endParaRPr lang="en-US" sz="1200" dirty="0"/>
          </a:p>
        </p:txBody>
      </p:sp>
      <p:sp>
        <p:nvSpPr>
          <p:cNvPr id="16" name="Shape 14"/>
          <p:cNvSpPr/>
          <p:nvPr/>
        </p:nvSpPr>
        <p:spPr>
          <a:xfrm>
            <a:off x="274320" y="3648456"/>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365760" y="3849624"/>
            <a:ext cx="320040" cy="320040"/>
          </a:xfrm>
          <a:prstGeom prst="ellipse">
            <a:avLst/>
          </a:prstGeom>
          <a:solidFill>
            <a:srgbClr val="E8850C"/>
          </a:solidFill>
          <a:ln/>
        </p:spPr>
      </p:sp>
      <p:sp>
        <p:nvSpPr>
          <p:cNvPr id="18" name="Text 16"/>
          <p:cNvSpPr/>
          <p:nvPr/>
        </p:nvSpPr>
        <p:spPr>
          <a:xfrm>
            <a:off x="365760" y="384962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4</a:t>
            </a:r>
            <a:endParaRPr lang="en-US" sz="1100" dirty="0"/>
          </a:p>
        </p:txBody>
      </p:sp>
      <p:sp>
        <p:nvSpPr>
          <p:cNvPr id="19" name="Text 17"/>
          <p:cNvSpPr/>
          <p:nvPr/>
        </p:nvSpPr>
        <p:spPr>
          <a:xfrm>
            <a:off x="777240" y="3648456"/>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ビクつきのあとに意識が一時的にぼんやりする</a:t>
            </a:r>
            <a:endParaRPr lang="en-US" sz="1200" dirty="0"/>
          </a:p>
        </p:txBody>
      </p:sp>
      <p:sp>
        <p:nvSpPr>
          <p:cNvPr id="20" name="Shape 18"/>
          <p:cNvSpPr/>
          <p:nvPr/>
        </p:nvSpPr>
        <p:spPr>
          <a:xfrm>
            <a:off x="4663440" y="960120"/>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4754880" y="1161288"/>
            <a:ext cx="320040" cy="320040"/>
          </a:xfrm>
          <a:prstGeom prst="ellipse">
            <a:avLst/>
          </a:prstGeom>
          <a:solidFill>
            <a:srgbClr val="E8850C"/>
          </a:solidFill>
          <a:ln/>
        </p:spPr>
      </p:sp>
      <p:sp>
        <p:nvSpPr>
          <p:cNvPr id="22" name="Text 20"/>
          <p:cNvSpPr/>
          <p:nvPr/>
        </p:nvSpPr>
        <p:spPr>
          <a:xfrm>
            <a:off x="4754880" y="116128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5</a:t>
            </a:r>
            <a:endParaRPr lang="en-US" sz="1100" dirty="0"/>
          </a:p>
        </p:txBody>
      </p:sp>
      <p:sp>
        <p:nvSpPr>
          <p:cNvPr id="23" name="Text 21"/>
          <p:cNvSpPr/>
          <p:nvPr/>
        </p:nvSpPr>
        <p:spPr>
          <a:xfrm>
            <a:off x="5166360" y="960120"/>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パートナーから「眠っている間ずっと足が動いている」と言われた</a:t>
            </a:r>
            <a:endParaRPr lang="en-US" sz="1200" dirty="0"/>
          </a:p>
        </p:txBody>
      </p:sp>
      <p:sp>
        <p:nvSpPr>
          <p:cNvPr id="24" name="Shape 22"/>
          <p:cNvSpPr/>
          <p:nvPr/>
        </p:nvSpPr>
        <p:spPr>
          <a:xfrm>
            <a:off x="4663440" y="1856232"/>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5" name="Shape 23"/>
          <p:cNvSpPr/>
          <p:nvPr/>
        </p:nvSpPr>
        <p:spPr>
          <a:xfrm>
            <a:off x="4754880" y="2057400"/>
            <a:ext cx="320040" cy="320040"/>
          </a:xfrm>
          <a:prstGeom prst="ellipse">
            <a:avLst/>
          </a:prstGeom>
          <a:solidFill>
            <a:srgbClr val="E8850C"/>
          </a:solidFill>
          <a:ln/>
        </p:spPr>
      </p:sp>
      <p:sp>
        <p:nvSpPr>
          <p:cNvPr id="26" name="Text 24"/>
          <p:cNvSpPr/>
          <p:nvPr/>
        </p:nvSpPr>
        <p:spPr>
          <a:xfrm>
            <a:off x="4754880" y="20574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6</a:t>
            </a:r>
            <a:endParaRPr lang="en-US" sz="1100" dirty="0"/>
          </a:p>
        </p:txBody>
      </p:sp>
      <p:sp>
        <p:nvSpPr>
          <p:cNvPr id="27" name="Text 25"/>
          <p:cNvSpPr/>
          <p:nvPr/>
        </p:nvSpPr>
        <p:spPr>
          <a:xfrm>
            <a:off x="5166360" y="1856232"/>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足のむずむず・ほてり感で眠れない（安静で悪化、歩くと改善）</a:t>
            </a:r>
            <a:endParaRPr lang="en-US" sz="1200" dirty="0"/>
          </a:p>
        </p:txBody>
      </p:sp>
      <p:sp>
        <p:nvSpPr>
          <p:cNvPr id="28" name="Shape 26"/>
          <p:cNvSpPr/>
          <p:nvPr/>
        </p:nvSpPr>
        <p:spPr>
          <a:xfrm>
            <a:off x="4663440" y="2752344"/>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9" name="Shape 27"/>
          <p:cNvSpPr/>
          <p:nvPr/>
        </p:nvSpPr>
        <p:spPr>
          <a:xfrm>
            <a:off x="4754880" y="2953512"/>
            <a:ext cx="320040" cy="320040"/>
          </a:xfrm>
          <a:prstGeom prst="ellipse">
            <a:avLst/>
          </a:prstGeom>
          <a:solidFill>
            <a:srgbClr val="E8850C"/>
          </a:solidFill>
          <a:ln/>
        </p:spPr>
      </p:sp>
      <p:sp>
        <p:nvSpPr>
          <p:cNvPr id="30" name="Text 28"/>
          <p:cNvSpPr/>
          <p:nvPr/>
        </p:nvSpPr>
        <p:spPr>
          <a:xfrm>
            <a:off x="4754880" y="295351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7</a:t>
            </a:r>
            <a:endParaRPr lang="en-US" sz="1100" dirty="0"/>
          </a:p>
        </p:txBody>
      </p:sp>
      <p:sp>
        <p:nvSpPr>
          <p:cNvPr id="31" name="Text 29"/>
          <p:cNvSpPr/>
          <p:nvPr/>
        </p:nvSpPr>
        <p:spPr>
          <a:xfrm>
            <a:off x="5166360" y="2752344"/>
            <a:ext cx="3566160" cy="749808"/>
          </a:xfrm>
          <a:prstGeom prst="rect">
            <a:avLst/>
          </a:prstGeom>
          <a:noFill/>
          <a:ln/>
        </p:spPr>
        <p:txBody>
          <a:bodyPr wrap="square" lIns="0" tIns="0" rIns="0" bIns="0" rtlCol="0" anchor="ctr"/>
          <a:lstStyle/>
          <a:p>
            <a:pPr indent="0" marL="0">
              <a:lnSpc>
                <a:spcPct val="115000"/>
              </a:lnSpc>
              <a:buNone/>
            </a:pPr>
            <a:r>
              <a:rPr lang="en-US" sz="1200" dirty="0">
                <a:solidFill>
                  <a:srgbClr val="2D3436"/>
                </a:solidFill>
                <a:latin typeface="BIZ UDPGothic" pitchFamily="34" charset="0"/>
                <a:ea typeface="BIZ UDPGothic" pitchFamily="34" charset="-122"/>
                <a:cs typeface="BIZ UDPGothic" pitchFamily="34" charset="-120"/>
              </a:rPr>
              <a:t>「よく眠れているはずなのに」日中に強烈な眠気がある</a:t>
            </a:r>
            <a:endParaRPr lang="en-US" sz="1200" dirty="0"/>
          </a:p>
        </p:txBody>
      </p:sp>
      <p:sp>
        <p:nvSpPr>
          <p:cNvPr id="32" name="Shape 30"/>
          <p:cNvSpPr/>
          <p:nvPr/>
        </p:nvSpPr>
        <p:spPr>
          <a:xfrm>
            <a:off x="4663440" y="3648456"/>
            <a:ext cx="420624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3" name="Shape 31"/>
          <p:cNvSpPr/>
          <p:nvPr/>
        </p:nvSpPr>
        <p:spPr>
          <a:xfrm>
            <a:off x="4754880" y="3849624"/>
            <a:ext cx="320040" cy="320040"/>
          </a:xfrm>
          <a:prstGeom prst="ellipse">
            <a:avLst/>
          </a:prstGeom>
          <a:solidFill>
            <a:srgbClr val="DC3545"/>
          </a:solidFill>
          <a:ln/>
        </p:spPr>
      </p:sp>
      <p:sp>
        <p:nvSpPr>
          <p:cNvPr id="34" name="Text 32"/>
          <p:cNvSpPr/>
          <p:nvPr/>
        </p:nvSpPr>
        <p:spPr>
          <a:xfrm>
            <a:off x="4754880" y="384962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a:t>
            </a:r>
            <a:endParaRPr lang="en-US" sz="1100" dirty="0"/>
          </a:p>
        </p:txBody>
      </p:sp>
      <p:sp>
        <p:nvSpPr>
          <p:cNvPr id="35" name="Text 33"/>
          <p:cNvSpPr/>
          <p:nvPr/>
        </p:nvSpPr>
        <p:spPr>
          <a:xfrm>
            <a:off x="5166360" y="3648456"/>
            <a:ext cx="3566160" cy="749808"/>
          </a:xfrm>
          <a:prstGeom prst="rect">
            <a:avLst/>
          </a:prstGeom>
          <a:noFill/>
          <a:ln/>
        </p:spPr>
        <p:txBody>
          <a:bodyPr wrap="square" lIns="0" tIns="0" rIns="0" bIns="0" rtlCol="0" anchor="ctr"/>
          <a:lstStyle/>
          <a:p>
            <a:pPr indent="0" marL="0">
              <a:lnSpc>
                <a:spcPct val="115000"/>
              </a:lnSpc>
              <a:buNone/>
            </a:pPr>
            <a:r>
              <a:rPr lang="en-US" sz="1200" b="1" dirty="0">
                <a:solidFill>
                  <a:srgbClr val="DC3545"/>
                </a:solidFill>
                <a:latin typeface="BIZ UDPGothic" pitchFamily="34" charset="0"/>
                <a:ea typeface="BIZ UDPGothic" pitchFamily="34" charset="-122"/>
                <a:cs typeface="BIZ UDPGothic" pitchFamily="34" charset="-120"/>
              </a:rPr>
              <a:t>ビクつきに加えて意識消失・転倒・けいれんがあった</a:t>
            </a:r>
            <a:endParaRPr lang="en-US" sz="1200" dirty="0"/>
          </a:p>
        </p:txBody>
      </p:sp>
      <p:sp>
        <p:nvSpPr>
          <p:cNvPr id="36" name="Shape 34"/>
          <p:cNvSpPr/>
          <p:nvPr/>
        </p:nvSpPr>
        <p:spPr>
          <a:xfrm>
            <a:off x="274320" y="4636008"/>
            <a:ext cx="8595360" cy="411480"/>
          </a:xfrm>
          <a:prstGeom prst="rect">
            <a:avLst/>
          </a:prstGeom>
          <a:solidFill>
            <a:srgbClr val="E8F0FE"/>
          </a:solidFill>
          <a:ln/>
        </p:spPr>
      </p:sp>
      <p:sp>
        <p:nvSpPr>
          <p:cNvPr id="37" name="Text 35"/>
          <p:cNvSpPr/>
          <p:nvPr/>
        </p:nvSpPr>
        <p:spPr>
          <a:xfrm>
            <a:off x="457200" y="4636008"/>
            <a:ext cx="8229600" cy="411480"/>
          </a:xfrm>
          <a:prstGeom prst="rect">
            <a:avLst/>
          </a:prstGeom>
          <a:noFill/>
          <a:ln/>
        </p:spPr>
        <p:txBody>
          <a:bodyPr wrap="square" lIns="0" tIns="0" rIns="0" bIns="0" rtlCol="0" anchor="ctr"/>
          <a:lstStyle/>
          <a:p>
            <a:pPr indent="0" marL="0">
              <a:buNone/>
            </a:pPr>
            <a:r>
              <a:rPr lang="en-US" sz="1400" b="1" dirty="0">
                <a:solidFill>
                  <a:srgbClr val="2C5AA0"/>
                </a:solidFill>
                <a:latin typeface="BIZ UDPGothic" pitchFamily="34" charset="0"/>
                <a:ea typeface="BIZ UDPGothic" pitchFamily="34" charset="-122"/>
                <a:cs typeface="BIZ UDPGothic" pitchFamily="34" charset="-120"/>
              </a:rPr>
              <a:t>当てはまるものがあれば → 脳神経内科または睡眠外来へ</a:t>
            </a:r>
            <a:endParaRPr lang="en-US" sz="1400" dirty="0"/>
          </a:p>
        </p:txBody>
      </p:sp>
      <p:sp>
        <p:nvSpPr>
          <p:cNvPr id="38" name="Text 36"/>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7/9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受診のタイミングと検査について</a:t>
            </a:r>
            <a:endParaRPr lang="en-US" sz="2400" dirty="0"/>
          </a:p>
        </p:txBody>
      </p:sp>
      <p:sp>
        <p:nvSpPr>
          <p:cNvPr id="4" name="Shape 2"/>
          <p:cNvSpPr/>
          <p:nvPr/>
        </p:nvSpPr>
        <p:spPr>
          <a:xfrm>
            <a:off x="457200" y="1005840"/>
            <a:ext cx="3931920" cy="22860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05840"/>
            <a:ext cx="3931920" cy="457200"/>
          </a:xfrm>
          <a:prstGeom prst="rect">
            <a:avLst/>
          </a:prstGeom>
          <a:solidFill>
            <a:srgbClr val="2C5AA0"/>
          </a:solidFill>
          <a:ln/>
        </p:spPr>
      </p:sp>
      <p:sp>
        <p:nvSpPr>
          <p:cNvPr id="6" name="Text 4"/>
          <p:cNvSpPr/>
          <p:nvPr/>
        </p:nvSpPr>
        <p:spPr>
          <a:xfrm>
            <a:off x="640080" y="1005840"/>
            <a:ext cx="3566160" cy="457200"/>
          </a:xfrm>
          <a:prstGeom prst="rect">
            <a:avLst/>
          </a:prstGeom>
          <a:noFill/>
          <a:ln/>
        </p:spPr>
        <p:txBody>
          <a:bodyPr wrap="square" lIns="0" tIns="0" rIns="0" bIns="0" rtlCol="0" anchor="ctr"/>
          <a:lstStyle/>
          <a:p>
            <a:pPr indent="0" marL="0">
              <a:buNone/>
            </a:pPr>
            <a:r>
              <a:rPr lang="en-US" sz="1700" b="1" dirty="0">
                <a:solidFill>
                  <a:srgbClr val="FFFFFF"/>
                </a:solidFill>
                <a:latin typeface="BIZ UDPGothic" pitchFamily="34" charset="0"/>
                <a:ea typeface="BIZ UDPGothic" pitchFamily="34" charset="-122"/>
                <a:cs typeface="BIZ UDPGothic" pitchFamily="34" charset="-120"/>
              </a:rPr>
              <a:t>相談先 → 脳神経内科</a:t>
            </a:r>
            <a:endParaRPr lang="en-US" sz="1700" dirty="0"/>
          </a:p>
        </p:txBody>
      </p:sp>
      <p:sp>
        <p:nvSpPr>
          <p:cNvPr id="7" name="Text 5"/>
          <p:cNvSpPr/>
          <p:nvPr/>
        </p:nvSpPr>
        <p:spPr>
          <a:xfrm>
            <a:off x="640080" y="1554480"/>
            <a:ext cx="3566160" cy="1645920"/>
          </a:xfrm>
          <a:prstGeom prst="rect">
            <a:avLst/>
          </a:prstGeom>
          <a:noFill/>
          <a:ln/>
        </p:spPr>
        <p:txBody>
          <a:bodyPr wrap="square" lIns="0" tIns="0" rIns="0" bIns="0" rtlCol="0" anchor="t"/>
          <a:lstStyle/>
          <a:p>
            <a:pPr indent="0" marL="0">
              <a:lnSpc>
                <a:spcPct val="130000"/>
              </a:lnSpc>
              <a:buNone/>
            </a:pPr>
            <a:r>
              <a:rPr lang="en-US" sz="1400" b="1" dirty="0">
                <a:solidFill>
                  <a:srgbClr val="2D3436"/>
                </a:solidFill>
                <a:latin typeface="BIZ UDPGothic" pitchFamily="34" charset="0"/>
                <a:ea typeface="BIZ UDPGothic" pitchFamily="34" charset="-122"/>
                <a:cs typeface="BIZ UDPGothic" pitchFamily="34" charset="-120"/>
              </a:rPr>
              <a:t>「ビクつきが気になる」相談は脳神経内科が対応</a:t>
            </a:r>
            <a:endParaRPr lang="en-US" sz="1400" dirty="0"/>
          </a:p>
          <a:p>
            <a:pPr indent="0" marL="0">
              <a:lnSpc>
                <a:spcPct val="130000"/>
              </a:lnSpc>
              <a:buNone/>
            </a:pPr>
            <a:endParaRPr lang="en-US" sz="1400" dirty="0"/>
          </a:p>
          <a:p>
            <a:pPr indent="0" marL="0">
              <a:lnSpc>
                <a:spcPct val="130000"/>
              </a:lnSpc>
              <a:buNone/>
            </a:pPr>
            <a:r>
              <a:rPr lang="en-US" sz="1400" dirty="0">
                <a:solidFill>
                  <a:srgbClr val="636E72"/>
                </a:solidFill>
                <a:latin typeface="BIZ UDPGothic" pitchFamily="34" charset="0"/>
                <a:ea typeface="BIZ UDPGothic" pitchFamily="34" charset="-122"/>
                <a:cs typeface="BIZ UDPGothic" pitchFamily="34" charset="-120"/>
              </a:rPr>
              <a:t>睡眠外来でも対応可</a:t>
            </a:r>
            <a:endParaRPr lang="en-US" sz="1400" dirty="0"/>
          </a:p>
          <a:p>
            <a:pPr indent="0" marL="0">
              <a:lnSpc>
                <a:spcPct val="130000"/>
              </a:lnSpc>
              <a:buNone/>
            </a:pPr>
            <a:r>
              <a:rPr lang="en-US" sz="1400" dirty="0">
                <a:solidFill>
                  <a:srgbClr val="636E72"/>
                </a:solidFill>
                <a:latin typeface="BIZ UDPGothic" pitchFamily="34" charset="0"/>
                <a:ea typeface="BIZ UDPGothic" pitchFamily="34" charset="-122"/>
                <a:cs typeface="BIZ UDPGothic" pitchFamily="34" charset="-120"/>
              </a:rPr>
              <a:t>→ 終夜睡眠ポリグラフ（PSG）で詳しく評価</a:t>
            </a:r>
            <a:endParaRPr lang="en-US" sz="1400" dirty="0"/>
          </a:p>
        </p:txBody>
      </p:sp>
      <p:sp>
        <p:nvSpPr>
          <p:cNvPr id="8" name="Shape 6"/>
          <p:cNvSpPr/>
          <p:nvPr/>
        </p:nvSpPr>
        <p:spPr>
          <a:xfrm>
            <a:off x="4754880" y="1005840"/>
            <a:ext cx="4114800" cy="22860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4754880" y="1005840"/>
            <a:ext cx="4114800" cy="457200"/>
          </a:xfrm>
          <a:prstGeom prst="rect">
            <a:avLst/>
          </a:prstGeom>
          <a:solidFill>
            <a:srgbClr val="4A90D9"/>
          </a:solidFill>
          <a:ln/>
        </p:spPr>
      </p:sp>
      <p:sp>
        <p:nvSpPr>
          <p:cNvPr id="10" name="Text 8"/>
          <p:cNvSpPr/>
          <p:nvPr/>
        </p:nvSpPr>
        <p:spPr>
          <a:xfrm>
            <a:off x="4937760" y="1005840"/>
            <a:ext cx="3749040" cy="457200"/>
          </a:xfrm>
          <a:prstGeom prst="rect">
            <a:avLst/>
          </a:prstGeom>
          <a:noFill/>
          <a:ln/>
        </p:spPr>
        <p:txBody>
          <a:bodyPr wrap="square" lIns="0" tIns="0" rIns="0" bIns="0" rtlCol="0" anchor="ctr"/>
          <a:lstStyle/>
          <a:p>
            <a:pPr indent="0" marL="0">
              <a:buNone/>
            </a:pPr>
            <a:r>
              <a:rPr lang="en-US" sz="1400" b="1" dirty="0">
                <a:solidFill>
                  <a:srgbClr val="FFFFFF"/>
                </a:solidFill>
                <a:latin typeface="BIZ UDPGothic" pitchFamily="34" charset="0"/>
                <a:ea typeface="BIZ UDPGothic" pitchFamily="34" charset="-122"/>
                <a:cs typeface="BIZ UDPGothic" pitchFamily="34" charset="-120"/>
              </a:rPr>
              <a:t>終夜睡眠ポリグラフ（PSG）</a:t>
            </a:r>
            <a:endParaRPr lang="en-US" sz="1400" dirty="0"/>
          </a:p>
        </p:txBody>
      </p:sp>
      <p:sp>
        <p:nvSpPr>
          <p:cNvPr id="11" name="Text 9"/>
          <p:cNvSpPr/>
          <p:nvPr/>
        </p:nvSpPr>
        <p:spPr>
          <a:xfrm>
            <a:off x="4937760" y="1600200"/>
            <a:ext cx="3749040" cy="41148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 睡眠中の脳波・筋電図・眼球運動を同時記録</a:t>
            </a:r>
            <a:endParaRPr lang="en-US" sz="1300" dirty="0"/>
          </a:p>
        </p:txBody>
      </p:sp>
      <p:sp>
        <p:nvSpPr>
          <p:cNvPr id="12" name="Text 10"/>
          <p:cNvSpPr/>
          <p:nvPr/>
        </p:nvSpPr>
        <p:spPr>
          <a:xfrm>
            <a:off x="4937760" y="2029968"/>
            <a:ext cx="3749040" cy="41148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 てんかん・RLS・PLMDとの鑑別が可能</a:t>
            </a:r>
            <a:endParaRPr lang="en-US" sz="1300" dirty="0"/>
          </a:p>
        </p:txBody>
      </p:sp>
      <p:sp>
        <p:nvSpPr>
          <p:cNvPr id="13" name="Text 11"/>
          <p:cNvSpPr/>
          <p:nvPr/>
        </p:nvSpPr>
        <p:spPr>
          <a:xfrm>
            <a:off x="4937760" y="2459736"/>
            <a:ext cx="3749040" cy="41148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 ほとんどは「生理的現象」と確認される</a:t>
            </a:r>
            <a:endParaRPr lang="en-US" sz="1300" dirty="0"/>
          </a:p>
        </p:txBody>
      </p:sp>
      <p:sp>
        <p:nvSpPr>
          <p:cNvPr id="14" name="Text 12"/>
          <p:cNvSpPr/>
          <p:nvPr/>
        </p:nvSpPr>
        <p:spPr>
          <a:xfrm>
            <a:off x="4937760" y="2889504"/>
            <a:ext cx="3749040" cy="411480"/>
          </a:xfrm>
          <a:prstGeom prst="rect">
            <a:avLst/>
          </a:prstGeom>
          <a:noFill/>
          <a:ln/>
        </p:spPr>
        <p:txBody>
          <a:bodyPr wrap="square" lIns="0" tIns="0" rIns="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 受診で安心感 + 万一の見逃しを防ぐ</a:t>
            </a:r>
            <a:endParaRPr lang="en-US" sz="1300" dirty="0"/>
          </a:p>
        </p:txBody>
      </p:sp>
      <p:sp>
        <p:nvSpPr>
          <p:cNvPr id="15" name="Shape 13"/>
          <p:cNvSpPr/>
          <p:nvPr/>
        </p:nvSpPr>
        <p:spPr>
          <a:xfrm>
            <a:off x="457200" y="3474720"/>
            <a:ext cx="8229600" cy="1417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6" name="Shape 14"/>
          <p:cNvSpPr/>
          <p:nvPr/>
        </p:nvSpPr>
        <p:spPr>
          <a:xfrm>
            <a:off x="457200" y="3474720"/>
            <a:ext cx="109728" cy="1417320"/>
          </a:xfrm>
          <a:prstGeom prst="rect">
            <a:avLst/>
          </a:prstGeom>
          <a:solidFill>
            <a:srgbClr val="28A745"/>
          </a:solidFill>
          <a:ln/>
        </p:spPr>
      </p:sp>
      <p:sp>
        <p:nvSpPr>
          <p:cNvPr id="17" name="Text 15"/>
          <p:cNvSpPr/>
          <p:nvPr/>
        </p:nvSpPr>
        <p:spPr>
          <a:xfrm>
            <a:off x="822960" y="3566160"/>
            <a:ext cx="7680960" cy="1188720"/>
          </a:xfrm>
          <a:prstGeom prst="rect">
            <a:avLst/>
          </a:prstGeom>
          <a:noFill/>
          <a:ln/>
        </p:spPr>
        <p:txBody>
          <a:bodyPr wrap="square" lIns="0" tIns="0" rIns="0" bIns="0" rtlCol="0" anchor="t"/>
          <a:lstStyle/>
          <a:p>
            <a:pPr indent="0" marL="0">
              <a:lnSpc>
                <a:spcPct val="130000"/>
              </a:lnSpc>
              <a:buNone/>
            </a:pPr>
            <a:r>
              <a:rPr lang="en-US" sz="1500" b="1" dirty="0">
                <a:solidFill>
                  <a:srgbClr val="2C5AA0"/>
                </a:solidFill>
                <a:latin typeface="BIZ UDPGothic" pitchFamily="34" charset="0"/>
                <a:ea typeface="BIZ UDPGothic" pitchFamily="34" charset="-122"/>
                <a:cs typeface="BIZ UDPGothic" pitchFamily="34" charset="-120"/>
              </a:rPr>
              <a:t>「何も問題なかった」も大きな価値</a:t>
            </a:r>
            <a:endParaRPr lang="en-US" sz="1500" dirty="0"/>
          </a:p>
          <a:p>
            <a:pP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ベースラインの記録として、将来の比較データになります</a:t>
            </a:r>
            <a:endParaRPr lang="en-US" sz="1500" dirty="0"/>
          </a:p>
          <a:p>
            <a:pPr indent="0" marL="0">
              <a:lnSpc>
                <a:spcPct val="130000"/>
              </a:lnSpc>
              <a:buNone/>
            </a:pPr>
            <a:r>
              <a:rPr lang="en-US" sz="1500" b="1" dirty="0">
                <a:solidFill>
                  <a:srgbClr val="28A745"/>
                </a:solidFill>
                <a:latin typeface="BIZ UDPGothic" pitchFamily="34" charset="0"/>
                <a:ea typeface="BIZ UDPGothic" pitchFamily="34" charset="-122"/>
                <a:cs typeface="BIZ UDPGothic" pitchFamily="34" charset="-120"/>
              </a:rPr>
              <a:t>→ 「こんなことで相談していいの？」と思ったときこそ、受診を</a:t>
            </a:r>
            <a:endParaRPr lang="en-US" sz="1500" dirty="0"/>
          </a:p>
        </p:txBody>
      </p:sp>
      <p:sp>
        <p:nvSpPr>
          <p:cNvPr id="18" name="Text 16"/>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8/9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Take Home Message</a:t>
            </a:r>
            <a:endParaRPr lang="en-US" sz="2600" dirty="0"/>
          </a:p>
        </p:txBody>
      </p:sp>
      <p:sp>
        <p:nvSpPr>
          <p:cNvPr id="4" name="Shape 2"/>
          <p:cNvSpPr/>
          <p:nvPr/>
        </p:nvSpPr>
        <p:spPr>
          <a:xfrm>
            <a:off x="731520" y="1005840"/>
            <a:ext cx="7680960" cy="822960"/>
          </a:xfrm>
          <a:prstGeom prst="roundRect">
            <a:avLst>
              <a:gd name="adj" fmla="val 11111"/>
            </a:avLst>
          </a:prstGeom>
          <a:solidFill>
            <a:srgbClr val="243B5C"/>
          </a:solidFill>
          <a:ln/>
        </p:spPr>
      </p:sp>
      <p:sp>
        <p:nvSpPr>
          <p:cNvPr id="5" name="Shape 3"/>
          <p:cNvSpPr/>
          <p:nvPr/>
        </p:nvSpPr>
        <p:spPr>
          <a:xfrm>
            <a:off x="914400" y="1143000"/>
            <a:ext cx="548640" cy="548640"/>
          </a:xfrm>
          <a:prstGeom prst="ellipse">
            <a:avLst/>
          </a:prstGeom>
          <a:solidFill>
            <a:srgbClr val="4A90D9"/>
          </a:solidFill>
          <a:ln/>
        </p:spPr>
      </p:sp>
      <p:sp>
        <p:nvSpPr>
          <p:cNvPr id="6" name="Text 4"/>
          <p:cNvSpPr/>
          <p:nvPr/>
        </p:nvSpPr>
        <p:spPr>
          <a:xfrm>
            <a:off x="914400" y="11430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p:nvPr/>
        </p:nvSpPr>
        <p:spPr>
          <a:xfrm>
            <a:off x="1645920" y="100584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入眠時のビクッは「入眠時ミオクローヌス」。成人の60〜70%が経験する生理的現象</a:t>
            </a:r>
            <a:endParaRPr lang="en-US" sz="1500" dirty="0"/>
          </a:p>
        </p:txBody>
      </p:sp>
      <p:sp>
        <p:nvSpPr>
          <p:cNvPr id="8" name="Shape 6"/>
          <p:cNvSpPr/>
          <p:nvPr/>
        </p:nvSpPr>
        <p:spPr>
          <a:xfrm>
            <a:off x="731520" y="1965960"/>
            <a:ext cx="7680960" cy="822960"/>
          </a:xfrm>
          <a:prstGeom prst="roundRect">
            <a:avLst>
              <a:gd name="adj" fmla="val 11111"/>
            </a:avLst>
          </a:prstGeom>
          <a:solidFill>
            <a:srgbClr val="243B5C"/>
          </a:solidFill>
          <a:ln/>
        </p:spPr>
      </p:sp>
      <p:sp>
        <p:nvSpPr>
          <p:cNvPr id="9" name="Shape 7"/>
          <p:cNvSpPr/>
          <p:nvPr/>
        </p:nvSpPr>
        <p:spPr>
          <a:xfrm>
            <a:off x="914400" y="2103120"/>
            <a:ext cx="548640" cy="548640"/>
          </a:xfrm>
          <a:prstGeom prst="ellipse">
            <a:avLst/>
          </a:prstGeom>
          <a:solidFill>
            <a:srgbClr val="4A90D9"/>
          </a:solidFill>
          <a:ln/>
        </p:spPr>
      </p:sp>
      <p:sp>
        <p:nvSpPr>
          <p:cNvPr id="10" name="Text 8"/>
          <p:cNvSpPr/>
          <p:nvPr/>
        </p:nvSpPr>
        <p:spPr>
          <a:xfrm>
            <a:off x="914400" y="21031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1645920" y="196596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脳幹の網様体が覚醒→睡眠の切り替え時に誤放電することが原因。「崖から落ちる夢」はビクつきへの脳の後付け</a:t>
            </a:r>
            <a:endParaRPr lang="en-US" sz="1500" dirty="0"/>
          </a:p>
        </p:txBody>
      </p:sp>
      <p:sp>
        <p:nvSpPr>
          <p:cNvPr id="12" name="Shape 10"/>
          <p:cNvSpPr/>
          <p:nvPr/>
        </p:nvSpPr>
        <p:spPr>
          <a:xfrm>
            <a:off x="731520" y="2926080"/>
            <a:ext cx="7680960" cy="822960"/>
          </a:xfrm>
          <a:prstGeom prst="roundRect">
            <a:avLst>
              <a:gd name="adj" fmla="val 11111"/>
            </a:avLst>
          </a:prstGeom>
          <a:solidFill>
            <a:srgbClr val="243B5C"/>
          </a:solidFill>
          <a:ln/>
        </p:spPr>
      </p:sp>
      <p:sp>
        <p:nvSpPr>
          <p:cNvPr id="13" name="Shape 11"/>
          <p:cNvSpPr/>
          <p:nvPr/>
        </p:nvSpPr>
        <p:spPr>
          <a:xfrm>
            <a:off x="914400" y="3063240"/>
            <a:ext cx="548640" cy="548640"/>
          </a:xfrm>
          <a:prstGeom prst="ellipse">
            <a:avLst/>
          </a:prstGeom>
          <a:solidFill>
            <a:srgbClr val="4A90D9"/>
          </a:solidFill>
          <a:ln/>
        </p:spPr>
      </p:sp>
      <p:sp>
        <p:nvSpPr>
          <p:cNvPr id="14" name="Text 12"/>
          <p:cNvSpPr/>
          <p:nvPr/>
        </p:nvSpPr>
        <p:spPr>
          <a:xfrm>
            <a:off x="914400" y="30632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Text 13"/>
          <p:cNvSpPr/>
          <p:nvPr/>
        </p:nvSpPr>
        <p:spPr>
          <a:xfrm>
            <a:off x="1645920" y="292608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カフェイン・睡眠不足・ストレス・激しい運動後で増強。これらの見直しが効果的</a:t>
            </a:r>
            <a:endParaRPr lang="en-US" sz="1500" dirty="0"/>
          </a:p>
        </p:txBody>
      </p:sp>
      <p:sp>
        <p:nvSpPr>
          <p:cNvPr id="16" name="Shape 14"/>
          <p:cNvSpPr/>
          <p:nvPr/>
        </p:nvSpPr>
        <p:spPr>
          <a:xfrm>
            <a:off x="731520" y="3886200"/>
            <a:ext cx="7680960" cy="822960"/>
          </a:xfrm>
          <a:prstGeom prst="roundRect">
            <a:avLst>
              <a:gd name="adj" fmla="val 11111"/>
            </a:avLst>
          </a:prstGeom>
          <a:solidFill>
            <a:srgbClr val="243B5C"/>
          </a:solidFill>
          <a:ln/>
        </p:spPr>
      </p:sp>
      <p:sp>
        <p:nvSpPr>
          <p:cNvPr id="17" name="Shape 15"/>
          <p:cNvSpPr/>
          <p:nvPr/>
        </p:nvSpPr>
        <p:spPr>
          <a:xfrm>
            <a:off x="914400" y="4023360"/>
            <a:ext cx="548640" cy="548640"/>
          </a:xfrm>
          <a:prstGeom prst="ellipse">
            <a:avLst/>
          </a:prstGeom>
          <a:solidFill>
            <a:srgbClr val="4A90D9"/>
          </a:solidFill>
          <a:ln/>
        </p:spPr>
      </p:sp>
      <p:sp>
        <p:nvSpPr>
          <p:cNvPr id="18" name="Text 16"/>
          <p:cNvSpPr/>
          <p:nvPr/>
        </p:nvSpPr>
        <p:spPr>
          <a:xfrm>
            <a:off x="914400" y="4023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Text 17"/>
          <p:cNvSpPr/>
          <p:nvPr/>
        </p:nvSpPr>
        <p:spPr>
          <a:xfrm>
            <a:off x="1645920" y="3886200"/>
            <a:ext cx="6583680" cy="822960"/>
          </a:xfrm>
          <a:prstGeom prst="rect">
            <a:avLst/>
          </a:prstGeom>
          <a:noFill/>
          <a:ln/>
        </p:spPr>
        <p:txBody>
          <a:bodyPr wrap="square" lIns="0" tIns="0" rIns="0" bIns="0" rtlCol="0" anchor="ctr"/>
          <a:lstStyle/>
          <a:p>
            <a:pPr indent="0" marL="0">
              <a:lnSpc>
                <a:spcPct val="110000"/>
              </a:lnSpc>
              <a:buNone/>
            </a:pPr>
            <a:r>
              <a:rPr lang="en-US" sz="1500" dirty="0">
                <a:solidFill>
                  <a:srgbClr val="E8F0FE"/>
                </a:solidFill>
                <a:latin typeface="BIZ UDPGothic" pitchFamily="34" charset="0"/>
                <a:ea typeface="BIZ UDPGothic" pitchFamily="34" charset="-122"/>
                <a:cs typeface="BIZ UDPGothic" pitchFamily="34" charset="-120"/>
              </a:rPr>
              <a:t>覚醒時にも起こる・毎晩何十回も繰り返す・日中に強い眠気があるときは脳神経内科へ</a:t>
            </a:r>
            <a:endParaRPr lang="en-US" sz="1500" dirty="0"/>
          </a:p>
        </p:txBody>
      </p:sp>
      <p:sp>
        <p:nvSpPr>
          <p:cNvPr id="20" name="Shape 18"/>
          <p:cNvSpPr/>
          <p:nvPr/>
        </p:nvSpPr>
        <p:spPr>
          <a:xfrm>
            <a:off x="1828800" y="4663440"/>
            <a:ext cx="5486400" cy="0"/>
          </a:xfrm>
          <a:prstGeom prst="line">
            <a:avLst/>
          </a:prstGeom>
          <a:noFill/>
          <a:ln w="12700">
            <a:solidFill>
              <a:srgbClr val="4A90D9"/>
            </a:solidFill>
            <a:prstDash val="solid"/>
          </a:ln>
        </p:spPr>
      </p:sp>
      <p:sp>
        <p:nvSpPr>
          <p:cNvPr id="21" name="Text 19"/>
          <p:cNvSpPr/>
          <p:nvPr/>
        </p:nvSpPr>
        <p:spPr>
          <a:xfrm>
            <a:off x="457200" y="4754880"/>
            <a:ext cx="8229600" cy="365760"/>
          </a:xfrm>
          <a:prstGeom prst="rect">
            <a:avLst/>
          </a:prstGeom>
          <a:noFill/>
          <a:ln/>
        </p:spPr>
        <p:txBody>
          <a:bodyPr wrap="square" lIns="0" tIns="0" rIns="0" bIns="0" rtlCol="0" anchor="ctr"/>
          <a:lstStyle/>
          <a:p>
            <a:pPr algn="ctr" indent="0" marL="0">
              <a:buNone/>
            </a:pPr>
            <a:r>
              <a:rPr lang="en-US" sz="1400" dirty="0">
                <a:solidFill>
                  <a:srgbClr val="636E72"/>
                </a:solidFill>
                <a:latin typeface="BIZ UDPGothic" pitchFamily="34" charset="0"/>
                <a:ea typeface="BIZ UDPGothic" pitchFamily="34" charset="-122"/>
                <a:cs typeface="BIZ UDPGothic" pitchFamily="34" charset="-120"/>
              </a:rPr>
              <a:t>医知創造ラボ  今村久司  ｜  チャンネル登録よろしくお願いします</a:t>
            </a:r>
            <a:endParaRPr lang="en-US" sz="1400" dirty="0"/>
          </a:p>
        </p:txBody>
      </p:sp>
      <p:sp>
        <p:nvSpPr>
          <p:cNvPr id="22" name="Text 2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9/9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寝てる時にビクッとなるのはなぜ？ ― 「入眠時ミオクローヌス」の正体</dc:title>
  <dc:subject>PptxGenJS Presentation</dc:subject>
  <dc:creator>今村久司</dc:creator>
  <cp:lastModifiedBy>今村久司</cp:lastModifiedBy>
  <cp:revision>1</cp:revision>
  <dcterms:created xsi:type="dcterms:W3CDTF">2026-04-02T02:30:58Z</dcterms:created>
  <dcterms:modified xsi:type="dcterms:W3CDTF">2026-04-02T02:30:58Z</dcterms:modified>
</cp:coreProperties>
</file>