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みなさん、こんにちは。医知創造ラボの今村です。
本日は「幸福とは何か──いい人生を自分の言葉で語るために」というテーマでお話しいたします。
幸福とは何か。これは人類がずっと考えてきた大きなテーマです。
今回は科学、心理学、そして哲学、さまざまな角度からこの問いを眺めてみたいと思います。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金曜日の夜、一週間の仕事を終えてソファに腰を下ろしたとき、ふとこんな考えが浮かんだことはないでしょうか。
「自分は今、幸せなんだろうか」と。
この問いは、何も特別なものではありません。むしろ日常のふとした瞬間にこそ浮かんでくるものです。
友人のSNSを見て少しだけ胸がざわついたり、逆に何気ない朝のコーヒーが妙においしく感じたり。
そんなとき、「ああ、これが幸せかもしれない」と思う。そういう経験は誰にでもあるのではないでしょうか。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幸福とは何か。この問いには、哲学者も、心理学者も、宗教家も向き合ってきました。
しかし、答えはいまだに一つに定まっていません。
それもそのはずです。幸福は数学の公式のように「これが正解」と示せるものではないからです。
人によって、時期によって、その中身は変わります。
だからこそ今回は「幸福とはこれだ」と断言するのではなく、さまざまな角度から幸福を眺めてみます。何か一つでも「ああ、わかる」と感じていただければ嬉しいです。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それではまず、幸福に関するよくある誤解について見ていきましょう。
「手に入れれば幸せ」──これは本当なのでしょうか。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「年収がもっと高ければ幸せなのに」
「あのポストに就ければ、きっと満足できる」
「もっといい家に住めたら、毎日が楽しいはず」
こうした考えは、多くの方が一度は抱いたことがあるのではないでしょうか。
お金、地位、成功。これらを手に入れれば幸せになれるという信念は、とても根強いものがあります。
もちろんお金は大切です。生活の安心を得るためには欠かせません。
しかし、「お金が増えれば増えるほど幸せになる」とは限らないようです。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アメリカの心理学者ダニエル・カーネマンらの研究を見てみましょう。
この研究では、年収が一定の水準を超えると、日々の感情的な幸福感は頭打ちになる傾向があると報告されました。
つまり、生活の不安がなくなるレベルまでは収入と幸福は連動します。
しかし、それ以上は必ずしも比例しないというわけです。
これは「お金は不幸を減らすことはできるが、際限なく幸福を増やすわけではない」とも言い換えられます。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新しいものを手に入れる、喜びを感じる、しかしすぐに慣れてしまう、そしてまた次の「もっと」を求める。
これは「快楽の踏み車」、ヘドニック・トレッドミルと呼ばれる現象です。
ランニングマシンの上を走っているようなもので、どれだけ走っても景色は変わりません。
宝くじの高額当選者を追跡した有名な研究でも、当選直後の大きな喜びは時間とともに薄れ、やがて当選前とほぼ同じ幸福度に戻ってしまうと報告されています。
幸福の条件を外側だけに求めると、終わりのない追いかけっこになってしまうのです。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では、幸福の正体はいったいどこにあるのでしょうか。
次に、科学と心理学の目を通してこの問いに迫ってみましょう。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1998年頃、アメリカの心理学者マーティン・セリグマンが「ポジティブ心理学」を提唱しました。
これは心の病気を治すことだけでなく、「どうすれば人はより良く生きられるか」を研究する心理学の一領域です。
セリグマンは幸福を構成する要素として「PERMA」というモデルを提案しています。
少し英語が入りますが、中身はとてもシンプルです。一つずつ見ていきましょう。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まずPはPositive Emotion、ポジティブな感情です。
喜び、感謝、安らぎ、楽しさ。朝日がきれいだなと感じること、好きな音楽を聴いてリラックスすること。
こうした小さなポジティブ感情の積み重ねが、幸福感の土台になります。
次にEはEngagement、没頭です。
時間を忘れるほど何かに集中している状態で、心理学では「フロー」とも呼ばれます。
趣味でも仕事でも、難しい課題に取り組んで集中しているときは充実感があるものです。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RはRelationships、人とのつながりです。
ここで注目していただきたいのが、ハーバード大学が1938年から続けている長期追跡研究です。
数百人の人生を75年以上にわたって追いかけたこの研究の結論は明快でした。
「人を幸福にし、健康にするのは、良い人間関係である」というものです。
ここでいう「良い人間関係」とは、友人の数が多いことではありません。
たとえ少数でも、信頼できる相手がいること。心を開ける人がそばにいること。
それが幸福感と健康の両方に大きく影響するという、非常に力強い結果です。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MはMeaning、意味・意義です。
「何のためにこれをやっているのか」が見えていると、困難にも耐えやすくなります。
ボランティア活動をしている人の幸福度が高い傾向にあるのは、まさにこの「意味」の力でしょう。
誰かの役に立っているという実感が、自分自身の幸福にもつながるのです。
AはAccomplishment、達成感です。
大きな目標である必要はありません。毎朝のジョギングを一か月続けられた、苦手だった料理のレパートリーが一つ増えた。
そうした小さな達成の積み重ねが、自信と幸福感を育ててくれます。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もう一つ、心理学で注目されている概念があります。それは「感謝」の力です。
毎晩寝る前に「今日感謝できること」を三つ書き出す。
たったこれだけの習慣で、数週間後には気分が改善したという実験結果が複数報告されています。
なぜ感謝が効くのでしょうか。
それは「自分にはすでに良いものがある」と気づく行為だからです。
足りないものに目を向けがちな私たちの注意を、今あるものに向け直す。
その視点の転換が、幸福感を底上げしてくれるのです。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科学は幸福の「仕組み」をかなり解き明かしてくれました。
しかし「なぜ幸福を求めるのか」「そもそも良い人生とは何か」という問いは、科学だけでは答えきれません。
次は、哲学や思想の世界、先人たちの知恵を覗いてみましょう。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古代ギリシャの哲学者アリストテレスは、幸福を「エウダイモニア」と呼びました。
これは「よく生きること」「人間として花開くこと」に近い意味です。
アリストテレスにとって、幸福とは一時的な快楽ではありません。
自分の持つ能力や美徳を発揮して、充実した人生を送ること。それが本当の幸福だと考えました。
現代の言葉で言い換えると「自分の強みを活かして、自分らしく生きること」です。
注目すべきは、彼が幸福を「活動」として捉えた点です。
幸福はただ座って待っていても訪れない。日々の行動の中で少しずつ作り上げていくものだという考え方です。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同じく古代ギリシャのエピクロスは、少し違う角度から幸福を見つめました。
彼の答えは「アタラクシア」、つまり「心の平穏」です。
エピクロスは、贅沢や名声を追い求めることが人を不幸にすると考えました。
本当に必要なものは、実はそう多くない。友人との語らい、シンプルな食事、静かな時間。
そうした素朴な喜びの中にこそ幸福があるというのです。
彼は「欲望を減らせば、満足は増える」とも説きました。
先ほど紹介した「快楽の踏み車」の話と重なりますね。
二千年以上前の知恵が現代の心理学の知見と一致しているのは、非常に興味深いことです。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日本の古典にも、幸福についての深い洞察があります。
鎌倉時代末期の随筆家、吉田兼好の『徒然草』を見てみましょう。
兼好は人生の移ろいやすさ、つまり「無常」を繰り返し語りました。
花は満開のときだけが美しいのではない。散りゆく花にも、つぼみにも、それぞれの美しさがある。
これは「今ここ」を大切にする姿勢と言えるでしょう。
完璧な状態を待つのではなく、不完全なままの日常に美を見出す。
この感性は日本人の心に自然と響くものがあるのではないでしょうか。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三人の思想家は時代も場所もまったく異なります。
しかし共通して言えることがあります。
アリストテレスの「よく生きること」、エピクロスの「心の平穏」、吉田兼好の「無常の中の美」。
いずれも幸福は「手に入れるもの」ではなく「生き方そのもの」だという視点です。
外側の条件ではなく、内側の態度が幸福を左右する。
この大切なメッセージは、次の「具体的な行動」にもつながっていきます。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ここまで科学と哲学の両面から幸福について考えてきました。
しかし、知識だけでは日常は変わりません。大切なのは実際に行動に移すことです。
ここからは、今日から始められる五つの具体的な行動をご紹介します。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一つ目の行動は「三つの良いこと」を書き出すことです。
毎晩、寝る前にその日あった良いことを三つ書き出してみてください。
ノートでもスマートフォンのメモでも構いません。
「ランチがおいしかった」「電車で座れた」「同僚に褒められた」。どんな些細なことでも大丈夫です。
この習慣はポジティブ心理学の研究で効果が確認されています。
続けるうちに、脳がポジティブな出来事に注目しやすくなり、注意のバランスが整っていきます。
最初は「特に良いことなんてなかった」と感じるかもしれません。
でも小さなことに目を向ける練習だと思って、ぜひ続けてみてください。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二つ目は、一日に一回、意識的に「ありがとう」を口にすることです。
コンビニの店員さんに、ドアを開けてくれた人に、毎日ごはんを作ってくれる家族に。
感謝を伝える行為は相手を喜ばせるだけではありません。伝える自分自身の幸福感も高めてくれます。
PERMAモデルで言えば、R（人間関係）とP（ポジティブ感情）の両方を同時に満たすことができるのです。
照れくさければメールやメッセージでも十分です。
「この前はありがとう」のひと言が、思いのほか相手に届くこともあります。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三つ目は、体を動かす時間を作ることです。
幸福について考えるとき、体の存在を忘れがちですが、適度な運動が気分を改善することは多くの研究で示されています。
激しいトレーニングは不要です。一日20分の散歩で十分です。
通勤時にひと駅分歩いてみる、昼休みに少しだけ外の空気を吸いに行く。それだけでも気分転換になります。
運動をすると脳内でエンドルフィンという物質が分泌されます。これは天然の気分向上剤のようなものです。
心と体はつながっています。体を少し動かすだけで、心にも良い変化が生まれることがあるのです。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四つ目は、没頭できることに時間を使うことです。
最近、時間を忘れるほど夢中になったことはありますか。
もしすぐに思い浮かばないなら、それは一つのサインかもしれません。
読書、料理、ゲーム、園芸、楽器演奏、DIY。何でも構いません。
大切なのは「上手かどうか」ではなく「楽しいかどうか」です。
結果を気にせず、プロセスそのものを楽しむ。
没頭している間、余計な心配事から解放されて、一種の充足感が生まれます。
以前好きだったのに最近やめてしまったことがあれば、もう一度始めてみるのもいいかもしれません。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五つ目は、少しだけ耳の痛い話かもしれません。SNSとの付き合い方を見直してみましょう。
SNSは便利なツールですが、他人の「ハイライト」ばかりを見続けると、自分の日常が色あせて見えてしまうことがあります。
心理学ではこれを「社会的比較」と呼びます。人は無意識のうちに他者と自分を比べてしまうのです。
試しに一日だけSNSを見ない日を作ってみてください。
あるいは寝る前の一時間はスマートフォンを別の部屋に置いてみる。
それだけで自分自身の生活に集中できる時間が生まれます。
比較をやめると「自分の幸福」が見えやすくなります。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それでは最後に、全体を振り返ってまとめていきましょう。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今回は大きく四つの視点から幸福を考えてきました。
一つ目、お金や地位だけでは幸福は完結しないということ。誤解を解くところから始めました。
二つ目、科学の視点。PERMAモデルが教えてくれたように、幸福は複数の要素の組み合わせです。
三つ目、哲学の知恵。幸福は外側の条件ではなく内側の態度であるという、時代を超えたメッセージがありました。
四つ目、行動すること。小さな一歩を今日から始めることが大切です。
どれか一つでも心に残るものがあれば幸いです。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最後に、一つだけ心に留めておいていただきたいことがあります。
それは「幸福に正解はない」ということです。
誰かにとっての幸福が、あなたにとっての幸福とは限りません。
幸福はゴールではなくプロセスです。
日々の中で少しずつ気づき、少しずつ選び、少しずつ積み重ねていくもの。
その歩みそのものが、すでに「幸福に向かう道」なのだと思います。
この動画が参考になりましたら、いいねと高評価をいただけましたら励みになります。
以上で発表を終わります。最後までご視聴ありがとうございました。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E5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CC71"/>
          </a:solidFill>
          <a:ln/>
        </p:spPr>
      </p:sp>
      <p:sp>
        <p:nvSpPr>
          <p:cNvPr id="3" name="Text 1"/>
          <p:cNvSpPr/>
          <p:nvPr/>
        </p:nvSpPr>
        <p:spPr>
          <a:xfrm>
            <a:off x="731520" y="1097280"/>
            <a:ext cx="7680960" cy="1280160"/>
          </a:xfrm>
          <a:prstGeom prst="rect">
            <a:avLst/>
          </a:prstGeom>
          <a:noFill/>
          <a:ln/>
        </p:spPr>
        <p:txBody>
          <a:bodyPr wrap="square" lIns="0" tIns="0" rIns="0" bIns="0" rtlCol="0" anchor="ctr"/>
          <a:lstStyle/>
          <a:p>
            <a:pPr algn="l" indent="0" marL="0">
              <a:buNone/>
            </a:pPr>
            <a:r>
              <a:rPr lang="en-US" sz="4400" b="1" dirty="0">
                <a:solidFill>
                  <a:srgbClr val="FFFFFF"/>
                </a:solidFill>
                <a:latin typeface="Yu Gothic UI" pitchFamily="34" charset="0"/>
                <a:ea typeface="Yu Gothic UI" pitchFamily="34" charset="-122"/>
                <a:cs typeface="Yu Gothic UI" pitchFamily="34" charset="-120"/>
              </a:rPr>
              <a:t>幸福とは何か</a:t>
            </a:r>
            <a:endParaRPr lang="en-US" sz="4400" dirty="0"/>
          </a:p>
        </p:txBody>
      </p:sp>
      <p:sp>
        <p:nvSpPr>
          <p:cNvPr id="4" name="Text 2"/>
          <p:cNvSpPr/>
          <p:nvPr/>
        </p:nvSpPr>
        <p:spPr>
          <a:xfrm>
            <a:off x="731520" y="2377440"/>
            <a:ext cx="7680960" cy="731520"/>
          </a:xfrm>
          <a:prstGeom prst="rect">
            <a:avLst/>
          </a:prstGeom>
          <a:noFill/>
          <a:ln/>
        </p:spPr>
        <p:txBody>
          <a:bodyPr wrap="square" lIns="0" tIns="0" rIns="0" bIns="0" rtlCol="0" anchor="ctr"/>
          <a:lstStyle/>
          <a:p>
            <a:pPr algn="l" indent="0" marL="0">
              <a:buNone/>
            </a:pPr>
            <a:r>
              <a:rPr lang="en-US" sz="2200" dirty="0">
                <a:solidFill>
                  <a:srgbClr val="2ECC71"/>
                </a:solidFill>
                <a:latin typeface="Yu Gothic UI" pitchFamily="34" charset="0"/>
                <a:ea typeface="Yu Gothic UI" pitchFamily="34" charset="-122"/>
                <a:cs typeface="Yu Gothic UI" pitchFamily="34" charset="-120"/>
              </a:rPr>
              <a:t>「いい人生」を自分の言葉で語るために</a:t>
            </a:r>
            <a:endParaRPr lang="en-US" sz="2200" dirty="0"/>
          </a:p>
        </p:txBody>
      </p:sp>
      <p:sp>
        <p:nvSpPr>
          <p:cNvPr id="5" name="Shape 3"/>
          <p:cNvSpPr/>
          <p:nvPr/>
        </p:nvSpPr>
        <p:spPr>
          <a:xfrm>
            <a:off x="731520" y="3840480"/>
            <a:ext cx="1828800" cy="36576"/>
          </a:xfrm>
          <a:prstGeom prst="rect">
            <a:avLst/>
          </a:prstGeom>
          <a:solidFill>
            <a:srgbClr val="2ECC71"/>
          </a:solidFill>
          <a:ln/>
        </p:spPr>
      </p:sp>
      <p:sp>
        <p:nvSpPr>
          <p:cNvPr id="6" name="Text 4"/>
          <p:cNvSpPr/>
          <p:nvPr/>
        </p:nvSpPr>
        <p:spPr>
          <a:xfrm>
            <a:off x="731520" y="4114800"/>
            <a:ext cx="7680960" cy="457200"/>
          </a:xfrm>
          <a:prstGeom prst="rect">
            <a:avLst/>
          </a:prstGeom>
          <a:noFill/>
          <a:ln/>
        </p:spPr>
        <p:txBody>
          <a:bodyPr wrap="square" lIns="0" tIns="0" rIns="0" bIns="0" rtlCol="0" anchor="ctr"/>
          <a:lstStyle/>
          <a:p>
            <a:pPr algn="l" indent="0" marL="0">
              <a:buNone/>
            </a:pPr>
            <a:r>
              <a:rPr lang="en-US" sz="1800" dirty="0">
                <a:solidFill>
                  <a:srgbClr val="7F8C8D"/>
                </a:solidFill>
                <a:latin typeface="Yu Gothic UI" pitchFamily="34" charset="0"/>
                <a:ea typeface="Yu Gothic UI" pitchFamily="34" charset="-122"/>
                <a:cs typeface="Yu Gothic UI" pitchFamily="34" charset="-120"/>
              </a:rPr>
              <a:t>さまざまな角度から「幸福」を考える</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9"/>
        </a:solidFill>
      </p:bgPr>
    </p:bg>
    <p:spTree>
      <p:nvGrpSpPr>
        <p:cNvPr id="1" name=""/>
        <p:cNvGrpSpPr/>
        <p:nvPr/>
      </p:nvGrpSpPr>
      <p:grpSpPr>
        <a:xfrm>
          <a:off x="0" y="0"/>
          <a:ext cx="0" cy="0"/>
          <a:chOff x="0" y="0"/>
          <a:chExt cx="0" cy="0"/>
        </a:xfrm>
      </p:grpSpPr>
      <p:sp>
        <p:nvSpPr>
          <p:cNvPr id="2" name="Text 0"/>
          <p:cNvSpPr/>
          <p:nvPr/>
        </p:nvSpPr>
        <p:spPr>
          <a:xfrm>
            <a:off x="731520" y="365760"/>
            <a:ext cx="7680960" cy="731520"/>
          </a:xfrm>
          <a:prstGeom prst="rect">
            <a:avLst/>
          </a:prstGeom>
          <a:noFill/>
          <a:ln/>
        </p:spPr>
        <p:txBody>
          <a:bodyPr wrap="square" lIns="0" tIns="0" rIns="0" bIns="0" rtlCol="0" anchor="ctr"/>
          <a:lstStyle/>
          <a:p>
            <a:pPr algn="l" indent="0" marL="0">
              <a:buNone/>
            </a:pPr>
            <a:r>
              <a:rPr lang="en-US" sz="3200" b="1" dirty="0">
                <a:solidFill>
                  <a:srgbClr val="2C3E50"/>
                </a:solidFill>
                <a:latin typeface="Yu Gothic UI" pitchFamily="34" charset="0"/>
                <a:ea typeface="Yu Gothic UI" pitchFamily="34" charset="-122"/>
                <a:cs typeface="Yu Gothic UI" pitchFamily="34" charset="-120"/>
              </a:rPr>
              <a:t>ふと立ち止まる瞬間</a:t>
            </a:r>
            <a:endParaRPr lang="en-US" sz="3200" dirty="0"/>
          </a:p>
        </p:txBody>
      </p:sp>
      <p:sp>
        <p:nvSpPr>
          <p:cNvPr id="3" name="Shape 1"/>
          <p:cNvSpPr/>
          <p:nvPr/>
        </p:nvSpPr>
        <p:spPr>
          <a:xfrm>
            <a:off x="731520" y="1371600"/>
            <a:ext cx="7680960" cy="14630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 name="Shape 2"/>
          <p:cNvSpPr/>
          <p:nvPr/>
        </p:nvSpPr>
        <p:spPr>
          <a:xfrm>
            <a:off x="731520" y="1371600"/>
            <a:ext cx="73152" cy="1463040"/>
          </a:xfrm>
          <a:prstGeom prst="rect">
            <a:avLst/>
          </a:prstGeom>
          <a:solidFill>
            <a:srgbClr val="1A6B5A"/>
          </a:solidFill>
          <a:ln/>
        </p:spPr>
      </p:sp>
      <p:pic>
        <p:nvPicPr>
          <p:cNvPr id="5" name="Image 0" descr="preencoded.png">    </p:cNvPr>
          <p:cNvPicPr>
            <a:picLocks noChangeAspect="1"/>
          </p:cNvPicPr>
          <p:nvPr/>
        </p:nvPicPr>
        <p:blipFill>
          <a:blip r:embed="rId1"/>
          <a:stretch>
            <a:fillRect/>
          </a:stretch>
        </p:blipFill>
        <p:spPr>
          <a:xfrm>
            <a:off x="1005840" y="1554480"/>
            <a:ext cx="320040" cy="320040"/>
          </a:xfrm>
          <a:prstGeom prst="rect">
            <a:avLst/>
          </a:prstGeom>
        </p:spPr>
      </p:pic>
      <p:sp>
        <p:nvSpPr>
          <p:cNvPr id="6" name="Text 3"/>
          <p:cNvSpPr/>
          <p:nvPr/>
        </p:nvSpPr>
        <p:spPr>
          <a:xfrm>
            <a:off x="1463040" y="1554480"/>
            <a:ext cx="6583680" cy="1097280"/>
          </a:xfrm>
          <a:prstGeom prst="rect">
            <a:avLst/>
          </a:prstGeom>
          <a:noFill/>
          <a:ln/>
        </p:spPr>
        <p:txBody>
          <a:bodyPr wrap="square" lIns="0" tIns="0" rIns="0" bIns="0" rtlCol="0" anchor="ctr"/>
          <a:lstStyle/>
          <a:p>
            <a:pPr algn="l" indent="0" marL="0">
              <a:buNone/>
            </a:pPr>
            <a:r>
              <a:rPr lang="en-US" sz="2600" i="1" dirty="0">
                <a:solidFill>
                  <a:srgbClr val="1A6B5A"/>
                </a:solidFill>
                <a:latin typeface="Yu Gothic UI" pitchFamily="34" charset="0"/>
                <a:ea typeface="Yu Gothic UI" pitchFamily="34" charset="-122"/>
                <a:cs typeface="Yu Gothic UI" pitchFamily="34" charset="-120"/>
              </a:rPr>
              <a:t>「自分は今、幸せなんだろうか」</a:t>
            </a:r>
            <a:endParaRPr lang="en-US" sz="2600" dirty="0"/>
          </a:p>
        </p:txBody>
      </p:sp>
      <p:sp>
        <p:nvSpPr>
          <p:cNvPr id="7" name="Text 4"/>
          <p:cNvSpPr/>
          <p:nvPr/>
        </p:nvSpPr>
        <p:spPr>
          <a:xfrm>
            <a:off x="731520" y="3108960"/>
            <a:ext cx="7680960" cy="1097280"/>
          </a:xfrm>
          <a:prstGeom prst="rect">
            <a:avLst/>
          </a:prstGeom>
          <a:noFill/>
          <a:ln/>
        </p:spPr>
        <p:txBody>
          <a:bodyPr wrap="square" lIns="0" tIns="0" rIns="0" bIns="0" rtlCol="0" anchor="ctr"/>
          <a:lstStyle/>
          <a:p>
            <a:pPr algn="l" indent="0" marL="0">
              <a:buNone/>
            </a:pPr>
            <a:r>
              <a:rPr lang="en-US" sz="2000" dirty="0">
                <a:solidFill>
                  <a:srgbClr val="34495E"/>
                </a:solidFill>
                <a:latin typeface="Yu Gothic UI" pitchFamily="34" charset="0"/>
                <a:ea typeface="Yu Gothic UI" pitchFamily="34" charset="-122"/>
                <a:cs typeface="Yu Gothic UI" pitchFamily="34" charset="-120"/>
              </a:rPr>
              <a:t>金曜の夜、一週間の仕事を終えてソファに腰を下ろしたとき</a:t>
            </a:r>
            <a:endParaRPr lang="en-US" sz="2000" dirty="0"/>
          </a:p>
          <a:p>
            <a:pPr algn="l" indent="0" marL="0">
              <a:buNone/>
            </a:pPr>
            <a:r>
              <a:rPr lang="en-US" sz="2000" dirty="0">
                <a:solidFill>
                  <a:srgbClr val="34495E"/>
                </a:solidFill>
                <a:latin typeface="Yu Gothic UI" pitchFamily="34" charset="0"/>
                <a:ea typeface="Yu Gothic UI" pitchFamily="34" charset="-122"/>
                <a:cs typeface="Yu Gothic UI" pitchFamily="34" charset="-120"/>
              </a:rPr>
              <a:t>ふと浮かぶ小さな疑問──それは特別なものではない</a:t>
            </a:r>
            <a:endParaRPr lang="en-US" sz="2000" dirty="0"/>
          </a:p>
        </p:txBody>
      </p:sp>
      <p:sp>
        <p:nvSpPr>
          <p:cNvPr id="8" name="Text 5"/>
          <p:cNvSpPr/>
          <p:nvPr/>
        </p:nvSpPr>
        <p:spPr>
          <a:xfrm>
            <a:off x="731520" y="4663440"/>
            <a:ext cx="1828800" cy="365760"/>
          </a:xfrm>
          <a:prstGeom prst="rect">
            <a:avLst/>
          </a:prstGeom>
          <a:noFill/>
          <a:ln/>
        </p:spPr>
        <p:txBody>
          <a:bodyPr wrap="square" lIns="0" tIns="0" rIns="0" bIns="0" rtlCol="0" anchor="ctr"/>
          <a:lstStyle/>
          <a:p>
            <a:pPr algn="l" indent="0" marL="0">
              <a:buNone/>
            </a:pPr>
            <a:r>
              <a:rPr lang="en-US" sz="1400" dirty="0">
                <a:solidFill>
                  <a:srgbClr val="7F8C8D"/>
                </a:solidFill>
                <a:latin typeface="Yu Gothic UI" pitchFamily="34" charset="0"/>
                <a:ea typeface="Yu Gothic UI" pitchFamily="34" charset="-122"/>
                <a:cs typeface="Yu Gothic UI" pitchFamily="34" charset="-120"/>
              </a:rPr>
              <a:t>1. 導入</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9"/>
        </a:solidFill>
      </p:bgPr>
    </p:bg>
    <p:spTree>
      <p:nvGrpSpPr>
        <p:cNvPr id="1" name=""/>
        <p:cNvGrpSpPr/>
        <p:nvPr/>
      </p:nvGrpSpPr>
      <p:grpSpPr>
        <a:xfrm>
          <a:off x="0" y="0"/>
          <a:ext cx="0" cy="0"/>
          <a:chOff x="0" y="0"/>
          <a:chExt cx="0" cy="0"/>
        </a:xfrm>
      </p:grpSpPr>
      <p:sp>
        <p:nvSpPr>
          <p:cNvPr id="2" name="Text 0"/>
          <p:cNvSpPr/>
          <p:nvPr/>
        </p:nvSpPr>
        <p:spPr>
          <a:xfrm>
            <a:off x="731520" y="365760"/>
            <a:ext cx="7680960" cy="731520"/>
          </a:xfrm>
          <a:prstGeom prst="rect">
            <a:avLst/>
          </a:prstGeom>
          <a:noFill/>
          <a:ln/>
        </p:spPr>
        <p:txBody>
          <a:bodyPr wrap="square" lIns="0" tIns="0" rIns="0" bIns="0" rtlCol="0" anchor="ctr"/>
          <a:lstStyle/>
          <a:p>
            <a:pPr algn="l" indent="0" marL="0">
              <a:buNone/>
            </a:pPr>
            <a:r>
              <a:rPr lang="en-US" sz="3200" b="1" dirty="0">
                <a:solidFill>
                  <a:srgbClr val="2C3E50"/>
                </a:solidFill>
                <a:latin typeface="Yu Gothic UI" pitchFamily="34" charset="0"/>
                <a:ea typeface="Yu Gothic UI" pitchFamily="34" charset="-122"/>
                <a:cs typeface="Yu Gothic UI" pitchFamily="34" charset="-120"/>
              </a:rPr>
              <a:t>人類がずっと考えてきたテーマ</a:t>
            </a:r>
            <a:endParaRPr lang="en-US" sz="3200" dirty="0"/>
          </a:p>
        </p:txBody>
      </p:sp>
      <p:pic>
        <p:nvPicPr>
          <p:cNvPr id="3" name="Image 0" descr="preencoded.png">    </p:cNvPr>
          <p:cNvPicPr>
            <a:picLocks noChangeAspect="1"/>
          </p:cNvPicPr>
          <p:nvPr/>
        </p:nvPicPr>
        <p:blipFill>
          <a:blip r:embed="rId1"/>
          <a:stretch>
            <a:fillRect/>
          </a:stretch>
        </p:blipFill>
        <p:spPr>
          <a:xfrm>
            <a:off x="7132320" y="457200"/>
            <a:ext cx="548640" cy="548640"/>
          </a:xfrm>
          <a:prstGeom prst="rect">
            <a:avLst/>
          </a:prstGeom>
        </p:spPr>
      </p:pic>
      <p:sp>
        <p:nvSpPr>
          <p:cNvPr id="4" name="Text 1"/>
          <p:cNvSpPr/>
          <p:nvPr/>
        </p:nvSpPr>
        <p:spPr>
          <a:xfrm>
            <a:off x="731520" y="1463040"/>
            <a:ext cx="7680960" cy="914400"/>
          </a:xfrm>
          <a:prstGeom prst="rect">
            <a:avLst/>
          </a:prstGeom>
          <a:noFill/>
          <a:ln/>
        </p:spPr>
        <p:txBody>
          <a:bodyPr wrap="square" lIns="0" tIns="0" rIns="0" bIns="0" rtlCol="0" anchor="ctr"/>
          <a:lstStyle/>
          <a:p>
            <a:pPr algn="l" indent="0" marL="0">
              <a:buNone/>
            </a:pPr>
            <a:r>
              <a:rPr lang="en-US" sz="2200" dirty="0">
                <a:solidFill>
                  <a:srgbClr val="34495E"/>
                </a:solidFill>
                <a:latin typeface="Yu Gothic UI" pitchFamily="34" charset="0"/>
                <a:ea typeface="Yu Gothic UI" pitchFamily="34" charset="-122"/>
                <a:cs typeface="Yu Gothic UI" pitchFamily="34" charset="-120"/>
              </a:rPr>
              <a:t>哲学者も、心理学者も、宗教家も</a:t>
            </a:r>
            <a:endParaRPr lang="en-US" sz="2200" dirty="0"/>
          </a:p>
          <a:p>
            <a:pPr algn="l" indent="0" marL="0">
              <a:buNone/>
            </a:pPr>
            <a:r>
              <a:rPr lang="en-US" sz="2200" dirty="0">
                <a:solidFill>
                  <a:srgbClr val="34495E"/>
                </a:solidFill>
                <a:latin typeface="Yu Gothic UI" pitchFamily="34" charset="0"/>
                <a:ea typeface="Yu Gothic UI" pitchFamily="34" charset="-122"/>
                <a:cs typeface="Yu Gothic UI" pitchFamily="34" charset="-120"/>
              </a:rPr>
              <a:t>この問いに向き合ってきた</a:t>
            </a:r>
            <a:endParaRPr lang="en-US" sz="2200" dirty="0"/>
          </a:p>
        </p:txBody>
      </p:sp>
      <p:sp>
        <p:nvSpPr>
          <p:cNvPr id="5" name="Shape 2"/>
          <p:cNvSpPr/>
          <p:nvPr/>
        </p:nvSpPr>
        <p:spPr>
          <a:xfrm>
            <a:off x="731520" y="2743200"/>
            <a:ext cx="7680960" cy="1280160"/>
          </a:xfrm>
          <a:prstGeom prst="rect">
            <a:avLst/>
          </a:prstGeom>
          <a:solidFill>
            <a:srgbClr val="E8F5E9"/>
          </a:solidFill>
          <a:ln/>
        </p:spPr>
      </p:sp>
      <p:sp>
        <p:nvSpPr>
          <p:cNvPr id="6" name="Text 3"/>
          <p:cNvSpPr/>
          <p:nvPr/>
        </p:nvSpPr>
        <p:spPr>
          <a:xfrm>
            <a:off x="1097280" y="2834640"/>
            <a:ext cx="6949440" cy="1097280"/>
          </a:xfrm>
          <a:prstGeom prst="rect">
            <a:avLst/>
          </a:prstGeom>
          <a:noFill/>
          <a:ln/>
        </p:spPr>
        <p:txBody>
          <a:bodyPr wrap="square" lIns="0" tIns="0" rIns="0" bIns="0" rtlCol="0" anchor="ctr"/>
          <a:lstStyle/>
          <a:p>
            <a:pPr algn="ctr" indent="0" marL="0">
              <a:buNone/>
            </a:pPr>
            <a:r>
              <a:rPr lang="en-US" sz="2400" b="1" dirty="0">
                <a:solidFill>
                  <a:srgbClr val="1A6B5A"/>
                </a:solidFill>
                <a:latin typeface="Yu Gothic UI" pitchFamily="34" charset="0"/>
                <a:ea typeface="Yu Gothic UI" pitchFamily="34" charset="-122"/>
                <a:cs typeface="Yu Gothic UI" pitchFamily="34" charset="-120"/>
              </a:rPr>
              <a:t>幸福は数学の公式のように</a:t>
            </a:r>
            <a:endParaRPr lang="en-US" sz="2400" dirty="0"/>
          </a:p>
          <a:p>
            <a:pPr algn="ctr" indent="0" marL="0">
              <a:buNone/>
            </a:pPr>
            <a:r>
              <a:rPr lang="en-US" sz="2400" b="1" dirty="0">
                <a:solidFill>
                  <a:srgbClr val="1A6B5A"/>
                </a:solidFill>
                <a:latin typeface="Yu Gothic UI" pitchFamily="34" charset="0"/>
                <a:ea typeface="Yu Gothic UI" pitchFamily="34" charset="-122"/>
                <a:cs typeface="Yu Gothic UI" pitchFamily="34" charset="-120"/>
              </a:rPr>
              <a:t>「これが正解」と示せるものではない</a:t>
            </a:r>
            <a:endParaRPr lang="en-US" sz="2400" dirty="0"/>
          </a:p>
        </p:txBody>
      </p:sp>
      <p:sp>
        <p:nvSpPr>
          <p:cNvPr id="7" name="Text 4"/>
          <p:cNvSpPr/>
          <p:nvPr/>
        </p:nvSpPr>
        <p:spPr>
          <a:xfrm>
            <a:off x="731520" y="4297680"/>
            <a:ext cx="7680960" cy="457200"/>
          </a:xfrm>
          <a:prstGeom prst="rect">
            <a:avLst/>
          </a:prstGeom>
          <a:noFill/>
          <a:ln/>
        </p:spPr>
        <p:txBody>
          <a:bodyPr wrap="square" lIns="0" tIns="0" rIns="0" bIns="0" rtlCol="0" anchor="ctr"/>
          <a:lstStyle/>
          <a:p>
            <a:pPr algn="l" indent="0" marL="0">
              <a:buNone/>
            </a:pPr>
            <a:r>
              <a:rPr lang="en-US" sz="1800" dirty="0">
                <a:solidFill>
                  <a:srgbClr val="7F8C8D"/>
                </a:solidFill>
                <a:latin typeface="Yu Gothic UI" pitchFamily="34" charset="0"/>
                <a:ea typeface="Yu Gothic UI" pitchFamily="34" charset="-122"/>
                <a:cs typeface="Yu Gothic UI" pitchFamily="34" charset="-120"/>
              </a:rPr>
              <a:t>だからこそ、さまざまな角度から幸福を眺めてみる</a:t>
            </a:r>
            <a:endParaRPr lang="en-US" sz="1800" dirty="0"/>
          </a:p>
        </p:txBody>
      </p:sp>
      <p:sp>
        <p:nvSpPr>
          <p:cNvPr id="8" name="Text 5"/>
          <p:cNvSpPr/>
          <p:nvPr/>
        </p:nvSpPr>
        <p:spPr>
          <a:xfrm>
            <a:off x="731520" y="4663440"/>
            <a:ext cx="1828800" cy="365760"/>
          </a:xfrm>
          <a:prstGeom prst="rect">
            <a:avLst/>
          </a:prstGeom>
          <a:noFill/>
          <a:ln/>
        </p:spPr>
        <p:txBody>
          <a:bodyPr wrap="square" lIns="0" tIns="0" rIns="0" bIns="0" rtlCol="0" anchor="ctr"/>
          <a:lstStyle/>
          <a:p>
            <a:pPr algn="l" indent="0" marL="0">
              <a:buNone/>
            </a:pPr>
            <a:r>
              <a:rPr lang="en-US" sz="1400" dirty="0">
                <a:solidFill>
                  <a:srgbClr val="7F8C8D"/>
                </a:solidFill>
                <a:latin typeface="Yu Gothic UI" pitchFamily="34" charset="0"/>
                <a:ea typeface="Yu Gothic UI" pitchFamily="34" charset="-122"/>
                <a:cs typeface="Yu Gothic UI" pitchFamily="34" charset="-120"/>
              </a:rPr>
              <a:t>1. 導入</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5276"/>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CC71"/>
          </a:solidFill>
          <a:ln/>
        </p:spPr>
      </p:sp>
      <p:sp>
        <p:nvSpPr>
          <p:cNvPr id="3" name="Text 1"/>
          <p:cNvSpPr/>
          <p:nvPr/>
        </p:nvSpPr>
        <p:spPr>
          <a:xfrm>
            <a:off x="731520" y="914400"/>
            <a:ext cx="1828800" cy="914400"/>
          </a:xfrm>
          <a:prstGeom prst="rect">
            <a:avLst/>
          </a:prstGeom>
          <a:noFill/>
          <a:ln/>
        </p:spPr>
        <p:txBody>
          <a:bodyPr wrap="square" lIns="0" tIns="0" rIns="0" bIns="0" rtlCol="0" anchor="ctr"/>
          <a:lstStyle/>
          <a:p>
            <a:pPr algn="l" indent="0" marL="0">
              <a:buNone/>
            </a:pPr>
            <a:r>
              <a:rPr lang="en-US" sz="6000" b="1" dirty="0">
                <a:solidFill>
                  <a:srgbClr val="2ECC71"/>
                </a:solidFill>
                <a:latin typeface="Yu Gothic UI" pitchFamily="34" charset="0"/>
                <a:ea typeface="Yu Gothic UI" pitchFamily="34" charset="-122"/>
                <a:cs typeface="Yu Gothic UI" pitchFamily="34" charset="-120"/>
              </a:rPr>
              <a:t>02</a:t>
            </a:r>
            <a:endParaRPr lang="en-US" sz="6000" dirty="0"/>
          </a:p>
        </p:txBody>
      </p:sp>
      <p:sp>
        <p:nvSpPr>
          <p:cNvPr id="4" name="Text 2"/>
          <p:cNvSpPr/>
          <p:nvPr/>
        </p:nvSpPr>
        <p:spPr>
          <a:xfrm>
            <a:off x="731520" y="2011680"/>
            <a:ext cx="7680960" cy="914400"/>
          </a:xfrm>
          <a:prstGeom prst="rect">
            <a:avLst/>
          </a:prstGeom>
          <a:noFill/>
          <a:ln/>
        </p:spPr>
        <p:txBody>
          <a:bodyPr wrap="square" lIns="0" tIns="0" rIns="0" bIns="0" rtlCol="0" anchor="ctr"/>
          <a:lstStyle/>
          <a:p>
            <a:pPr algn="l" indent="0" marL="0">
              <a:buNone/>
            </a:pPr>
            <a:r>
              <a:rPr lang="en-US" sz="3600" b="1" dirty="0">
                <a:solidFill>
                  <a:srgbClr val="FFFFFF"/>
                </a:solidFill>
                <a:latin typeface="Yu Gothic UI" pitchFamily="34" charset="0"/>
                <a:ea typeface="Yu Gothic UI" pitchFamily="34" charset="-122"/>
                <a:cs typeface="Yu Gothic UI" pitchFamily="34" charset="-120"/>
              </a:rPr>
              <a:t>幸福に関するよくある誤解</a:t>
            </a:r>
            <a:endParaRPr lang="en-US" sz="3600" dirty="0"/>
          </a:p>
        </p:txBody>
      </p:sp>
      <p:sp>
        <p:nvSpPr>
          <p:cNvPr id="5" name="Text 3"/>
          <p:cNvSpPr/>
          <p:nvPr/>
        </p:nvSpPr>
        <p:spPr>
          <a:xfrm>
            <a:off x="731520" y="3017520"/>
            <a:ext cx="7680960" cy="548640"/>
          </a:xfrm>
          <a:prstGeom prst="rect">
            <a:avLst/>
          </a:prstGeom>
          <a:noFill/>
          <a:ln/>
        </p:spPr>
        <p:txBody>
          <a:bodyPr wrap="square" lIns="0" tIns="0" rIns="0" bIns="0" rtlCol="0" anchor="ctr"/>
          <a:lstStyle/>
          <a:p>
            <a:pPr algn="l" indent="0" marL="0">
              <a:buNone/>
            </a:pPr>
            <a:r>
              <a:rPr lang="en-US" sz="2000" dirty="0">
                <a:solidFill>
                  <a:srgbClr val="2ECC71"/>
                </a:solidFill>
                <a:latin typeface="Yu Gothic UI" pitchFamily="34" charset="0"/>
                <a:ea typeface="Yu Gothic UI" pitchFamily="34" charset="-122"/>
                <a:cs typeface="Yu Gothic UI" pitchFamily="34" charset="-120"/>
              </a:rPr>
              <a:t>「手に入れれば幸せ」は本当か</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9"/>
        </a:solidFill>
      </p:bgPr>
    </p:bg>
    <p:spTree>
      <p:nvGrpSpPr>
        <p:cNvPr id="1" name=""/>
        <p:cNvGrpSpPr/>
        <p:nvPr/>
      </p:nvGrpSpPr>
      <p:grpSpPr>
        <a:xfrm>
          <a:off x="0" y="0"/>
          <a:ext cx="0" cy="0"/>
          <a:chOff x="0" y="0"/>
          <a:chExt cx="0" cy="0"/>
        </a:xfrm>
      </p:grpSpPr>
      <p:sp>
        <p:nvSpPr>
          <p:cNvPr id="2" name="Text 0"/>
          <p:cNvSpPr/>
          <p:nvPr/>
        </p:nvSpPr>
        <p:spPr>
          <a:xfrm>
            <a:off x="731520" y="365760"/>
            <a:ext cx="7680960" cy="731520"/>
          </a:xfrm>
          <a:prstGeom prst="rect">
            <a:avLst/>
          </a:prstGeom>
          <a:noFill/>
          <a:ln/>
        </p:spPr>
        <p:txBody>
          <a:bodyPr wrap="square" lIns="0" tIns="0" rIns="0" bIns="0" rtlCol="0" anchor="ctr"/>
          <a:lstStyle/>
          <a:p>
            <a:pPr algn="l" indent="0" marL="0">
              <a:buNone/>
            </a:pPr>
            <a:r>
              <a:rPr lang="en-US" sz="3200" b="1" dirty="0">
                <a:solidFill>
                  <a:srgbClr val="2C3E50"/>
                </a:solidFill>
                <a:latin typeface="Yu Gothic UI" pitchFamily="34" charset="0"/>
                <a:ea typeface="Yu Gothic UI" pitchFamily="34" charset="-122"/>
                <a:cs typeface="Yu Gothic UI" pitchFamily="34" charset="-120"/>
              </a:rPr>
              <a:t>多くの人が信じていること</a:t>
            </a:r>
            <a:endParaRPr lang="en-US" sz="3200" dirty="0"/>
          </a:p>
        </p:txBody>
      </p:sp>
      <p:sp>
        <p:nvSpPr>
          <p:cNvPr id="3" name="Shape 1"/>
          <p:cNvSpPr/>
          <p:nvPr/>
        </p:nvSpPr>
        <p:spPr>
          <a:xfrm>
            <a:off x="731520" y="1463040"/>
            <a:ext cx="2423160" cy="20116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4" name="Shape 2"/>
          <p:cNvSpPr/>
          <p:nvPr/>
        </p:nvSpPr>
        <p:spPr>
          <a:xfrm>
            <a:off x="731520" y="1463040"/>
            <a:ext cx="2423160" cy="54864"/>
          </a:xfrm>
          <a:prstGeom prst="rect">
            <a:avLst/>
          </a:prstGeom>
          <a:solidFill>
            <a:srgbClr val="E67E22"/>
          </a:solidFill>
          <a:ln/>
        </p:spPr>
      </p:sp>
      <p:sp>
        <p:nvSpPr>
          <p:cNvPr id="5" name="Text 3"/>
          <p:cNvSpPr/>
          <p:nvPr/>
        </p:nvSpPr>
        <p:spPr>
          <a:xfrm>
            <a:off x="914400" y="1737360"/>
            <a:ext cx="2057400" cy="1463040"/>
          </a:xfrm>
          <a:prstGeom prst="rect">
            <a:avLst/>
          </a:prstGeom>
          <a:noFill/>
          <a:ln/>
        </p:spPr>
        <p:txBody>
          <a:bodyPr wrap="square" lIns="0" tIns="0" rIns="0" bIns="0" rtlCol="0" anchor="ctr"/>
          <a:lstStyle/>
          <a:p>
            <a:pPr algn="ctr" indent="0" marL="0">
              <a:buNone/>
            </a:pPr>
            <a:r>
              <a:rPr lang="en-US" sz="1900" dirty="0">
                <a:solidFill>
                  <a:srgbClr val="34495E"/>
                </a:solidFill>
                <a:latin typeface="Yu Gothic UI" pitchFamily="34" charset="0"/>
                <a:ea typeface="Yu Gothic UI" pitchFamily="34" charset="-122"/>
                <a:cs typeface="Yu Gothic UI" pitchFamily="34" charset="-120"/>
              </a:rPr>
              <a:t>年収がもっと高ければ</a:t>
            </a:r>
            <a:endParaRPr lang="en-US" sz="1900" dirty="0"/>
          </a:p>
          <a:p>
            <a:pPr algn="ctr" indent="0" marL="0">
              <a:buNone/>
            </a:pPr>
            <a:r>
              <a:rPr lang="en-US" sz="1900" dirty="0">
                <a:solidFill>
                  <a:srgbClr val="34495E"/>
                </a:solidFill>
                <a:latin typeface="Yu Gothic UI" pitchFamily="34" charset="0"/>
                <a:ea typeface="Yu Gothic UI" pitchFamily="34" charset="-122"/>
                <a:cs typeface="Yu Gothic UI" pitchFamily="34" charset="-120"/>
              </a:rPr>
              <a:t>幸せなのに</a:t>
            </a:r>
            <a:endParaRPr lang="en-US" sz="1900" dirty="0"/>
          </a:p>
        </p:txBody>
      </p:sp>
      <p:sp>
        <p:nvSpPr>
          <p:cNvPr id="6" name="Shape 4"/>
          <p:cNvSpPr/>
          <p:nvPr/>
        </p:nvSpPr>
        <p:spPr>
          <a:xfrm>
            <a:off x="3429000" y="1463040"/>
            <a:ext cx="2423160" cy="20116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7" name="Shape 5"/>
          <p:cNvSpPr/>
          <p:nvPr/>
        </p:nvSpPr>
        <p:spPr>
          <a:xfrm>
            <a:off x="3429000" y="1463040"/>
            <a:ext cx="2423160" cy="54864"/>
          </a:xfrm>
          <a:prstGeom prst="rect">
            <a:avLst/>
          </a:prstGeom>
          <a:solidFill>
            <a:srgbClr val="E67E22"/>
          </a:solidFill>
          <a:ln/>
        </p:spPr>
      </p:sp>
      <p:sp>
        <p:nvSpPr>
          <p:cNvPr id="8" name="Text 6"/>
          <p:cNvSpPr/>
          <p:nvPr/>
        </p:nvSpPr>
        <p:spPr>
          <a:xfrm>
            <a:off x="3611880" y="1737360"/>
            <a:ext cx="2057400" cy="1463040"/>
          </a:xfrm>
          <a:prstGeom prst="rect">
            <a:avLst/>
          </a:prstGeom>
          <a:noFill/>
          <a:ln/>
        </p:spPr>
        <p:txBody>
          <a:bodyPr wrap="square" lIns="0" tIns="0" rIns="0" bIns="0" rtlCol="0" anchor="ctr"/>
          <a:lstStyle/>
          <a:p>
            <a:pPr algn="ctr" indent="0" marL="0">
              <a:buNone/>
            </a:pPr>
            <a:r>
              <a:rPr lang="en-US" sz="1900" dirty="0">
                <a:solidFill>
                  <a:srgbClr val="34495E"/>
                </a:solidFill>
                <a:latin typeface="Yu Gothic UI" pitchFamily="34" charset="0"/>
                <a:ea typeface="Yu Gothic UI" pitchFamily="34" charset="-122"/>
                <a:cs typeface="Yu Gothic UI" pitchFamily="34" charset="-120"/>
              </a:rPr>
              <a:t>あのポストに就ければ</a:t>
            </a:r>
            <a:endParaRPr lang="en-US" sz="1900" dirty="0"/>
          </a:p>
          <a:p>
            <a:pPr algn="ctr" indent="0" marL="0">
              <a:buNone/>
            </a:pPr>
            <a:r>
              <a:rPr lang="en-US" sz="1900" dirty="0">
                <a:solidFill>
                  <a:srgbClr val="34495E"/>
                </a:solidFill>
                <a:latin typeface="Yu Gothic UI" pitchFamily="34" charset="0"/>
                <a:ea typeface="Yu Gothic UI" pitchFamily="34" charset="-122"/>
                <a:cs typeface="Yu Gothic UI" pitchFamily="34" charset="-120"/>
              </a:rPr>
              <a:t>きっと満足できる</a:t>
            </a:r>
            <a:endParaRPr lang="en-US" sz="1900" dirty="0"/>
          </a:p>
        </p:txBody>
      </p:sp>
      <p:sp>
        <p:nvSpPr>
          <p:cNvPr id="9" name="Shape 7"/>
          <p:cNvSpPr/>
          <p:nvPr/>
        </p:nvSpPr>
        <p:spPr>
          <a:xfrm>
            <a:off x="6126480" y="1463040"/>
            <a:ext cx="2423160" cy="20116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0" name="Shape 8"/>
          <p:cNvSpPr/>
          <p:nvPr/>
        </p:nvSpPr>
        <p:spPr>
          <a:xfrm>
            <a:off x="6126480" y="1463040"/>
            <a:ext cx="2423160" cy="54864"/>
          </a:xfrm>
          <a:prstGeom prst="rect">
            <a:avLst/>
          </a:prstGeom>
          <a:solidFill>
            <a:srgbClr val="E67E22"/>
          </a:solidFill>
          <a:ln/>
        </p:spPr>
      </p:sp>
      <p:sp>
        <p:nvSpPr>
          <p:cNvPr id="11" name="Text 9"/>
          <p:cNvSpPr/>
          <p:nvPr/>
        </p:nvSpPr>
        <p:spPr>
          <a:xfrm>
            <a:off x="6309360" y="1737360"/>
            <a:ext cx="2057400" cy="1463040"/>
          </a:xfrm>
          <a:prstGeom prst="rect">
            <a:avLst/>
          </a:prstGeom>
          <a:noFill/>
          <a:ln/>
        </p:spPr>
        <p:txBody>
          <a:bodyPr wrap="square" lIns="0" tIns="0" rIns="0" bIns="0" rtlCol="0" anchor="ctr"/>
          <a:lstStyle/>
          <a:p>
            <a:pPr algn="ctr" indent="0" marL="0">
              <a:buNone/>
            </a:pPr>
            <a:r>
              <a:rPr lang="en-US" sz="1900" dirty="0">
                <a:solidFill>
                  <a:srgbClr val="34495E"/>
                </a:solidFill>
                <a:latin typeface="Yu Gothic UI" pitchFamily="34" charset="0"/>
                <a:ea typeface="Yu Gothic UI" pitchFamily="34" charset="-122"/>
                <a:cs typeface="Yu Gothic UI" pitchFamily="34" charset="-120"/>
              </a:rPr>
              <a:t>もっといい家に住めたら</a:t>
            </a:r>
            <a:endParaRPr lang="en-US" sz="1900" dirty="0"/>
          </a:p>
          <a:p>
            <a:pPr algn="ctr" indent="0" marL="0">
              <a:buNone/>
            </a:pPr>
            <a:r>
              <a:rPr lang="en-US" sz="1900" dirty="0">
                <a:solidFill>
                  <a:srgbClr val="34495E"/>
                </a:solidFill>
                <a:latin typeface="Yu Gothic UI" pitchFamily="34" charset="0"/>
                <a:ea typeface="Yu Gothic UI" pitchFamily="34" charset="-122"/>
                <a:cs typeface="Yu Gothic UI" pitchFamily="34" charset="-120"/>
              </a:rPr>
              <a:t>毎日が楽しいはず</a:t>
            </a:r>
            <a:endParaRPr lang="en-US" sz="1900" dirty="0"/>
          </a:p>
        </p:txBody>
      </p:sp>
      <p:sp>
        <p:nvSpPr>
          <p:cNvPr id="12" name="Text 10"/>
          <p:cNvSpPr/>
          <p:nvPr/>
        </p:nvSpPr>
        <p:spPr>
          <a:xfrm>
            <a:off x="731520" y="3840480"/>
            <a:ext cx="7680960" cy="731520"/>
          </a:xfrm>
          <a:prstGeom prst="rect">
            <a:avLst/>
          </a:prstGeom>
          <a:noFill/>
          <a:ln/>
        </p:spPr>
        <p:txBody>
          <a:bodyPr wrap="square" lIns="0" tIns="0" rIns="0" bIns="0" rtlCol="0" anchor="ctr"/>
          <a:lstStyle/>
          <a:p>
            <a:pPr algn="l" indent="0" marL="0">
              <a:buNone/>
            </a:pPr>
            <a:r>
              <a:rPr lang="en-US" sz="2000" dirty="0">
                <a:solidFill>
                  <a:srgbClr val="34495E"/>
                </a:solidFill>
                <a:latin typeface="Yu Gothic UI" pitchFamily="34" charset="0"/>
                <a:ea typeface="Yu Gothic UI" pitchFamily="34" charset="-122"/>
                <a:cs typeface="Yu Gothic UI" pitchFamily="34" charset="-120"/>
              </a:rPr>
              <a:t>お金、地位、成功──これらを手に入れれば幸せになれるという信念は根強い</a:t>
            </a:r>
            <a:endParaRPr lang="en-US" sz="2000" dirty="0"/>
          </a:p>
        </p:txBody>
      </p:sp>
      <p:sp>
        <p:nvSpPr>
          <p:cNvPr id="13" name="Text 11"/>
          <p:cNvSpPr/>
          <p:nvPr/>
        </p:nvSpPr>
        <p:spPr>
          <a:xfrm>
            <a:off x="731520" y="4663440"/>
            <a:ext cx="2743200" cy="365760"/>
          </a:xfrm>
          <a:prstGeom prst="rect">
            <a:avLst/>
          </a:prstGeom>
          <a:noFill/>
          <a:ln/>
        </p:spPr>
        <p:txBody>
          <a:bodyPr wrap="square" lIns="0" tIns="0" rIns="0" bIns="0" rtlCol="0" anchor="ctr"/>
          <a:lstStyle/>
          <a:p>
            <a:pPr algn="l" indent="0" marL="0">
              <a:buNone/>
            </a:pPr>
            <a:r>
              <a:rPr lang="en-US" sz="1400" dirty="0">
                <a:solidFill>
                  <a:srgbClr val="7F8C8D"/>
                </a:solidFill>
                <a:latin typeface="Yu Gothic UI" pitchFamily="34" charset="0"/>
                <a:ea typeface="Yu Gothic UI" pitchFamily="34" charset="-122"/>
                <a:cs typeface="Yu Gothic UI" pitchFamily="34" charset="-120"/>
              </a:rPr>
              <a:t>2. よくある誤解</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9"/>
        </a:solidFill>
      </p:bgPr>
    </p:bg>
    <p:spTree>
      <p:nvGrpSpPr>
        <p:cNvPr id="1" name=""/>
        <p:cNvGrpSpPr/>
        <p:nvPr/>
      </p:nvGrpSpPr>
      <p:grpSpPr>
        <a:xfrm>
          <a:off x="0" y="0"/>
          <a:ext cx="0" cy="0"/>
          <a:chOff x="0" y="0"/>
          <a:chExt cx="0" cy="0"/>
        </a:xfrm>
      </p:grpSpPr>
      <p:sp>
        <p:nvSpPr>
          <p:cNvPr id="2" name="Text 0"/>
          <p:cNvSpPr/>
          <p:nvPr/>
        </p:nvSpPr>
        <p:spPr>
          <a:xfrm>
            <a:off x="731520" y="365760"/>
            <a:ext cx="7680960" cy="731520"/>
          </a:xfrm>
          <a:prstGeom prst="rect">
            <a:avLst/>
          </a:prstGeom>
          <a:noFill/>
          <a:ln/>
        </p:spPr>
        <p:txBody>
          <a:bodyPr wrap="square" lIns="0" tIns="0" rIns="0" bIns="0" rtlCol="0" anchor="ctr"/>
          <a:lstStyle/>
          <a:p>
            <a:pPr algn="l" indent="0" marL="0">
              <a:buNone/>
            </a:pPr>
            <a:r>
              <a:rPr lang="en-US" sz="3200" b="1" dirty="0">
                <a:solidFill>
                  <a:srgbClr val="2C3E50"/>
                </a:solidFill>
                <a:latin typeface="Yu Gothic UI" pitchFamily="34" charset="0"/>
                <a:ea typeface="Yu Gothic UI" pitchFamily="34" charset="-122"/>
                <a:cs typeface="Yu Gothic UI" pitchFamily="34" charset="-120"/>
              </a:rPr>
              <a:t>年収と幸福感の関係</a:t>
            </a:r>
            <a:endParaRPr lang="en-US" sz="3200" dirty="0"/>
          </a:p>
        </p:txBody>
      </p:sp>
      <p:pic>
        <p:nvPicPr>
          <p:cNvPr id="3" name="Image 0" descr="preencoded.png">    </p:cNvPr>
          <p:cNvPicPr>
            <a:picLocks noChangeAspect="1"/>
          </p:cNvPicPr>
          <p:nvPr/>
        </p:nvPicPr>
        <p:blipFill>
          <a:blip r:embed="rId1"/>
          <a:stretch>
            <a:fillRect/>
          </a:stretch>
        </p:blipFill>
        <p:spPr>
          <a:xfrm>
            <a:off x="731520" y="1463040"/>
            <a:ext cx="457200" cy="457200"/>
          </a:xfrm>
          <a:prstGeom prst="rect">
            <a:avLst/>
          </a:prstGeom>
        </p:spPr>
      </p:pic>
      <p:sp>
        <p:nvSpPr>
          <p:cNvPr id="4" name="Text 1"/>
          <p:cNvSpPr/>
          <p:nvPr/>
        </p:nvSpPr>
        <p:spPr>
          <a:xfrm>
            <a:off x="1371600" y="1417320"/>
            <a:ext cx="3657600" cy="548640"/>
          </a:xfrm>
          <a:prstGeom prst="rect">
            <a:avLst/>
          </a:prstGeom>
          <a:noFill/>
          <a:ln/>
        </p:spPr>
        <p:txBody>
          <a:bodyPr wrap="square" lIns="0" tIns="0" rIns="0" bIns="0" rtlCol="0" anchor="ctr"/>
          <a:lstStyle/>
          <a:p>
            <a:pPr algn="l" indent="0" marL="0">
              <a:buNone/>
            </a:pPr>
            <a:r>
              <a:rPr lang="en-US" sz="2000" b="1" dirty="0">
                <a:solidFill>
                  <a:srgbClr val="1A6B5A"/>
                </a:solidFill>
                <a:latin typeface="Yu Gothic UI" pitchFamily="34" charset="0"/>
                <a:ea typeface="Yu Gothic UI" pitchFamily="34" charset="-122"/>
                <a:cs typeface="Yu Gothic UI" pitchFamily="34" charset="-120"/>
              </a:rPr>
              <a:t>カーネマンらの研究</a:t>
            </a:r>
            <a:endParaRPr lang="en-US" sz="2000" dirty="0"/>
          </a:p>
        </p:txBody>
      </p:sp>
      <p:sp>
        <p:nvSpPr>
          <p:cNvPr id="5" name="Shape 2"/>
          <p:cNvSpPr/>
          <p:nvPr/>
        </p:nvSpPr>
        <p:spPr>
          <a:xfrm>
            <a:off x="731520" y="2194560"/>
            <a:ext cx="7680960" cy="18288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6" name="Shape 3"/>
          <p:cNvSpPr/>
          <p:nvPr/>
        </p:nvSpPr>
        <p:spPr>
          <a:xfrm>
            <a:off x="731520" y="2194560"/>
            <a:ext cx="73152" cy="1828800"/>
          </a:xfrm>
          <a:prstGeom prst="rect">
            <a:avLst/>
          </a:prstGeom>
          <a:solidFill>
            <a:srgbClr val="2ECC71"/>
          </a:solidFill>
          <a:ln/>
        </p:spPr>
      </p:sp>
      <p:sp>
        <p:nvSpPr>
          <p:cNvPr id="7" name="Text 4"/>
          <p:cNvSpPr/>
          <p:nvPr/>
        </p:nvSpPr>
        <p:spPr>
          <a:xfrm>
            <a:off x="1097280" y="2286000"/>
            <a:ext cx="6949440" cy="914400"/>
          </a:xfrm>
          <a:prstGeom prst="rect">
            <a:avLst/>
          </a:prstGeom>
          <a:noFill/>
          <a:ln/>
        </p:spPr>
        <p:txBody>
          <a:bodyPr wrap="square" lIns="0" tIns="0" rIns="0" bIns="0" rtlCol="0" anchor="ctr"/>
          <a:lstStyle/>
          <a:p>
            <a:pPr algn="l" indent="0" marL="0">
              <a:buNone/>
            </a:pPr>
            <a:r>
              <a:rPr lang="en-US" sz="2400" b="1" dirty="0">
                <a:solidFill>
                  <a:srgbClr val="2C3E50"/>
                </a:solidFill>
                <a:latin typeface="Yu Gothic UI" pitchFamily="34" charset="0"/>
                <a:ea typeface="Yu Gothic UI" pitchFamily="34" charset="-122"/>
                <a:cs typeface="Yu Gothic UI" pitchFamily="34" charset="-120"/>
              </a:rPr>
              <a:t>年収が一定の水準を超えると</a:t>
            </a:r>
            <a:endParaRPr lang="en-US" sz="2400" dirty="0"/>
          </a:p>
          <a:p>
            <a:pPr algn="l" indent="0" marL="0">
              <a:buNone/>
            </a:pPr>
            <a:r>
              <a:rPr lang="en-US" sz="2400" b="1" dirty="0">
                <a:solidFill>
                  <a:srgbClr val="2C3E50"/>
                </a:solidFill>
                <a:latin typeface="Yu Gothic UI" pitchFamily="34" charset="0"/>
                <a:ea typeface="Yu Gothic UI" pitchFamily="34" charset="-122"/>
                <a:cs typeface="Yu Gothic UI" pitchFamily="34" charset="-120"/>
              </a:rPr>
              <a:t>日々の感情的な幸福感は頭打ちになる</a:t>
            </a:r>
            <a:endParaRPr lang="en-US" sz="2400" dirty="0"/>
          </a:p>
        </p:txBody>
      </p:sp>
      <p:sp>
        <p:nvSpPr>
          <p:cNvPr id="8" name="Text 5"/>
          <p:cNvSpPr/>
          <p:nvPr/>
        </p:nvSpPr>
        <p:spPr>
          <a:xfrm>
            <a:off x="1097280" y="3200400"/>
            <a:ext cx="6949440" cy="731520"/>
          </a:xfrm>
          <a:prstGeom prst="rect">
            <a:avLst/>
          </a:prstGeom>
          <a:noFill/>
          <a:ln/>
        </p:spPr>
        <p:txBody>
          <a:bodyPr wrap="square" lIns="0" tIns="0" rIns="0" bIns="0" rtlCol="0" anchor="ctr"/>
          <a:lstStyle/>
          <a:p>
            <a:pPr algn="l" indent="0" marL="0">
              <a:buNone/>
            </a:pPr>
            <a:r>
              <a:rPr lang="en-US" sz="1800" dirty="0">
                <a:solidFill>
                  <a:srgbClr val="34495E"/>
                </a:solidFill>
                <a:latin typeface="Yu Gothic UI" pitchFamily="34" charset="0"/>
                <a:ea typeface="Yu Gothic UI" pitchFamily="34" charset="-122"/>
                <a:cs typeface="Yu Gothic UI" pitchFamily="34" charset="-120"/>
              </a:rPr>
              <a:t>生活の不安がなくなるレベルまでは収入と幸福は連動する</a:t>
            </a:r>
            <a:endParaRPr lang="en-US" sz="1800" dirty="0"/>
          </a:p>
          <a:p>
            <a:pPr algn="l" indent="0" marL="0">
              <a:buNone/>
            </a:pPr>
            <a:r>
              <a:rPr lang="en-US" sz="1800" dirty="0">
                <a:solidFill>
                  <a:srgbClr val="34495E"/>
                </a:solidFill>
                <a:latin typeface="Yu Gothic UI" pitchFamily="34" charset="0"/>
                <a:ea typeface="Yu Gothic UI" pitchFamily="34" charset="-122"/>
                <a:cs typeface="Yu Gothic UI" pitchFamily="34" charset="-120"/>
              </a:rPr>
              <a:t>しかし、それ以上は必ずしも比例しない</a:t>
            </a:r>
            <a:endParaRPr lang="en-US" sz="1800" dirty="0"/>
          </a:p>
        </p:txBody>
      </p:sp>
      <p:sp>
        <p:nvSpPr>
          <p:cNvPr id="9" name="Text 6"/>
          <p:cNvSpPr/>
          <p:nvPr/>
        </p:nvSpPr>
        <p:spPr>
          <a:xfrm>
            <a:off x="731520" y="4663440"/>
            <a:ext cx="2743200" cy="365760"/>
          </a:xfrm>
          <a:prstGeom prst="rect">
            <a:avLst/>
          </a:prstGeom>
          <a:noFill/>
          <a:ln/>
        </p:spPr>
        <p:txBody>
          <a:bodyPr wrap="square" lIns="0" tIns="0" rIns="0" bIns="0" rtlCol="0" anchor="ctr"/>
          <a:lstStyle/>
          <a:p>
            <a:pPr algn="l" indent="0" marL="0">
              <a:buNone/>
            </a:pPr>
            <a:r>
              <a:rPr lang="en-US" sz="1400" dirty="0">
                <a:solidFill>
                  <a:srgbClr val="7F8C8D"/>
                </a:solidFill>
                <a:latin typeface="Yu Gothic UI" pitchFamily="34" charset="0"/>
                <a:ea typeface="Yu Gothic UI" pitchFamily="34" charset="-122"/>
                <a:cs typeface="Yu Gothic UI" pitchFamily="34" charset="-120"/>
              </a:rPr>
              <a:t>2. よくある誤解</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9"/>
        </a:solidFill>
      </p:bgPr>
    </p:bg>
    <p:spTree>
      <p:nvGrpSpPr>
        <p:cNvPr id="1" name=""/>
        <p:cNvGrpSpPr/>
        <p:nvPr/>
      </p:nvGrpSpPr>
      <p:grpSpPr>
        <a:xfrm>
          <a:off x="0" y="0"/>
          <a:ext cx="0" cy="0"/>
          <a:chOff x="0" y="0"/>
          <a:chExt cx="0" cy="0"/>
        </a:xfrm>
      </p:grpSpPr>
      <p:sp>
        <p:nvSpPr>
          <p:cNvPr id="2" name="Text 0"/>
          <p:cNvSpPr/>
          <p:nvPr/>
        </p:nvSpPr>
        <p:spPr>
          <a:xfrm>
            <a:off x="731520" y="365760"/>
            <a:ext cx="7680960" cy="731520"/>
          </a:xfrm>
          <a:prstGeom prst="rect">
            <a:avLst/>
          </a:prstGeom>
          <a:noFill/>
          <a:ln/>
        </p:spPr>
        <p:txBody>
          <a:bodyPr wrap="square" lIns="0" tIns="0" rIns="0" bIns="0" rtlCol="0" anchor="ctr"/>
          <a:lstStyle/>
          <a:p>
            <a:pPr algn="l" indent="0" marL="0">
              <a:buNone/>
            </a:pPr>
            <a:r>
              <a:rPr lang="en-US" sz="2800" b="1" dirty="0">
                <a:solidFill>
                  <a:srgbClr val="2C3E50"/>
                </a:solidFill>
                <a:latin typeface="Yu Gothic UI" pitchFamily="34" charset="0"/>
                <a:ea typeface="Yu Gothic UI" pitchFamily="34" charset="-122"/>
                <a:cs typeface="Yu Gothic UI" pitchFamily="34" charset="-120"/>
              </a:rPr>
              <a:t>快楽の踏み車（ヘドニック・トレッドミル）</a:t>
            </a:r>
            <a:endParaRPr lang="en-US" sz="2800" dirty="0"/>
          </a:p>
        </p:txBody>
      </p:sp>
      <p:sp>
        <p:nvSpPr>
          <p:cNvPr id="3" name="Shape 1"/>
          <p:cNvSpPr/>
          <p:nvPr/>
        </p:nvSpPr>
        <p:spPr>
          <a:xfrm>
            <a:off x="457200" y="1371600"/>
            <a:ext cx="1828800" cy="128016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4" name="Text 2"/>
          <p:cNvSpPr/>
          <p:nvPr/>
        </p:nvSpPr>
        <p:spPr>
          <a:xfrm>
            <a:off x="548640" y="1463040"/>
            <a:ext cx="1645920" cy="1097280"/>
          </a:xfrm>
          <a:prstGeom prst="rect">
            <a:avLst/>
          </a:prstGeom>
          <a:noFill/>
          <a:ln/>
        </p:spPr>
        <p:txBody>
          <a:bodyPr wrap="square" lIns="0" tIns="0" rIns="0" bIns="0" rtlCol="0" anchor="ctr"/>
          <a:lstStyle/>
          <a:p>
            <a:pPr algn="ctr" indent="0" marL="0">
              <a:buNone/>
            </a:pPr>
            <a:r>
              <a:rPr lang="en-US" sz="1800" b="1" dirty="0">
                <a:solidFill>
                  <a:srgbClr val="2C3E50"/>
                </a:solidFill>
                <a:latin typeface="Yu Gothic UI" pitchFamily="34" charset="0"/>
                <a:ea typeface="Yu Gothic UI" pitchFamily="34" charset="-122"/>
                <a:cs typeface="Yu Gothic UI" pitchFamily="34" charset="-120"/>
              </a:rPr>
              <a:t>新しいものを</a:t>
            </a:r>
            <a:endParaRPr lang="en-US" sz="1800" dirty="0"/>
          </a:p>
          <a:p>
            <a:pPr algn="ctr" indent="0" marL="0">
              <a:buNone/>
            </a:pPr>
            <a:r>
              <a:rPr lang="en-US" sz="1800" b="1" dirty="0">
                <a:solidFill>
                  <a:srgbClr val="2C3E50"/>
                </a:solidFill>
                <a:latin typeface="Yu Gothic UI" pitchFamily="34" charset="0"/>
                <a:ea typeface="Yu Gothic UI" pitchFamily="34" charset="-122"/>
                <a:cs typeface="Yu Gothic UI" pitchFamily="34" charset="-120"/>
              </a:rPr>
              <a:t>手に入れる</a:t>
            </a:r>
            <a:endParaRPr lang="en-US" sz="1800" dirty="0"/>
          </a:p>
        </p:txBody>
      </p:sp>
      <p:sp>
        <p:nvSpPr>
          <p:cNvPr id="5" name="Text 3"/>
          <p:cNvSpPr/>
          <p:nvPr/>
        </p:nvSpPr>
        <p:spPr>
          <a:xfrm>
            <a:off x="2286000" y="1554480"/>
            <a:ext cx="365760" cy="914400"/>
          </a:xfrm>
          <a:prstGeom prst="rect">
            <a:avLst/>
          </a:prstGeom>
          <a:noFill/>
          <a:ln/>
        </p:spPr>
        <p:txBody>
          <a:bodyPr wrap="square" lIns="0" tIns="0" rIns="0" bIns="0" rtlCol="0" anchor="ctr"/>
          <a:lstStyle/>
          <a:p>
            <a:pPr algn="ctr" indent="0" marL="0">
              <a:buNone/>
            </a:pPr>
            <a:r>
              <a:rPr lang="en-US" sz="2800" b="1" dirty="0">
                <a:solidFill>
                  <a:srgbClr val="1A6B5A"/>
                </a:solidFill>
                <a:latin typeface="Yu Gothic UI" pitchFamily="34" charset="0"/>
                <a:ea typeface="Yu Gothic UI" pitchFamily="34" charset="-122"/>
                <a:cs typeface="Yu Gothic UI" pitchFamily="34" charset="-120"/>
              </a:rPr>
              <a:t>→</a:t>
            </a:r>
            <a:endParaRPr lang="en-US" sz="2800" dirty="0"/>
          </a:p>
        </p:txBody>
      </p:sp>
      <p:sp>
        <p:nvSpPr>
          <p:cNvPr id="6" name="Shape 4"/>
          <p:cNvSpPr/>
          <p:nvPr/>
        </p:nvSpPr>
        <p:spPr>
          <a:xfrm>
            <a:off x="2651760" y="1371600"/>
            <a:ext cx="1828800" cy="128016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7" name="Text 5"/>
          <p:cNvSpPr/>
          <p:nvPr/>
        </p:nvSpPr>
        <p:spPr>
          <a:xfrm>
            <a:off x="2743200" y="1463040"/>
            <a:ext cx="1645920" cy="1097280"/>
          </a:xfrm>
          <a:prstGeom prst="rect">
            <a:avLst/>
          </a:prstGeom>
          <a:noFill/>
          <a:ln/>
        </p:spPr>
        <p:txBody>
          <a:bodyPr wrap="square" lIns="0" tIns="0" rIns="0" bIns="0" rtlCol="0" anchor="ctr"/>
          <a:lstStyle/>
          <a:p>
            <a:pPr algn="ctr" indent="0" marL="0">
              <a:buNone/>
            </a:pPr>
            <a:r>
              <a:rPr lang="en-US" sz="1800" b="1" dirty="0">
                <a:solidFill>
                  <a:srgbClr val="2C3E50"/>
                </a:solidFill>
                <a:latin typeface="Yu Gothic UI" pitchFamily="34" charset="0"/>
                <a:ea typeface="Yu Gothic UI" pitchFamily="34" charset="-122"/>
                <a:cs typeface="Yu Gothic UI" pitchFamily="34" charset="-120"/>
              </a:rPr>
              <a:t>喜びを感じる</a:t>
            </a:r>
            <a:endParaRPr lang="en-US" sz="1800" dirty="0"/>
          </a:p>
        </p:txBody>
      </p:sp>
      <p:sp>
        <p:nvSpPr>
          <p:cNvPr id="8" name="Text 6"/>
          <p:cNvSpPr/>
          <p:nvPr/>
        </p:nvSpPr>
        <p:spPr>
          <a:xfrm>
            <a:off x="4480560" y="1554480"/>
            <a:ext cx="365760" cy="914400"/>
          </a:xfrm>
          <a:prstGeom prst="rect">
            <a:avLst/>
          </a:prstGeom>
          <a:noFill/>
          <a:ln/>
        </p:spPr>
        <p:txBody>
          <a:bodyPr wrap="square" lIns="0" tIns="0" rIns="0" bIns="0" rtlCol="0" anchor="ctr"/>
          <a:lstStyle/>
          <a:p>
            <a:pPr algn="ctr" indent="0" marL="0">
              <a:buNone/>
            </a:pPr>
            <a:r>
              <a:rPr lang="en-US" sz="2800" b="1" dirty="0">
                <a:solidFill>
                  <a:srgbClr val="1A6B5A"/>
                </a:solidFill>
                <a:latin typeface="Yu Gothic UI" pitchFamily="34" charset="0"/>
                <a:ea typeface="Yu Gothic UI" pitchFamily="34" charset="-122"/>
                <a:cs typeface="Yu Gothic UI" pitchFamily="34" charset="-120"/>
              </a:rPr>
              <a:t>→</a:t>
            </a:r>
            <a:endParaRPr lang="en-US" sz="2800" dirty="0"/>
          </a:p>
        </p:txBody>
      </p:sp>
      <p:sp>
        <p:nvSpPr>
          <p:cNvPr id="9" name="Shape 7"/>
          <p:cNvSpPr/>
          <p:nvPr/>
        </p:nvSpPr>
        <p:spPr>
          <a:xfrm>
            <a:off x="4846320" y="1371600"/>
            <a:ext cx="1828800" cy="128016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0" name="Text 8"/>
          <p:cNvSpPr/>
          <p:nvPr/>
        </p:nvSpPr>
        <p:spPr>
          <a:xfrm>
            <a:off x="4937760" y="1463040"/>
            <a:ext cx="1645920" cy="1097280"/>
          </a:xfrm>
          <a:prstGeom prst="rect">
            <a:avLst/>
          </a:prstGeom>
          <a:noFill/>
          <a:ln/>
        </p:spPr>
        <p:txBody>
          <a:bodyPr wrap="square" lIns="0" tIns="0" rIns="0" bIns="0" rtlCol="0" anchor="ctr"/>
          <a:lstStyle/>
          <a:p>
            <a:pPr algn="ctr" indent="0" marL="0">
              <a:buNone/>
            </a:pPr>
            <a:r>
              <a:rPr lang="en-US" sz="1800" b="1" dirty="0">
                <a:solidFill>
                  <a:srgbClr val="2C3E50"/>
                </a:solidFill>
                <a:latin typeface="Yu Gothic UI" pitchFamily="34" charset="0"/>
                <a:ea typeface="Yu Gothic UI" pitchFamily="34" charset="-122"/>
                <a:cs typeface="Yu Gothic UI" pitchFamily="34" charset="-120"/>
              </a:rPr>
              <a:t>すぐに慣れる</a:t>
            </a:r>
            <a:endParaRPr lang="en-US" sz="1800" dirty="0"/>
          </a:p>
        </p:txBody>
      </p:sp>
      <p:sp>
        <p:nvSpPr>
          <p:cNvPr id="11" name="Text 9"/>
          <p:cNvSpPr/>
          <p:nvPr/>
        </p:nvSpPr>
        <p:spPr>
          <a:xfrm>
            <a:off x="6675120" y="1554480"/>
            <a:ext cx="365760" cy="914400"/>
          </a:xfrm>
          <a:prstGeom prst="rect">
            <a:avLst/>
          </a:prstGeom>
          <a:noFill/>
          <a:ln/>
        </p:spPr>
        <p:txBody>
          <a:bodyPr wrap="square" lIns="0" tIns="0" rIns="0" bIns="0" rtlCol="0" anchor="ctr"/>
          <a:lstStyle/>
          <a:p>
            <a:pPr algn="ctr" indent="0" marL="0">
              <a:buNone/>
            </a:pPr>
            <a:r>
              <a:rPr lang="en-US" sz="2800" b="1" dirty="0">
                <a:solidFill>
                  <a:srgbClr val="1A6B5A"/>
                </a:solidFill>
                <a:latin typeface="Yu Gothic UI" pitchFamily="34" charset="0"/>
                <a:ea typeface="Yu Gothic UI" pitchFamily="34" charset="-122"/>
                <a:cs typeface="Yu Gothic UI" pitchFamily="34" charset="-120"/>
              </a:rPr>
              <a:t>→</a:t>
            </a:r>
            <a:endParaRPr lang="en-US" sz="2800" dirty="0"/>
          </a:p>
        </p:txBody>
      </p:sp>
      <p:sp>
        <p:nvSpPr>
          <p:cNvPr id="12" name="Shape 10"/>
          <p:cNvSpPr/>
          <p:nvPr/>
        </p:nvSpPr>
        <p:spPr>
          <a:xfrm>
            <a:off x="7040880" y="1371600"/>
            <a:ext cx="1828800" cy="1280160"/>
          </a:xfrm>
          <a:prstGeom prst="rect">
            <a:avLst/>
          </a:prstGeom>
          <a:solidFill>
            <a:srgbClr val="FDE8D0"/>
          </a:solidFill>
          <a:ln/>
          <a:effectLst>
            <a:outerShdw sx="100000" sy="100000" kx="0" ky="0" algn="bl" rotWithShape="0" blurRad="76200" dist="25400" dir="8100000">
              <a:srgbClr val="000000">
                <a:alpha val="10000"/>
              </a:srgbClr>
            </a:outerShdw>
          </a:effectLst>
        </p:spPr>
      </p:sp>
      <p:sp>
        <p:nvSpPr>
          <p:cNvPr id="13" name="Text 11"/>
          <p:cNvSpPr/>
          <p:nvPr/>
        </p:nvSpPr>
        <p:spPr>
          <a:xfrm>
            <a:off x="7132320" y="1463040"/>
            <a:ext cx="1645920" cy="1097280"/>
          </a:xfrm>
          <a:prstGeom prst="rect">
            <a:avLst/>
          </a:prstGeom>
          <a:noFill/>
          <a:ln/>
        </p:spPr>
        <p:txBody>
          <a:bodyPr wrap="square" lIns="0" tIns="0" rIns="0" bIns="0" rtlCol="0" anchor="ctr"/>
          <a:lstStyle/>
          <a:p>
            <a:pPr algn="ctr" indent="0" marL="0">
              <a:buNone/>
            </a:pPr>
            <a:r>
              <a:rPr lang="en-US" sz="1800" b="1" dirty="0">
                <a:solidFill>
                  <a:srgbClr val="E67E22"/>
                </a:solidFill>
                <a:latin typeface="Yu Gothic UI" pitchFamily="34" charset="0"/>
                <a:ea typeface="Yu Gothic UI" pitchFamily="34" charset="-122"/>
                <a:cs typeface="Yu Gothic UI" pitchFamily="34" charset="-120"/>
              </a:rPr>
              <a:t>次の「もっと」を</a:t>
            </a:r>
            <a:endParaRPr lang="en-US" sz="1800" dirty="0"/>
          </a:p>
          <a:p>
            <a:pPr algn="ctr" indent="0" marL="0">
              <a:buNone/>
            </a:pPr>
            <a:r>
              <a:rPr lang="en-US" sz="1800" b="1" dirty="0">
                <a:solidFill>
                  <a:srgbClr val="E67E22"/>
                </a:solidFill>
                <a:latin typeface="Yu Gothic UI" pitchFamily="34" charset="0"/>
                <a:ea typeface="Yu Gothic UI" pitchFamily="34" charset="-122"/>
                <a:cs typeface="Yu Gothic UI" pitchFamily="34" charset="-120"/>
              </a:rPr>
              <a:t>求める</a:t>
            </a:r>
            <a:endParaRPr lang="en-US" sz="1800" dirty="0"/>
          </a:p>
        </p:txBody>
      </p:sp>
      <p:sp>
        <p:nvSpPr>
          <p:cNvPr id="14" name="Shape 12"/>
          <p:cNvSpPr/>
          <p:nvPr/>
        </p:nvSpPr>
        <p:spPr>
          <a:xfrm>
            <a:off x="731520" y="3108960"/>
            <a:ext cx="7680960" cy="1280160"/>
          </a:xfrm>
          <a:prstGeom prst="rect">
            <a:avLst/>
          </a:prstGeom>
          <a:solidFill>
            <a:srgbClr val="E8F5E9"/>
          </a:solidFill>
          <a:ln/>
        </p:spPr>
      </p:sp>
      <p:sp>
        <p:nvSpPr>
          <p:cNvPr id="15" name="Text 13"/>
          <p:cNvSpPr/>
          <p:nvPr/>
        </p:nvSpPr>
        <p:spPr>
          <a:xfrm>
            <a:off x="1097280" y="3200400"/>
            <a:ext cx="6949440" cy="457200"/>
          </a:xfrm>
          <a:prstGeom prst="rect">
            <a:avLst/>
          </a:prstGeom>
          <a:noFill/>
          <a:ln/>
        </p:spPr>
        <p:txBody>
          <a:bodyPr wrap="square" lIns="0" tIns="0" rIns="0" bIns="0" rtlCol="0" anchor="ctr"/>
          <a:lstStyle/>
          <a:p>
            <a:pPr algn="l" indent="0" marL="0">
              <a:buNone/>
            </a:pPr>
            <a:r>
              <a:rPr lang="en-US" sz="2000" b="1" dirty="0">
                <a:solidFill>
                  <a:srgbClr val="1A6B5A"/>
                </a:solidFill>
                <a:latin typeface="Yu Gothic UI" pitchFamily="34" charset="0"/>
                <a:ea typeface="Yu Gothic UI" pitchFamily="34" charset="-122"/>
                <a:cs typeface="Yu Gothic UI" pitchFamily="34" charset="-120"/>
              </a:rPr>
              <a:t>宝くじ高額当選者の追跡研究</a:t>
            </a:r>
            <a:endParaRPr lang="en-US" sz="2000" dirty="0"/>
          </a:p>
        </p:txBody>
      </p:sp>
      <p:sp>
        <p:nvSpPr>
          <p:cNvPr id="16" name="Text 14"/>
          <p:cNvSpPr/>
          <p:nvPr/>
        </p:nvSpPr>
        <p:spPr>
          <a:xfrm>
            <a:off x="1097280" y="3657600"/>
            <a:ext cx="6949440" cy="640080"/>
          </a:xfrm>
          <a:prstGeom prst="rect">
            <a:avLst/>
          </a:prstGeom>
          <a:noFill/>
          <a:ln/>
        </p:spPr>
        <p:txBody>
          <a:bodyPr wrap="square" lIns="0" tIns="0" rIns="0" bIns="0" rtlCol="0" anchor="ctr"/>
          <a:lstStyle/>
          <a:p>
            <a:pPr algn="l" indent="0" marL="0">
              <a:buNone/>
            </a:pPr>
            <a:r>
              <a:rPr lang="en-US" sz="1800" dirty="0">
                <a:solidFill>
                  <a:srgbClr val="34495E"/>
                </a:solidFill>
                <a:latin typeface="Yu Gothic UI" pitchFamily="34" charset="0"/>
                <a:ea typeface="Yu Gothic UI" pitchFamily="34" charset="-122"/>
                <a:cs typeface="Yu Gothic UI" pitchFamily="34" charset="-120"/>
              </a:rPr>
              <a:t>当選直後の大きな喜びは時間とともに薄れ</a:t>
            </a:r>
            <a:endParaRPr lang="en-US" sz="1800" dirty="0"/>
          </a:p>
          <a:p>
            <a:pPr algn="l" indent="0" marL="0">
              <a:buNone/>
            </a:pPr>
            <a:r>
              <a:rPr lang="en-US" sz="1800" dirty="0">
                <a:solidFill>
                  <a:srgbClr val="34495E"/>
                </a:solidFill>
                <a:latin typeface="Yu Gothic UI" pitchFamily="34" charset="0"/>
                <a:ea typeface="Yu Gothic UI" pitchFamily="34" charset="-122"/>
                <a:cs typeface="Yu Gothic UI" pitchFamily="34" charset="-120"/>
              </a:rPr>
              <a:t>やがて当選前とほぼ同じ幸福度に戻る</a:t>
            </a:r>
            <a:endParaRPr lang="en-US" sz="1800" dirty="0"/>
          </a:p>
        </p:txBody>
      </p:sp>
      <p:sp>
        <p:nvSpPr>
          <p:cNvPr id="17" name="Text 15"/>
          <p:cNvSpPr/>
          <p:nvPr/>
        </p:nvSpPr>
        <p:spPr>
          <a:xfrm>
            <a:off x="731520" y="4663440"/>
            <a:ext cx="2743200" cy="365760"/>
          </a:xfrm>
          <a:prstGeom prst="rect">
            <a:avLst/>
          </a:prstGeom>
          <a:noFill/>
          <a:ln/>
        </p:spPr>
        <p:txBody>
          <a:bodyPr wrap="square" lIns="0" tIns="0" rIns="0" bIns="0" rtlCol="0" anchor="ctr"/>
          <a:lstStyle/>
          <a:p>
            <a:pPr algn="l" indent="0" marL="0">
              <a:buNone/>
            </a:pPr>
            <a:r>
              <a:rPr lang="en-US" sz="1400" dirty="0">
                <a:solidFill>
                  <a:srgbClr val="7F8C8D"/>
                </a:solidFill>
                <a:latin typeface="Yu Gothic UI" pitchFamily="34" charset="0"/>
                <a:ea typeface="Yu Gothic UI" pitchFamily="34" charset="-122"/>
                <a:cs typeface="Yu Gothic UI" pitchFamily="34" charset="-120"/>
              </a:rPr>
              <a:t>2. よくある誤解</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5276"/>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CC71"/>
          </a:solidFill>
          <a:ln/>
        </p:spPr>
      </p:sp>
      <p:sp>
        <p:nvSpPr>
          <p:cNvPr id="3" name="Text 1"/>
          <p:cNvSpPr/>
          <p:nvPr/>
        </p:nvSpPr>
        <p:spPr>
          <a:xfrm>
            <a:off x="731520" y="914400"/>
            <a:ext cx="1828800" cy="914400"/>
          </a:xfrm>
          <a:prstGeom prst="rect">
            <a:avLst/>
          </a:prstGeom>
          <a:noFill/>
          <a:ln/>
        </p:spPr>
        <p:txBody>
          <a:bodyPr wrap="square" lIns="0" tIns="0" rIns="0" bIns="0" rtlCol="0" anchor="ctr"/>
          <a:lstStyle/>
          <a:p>
            <a:pPr algn="l" indent="0" marL="0">
              <a:buNone/>
            </a:pPr>
            <a:r>
              <a:rPr lang="en-US" sz="6000" b="1" dirty="0">
                <a:solidFill>
                  <a:srgbClr val="2ECC71"/>
                </a:solidFill>
                <a:latin typeface="Yu Gothic UI" pitchFamily="34" charset="0"/>
                <a:ea typeface="Yu Gothic UI" pitchFamily="34" charset="-122"/>
                <a:cs typeface="Yu Gothic UI" pitchFamily="34" charset="-120"/>
              </a:rPr>
              <a:t>03</a:t>
            </a:r>
            <a:endParaRPr lang="en-US" sz="6000" dirty="0"/>
          </a:p>
        </p:txBody>
      </p:sp>
      <p:sp>
        <p:nvSpPr>
          <p:cNvPr id="4" name="Text 2"/>
          <p:cNvSpPr/>
          <p:nvPr/>
        </p:nvSpPr>
        <p:spPr>
          <a:xfrm>
            <a:off x="731520" y="2011680"/>
            <a:ext cx="7680960" cy="914400"/>
          </a:xfrm>
          <a:prstGeom prst="rect">
            <a:avLst/>
          </a:prstGeom>
          <a:noFill/>
          <a:ln/>
        </p:spPr>
        <p:txBody>
          <a:bodyPr wrap="square" lIns="0" tIns="0" rIns="0" bIns="0" rtlCol="0" anchor="ctr"/>
          <a:lstStyle/>
          <a:p>
            <a:pPr algn="l" indent="0" marL="0">
              <a:buNone/>
            </a:pPr>
            <a:r>
              <a:rPr lang="en-US" sz="3600" b="1" dirty="0">
                <a:solidFill>
                  <a:srgbClr val="FFFFFF"/>
                </a:solidFill>
                <a:latin typeface="Yu Gothic UI" pitchFamily="34" charset="0"/>
                <a:ea typeface="Yu Gothic UI" pitchFamily="34" charset="-122"/>
                <a:cs typeface="Yu Gothic UI" pitchFamily="34" charset="-120"/>
              </a:rPr>
              <a:t>科学・心理学から見た幸福</a:t>
            </a:r>
            <a:endParaRPr lang="en-US" sz="3600" dirty="0"/>
          </a:p>
        </p:txBody>
      </p:sp>
      <p:sp>
        <p:nvSpPr>
          <p:cNvPr id="5" name="Text 3"/>
          <p:cNvSpPr/>
          <p:nvPr/>
        </p:nvSpPr>
        <p:spPr>
          <a:xfrm>
            <a:off x="731520" y="3017520"/>
            <a:ext cx="7680960" cy="548640"/>
          </a:xfrm>
          <a:prstGeom prst="rect">
            <a:avLst/>
          </a:prstGeom>
          <a:noFill/>
          <a:ln/>
        </p:spPr>
        <p:txBody>
          <a:bodyPr wrap="square" lIns="0" tIns="0" rIns="0" bIns="0" rtlCol="0" anchor="ctr"/>
          <a:lstStyle/>
          <a:p>
            <a:pPr algn="l" indent="0" marL="0">
              <a:buNone/>
            </a:pPr>
            <a:r>
              <a:rPr lang="en-US" sz="2000" dirty="0">
                <a:solidFill>
                  <a:srgbClr val="2ECC71"/>
                </a:solidFill>
                <a:latin typeface="Yu Gothic UI" pitchFamily="34" charset="0"/>
                <a:ea typeface="Yu Gothic UI" pitchFamily="34" charset="-122"/>
                <a:cs typeface="Yu Gothic UI" pitchFamily="34" charset="-120"/>
              </a:rPr>
              <a:t>研究が教えてくれること</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9"/>
        </a:solidFill>
      </p:bgPr>
    </p:bg>
    <p:spTree>
      <p:nvGrpSpPr>
        <p:cNvPr id="1" name=""/>
        <p:cNvGrpSpPr/>
        <p:nvPr/>
      </p:nvGrpSpPr>
      <p:grpSpPr>
        <a:xfrm>
          <a:off x="0" y="0"/>
          <a:ext cx="0" cy="0"/>
          <a:chOff x="0" y="0"/>
          <a:chExt cx="0" cy="0"/>
        </a:xfrm>
      </p:grpSpPr>
      <p:sp>
        <p:nvSpPr>
          <p:cNvPr id="2" name="Text 0"/>
          <p:cNvSpPr/>
          <p:nvPr/>
        </p:nvSpPr>
        <p:spPr>
          <a:xfrm>
            <a:off x="731520" y="365760"/>
            <a:ext cx="7680960" cy="731520"/>
          </a:xfrm>
          <a:prstGeom prst="rect">
            <a:avLst/>
          </a:prstGeom>
          <a:noFill/>
          <a:ln/>
        </p:spPr>
        <p:txBody>
          <a:bodyPr wrap="square" lIns="0" tIns="0" rIns="0" bIns="0" rtlCol="0" anchor="ctr"/>
          <a:lstStyle/>
          <a:p>
            <a:pPr algn="l" indent="0" marL="0">
              <a:buNone/>
            </a:pPr>
            <a:r>
              <a:rPr lang="en-US" sz="3200" b="1" dirty="0">
                <a:solidFill>
                  <a:srgbClr val="2C3E50"/>
                </a:solidFill>
                <a:latin typeface="Yu Gothic UI" pitchFamily="34" charset="0"/>
                <a:ea typeface="Yu Gothic UI" pitchFamily="34" charset="-122"/>
                <a:cs typeface="Yu Gothic UI" pitchFamily="34" charset="-120"/>
              </a:rPr>
              <a:t>ポジティブ心理学の誕生</a:t>
            </a:r>
            <a:endParaRPr lang="en-US" sz="3200" dirty="0"/>
          </a:p>
        </p:txBody>
      </p:sp>
      <p:sp>
        <p:nvSpPr>
          <p:cNvPr id="3" name="Shape 1"/>
          <p:cNvSpPr/>
          <p:nvPr/>
        </p:nvSpPr>
        <p:spPr>
          <a:xfrm>
            <a:off x="731520" y="1371600"/>
            <a:ext cx="7680960" cy="21945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 name="Shape 2"/>
          <p:cNvSpPr/>
          <p:nvPr/>
        </p:nvSpPr>
        <p:spPr>
          <a:xfrm>
            <a:off x="731520" y="1371600"/>
            <a:ext cx="73152" cy="2194560"/>
          </a:xfrm>
          <a:prstGeom prst="rect">
            <a:avLst/>
          </a:prstGeom>
          <a:solidFill>
            <a:srgbClr val="1A6B5A"/>
          </a:solidFill>
          <a:ln/>
        </p:spPr>
      </p:sp>
      <p:sp>
        <p:nvSpPr>
          <p:cNvPr id="5" name="Text 3"/>
          <p:cNvSpPr/>
          <p:nvPr/>
        </p:nvSpPr>
        <p:spPr>
          <a:xfrm>
            <a:off x="1097280" y="1463040"/>
            <a:ext cx="6949440" cy="548640"/>
          </a:xfrm>
          <a:prstGeom prst="rect">
            <a:avLst/>
          </a:prstGeom>
          <a:noFill/>
          <a:ln/>
        </p:spPr>
        <p:txBody>
          <a:bodyPr wrap="square" lIns="0" tIns="0" rIns="0" bIns="0" rtlCol="0" anchor="ctr"/>
          <a:lstStyle/>
          <a:p>
            <a:pPr algn="l" indent="0" marL="0">
              <a:buNone/>
            </a:pPr>
            <a:r>
              <a:rPr lang="en-US" sz="2200" b="1" dirty="0">
                <a:solidFill>
                  <a:srgbClr val="1A6B5A"/>
                </a:solidFill>
                <a:latin typeface="Yu Gothic UI" pitchFamily="34" charset="0"/>
                <a:ea typeface="Yu Gothic UI" pitchFamily="34" charset="-122"/>
                <a:cs typeface="Yu Gothic UI" pitchFamily="34" charset="-120"/>
              </a:rPr>
              <a:t>マーティン・セリグマン（1998年）</a:t>
            </a:r>
            <a:endParaRPr lang="en-US" sz="2200" dirty="0"/>
          </a:p>
        </p:txBody>
      </p:sp>
      <p:sp>
        <p:nvSpPr>
          <p:cNvPr id="6" name="Text 4"/>
          <p:cNvSpPr/>
          <p:nvPr/>
        </p:nvSpPr>
        <p:spPr>
          <a:xfrm>
            <a:off x="1097280" y="2011680"/>
            <a:ext cx="6949440" cy="914400"/>
          </a:xfrm>
          <a:prstGeom prst="rect">
            <a:avLst/>
          </a:prstGeom>
          <a:noFill/>
          <a:ln/>
        </p:spPr>
        <p:txBody>
          <a:bodyPr wrap="square" lIns="0" tIns="0" rIns="0" bIns="0" rtlCol="0" anchor="ctr"/>
          <a:lstStyle/>
          <a:p>
            <a:pPr algn="l" indent="0" marL="0">
              <a:buNone/>
            </a:pPr>
            <a:r>
              <a:rPr lang="en-US" sz="2200" dirty="0">
                <a:solidFill>
                  <a:srgbClr val="2C3E50"/>
                </a:solidFill>
                <a:latin typeface="Yu Gothic UI" pitchFamily="34" charset="0"/>
                <a:ea typeface="Yu Gothic UI" pitchFamily="34" charset="-122"/>
                <a:cs typeface="Yu Gothic UI" pitchFamily="34" charset="-120"/>
              </a:rPr>
              <a:t>心の病気を治すことだけでなく</a:t>
            </a:r>
            <a:endParaRPr lang="en-US" sz="2200" dirty="0"/>
          </a:p>
          <a:p>
            <a:pPr algn="l" indent="0" marL="0">
              <a:buNone/>
            </a:pPr>
            <a:r>
              <a:rPr lang="en-US" sz="2200" dirty="0">
                <a:solidFill>
                  <a:srgbClr val="2C3E50"/>
                </a:solidFill>
                <a:latin typeface="Yu Gothic UI" pitchFamily="34" charset="0"/>
                <a:ea typeface="Yu Gothic UI" pitchFamily="34" charset="-122"/>
                <a:cs typeface="Yu Gothic UI" pitchFamily="34" charset="-120"/>
              </a:rPr>
              <a:t>「どうすれば人はより良く生きられるか」を研究する</a:t>
            </a:r>
            <a:endParaRPr lang="en-US" sz="2200" dirty="0"/>
          </a:p>
        </p:txBody>
      </p:sp>
      <p:sp>
        <p:nvSpPr>
          <p:cNvPr id="7" name="Text 5"/>
          <p:cNvSpPr/>
          <p:nvPr/>
        </p:nvSpPr>
        <p:spPr>
          <a:xfrm>
            <a:off x="1097280" y="2926080"/>
            <a:ext cx="6949440" cy="457200"/>
          </a:xfrm>
          <a:prstGeom prst="rect">
            <a:avLst/>
          </a:prstGeom>
          <a:noFill/>
          <a:ln/>
        </p:spPr>
        <p:txBody>
          <a:bodyPr wrap="square" lIns="0" tIns="0" rIns="0" bIns="0" rtlCol="0" anchor="ctr"/>
          <a:lstStyle/>
          <a:p>
            <a:pPr algn="l" indent="0" marL="0">
              <a:buNone/>
            </a:pPr>
            <a:r>
              <a:rPr lang="en-US" sz="2000" dirty="0">
                <a:solidFill>
                  <a:srgbClr val="34495E"/>
                </a:solidFill>
                <a:latin typeface="Yu Gothic UI" pitchFamily="34" charset="0"/>
                <a:ea typeface="Yu Gothic UI" pitchFamily="34" charset="-122"/>
                <a:cs typeface="Yu Gothic UI" pitchFamily="34" charset="-120"/>
              </a:rPr>
              <a:t>幸福を構成する要素として「PERMA」モデルを提案</a:t>
            </a:r>
            <a:endParaRPr lang="en-US" sz="2000" dirty="0"/>
          </a:p>
        </p:txBody>
      </p:sp>
      <p:sp>
        <p:nvSpPr>
          <p:cNvPr id="8" name="Text 6"/>
          <p:cNvSpPr/>
          <p:nvPr/>
        </p:nvSpPr>
        <p:spPr>
          <a:xfrm>
            <a:off x="731520" y="4663440"/>
            <a:ext cx="2743200" cy="365760"/>
          </a:xfrm>
          <a:prstGeom prst="rect">
            <a:avLst/>
          </a:prstGeom>
          <a:noFill/>
          <a:ln/>
        </p:spPr>
        <p:txBody>
          <a:bodyPr wrap="square" lIns="0" tIns="0" rIns="0" bIns="0" rtlCol="0" anchor="ctr"/>
          <a:lstStyle/>
          <a:p>
            <a:pPr algn="l" indent="0" marL="0">
              <a:buNone/>
            </a:pPr>
            <a:r>
              <a:rPr lang="en-US" sz="1400" dirty="0">
                <a:solidFill>
                  <a:srgbClr val="7F8C8D"/>
                </a:solidFill>
                <a:latin typeface="Yu Gothic UI" pitchFamily="34" charset="0"/>
                <a:ea typeface="Yu Gothic UI" pitchFamily="34" charset="-122"/>
                <a:cs typeface="Yu Gothic UI" pitchFamily="34" charset="-120"/>
              </a:rPr>
              <a:t>3. 科学・心理学</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9"/>
        </a:solidFill>
      </p:bgPr>
    </p:bg>
    <p:spTree>
      <p:nvGrpSpPr>
        <p:cNvPr id="1" name=""/>
        <p:cNvGrpSpPr/>
        <p:nvPr/>
      </p:nvGrpSpPr>
      <p:grpSpPr>
        <a:xfrm>
          <a:off x="0" y="0"/>
          <a:ext cx="0" cy="0"/>
          <a:chOff x="0" y="0"/>
          <a:chExt cx="0" cy="0"/>
        </a:xfrm>
      </p:grpSpPr>
      <p:sp>
        <p:nvSpPr>
          <p:cNvPr id="2" name="Text 0"/>
          <p:cNvSpPr/>
          <p:nvPr/>
        </p:nvSpPr>
        <p:spPr>
          <a:xfrm>
            <a:off x="731520" y="365760"/>
            <a:ext cx="7680960" cy="731520"/>
          </a:xfrm>
          <a:prstGeom prst="rect">
            <a:avLst/>
          </a:prstGeom>
          <a:noFill/>
          <a:ln/>
        </p:spPr>
        <p:txBody>
          <a:bodyPr wrap="square" lIns="0" tIns="0" rIns="0" bIns="0" rtlCol="0" anchor="ctr"/>
          <a:lstStyle/>
          <a:p>
            <a:pPr algn="l" indent="0" marL="0">
              <a:buNone/>
            </a:pPr>
            <a:r>
              <a:rPr lang="en-US" sz="3200" b="1" dirty="0">
                <a:solidFill>
                  <a:srgbClr val="2C3E50"/>
                </a:solidFill>
                <a:latin typeface="Yu Gothic UI" pitchFamily="34" charset="0"/>
                <a:ea typeface="Yu Gothic UI" pitchFamily="34" charset="-122"/>
                <a:cs typeface="Yu Gothic UI" pitchFamily="34" charset="-120"/>
              </a:rPr>
              <a:t>PERMAモデル</a:t>
            </a:r>
            <a:endParaRPr lang="en-US" sz="3200" dirty="0"/>
          </a:p>
        </p:txBody>
      </p:sp>
      <p:sp>
        <p:nvSpPr>
          <p:cNvPr id="3" name="Shape 1"/>
          <p:cNvSpPr/>
          <p:nvPr/>
        </p:nvSpPr>
        <p:spPr>
          <a:xfrm>
            <a:off x="731520" y="1371600"/>
            <a:ext cx="3657600" cy="29260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4" name="Shape 2"/>
          <p:cNvSpPr/>
          <p:nvPr/>
        </p:nvSpPr>
        <p:spPr>
          <a:xfrm>
            <a:off x="1005840" y="1645920"/>
            <a:ext cx="640080" cy="640080"/>
          </a:xfrm>
          <a:prstGeom prst="ellipse">
            <a:avLst/>
          </a:prstGeom>
          <a:solidFill>
            <a:srgbClr val="1A6B5A"/>
          </a:solidFill>
          <a:ln/>
        </p:spPr>
      </p:sp>
      <p:pic>
        <p:nvPicPr>
          <p:cNvPr id="5" name="Image 0" descr="preencoded.png">    </p:cNvPr>
          <p:cNvPicPr>
            <a:picLocks noChangeAspect="1"/>
          </p:cNvPicPr>
          <p:nvPr/>
        </p:nvPicPr>
        <p:blipFill>
          <a:blip r:embed="rId1"/>
          <a:stretch>
            <a:fillRect/>
          </a:stretch>
        </p:blipFill>
        <p:spPr>
          <a:xfrm>
            <a:off x="1097280" y="1737360"/>
            <a:ext cx="457200" cy="457200"/>
          </a:xfrm>
          <a:prstGeom prst="rect">
            <a:avLst/>
          </a:prstGeom>
        </p:spPr>
      </p:pic>
      <p:sp>
        <p:nvSpPr>
          <p:cNvPr id="6" name="Text 3"/>
          <p:cNvSpPr/>
          <p:nvPr/>
        </p:nvSpPr>
        <p:spPr>
          <a:xfrm>
            <a:off x="1828800" y="1645920"/>
            <a:ext cx="2377440" cy="640080"/>
          </a:xfrm>
          <a:prstGeom prst="rect">
            <a:avLst/>
          </a:prstGeom>
          <a:noFill/>
          <a:ln/>
        </p:spPr>
        <p:txBody>
          <a:bodyPr wrap="square" lIns="0" tIns="0" rIns="0" bIns="0" rtlCol="0" anchor="ctr"/>
          <a:lstStyle/>
          <a:p>
            <a:pPr algn="l" indent="0" marL="0">
              <a:buNone/>
            </a:pPr>
            <a:r>
              <a:rPr lang="en-US" sz="2000" b="1" dirty="0">
                <a:solidFill>
                  <a:srgbClr val="1A6B5A"/>
                </a:solidFill>
                <a:latin typeface="Yu Gothic UI" pitchFamily="34" charset="0"/>
                <a:ea typeface="Yu Gothic UI" pitchFamily="34" charset="-122"/>
                <a:cs typeface="Yu Gothic UI" pitchFamily="34" charset="-120"/>
              </a:rPr>
              <a:t>P  Positive Emotion</a:t>
            </a:r>
            <a:endParaRPr lang="en-US" sz="2000" dirty="0"/>
          </a:p>
        </p:txBody>
      </p:sp>
      <p:sp>
        <p:nvSpPr>
          <p:cNvPr id="7" name="Text 4"/>
          <p:cNvSpPr/>
          <p:nvPr/>
        </p:nvSpPr>
        <p:spPr>
          <a:xfrm>
            <a:off x="1005840" y="2468880"/>
            <a:ext cx="3108960" cy="457200"/>
          </a:xfrm>
          <a:prstGeom prst="rect">
            <a:avLst/>
          </a:prstGeom>
          <a:noFill/>
          <a:ln/>
        </p:spPr>
        <p:txBody>
          <a:bodyPr wrap="square" lIns="0" tIns="0" rIns="0" bIns="0" rtlCol="0" anchor="ctr"/>
          <a:lstStyle/>
          <a:p>
            <a:pPr algn="l" indent="0" marL="0">
              <a:buNone/>
            </a:pPr>
            <a:r>
              <a:rPr lang="en-US" sz="2000" b="1" dirty="0">
                <a:solidFill>
                  <a:srgbClr val="2C3E50"/>
                </a:solidFill>
                <a:latin typeface="Yu Gothic UI" pitchFamily="34" charset="0"/>
                <a:ea typeface="Yu Gothic UI" pitchFamily="34" charset="-122"/>
                <a:cs typeface="Yu Gothic UI" pitchFamily="34" charset="-120"/>
              </a:rPr>
              <a:t>ポジティブな感情</a:t>
            </a:r>
            <a:endParaRPr lang="en-US" sz="2000" dirty="0"/>
          </a:p>
        </p:txBody>
      </p:sp>
      <p:sp>
        <p:nvSpPr>
          <p:cNvPr id="8" name="Text 5"/>
          <p:cNvSpPr/>
          <p:nvPr/>
        </p:nvSpPr>
        <p:spPr>
          <a:xfrm>
            <a:off x="1005840" y="2926080"/>
            <a:ext cx="3108960" cy="1188720"/>
          </a:xfrm>
          <a:prstGeom prst="rect">
            <a:avLst/>
          </a:prstGeom>
          <a:noFill/>
          <a:ln/>
        </p:spPr>
        <p:txBody>
          <a:bodyPr wrap="square" lIns="0" tIns="0" rIns="0" bIns="0" rtlCol="0" anchor="ctr"/>
          <a:lstStyle/>
          <a:p>
            <a:pPr algn="l" indent="0" marL="0">
              <a:buNone/>
            </a:pPr>
            <a:r>
              <a:rPr lang="en-US" sz="1800" dirty="0">
                <a:solidFill>
                  <a:srgbClr val="34495E"/>
                </a:solidFill>
                <a:latin typeface="Yu Gothic UI" pitchFamily="34" charset="0"/>
                <a:ea typeface="Yu Gothic UI" pitchFamily="34" charset="-122"/>
                <a:cs typeface="Yu Gothic UI" pitchFamily="34" charset="-120"/>
              </a:rPr>
              <a:t>喜び、感謝、安らぎ、楽しさ</a:t>
            </a:r>
            <a:endParaRPr lang="en-US" sz="1800" dirty="0"/>
          </a:p>
          <a:p>
            <a:pPr algn="l" indent="0" marL="0">
              <a:buNone/>
            </a:pPr>
            <a:r>
              <a:rPr lang="en-US" sz="1800" dirty="0">
                <a:solidFill>
                  <a:srgbClr val="34495E"/>
                </a:solidFill>
                <a:latin typeface="Yu Gothic UI" pitchFamily="34" charset="0"/>
                <a:ea typeface="Yu Gothic UI" pitchFamily="34" charset="-122"/>
                <a:cs typeface="Yu Gothic UI" pitchFamily="34" charset="-120"/>
              </a:rPr>
              <a:t>日常の中の「いい気分」の</a:t>
            </a:r>
            <a:endParaRPr lang="en-US" sz="1800" dirty="0"/>
          </a:p>
          <a:p>
            <a:pPr algn="l" indent="0" marL="0">
              <a:buNone/>
            </a:pPr>
            <a:r>
              <a:rPr lang="en-US" sz="1800" dirty="0">
                <a:solidFill>
                  <a:srgbClr val="34495E"/>
                </a:solidFill>
                <a:latin typeface="Yu Gothic UI" pitchFamily="34" charset="0"/>
                <a:ea typeface="Yu Gothic UI" pitchFamily="34" charset="-122"/>
                <a:cs typeface="Yu Gothic UI" pitchFamily="34" charset="-120"/>
              </a:rPr>
              <a:t>積み重ねが幸福感の土台になる</a:t>
            </a:r>
            <a:endParaRPr lang="en-US" sz="1800" dirty="0"/>
          </a:p>
        </p:txBody>
      </p:sp>
      <p:sp>
        <p:nvSpPr>
          <p:cNvPr id="9" name="Shape 6"/>
          <p:cNvSpPr/>
          <p:nvPr/>
        </p:nvSpPr>
        <p:spPr>
          <a:xfrm>
            <a:off x="4754880" y="1371600"/>
            <a:ext cx="3657600" cy="29260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0" name="Shape 7"/>
          <p:cNvSpPr/>
          <p:nvPr/>
        </p:nvSpPr>
        <p:spPr>
          <a:xfrm>
            <a:off x="5029200" y="1645920"/>
            <a:ext cx="640080" cy="640080"/>
          </a:xfrm>
          <a:prstGeom prst="ellipse">
            <a:avLst/>
          </a:prstGeom>
          <a:solidFill>
            <a:srgbClr val="E67E22"/>
          </a:solidFill>
          <a:ln/>
        </p:spPr>
      </p:sp>
      <p:pic>
        <p:nvPicPr>
          <p:cNvPr id="11" name="Image 1" descr="preencoded.png">    </p:cNvPr>
          <p:cNvPicPr>
            <a:picLocks noChangeAspect="1"/>
          </p:cNvPicPr>
          <p:nvPr/>
        </p:nvPicPr>
        <p:blipFill>
          <a:blip r:embed="rId2"/>
          <a:stretch>
            <a:fillRect/>
          </a:stretch>
        </p:blipFill>
        <p:spPr>
          <a:xfrm>
            <a:off x="5120640" y="1737360"/>
            <a:ext cx="457200" cy="457200"/>
          </a:xfrm>
          <a:prstGeom prst="rect">
            <a:avLst/>
          </a:prstGeom>
        </p:spPr>
      </p:pic>
      <p:sp>
        <p:nvSpPr>
          <p:cNvPr id="12" name="Text 8"/>
          <p:cNvSpPr/>
          <p:nvPr/>
        </p:nvSpPr>
        <p:spPr>
          <a:xfrm>
            <a:off x="5852160" y="1645920"/>
            <a:ext cx="2377440" cy="640080"/>
          </a:xfrm>
          <a:prstGeom prst="rect">
            <a:avLst/>
          </a:prstGeom>
          <a:noFill/>
          <a:ln/>
        </p:spPr>
        <p:txBody>
          <a:bodyPr wrap="square" lIns="0" tIns="0" rIns="0" bIns="0" rtlCol="0" anchor="ctr"/>
          <a:lstStyle/>
          <a:p>
            <a:pPr algn="l" indent="0" marL="0">
              <a:buNone/>
            </a:pPr>
            <a:r>
              <a:rPr lang="en-US" sz="2000" b="1" dirty="0">
                <a:solidFill>
                  <a:srgbClr val="E67E22"/>
                </a:solidFill>
                <a:latin typeface="Yu Gothic UI" pitchFamily="34" charset="0"/>
                <a:ea typeface="Yu Gothic UI" pitchFamily="34" charset="-122"/>
                <a:cs typeface="Yu Gothic UI" pitchFamily="34" charset="-120"/>
              </a:rPr>
              <a:t>E  Engagement</a:t>
            </a:r>
            <a:endParaRPr lang="en-US" sz="2000" dirty="0"/>
          </a:p>
        </p:txBody>
      </p:sp>
      <p:sp>
        <p:nvSpPr>
          <p:cNvPr id="13" name="Text 9"/>
          <p:cNvSpPr/>
          <p:nvPr/>
        </p:nvSpPr>
        <p:spPr>
          <a:xfrm>
            <a:off x="5029200" y="2468880"/>
            <a:ext cx="3108960" cy="457200"/>
          </a:xfrm>
          <a:prstGeom prst="rect">
            <a:avLst/>
          </a:prstGeom>
          <a:noFill/>
          <a:ln/>
        </p:spPr>
        <p:txBody>
          <a:bodyPr wrap="square" lIns="0" tIns="0" rIns="0" bIns="0" rtlCol="0" anchor="ctr"/>
          <a:lstStyle/>
          <a:p>
            <a:pPr algn="l" indent="0" marL="0">
              <a:buNone/>
            </a:pPr>
            <a:r>
              <a:rPr lang="en-US" sz="2000" b="1" dirty="0">
                <a:solidFill>
                  <a:srgbClr val="2C3E50"/>
                </a:solidFill>
                <a:latin typeface="Yu Gothic UI" pitchFamily="34" charset="0"/>
                <a:ea typeface="Yu Gothic UI" pitchFamily="34" charset="-122"/>
                <a:cs typeface="Yu Gothic UI" pitchFamily="34" charset="-120"/>
              </a:rPr>
              <a:t>没頭・フロー</a:t>
            </a:r>
            <a:endParaRPr lang="en-US" sz="2000" dirty="0"/>
          </a:p>
        </p:txBody>
      </p:sp>
      <p:sp>
        <p:nvSpPr>
          <p:cNvPr id="14" name="Text 10"/>
          <p:cNvSpPr/>
          <p:nvPr/>
        </p:nvSpPr>
        <p:spPr>
          <a:xfrm>
            <a:off x="5029200" y="2926080"/>
            <a:ext cx="3108960" cy="1188720"/>
          </a:xfrm>
          <a:prstGeom prst="rect">
            <a:avLst/>
          </a:prstGeom>
          <a:noFill/>
          <a:ln/>
        </p:spPr>
        <p:txBody>
          <a:bodyPr wrap="square" lIns="0" tIns="0" rIns="0" bIns="0" rtlCol="0" anchor="ctr"/>
          <a:lstStyle/>
          <a:p>
            <a:pPr algn="l" indent="0" marL="0">
              <a:buNone/>
            </a:pPr>
            <a:r>
              <a:rPr lang="en-US" sz="1800" dirty="0">
                <a:solidFill>
                  <a:srgbClr val="34495E"/>
                </a:solidFill>
                <a:latin typeface="Yu Gothic UI" pitchFamily="34" charset="0"/>
                <a:ea typeface="Yu Gothic UI" pitchFamily="34" charset="-122"/>
                <a:cs typeface="Yu Gothic UI" pitchFamily="34" charset="-120"/>
              </a:rPr>
              <a:t>時間を忘れるほど何かに</a:t>
            </a:r>
            <a:endParaRPr lang="en-US" sz="1800" dirty="0"/>
          </a:p>
          <a:p>
            <a:pPr algn="l" indent="0" marL="0">
              <a:buNone/>
            </a:pPr>
            <a:r>
              <a:rPr lang="en-US" sz="1800" dirty="0">
                <a:solidFill>
                  <a:srgbClr val="34495E"/>
                </a:solidFill>
                <a:latin typeface="Yu Gothic UI" pitchFamily="34" charset="0"/>
                <a:ea typeface="Yu Gothic UI" pitchFamily="34" charset="-122"/>
                <a:cs typeface="Yu Gothic UI" pitchFamily="34" charset="-120"/>
              </a:rPr>
              <a:t>集中している状態</a:t>
            </a:r>
            <a:endParaRPr lang="en-US" sz="1800" dirty="0"/>
          </a:p>
          <a:p>
            <a:pPr algn="l" indent="0" marL="0">
              <a:buNone/>
            </a:pPr>
            <a:r>
              <a:rPr lang="en-US" sz="1800" dirty="0">
                <a:solidFill>
                  <a:srgbClr val="34495E"/>
                </a:solidFill>
                <a:latin typeface="Yu Gothic UI" pitchFamily="34" charset="0"/>
                <a:ea typeface="Yu Gothic UI" pitchFamily="34" charset="-122"/>
                <a:cs typeface="Yu Gothic UI" pitchFamily="34" charset="-120"/>
              </a:rPr>
              <a:t>趣味でも仕事でも充実感がある</a:t>
            </a:r>
            <a:endParaRPr lang="en-US" sz="1800" dirty="0"/>
          </a:p>
        </p:txBody>
      </p:sp>
      <p:sp>
        <p:nvSpPr>
          <p:cNvPr id="15" name="Text 11"/>
          <p:cNvSpPr/>
          <p:nvPr/>
        </p:nvSpPr>
        <p:spPr>
          <a:xfrm>
            <a:off x="731520" y="4663440"/>
            <a:ext cx="2743200" cy="365760"/>
          </a:xfrm>
          <a:prstGeom prst="rect">
            <a:avLst/>
          </a:prstGeom>
          <a:noFill/>
          <a:ln/>
        </p:spPr>
        <p:txBody>
          <a:bodyPr wrap="square" lIns="0" tIns="0" rIns="0" bIns="0" rtlCol="0" anchor="ctr"/>
          <a:lstStyle/>
          <a:p>
            <a:pPr algn="l" indent="0" marL="0">
              <a:buNone/>
            </a:pPr>
            <a:r>
              <a:rPr lang="en-US" sz="1400" dirty="0">
                <a:solidFill>
                  <a:srgbClr val="7F8C8D"/>
                </a:solidFill>
                <a:latin typeface="Yu Gothic UI" pitchFamily="34" charset="0"/>
                <a:ea typeface="Yu Gothic UI" pitchFamily="34" charset="-122"/>
                <a:cs typeface="Yu Gothic UI" pitchFamily="34" charset="-120"/>
              </a:rPr>
              <a:t>3. 科学・心理学</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9"/>
        </a:solidFill>
      </p:bgPr>
    </p:bg>
    <p:spTree>
      <p:nvGrpSpPr>
        <p:cNvPr id="1" name=""/>
        <p:cNvGrpSpPr/>
        <p:nvPr/>
      </p:nvGrpSpPr>
      <p:grpSpPr>
        <a:xfrm>
          <a:off x="0" y="0"/>
          <a:ext cx="0" cy="0"/>
          <a:chOff x="0" y="0"/>
          <a:chExt cx="0" cy="0"/>
        </a:xfrm>
      </p:grpSpPr>
      <p:sp>
        <p:nvSpPr>
          <p:cNvPr id="2" name="Text 0"/>
          <p:cNvSpPr/>
          <p:nvPr/>
        </p:nvSpPr>
        <p:spPr>
          <a:xfrm>
            <a:off x="731520" y="365760"/>
            <a:ext cx="7680960" cy="731520"/>
          </a:xfrm>
          <a:prstGeom prst="rect">
            <a:avLst/>
          </a:prstGeom>
          <a:noFill/>
          <a:ln/>
        </p:spPr>
        <p:txBody>
          <a:bodyPr wrap="square" lIns="0" tIns="0" rIns="0" bIns="0" rtlCol="0" anchor="ctr"/>
          <a:lstStyle/>
          <a:p>
            <a:pPr algn="l" indent="0" marL="0">
              <a:buNone/>
            </a:pPr>
            <a:r>
              <a:rPr lang="en-US" sz="3200" b="1" dirty="0">
                <a:solidFill>
                  <a:srgbClr val="2C3E50"/>
                </a:solidFill>
                <a:latin typeface="Yu Gothic UI" pitchFamily="34" charset="0"/>
                <a:ea typeface="Yu Gothic UI" pitchFamily="34" charset="-122"/>
                <a:cs typeface="Yu Gothic UI" pitchFamily="34" charset="-120"/>
              </a:rPr>
              <a:t>PERMAモデル</a:t>
            </a:r>
            <a:endParaRPr lang="en-US" sz="3200" dirty="0"/>
          </a:p>
        </p:txBody>
      </p:sp>
      <p:sp>
        <p:nvSpPr>
          <p:cNvPr id="3" name="Shape 1"/>
          <p:cNvSpPr/>
          <p:nvPr/>
        </p:nvSpPr>
        <p:spPr>
          <a:xfrm>
            <a:off x="731520" y="1371600"/>
            <a:ext cx="7680960" cy="31089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 name="Shape 2"/>
          <p:cNvSpPr/>
          <p:nvPr/>
        </p:nvSpPr>
        <p:spPr>
          <a:xfrm>
            <a:off x="1005840" y="1645920"/>
            <a:ext cx="640080" cy="640080"/>
          </a:xfrm>
          <a:prstGeom prst="ellipse">
            <a:avLst/>
          </a:prstGeom>
          <a:solidFill>
            <a:srgbClr val="2980B9"/>
          </a:solidFill>
          <a:ln/>
        </p:spPr>
      </p:sp>
      <p:pic>
        <p:nvPicPr>
          <p:cNvPr id="5" name="Image 0" descr="preencoded.png">    </p:cNvPr>
          <p:cNvPicPr>
            <a:picLocks noChangeAspect="1"/>
          </p:cNvPicPr>
          <p:nvPr/>
        </p:nvPicPr>
        <p:blipFill>
          <a:blip r:embed="rId1"/>
          <a:stretch>
            <a:fillRect/>
          </a:stretch>
        </p:blipFill>
        <p:spPr>
          <a:xfrm>
            <a:off x="1097280" y="1737360"/>
            <a:ext cx="457200" cy="457200"/>
          </a:xfrm>
          <a:prstGeom prst="rect">
            <a:avLst/>
          </a:prstGeom>
        </p:spPr>
      </p:pic>
      <p:sp>
        <p:nvSpPr>
          <p:cNvPr id="6" name="Text 3"/>
          <p:cNvSpPr/>
          <p:nvPr/>
        </p:nvSpPr>
        <p:spPr>
          <a:xfrm>
            <a:off x="1828800" y="1645920"/>
            <a:ext cx="6217920" cy="640080"/>
          </a:xfrm>
          <a:prstGeom prst="rect">
            <a:avLst/>
          </a:prstGeom>
          <a:noFill/>
          <a:ln/>
        </p:spPr>
        <p:txBody>
          <a:bodyPr wrap="square" lIns="0" tIns="0" rIns="0" bIns="0" rtlCol="0" anchor="ctr"/>
          <a:lstStyle/>
          <a:p>
            <a:pPr algn="l" indent="0" marL="0">
              <a:buNone/>
            </a:pPr>
            <a:r>
              <a:rPr lang="en-US" sz="2200" b="1" dirty="0">
                <a:solidFill>
                  <a:srgbClr val="2980B9"/>
                </a:solidFill>
                <a:latin typeface="Yu Gothic UI" pitchFamily="34" charset="0"/>
                <a:ea typeface="Yu Gothic UI" pitchFamily="34" charset="-122"/>
                <a:cs typeface="Yu Gothic UI" pitchFamily="34" charset="-120"/>
              </a:rPr>
              <a:t>R  Relationships ── 人とのつながり</a:t>
            </a:r>
            <a:endParaRPr lang="en-US" sz="2200" dirty="0"/>
          </a:p>
        </p:txBody>
      </p:sp>
      <p:sp>
        <p:nvSpPr>
          <p:cNvPr id="7" name="Shape 4"/>
          <p:cNvSpPr/>
          <p:nvPr/>
        </p:nvSpPr>
        <p:spPr>
          <a:xfrm>
            <a:off x="1005840" y="2560320"/>
            <a:ext cx="7132320" cy="1645920"/>
          </a:xfrm>
          <a:prstGeom prst="rect">
            <a:avLst/>
          </a:prstGeom>
          <a:solidFill>
            <a:srgbClr val="EBF5FB"/>
          </a:solidFill>
          <a:ln/>
        </p:spPr>
      </p:sp>
      <p:sp>
        <p:nvSpPr>
          <p:cNvPr id="8" name="Text 5"/>
          <p:cNvSpPr/>
          <p:nvPr/>
        </p:nvSpPr>
        <p:spPr>
          <a:xfrm>
            <a:off x="1280160" y="2651760"/>
            <a:ext cx="6583680" cy="457200"/>
          </a:xfrm>
          <a:prstGeom prst="rect">
            <a:avLst/>
          </a:prstGeom>
          <a:noFill/>
          <a:ln/>
        </p:spPr>
        <p:txBody>
          <a:bodyPr wrap="square" lIns="0" tIns="0" rIns="0" bIns="0" rtlCol="0" anchor="ctr"/>
          <a:lstStyle/>
          <a:p>
            <a:pPr algn="l" indent="0" marL="0">
              <a:buNone/>
            </a:pPr>
            <a:r>
              <a:rPr lang="en-US" sz="1800" b="1" dirty="0">
                <a:solidFill>
                  <a:srgbClr val="2980B9"/>
                </a:solidFill>
                <a:latin typeface="Yu Gothic UI" pitchFamily="34" charset="0"/>
                <a:ea typeface="Yu Gothic UI" pitchFamily="34" charset="-122"/>
                <a:cs typeface="Yu Gothic UI" pitchFamily="34" charset="-120"/>
              </a:rPr>
              <a:t>ハーバード大学の長期追跡研究（1938年〜）</a:t>
            </a:r>
            <a:endParaRPr lang="en-US" sz="1800" dirty="0"/>
          </a:p>
        </p:txBody>
      </p:sp>
      <p:sp>
        <p:nvSpPr>
          <p:cNvPr id="9" name="Text 6"/>
          <p:cNvSpPr/>
          <p:nvPr/>
        </p:nvSpPr>
        <p:spPr>
          <a:xfrm>
            <a:off x="1280160" y="3108960"/>
            <a:ext cx="6583680" cy="548640"/>
          </a:xfrm>
          <a:prstGeom prst="rect">
            <a:avLst/>
          </a:prstGeom>
          <a:noFill/>
          <a:ln/>
        </p:spPr>
        <p:txBody>
          <a:bodyPr wrap="square" lIns="0" tIns="0" rIns="0" bIns="0" rtlCol="0" anchor="ctr"/>
          <a:lstStyle/>
          <a:p>
            <a:pPr algn="l" indent="0" marL="0">
              <a:buNone/>
            </a:pPr>
            <a:r>
              <a:rPr lang="en-US" sz="2200" b="1" dirty="0">
                <a:solidFill>
                  <a:srgbClr val="2C3E50"/>
                </a:solidFill>
                <a:latin typeface="Yu Gothic UI" pitchFamily="34" charset="0"/>
                <a:ea typeface="Yu Gothic UI" pitchFamily="34" charset="-122"/>
                <a:cs typeface="Yu Gothic UI" pitchFamily="34" charset="-120"/>
              </a:rPr>
              <a:t>「人を幸福にし、健康にするのは、良い人間関係である」</a:t>
            </a:r>
            <a:endParaRPr lang="en-US" sz="2200" dirty="0"/>
          </a:p>
        </p:txBody>
      </p:sp>
      <p:sp>
        <p:nvSpPr>
          <p:cNvPr id="10" name="Text 7"/>
          <p:cNvSpPr/>
          <p:nvPr/>
        </p:nvSpPr>
        <p:spPr>
          <a:xfrm>
            <a:off x="1280160" y="3657600"/>
            <a:ext cx="6583680" cy="548640"/>
          </a:xfrm>
          <a:prstGeom prst="rect">
            <a:avLst/>
          </a:prstGeom>
          <a:noFill/>
          <a:ln/>
        </p:spPr>
        <p:txBody>
          <a:bodyPr wrap="square" lIns="0" tIns="0" rIns="0" bIns="0" rtlCol="0" anchor="ctr"/>
          <a:lstStyle/>
          <a:p>
            <a:pPr algn="l" indent="0" marL="0">
              <a:buNone/>
            </a:pPr>
            <a:r>
              <a:rPr lang="en-US" sz="1800" dirty="0">
                <a:solidFill>
                  <a:srgbClr val="34495E"/>
                </a:solidFill>
                <a:latin typeface="Yu Gothic UI" pitchFamily="34" charset="0"/>
                <a:ea typeface="Yu Gothic UI" pitchFamily="34" charset="-122"/>
                <a:cs typeface="Yu Gothic UI" pitchFamily="34" charset="-120"/>
              </a:rPr>
              <a:t>友人の数ではなく、信頼できる相手がいること</a:t>
            </a:r>
            <a:endParaRPr lang="en-US" sz="1800" dirty="0"/>
          </a:p>
          <a:p>
            <a:pPr algn="l" indent="0" marL="0">
              <a:buNone/>
            </a:pPr>
            <a:r>
              <a:rPr lang="en-US" sz="1800" dirty="0">
                <a:solidFill>
                  <a:srgbClr val="34495E"/>
                </a:solidFill>
                <a:latin typeface="Yu Gothic UI" pitchFamily="34" charset="0"/>
                <a:ea typeface="Yu Gothic UI" pitchFamily="34" charset="-122"/>
                <a:cs typeface="Yu Gothic UI" pitchFamily="34" charset="-120"/>
              </a:rPr>
              <a:t>心を開ける人がそばにいることが大切</a:t>
            </a:r>
            <a:endParaRPr lang="en-US" sz="1800" dirty="0"/>
          </a:p>
        </p:txBody>
      </p:sp>
      <p:sp>
        <p:nvSpPr>
          <p:cNvPr id="11" name="Text 8"/>
          <p:cNvSpPr/>
          <p:nvPr/>
        </p:nvSpPr>
        <p:spPr>
          <a:xfrm>
            <a:off x="731520" y="4663440"/>
            <a:ext cx="2743200" cy="365760"/>
          </a:xfrm>
          <a:prstGeom prst="rect">
            <a:avLst/>
          </a:prstGeom>
          <a:noFill/>
          <a:ln/>
        </p:spPr>
        <p:txBody>
          <a:bodyPr wrap="square" lIns="0" tIns="0" rIns="0" bIns="0" rtlCol="0" anchor="ctr"/>
          <a:lstStyle/>
          <a:p>
            <a:pPr algn="l" indent="0" marL="0">
              <a:buNone/>
            </a:pPr>
            <a:r>
              <a:rPr lang="en-US" sz="1400" dirty="0">
                <a:solidFill>
                  <a:srgbClr val="7F8C8D"/>
                </a:solidFill>
                <a:latin typeface="Yu Gothic UI" pitchFamily="34" charset="0"/>
                <a:ea typeface="Yu Gothic UI" pitchFamily="34" charset="-122"/>
                <a:cs typeface="Yu Gothic UI" pitchFamily="34" charset="-120"/>
              </a:rPr>
              <a:t>3. 科学・心理学</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9"/>
        </a:solidFill>
      </p:bgPr>
    </p:bg>
    <p:spTree>
      <p:nvGrpSpPr>
        <p:cNvPr id="1" name=""/>
        <p:cNvGrpSpPr/>
        <p:nvPr/>
      </p:nvGrpSpPr>
      <p:grpSpPr>
        <a:xfrm>
          <a:off x="0" y="0"/>
          <a:ext cx="0" cy="0"/>
          <a:chOff x="0" y="0"/>
          <a:chExt cx="0" cy="0"/>
        </a:xfrm>
      </p:grpSpPr>
      <p:sp>
        <p:nvSpPr>
          <p:cNvPr id="2" name="Text 0"/>
          <p:cNvSpPr/>
          <p:nvPr/>
        </p:nvSpPr>
        <p:spPr>
          <a:xfrm>
            <a:off x="731520" y="365760"/>
            <a:ext cx="7680960" cy="731520"/>
          </a:xfrm>
          <a:prstGeom prst="rect">
            <a:avLst/>
          </a:prstGeom>
          <a:noFill/>
          <a:ln/>
        </p:spPr>
        <p:txBody>
          <a:bodyPr wrap="square" lIns="0" tIns="0" rIns="0" bIns="0" rtlCol="0" anchor="ctr"/>
          <a:lstStyle/>
          <a:p>
            <a:pPr algn="l" indent="0" marL="0">
              <a:buNone/>
            </a:pPr>
            <a:r>
              <a:rPr lang="en-US" sz="3200" b="1" dirty="0">
                <a:solidFill>
                  <a:srgbClr val="2C3E50"/>
                </a:solidFill>
                <a:latin typeface="Yu Gothic UI" pitchFamily="34" charset="0"/>
                <a:ea typeface="Yu Gothic UI" pitchFamily="34" charset="-122"/>
                <a:cs typeface="Yu Gothic UI" pitchFamily="34" charset="-120"/>
              </a:rPr>
              <a:t>PERMAモデル</a:t>
            </a:r>
            <a:endParaRPr lang="en-US" sz="3200" dirty="0"/>
          </a:p>
        </p:txBody>
      </p:sp>
      <p:sp>
        <p:nvSpPr>
          <p:cNvPr id="3" name="Shape 1"/>
          <p:cNvSpPr/>
          <p:nvPr/>
        </p:nvSpPr>
        <p:spPr>
          <a:xfrm>
            <a:off x="731520" y="1371600"/>
            <a:ext cx="3657600" cy="29260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4" name="Shape 2"/>
          <p:cNvSpPr/>
          <p:nvPr/>
        </p:nvSpPr>
        <p:spPr>
          <a:xfrm>
            <a:off x="1005840" y="1645920"/>
            <a:ext cx="640080" cy="640080"/>
          </a:xfrm>
          <a:prstGeom prst="ellipse">
            <a:avLst/>
          </a:prstGeom>
          <a:solidFill>
            <a:srgbClr val="8E44AD"/>
          </a:solidFill>
          <a:ln/>
        </p:spPr>
      </p:sp>
      <p:pic>
        <p:nvPicPr>
          <p:cNvPr id="5" name="Image 0" descr="preencoded.png">    </p:cNvPr>
          <p:cNvPicPr>
            <a:picLocks noChangeAspect="1"/>
          </p:cNvPicPr>
          <p:nvPr/>
        </p:nvPicPr>
        <p:blipFill>
          <a:blip r:embed="rId1"/>
          <a:stretch>
            <a:fillRect/>
          </a:stretch>
        </p:blipFill>
        <p:spPr>
          <a:xfrm>
            <a:off x="1097280" y="1737360"/>
            <a:ext cx="457200" cy="457200"/>
          </a:xfrm>
          <a:prstGeom prst="rect">
            <a:avLst/>
          </a:prstGeom>
        </p:spPr>
      </p:pic>
      <p:sp>
        <p:nvSpPr>
          <p:cNvPr id="6" name="Text 3"/>
          <p:cNvSpPr/>
          <p:nvPr/>
        </p:nvSpPr>
        <p:spPr>
          <a:xfrm>
            <a:off x="1828800" y="1645920"/>
            <a:ext cx="2377440" cy="640080"/>
          </a:xfrm>
          <a:prstGeom prst="rect">
            <a:avLst/>
          </a:prstGeom>
          <a:noFill/>
          <a:ln/>
        </p:spPr>
        <p:txBody>
          <a:bodyPr wrap="square" lIns="0" tIns="0" rIns="0" bIns="0" rtlCol="0" anchor="ctr"/>
          <a:lstStyle/>
          <a:p>
            <a:pPr algn="l" indent="0" marL="0">
              <a:buNone/>
            </a:pPr>
            <a:r>
              <a:rPr lang="en-US" sz="2000" b="1" dirty="0">
                <a:solidFill>
                  <a:srgbClr val="8E44AD"/>
                </a:solidFill>
                <a:latin typeface="Yu Gothic UI" pitchFamily="34" charset="0"/>
                <a:ea typeface="Yu Gothic UI" pitchFamily="34" charset="-122"/>
                <a:cs typeface="Yu Gothic UI" pitchFamily="34" charset="-120"/>
              </a:rPr>
              <a:t>M  Meaning</a:t>
            </a:r>
            <a:endParaRPr lang="en-US" sz="2000" dirty="0"/>
          </a:p>
        </p:txBody>
      </p:sp>
      <p:sp>
        <p:nvSpPr>
          <p:cNvPr id="7" name="Text 4"/>
          <p:cNvSpPr/>
          <p:nvPr/>
        </p:nvSpPr>
        <p:spPr>
          <a:xfrm>
            <a:off x="1005840" y="2468880"/>
            <a:ext cx="3108960" cy="457200"/>
          </a:xfrm>
          <a:prstGeom prst="rect">
            <a:avLst/>
          </a:prstGeom>
          <a:noFill/>
          <a:ln/>
        </p:spPr>
        <p:txBody>
          <a:bodyPr wrap="square" lIns="0" tIns="0" rIns="0" bIns="0" rtlCol="0" anchor="ctr"/>
          <a:lstStyle/>
          <a:p>
            <a:pPr algn="l" indent="0" marL="0">
              <a:buNone/>
            </a:pPr>
            <a:r>
              <a:rPr lang="en-US" sz="2000" b="1" dirty="0">
                <a:solidFill>
                  <a:srgbClr val="2C3E50"/>
                </a:solidFill>
                <a:latin typeface="Yu Gothic UI" pitchFamily="34" charset="0"/>
                <a:ea typeface="Yu Gothic UI" pitchFamily="34" charset="-122"/>
                <a:cs typeface="Yu Gothic UI" pitchFamily="34" charset="-120"/>
              </a:rPr>
              <a:t>意味・意義</a:t>
            </a:r>
            <a:endParaRPr lang="en-US" sz="2000" dirty="0"/>
          </a:p>
        </p:txBody>
      </p:sp>
      <p:sp>
        <p:nvSpPr>
          <p:cNvPr id="8" name="Text 5"/>
          <p:cNvSpPr/>
          <p:nvPr/>
        </p:nvSpPr>
        <p:spPr>
          <a:xfrm>
            <a:off x="1005840" y="2926080"/>
            <a:ext cx="3108960" cy="1188720"/>
          </a:xfrm>
          <a:prstGeom prst="rect">
            <a:avLst/>
          </a:prstGeom>
          <a:noFill/>
          <a:ln/>
        </p:spPr>
        <p:txBody>
          <a:bodyPr wrap="square" lIns="0" tIns="0" rIns="0" bIns="0" rtlCol="0" anchor="ctr"/>
          <a:lstStyle/>
          <a:p>
            <a:pPr algn="l" indent="0" marL="0">
              <a:buNone/>
            </a:pPr>
            <a:r>
              <a:rPr lang="en-US" sz="1800" dirty="0">
                <a:solidFill>
                  <a:srgbClr val="34495E"/>
                </a:solidFill>
                <a:latin typeface="Yu Gothic UI" pitchFamily="34" charset="0"/>
                <a:ea typeface="Yu Gothic UI" pitchFamily="34" charset="-122"/>
                <a:cs typeface="Yu Gothic UI" pitchFamily="34" charset="-120"/>
              </a:rPr>
              <a:t>「何のためにこれをやっているのか」が</a:t>
            </a:r>
            <a:endParaRPr lang="en-US" sz="1800" dirty="0"/>
          </a:p>
          <a:p>
            <a:pPr algn="l" indent="0" marL="0">
              <a:buNone/>
            </a:pPr>
            <a:r>
              <a:rPr lang="en-US" sz="1800" dirty="0">
                <a:solidFill>
                  <a:srgbClr val="34495E"/>
                </a:solidFill>
                <a:latin typeface="Yu Gothic UI" pitchFamily="34" charset="0"/>
                <a:ea typeface="Yu Gothic UI" pitchFamily="34" charset="-122"/>
                <a:cs typeface="Yu Gothic UI" pitchFamily="34" charset="-120"/>
              </a:rPr>
              <a:t>見えていると困難にも耐えやすい</a:t>
            </a:r>
            <a:endParaRPr lang="en-US" sz="1800" dirty="0"/>
          </a:p>
          <a:p>
            <a:pPr algn="l" indent="0" marL="0">
              <a:buNone/>
            </a:pPr>
            <a:r>
              <a:rPr lang="en-US" sz="1800" dirty="0">
                <a:solidFill>
                  <a:srgbClr val="34495E"/>
                </a:solidFill>
                <a:latin typeface="Yu Gothic UI" pitchFamily="34" charset="0"/>
                <a:ea typeface="Yu Gothic UI" pitchFamily="34" charset="-122"/>
                <a:cs typeface="Yu Gothic UI" pitchFamily="34" charset="-120"/>
              </a:rPr>
              <a:t>誰かの役に立つ実感が自分の幸福に</a:t>
            </a:r>
            <a:endParaRPr lang="en-US" sz="1800" dirty="0"/>
          </a:p>
        </p:txBody>
      </p:sp>
      <p:sp>
        <p:nvSpPr>
          <p:cNvPr id="9" name="Shape 6"/>
          <p:cNvSpPr/>
          <p:nvPr/>
        </p:nvSpPr>
        <p:spPr>
          <a:xfrm>
            <a:off x="4754880" y="1371600"/>
            <a:ext cx="3657600" cy="29260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0" name="Shape 7"/>
          <p:cNvSpPr/>
          <p:nvPr/>
        </p:nvSpPr>
        <p:spPr>
          <a:xfrm>
            <a:off x="5029200" y="1645920"/>
            <a:ext cx="640080" cy="640080"/>
          </a:xfrm>
          <a:prstGeom prst="ellipse">
            <a:avLst/>
          </a:prstGeom>
          <a:solidFill>
            <a:srgbClr val="C0392B"/>
          </a:solidFill>
          <a:ln/>
        </p:spPr>
      </p:sp>
      <p:pic>
        <p:nvPicPr>
          <p:cNvPr id="11" name="Image 1" descr="preencoded.png">    </p:cNvPr>
          <p:cNvPicPr>
            <a:picLocks noChangeAspect="1"/>
          </p:cNvPicPr>
          <p:nvPr/>
        </p:nvPicPr>
        <p:blipFill>
          <a:blip r:embed="rId2"/>
          <a:stretch>
            <a:fillRect/>
          </a:stretch>
        </p:blipFill>
        <p:spPr>
          <a:xfrm>
            <a:off x="5120640" y="1737360"/>
            <a:ext cx="457200" cy="457200"/>
          </a:xfrm>
          <a:prstGeom prst="rect">
            <a:avLst/>
          </a:prstGeom>
        </p:spPr>
      </p:pic>
      <p:sp>
        <p:nvSpPr>
          <p:cNvPr id="12" name="Text 8"/>
          <p:cNvSpPr/>
          <p:nvPr/>
        </p:nvSpPr>
        <p:spPr>
          <a:xfrm>
            <a:off x="5852160" y="1645920"/>
            <a:ext cx="2377440" cy="640080"/>
          </a:xfrm>
          <a:prstGeom prst="rect">
            <a:avLst/>
          </a:prstGeom>
          <a:noFill/>
          <a:ln/>
        </p:spPr>
        <p:txBody>
          <a:bodyPr wrap="square" lIns="0" tIns="0" rIns="0" bIns="0" rtlCol="0" anchor="ctr"/>
          <a:lstStyle/>
          <a:p>
            <a:pPr algn="l" indent="0" marL="0">
              <a:buNone/>
            </a:pPr>
            <a:r>
              <a:rPr lang="en-US" sz="2000" b="1" dirty="0">
                <a:solidFill>
                  <a:srgbClr val="C0392B"/>
                </a:solidFill>
                <a:latin typeface="Yu Gothic UI" pitchFamily="34" charset="0"/>
                <a:ea typeface="Yu Gothic UI" pitchFamily="34" charset="-122"/>
                <a:cs typeface="Yu Gothic UI" pitchFamily="34" charset="-120"/>
              </a:rPr>
              <a:t>A  Accomplishment</a:t>
            </a:r>
            <a:endParaRPr lang="en-US" sz="2000" dirty="0"/>
          </a:p>
        </p:txBody>
      </p:sp>
      <p:sp>
        <p:nvSpPr>
          <p:cNvPr id="13" name="Text 9"/>
          <p:cNvSpPr/>
          <p:nvPr/>
        </p:nvSpPr>
        <p:spPr>
          <a:xfrm>
            <a:off x="5029200" y="2468880"/>
            <a:ext cx="3108960" cy="457200"/>
          </a:xfrm>
          <a:prstGeom prst="rect">
            <a:avLst/>
          </a:prstGeom>
          <a:noFill/>
          <a:ln/>
        </p:spPr>
        <p:txBody>
          <a:bodyPr wrap="square" lIns="0" tIns="0" rIns="0" bIns="0" rtlCol="0" anchor="ctr"/>
          <a:lstStyle/>
          <a:p>
            <a:pPr algn="l" indent="0" marL="0">
              <a:buNone/>
            </a:pPr>
            <a:r>
              <a:rPr lang="en-US" sz="2000" b="1" dirty="0">
                <a:solidFill>
                  <a:srgbClr val="2C3E50"/>
                </a:solidFill>
                <a:latin typeface="Yu Gothic UI" pitchFamily="34" charset="0"/>
                <a:ea typeface="Yu Gothic UI" pitchFamily="34" charset="-122"/>
                <a:cs typeface="Yu Gothic UI" pitchFamily="34" charset="-120"/>
              </a:rPr>
              <a:t>達成感</a:t>
            </a:r>
            <a:endParaRPr lang="en-US" sz="2000" dirty="0"/>
          </a:p>
        </p:txBody>
      </p:sp>
      <p:sp>
        <p:nvSpPr>
          <p:cNvPr id="14" name="Text 10"/>
          <p:cNvSpPr/>
          <p:nvPr/>
        </p:nvSpPr>
        <p:spPr>
          <a:xfrm>
            <a:off x="5029200" y="2926080"/>
            <a:ext cx="3108960" cy="1188720"/>
          </a:xfrm>
          <a:prstGeom prst="rect">
            <a:avLst/>
          </a:prstGeom>
          <a:noFill/>
          <a:ln/>
        </p:spPr>
        <p:txBody>
          <a:bodyPr wrap="square" lIns="0" tIns="0" rIns="0" bIns="0" rtlCol="0" anchor="ctr"/>
          <a:lstStyle/>
          <a:p>
            <a:pPr algn="l" indent="0" marL="0">
              <a:buNone/>
            </a:pPr>
            <a:r>
              <a:rPr lang="en-US" sz="1800" dirty="0">
                <a:solidFill>
                  <a:srgbClr val="34495E"/>
                </a:solidFill>
                <a:latin typeface="Yu Gothic UI" pitchFamily="34" charset="0"/>
                <a:ea typeface="Yu Gothic UI" pitchFamily="34" charset="-122"/>
                <a:cs typeface="Yu Gothic UI" pitchFamily="34" charset="-120"/>
              </a:rPr>
              <a:t>大きな目標でなくてもよい</a:t>
            </a:r>
            <a:endParaRPr lang="en-US" sz="1800" dirty="0"/>
          </a:p>
          <a:p>
            <a:pPr algn="l" indent="0" marL="0">
              <a:buNone/>
            </a:pPr>
            <a:r>
              <a:rPr lang="en-US" sz="1800" dirty="0">
                <a:solidFill>
                  <a:srgbClr val="34495E"/>
                </a:solidFill>
                <a:latin typeface="Yu Gothic UI" pitchFamily="34" charset="0"/>
                <a:ea typeface="Yu Gothic UI" pitchFamily="34" charset="-122"/>
                <a:cs typeface="Yu Gothic UI" pitchFamily="34" charset="-120"/>
              </a:rPr>
              <a:t>毎朝のジョギングを一か月続けた</a:t>
            </a:r>
            <a:endParaRPr lang="en-US" sz="1800" dirty="0"/>
          </a:p>
          <a:p>
            <a:pPr algn="l" indent="0" marL="0">
              <a:buNone/>
            </a:pPr>
            <a:r>
              <a:rPr lang="en-US" sz="1800" dirty="0">
                <a:solidFill>
                  <a:srgbClr val="34495E"/>
                </a:solidFill>
                <a:latin typeface="Yu Gothic UI" pitchFamily="34" charset="0"/>
                <a:ea typeface="Yu Gothic UI" pitchFamily="34" charset="-122"/>
                <a:cs typeface="Yu Gothic UI" pitchFamily="34" charset="-120"/>
              </a:rPr>
              <a:t>小さな達成の積み重ねが自信を育てる</a:t>
            </a:r>
            <a:endParaRPr lang="en-US" sz="1800" dirty="0"/>
          </a:p>
        </p:txBody>
      </p:sp>
      <p:sp>
        <p:nvSpPr>
          <p:cNvPr id="15" name="Text 11"/>
          <p:cNvSpPr/>
          <p:nvPr/>
        </p:nvSpPr>
        <p:spPr>
          <a:xfrm>
            <a:off x="731520" y="4663440"/>
            <a:ext cx="2743200" cy="365760"/>
          </a:xfrm>
          <a:prstGeom prst="rect">
            <a:avLst/>
          </a:prstGeom>
          <a:noFill/>
          <a:ln/>
        </p:spPr>
        <p:txBody>
          <a:bodyPr wrap="square" lIns="0" tIns="0" rIns="0" bIns="0" rtlCol="0" anchor="ctr"/>
          <a:lstStyle/>
          <a:p>
            <a:pPr algn="l" indent="0" marL="0">
              <a:buNone/>
            </a:pPr>
            <a:r>
              <a:rPr lang="en-US" sz="1400" dirty="0">
                <a:solidFill>
                  <a:srgbClr val="7F8C8D"/>
                </a:solidFill>
                <a:latin typeface="Yu Gothic UI" pitchFamily="34" charset="0"/>
                <a:ea typeface="Yu Gothic UI" pitchFamily="34" charset="-122"/>
                <a:cs typeface="Yu Gothic UI" pitchFamily="34" charset="-120"/>
              </a:rPr>
              <a:t>3. 科学・心理学</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9"/>
        </a:solidFill>
      </p:bgPr>
    </p:bg>
    <p:spTree>
      <p:nvGrpSpPr>
        <p:cNvPr id="1" name=""/>
        <p:cNvGrpSpPr/>
        <p:nvPr/>
      </p:nvGrpSpPr>
      <p:grpSpPr>
        <a:xfrm>
          <a:off x="0" y="0"/>
          <a:ext cx="0" cy="0"/>
          <a:chOff x="0" y="0"/>
          <a:chExt cx="0" cy="0"/>
        </a:xfrm>
      </p:grpSpPr>
      <p:sp>
        <p:nvSpPr>
          <p:cNvPr id="2" name="Text 0"/>
          <p:cNvSpPr/>
          <p:nvPr/>
        </p:nvSpPr>
        <p:spPr>
          <a:xfrm>
            <a:off x="731520" y="365760"/>
            <a:ext cx="7680960" cy="731520"/>
          </a:xfrm>
          <a:prstGeom prst="rect">
            <a:avLst/>
          </a:prstGeom>
          <a:noFill/>
          <a:ln/>
        </p:spPr>
        <p:txBody>
          <a:bodyPr wrap="square" lIns="0" tIns="0" rIns="0" bIns="0" rtlCol="0" anchor="ctr"/>
          <a:lstStyle/>
          <a:p>
            <a:pPr algn="l" indent="0" marL="0">
              <a:buNone/>
            </a:pPr>
            <a:r>
              <a:rPr lang="en-US" sz="3200" b="1" dirty="0">
                <a:solidFill>
                  <a:srgbClr val="2C3E50"/>
                </a:solidFill>
                <a:latin typeface="Yu Gothic UI" pitchFamily="34" charset="0"/>
                <a:ea typeface="Yu Gothic UI" pitchFamily="34" charset="-122"/>
                <a:cs typeface="Yu Gothic UI" pitchFamily="34" charset="-120"/>
              </a:rPr>
              <a:t>「感謝」の力</a:t>
            </a:r>
            <a:endParaRPr lang="en-US" sz="3200" dirty="0"/>
          </a:p>
        </p:txBody>
      </p:sp>
      <p:pic>
        <p:nvPicPr>
          <p:cNvPr id="3" name="Image 0" descr="preencoded.png">    </p:cNvPr>
          <p:cNvPicPr>
            <a:picLocks noChangeAspect="1"/>
          </p:cNvPicPr>
          <p:nvPr/>
        </p:nvPicPr>
        <p:blipFill>
          <a:blip r:embed="rId1"/>
          <a:stretch>
            <a:fillRect/>
          </a:stretch>
        </p:blipFill>
        <p:spPr>
          <a:xfrm>
            <a:off x="7680960" y="457200"/>
            <a:ext cx="457200" cy="457200"/>
          </a:xfrm>
          <a:prstGeom prst="rect">
            <a:avLst/>
          </a:prstGeom>
        </p:spPr>
      </p:pic>
      <p:sp>
        <p:nvSpPr>
          <p:cNvPr id="4" name="Shape 1"/>
          <p:cNvSpPr/>
          <p:nvPr/>
        </p:nvSpPr>
        <p:spPr>
          <a:xfrm>
            <a:off x="731520" y="1371600"/>
            <a:ext cx="7680960" cy="1463040"/>
          </a:xfrm>
          <a:prstGeom prst="rect">
            <a:avLst/>
          </a:prstGeom>
          <a:solidFill>
            <a:srgbClr val="E8F5E9"/>
          </a:solidFill>
          <a:ln/>
        </p:spPr>
      </p:sp>
      <p:sp>
        <p:nvSpPr>
          <p:cNvPr id="5" name="Text 2"/>
          <p:cNvSpPr/>
          <p:nvPr/>
        </p:nvSpPr>
        <p:spPr>
          <a:xfrm>
            <a:off x="1097280" y="1463040"/>
            <a:ext cx="6949440" cy="914400"/>
          </a:xfrm>
          <a:prstGeom prst="rect">
            <a:avLst/>
          </a:prstGeom>
          <a:noFill/>
          <a:ln/>
        </p:spPr>
        <p:txBody>
          <a:bodyPr wrap="square" lIns="0" tIns="0" rIns="0" bIns="0" rtlCol="0" anchor="ctr"/>
          <a:lstStyle/>
          <a:p>
            <a:pPr algn="l" indent="0" marL="0">
              <a:buNone/>
            </a:pPr>
            <a:r>
              <a:rPr lang="en-US" sz="2200" b="1" dirty="0">
                <a:solidFill>
                  <a:srgbClr val="1A6B5A"/>
                </a:solidFill>
                <a:latin typeface="Yu Gothic UI" pitchFamily="34" charset="0"/>
                <a:ea typeface="Yu Gothic UI" pitchFamily="34" charset="-122"/>
                <a:cs typeface="Yu Gothic UI" pitchFamily="34" charset="-120"/>
              </a:rPr>
              <a:t>毎晩寝る前に「今日感謝できること」を三つ書き出す</a:t>
            </a:r>
            <a:endParaRPr lang="en-US" sz="2200" dirty="0"/>
          </a:p>
          <a:p>
            <a:pPr algn="l" indent="0" marL="0">
              <a:buNone/>
            </a:pPr>
            <a:r>
              <a:rPr lang="en-US" sz="2200" b="1" dirty="0">
                <a:solidFill>
                  <a:srgbClr val="1A6B5A"/>
                </a:solidFill>
                <a:latin typeface="Yu Gothic UI" pitchFamily="34" charset="0"/>
                <a:ea typeface="Yu Gothic UI" pitchFamily="34" charset="-122"/>
                <a:cs typeface="Yu Gothic UI" pitchFamily="34" charset="-120"/>
              </a:rPr>
              <a:t>たったこれだけで数週間後には気分が改善</a:t>
            </a:r>
            <a:endParaRPr lang="en-US" sz="2200" dirty="0"/>
          </a:p>
        </p:txBody>
      </p:sp>
      <p:sp>
        <p:nvSpPr>
          <p:cNvPr id="6" name="Text 3"/>
          <p:cNvSpPr/>
          <p:nvPr/>
        </p:nvSpPr>
        <p:spPr>
          <a:xfrm>
            <a:off x="1097280" y="2377440"/>
            <a:ext cx="6949440" cy="365760"/>
          </a:xfrm>
          <a:prstGeom prst="rect">
            <a:avLst/>
          </a:prstGeom>
          <a:noFill/>
          <a:ln/>
        </p:spPr>
        <p:txBody>
          <a:bodyPr wrap="square" lIns="0" tIns="0" rIns="0" bIns="0" rtlCol="0" anchor="ctr"/>
          <a:lstStyle/>
          <a:p>
            <a:pPr algn="l" indent="0" marL="0">
              <a:buNone/>
            </a:pPr>
            <a:r>
              <a:rPr lang="en-US" sz="1800" i="1" dirty="0">
                <a:solidFill>
                  <a:srgbClr val="7F8C8D"/>
                </a:solidFill>
                <a:latin typeface="Yu Gothic UI" pitchFamily="34" charset="0"/>
                <a:ea typeface="Yu Gothic UI" pitchFamily="34" charset="-122"/>
                <a:cs typeface="Yu Gothic UI" pitchFamily="34" charset="-120"/>
              </a:rPr>
              <a:t>── 複数の研究で効果が確認</a:t>
            </a:r>
            <a:endParaRPr lang="en-US" sz="1800" dirty="0"/>
          </a:p>
        </p:txBody>
      </p:sp>
      <p:sp>
        <p:nvSpPr>
          <p:cNvPr id="7" name="Shape 4"/>
          <p:cNvSpPr/>
          <p:nvPr/>
        </p:nvSpPr>
        <p:spPr>
          <a:xfrm>
            <a:off x="731520" y="3200400"/>
            <a:ext cx="7680960" cy="128016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8" name="Shape 5"/>
          <p:cNvSpPr/>
          <p:nvPr/>
        </p:nvSpPr>
        <p:spPr>
          <a:xfrm>
            <a:off x="731520" y="3200400"/>
            <a:ext cx="73152" cy="1280160"/>
          </a:xfrm>
          <a:prstGeom prst="rect">
            <a:avLst/>
          </a:prstGeom>
          <a:solidFill>
            <a:srgbClr val="2ECC71"/>
          </a:solidFill>
          <a:ln/>
        </p:spPr>
      </p:sp>
      <p:sp>
        <p:nvSpPr>
          <p:cNvPr id="9" name="Text 6"/>
          <p:cNvSpPr/>
          <p:nvPr/>
        </p:nvSpPr>
        <p:spPr>
          <a:xfrm>
            <a:off x="1097280" y="3291840"/>
            <a:ext cx="6949440" cy="457200"/>
          </a:xfrm>
          <a:prstGeom prst="rect">
            <a:avLst/>
          </a:prstGeom>
          <a:noFill/>
          <a:ln/>
        </p:spPr>
        <p:txBody>
          <a:bodyPr wrap="square" lIns="0" tIns="0" rIns="0" bIns="0" rtlCol="0" anchor="ctr"/>
          <a:lstStyle/>
          <a:p>
            <a:pPr algn="l" indent="0" marL="0">
              <a:buNone/>
            </a:pPr>
            <a:r>
              <a:rPr lang="en-US" sz="2000" b="1" dirty="0">
                <a:solidFill>
                  <a:srgbClr val="1A6B5A"/>
                </a:solidFill>
                <a:latin typeface="Yu Gothic UI" pitchFamily="34" charset="0"/>
                <a:ea typeface="Yu Gothic UI" pitchFamily="34" charset="-122"/>
                <a:cs typeface="Yu Gothic UI" pitchFamily="34" charset="-120"/>
              </a:rPr>
              <a:t>なぜ感謝が効くのか？</a:t>
            </a:r>
            <a:endParaRPr lang="en-US" sz="2000" dirty="0"/>
          </a:p>
        </p:txBody>
      </p:sp>
      <p:sp>
        <p:nvSpPr>
          <p:cNvPr id="10" name="Text 7"/>
          <p:cNvSpPr/>
          <p:nvPr/>
        </p:nvSpPr>
        <p:spPr>
          <a:xfrm>
            <a:off x="1097280" y="3749040"/>
            <a:ext cx="6949440" cy="640080"/>
          </a:xfrm>
          <a:prstGeom prst="rect">
            <a:avLst/>
          </a:prstGeom>
          <a:noFill/>
          <a:ln/>
        </p:spPr>
        <p:txBody>
          <a:bodyPr wrap="square" lIns="0" tIns="0" rIns="0" bIns="0" rtlCol="0" anchor="ctr"/>
          <a:lstStyle/>
          <a:p>
            <a:pPr algn="l" indent="0" marL="0">
              <a:buNone/>
            </a:pPr>
            <a:r>
              <a:rPr lang="en-US" sz="1800" dirty="0">
                <a:solidFill>
                  <a:srgbClr val="34495E"/>
                </a:solidFill>
                <a:latin typeface="Yu Gothic UI" pitchFamily="34" charset="0"/>
                <a:ea typeface="Yu Gothic UI" pitchFamily="34" charset="-122"/>
                <a:cs typeface="Yu Gothic UI" pitchFamily="34" charset="-120"/>
              </a:rPr>
              <a:t>「自分にはすでに良いものがある」と気づく行為</a:t>
            </a:r>
            <a:endParaRPr lang="en-US" sz="1800" dirty="0"/>
          </a:p>
          <a:p>
            <a:pPr algn="l" indent="0" marL="0">
              <a:buNone/>
            </a:pPr>
            <a:r>
              <a:rPr lang="en-US" sz="1800" dirty="0">
                <a:solidFill>
                  <a:srgbClr val="34495E"/>
                </a:solidFill>
                <a:latin typeface="Yu Gothic UI" pitchFamily="34" charset="0"/>
                <a:ea typeface="Yu Gothic UI" pitchFamily="34" charset="-122"/>
                <a:cs typeface="Yu Gothic UI" pitchFamily="34" charset="-120"/>
              </a:rPr>
              <a:t>足りないものから、今あるものへ視点を転換する</a:t>
            </a:r>
            <a:endParaRPr lang="en-US" sz="1800" dirty="0"/>
          </a:p>
        </p:txBody>
      </p:sp>
      <p:sp>
        <p:nvSpPr>
          <p:cNvPr id="11" name="Text 8"/>
          <p:cNvSpPr/>
          <p:nvPr/>
        </p:nvSpPr>
        <p:spPr>
          <a:xfrm>
            <a:off x="731520" y="4663440"/>
            <a:ext cx="2743200" cy="365760"/>
          </a:xfrm>
          <a:prstGeom prst="rect">
            <a:avLst/>
          </a:prstGeom>
          <a:noFill/>
          <a:ln/>
        </p:spPr>
        <p:txBody>
          <a:bodyPr wrap="square" lIns="0" tIns="0" rIns="0" bIns="0" rtlCol="0" anchor="ctr"/>
          <a:lstStyle/>
          <a:p>
            <a:pPr algn="l" indent="0" marL="0">
              <a:buNone/>
            </a:pPr>
            <a:r>
              <a:rPr lang="en-US" sz="1400" dirty="0">
                <a:solidFill>
                  <a:srgbClr val="7F8C8D"/>
                </a:solidFill>
                <a:latin typeface="Yu Gothic UI" pitchFamily="34" charset="0"/>
                <a:ea typeface="Yu Gothic UI" pitchFamily="34" charset="-122"/>
                <a:cs typeface="Yu Gothic UI" pitchFamily="34" charset="-120"/>
              </a:rPr>
              <a:t>3. 科学・心理学</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5276"/>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CC71"/>
          </a:solidFill>
          <a:ln/>
        </p:spPr>
      </p:sp>
      <p:sp>
        <p:nvSpPr>
          <p:cNvPr id="3" name="Text 1"/>
          <p:cNvSpPr/>
          <p:nvPr/>
        </p:nvSpPr>
        <p:spPr>
          <a:xfrm>
            <a:off x="731520" y="914400"/>
            <a:ext cx="1828800" cy="914400"/>
          </a:xfrm>
          <a:prstGeom prst="rect">
            <a:avLst/>
          </a:prstGeom>
          <a:noFill/>
          <a:ln/>
        </p:spPr>
        <p:txBody>
          <a:bodyPr wrap="square" lIns="0" tIns="0" rIns="0" bIns="0" rtlCol="0" anchor="ctr"/>
          <a:lstStyle/>
          <a:p>
            <a:pPr algn="l" indent="0" marL="0">
              <a:buNone/>
            </a:pPr>
            <a:r>
              <a:rPr lang="en-US" sz="6000" b="1" dirty="0">
                <a:solidFill>
                  <a:srgbClr val="2ECC71"/>
                </a:solidFill>
                <a:latin typeface="Yu Gothic UI" pitchFamily="34" charset="0"/>
                <a:ea typeface="Yu Gothic UI" pitchFamily="34" charset="-122"/>
                <a:cs typeface="Yu Gothic UI" pitchFamily="34" charset="-120"/>
              </a:rPr>
              <a:t>04</a:t>
            </a:r>
            <a:endParaRPr lang="en-US" sz="6000" dirty="0"/>
          </a:p>
        </p:txBody>
      </p:sp>
      <p:sp>
        <p:nvSpPr>
          <p:cNvPr id="4" name="Text 2"/>
          <p:cNvSpPr/>
          <p:nvPr/>
        </p:nvSpPr>
        <p:spPr>
          <a:xfrm>
            <a:off x="731520" y="2011680"/>
            <a:ext cx="7680960" cy="914400"/>
          </a:xfrm>
          <a:prstGeom prst="rect">
            <a:avLst/>
          </a:prstGeom>
          <a:noFill/>
          <a:ln/>
        </p:spPr>
        <p:txBody>
          <a:bodyPr wrap="square" lIns="0" tIns="0" rIns="0" bIns="0" rtlCol="0" anchor="ctr"/>
          <a:lstStyle/>
          <a:p>
            <a:pPr algn="l" indent="0" marL="0">
              <a:buNone/>
            </a:pPr>
            <a:r>
              <a:rPr lang="en-US" sz="3600" b="1" dirty="0">
                <a:solidFill>
                  <a:srgbClr val="FFFFFF"/>
                </a:solidFill>
                <a:latin typeface="Yu Gothic UI" pitchFamily="34" charset="0"/>
                <a:ea typeface="Yu Gothic UI" pitchFamily="34" charset="-122"/>
                <a:cs typeface="Yu Gothic UI" pitchFamily="34" charset="-120"/>
              </a:rPr>
              <a:t>哲学・思想から見た幸福</a:t>
            </a:r>
            <a:endParaRPr lang="en-US" sz="3600" dirty="0"/>
          </a:p>
        </p:txBody>
      </p:sp>
      <p:sp>
        <p:nvSpPr>
          <p:cNvPr id="5" name="Text 3"/>
          <p:cNvSpPr/>
          <p:nvPr/>
        </p:nvSpPr>
        <p:spPr>
          <a:xfrm>
            <a:off x="731520" y="3017520"/>
            <a:ext cx="7680960" cy="548640"/>
          </a:xfrm>
          <a:prstGeom prst="rect">
            <a:avLst/>
          </a:prstGeom>
          <a:noFill/>
          <a:ln/>
        </p:spPr>
        <p:txBody>
          <a:bodyPr wrap="square" lIns="0" tIns="0" rIns="0" bIns="0" rtlCol="0" anchor="ctr"/>
          <a:lstStyle/>
          <a:p>
            <a:pPr algn="l" indent="0" marL="0">
              <a:buNone/>
            </a:pPr>
            <a:r>
              <a:rPr lang="en-US" sz="2000" dirty="0">
                <a:solidFill>
                  <a:srgbClr val="2ECC71"/>
                </a:solidFill>
                <a:latin typeface="Yu Gothic UI" pitchFamily="34" charset="0"/>
                <a:ea typeface="Yu Gothic UI" pitchFamily="34" charset="-122"/>
                <a:cs typeface="Yu Gothic UI" pitchFamily="34" charset="-120"/>
              </a:rPr>
              <a:t>先人たちの知恵</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9"/>
        </a:solidFill>
      </p:bgPr>
    </p:bg>
    <p:spTree>
      <p:nvGrpSpPr>
        <p:cNvPr id="1" name=""/>
        <p:cNvGrpSpPr/>
        <p:nvPr/>
      </p:nvGrpSpPr>
      <p:grpSpPr>
        <a:xfrm>
          <a:off x="0" y="0"/>
          <a:ext cx="0" cy="0"/>
          <a:chOff x="0" y="0"/>
          <a:chExt cx="0" cy="0"/>
        </a:xfrm>
      </p:grpSpPr>
      <p:sp>
        <p:nvSpPr>
          <p:cNvPr id="2" name="Text 0"/>
          <p:cNvSpPr/>
          <p:nvPr/>
        </p:nvSpPr>
        <p:spPr>
          <a:xfrm>
            <a:off x="731520" y="365760"/>
            <a:ext cx="7680960" cy="731520"/>
          </a:xfrm>
          <a:prstGeom prst="rect">
            <a:avLst/>
          </a:prstGeom>
          <a:noFill/>
          <a:ln/>
        </p:spPr>
        <p:txBody>
          <a:bodyPr wrap="square" lIns="0" tIns="0" rIns="0" bIns="0" rtlCol="0" anchor="ctr"/>
          <a:lstStyle/>
          <a:p>
            <a:pPr algn="l" indent="0" marL="0">
              <a:buNone/>
            </a:pPr>
            <a:r>
              <a:rPr lang="en-US" sz="3200" b="1" dirty="0">
                <a:solidFill>
                  <a:srgbClr val="2C3E50"/>
                </a:solidFill>
                <a:latin typeface="Yu Gothic UI" pitchFamily="34" charset="0"/>
                <a:ea typeface="Yu Gothic UI" pitchFamily="34" charset="-122"/>
                <a:cs typeface="Yu Gothic UI" pitchFamily="34" charset="-120"/>
              </a:rPr>
              <a:t>アリストテレス</a:t>
            </a:r>
            <a:endParaRPr lang="en-US" sz="3200" dirty="0"/>
          </a:p>
        </p:txBody>
      </p:sp>
      <p:sp>
        <p:nvSpPr>
          <p:cNvPr id="3" name="Shape 1"/>
          <p:cNvSpPr/>
          <p:nvPr/>
        </p:nvSpPr>
        <p:spPr>
          <a:xfrm>
            <a:off x="731520" y="1371600"/>
            <a:ext cx="7680960" cy="1097280"/>
          </a:xfrm>
          <a:prstGeom prst="rect">
            <a:avLst/>
          </a:prstGeom>
          <a:solidFill>
            <a:srgbClr val="1A6B5A"/>
          </a:solidFill>
          <a:ln/>
        </p:spPr>
      </p:sp>
      <p:sp>
        <p:nvSpPr>
          <p:cNvPr id="4" name="Shape 2"/>
          <p:cNvSpPr/>
          <p:nvPr/>
        </p:nvSpPr>
        <p:spPr>
          <a:xfrm>
            <a:off x="1005840" y="1554480"/>
            <a:ext cx="640080" cy="640080"/>
          </a:xfrm>
          <a:prstGeom prst="ellipse">
            <a:avLst/>
          </a:prstGeom>
          <a:solidFill>
            <a:srgbClr val="2ECC71"/>
          </a:solidFill>
          <a:ln/>
        </p:spPr>
      </p:sp>
      <p:pic>
        <p:nvPicPr>
          <p:cNvPr id="5" name="Image 0" descr="preencoded.png">    </p:cNvPr>
          <p:cNvPicPr>
            <a:picLocks noChangeAspect="1"/>
          </p:cNvPicPr>
          <p:nvPr/>
        </p:nvPicPr>
        <p:blipFill>
          <a:blip r:embed="rId1"/>
          <a:stretch>
            <a:fillRect/>
          </a:stretch>
        </p:blipFill>
        <p:spPr>
          <a:xfrm>
            <a:off x="1097280" y="1645920"/>
            <a:ext cx="457200" cy="457200"/>
          </a:xfrm>
          <a:prstGeom prst="rect">
            <a:avLst/>
          </a:prstGeom>
        </p:spPr>
      </p:pic>
      <p:sp>
        <p:nvSpPr>
          <p:cNvPr id="6" name="Text 3"/>
          <p:cNvSpPr/>
          <p:nvPr/>
        </p:nvSpPr>
        <p:spPr>
          <a:xfrm>
            <a:off x="1828800" y="1371600"/>
            <a:ext cx="6400800" cy="1097280"/>
          </a:xfrm>
          <a:prstGeom prst="rect">
            <a:avLst/>
          </a:prstGeom>
          <a:noFill/>
          <a:ln/>
        </p:spPr>
        <p:txBody>
          <a:bodyPr wrap="square" lIns="0" tIns="0" rIns="0" bIns="0" rtlCol="0" anchor="ctr"/>
          <a:lstStyle/>
          <a:p>
            <a:pPr algn="l" indent="0" marL="0">
              <a:buNone/>
            </a:pPr>
            <a:r>
              <a:rPr lang="en-US" sz="2600" b="1" dirty="0">
                <a:solidFill>
                  <a:srgbClr val="FFFFFF"/>
                </a:solidFill>
                <a:latin typeface="Yu Gothic UI" pitchFamily="34" charset="0"/>
                <a:ea typeface="Yu Gothic UI" pitchFamily="34" charset="-122"/>
                <a:cs typeface="Yu Gothic UI" pitchFamily="34" charset="-120"/>
              </a:rPr>
              <a:t>エウダイモニア ＝「よく生きること」</a:t>
            </a:r>
            <a:endParaRPr lang="en-US" sz="2600" dirty="0"/>
          </a:p>
        </p:txBody>
      </p:sp>
      <p:sp>
        <p:nvSpPr>
          <p:cNvPr id="7" name="Shape 4"/>
          <p:cNvSpPr/>
          <p:nvPr/>
        </p:nvSpPr>
        <p:spPr>
          <a:xfrm>
            <a:off x="731520" y="2743200"/>
            <a:ext cx="7680960" cy="164592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8" name="Text 5"/>
          <p:cNvSpPr/>
          <p:nvPr/>
        </p:nvSpPr>
        <p:spPr>
          <a:xfrm>
            <a:off x="1097280" y="2834640"/>
            <a:ext cx="6949440" cy="914400"/>
          </a:xfrm>
          <a:prstGeom prst="rect">
            <a:avLst/>
          </a:prstGeom>
          <a:noFill/>
          <a:ln/>
        </p:spPr>
        <p:txBody>
          <a:bodyPr wrap="square" lIns="0" tIns="0" rIns="0" bIns="0" rtlCol="0" anchor="ctr"/>
          <a:lstStyle/>
          <a:p>
            <a:pPr algn="l" indent="0" marL="0">
              <a:buNone/>
            </a:pPr>
            <a:r>
              <a:rPr lang="en-US" sz="2200" dirty="0">
                <a:solidFill>
                  <a:srgbClr val="2C3E50"/>
                </a:solidFill>
                <a:latin typeface="Yu Gothic UI" pitchFamily="34" charset="0"/>
                <a:ea typeface="Yu Gothic UI" pitchFamily="34" charset="-122"/>
                <a:cs typeface="Yu Gothic UI" pitchFamily="34" charset="-120"/>
              </a:rPr>
              <a:t>自分の持つ能力や美徳を発揮して</a:t>
            </a:r>
            <a:endParaRPr lang="en-US" sz="2200" dirty="0"/>
          </a:p>
          <a:p>
            <a:pPr algn="l" indent="0" marL="0">
              <a:buNone/>
            </a:pPr>
            <a:r>
              <a:rPr lang="en-US" sz="2200" dirty="0">
                <a:solidFill>
                  <a:srgbClr val="2C3E50"/>
                </a:solidFill>
                <a:latin typeface="Yu Gothic UI" pitchFamily="34" charset="0"/>
                <a:ea typeface="Yu Gothic UI" pitchFamily="34" charset="-122"/>
                <a:cs typeface="Yu Gothic UI" pitchFamily="34" charset="-120"/>
              </a:rPr>
              <a:t>充実した人生を送ること──それが本当の幸福</a:t>
            </a:r>
            <a:endParaRPr lang="en-US" sz="2200" dirty="0"/>
          </a:p>
        </p:txBody>
      </p:sp>
      <p:sp>
        <p:nvSpPr>
          <p:cNvPr id="9" name="Text 6"/>
          <p:cNvSpPr/>
          <p:nvPr/>
        </p:nvSpPr>
        <p:spPr>
          <a:xfrm>
            <a:off x="1097280" y="3657600"/>
            <a:ext cx="6949440" cy="640080"/>
          </a:xfrm>
          <a:prstGeom prst="rect">
            <a:avLst/>
          </a:prstGeom>
          <a:noFill/>
          <a:ln/>
        </p:spPr>
        <p:txBody>
          <a:bodyPr wrap="square" lIns="0" tIns="0" rIns="0" bIns="0" rtlCol="0" anchor="ctr"/>
          <a:lstStyle/>
          <a:p>
            <a:pPr algn="l" indent="0" marL="0">
              <a:buNone/>
            </a:pPr>
            <a:r>
              <a:rPr lang="en-US" sz="1800" dirty="0">
                <a:solidFill>
                  <a:srgbClr val="34495E"/>
                </a:solidFill>
                <a:latin typeface="Yu Gothic UI" pitchFamily="34" charset="0"/>
                <a:ea typeface="Yu Gothic UI" pitchFamily="34" charset="-122"/>
                <a:cs typeface="Yu Gothic UI" pitchFamily="34" charset="-120"/>
              </a:rPr>
              <a:t>幸福は「活動」である</a:t>
            </a:r>
            <a:endParaRPr lang="en-US" sz="1800" dirty="0"/>
          </a:p>
          <a:p>
            <a:pPr algn="l" indent="0" marL="0">
              <a:buNone/>
            </a:pPr>
            <a:r>
              <a:rPr lang="en-US" sz="1800" dirty="0">
                <a:solidFill>
                  <a:srgbClr val="34495E"/>
                </a:solidFill>
                <a:latin typeface="Yu Gothic UI" pitchFamily="34" charset="0"/>
                <a:ea typeface="Yu Gothic UI" pitchFamily="34" charset="-122"/>
                <a:cs typeface="Yu Gothic UI" pitchFamily="34" charset="-120"/>
              </a:rPr>
              <a:t>ただ座って待っていても訪れない──日々の行動の中で作り上げるもの</a:t>
            </a:r>
            <a:endParaRPr lang="en-US" sz="1800" dirty="0"/>
          </a:p>
        </p:txBody>
      </p:sp>
      <p:sp>
        <p:nvSpPr>
          <p:cNvPr id="10" name="Text 7"/>
          <p:cNvSpPr/>
          <p:nvPr/>
        </p:nvSpPr>
        <p:spPr>
          <a:xfrm>
            <a:off x="731520" y="4663440"/>
            <a:ext cx="2743200" cy="365760"/>
          </a:xfrm>
          <a:prstGeom prst="rect">
            <a:avLst/>
          </a:prstGeom>
          <a:noFill/>
          <a:ln/>
        </p:spPr>
        <p:txBody>
          <a:bodyPr wrap="square" lIns="0" tIns="0" rIns="0" bIns="0" rtlCol="0" anchor="ctr"/>
          <a:lstStyle/>
          <a:p>
            <a:pPr algn="l" indent="0" marL="0">
              <a:buNone/>
            </a:pPr>
            <a:r>
              <a:rPr lang="en-US" sz="1400" dirty="0">
                <a:solidFill>
                  <a:srgbClr val="7F8C8D"/>
                </a:solidFill>
                <a:latin typeface="Yu Gothic UI" pitchFamily="34" charset="0"/>
                <a:ea typeface="Yu Gothic UI" pitchFamily="34" charset="-122"/>
                <a:cs typeface="Yu Gothic UI" pitchFamily="34" charset="-120"/>
              </a:rPr>
              <a:t>4. 哲学・思想</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9"/>
        </a:solidFill>
      </p:bgPr>
    </p:bg>
    <p:spTree>
      <p:nvGrpSpPr>
        <p:cNvPr id="1" name=""/>
        <p:cNvGrpSpPr/>
        <p:nvPr/>
      </p:nvGrpSpPr>
      <p:grpSpPr>
        <a:xfrm>
          <a:off x="0" y="0"/>
          <a:ext cx="0" cy="0"/>
          <a:chOff x="0" y="0"/>
          <a:chExt cx="0" cy="0"/>
        </a:xfrm>
      </p:grpSpPr>
      <p:sp>
        <p:nvSpPr>
          <p:cNvPr id="2" name="Text 0"/>
          <p:cNvSpPr/>
          <p:nvPr/>
        </p:nvSpPr>
        <p:spPr>
          <a:xfrm>
            <a:off x="731520" y="365760"/>
            <a:ext cx="7680960" cy="731520"/>
          </a:xfrm>
          <a:prstGeom prst="rect">
            <a:avLst/>
          </a:prstGeom>
          <a:noFill/>
          <a:ln/>
        </p:spPr>
        <p:txBody>
          <a:bodyPr wrap="square" lIns="0" tIns="0" rIns="0" bIns="0" rtlCol="0" anchor="ctr"/>
          <a:lstStyle/>
          <a:p>
            <a:pPr algn="l" indent="0" marL="0">
              <a:buNone/>
            </a:pPr>
            <a:r>
              <a:rPr lang="en-US" sz="3200" b="1" dirty="0">
                <a:solidFill>
                  <a:srgbClr val="2C3E50"/>
                </a:solidFill>
                <a:latin typeface="Yu Gothic UI" pitchFamily="34" charset="0"/>
                <a:ea typeface="Yu Gothic UI" pitchFamily="34" charset="-122"/>
                <a:cs typeface="Yu Gothic UI" pitchFamily="34" charset="-120"/>
              </a:rPr>
              <a:t>エピクロス</a:t>
            </a:r>
            <a:endParaRPr lang="en-US" sz="3200" dirty="0"/>
          </a:p>
        </p:txBody>
      </p:sp>
      <p:sp>
        <p:nvSpPr>
          <p:cNvPr id="3" name="Shape 1"/>
          <p:cNvSpPr/>
          <p:nvPr/>
        </p:nvSpPr>
        <p:spPr>
          <a:xfrm>
            <a:off x="731520" y="1371600"/>
            <a:ext cx="7680960" cy="1097280"/>
          </a:xfrm>
          <a:prstGeom prst="rect">
            <a:avLst/>
          </a:prstGeom>
          <a:solidFill>
            <a:srgbClr val="8E44AD"/>
          </a:solidFill>
          <a:ln/>
        </p:spPr>
      </p:sp>
      <p:sp>
        <p:nvSpPr>
          <p:cNvPr id="4" name="Shape 2"/>
          <p:cNvSpPr/>
          <p:nvPr/>
        </p:nvSpPr>
        <p:spPr>
          <a:xfrm>
            <a:off x="1005840" y="1554480"/>
            <a:ext cx="640080" cy="640080"/>
          </a:xfrm>
          <a:prstGeom prst="ellipse">
            <a:avLst/>
          </a:prstGeom>
          <a:solidFill>
            <a:srgbClr val="A569BD"/>
          </a:solidFill>
          <a:ln/>
        </p:spPr>
      </p:sp>
      <p:pic>
        <p:nvPicPr>
          <p:cNvPr id="5" name="Image 0" descr="preencoded.png">    </p:cNvPr>
          <p:cNvPicPr>
            <a:picLocks noChangeAspect="1"/>
          </p:cNvPicPr>
          <p:nvPr/>
        </p:nvPicPr>
        <p:blipFill>
          <a:blip r:embed="rId1"/>
          <a:stretch>
            <a:fillRect/>
          </a:stretch>
        </p:blipFill>
        <p:spPr>
          <a:xfrm>
            <a:off x="1097280" y="1645920"/>
            <a:ext cx="457200" cy="457200"/>
          </a:xfrm>
          <a:prstGeom prst="rect">
            <a:avLst/>
          </a:prstGeom>
        </p:spPr>
      </p:pic>
      <p:sp>
        <p:nvSpPr>
          <p:cNvPr id="6" name="Text 3"/>
          <p:cNvSpPr/>
          <p:nvPr/>
        </p:nvSpPr>
        <p:spPr>
          <a:xfrm>
            <a:off x="1828800" y="1371600"/>
            <a:ext cx="6400800" cy="1097280"/>
          </a:xfrm>
          <a:prstGeom prst="rect">
            <a:avLst/>
          </a:prstGeom>
          <a:noFill/>
          <a:ln/>
        </p:spPr>
        <p:txBody>
          <a:bodyPr wrap="square" lIns="0" tIns="0" rIns="0" bIns="0" rtlCol="0" anchor="ctr"/>
          <a:lstStyle/>
          <a:p>
            <a:pPr algn="l" indent="0" marL="0">
              <a:buNone/>
            </a:pPr>
            <a:r>
              <a:rPr lang="en-US" sz="2600" b="1" dirty="0">
                <a:solidFill>
                  <a:srgbClr val="FFFFFF"/>
                </a:solidFill>
                <a:latin typeface="Yu Gothic UI" pitchFamily="34" charset="0"/>
                <a:ea typeface="Yu Gothic UI" pitchFamily="34" charset="-122"/>
                <a:cs typeface="Yu Gothic UI" pitchFamily="34" charset="-120"/>
              </a:rPr>
              <a:t>アタラクシア ＝「心の平穏」</a:t>
            </a:r>
            <a:endParaRPr lang="en-US" sz="2600" dirty="0"/>
          </a:p>
        </p:txBody>
      </p:sp>
      <p:sp>
        <p:nvSpPr>
          <p:cNvPr id="7" name="Shape 4"/>
          <p:cNvSpPr/>
          <p:nvPr/>
        </p:nvSpPr>
        <p:spPr>
          <a:xfrm>
            <a:off x="731520" y="2743200"/>
            <a:ext cx="7680960" cy="164592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8" name="Text 5"/>
          <p:cNvSpPr/>
          <p:nvPr/>
        </p:nvSpPr>
        <p:spPr>
          <a:xfrm>
            <a:off x="1097280" y="2834640"/>
            <a:ext cx="6949440" cy="914400"/>
          </a:xfrm>
          <a:prstGeom prst="rect">
            <a:avLst/>
          </a:prstGeom>
          <a:noFill/>
          <a:ln/>
        </p:spPr>
        <p:txBody>
          <a:bodyPr wrap="square" lIns="0" tIns="0" rIns="0" bIns="0" rtlCol="0" anchor="ctr"/>
          <a:lstStyle/>
          <a:p>
            <a:pPr algn="l" indent="0" marL="0">
              <a:buNone/>
            </a:pPr>
            <a:r>
              <a:rPr lang="en-US" sz="2200" dirty="0">
                <a:solidFill>
                  <a:srgbClr val="2C3E50"/>
                </a:solidFill>
                <a:latin typeface="Yu Gothic UI" pitchFamily="34" charset="0"/>
                <a:ea typeface="Yu Gothic UI" pitchFamily="34" charset="-122"/>
                <a:cs typeface="Yu Gothic UI" pitchFamily="34" charset="-120"/>
              </a:rPr>
              <a:t>本当に必要なものは、実はそう多くない</a:t>
            </a:r>
            <a:endParaRPr lang="en-US" sz="2200" dirty="0"/>
          </a:p>
          <a:p>
            <a:pPr algn="l" indent="0" marL="0">
              <a:buNone/>
            </a:pPr>
            <a:r>
              <a:rPr lang="en-US" sz="2200" dirty="0">
                <a:solidFill>
                  <a:srgbClr val="2C3E50"/>
                </a:solidFill>
                <a:latin typeface="Yu Gothic UI" pitchFamily="34" charset="0"/>
                <a:ea typeface="Yu Gothic UI" pitchFamily="34" charset="-122"/>
                <a:cs typeface="Yu Gothic UI" pitchFamily="34" charset="-120"/>
              </a:rPr>
              <a:t>友人との語らい、シンプルな食事、静かな時間</a:t>
            </a:r>
            <a:endParaRPr lang="en-US" sz="2200" dirty="0"/>
          </a:p>
        </p:txBody>
      </p:sp>
      <p:sp>
        <p:nvSpPr>
          <p:cNvPr id="9" name="Text 6"/>
          <p:cNvSpPr/>
          <p:nvPr/>
        </p:nvSpPr>
        <p:spPr>
          <a:xfrm>
            <a:off x="1097280" y="3657600"/>
            <a:ext cx="6949440" cy="640080"/>
          </a:xfrm>
          <a:prstGeom prst="rect">
            <a:avLst/>
          </a:prstGeom>
          <a:noFill/>
          <a:ln/>
        </p:spPr>
        <p:txBody>
          <a:bodyPr wrap="square" lIns="0" tIns="0" rIns="0" bIns="0" rtlCol="0" anchor="ctr"/>
          <a:lstStyle/>
          <a:p>
            <a:pPr algn="l" indent="0" marL="0">
              <a:buNone/>
            </a:pPr>
            <a:r>
              <a:rPr lang="en-US" sz="1800" dirty="0">
                <a:solidFill>
                  <a:srgbClr val="34495E"/>
                </a:solidFill>
                <a:latin typeface="Yu Gothic UI" pitchFamily="34" charset="0"/>
                <a:ea typeface="Yu Gothic UI" pitchFamily="34" charset="-122"/>
                <a:cs typeface="Yu Gothic UI" pitchFamily="34" charset="-120"/>
              </a:rPr>
              <a:t>「欲望を減らせば、満足は増える」</a:t>
            </a:r>
            <a:endParaRPr lang="en-US" sz="1800" dirty="0"/>
          </a:p>
          <a:p>
            <a:pPr algn="l" indent="0" marL="0">
              <a:buNone/>
            </a:pPr>
            <a:r>
              <a:rPr lang="en-US" sz="1800" dirty="0">
                <a:solidFill>
                  <a:srgbClr val="34495E"/>
                </a:solidFill>
                <a:latin typeface="Yu Gothic UI" pitchFamily="34" charset="0"/>
                <a:ea typeface="Yu Gothic UI" pitchFamily="34" charset="-122"/>
                <a:cs typeface="Yu Gothic UI" pitchFamily="34" charset="-120"/>
              </a:rPr>
              <a:t>二千年以上前の知恵が、現代の心理学と一致する</a:t>
            </a:r>
            <a:endParaRPr lang="en-US" sz="1800" dirty="0"/>
          </a:p>
        </p:txBody>
      </p:sp>
      <p:sp>
        <p:nvSpPr>
          <p:cNvPr id="10" name="Text 7"/>
          <p:cNvSpPr/>
          <p:nvPr/>
        </p:nvSpPr>
        <p:spPr>
          <a:xfrm>
            <a:off x="731520" y="4663440"/>
            <a:ext cx="2743200" cy="365760"/>
          </a:xfrm>
          <a:prstGeom prst="rect">
            <a:avLst/>
          </a:prstGeom>
          <a:noFill/>
          <a:ln/>
        </p:spPr>
        <p:txBody>
          <a:bodyPr wrap="square" lIns="0" tIns="0" rIns="0" bIns="0" rtlCol="0" anchor="ctr"/>
          <a:lstStyle/>
          <a:p>
            <a:pPr algn="l" indent="0" marL="0">
              <a:buNone/>
            </a:pPr>
            <a:r>
              <a:rPr lang="en-US" sz="1400" dirty="0">
                <a:solidFill>
                  <a:srgbClr val="7F8C8D"/>
                </a:solidFill>
                <a:latin typeface="Yu Gothic UI" pitchFamily="34" charset="0"/>
                <a:ea typeface="Yu Gothic UI" pitchFamily="34" charset="-122"/>
                <a:cs typeface="Yu Gothic UI" pitchFamily="34" charset="-120"/>
              </a:rPr>
              <a:t>4. 哲学・思想</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9"/>
        </a:solidFill>
      </p:bgPr>
    </p:bg>
    <p:spTree>
      <p:nvGrpSpPr>
        <p:cNvPr id="1" name=""/>
        <p:cNvGrpSpPr/>
        <p:nvPr/>
      </p:nvGrpSpPr>
      <p:grpSpPr>
        <a:xfrm>
          <a:off x="0" y="0"/>
          <a:ext cx="0" cy="0"/>
          <a:chOff x="0" y="0"/>
          <a:chExt cx="0" cy="0"/>
        </a:xfrm>
      </p:grpSpPr>
      <p:sp>
        <p:nvSpPr>
          <p:cNvPr id="2" name="Text 0"/>
          <p:cNvSpPr/>
          <p:nvPr/>
        </p:nvSpPr>
        <p:spPr>
          <a:xfrm>
            <a:off x="731520" y="365760"/>
            <a:ext cx="7680960" cy="731520"/>
          </a:xfrm>
          <a:prstGeom prst="rect">
            <a:avLst/>
          </a:prstGeom>
          <a:noFill/>
          <a:ln/>
        </p:spPr>
        <p:txBody>
          <a:bodyPr wrap="square" lIns="0" tIns="0" rIns="0" bIns="0" rtlCol="0" anchor="ctr"/>
          <a:lstStyle/>
          <a:p>
            <a:pPr algn="l" indent="0" marL="0">
              <a:buNone/>
            </a:pPr>
            <a:r>
              <a:rPr lang="en-US" sz="3200" b="1" dirty="0">
                <a:solidFill>
                  <a:srgbClr val="2C3E50"/>
                </a:solidFill>
                <a:latin typeface="Yu Gothic UI" pitchFamily="34" charset="0"/>
                <a:ea typeface="Yu Gothic UI" pitchFamily="34" charset="-122"/>
                <a:cs typeface="Yu Gothic UI" pitchFamily="34" charset="-120"/>
              </a:rPr>
              <a:t>吉田兼好</a:t>
            </a:r>
            <a:endParaRPr lang="en-US" sz="3200" dirty="0"/>
          </a:p>
        </p:txBody>
      </p:sp>
      <p:sp>
        <p:nvSpPr>
          <p:cNvPr id="3" name="Shape 1"/>
          <p:cNvSpPr/>
          <p:nvPr/>
        </p:nvSpPr>
        <p:spPr>
          <a:xfrm>
            <a:off x="731520" y="1371600"/>
            <a:ext cx="7680960" cy="1097280"/>
          </a:xfrm>
          <a:prstGeom prst="rect">
            <a:avLst/>
          </a:prstGeom>
          <a:solidFill>
            <a:srgbClr val="27AE60"/>
          </a:solidFill>
          <a:ln/>
        </p:spPr>
      </p:sp>
      <p:sp>
        <p:nvSpPr>
          <p:cNvPr id="4" name="Shape 2"/>
          <p:cNvSpPr/>
          <p:nvPr/>
        </p:nvSpPr>
        <p:spPr>
          <a:xfrm>
            <a:off x="1005840" y="1554480"/>
            <a:ext cx="640080" cy="640080"/>
          </a:xfrm>
          <a:prstGeom prst="ellipse">
            <a:avLst/>
          </a:prstGeom>
          <a:solidFill>
            <a:srgbClr val="2ECC71"/>
          </a:solidFill>
          <a:ln/>
        </p:spPr>
      </p:sp>
      <p:pic>
        <p:nvPicPr>
          <p:cNvPr id="5" name="Image 0" descr="preencoded.png">    </p:cNvPr>
          <p:cNvPicPr>
            <a:picLocks noChangeAspect="1"/>
          </p:cNvPicPr>
          <p:nvPr/>
        </p:nvPicPr>
        <p:blipFill>
          <a:blip r:embed="rId1"/>
          <a:stretch>
            <a:fillRect/>
          </a:stretch>
        </p:blipFill>
        <p:spPr>
          <a:xfrm>
            <a:off x="1097280" y="1645920"/>
            <a:ext cx="457200" cy="457200"/>
          </a:xfrm>
          <a:prstGeom prst="rect">
            <a:avLst/>
          </a:prstGeom>
        </p:spPr>
      </p:pic>
      <p:sp>
        <p:nvSpPr>
          <p:cNvPr id="6" name="Text 3"/>
          <p:cNvSpPr/>
          <p:nvPr/>
        </p:nvSpPr>
        <p:spPr>
          <a:xfrm>
            <a:off x="1828800" y="1371600"/>
            <a:ext cx="6400800" cy="1097280"/>
          </a:xfrm>
          <a:prstGeom prst="rect">
            <a:avLst/>
          </a:prstGeom>
          <a:noFill/>
          <a:ln/>
        </p:spPr>
        <p:txBody>
          <a:bodyPr wrap="square" lIns="0" tIns="0" rIns="0" bIns="0" rtlCol="0" anchor="ctr"/>
          <a:lstStyle/>
          <a:p>
            <a:pPr algn="l" indent="0" marL="0">
              <a:buNone/>
            </a:pPr>
            <a:r>
              <a:rPr lang="en-US" sz="2600" b="1" dirty="0">
                <a:solidFill>
                  <a:srgbClr val="FFFFFF"/>
                </a:solidFill>
                <a:latin typeface="Yu Gothic UI" pitchFamily="34" charset="0"/>
                <a:ea typeface="Yu Gothic UI" pitchFamily="34" charset="-122"/>
                <a:cs typeface="Yu Gothic UI" pitchFamily="34" charset="-120"/>
              </a:rPr>
              <a:t>無常の中の美 ──『徒然草』</a:t>
            </a:r>
            <a:endParaRPr lang="en-US" sz="2600" dirty="0"/>
          </a:p>
        </p:txBody>
      </p:sp>
      <p:sp>
        <p:nvSpPr>
          <p:cNvPr id="7" name="Shape 4"/>
          <p:cNvSpPr/>
          <p:nvPr/>
        </p:nvSpPr>
        <p:spPr>
          <a:xfrm>
            <a:off x="731520" y="2743200"/>
            <a:ext cx="7680960" cy="164592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8" name="Text 5"/>
          <p:cNvSpPr/>
          <p:nvPr/>
        </p:nvSpPr>
        <p:spPr>
          <a:xfrm>
            <a:off x="1097280" y="2834640"/>
            <a:ext cx="6949440" cy="914400"/>
          </a:xfrm>
          <a:prstGeom prst="rect">
            <a:avLst/>
          </a:prstGeom>
          <a:noFill/>
          <a:ln/>
        </p:spPr>
        <p:txBody>
          <a:bodyPr wrap="square" lIns="0" tIns="0" rIns="0" bIns="0" rtlCol="0" anchor="ctr"/>
          <a:lstStyle/>
          <a:p>
            <a:pPr algn="l" indent="0" marL="0">
              <a:buNone/>
            </a:pPr>
            <a:r>
              <a:rPr lang="en-US" sz="2200" dirty="0">
                <a:solidFill>
                  <a:srgbClr val="2C3E50"/>
                </a:solidFill>
                <a:latin typeface="Yu Gothic UI" pitchFamily="34" charset="0"/>
                <a:ea typeface="Yu Gothic UI" pitchFamily="34" charset="-122"/>
                <a:cs typeface="Yu Gothic UI" pitchFamily="34" charset="-120"/>
              </a:rPr>
              <a:t>花は満開のときだけが美しいのではない</a:t>
            </a:r>
            <a:endParaRPr lang="en-US" sz="2200" dirty="0"/>
          </a:p>
          <a:p>
            <a:pPr algn="l" indent="0" marL="0">
              <a:buNone/>
            </a:pPr>
            <a:r>
              <a:rPr lang="en-US" sz="2200" dirty="0">
                <a:solidFill>
                  <a:srgbClr val="2C3E50"/>
                </a:solidFill>
                <a:latin typeface="Yu Gothic UI" pitchFamily="34" charset="0"/>
                <a:ea typeface="Yu Gothic UI" pitchFamily="34" charset="-122"/>
                <a:cs typeface="Yu Gothic UI" pitchFamily="34" charset="-120"/>
              </a:rPr>
              <a:t>散りゆく花にも、つぼみにも、それぞれの美しさがある</a:t>
            </a:r>
            <a:endParaRPr lang="en-US" sz="2200" dirty="0"/>
          </a:p>
        </p:txBody>
      </p:sp>
      <p:sp>
        <p:nvSpPr>
          <p:cNvPr id="9" name="Text 6"/>
          <p:cNvSpPr/>
          <p:nvPr/>
        </p:nvSpPr>
        <p:spPr>
          <a:xfrm>
            <a:off x="1097280" y="3657600"/>
            <a:ext cx="6949440" cy="640080"/>
          </a:xfrm>
          <a:prstGeom prst="rect">
            <a:avLst/>
          </a:prstGeom>
          <a:noFill/>
          <a:ln/>
        </p:spPr>
        <p:txBody>
          <a:bodyPr wrap="square" lIns="0" tIns="0" rIns="0" bIns="0" rtlCol="0" anchor="ctr"/>
          <a:lstStyle/>
          <a:p>
            <a:pPr algn="l" indent="0" marL="0">
              <a:buNone/>
            </a:pPr>
            <a:r>
              <a:rPr lang="en-US" sz="1800" dirty="0">
                <a:solidFill>
                  <a:srgbClr val="34495E"/>
                </a:solidFill>
                <a:latin typeface="Yu Gothic UI" pitchFamily="34" charset="0"/>
                <a:ea typeface="Yu Gothic UI" pitchFamily="34" charset="-122"/>
                <a:cs typeface="Yu Gothic UI" pitchFamily="34" charset="-120"/>
              </a:rPr>
              <a:t>完璧な状態を待つのではなく、不完全なままの日常に美を見出す</a:t>
            </a:r>
            <a:endParaRPr lang="en-US" sz="1800" dirty="0"/>
          </a:p>
          <a:p>
            <a:pPr algn="l" indent="0" marL="0">
              <a:buNone/>
            </a:pPr>
            <a:r>
              <a:rPr lang="en-US" sz="1800" dirty="0">
                <a:solidFill>
                  <a:srgbClr val="34495E"/>
                </a:solidFill>
                <a:latin typeface="Yu Gothic UI" pitchFamily="34" charset="0"/>
                <a:ea typeface="Yu Gothic UI" pitchFamily="34" charset="-122"/>
                <a:cs typeface="Yu Gothic UI" pitchFamily="34" charset="-120"/>
              </a:rPr>
              <a:t>「今ここ」を大切にする姿勢</a:t>
            </a:r>
            <a:endParaRPr lang="en-US" sz="1800" dirty="0"/>
          </a:p>
        </p:txBody>
      </p:sp>
      <p:sp>
        <p:nvSpPr>
          <p:cNvPr id="10" name="Text 7"/>
          <p:cNvSpPr/>
          <p:nvPr/>
        </p:nvSpPr>
        <p:spPr>
          <a:xfrm>
            <a:off x="731520" y="4663440"/>
            <a:ext cx="2743200" cy="365760"/>
          </a:xfrm>
          <a:prstGeom prst="rect">
            <a:avLst/>
          </a:prstGeom>
          <a:noFill/>
          <a:ln/>
        </p:spPr>
        <p:txBody>
          <a:bodyPr wrap="square" lIns="0" tIns="0" rIns="0" bIns="0" rtlCol="0" anchor="ctr"/>
          <a:lstStyle/>
          <a:p>
            <a:pPr algn="l" indent="0" marL="0">
              <a:buNone/>
            </a:pPr>
            <a:r>
              <a:rPr lang="en-US" sz="1400" dirty="0">
                <a:solidFill>
                  <a:srgbClr val="7F8C8D"/>
                </a:solidFill>
                <a:latin typeface="Yu Gothic UI" pitchFamily="34" charset="0"/>
                <a:ea typeface="Yu Gothic UI" pitchFamily="34" charset="-122"/>
                <a:cs typeface="Yu Gothic UI" pitchFamily="34" charset="-120"/>
              </a:rPr>
              <a:t>4. 哲学・思想</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9"/>
        </a:solidFill>
      </p:bgPr>
    </p:bg>
    <p:spTree>
      <p:nvGrpSpPr>
        <p:cNvPr id="1" name=""/>
        <p:cNvGrpSpPr/>
        <p:nvPr/>
      </p:nvGrpSpPr>
      <p:grpSpPr>
        <a:xfrm>
          <a:off x="0" y="0"/>
          <a:ext cx="0" cy="0"/>
          <a:chOff x="0" y="0"/>
          <a:chExt cx="0" cy="0"/>
        </a:xfrm>
      </p:grpSpPr>
      <p:sp>
        <p:nvSpPr>
          <p:cNvPr id="2" name="Text 0"/>
          <p:cNvSpPr/>
          <p:nvPr/>
        </p:nvSpPr>
        <p:spPr>
          <a:xfrm>
            <a:off x="731520" y="365760"/>
            <a:ext cx="7680960" cy="731520"/>
          </a:xfrm>
          <a:prstGeom prst="rect">
            <a:avLst/>
          </a:prstGeom>
          <a:noFill/>
          <a:ln/>
        </p:spPr>
        <p:txBody>
          <a:bodyPr wrap="square" lIns="0" tIns="0" rIns="0" bIns="0" rtlCol="0" anchor="ctr"/>
          <a:lstStyle/>
          <a:p>
            <a:pPr algn="l" indent="0" marL="0">
              <a:buNone/>
            </a:pPr>
            <a:r>
              <a:rPr lang="en-US" sz="2800" b="1" dirty="0">
                <a:solidFill>
                  <a:srgbClr val="2C3E50"/>
                </a:solidFill>
                <a:latin typeface="Yu Gothic UI" pitchFamily="34" charset="0"/>
                <a:ea typeface="Yu Gothic UI" pitchFamily="34" charset="-122"/>
                <a:cs typeface="Yu Gothic UI" pitchFamily="34" charset="-120"/>
              </a:rPr>
              <a:t>三人の思想家に共通するメッセージ</a:t>
            </a:r>
            <a:endParaRPr lang="en-US" sz="2800" dirty="0"/>
          </a:p>
        </p:txBody>
      </p:sp>
      <p:sp>
        <p:nvSpPr>
          <p:cNvPr id="3" name="Shape 1"/>
          <p:cNvSpPr/>
          <p:nvPr/>
        </p:nvSpPr>
        <p:spPr>
          <a:xfrm>
            <a:off x="1371600" y="1463040"/>
            <a:ext cx="6400800" cy="1463040"/>
          </a:xfrm>
          <a:prstGeom prst="rect">
            <a:avLst/>
          </a:prstGeom>
          <a:solidFill>
            <a:srgbClr val="1A6B5A"/>
          </a:solidFill>
          <a:ln/>
        </p:spPr>
      </p:sp>
      <p:sp>
        <p:nvSpPr>
          <p:cNvPr id="4" name="Text 2"/>
          <p:cNvSpPr/>
          <p:nvPr/>
        </p:nvSpPr>
        <p:spPr>
          <a:xfrm>
            <a:off x="1371600" y="1463040"/>
            <a:ext cx="6400800" cy="1463040"/>
          </a:xfrm>
          <a:prstGeom prst="rect">
            <a:avLst/>
          </a:prstGeom>
          <a:noFill/>
          <a:ln/>
        </p:spPr>
        <p:txBody>
          <a:bodyPr wrap="square" lIns="0" tIns="0" rIns="0" bIns="0" rtlCol="0" anchor="ctr"/>
          <a:lstStyle/>
          <a:p>
            <a:pPr algn="ctr" indent="0" marL="0">
              <a:buNone/>
            </a:pPr>
            <a:r>
              <a:rPr lang="en-US" sz="2600" b="1" dirty="0">
                <a:solidFill>
                  <a:srgbClr val="FFFFFF"/>
                </a:solidFill>
                <a:latin typeface="Yu Gothic UI" pitchFamily="34" charset="0"/>
                <a:ea typeface="Yu Gothic UI" pitchFamily="34" charset="-122"/>
                <a:cs typeface="Yu Gothic UI" pitchFamily="34" charset="-120"/>
              </a:rPr>
              <a:t>幸福は「手に入れるもの」ではなく</a:t>
            </a:r>
            <a:endParaRPr lang="en-US" sz="2600" dirty="0"/>
          </a:p>
          <a:p>
            <a:pPr algn="ctr" indent="0" marL="0">
              <a:buNone/>
            </a:pPr>
            <a:r>
              <a:rPr lang="en-US" sz="2600" b="1" dirty="0">
                <a:solidFill>
                  <a:srgbClr val="FFFFFF"/>
                </a:solidFill>
                <a:latin typeface="Yu Gothic UI" pitchFamily="34" charset="0"/>
                <a:ea typeface="Yu Gothic UI" pitchFamily="34" charset="-122"/>
                <a:cs typeface="Yu Gothic UI" pitchFamily="34" charset="-120"/>
              </a:rPr>
              <a:t>「生き方そのもの」である</a:t>
            </a:r>
            <a:endParaRPr lang="en-US" sz="2600" dirty="0"/>
          </a:p>
        </p:txBody>
      </p:sp>
      <p:sp>
        <p:nvSpPr>
          <p:cNvPr id="5" name="Shape 3"/>
          <p:cNvSpPr/>
          <p:nvPr/>
        </p:nvSpPr>
        <p:spPr>
          <a:xfrm>
            <a:off x="731520" y="3291840"/>
            <a:ext cx="2514600" cy="10972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6" name="Shape 4"/>
          <p:cNvSpPr/>
          <p:nvPr/>
        </p:nvSpPr>
        <p:spPr>
          <a:xfrm>
            <a:off x="731520" y="3291840"/>
            <a:ext cx="2514600" cy="54864"/>
          </a:xfrm>
          <a:prstGeom prst="rect">
            <a:avLst/>
          </a:prstGeom>
          <a:solidFill>
            <a:srgbClr val="1A6B5A"/>
          </a:solidFill>
          <a:ln/>
        </p:spPr>
      </p:sp>
      <p:sp>
        <p:nvSpPr>
          <p:cNvPr id="7" name="Text 5"/>
          <p:cNvSpPr/>
          <p:nvPr/>
        </p:nvSpPr>
        <p:spPr>
          <a:xfrm>
            <a:off x="868680" y="3429000"/>
            <a:ext cx="2240280" cy="457200"/>
          </a:xfrm>
          <a:prstGeom prst="rect">
            <a:avLst/>
          </a:prstGeom>
          <a:noFill/>
          <a:ln/>
        </p:spPr>
        <p:txBody>
          <a:bodyPr wrap="square" lIns="0" tIns="0" rIns="0" bIns="0" rtlCol="0" anchor="ctr"/>
          <a:lstStyle/>
          <a:p>
            <a:pPr algn="ctr" indent="0" marL="0">
              <a:buNone/>
            </a:pPr>
            <a:r>
              <a:rPr lang="en-US" sz="1800" b="1" dirty="0">
                <a:solidFill>
                  <a:srgbClr val="1A6B5A"/>
                </a:solidFill>
                <a:latin typeface="Yu Gothic UI" pitchFamily="34" charset="0"/>
                <a:ea typeface="Yu Gothic UI" pitchFamily="34" charset="-122"/>
                <a:cs typeface="Yu Gothic UI" pitchFamily="34" charset="-120"/>
              </a:rPr>
              <a:t>アリストテレス</a:t>
            </a:r>
            <a:endParaRPr lang="en-US" sz="1800" dirty="0"/>
          </a:p>
        </p:txBody>
      </p:sp>
      <p:sp>
        <p:nvSpPr>
          <p:cNvPr id="8" name="Text 6"/>
          <p:cNvSpPr/>
          <p:nvPr/>
        </p:nvSpPr>
        <p:spPr>
          <a:xfrm>
            <a:off x="868680" y="3840480"/>
            <a:ext cx="2240280" cy="457200"/>
          </a:xfrm>
          <a:prstGeom prst="rect">
            <a:avLst/>
          </a:prstGeom>
          <a:noFill/>
          <a:ln/>
        </p:spPr>
        <p:txBody>
          <a:bodyPr wrap="square" lIns="0" tIns="0" rIns="0" bIns="0" rtlCol="0" anchor="ctr"/>
          <a:lstStyle/>
          <a:p>
            <a:pPr algn="ctr" indent="0" marL="0">
              <a:buNone/>
            </a:pPr>
            <a:r>
              <a:rPr lang="en-US" sz="1800" dirty="0">
                <a:solidFill>
                  <a:srgbClr val="34495E"/>
                </a:solidFill>
                <a:latin typeface="Yu Gothic UI" pitchFamily="34" charset="0"/>
                <a:ea typeface="Yu Gothic UI" pitchFamily="34" charset="-122"/>
                <a:cs typeface="Yu Gothic UI" pitchFamily="34" charset="-120"/>
              </a:rPr>
              <a:t>よく生きること</a:t>
            </a:r>
            <a:endParaRPr lang="en-US" sz="1800" dirty="0"/>
          </a:p>
        </p:txBody>
      </p:sp>
      <p:sp>
        <p:nvSpPr>
          <p:cNvPr id="9" name="Shape 7"/>
          <p:cNvSpPr/>
          <p:nvPr/>
        </p:nvSpPr>
        <p:spPr>
          <a:xfrm>
            <a:off x="3520440" y="3291840"/>
            <a:ext cx="2514600" cy="10972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0" name="Shape 8"/>
          <p:cNvSpPr/>
          <p:nvPr/>
        </p:nvSpPr>
        <p:spPr>
          <a:xfrm>
            <a:off x="3520440" y="3291840"/>
            <a:ext cx="2514600" cy="54864"/>
          </a:xfrm>
          <a:prstGeom prst="rect">
            <a:avLst/>
          </a:prstGeom>
          <a:solidFill>
            <a:srgbClr val="8E44AD"/>
          </a:solidFill>
          <a:ln/>
        </p:spPr>
      </p:sp>
      <p:sp>
        <p:nvSpPr>
          <p:cNvPr id="11" name="Text 9"/>
          <p:cNvSpPr/>
          <p:nvPr/>
        </p:nvSpPr>
        <p:spPr>
          <a:xfrm>
            <a:off x="3657600" y="3429000"/>
            <a:ext cx="2240280" cy="457200"/>
          </a:xfrm>
          <a:prstGeom prst="rect">
            <a:avLst/>
          </a:prstGeom>
          <a:noFill/>
          <a:ln/>
        </p:spPr>
        <p:txBody>
          <a:bodyPr wrap="square" lIns="0" tIns="0" rIns="0" bIns="0" rtlCol="0" anchor="ctr"/>
          <a:lstStyle/>
          <a:p>
            <a:pPr algn="ctr" indent="0" marL="0">
              <a:buNone/>
            </a:pPr>
            <a:r>
              <a:rPr lang="en-US" sz="1800" b="1" dirty="0">
                <a:solidFill>
                  <a:srgbClr val="8E44AD"/>
                </a:solidFill>
                <a:latin typeface="Yu Gothic UI" pitchFamily="34" charset="0"/>
                <a:ea typeface="Yu Gothic UI" pitchFamily="34" charset="-122"/>
                <a:cs typeface="Yu Gothic UI" pitchFamily="34" charset="-120"/>
              </a:rPr>
              <a:t>エピクロス</a:t>
            </a:r>
            <a:endParaRPr lang="en-US" sz="1800" dirty="0"/>
          </a:p>
        </p:txBody>
      </p:sp>
      <p:sp>
        <p:nvSpPr>
          <p:cNvPr id="12" name="Text 10"/>
          <p:cNvSpPr/>
          <p:nvPr/>
        </p:nvSpPr>
        <p:spPr>
          <a:xfrm>
            <a:off x="3657600" y="3840480"/>
            <a:ext cx="2240280" cy="457200"/>
          </a:xfrm>
          <a:prstGeom prst="rect">
            <a:avLst/>
          </a:prstGeom>
          <a:noFill/>
          <a:ln/>
        </p:spPr>
        <p:txBody>
          <a:bodyPr wrap="square" lIns="0" tIns="0" rIns="0" bIns="0" rtlCol="0" anchor="ctr"/>
          <a:lstStyle/>
          <a:p>
            <a:pPr algn="ctr" indent="0" marL="0">
              <a:buNone/>
            </a:pPr>
            <a:r>
              <a:rPr lang="en-US" sz="1800" dirty="0">
                <a:solidFill>
                  <a:srgbClr val="34495E"/>
                </a:solidFill>
                <a:latin typeface="Yu Gothic UI" pitchFamily="34" charset="0"/>
                <a:ea typeface="Yu Gothic UI" pitchFamily="34" charset="-122"/>
                <a:cs typeface="Yu Gothic UI" pitchFamily="34" charset="-120"/>
              </a:rPr>
              <a:t>心の平穏</a:t>
            </a:r>
            <a:endParaRPr lang="en-US" sz="1800" dirty="0"/>
          </a:p>
        </p:txBody>
      </p:sp>
      <p:sp>
        <p:nvSpPr>
          <p:cNvPr id="13" name="Shape 11"/>
          <p:cNvSpPr/>
          <p:nvPr/>
        </p:nvSpPr>
        <p:spPr>
          <a:xfrm>
            <a:off x="6309360" y="3291840"/>
            <a:ext cx="2514600" cy="10972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4" name="Shape 12"/>
          <p:cNvSpPr/>
          <p:nvPr/>
        </p:nvSpPr>
        <p:spPr>
          <a:xfrm>
            <a:off x="6309360" y="3291840"/>
            <a:ext cx="2514600" cy="54864"/>
          </a:xfrm>
          <a:prstGeom prst="rect">
            <a:avLst/>
          </a:prstGeom>
          <a:solidFill>
            <a:srgbClr val="27AE60"/>
          </a:solidFill>
          <a:ln/>
        </p:spPr>
      </p:sp>
      <p:sp>
        <p:nvSpPr>
          <p:cNvPr id="15" name="Text 13"/>
          <p:cNvSpPr/>
          <p:nvPr/>
        </p:nvSpPr>
        <p:spPr>
          <a:xfrm>
            <a:off x="6446520" y="3429000"/>
            <a:ext cx="2240280" cy="457200"/>
          </a:xfrm>
          <a:prstGeom prst="rect">
            <a:avLst/>
          </a:prstGeom>
          <a:noFill/>
          <a:ln/>
        </p:spPr>
        <p:txBody>
          <a:bodyPr wrap="square" lIns="0" tIns="0" rIns="0" bIns="0" rtlCol="0" anchor="ctr"/>
          <a:lstStyle/>
          <a:p>
            <a:pPr algn="ctr" indent="0" marL="0">
              <a:buNone/>
            </a:pPr>
            <a:r>
              <a:rPr lang="en-US" sz="1800" b="1" dirty="0">
                <a:solidFill>
                  <a:srgbClr val="27AE60"/>
                </a:solidFill>
                <a:latin typeface="Yu Gothic UI" pitchFamily="34" charset="0"/>
                <a:ea typeface="Yu Gothic UI" pitchFamily="34" charset="-122"/>
                <a:cs typeface="Yu Gothic UI" pitchFamily="34" charset="-120"/>
              </a:rPr>
              <a:t>吉田兼好</a:t>
            </a:r>
            <a:endParaRPr lang="en-US" sz="1800" dirty="0"/>
          </a:p>
        </p:txBody>
      </p:sp>
      <p:sp>
        <p:nvSpPr>
          <p:cNvPr id="16" name="Text 14"/>
          <p:cNvSpPr/>
          <p:nvPr/>
        </p:nvSpPr>
        <p:spPr>
          <a:xfrm>
            <a:off x="6446520" y="3840480"/>
            <a:ext cx="2240280" cy="457200"/>
          </a:xfrm>
          <a:prstGeom prst="rect">
            <a:avLst/>
          </a:prstGeom>
          <a:noFill/>
          <a:ln/>
        </p:spPr>
        <p:txBody>
          <a:bodyPr wrap="square" lIns="0" tIns="0" rIns="0" bIns="0" rtlCol="0" anchor="ctr"/>
          <a:lstStyle/>
          <a:p>
            <a:pPr algn="ctr" indent="0" marL="0">
              <a:buNone/>
            </a:pPr>
            <a:r>
              <a:rPr lang="en-US" sz="1800" dirty="0">
                <a:solidFill>
                  <a:srgbClr val="34495E"/>
                </a:solidFill>
                <a:latin typeface="Yu Gothic UI" pitchFamily="34" charset="0"/>
                <a:ea typeface="Yu Gothic UI" pitchFamily="34" charset="-122"/>
                <a:cs typeface="Yu Gothic UI" pitchFamily="34" charset="-120"/>
              </a:rPr>
              <a:t>無常の中の美</a:t>
            </a:r>
            <a:endParaRPr lang="en-US" sz="1800" dirty="0"/>
          </a:p>
        </p:txBody>
      </p:sp>
      <p:sp>
        <p:nvSpPr>
          <p:cNvPr id="17" name="Text 15"/>
          <p:cNvSpPr/>
          <p:nvPr/>
        </p:nvSpPr>
        <p:spPr>
          <a:xfrm>
            <a:off x="731520" y="4663440"/>
            <a:ext cx="2743200" cy="365760"/>
          </a:xfrm>
          <a:prstGeom prst="rect">
            <a:avLst/>
          </a:prstGeom>
          <a:noFill/>
          <a:ln/>
        </p:spPr>
        <p:txBody>
          <a:bodyPr wrap="square" lIns="0" tIns="0" rIns="0" bIns="0" rtlCol="0" anchor="ctr"/>
          <a:lstStyle/>
          <a:p>
            <a:pPr algn="l" indent="0" marL="0">
              <a:buNone/>
            </a:pPr>
            <a:r>
              <a:rPr lang="en-US" sz="1400" dirty="0">
                <a:solidFill>
                  <a:srgbClr val="7F8C8D"/>
                </a:solidFill>
                <a:latin typeface="Yu Gothic UI" pitchFamily="34" charset="0"/>
                <a:ea typeface="Yu Gothic UI" pitchFamily="34" charset="-122"/>
                <a:cs typeface="Yu Gothic UI" pitchFamily="34" charset="-120"/>
              </a:rPr>
              <a:t>4. 哲学・思想</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5276"/>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CC71"/>
          </a:solidFill>
          <a:ln/>
        </p:spPr>
      </p:sp>
      <p:sp>
        <p:nvSpPr>
          <p:cNvPr id="3" name="Text 1"/>
          <p:cNvSpPr/>
          <p:nvPr/>
        </p:nvSpPr>
        <p:spPr>
          <a:xfrm>
            <a:off x="731520" y="914400"/>
            <a:ext cx="1828800" cy="914400"/>
          </a:xfrm>
          <a:prstGeom prst="rect">
            <a:avLst/>
          </a:prstGeom>
          <a:noFill/>
          <a:ln/>
        </p:spPr>
        <p:txBody>
          <a:bodyPr wrap="square" lIns="0" tIns="0" rIns="0" bIns="0" rtlCol="0" anchor="ctr"/>
          <a:lstStyle/>
          <a:p>
            <a:pPr algn="l" indent="0" marL="0">
              <a:buNone/>
            </a:pPr>
            <a:r>
              <a:rPr lang="en-US" sz="6000" b="1" dirty="0">
                <a:solidFill>
                  <a:srgbClr val="2ECC71"/>
                </a:solidFill>
                <a:latin typeface="Yu Gothic UI" pitchFamily="34" charset="0"/>
                <a:ea typeface="Yu Gothic UI" pitchFamily="34" charset="-122"/>
                <a:cs typeface="Yu Gothic UI" pitchFamily="34" charset="-120"/>
              </a:rPr>
              <a:t>05</a:t>
            </a:r>
            <a:endParaRPr lang="en-US" sz="6000" dirty="0"/>
          </a:p>
        </p:txBody>
      </p:sp>
      <p:sp>
        <p:nvSpPr>
          <p:cNvPr id="4" name="Text 2"/>
          <p:cNvSpPr/>
          <p:nvPr/>
        </p:nvSpPr>
        <p:spPr>
          <a:xfrm>
            <a:off x="731520" y="2011680"/>
            <a:ext cx="7680960" cy="914400"/>
          </a:xfrm>
          <a:prstGeom prst="rect">
            <a:avLst/>
          </a:prstGeom>
          <a:noFill/>
          <a:ln/>
        </p:spPr>
        <p:txBody>
          <a:bodyPr wrap="square" lIns="0" tIns="0" rIns="0" bIns="0" rtlCol="0" anchor="ctr"/>
          <a:lstStyle/>
          <a:p>
            <a:pPr algn="l" indent="0" marL="0">
              <a:buNone/>
            </a:pPr>
            <a:r>
              <a:rPr lang="en-US" sz="3600" b="1" dirty="0">
                <a:solidFill>
                  <a:srgbClr val="FFFFFF"/>
                </a:solidFill>
                <a:latin typeface="Yu Gothic UI" pitchFamily="34" charset="0"/>
                <a:ea typeface="Yu Gothic UI" pitchFamily="34" charset="-122"/>
                <a:cs typeface="Yu Gothic UI" pitchFamily="34" charset="-120"/>
              </a:rPr>
              <a:t>今日からできる具体的な行動</a:t>
            </a:r>
            <a:endParaRPr lang="en-US" sz="3600" dirty="0"/>
          </a:p>
        </p:txBody>
      </p:sp>
      <p:sp>
        <p:nvSpPr>
          <p:cNvPr id="5" name="Text 3"/>
          <p:cNvSpPr/>
          <p:nvPr/>
        </p:nvSpPr>
        <p:spPr>
          <a:xfrm>
            <a:off x="731520" y="3017520"/>
            <a:ext cx="7680960" cy="548640"/>
          </a:xfrm>
          <a:prstGeom prst="rect">
            <a:avLst/>
          </a:prstGeom>
          <a:noFill/>
          <a:ln/>
        </p:spPr>
        <p:txBody>
          <a:bodyPr wrap="square" lIns="0" tIns="0" rIns="0" bIns="0" rtlCol="0" anchor="ctr"/>
          <a:lstStyle/>
          <a:p>
            <a:pPr algn="l" indent="0" marL="0">
              <a:buNone/>
            </a:pPr>
            <a:r>
              <a:rPr lang="en-US" sz="2000" dirty="0">
                <a:solidFill>
                  <a:srgbClr val="2ECC71"/>
                </a:solidFill>
                <a:latin typeface="Yu Gothic UI" pitchFamily="34" charset="0"/>
                <a:ea typeface="Yu Gothic UI" pitchFamily="34" charset="-122"/>
                <a:cs typeface="Yu Gothic UI" pitchFamily="34" charset="-120"/>
              </a:rPr>
              <a:t>小さな一歩が日常を変える</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9"/>
        </a:solidFill>
      </p:bgPr>
    </p:bg>
    <p:spTree>
      <p:nvGrpSpPr>
        <p:cNvPr id="1" name=""/>
        <p:cNvGrpSpPr/>
        <p:nvPr/>
      </p:nvGrpSpPr>
      <p:grpSpPr>
        <a:xfrm>
          <a:off x="0" y="0"/>
          <a:ext cx="0" cy="0"/>
          <a:chOff x="0" y="0"/>
          <a:chExt cx="0" cy="0"/>
        </a:xfrm>
      </p:grpSpPr>
      <p:sp>
        <p:nvSpPr>
          <p:cNvPr id="2" name="Shape 0"/>
          <p:cNvSpPr/>
          <p:nvPr/>
        </p:nvSpPr>
        <p:spPr>
          <a:xfrm>
            <a:off x="731520" y="365760"/>
            <a:ext cx="731520" cy="731520"/>
          </a:xfrm>
          <a:prstGeom prst="ellipse">
            <a:avLst/>
          </a:prstGeom>
          <a:solidFill>
            <a:srgbClr val="1A6B5A"/>
          </a:solidFill>
          <a:ln/>
        </p:spPr>
      </p:sp>
      <p:pic>
        <p:nvPicPr>
          <p:cNvPr id="3" name="Image 0" descr="preencoded.png">    </p:cNvPr>
          <p:cNvPicPr>
            <a:picLocks noChangeAspect="1"/>
          </p:cNvPicPr>
          <p:nvPr/>
        </p:nvPicPr>
        <p:blipFill>
          <a:blip r:embed="rId1"/>
          <a:stretch>
            <a:fillRect/>
          </a:stretch>
        </p:blipFill>
        <p:spPr>
          <a:xfrm>
            <a:off x="868680" y="502920"/>
            <a:ext cx="457200" cy="457200"/>
          </a:xfrm>
          <a:prstGeom prst="rect">
            <a:avLst/>
          </a:prstGeom>
        </p:spPr>
      </p:pic>
      <p:sp>
        <p:nvSpPr>
          <p:cNvPr id="4" name="Text 1"/>
          <p:cNvSpPr/>
          <p:nvPr/>
        </p:nvSpPr>
        <p:spPr>
          <a:xfrm>
            <a:off x="1645920" y="320040"/>
            <a:ext cx="1828800" cy="411480"/>
          </a:xfrm>
          <a:prstGeom prst="rect">
            <a:avLst/>
          </a:prstGeom>
          <a:noFill/>
          <a:ln/>
        </p:spPr>
        <p:txBody>
          <a:bodyPr wrap="square" lIns="0" tIns="0" rIns="0" bIns="0" rtlCol="0" anchor="ctr"/>
          <a:lstStyle/>
          <a:p>
            <a:pPr algn="l" indent="0" marL="0">
              <a:buNone/>
            </a:pPr>
            <a:r>
              <a:rPr lang="en-US" sz="1800" dirty="0">
                <a:solidFill>
                  <a:srgbClr val="7F8C8D"/>
                </a:solidFill>
                <a:latin typeface="Yu Gothic UI" pitchFamily="34" charset="0"/>
                <a:ea typeface="Yu Gothic UI" pitchFamily="34" charset="-122"/>
                <a:cs typeface="Yu Gothic UI" pitchFamily="34" charset="-120"/>
              </a:rPr>
              <a:t>行動 1</a:t>
            </a:r>
            <a:endParaRPr lang="en-US" sz="1800" dirty="0"/>
          </a:p>
        </p:txBody>
      </p:sp>
      <p:sp>
        <p:nvSpPr>
          <p:cNvPr id="5" name="Text 2"/>
          <p:cNvSpPr/>
          <p:nvPr/>
        </p:nvSpPr>
        <p:spPr>
          <a:xfrm>
            <a:off x="1645920" y="640080"/>
            <a:ext cx="6400800" cy="548640"/>
          </a:xfrm>
          <a:prstGeom prst="rect">
            <a:avLst/>
          </a:prstGeom>
          <a:noFill/>
          <a:ln/>
        </p:spPr>
        <p:txBody>
          <a:bodyPr wrap="square" lIns="0" tIns="0" rIns="0" bIns="0" rtlCol="0" anchor="ctr"/>
          <a:lstStyle/>
          <a:p>
            <a:pPr algn="l" indent="0" marL="0">
              <a:buNone/>
            </a:pPr>
            <a:r>
              <a:rPr lang="en-US" sz="2800" b="1" dirty="0">
                <a:solidFill>
                  <a:srgbClr val="2C3E50"/>
                </a:solidFill>
                <a:latin typeface="Yu Gothic UI" pitchFamily="34" charset="0"/>
                <a:ea typeface="Yu Gothic UI" pitchFamily="34" charset="-122"/>
                <a:cs typeface="Yu Gothic UI" pitchFamily="34" charset="-120"/>
              </a:rPr>
              <a:t>「三つの良いこと」を書き出す</a:t>
            </a:r>
            <a:endParaRPr lang="en-US" sz="2800" dirty="0"/>
          </a:p>
        </p:txBody>
      </p:sp>
      <p:sp>
        <p:nvSpPr>
          <p:cNvPr id="6" name="Shape 3"/>
          <p:cNvSpPr/>
          <p:nvPr/>
        </p:nvSpPr>
        <p:spPr>
          <a:xfrm>
            <a:off x="731520" y="1463040"/>
            <a:ext cx="7680960" cy="23774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Text 4"/>
          <p:cNvSpPr/>
          <p:nvPr/>
        </p:nvSpPr>
        <p:spPr>
          <a:xfrm>
            <a:off x="1097280" y="1645920"/>
            <a:ext cx="6949440" cy="548640"/>
          </a:xfrm>
          <a:prstGeom prst="rect">
            <a:avLst/>
          </a:prstGeom>
          <a:noFill/>
          <a:ln/>
        </p:spPr>
        <p:txBody>
          <a:bodyPr wrap="square" lIns="0" tIns="0" rIns="0" bIns="0" rtlCol="0" anchor="ctr"/>
          <a:lstStyle/>
          <a:p>
            <a:pPr algn="l" indent="0" marL="0">
              <a:buNone/>
            </a:pPr>
            <a:r>
              <a:rPr lang="en-US" sz="2200" b="1" dirty="0">
                <a:solidFill>
                  <a:srgbClr val="2C3E50"/>
                </a:solidFill>
                <a:latin typeface="Yu Gothic UI" pitchFamily="34" charset="0"/>
                <a:ea typeface="Yu Gothic UI" pitchFamily="34" charset="-122"/>
                <a:cs typeface="Yu Gothic UI" pitchFamily="34" charset="-120"/>
              </a:rPr>
              <a:t>毎晩、寝る前にその日あった「良いこと」を三つ書き出す</a:t>
            </a:r>
            <a:endParaRPr lang="en-US" sz="2200" dirty="0"/>
          </a:p>
        </p:txBody>
      </p:sp>
      <p:sp>
        <p:nvSpPr>
          <p:cNvPr id="8" name="Text 5"/>
          <p:cNvSpPr/>
          <p:nvPr/>
        </p:nvSpPr>
        <p:spPr>
          <a:xfrm>
            <a:off x="1097280" y="2286000"/>
            <a:ext cx="6949440" cy="1097280"/>
          </a:xfrm>
          <a:prstGeom prst="rect">
            <a:avLst/>
          </a:prstGeom>
          <a:noFill/>
          <a:ln/>
        </p:spPr>
        <p:txBody>
          <a:bodyPr wrap="square" lIns="0" tIns="0" rIns="0" bIns="0" rtlCol="0" anchor="ctr"/>
          <a:lstStyle/>
          <a:p>
            <a:pPr algn="l" marL="342900" indent="-342900">
              <a:buSzPct val="100000"/>
              <a:buChar char="•"/>
            </a:pPr>
            <a:r>
              <a:rPr lang="en-US" sz="2000" dirty="0">
                <a:solidFill>
                  <a:srgbClr val="34495E"/>
                </a:solidFill>
                <a:latin typeface="Yu Gothic UI" pitchFamily="34" charset="0"/>
                <a:ea typeface="Yu Gothic UI" pitchFamily="34" charset="-122"/>
                <a:cs typeface="Yu Gothic UI" pitchFamily="34" charset="-120"/>
              </a:rPr>
              <a:t>「ランチがおいしかった」</a:t>
            </a:r>
            <a:endParaRPr lang="en-US" sz="2000" dirty="0"/>
          </a:p>
          <a:p>
            <a:pPr algn="l" indent="0" marL="0">
              <a:buNone/>
            </a:pPr>
            <a:r>
              <a:rPr lang="en-US" sz="2000" dirty="0">
                <a:solidFill>
                  <a:srgbClr val="34495E"/>
                </a:solidFill>
                <a:latin typeface="Yu Gothic UI" pitchFamily="34" charset="0"/>
                <a:ea typeface="Yu Gothic UI" pitchFamily="34" charset="-122"/>
                <a:cs typeface="Yu Gothic UI" pitchFamily="34" charset="-120"/>
              </a:rPr>
              <a:t>「電車で座れた」</a:t>
            </a:r>
            <a:endParaRPr lang="en-US" sz="2000" dirty="0"/>
          </a:p>
          <a:p>
            <a:pPr algn="l" indent="0" marL="0">
              <a:buNone/>
            </a:pPr>
            <a:r>
              <a:rPr lang="en-US" sz="2000" dirty="0">
                <a:solidFill>
                  <a:srgbClr val="34495E"/>
                </a:solidFill>
                <a:latin typeface="Yu Gothic UI" pitchFamily="34" charset="0"/>
                <a:ea typeface="Yu Gothic UI" pitchFamily="34" charset="-122"/>
                <a:cs typeface="Yu Gothic UI" pitchFamily="34" charset="-120"/>
              </a:rPr>
              <a:t>「同僚に褒められた」</a:t>
            </a:r>
            <a:endParaRPr lang="en-US" sz="2000" dirty="0"/>
          </a:p>
        </p:txBody>
      </p:sp>
      <p:sp>
        <p:nvSpPr>
          <p:cNvPr id="9" name="Text 6"/>
          <p:cNvSpPr/>
          <p:nvPr/>
        </p:nvSpPr>
        <p:spPr>
          <a:xfrm>
            <a:off x="731520" y="4114800"/>
            <a:ext cx="7680960" cy="457200"/>
          </a:xfrm>
          <a:prstGeom prst="rect">
            <a:avLst/>
          </a:prstGeom>
          <a:noFill/>
          <a:ln/>
        </p:spPr>
        <p:txBody>
          <a:bodyPr wrap="square" lIns="0" tIns="0" rIns="0" bIns="0" rtlCol="0" anchor="ctr"/>
          <a:lstStyle/>
          <a:p>
            <a:pPr algn="l" indent="0" marL="0">
              <a:buNone/>
            </a:pPr>
            <a:r>
              <a:rPr lang="en-US" sz="1800" dirty="0">
                <a:solidFill>
                  <a:srgbClr val="7F8C8D"/>
                </a:solidFill>
                <a:latin typeface="Yu Gothic UI" pitchFamily="34" charset="0"/>
                <a:ea typeface="Yu Gothic UI" pitchFamily="34" charset="-122"/>
                <a:cs typeface="Yu Gothic UI" pitchFamily="34" charset="-120"/>
              </a:rPr>
              <a:t>脳がポジティブな出来事に注目しやすくなり、注意のバランスが整う</a:t>
            </a:r>
            <a:endParaRPr lang="en-US" sz="1800" dirty="0"/>
          </a:p>
        </p:txBody>
      </p:sp>
      <p:sp>
        <p:nvSpPr>
          <p:cNvPr id="10" name="Text 7"/>
          <p:cNvSpPr/>
          <p:nvPr/>
        </p:nvSpPr>
        <p:spPr>
          <a:xfrm>
            <a:off x="731520" y="4663440"/>
            <a:ext cx="2743200" cy="365760"/>
          </a:xfrm>
          <a:prstGeom prst="rect">
            <a:avLst/>
          </a:prstGeom>
          <a:noFill/>
          <a:ln/>
        </p:spPr>
        <p:txBody>
          <a:bodyPr wrap="square" lIns="0" tIns="0" rIns="0" bIns="0" rtlCol="0" anchor="ctr"/>
          <a:lstStyle/>
          <a:p>
            <a:pPr algn="l" indent="0" marL="0">
              <a:buNone/>
            </a:pPr>
            <a:r>
              <a:rPr lang="en-US" sz="1400" dirty="0">
                <a:solidFill>
                  <a:srgbClr val="7F8C8D"/>
                </a:solidFill>
                <a:latin typeface="Yu Gothic UI" pitchFamily="34" charset="0"/>
                <a:ea typeface="Yu Gothic UI" pitchFamily="34" charset="-122"/>
                <a:cs typeface="Yu Gothic UI" pitchFamily="34" charset="-120"/>
              </a:rPr>
              <a:t>5. 具体的な行動</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9"/>
        </a:solidFill>
      </p:bgPr>
    </p:bg>
    <p:spTree>
      <p:nvGrpSpPr>
        <p:cNvPr id="1" name=""/>
        <p:cNvGrpSpPr/>
        <p:nvPr/>
      </p:nvGrpSpPr>
      <p:grpSpPr>
        <a:xfrm>
          <a:off x="0" y="0"/>
          <a:ext cx="0" cy="0"/>
          <a:chOff x="0" y="0"/>
          <a:chExt cx="0" cy="0"/>
        </a:xfrm>
      </p:grpSpPr>
      <p:sp>
        <p:nvSpPr>
          <p:cNvPr id="2" name="Shape 0"/>
          <p:cNvSpPr/>
          <p:nvPr/>
        </p:nvSpPr>
        <p:spPr>
          <a:xfrm>
            <a:off x="731520" y="365760"/>
            <a:ext cx="731520" cy="731520"/>
          </a:xfrm>
          <a:prstGeom prst="ellipse">
            <a:avLst/>
          </a:prstGeom>
          <a:solidFill>
            <a:srgbClr val="E67E22"/>
          </a:solidFill>
          <a:ln/>
        </p:spPr>
      </p:sp>
      <p:pic>
        <p:nvPicPr>
          <p:cNvPr id="3" name="Image 0" descr="preencoded.png">    </p:cNvPr>
          <p:cNvPicPr>
            <a:picLocks noChangeAspect="1"/>
          </p:cNvPicPr>
          <p:nvPr/>
        </p:nvPicPr>
        <p:blipFill>
          <a:blip r:embed="rId1"/>
          <a:stretch>
            <a:fillRect/>
          </a:stretch>
        </p:blipFill>
        <p:spPr>
          <a:xfrm>
            <a:off x="868680" y="502920"/>
            <a:ext cx="457200" cy="457200"/>
          </a:xfrm>
          <a:prstGeom prst="rect">
            <a:avLst/>
          </a:prstGeom>
        </p:spPr>
      </p:pic>
      <p:sp>
        <p:nvSpPr>
          <p:cNvPr id="4" name="Text 1"/>
          <p:cNvSpPr/>
          <p:nvPr/>
        </p:nvSpPr>
        <p:spPr>
          <a:xfrm>
            <a:off x="1645920" y="320040"/>
            <a:ext cx="1828800" cy="411480"/>
          </a:xfrm>
          <a:prstGeom prst="rect">
            <a:avLst/>
          </a:prstGeom>
          <a:noFill/>
          <a:ln/>
        </p:spPr>
        <p:txBody>
          <a:bodyPr wrap="square" lIns="0" tIns="0" rIns="0" bIns="0" rtlCol="0" anchor="ctr"/>
          <a:lstStyle/>
          <a:p>
            <a:pPr algn="l" indent="0" marL="0">
              <a:buNone/>
            </a:pPr>
            <a:r>
              <a:rPr lang="en-US" sz="1800" dirty="0">
                <a:solidFill>
                  <a:srgbClr val="7F8C8D"/>
                </a:solidFill>
                <a:latin typeface="Yu Gothic UI" pitchFamily="34" charset="0"/>
                <a:ea typeface="Yu Gothic UI" pitchFamily="34" charset="-122"/>
                <a:cs typeface="Yu Gothic UI" pitchFamily="34" charset="-120"/>
              </a:rPr>
              <a:t>行動 2</a:t>
            </a:r>
            <a:endParaRPr lang="en-US" sz="1800" dirty="0"/>
          </a:p>
        </p:txBody>
      </p:sp>
      <p:sp>
        <p:nvSpPr>
          <p:cNvPr id="5" name="Text 2"/>
          <p:cNvSpPr/>
          <p:nvPr/>
        </p:nvSpPr>
        <p:spPr>
          <a:xfrm>
            <a:off x="1645920" y="640080"/>
            <a:ext cx="6400800" cy="548640"/>
          </a:xfrm>
          <a:prstGeom prst="rect">
            <a:avLst/>
          </a:prstGeom>
          <a:noFill/>
          <a:ln/>
        </p:spPr>
        <p:txBody>
          <a:bodyPr wrap="square" lIns="0" tIns="0" rIns="0" bIns="0" rtlCol="0" anchor="ctr"/>
          <a:lstStyle/>
          <a:p>
            <a:pPr algn="l" indent="0" marL="0">
              <a:buNone/>
            </a:pPr>
            <a:r>
              <a:rPr lang="en-US" sz="2800" b="1" dirty="0">
                <a:solidFill>
                  <a:srgbClr val="2C3E50"/>
                </a:solidFill>
                <a:latin typeface="Yu Gothic UI" pitchFamily="34" charset="0"/>
                <a:ea typeface="Yu Gothic UI" pitchFamily="34" charset="-122"/>
                <a:cs typeface="Yu Gothic UI" pitchFamily="34" charset="-120"/>
              </a:rPr>
              <a:t>誰かに「ありがとう」を伝える</a:t>
            </a:r>
            <a:endParaRPr lang="en-US" sz="2800" dirty="0"/>
          </a:p>
        </p:txBody>
      </p:sp>
      <p:sp>
        <p:nvSpPr>
          <p:cNvPr id="6" name="Shape 3"/>
          <p:cNvSpPr/>
          <p:nvPr/>
        </p:nvSpPr>
        <p:spPr>
          <a:xfrm>
            <a:off x="731520" y="1463040"/>
            <a:ext cx="7680960" cy="23774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Text 4"/>
          <p:cNvSpPr/>
          <p:nvPr/>
        </p:nvSpPr>
        <p:spPr>
          <a:xfrm>
            <a:off x="1097280" y="1645920"/>
            <a:ext cx="6949440" cy="548640"/>
          </a:xfrm>
          <a:prstGeom prst="rect">
            <a:avLst/>
          </a:prstGeom>
          <a:noFill/>
          <a:ln/>
        </p:spPr>
        <p:txBody>
          <a:bodyPr wrap="square" lIns="0" tIns="0" rIns="0" bIns="0" rtlCol="0" anchor="ctr"/>
          <a:lstStyle/>
          <a:p>
            <a:pPr algn="l" indent="0" marL="0">
              <a:buNone/>
            </a:pPr>
            <a:r>
              <a:rPr lang="en-US" sz="2200" b="1" dirty="0">
                <a:solidFill>
                  <a:srgbClr val="2C3E50"/>
                </a:solidFill>
                <a:latin typeface="Yu Gothic UI" pitchFamily="34" charset="0"/>
                <a:ea typeface="Yu Gothic UI" pitchFamily="34" charset="-122"/>
                <a:cs typeface="Yu Gothic UI" pitchFamily="34" charset="-120"/>
              </a:rPr>
              <a:t>一日に一回、意識的に「ありがとう」を口にする</a:t>
            </a:r>
            <a:endParaRPr lang="en-US" sz="2200" dirty="0"/>
          </a:p>
        </p:txBody>
      </p:sp>
      <p:sp>
        <p:nvSpPr>
          <p:cNvPr id="8" name="Text 5"/>
          <p:cNvSpPr/>
          <p:nvPr/>
        </p:nvSpPr>
        <p:spPr>
          <a:xfrm>
            <a:off x="1097280" y="2286000"/>
            <a:ext cx="6949440" cy="731520"/>
          </a:xfrm>
          <a:prstGeom prst="rect">
            <a:avLst/>
          </a:prstGeom>
          <a:noFill/>
          <a:ln/>
        </p:spPr>
        <p:txBody>
          <a:bodyPr wrap="square" lIns="0" tIns="0" rIns="0" bIns="0" rtlCol="0" anchor="ctr"/>
          <a:lstStyle/>
          <a:p>
            <a:pPr algn="l" indent="0" marL="0">
              <a:buNone/>
            </a:pPr>
            <a:r>
              <a:rPr lang="en-US" sz="2000" dirty="0">
                <a:solidFill>
                  <a:srgbClr val="34495E"/>
                </a:solidFill>
                <a:latin typeface="Yu Gothic UI" pitchFamily="34" charset="0"/>
                <a:ea typeface="Yu Gothic UI" pitchFamily="34" charset="-122"/>
                <a:cs typeface="Yu Gothic UI" pitchFamily="34" charset="-120"/>
              </a:rPr>
              <a:t>感謝を伝える行為は相手だけでなく</a:t>
            </a:r>
            <a:endParaRPr lang="en-US" sz="2000" dirty="0"/>
          </a:p>
          <a:p>
            <a:pPr algn="l" indent="0" marL="0">
              <a:buNone/>
            </a:pPr>
            <a:r>
              <a:rPr lang="en-US" sz="2000" dirty="0">
                <a:solidFill>
                  <a:srgbClr val="34495E"/>
                </a:solidFill>
                <a:latin typeface="Yu Gothic UI" pitchFamily="34" charset="0"/>
                <a:ea typeface="Yu Gothic UI" pitchFamily="34" charset="-122"/>
                <a:cs typeface="Yu Gothic UI" pitchFamily="34" charset="-120"/>
              </a:rPr>
              <a:t>自分自身の幸福感も高めてくれる</a:t>
            </a:r>
            <a:endParaRPr lang="en-US" sz="2000" dirty="0"/>
          </a:p>
        </p:txBody>
      </p:sp>
      <p:sp>
        <p:nvSpPr>
          <p:cNvPr id="9" name="Shape 6"/>
          <p:cNvSpPr/>
          <p:nvPr/>
        </p:nvSpPr>
        <p:spPr>
          <a:xfrm>
            <a:off x="1097280" y="3200400"/>
            <a:ext cx="6766560" cy="457200"/>
          </a:xfrm>
          <a:prstGeom prst="rect">
            <a:avLst/>
          </a:prstGeom>
          <a:solidFill>
            <a:srgbClr val="E8F5E9"/>
          </a:solidFill>
          <a:ln/>
        </p:spPr>
      </p:sp>
      <p:sp>
        <p:nvSpPr>
          <p:cNvPr id="10" name="Text 7"/>
          <p:cNvSpPr/>
          <p:nvPr/>
        </p:nvSpPr>
        <p:spPr>
          <a:xfrm>
            <a:off x="1280160" y="3200400"/>
            <a:ext cx="6400800" cy="457200"/>
          </a:xfrm>
          <a:prstGeom prst="rect">
            <a:avLst/>
          </a:prstGeom>
          <a:noFill/>
          <a:ln/>
        </p:spPr>
        <p:txBody>
          <a:bodyPr wrap="square" lIns="0" tIns="0" rIns="0" bIns="0" rtlCol="0" anchor="ctr"/>
          <a:lstStyle/>
          <a:p>
            <a:pPr algn="l" indent="0" marL="0">
              <a:buNone/>
            </a:pPr>
            <a:r>
              <a:rPr lang="en-US" sz="1800" b="1" dirty="0">
                <a:solidFill>
                  <a:srgbClr val="1A6B5A"/>
                </a:solidFill>
                <a:latin typeface="Yu Gothic UI" pitchFamily="34" charset="0"/>
                <a:ea typeface="Yu Gothic UI" pitchFamily="34" charset="-122"/>
                <a:cs typeface="Yu Gothic UI" pitchFamily="34" charset="-120"/>
              </a:rPr>
              <a:t>PERMAの R（人間関係）と P（ポジティブ感情）の両方を満たす</a:t>
            </a:r>
            <a:endParaRPr lang="en-US" sz="1800" dirty="0"/>
          </a:p>
        </p:txBody>
      </p:sp>
      <p:sp>
        <p:nvSpPr>
          <p:cNvPr id="11" name="Text 8"/>
          <p:cNvSpPr/>
          <p:nvPr/>
        </p:nvSpPr>
        <p:spPr>
          <a:xfrm>
            <a:off x="731520" y="4663440"/>
            <a:ext cx="2743200" cy="365760"/>
          </a:xfrm>
          <a:prstGeom prst="rect">
            <a:avLst/>
          </a:prstGeom>
          <a:noFill/>
          <a:ln/>
        </p:spPr>
        <p:txBody>
          <a:bodyPr wrap="square" lIns="0" tIns="0" rIns="0" bIns="0" rtlCol="0" anchor="ctr"/>
          <a:lstStyle/>
          <a:p>
            <a:pPr algn="l" indent="0" marL="0">
              <a:buNone/>
            </a:pPr>
            <a:r>
              <a:rPr lang="en-US" sz="1400" dirty="0">
                <a:solidFill>
                  <a:srgbClr val="7F8C8D"/>
                </a:solidFill>
                <a:latin typeface="Yu Gothic UI" pitchFamily="34" charset="0"/>
                <a:ea typeface="Yu Gothic UI" pitchFamily="34" charset="-122"/>
                <a:cs typeface="Yu Gothic UI" pitchFamily="34" charset="-120"/>
              </a:rPr>
              <a:t>5. 具体的な行動</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9"/>
        </a:solidFill>
      </p:bgPr>
    </p:bg>
    <p:spTree>
      <p:nvGrpSpPr>
        <p:cNvPr id="1" name=""/>
        <p:cNvGrpSpPr/>
        <p:nvPr/>
      </p:nvGrpSpPr>
      <p:grpSpPr>
        <a:xfrm>
          <a:off x="0" y="0"/>
          <a:ext cx="0" cy="0"/>
          <a:chOff x="0" y="0"/>
          <a:chExt cx="0" cy="0"/>
        </a:xfrm>
      </p:grpSpPr>
      <p:sp>
        <p:nvSpPr>
          <p:cNvPr id="2" name="Shape 0"/>
          <p:cNvSpPr/>
          <p:nvPr/>
        </p:nvSpPr>
        <p:spPr>
          <a:xfrm>
            <a:off x="731520" y="365760"/>
            <a:ext cx="731520" cy="731520"/>
          </a:xfrm>
          <a:prstGeom prst="ellipse">
            <a:avLst/>
          </a:prstGeom>
          <a:solidFill>
            <a:srgbClr val="2980B9"/>
          </a:solidFill>
          <a:ln/>
        </p:spPr>
      </p:sp>
      <p:pic>
        <p:nvPicPr>
          <p:cNvPr id="3" name="Image 0" descr="preencoded.png">    </p:cNvPr>
          <p:cNvPicPr>
            <a:picLocks noChangeAspect="1"/>
          </p:cNvPicPr>
          <p:nvPr/>
        </p:nvPicPr>
        <p:blipFill>
          <a:blip r:embed="rId1"/>
          <a:stretch>
            <a:fillRect/>
          </a:stretch>
        </p:blipFill>
        <p:spPr>
          <a:xfrm>
            <a:off x="868680" y="502920"/>
            <a:ext cx="457200" cy="457200"/>
          </a:xfrm>
          <a:prstGeom prst="rect">
            <a:avLst/>
          </a:prstGeom>
        </p:spPr>
      </p:pic>
      <p:sp>
        <p:nvSpPr>
          <p:cNvPr id="4" name="Text 1"/>
          <p:cNvSpPr/>
          <p:nvPr/>
        </p:nvSpPr>
        <p:spPr>
          <a:xfrm>
            <a:off x="1645920" y="320040"/>
            <a:ext cx="1828800" cy="411480"/>
          </a:xfrm>
          <a:prstGeom prst="rect">
            <a:avLst/>
          </a:prstGeom>
          <a:noFill/>
          <a:ln/>
        </p:spPr>
        <p:txBody>
          <a:bodyPr wrap="square" lIns="0" tIns="0" rIns="0" bIns="0" rtlCol="0" anchor="ctr"/>
          <a:lstStyle/>
          <a:p>
            <a:pPr algn="l" indent="0" marL="0">
              <a:buNone/>
            </a:pPr>
            <a:r>
              <a:rPr lang="en-US" sz="1800" dirty="0">
                <a:solidFill>
                  <a:srgbClr val="7F8C8D"/>
                </a:solidFill>
                <a:latin typeface="Yu Gothic UI" pitchFamily="34" charset="0"/>
                <a:ea typeface="Yu Gothic UI" pitchFamily="34" charset="-122"/>
                <a:cs typeface="Yu Gothic UI" pitchFamily="34" charset="-120"/>
              </a:rPr>
              <a:t>行動 3</a:t>
            </a:r>
            <a:endParaRPr lang="en-US" sz="1800" dirty="0"/>
          </a:p>
        </p:txBody>
      </p:sp>
      <p:sp>
        <p:nvSpPr>
          <p:cNvPr id="5" name="Text 2"/>
          <p:cNvSpPr/>
          <p:nvPr/>
        </p:nvSpPr>
        <p:spPr>
          <a:xfrm>
            <a:off x="1645920" y="640080"/>
            <a:ext cx="6400800" cy="548640"/>
          </a:xfrm>
          <a:prstGeom prst="rect">
            <a:avLst/>
          </a:prstGeom>
          <a:noFill/>
          <a:ln/>
        </p:spPr>
        <p:txBody>
          <a:bodyPr wrap="square" lIns="0" tIns="0" rIns="0" bIns="0" rtlCol="0" anchor="ctr"/>
          <a:lstStyle/>
          <a:p>
            <a:pPr algn="l" indent="0" marL="0">
              <a:buNone/>
            </a:pPr>
            <a:r>
              <a:rPr lang="en-US" sz="2800" b="1" dirty="0">
                <a:solidFill>
                  <a:srgbClr val="2C3E50"/>
                </a:solidFill>
                <a:latin typeface="Yu Gothic UI" pitchFamily="34" charset="0"/>
                <a:ea typeface="Yu Gothic UI" pitchFamily="34" charset="-122"/>
                <a:cs typeface="Yu Gothic UI" pitchFamily="34" charset="-120"/>
              </a:rPr>
              <a:t>体を動かす時間を作る</a:t>
            </a:r>
            <a:endParaRPr lang="en-US" sz="2800" dirty="0"/>
          </a:p>
        </p:txBody>
      </p:sp>
      <p:sp>
        <p:nvSpPr>
          <p:cNvPr id="6" name="Shape 3"/>
          <p:cNvSpPr/>
          <p:nvPr/>
        </p:nvSpPr>
        <p:spPr>
          <a:xfrm>
            <a:off x="731520" y="1463040"/>
            <a:ext cx="7680960" cy="23774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Text 4"/>
          <p:cNvSpPr/>
          <p:nvPr/>
        </p:nvSpPr>
        <p:spPr>
          <a:xfrm>
            <a:off x="1097280" y="1645920"/>
            <a:ext cx="6949440" cy="548640"/>
          </a:xfrm>
          <a:prstGeom prst="rect">
            <a:avLst/>
          </a:prstGeom>
          <a:noFill/>
          <a:ln/>
        </p:spPr>
        <p:txBody>
          <a:bodyPr wrap="square" lIns="0" tIns="0" rIns="0" bIns="0" rtlCol="0" anchor="ctr"/>
          <a:lstStyle/>
          <a:p>
            <a:pPr algn="l" indent="0" marL="0">
              <a:buNone/>
            </a:pPr>
            <a:r>
              <a:rPr lang="en-US" sz="2200" b="1" dirty="0">
                <a:solidFill>
                  <a:srgbClr val="2C3E50"/>
                </a:solidFill>
                <a:latin typeface="Yu Gothic UI" pitchFamily="34" charset="0"/>
                <a:ea typeface="Yu Gothic UI" pitchFamily="34" charset="-122"/>
                <a:cs typeface="Yu Gothic UI" pitchFamily="34" charset="-120"/>
              </a:rPr>
              <a:t>激しいトレーニングは不要──一日20分の散歩で十分</a:t>
            </a:r>
            <a:endParaRPr lang="en-US" sz="2200" dirty="0"/>
          </a:p>
        </p:txBody>
      </p:sp>
      <p:sp>
        <p:nvSpPr>
          <p:cNvPr id="8" name="Text 5"/>
          <p:cNvSpPr/>
          <p:nvPr/>
        </p:nvSpPr>
        <p:spPr>
          <a:xfrm>
            <a:off x="1097280" y="2377440"/>
            <a:ext cx="6949440" cy="914400"/>
          </a:xfrm>
          <a:prstGeom prst="rect">
            <a:avLst/>
          </a:prstGeom>
          <a:noFill/>
          <a:ln/>
        </p:spPr>
        <p:txBody>
          <a:bodyPr wrap="square" lIns="0" tIns="0" rIns="0" bIns="0" rtlCol="0" anchor="ctr"/>
          <a:lstStyle/>
          <a:p>
            <a:pPr algn="l" indent="0" marL="0">
              <a:buNone/>
            </a:pPr>
            <a:r>
              <a:rPr lang="en-US" sz="2000" dirty="0">
                <a:solidFill>
                  <a:srgbClr val="34495E"/>
                </a:solidFill>
                <a:latin typeface="Yu Gothic UI" pitchFamily="34" charset="0"/>
                <a:ea typeface="Yu Gothic UI" pitchFamily="34" charset="-122"/>
                <a:cs typeface="Yu Gothic UI" pitchFamily="34" charset="-120"/>
              </a:rPr>
              <a:t>エンドルフィン（天然の気分向上剤）が分泌される</a:t>
            </a:r>
            <a:endParaRPr lang="en-US" sz="2000" dirty="0"/>
          </a:p>
          <a:p>
            <a:pPr algn="l" indent="0" marL="0">
              <a:buNone/>
            </a:pPr>
            <a:r>
              <a:rPr lang="en-US" sz="2000" dirty="0">
                <a:solidFill>
                  <a:srgbClr val="34495E"/>
                </a:solidFill>
                <a:latin typeface="Yu Gothic UI" pitchFamily="34" charset="0"/>
                <a:ea typeface="Yu Gothic UI" pitchFamily="34" charset="-122"/>
                <a:cs typeface="Yu Gothic UI" pitchFamily="34" charset="-120"/>
              </a:rPr>
              <a:t>頭の中のぐるぐる回る考え事が一時的にリセットされる</a:t>
            </a:r>
            <a:endParaRPr lang="en-US" sz="2000" dirty="0"/>
          </a:p>
        </p:txBody>
      </p:sp>
      <p:sp>
        <p:nvSpPr>
          <p:cNvPr id="9" name="Shape 6"/>
          <p:cNvSpPr/>
          <p:nvPr/>
        </p:nvSpPr>
        <p:spPr>
          <a:xfrm>
            <a:off x="1097280" y="3291840"/>
            <a:ext cx="6766560" cy="457200"/>
          </a:xfrm>
          <a:prstGeom prst="rect">
            <a:avLst/>
          </a:prstGeom>
          <a:solidFill>
            <a:srgbClr val="EBF5FB"/>
          </a:solidFill>
          <a:ln/>
        </p:spPr>
      </p:sp>
      <p:sp>
        <p:nvSpPr>
          <p:cNvPr id="10" name="Text 7"/>
          <p:cNvSpPr/>
          <p:nvPr/>
        </p:nvSpPr>
        <p:spPr>
          <a:xfrm>
            <a:off x="1280160" y="3291840"/>
            <a:ext cx="6400800" cy="457200"/>
          </a:xfrm>
          <a:prstGeom prst="rect">
            <a:avLst/>
          </a:prstGeom>
          <a:noFill/>
          <a:ln/>
        </p:spPr>
        <p:txBody>
          <a:bodyPr wrap="square" lIns="0" tIns="0" rIns="0" bIns="0" rtlCol="0" anchor="ctr"/>
          <a:lstStyle/>
          <a:p>
            <a:pPr algn="l" indent="0" marL="0">
              <a:buNone/>
            </a:pPr>
            <a:r>
              <a:rPr lang="en-US" sz="1800" b="1" dirty="0">
                <a:solidFill>
                  <a:srgbClr val="2980B9"/>
                </a:solidFill>
                <a:latin typeface="Yu Gothic UI" pitchFamily="34" charset="0"/>
                <a:ea typeface="Yu Gothic UI" pitchFamily="34" charset="-122"/>
                <a:cs typeface="Yu Gothic UI" pitchFamily="34" charset="-120"/>
              </a:rPr>
              <a:t>心と体はつながっている──体を動かせば心にも良い変化が生まれる</a:t>
            </a:r>
            <a:endParaRPr lang="en-US" sz="1800" dirty="0"/>
          </a:p>
        </p:txBody>
      </p:sp>
      <p:sp>
        <p:nvSpPr>
          <p:cNvPr id="11" name="Text 8"/>
          <p:cNvSpPr/>
          <p:nvPr/>
        </p:nvSpPr>
        <p:spPr>
          <a:xfrm>
            <a:off x="731520" y="4663440"/>
            <a:ext cx="2743200" cy="365760"/>
          </a:xfrm>
          <a:prstGeom prst="rect">
            <a:avLst/>
          </a:prstGeom>
          <a:noFill/>
          <a:ln/>
        </p:spPr>
        <p:txBody>
          <a:bodyPr wrap="square" lIns="0" tIns="0" rIns="0" bIns="0" rtlCol="0" anchor="ctr"/>
          <a:lstStyle/>
          <a:p>
            <a:pPr algn="l" indent="0" marL="0">
              <a:buNone/>
            </a:pPr>
            <a:r>
              <a:rPr lang="en-US" sz="1400" dirty="0">
                <a:solidFill>
                  <a:srgbClr val="7F8C8D"/>
                </a:solidFill>
                <a:latin typeface="Yu Gothic UI" pitchFamily="34" charset="0"/>
                <a:ea typeface="Yu Gothic UI" pitchFamily="34" charset="-122"/>
                <a:cs typeface="Yu Gothic UI" pitchFamily="34" charset="-120"/>
              </a:rPr>
              <a:t>5. 具体的な行動</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9"/>
        </a:solidFill>
      </p:bgPr>
    </p:bg>
    <p:spTree>
      <p:nvGrpSpPr>
        <p:cNvPr id="1" name=""/>
        <p:cNvGrpSpPr/>
        <p:nvPr/>
      </p:nvGrpSpPr>
      <p:grpSpPr>
        <a:xfrm>
          <a:off x="0" y="0"/>
          <a:ext cx="0" cy="0"/>
          <a:chOff x="0" y="0"/>
          <a:chExt cx="0" cy="0"/>
        </a:xfrm>
      </p:grpSpPr>
      <p:sp>
        <p:nvSpPr>
          <p:cNvPr id="2" name="Shape 0"/>
          <p:cNvSpPr/>
          <p:nvPr/>
        </p:nvSpPr>
        <p:spPr>
          <a:xfrm>
            <a:off x="731520" y="365760"/>
            <a:ext cx="731520" cy="731520"/>
          </a:xfrm>
          <a:prstGeom prst="ellipse">
            <a:avLst/>
          </a:prstGeom>
          <a:solidFill>
            <a:srgbClr val="8E44AD"/>
          </a:solidFill>
          <a:ln/>
        </p:spPr>
      </p:sp>
      <p:pic>
        <p:nvPicPr>
          <p:cNvPr id="3" name="Image 0" descr="preencoded.png">    </p:cNvPr>
          <p:cNvPicPr>
            <a:picLocks noChangeAspect="1"/>
          </p:cNvPicPr>
          <p:nvPr/>
        </p:nvPicPr>
        <p:blipFill>
          <a:blip r:embed="rId1"/>
          <a:stretch>
            <a:fillRect/>
          </a:stretch>
        </p:blipFill>
        <p:spPr>
          <a:xfrm>
            <a:off x="868680" y="502920"/>
            <a:ext cx="457200" cy="457200"/>
          </a:xfrm>
          <a:prstGeom prst="rect">
            <a:avLst/>
          </a:prstGeom>
        </p:spPr>
      </p:pic>
      <p:sp>
        <p:nvSpPr>
          <p:cNvPr id="4" name="Text 1"/>
          <p:cNvSpPr/>
          <p:nvPr/>
        </p:nvSpPr>
        <p:spPr>
          <a:xfrm>
            <a:off x="1645920" y="320040"/>
            <a:ext cx="1828800" cy="411480"/>
          </a:xfrm>
          <a:prstGeom prst="rect">
            <a:avLst/>
          </a:prstGeom>
          <a:noFill/>
          <a:ln/>
        </p:spPr>
        <p:txBody>
          <a:bodyPr wrap="square" lIns="0" tIns="0" rIns="0" bIns="0" rtlCol="0" anchor="ctr"/>
          <a:lstStyle/>
          <a:p>
            <a:pPr algn="l" indent="0" marL="0">
              <a:buNone/>
            </a:pPr>
            <a:r>
              <a:rPr lang="en-US" sz="1800" dirty="0">
                <a:solidFill>
                  <a:srgbClr val="7F8C8D"/>
                </a:solidFill>
                <a:latin typeface="Yu Gothic UI" pitchFamily="34" charset="0"/>
                <a:ea typeface="Yu Gothic UI" pitchFamily="34" charset="-122"/>
                <a:cs typeface="Yu Gothic UI" pitchFamily="34" charset="-120"/>
              </a:rPr>
              <a:t>行動 4</a:t>
            </a:r>
            <a:endParaRPr lang="en-US" sz="1800" dirty="0"/>
          </a:p>
        </p:txBody>
      </p:sp>
      <p:sp>
        <p:nvSpPr>
          <p:cNvPr id="5" name="Text 2"/>
          <p:cNvSpPr/>
          <p:nvPr/>
        </p:nvSpPr>
        <p:spPr>
          <a:xfrm>
            <a:off x="1645920" y="640080"/>
            <a:ext cx="6400800" cy="548640"/>
          </a:xfrm>
          <a:prstGeom prst="rect">
            <a:avLst/>
          </a:prstGeom>
          <a:noFill/>
          <a:ln/>
        </p:spPr>
        <p:txBody>
          <a:bodyPr wrap="square" lIns="0" tIns="0" rIns="0" bIns="0" rtlCol="0" anchor="ctr"/>
          <a:lstStyle/>
          <a:p>
            <a:pPr algn="l" indent="0" marL="0">
              <a:buNone/>
            </a:pPr>
            <a:r>
              <a:rPr lang="en-US" sz="2800" b="1" dirty="0">
                <a:solidFill>
                  <a:srgbClr val="2C3E50"/>
                </a:solidFill>
                <a:latin typeface="Yu Gothic UI" pitchFamily="34" charset="0"/>
                <a:ea typeface="Yu Gothic UI" pitchFamily="34" charset="-122"/>
                <a:cs typeface="Yu Gothic UI" pitchFamily="34" charset="-120"/>
              </a:rPr>
              <a:t>「没頭できること」に時間を使う</a:t>
            </a:r>
            <a:endParaRPr lang="en-US" sz="2800" dirty="0"/>
          </a:p>
        </p:txBody>
      </p:sp>
      <p:sp>
        <p:nvSpPr>
          <p:cNvPr id="6" name="Shape 3"/>
          <p:cNvSpPr/>
          <p:nvPr/>
        </p:nvSpPr>
        <p:spPr>
          <a:xfrm>
            <a:off x="731520" y="1463040"/>
            <a:ext cx="7680960" cy="23774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Text 4"/>
          <p:cNvSpPr/>
          <p:nvPr/>
        </p:nvSpPr>
        <p:spPr>
          <a:xfrm>
            <a:off x="1097280" y="1645920"/>
            <a:ext cx="6949440" cy="548640"/>
          </a:xfrm>
          <a:prstGeom prst="rect">
            <a:avLst/>
          </a:prstGeom>
          <a:noFill/>
          <a:ln/>
        </p:spPr>
        <p:txBody>
          <a:bodyPr wrap="square" lIns="0" tIns="0" rIns="0" bIns="0" rtlCol="0" anchor="ctr"/>
          <a:lstStyle/>
          <a:p>
            <a:pPr algn="l" indent="0" marL="0">
              <a:buNone/>
            </a:pPr>
            <a:r>
              <a:rPr lang="en-US" sz="2200" b="1" dirty="0">
                <a:solidFill>
                  <a:srgbClr val="2C3E50"/>
                </a:solidFill>
                <a:latin typeface="Yu Gothic UI" pitchFamily="34" charset="0"/>
                <a:ea typeface="Yu Gothic UI" pitchFamily="34" charset="-122"/>
                <a:cs typeface="Yu Gothic UI" pitchFamily="34" charset="-120"/>
              </a:rPr>
              <a:t>「上手かどうか」ではなく「楽しいかどうか」</a:t>
            </a:r>
            <a:endParaRPr lang="en-US" sz="2200" dirty="0"/>
          </a:p>
        </p:txBody>
      </p:sp>
      <p:sp>
        <p:nvSpPr>
          <p:cNvPr id="8" name="Text 5"/>
          <p:cNvSpPr/>
          <p:nvPr/>
        </p:nvSpPr>
        <p:spPr>
          <a:xfrm>
            <a:off x="1097280" y="2377440"/>
            <a:ext cx="6949440" cy="914400"/>
          </a:xfrm>
          <a:prstGeom prst="rect">
            <a:avLst/>
          </a:prstGeom>
          <a:noFill/>
          <a:ln/>
        </p:spPr>
        <p:txBody>
          <a:bodyPr wrap="square" lIns="0" tIns="0" rIns="0" bIns="0" rtlCol="0" anchor="ctr"/>
          <a:lstStyle/>
          <a:p>
            <a:pPr algn="l" indent="0" marL="0">
              <a:buNone/>
            </a:pPr>
            <a:r>
              <a:rPr lang="en-US" sz="2000" dirty="0">
                <a:solidFill>
                  <a:srgbClr val="34495E"/>
                </a:solidFill>
                <a:latin typeface="Yu Gothic UI" pitchFamily="34" charset="0"/>
                <a:ea typeface="Yu Gothic UI" pitchFamily="34" charset="-122"/>
                <a:cs typeface="Yu Gothic UI" pitchFamily="34" charset="-120"/>
              </a:rPr>
              <a:t>読書、料理、ゲーム、園芸、楽器演奏、DIY...</a:t>
            </a:r>
            <a:endParaRPr lang="en-US" sz="2000" dirty="0"/>
          </a:p>
          <a:p>
            <a:pPr algn="l" indent="0" marL="0">
              <a:buNone/>
            </a:pPr>
            <a:r>
              <a:rPr lang="en-US" sz="2000" dirty="0">
                <a:solidFill>
                  <a:srgbClr val="34495E"/>
                </a:solidFill>
                <a:latin typeface="Yu Gothic UI" pitchFamily="34" charset="0"/>
                <a:ea typeface="Yu Gothic UI" pitchFamily="34" charset="-122"/>
                <a:cs typeface="Yu Gothic UI" pitchFamily="34" charset="-120"/>
              </a:rPr>
              <a:t>結果を気にせず、プロセスそのものを楽しむ</a:t>
            </a:r>
            <a:endParaRPr lang="en-US" sz="2000" dirty="0"/>
          </a:p>
        </p:txBody>
      </p:sp>
      <p:sp>
        <p:nvSpPr>
          <p:cNvPr id="9" name="Shape 6"/>
          <p:cNvSpPr/>
          <p:nvPr/>
        </p:nvSpPr>
        <p:spPr>
          <a:xfrm>
            <a:off x="1097280" y="3291840"/>
            <a:ext cx="6766560" cy="457200"/>
          </a:xfrm>
          <a:prstGeom prst="rect">
            <a:avLst/>
          </a:prstGeom>
          <a:solidFill>
            <a:srgbClr val="F5EEF8"/>
          </a:solidFill>
          <a:ln/>
        </p:spPr>
      </p:sp>
      <p:sp>
        <p:nvSpPr>
          <p:cNvPr id="10" name="Text 7"/>
          <p:cNvSpPr/>
          <p:nvPr/>
        </p:nvSpPr>
        <p:spPr>
          <a:xfrm>
            <a:off x="1280160" y="3291840"/>
            <a:ext cx="6400800" cy="457200"/>
          </a:xfrm>
          <a:prstGeom prst="rect">
            <a:avLst/>
          </a:prstGeom>
          <a:noFill/>
          <a:ln/>
        </p:spPr>
        <p:txBody>
          <a:bodyPr wrap="square" lIns="0" tIns="0" rIns="0" bIns="0" rtlCol="0" anchor="ctr"/>
          <a:lstStyle/>
          <a:p>
            <a:pPr algn="l" indent="0" marL="0">
              <a:buNone/>
            </a:pPr>
            <a:r>
              <a:rPr lang="en-US" sz="1800" b="1" dirty="0">
                <a:solidFill>
                  <a:srgbClr val="8E44AD"/>
                </a:solidFill>
                <a:latin typeface="Yu Gothic UI" pitchFamily="34" charset="0"/>
                <a:ea typeface="Yu Gothic UI" pitchFamily="34" charset="-122"/>
                <a:cs typeface="Yu Gothic UI" pitchFamily="34" charset="-120"/>
              </a:rPr>
              <a:t>没頭している間、余計な心配事から解放される──一種の充足感</a:t>
            </a:r>
            <a:endParaRPr lang="en-US" sz="1800" dirty="0"/>
          </a:p>
        </p:txBody>
      </p:sp>
      <p:sp>
        <p:nvSpPr>
          <p:cNvPr id="11" name="Text 8"/>
          <p:cNvSpPr/>
          <p:nvPr/>
        </p:nvSpPr>
        <p:spPr>
          <a:xfrm>
            <a:off x="731520" y="4663440"/>
            <a:ext cx="2743200" cy="365760"/>
          </a:xfrm>
          <a:prstGeom prst="rect">
            <a:avLst/>
          </a:prstGeom>
          <a:noFill/>
          <a:ln/>
        </p:spPr>
        <p:txBody>
          <a:bodyPr wrap="square" lIns="0" tIns="0" rIns="0" bIns="0" rtlCol="0" anchor="ctr"/>
          <a:lstStyle/>
          <a:p>
            <a:pPr algn="l" indent="0" marL="0">
              <a:buNone/>
            </a:pPr>
            <a:r>
              <a:rPr lang="en-US" sz="1400" dirty="0">
                <a:solidFill>
                  <a:srgbClr val="7F8C8D"/>
                </a:solidFill>
                <a:latin typeface="Yu Gothic UI" pitchFamily="34" charset="0"/>
                <a:ea typeface="Yu Gothic UI" pitchFamily="34" charset="-122"/>
                <a:cs typeface="Yu Gothic UI" pitchFamily="34" charset="-120"/>
              </a:rPr>
              <a:t>5. 具体的な行動</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9"/>
        </a:solidFill>
      </p:bgPr>
    </p:bg>
    <p:spTree>
      <p:nvGrpSpPr>
        <p:cNvPr id="1" name=""/>
        <p:cNvGrpSpPr/>
        <p:nvPr/>
      </p:nvGrpSpPr>
      <p:grpSpPr>
        <a:xfrm>
          <a:off x="0" y="0"/>
          <a:ext cx="0" cy="0"/>
          <a:chOff x="0" y="0"/>
          <a:chExt cx="0" cy="0"/>
        </a:xfrm>
      </p:grpSpPr>
      <p:sp>
        <p:nvSpPr>
          <p:cNvPr id="2" name="Shape 0"/>
          <p:cNvSpPr/>
          <p:nvPr/>
        </p:nvSpPr>
        <p:spPr>
          <a:xfrm>
            <a:off x="731520" y="365760"/>
            <a:ext cx="731520" cy="731520"/>
          </a:xfrm>
          <a:prstGeom prst="ellipse">
            <a:avLst/>
          </a:prstGeom>
          <a:solidFill>
            <a:srgbClr val="C0392B"/>
          </a:solidFill>
          <a:ln/>
        </p:spPr>
      </p:sp>
      <p:pic>
        <p:nvPicPr>
          <p:cNvPr id="3" name="Image 0" descr="preencoded.png">    </p:cNvPr>
          <p:cNvPicPr>
            <a:picLocks noChangeAspect="1"/>
          </p:cNvPicPr>
          <p:nvPr/>
        </p:nvPicPr>
        <p:blipFill>
          <a:blip r:embed="rId1"/>
          <a:stretch>
            <a:fillRect/>
          </a:stretch>
        </p:blipFill>
        <p:spPr>
          <a:xfrm>
            <a:off x="868680" y="502920"/>
            <a:ext cx="457200" cy="457200"/>
          </a:xfrm>
          <a:prstGeom prst="rect">
            <a:avLst/>
          </a:prstGeom>
        </p:spPr>
      </p:pic>
      <p:sp>
        <p:nvSpPr>
          <p:cNvPr id="4" name="Text 1"/>
          <p:cNvSpPr/>
          <p:nvPr/>
        </p:nvSpPr>
        <p:spPr>
          <a:xfrm>
            <a:off x="1645920" y="320040"/>
            <a:ext cx="1828800" cy="411480"/>
          </a:xfrm>
          <a:prstGeom prst="rect">
            <a:avLst/>
          </a:prstGeom>
          <a:noFill/>
          <a:ln/>
        </p:spPr>
        <p:txBody>
          <a:bodyPr wrap="square" lIns="0" tIns="0" rIns="0" bIns="0" rtlCol="0" anchor="ctr"/>
          <a:lstStyle/>
          <a:p>
            <a:pPr algn="l" indent="0" marL="0">
              <a:buNone/>
            </a:pPr>
            <a:r>
              <a:rPr lang="en-US" sz="1800" dirty="0">
                <a:solidFill>
                  <a:srgbClr val="7F8C8D"/>
                </a:solidFill>
                <a:latin typeface="Yu Gothic UI" pitchFamily="34" charset="0"/>
                <a:ea typeface="Yu Gothic UI" pitchFamily="34" charset="-122"/>
                <a:cs typeface="Yu Gothic UI" pitchFamily="34" charset="-120"/>
              </a:rPr>
              <a:t>行動 5</a:t>
            </a:r>
            <a:endParaRPr lang="en-US" sz="1800" dirty="0"/>
          </a:p>
        </p:txBody>
      </p:sp>
      <p:sp>
        <p:nvSpPr>
          <p:cNvPr id="5" name="Text 2"/>
          <p:cNvSpPr/>
          <p:nvPr/>
        </p:nvSpPr>
        <p:spPr>
          <a:xfrm>
            <a:off x="1645920" y="640080"/>
            <a:ext cx="6400800" cy="548640"/>
          </a:xfrm>
          <a:prstGeom prst="rect">
            <a:avLst/>
          </a:prstGeom>
          <a:noFill/>
          <a:ln/>
        </p:spPr>
        <p:txBody>
          <a:bodyPr wrap="square" lIns="0" tIns="0" rIns="0" bIns="0" rtlCol="0" anchor="ctr"/>
          <a:lstStyle/>
          <a:p>
            <a:pPr algn="l" indent="0" marL="0">
              <a:buNone/>
            </a:pPr>
            <a:r>
              <a:rPr lang="en-US" sz="2800" b="1" dirty="0">
                <a:solidFill>
                  <a:srgbClr val="2C3E50"/>
                </a:solidFill>
                <a:latin typeface="Yu Gothic UI" pitchFamily="34" charset="0"/>
                <a:ea typeface="Yu Gothic UI" pitchFamily="34" charset="-122"/>
                <a:cs typeface="Yu Gothic UI" pitchFamily="34" charset="-120"/>
              </a:rPr>
              <a:t>SNSとの距離を見直す</a:t>
            </a:r>
            <a:endParaRPr lang="en-US" sz="2800" dirty="0"/>
          </a:p>
        </p:txBody>
      </p:sp>
      <p:sp>
        <p:nvSpPr>
          <p:cNvPr id="6" name="Shape 3"/>
          <p:cNvSpPr/>
          <p:nvPr/>
        </p:nvSpPr>
        <p:spPr>
          <a:xfrm>
            <a:off x="731520" y="1463040"/>
            <a:ext cx="7680960" cy="23774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Text 4"/>
          <p:cNvSpPr/>
          <p:nvPr/>
        </p:nvSpPr>
        <p:spPr>
          <a:xfrm>
            <a:off x="1097280" y="1645920"/>
            <a:ext cx="6949440" cy="731520"/>
          </a:xfrm>
          <a:prstGeom prst="rect">
            <a:avLst/>
          </a:prstGeom>
          <a:noFill/>
          <a:ln/>
        </p:spPr>
        <p:txBody>
          <a:bodyPr wrap="square" lIns="0" tIns="0" rIns="0" bIns="0" rtlCol="0" anchor="ctr"/>
          <a:lstStyle/>
          <a:p>
            <a:pPr algn="l" indent="0" marL="0">
              <a:buNone/>
            </a:pPr>
            <a:r>
              <a:rPr lang="en-US" sz="2200" b="1" dirty="0">
                <a:solidFill>
                  <a:srgbClr val="2C3E50"/>
                </a:solidFill>
                <a:latin typeface="Yu Gothic UI" pitchFamily="34" charset="0"/>
                <a:ea typeface="Yu Gothic UI" pitchFamily="34" charset="-122"/>
                <a:cs typeface="Yu Gothic UI" pitchFamily="34" charset="-120"/>
              </a:rPr>
              <a:t>他人の「ハイライト」ばかりを見続けると</a:t>
            </a:r>
            <a:endParaRPr lang="en-US" sz="2200" dirty="0"/>
          </a:p>
          <a:p>
            <a:pPr algn="l" indent="0" marL="0">
              <a:buNone/>
            </a:pPr>
            <a:r>
              <a:rPr lang="en-US" sz="2200" b="1" dirty="0">
                <a:solidFill>
                  <a:srgbClr val="2C3E50"/>
                </a:solidFill>
                <a:latin typeface="Yu Gothic UI" pitchFamily="34" charset="0"/>
                <a:ea typeface="Yu Gothic UI" pitchFamily="34" charset="-122"/>
                <a:cs typeface="Yu Gothic UI" pitchFamily="34" charset="-120"/>
              </a:rPr>
              <a:t>自分の日常が色あせて見える──「社会的比較」</a:t>
            </a:r>
            <a:endParaRPr lang="en-US" sz="2200" dirty="0"/>
          </a:p>
        </p:txBody>
      </p:sp>
      <p:sp>
        <p:nvSpPr>
          <p:cNvPr id="8" name="Text 5"/>
          <p:cNvSpPr/>
          <p:nvPr/>
        </p:nvSpPr>
        <p:spPr>
          <a:xfrm>
            <a:off x="1097280" y="2560320"/>
            <a:ext cx="6949440" cy="731520"/>
          </a:xfrm>
          <a:prstGeom prst="rect">
            <a:avLst/>
          </a:prstGeom>
          <a:noFill/>
          <a:ln/>
        </p:spPr>
        <p:txBody>
          <a:bodyPr wrap="square" lIns="0" tIns="0" rIns="0" bIns="0" rtlCol="0" anchor="ctr"/>
          <a:lstStyle/>
          <a:p>
            <a:pPr algn="l" indent="0" marL="0">
              <a:buNone/>
            </a:pPr>
            <a:r>
              <a:rPr lang="en-US" sz="2000" dirty="0">
                <a:solidFill>
                  <a:srgbClr val="34495E"/>
                </a:solidFill>
                <a:latin typeface="Yu Gothic UI" pitchFamily="34" charset="0"/>
                <a:ea typeface="Yu Gothic UI" pitchFamily="34" charset="-122"/>
                <a:cs typeface="Yu Gothic UI" pitchFamily="34" charset="-120"/>
              </a:rPr>
              <a:t>一日だけSNSを見ない日を作ってみる</a:t>
            </a:r>
            <a:endParaRPr lang="en-US" sz="2000" dirty="0"/>
          </a:p>
          <a:p>
            <a:pPr algn="l" indent="0" marL="0">
              <a:buNone/>
            </a:pPr>
            <a:r>
              <a:rPr lang="en-US" sz="2000" dirty="0">
                <a:solidFill>
                  <a:srgbClr val="34495E"/>
                </a:solidFill>
                <a:latin typeface="Yu Gothic UI" pitchFamily="34" charset="0"/>
                <a:ea typeface="Yu Gothic UI" pitchFamily="34" charset="-122"/>
                <a:cs typeface="Yu Gothic UI" pitchFamily="34" charset="-120"/>
              </a:rPr>
              <a:t>寝る前の一時間はスマホを別の部屋に置く</a:t>
            </a:r>
            <a:endParaRPr lang="en-US" sz="2000" dirty="0"/>
          </a:p>
        </p:txBody>
      </p:sp>
      <p:sp>
        <p:nvSpPr>
          <p:cNvPr id="9" name="Shape 6"/>
          <p:cNvSpPr/>
          <p:nvPr/>
        </p:nvSpPr>
        <p:spPr>
          <a:xfrm>
            <a:off x="1097280" y="3291840"/>
            <a:ext cx="6766560" cy="457200"/>
          </a:xfrm>
          <a:prstGeom prst="rect">
            <a:avLst/>
          </a:prstGeom>
          <a:solidFill>
            <a:srgbClr val="FDEDEC"/>
          </a:solidFill>
          <a:ln/>
        </p:spPr>
      </p:sp>
      <p:sp>
        <p:nvSpPr>
          <p:cNvPr id="10" name="Text 7"/>
          <p:cNvSpPr/>
          <p:nvPr/>
        </p:nvSpPr>
        <p:spPr>
          <a:xfrm>
            <a:off x="1280160" y="3291840"/>
            <a:ext cx="6400800" cy="457200"/>
          </a:xfrm>
          <a:prstGeom prst="rect">
            <a:avLst/>
          </a:prstGeom>
          <a:noFill/>
          <a:ln/>
        </p:spPr>
        <p:txBody>
          <a:bodyPr wrap="square" lIns="0" tIns="0" rIns="0" bIns="0" rtlCol="0" anchor="ctr"/>
          <a:lstStyle/>
          <a:p>
            <a:pPr algn="l" indent="0" marL="0">
              <a:buNone/>
            </a:pPr>
            <a:r>
              <a:rPr lang="en-US" sz="1800" b="1" dirty="0">
                <a:solidFill>
                  <a:srgbClr val="C0392B"/>
                </a:solidFill>
                <a:latin typeface="Yu Gothic UI" pitchFamily="34" charset="0"/>
                <a:ea typeface="Yu Gothic UI" pitchFamily="34" charset="-122"/>
                <a:cs typeface="Yu Gothic UI" pitchFamily="34" charset="-120"/>
              </a:rPr>
              <a:t>比較をやめると「自分の幸福」が見えやすくなる</a:t>
            </a:r>
            <a:endParaRPr lang="en-US" sz="1800" dirty="0"/>
          </a:p>
        </p:txBody>
      </p:sp>
      <p:sp>
        <p:nvSpPr>
          <p:cNvPr id="11" name="Text 8"/>
          <p:cNvSpPr/>
          <p:nvPr/>
        </p:nvSpPr>
        <p:spPr>
          <a:xfrm>
            <a:off x="731520" y="4663440"/>
            <a:ext cx="2743200" cy="365760"/>
          </a:xfrm>
          <a:prstGeom prst="rect">
            <a:avLst/>
          </a:prstGeom>
          <a:noFill/>
          <a:ln/>
        </p:spPr>
        <p:txBody>
          <a:bodyPr wrap="square" lIns="0" tIns="0" rIns="0" bIns="0" rtlCol="0" anchor="ctr"/>
          <a:lstStyle/>
          <a:p>
            <a:pPr algn="l" indent="0" marL="0">
              <a:buNone/>
            </a:pPr>
            <a:r>
              <a:rPr lang="en-US" sz="1400" dirty="0">
                <a:solidFill>
                  <a:srgbClr val="7F8C8D"/>
                </a:solidFill>
                <a:latin typeface="Yu Gothic UI" pitchFamily="34" charset="0"/>
                <a:ea typeface="Yu Gothic UI" pitchFamily="34" charset="-122"/>
                <a:cs typeface="Yu Gothic UI" pitchFamily="34" charset="-120"/>
              </a:rPr>
              <a:t>5. 具体的な行動</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5276"/>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CC71"/>
          </a:solidFill>
          <a:ln/>
        </p:spPr>
      </p:sp>
      <p:sp>
        <p:nvSpPr>
          <p:cNvPr id="3" name="Text 1"/>
          <p:cNvSpPr/>
          <p:nvPr/>
        </p:nvSpPr>
        <p:spPr>
          <a:xfrm>
            <a:off x="731520" y="914400"/>
            <a:ext cx="1828800" cy="914400"/>
          </a:xfrm>
          <a:prstGeom prst="rect">
            <a:avLst/>
          </a:prstGeom>
          <a:noFill/>
          <a:ln/>
        </p:spPr>
        <p:txBody>
          <a:bodyPr wrap="square" lIns="0" tIns="0" rIns="0" bIns="0" rtlCol="0" anchor="ctr"/>
          <a:lstStyle/>
          <a:p>
            <a:pPr algn="l" indent="0" marL="0">
              <a:buNone/>
            </a:pPr>
            <a:r>
              <a:rPr lang="en-US" sz="6000" b="1" dirty="0">
                <a:solidFill>
                  <a:srgbClr val="2ECC71"/>
                </a:solidFill>
                <a:latin typeface="Yu Gothic UI" pitchFamily="34" charset="0"/>
                <a:ea typeface="Yu Gothic UI" pitchFamily="34" charset="-122"/>
                <a:cs typeface="Yu Gothic UI" pitchFamily="34" charset="-120"/>
              </a:rPr>
              <a:t>06</a:t>
            </a:r>
            <a:endParaRPr lang="en-US" sz="6000" dirty="0"/>
          </a:p>
        </p:txBody>
      </p:sp>
      <p:sp>
        <p:nvSpPr>
          <p:cNvPr id="4" name="Text 2"/>
          <p:cNvSpPr/>
          <p:nvPr/>
        </p:nvSpPr>
        <p:spPr>
          <a:xfrm>
            <a:off x="731520" y="2011680"/>
            <a:ext cx="7680960" cy="914400"/>
          </a:xfrm>
          <a:prstGeom prst="rect">
            <a:avLst/>
          </a:prstGeom>
          <a:noFill/>
          <a:ln/>
        </p:spPr>
        <p:txBody>
          <a:bodyPr wrap="square" lIns="0" tIns="0" rIns="0" bIns="0" rtlCol="0" anchor="ctr"/>
          <a:lstStyle/>
          <a:p>
            <a:pPr algn="l" indent="0" marL="0">
              <a:buNone/>
            </a:pPr>
            <a:r>
              <a:rPr lang="en-US" sz="3600" b="1" dirty="0">
                <a:solidFill>
                  <a:srgbClr val="FFFFFF"/>
                </a:solidFill>
                <a:latin typeface="Yu Gothic UI" pitchFamily="34" charset="0"/>
                <a:ea typeface="Yu Gothic UI" pitchFamily="34" charset="-122"/>
                <a:cs typeface="Yu Gothic UI" pitchFamily="34" charset="-120"/>
              </a:rPr>
              <a:t>まとめ</a:t>
            </a:r>
            <a:endParaRPr lang="en-US" sz="3600" dirty="0"/>
          </a:p>
        </p:txBody>
      </p:sp>
      <p:sp>
        <p:nvSpPr>
          <p:cNvPr id="5" name="Text 3"/>
          <p:cNvSpPr/>
          <p:nvPr/>
        </p:nvSpPr>
        <p:spPr>
          <a:xfrm>
            <a:off x="731520" y="3017520"/>
            <a:ext cx="7680960" cy="548640"/>
          </a:xfrm>
          <a:prstGeom prst="rect">
            <a:avLst/>
          </a:prstGeom>
          <a:noFill/>
          <a:ln/>
        </p:spPr>
        <p:txBody>
          <a:bodyPr wrap="square" lIns="0" tIns="0" rIns="0" bIns="0" rtlCol="0" anchor="ctr"/>
          <a:lstStyle/>
          <a:p>
            <a:pPr algn="l" indent="0" marL="0">
              <a:buNone/>
            </a:pPr>
            <a:r>
              <a:rPr lang="en-US" sz="2000" dirty="0">
                <a:solidFill>
                  <a:srgbClr val="2ECC71"/>
                </a:solidFill>
                <a:latin typeface="Yu Gothic UI" pitchFamily="34" charset="0"/>
                <a:ea typeface="Yu Gothic UI" pitchFamily="34" charset="-122"/>
                <a:cs typeface="Yu Gothic UI" pitchFamily="34" charset="-120"/>
              </a:rPr>
              <a:t>あなたの「幸福」は、あなたの中にある</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9"/>
        </a:solidFill>
      </p:bgPr>
    </p:bg>
    <p:spTree>
      <p:nvGrpSpPr>
        <p:cNvPr id="1" name=""/>
        <p:cNvGrpSpPr/>
        <p:nvPr/>
      </p:nvGrpSpPr>
      <p:grpSpPr>
        <a:xfrm>
          <a:off x="0" y="0"/>
          <a:ext cx="0" cy="0"/>
          <a:chOff x="0" y="0"/>
          <a:chExt cx="0" cy="0"/>
        </a:xfrm>
      </p:grpSpPr>
      <p:sp>
        <p:nvSpPr>
          <p:cNvPr id="2" name="Text 0"/>
          <p:cNvSpPr/>
          <p:nvPr/>
        </p:nvSpPr>
        <p:spPr>
          <a:xfrm>
            <a:off x="731520" y="365760"/>
            <a:ext cx="7680960" cy="731520"/>
          </a:xfrm>
          <a:prstGeom prst="rect">
            <a:avLst/>
          </a:prstGeom>
          <a:noFill/>
          <a:ln/>
        </p:spPr>
        <p:txBody>
          <a:bodyPr wrap="square" lIns="0" tIns="0" rIns="0" bIns="0" rtlCol="0" anchor="ctr"/>
          <a:lstStyle/>
          <a:p>
            <a:pPr algn="l" indent="0" marL="0">
              <a:buNone/>
            </a:pPr>
            <a:r>
              <a:rPr lang="en-US" sz="3200" b="1" dirty="0">
                <a:solidFill>
                  <a:srgbClr val="2C3E50"/>
                </a:solidFill>
                <a:latin typeface="Yu Gothic UI" pitchFamily="34" charset="0"/>
                <a:ea typeface="Yu Gothic UI" pitchFamily="34" charset="-122"/>
                <a:cs typeface="Yu Gothic UI" pitchFamily="34" charset="-120"/>
              </a:rPr>
              <a:t>幸福を考える四つの視点</a:t>
            </a:r>
            <a:endParaRPr lang="en-US" sz="3200" dirty="0"/>
          </a:p>
        </p:txBody>
      </p:sp>
      <p:sp>
        <p:nvSpPr>
          <p:cNvPr id="3" name="Shape 1"/>
          <p:cNvSpPr/>
          <p:nvPr/>
        </p:nvSpPr>
        <p:spPr>
          <a:xfrm>
            <a:off x="731520" y="1371600"/>
            <a:ext cx="7680960" cy="73152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4" name="Shape 2"/>
          <p:cNvSpPr/>
          <p:nvPr/>
        </p:nvSpPr>
        <p:spPr>
          <a:xfrm>
            <a:off x="731520" y="1371600"/>
            <a:ext cx="73152" cy="731520"/>
          </a:xfrm>
          <a:prstGeom prst="rect">
            <a:avLst/>
          </a:prstGeom>
          <a:solidFill>
            <a:srgbClr val="E67E22"/>
          </a:solidFill>
          <a:ln/>
        </p:spPr>
      </p:sp>
      <p:sp>
        <p:nvSpPr>
          <p:cNvPr id="5" name="Text 3"/>
          <p:cNvSpPr/>
          <p:nvPr/>
        </p:nvSpPr>
        <p:spPr>
          <a:xfrm>
            <a:off x="1005840" y="1371600"/>
            <a:ext cx="548640" cy="731520"/>
          </a:xfrm>
          <a:prstGeom prst="rect">
            <a:avLst/>
          </a:prstGeom>
          <a:noFill/>
          <a:ln/>
        </p:spPr>
        <p:txBody>
          <a:bodyPr wrap="square" lIns="0" tIns="0" rIns="0" bIns="0" rtlCol="0" anchor="ctr"/>
          <a:lstStyle/>
          <a:p>
            <a:pPr algn="l" indent="0" marL="0">
              <a:buNone/>
            </a:pPr>
            <a:r>
              <a:rPr lang="en-US" sz="2200" b="1" dirty="0">
                <a:solidFill>
                  <a:srgbClr val="E67E22"/>
                </a:solidFill>
                <a:latin typeface="Yu Gothic UI" pitchFamily="34" charset="0"/>
                <a:ea typeface="Yu Gothic UI" pitchFamily="34" charset="-122"/>
                <a:cs typeface="Yu Gothic UI" pitchFamily="34" charset="-120"/>
              </a:rPr>
              <a:t>01</a:t>
            </a:r>
            <a:endParaRPr lang="en-US" sz="2200" dirty="0"/>
          </a:p>
        </p:txBody>
      </p:sp>
      <p:sp>
        <p:nvSpPr>
          <p:cNvPr id="6" name="Text 4"/>
          <p:cNvSpPr/>
          <p:nvPr/>
        </p:nvSpPr>
        <p:spPr>
          <a:xfrm>
            <a:off x="1554480" y="1371600"/>
            <a:ext cx="1828800" cy="731520"/>
          </a:xfrm>
          <a:prstGeom prst="rect">
            <a:avLst/>
          </a:prstGeom>
          <a:noFill/>
          <a:ln/>
        </p:spPr>
        <p:txBody>
          <a:bodyPr wrap="square" lIns="0" tIns="0" rIns="0" bIns="0" rtlCol="0" anchor="ctr"/>
          <a:lstStyle/>
          <a:p>
            <a:pPr algn="l" indent="0" marL="0">
              <a:buNone/>
            </a:pPr>
            <a:r>
              <a:rPr lang="en-US" sz="2000" b="1" dirty="0">
                <a:solidFill>
                  <a:srgbClr val="2C3E50"/>
                </a:solidFill>
                <a:latin typeface="Yu Gothic UI" pitchFamily="34" charset="0"/>
                <a:ea typeface="Yu Gothic UI" pitchFamily="34" charset="-122"/>
                <a:cs typeface="Yu Gothic UI" pitchFamily="34" charset="-120"/>
              </a:rPr>
              <a:t>誤解を解く</a:t>
            </a:r>
            <a:endParaRPr lang="en-US" sz="2000" dirty="0"/>
          </a:p>
        </p:txBody>
      </p:sp>
      <p:sp>
        <p:nvSpPr>
          <p:cNvPr id="7" name="Text 5"/>
          <p:cNvSpPr/>
          <p:nvPr/>
        </p:nvSpPr>
        <p:spPr>
          <a:xfrm>
            <a:off x="3383280" y="1371600"/>
            <a:ext cx="4846320" cy="731520"/>
          </a:xfrm>
          <a:prstGeom prst="rect">
            <a:avLst/>
          </a:prstGeom>
          <a:noFill/>
          <a:ln/>
        </p:spPr>
        <p:txBody>
          <a:bodyPr wrap="square" lIns="0" tIns="0" rIns="0" bIns="0" rtlCol="0" anchor="ctr"/>
          <a:lstStyle/>
          <a:p>
            <a:pPr algn="l" indent="0" marL="0">
              <a:buNone/>
            </a:pPr>
            <a:r>
              <a:rPr lang="en-US" sz="1800" dirty="0">
                <a:solidFill>
                  <a:srgbClr val="34495E"/>
                </a:solidFill>
                <a:latin typeface="Yu Gothic UI" pitchFamily="34" charset="0"/>
                <a:ea typeface="Yu Gothic UI" pitchFamily="34" charset="-122"/>
                <a:cs typeface="Yu Gothic UI" pitchFamily="34" charset="-120"/>
              </a:rPr>
              <a:t>お金や地位だけでは幸福は完結しない</a:t>
            </a:r>
            <a:endParaRPr lang="en-US" sz="1800" dirty="0"/>
          </a:p>
        </p:txBody>
      </p:sp>
      <p:sp>
        <p:nvSpPr>
          <p:cNvPr id="8" name="Shape 6"/>
          <p:cNvSpPr/>
          <p:nvPr/>
        </p:nvSpPr>
        <p:spPr>
          <a:xfrm>
            <a:off x="731520" y="2240280"/>
            <a:ext cx="7680960" cy="73152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9" name="Shape 7"/>
          <p:cNvSpPr/>
          <p:nvPr/>
        </p:nvSpPr>
        <p:spPr>
          <a:xfrm>
            <a:off x="731520" y="2240280"/>
            <a:ext cx="73152" cy="731520"/>
          </a:xfrm>
          <a:prstGeom prst="rect">
            <a:avLst/>
          </a:prstGeom>
          <a:solidFill>
            <a:srgbClr val="1A6B5A"/>
          </a:solidFill>
          <a:ln/>
        </p:spPr>
      </p:sp>
      <p:sp>
        <p:nvSpPr>
          <p:cNvPr id="10" name="Text 8"/>
          <p:cNvSpPr/>
          <p:nvPr/>
        </p:nvSpPr>
        <p:spPr>
          <a:xfrm>
            <a:off x="1005840" y="2240280"/>
            <a:ext cx="548640" cy="731520"/>
          </a:xfrm>
          <a:prstGeom prst="rect">
            <a:avLst/>
          </a:prstGeom>
          <a:noFill/>
          <a:ln/>
        </p:spPr>
        <p:txBody>
          <a:bodyPr wrap="square" lIns="0" tIns="0" rIns="0" bIns="0" rtlCol="0" anchor="ctr"/>
          <a:lstStyle/>
          <a:p>
            <a:pPr algn="l" indent="0" marL="0">
              <a:buNone/>
            </a:pPr>
            <a:r>
              <a:rPr lang="en-US" sz="2200" b="1" dirty="0">
                <a:solidFill>
                  <a:srgbClr val="1A6B5A"/>
                </a:solidFill>
                <a:latin typeface="Yu Gothic UI" pitchFamily="34" charset="0"/>
                <a:ea typeface="Yu Gothic UI" pitchFamily="34" charset="-122"/>
                <a:cs typeface="Yu Gothic UI" pitchFamily="34" charset="-120"/>
              </a:rPr>
              <a:t>02</a:t>
            </a:r>
            <a:endParaRPr lang="en-US" sz="2200" dirty="0"/>
          </a:p>
        </p:txBody>
      </p:sp>
      <p:sp>
        <p:nvSpPr>
          <p:cNvPr id="11" name="Text 9"/>
          <p:cNvSpPr/>
          <p:nvPr/>
        </p:nvSpPr>
        <p:spPr>
          <a:xfrm>
            <a:off x="1554480" y="2240280"/>
            <a:ext cx="1828800" cy="731520"/>
          </a:xfrm>
          <a:prstGeom prst="rect">
            <a:avLst/>
          </a:prstGeom>
          <a:noFill/>
          <a:ln/>
        </p:spPr>
        <p:txBody>
          <a:bodyPr wrap="square" lIns="0" tIns="0" rIns="0" bIns="0" rtlCol="0" anchor="ctr"/>
          <a:lstStyle/>
          <a:p>
            <a:pPr algn="l" indent="0" marL="0">
              <a:buNone/>
            </a:pPr>
            <a:r>
              <a:rPr lang="en-US" sz="2000" b="1" dirty="0">
                <a:solidFill>
                  <a:srgbClr val="2C3E50"/>
                </a:solidFill>
                <a:latin typeface="Yu Gothic UI" pitchFamily="34" charset="0"/>
                <a:ea typeface="Yu Gothic UI" pitchFamily="34" charset="-122"/>
                <a:cs typeface="Yu Gothic UI" pitchFamily="34" charset="-120"/>
              </a:rPr>
              <a:t>科学の視点</a:t>
            </a:r>
            <a:endParaRPr lang="en-US" sz="2000" dirty="0"/>
          </a:p>
        </p:txBody>
      </p:sp>
      <p:sp>
        <p:nvSpPr>
          <p:cNvPr id="12" name="Text 10"/>
          <p:cNvSpPr/>
          <p:nvPr/>
        </p:nvSpPr>
        <p:spPr>
          <a:xfrm>
            <a:off x="3383280" y="2240280"/>
            <a:ext cx="4846320" cy="731520"/>
          </a:xfrm>
          <a:prstGeom prst="rect">
            <a:avLst/>
          </a:prstGeom>
          <a:noFill/>
          <a:ln/>
        </p:spPr>
        <p:txBody>
          <a:bodyPr wrap="square" lIns="0" tIns="0" rIns="0" bIns="0" rtlCol="0" anchor="ctr"/>
          <a:lstStyle/>
          <a:p>
            <a:pPr algn="l" indent="0" marL="0">
              <a:buNone/>
            </a:pPr>
            <a:r>
              <a:rPr lang="en-US" sz="1800" dirty="0">
                <a:solidFill>
                  <a:srgbClr val="34495E"/>
                </a:solidFill>
                <a:latin typeface="Yu Gothic UI" pitchFamily="34" charset="0"/>
                <a:ea typeface="Yu Gothic UI" pitchFamily="34" charset="-122"/>
                <a:cs typeface="Yu Gothic UI" pitchFamily="34" charset="-120"/>
              </a:rPr>
              <a:t>PERMAモデル──幸福は複数の要素の組み合わせ</a:t>
            </a:r>
            <a:endParaRPr lang="en-US" sz="1800" dirty="0"/>
          </a:p>
        </p:txBody>
      </p:sp>
      <p:sp>
        <p:nvSpPr>
          <p:cNvPr id="13" name="Shape 11"/>
          <p:cNvSpPr/>
          <p:nvPr/>
        </p:nvSpPr>
        <p:spPr>
          <a:xfrm>
            <a:off x="731520" y="3108960"/>
            <a:ext cx="7680960" cy="73152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4" name="Shape 12"/>
          <p:cNvSpPr/>
          <p:nvPr/>
        </p:nvSpPr>
        <p:spPr>
          <a:xfrm>
            <a:off x="731520" y="3108960"/>
            <a:ext cx="73152" cy="731520"/>
          </a:xfrm>
          <a:prstGeom prst="rect">
            <a:avLst/>
          </a:prstGeom>
          <a:solidFill>
            <a:srgbClr val="8E44AD"/>
          </a:solidFill>
          <a:ln/>
        </p:spPr>
      </p:sp>
      <p:sp>
        <p:nvSpPr>
          <p:cNvPr id="15" name="Text 13"/>
          <p:cNvSpPr/>
          <p:nvPr/>
        </p:nvSpPr>
        <p:spPr>
          <a:xfrm>
            <a:off x="1005840" y="3108960"/>
            <a:ext cx="548640" cy="731520"/>
          </a:xfrm>
          <a:prstGeom prst="rect">
            <a:avLst/>
          </a:prstGeom>
          <a:noFill/>
          <a:ln/>
        </p:spPr>
        <p:txBody>
          <a:bodyPr wrap="square" lIns="0" tIns="0" rIns="0" bIns="0" rtlCol="0" anchor="ctr"/>
          <a:lstStyle/>
          <a:p>
            <a:pPr algn="l" indent="0" marL="0">
              <a:buNone/>
            </a:pPr>
            <a:r>
              <a:rPr lang="en-US" sz="2200" b="1" dirty="0">
                <a:solidFill>
                  <a:srgbClr val="8E44AD"/>
                </a:solidFill>
                <a:latin typeface="Yu Gothic UI" pitchFamily="34" charset="0"/>
                <a:ea typeface="Yu Gothic UI" pitchFamily="34" charset="-122"/>
                <a:cs typeface="Yu Gothic UI" pitchFamily="34" charset="-120"/>
              </a:rPr>
              <a:t>03</a:t>
            </a:r>
            <a:endParaRPr lang="en-US" sz="2200" dirty="0"/>
          </a:p>
        </p:txBody>
      </p:sp>
      <p:sp>
        <p:nvSpPr>
          <p:cNvPr id="16" name="Text 14"/>
          <p:cNvSpPr/>
          <p:nvPr/>
        </p:nvSpPr>
        <p:spPr>
          <a:xfrm>
            <a:off x="1554480" y="3108960"/>
            <a:ext cx="1828800" cy="731520"/>
          </a:xfrm>
          <a:prstGeom prst="rect">
            <a:avLst/>
          </a:prstGeom>
          <a:noFill/>
          <a:ln/>
        </p:spPr>
        <p:txBody>
          <a:bodyPr wrap="square" lIns="0" tIns="0" rIns="0" bIns="0" rtlCol="0" anchor="ctr"/>
          <a:lstStyle/>
          <a:p>
            <a:pPr algn="l" indent="0" marL="0">
              <a:buNone/>
            </a:pPr>
            <a:r>
              <a:rPr lang="en-US" sz="2000" b="1" dirty="0">
                <a:solidFill>
                  <a:srgbClr val="2C3E50"/>
                </a:solidFill>
                <a:latin typeface="Yu Gothic UI" pitchFamily="34" charset="0"/>
                <a:ea typeface="Yu Gothic UI" pitchFamily="34" charset="-122"/>
                <a:cs typeface="Yu Gothic UI" pitchFamily="34" charset="-120"/>
              </a:rPr>
              <a:t>哲学の知恵</a:t>
            </a:r>
            <a:endParaRPr lang="en-US" sz="2000" dirty="0"/>
          </a:p>
        </p:txBody>
      </p:sp>
      <p:sp>
        <p:nvSpPr>
          <p:cNvPr id="17" name="Text 15"/>
          <p:cNvSpPr/>
          <p:nvPr/>
        </p:nvSpPr>
        <p:spPr>
          <a:xfrm>
            <a:off x="3383280" y="3108960"/>
            <a:ext cx="4846320" cy="731520"/>
          </a:xfrm>
          <a:prstGeom prst="rect">
            <a:avLst/>
          </a:prstGeom>
          <a:noFill/>
          <a:ln/>
        </p:spPr>
        <p:txBody>
          <a:bodyPr wrap="square" lIns="0" tIns="0" rIns="0" bIns="0" rtlCol="0" anchor="ctr"/>
          <a:lstStyle/>
          <a:p>
            <a:pPr algn="l" indent="0" marL="0">
              <a:buNone/>
            </a:pPr>
            <a:r>
              <a:rPr lang="en-US" sz="1800" dirty="0">
                <a:solidFill>
                  <a:srgbClr val="34495E"/>
                </a:solidFill>
                <a:latin typeface="Yu Gothic UI" pitchFamily="34" charset="0"/>
                <a:ea typeface="Yu Gothic UI" pitchFamily="34" charset="-122"/>
                <a:cs typeface="Yu Gothic UI" pitchFamily="34" charset="-120"/>
              </a:rPr>
              <a:t>幸福は外側の条件ではなく内側の態度</a:t>
            </a:r>
            <a:endParaRPr lang="en-US" sz="1800" dirty="0"/>
          </a:p>
        </p:txBody>
      </p:sp>
      <p:sp>
        <p:nvSpPr>
          <p:cNvPr id="18" name="Shape 16"/>
          <p:cNvSpPr/>
          <p:nvPr/>
        </p:nvSpPr>
        <p:spPr>
          <a:xfrm>
            <a:off x="731520" y="3977640"/>
            <a:ext cx="7680960" cy="73152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9" name="Shape 17"/>
          <p:cNvSpPr/>
          <p:nvPr/>
        </p:nvSpPr>
        <p:spPr>
          <a:xfrm>
            <a:off x="731520" y="3977640"/>
            <a:ext cx="73152" cy="731520"/>
          </a:xfrm>
          <a:prstGeom prst="rect">
            <a:avLst/>
          </a:prstGeom>
          <a:solidFill>
            <a:srgbClr val="C0392B"/>
          </a:solidFill>
          <a:ln/>
        </p:spPr>
      </p:sp>
      <p:sp>
        <p:nvSpPr>
          <p:cNvPr id="20" name="Text 18"/>
          <p:cNvSpPr/>
          <p:nvPr/>
        </p:nvSpPr>
        <p:spPr>
          <a:xfrm>
            <a:off x="1005840" y="3977640"/>
            <a:ext cx="548640" cy="731520"/>
          </a:xfrm>
          <a:prstGeom prst="rect">
            <a:avLst/>
          </a:prstGeom>
          <a:noFill/>
          <a:ln/>
        </p:spPr>
        <p:txBody>
          <a:bodyPr wrap="square" lIns="0" tIns="0" rIns="0" bIns="0" rtlCol="0" anchor="ctr"/>
          <a:lstStyle/>
          <a:p>
            <a:pPr algn="l" indent="0" marL="0">
              <a:buNone/>
            </a:pPr>
            <a:r>
              <a:rPr lang="en-US" sz="2200" b="1" dirty="0">
                <a:solidFill>
                  <a:srgbClr val="C0392B"/>
                </a:solidFill>
                <a:latin typeface="Yu Gothic UI" pitchFamily="34" charset="0"/>
                <a:ea typeface="Yu Gothic UI" pitchFamily="34" charset="-122"/>
                <a:cs typeface="Yu Gothic UI" pitchFamily="34" charset="-120"/>
              </a:rPr>
              <a:t>04</a:t>
            </a:r>
            <a:endParaRPr lang="en-US" sz="2200" dirty="0"/>
          </a:p>
        </p:txBody>
      </p:sp>
      <p:sp>
        <p:nvSpPr>
          <p:cNvPr id="21" name="Text 19"/>
          <p:cNvSpPr/>
          <p:nvPr/>
        </p:nvSpPr>
        <p:spPr>
          <a:xfrm>
            <a:off x="1554480" y="3977640"/>
            <a:ext cx="1828800" cy="731520"/>
          </a:xfrm>
          <a:prstGeom prst="rect">
            <a:avLst/>
          </a:prstGeom>
          <a:noFill/>
          <a:ln/>
        </p:spPr>
        <p:txBody>
          <a:bodyPr wrap="square" lIns="0" tIns="0" rIns="0" bIns="0" rtlCol="0" anchor="ctr"/>
          <a:lstStyle/>
          <a:p>
            <a:pPr algn="l" indent="0" marL="0">
              <a:buNone/>
            </a:pPr>
            <a:r>
              <a:rPr lang="en-US" sz="2000" b="1" dirty="0">
                <a:solidFill>
                  <a:srgbClr val="2C3E50"/>
                </a:solidFill>
                <a:latin typeface="Yu Gothic UI" pitchFamily="34" charset="0"/>
                <a:ea typeface="Yu Gothic UI" pitchFamily="34" charset="-122"/>
                <a:cs typeface="Yu Gothic UI" pitchFamily="34" charset="-120"/>
              </a:rPr>
              <a:t>行動する</a:t>
            </a:r>
            <a:endParaRPr lang="en-US" sz="2000" dirty="0"/>
          </a:p>
        </p:txBody>
      </p:sp>
      <p:sp>
        <p:nvSpPr>
          <p:cNvPr id="22" name="Text 20"/>
          <p:cNvSpPr/>
          <p:nvPr/>
        </p:nvSpPr>
        <p:spPr>
          <a:xfrm>
            <a:off x="3383280" y="3977640"/>
            <a:ext cx="4846320" cy="731520"/>
          </a:xfrm>
          <a:prstGeom prst="rect">
            <a:avLst/>
          </a:prstGeom>
          <a:noFill/>
          <a:ln/>
        </p:spPr>
        <p:txBody>
          <a:bodyPr wrap="square" lIns="0" tIns="0" rIns="0" bIns="0" rtlCol="0" anchor="ctr"/>
          <a:lstStyle/>
          <a:p>
            <a:pPr algn="l" indent="0" marL="0">
              <a:buNone/>
            </a:pPr>
            <a:r>
              <a:rPr lang="en-US" sz="1800" dirty="0">
                <a:solidFill>
                  <a:srgbClr val="34495E"/>
                </a:solidFill>
                <a:latin typeface="Yu Gothic UI" pitchFamily="34" charset="0"/>
                <a:ea typeface="Yu Gothic UI" pitchFamily="34" charset="-122"/>
                <a:cs typeface="Yu Gothic UI" pitchFamily="34" charset="-120"/>
              </a:rPr>
              <a:t>小さな一歩を今日から始める</a:t>
            </a:r>
            <a:endParaRPr lang="en-US" sz="1800" dirty="0"/>
          </a:p>
        </p:txBody>
      </p:sp>
      <p:sp>
        <p:nvSpPr>
          <p:cNvPr id="23" name="Text 21"/>
          <p:cNvSpPr/>
          <p:nvPr/>
        </p:nvSpPr>
        <p:spPr>
          <a:xfrm>
            <a:off x="731520" y="4663440"/>
            <a:ext cx="2743200" cy="365760"/>
          </a:xfrm>
          <a:prstGeom prst="rect">
            <a:avLst/>
          </a:prstGeom>
          <a:noFill/>
          <a:ln/>
        </p:spPr>
        <p:txBody>
          <a:bodyPr wrap="square" lIns="0" tIns="0" rIns="0" bIns="0" rtlCol="0" anchor="ctr"/>
          <a:lstStyle/>
          <a:p>
            <a:pPr algn="l" indent="0" marL="0">
              <a:buNone/>
            </a:pPr>
            <a:r>
              <a:rPr lang="en-US" sz="1400" dirty="0">
                <a:solidFill>
                  <a:srgbClr val="7F8C8D"/>
                </a:solidFill>
                <a:latin typeface="Yu Gothic UI" pitchFamily="34" charset="0"/>
                <a:ea typeface="Yu Gothic UI" pitchFamily="34" charset="-122"/>
                <a:cs typeface="Yu Gothic UI" pitchFamily="34" charset="-120"/>
              </a:rPr>
              <a:t>6. まとめ</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C3E5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CC71"/>
          </a:solidFill>
          <a:ln/>
        </p:spPr>
      </p:sp>
      <p:sp>
        <p:nvSpPr>
          <p:cNvPr id="3" name="Text 1"/>
          <p:cNvSpPr/>
          <p:nvPr/>
        </p:nvSpPr>
        <p:spPr>
          <a:xfrm>
            <a:off x="731520" y="731520"/>
            <a:ext cx="7680960" cy="731520"/>
          </a:xfrm>
          <a:prstGeom prst="rect">
            <a:avLst/>
          </a:prstGeom>
          <a:noFill/>
          <a:ln/>
        </p:spPr>
        <p:txBody>
          <a:bodyPr wrap="square" lIns="0" tIns="0" rIns="0" bIns="0" rtlCol="0" anchor="ctr"/>
          <a:lstStyle/>
          <a:p>
            <a:pPr algn="l" indent="0" marL="0">
              <a:buNone/>
            </a:pPr>
            <a:r>
              <a:rPr lang="en-US" sz="3600" b="1" dirty="0">
                <a:solidFill>
                  <a:srgbClr val="FFFFFF"/>
                </a:solidFill>
                <a:latin typeface="Yu Gothic UI" pitchFamily="34" charset="0"/>
                <a:ea typeface="Yu Gothic UI" pitchFamily="34" charset="-122"/>
                <a:cs typeface="Yu Gothic UI" pitchFamily="34" charset="-120"/>
              </a:rPr>
              <a:t>幸福に正解はない</a:t>
            </a:r>
            <a:endParaRPr lang="en-US" sz="3600" dirty="0"/>
          </a:p>
        </p:txBody>
      </p:sp>
      <p:sp>
        <p:nvSpPr>
          <p:cNvPr id="4" name="Shape 2"/>
          <p:cNvSpPr/>
          <p:nvPr/>
        </p:nvSpPr>
        <p:spPr>
          <a:xfrm>
            <a:off x="731520" y="1645920"/>
            <a:ext cx="1828800" cy="36576"/>
          </a:xfrm>
          <a:prstGeom prst="rect">
            <a:avLst/>
          </a:prstGeom>
          <a:solidFill>
            <a:srgbClr val="2ECC71"/>
          </a:solidFill>
          <a:ln/>
        </p:spPr>
      </p:sp>
      <p:sp>
        <p:nvSpPr>
          <p:cNvPr id="5" name="Text 3"/>
          <p:cNvSpPr/>
          <p:nvPr/>
        </p:nvSpPr>
        <p:spPr>
          <a:xfrm>
            <a:off x="731520" y="2011680"/>
            <a:ext cx="7680960" cy="731520"/>
          </a:xfrm>
          <a:prstGeom prst="rect">
            <a:avLst/>
          </a:prstGeom>
          <a:noFill/>
          <a:ln/>
        </p:spPr>
        <p:txBody>
          <a:bodyPr wrap="square" lIns="0" tIns="0" rIns="0" bIns="0" rtlCol="0" anchor="ctr"/>
          <a:lstStyle/>
          <a:p>
            <a:pPr algn="l" indent="0" marL="0">
              <a:buNone/>
            </a:pPr>
            <a:r>
              <a:rPr lang="en-US" sz="2600" b="1" dirty="0">
                <a:solidFill>
                  <a:srgbClr val="2ECC71"/>
                </a:solidFill>
                <a:latin typeface="Yu Gothic UI" pitchFamily="34" charset="0"/>
                <a:ea typeface="Yu Gothic UI" pitchFamily="34" charset="-122"/>
                <a:cs typeface="Yu Gothic UI" pitchFamily="34" charset="-120"/>
              </a:rPr>
              <a:t>幸福はゴールではなくプロセス</a:t>
            </a:r>
            <a:endParaRPr lang="en-US" sz="2600" dirty="0"/>
          </a:p>
        </p:txBody>
      </p:sp>
      <p:sp>
        <p:nvSpPr>
          <p:cNvPr id="6" name="Text 4"/>
          <p:cNvSpPr/>
          <p:nvPr/>
        </p:nvSpPr>
        <p:spPr>
          <a:xfrm>
            <a:off x="731520" y="2926080"/>
            <a:ext cx="7680960" cy="1097280"/>
          </a:xfrm>
          <a:prstGeom prst="rect">
            <a:avLst/>
          </a:prstGeom>
          <a:noFill/>
          <a:ln/>
        </p:spPr>
        <p:txBody>
          <a:bodyPr wrap="square" lIns="0" tIns="0" rIns="0" bIns="0" rtlCol="0" anchor="ctr"/>
          <a:lstStyle/>
          <a:p>
            <a:pPr algn="l" indent="0" marL="0">
              <a:buNone/>
            </a:pPr>
            <a:r>
              <a:rPr lang="en-US" sz="2200" dirty="0">
                <a:solidFill>
                  <a:srgbClr val="FFFFFF"/>
                </a:solidFill>
                <a:latin typeface="Yu Gothic UI" pitchFamily="34" charset="0"/>
                <a:ea typeface="Yu Gothic UI" pitchFamily="34" charset="-122"/>
                <a:cs typeface="Yu Gothic UI" pitchFamily="34" charset="-120"/>
              </a:rPr>
              <a:t>日々の中で少しずつ気づき</a:t>
            </a:r>
            <a:endParaRPr lang="en-US" sz="2200" dirty="0"/>
          </a:p>
          <a:p>
            <a:pPr algn="l" indent="0" marL="0">
              <a:buNone/>
            </a:pPr>
            <a:r>
              <a:rPr lang="en-US" sz="2200" dirty="0">
                <a:solidFill>
                  <a:srgbClr val="FFFFFF"/>
                </a:solidFill>
                <a:latin typeface="Yu Gothic UI" pitchFamily="34" charset="0"/>
                <a:ea typeface="Yu Gothic UI" pitchFamily="34" charset="-122"/>
                <a:cs typeface="Yu Gothic UI" pitchFamily="34" charset="-120"/>
              </a:rPr>
              <a:t>少しずつ選び</a:t>
            </a:r>
            <a:endParaRPr lang="en-US" sz="2200" dirty="0"/>
          </a:p>
          <a:p>
            <a:pPr algn="l" indent="0" marL="0">
              <a:buNone/>
            </a:pPr>
            <a:r>
              <a:rPr lang="en-US" sz="2200" dirty="0">
                <a:solidFill>
                  <a:srgbClr val="FFFFFF"/>
                </a:solidFill>
                <a:latin typeface="Yu Gothic UI" pitchFamily="34" charset="0"/>
                <a:ea typeface="Yu Gothic UI" pitchFamily="34" charset="-122"/>
                <a:cs typeface="Yu Gothic UI" pitchFamily="34" charset="-120"/>
              </a:rPr>
              <a:t>少しずつ積み重ねていくもの</a:t>
            </a:r>
            <a:endParaRPr lang="en-US" sz="2200" dirty="0"/>
          </a:p>
        </p:txBody>
      </p:sp>
      <p:sp>
        <p:nvSpPr>
          <p:cNvPr id="7" name="Text 5"/>
          <p:cNvSpPr/>
          <p:nvPr/>
        </p:nvSpPr>
        <p:spPr>
          <a:xfrm>
            <a:off x="731520" y="4206240"/>
            <a:ext cx="7680960" cy="457200"/>
          </a:xfrm>
          <a:prstGeom prst="rect">
            <a:avLst/>
          </a:prstGeom>
          <a:noFill/>
          <a:ln/>
        </p:spPr>
        <p:txBody>
          <a:bodyPr wrap="square" lIns="0" tIns="0" rIns="0" bIns="0" rtlCol="0" anchor="ctr"/>
          <a:lstStyle/>
          <a:p>
            <a:pPr algn="l" indent="0" marL="0">
              <a:buNone/>
            </a:pPr>
            <a:r>
              <a:rPr lang="en-US" sz="2000" i="1" dirty="0">
                <a:solidFill>
                  <a:srgbClr val="7F8C8D"/>
                </a:solidFill>
                <a:latin typeface="Yu Gothic UI" pitchFamily="34" charset="0"/>
                <a:ea typeface="Yu Gothic UI" pitchFamily="34" charset="-122"/>
                <a:cs typeface="Yu Gothic UI" pitchFamily="34" charset="-120"/>
              </a:rPr>
              <a:t>その歩みそのものが、すでに「幸福に向かう道」</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幸福とは何か</dc:title>
  <dc:subject>PptxGenJS Presentation</dc:subject>
  <dc:creator>Claude</dc:creator>
  <cp:lastModifiedBy>Claude</cp:lastModifiedBy>
  <cp:revision>1</cp:revision>
  <dcterms:created xsi:type="dcterms:W3CDTF">2026-03-06T20:32:00Z</dcterms:created>
  <dcterms:modified xsi:type="dcterms:W3CDTF">2026-03-06T20:32:00Z</dcterms:modified>
</cp:coreProperties>
</file>