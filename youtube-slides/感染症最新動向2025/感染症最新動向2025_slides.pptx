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680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久司 今村" userId="1c5d66dd010fbc96" providerId="LiveId" clId="{062EBC09-E340-429A-A48C-2ED253578334}"/>
    <pc:docChg chg="modSld">
      <pc:chgData name="久司 今村" userId="1c5d66dd010fbc96" providerId="LiveId" clId="{062EBC09-E340-429A-A48C-2ED253578334}" dt="2026-03-29T14:43:05.552" v="0" actId="1076"/>
      <pc:docMkLst>
        <pc:docMk/>
      </pc:docMkLst>
      <pc:sldChg chg="modSp mod">
        <pc:chgData name="久司 今村" userId="1c5d66dd010fbc96" providerId="LiveId" clId="{062EBC09-E340-429A-A48C-2ED253578334}" dt="2026-03-29T14:43:05.552" v="0" actId="1076"/>
        <pc:sldMkLst>
          <pc:docMk/>
          <pc:sldMk cId="0" sldId="270"/>
        </pc:sldMkLst>
        <pc:spChg chg="mod">
          <ac:chgData name="久司 今村" userId="1c5d66dd010fbc96" providerId="LiveId" clId="{062EBC09-E340-429A-A48C-2ED253578334}" dt="2026-03-29T14:43:05.552" v="0" actId="1076"/>
          <ac:spMkLst>
            <pc:docMk/>
            <pc:sldMk cId="0" sldId="270"/>
            <ac:spMk id="1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3366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🦠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感染症の最新動向 2025-2026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2286000" y="2468880"/>
            <a:ext cx="4572000" cy="0"/>
          </a:xfrm>
          <a:prstGeom prst="line">
            <a:avLst/>
          </a:prstGeom>
          <a:noFill/>
          <a:ln w="25400">
            <a:solidFill>
              <a:srgbClr val="E8850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医療従事者が押さえるべき8つのトピック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～脳神経内科医がAIで紡ぐ最新医療情報～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2025-2026年の感染症動向 ― 概観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09728" cy="164592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🐔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17373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鳥インフルエンザ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H5N1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68880" y="109728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2468880" y="1097280"/>
            <a:ext cx="109728" cy="164592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246888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🦠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606040" y="17373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薬剤耐性菌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AMR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4663440" y="1097280"/>
            <a:ext cx="109728" cy="164592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66344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🔬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800600" y="17373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梅毒の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急増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0" y="109728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6858000" y="1097280"/>
            <a:ext cx="109728" cy="1645920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685800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🫁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995160" y="17373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マイコプラズマ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肺炎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" y="292608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274320" y="2926080"/>
            <a:ext cx="109728" cy="164592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274320" y="3017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😷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11480" y="35661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COVID-19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変異株・後遺症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468880" y="292608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2468880" y="2926080"/>
            <a:ext cx="109728" cy="164592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2468880" y="3017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🔴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2606040" y="35661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麻疹の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再流行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663440" y="292608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4663440" y="2926080"/>
            <a:ext cx="109728" cy="1645920"/>
          </a:xfrm>
          <a:prstGeom prst="rect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4663440" y="3017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💥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4800600" y="35661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mpox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サル痘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858000" y="292608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31"/>
          <p:cNvSpPr/>
          <p:nvPr/>
        </p:nvSpPr>
        <p:spPr>
          <a:xfrm>
            <a:off x="6858000" y="2926080"/>
            <a:ext cx="109728" cy="16459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6858000" y="3017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6995160" y="35661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iGAS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劇症型溶連菌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74320" y="45720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パンデミック後の「immunity debt」＋グローバル化 → 多面的な脅威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365760" y="4818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🐔 鳥インフルエンザ H5N1 ― 疫学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09728" cy="347472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哺乳類への越境感染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H5N1 clade 2.3.4.4b が世界的panzootic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南米・南極に初到達（史上最大規模）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欧州ミンク農場、南米アシカで持続感染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米国乳牛で初の大規模アウトブレイク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474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乳腺に複製 → 乳汁中に高ウイルス量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931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酪農作業者で複数のヒト感染確認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109728" cy="3474720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493776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現時点のリスク評価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2920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✅ ヒト-ヒト持続的感染：未確認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2194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 PB2にE627K等の哺乳類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適応変異が出現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2834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 ヒト型受容体結合変化は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未確認だが変異蓄積中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37760" y="3566160"/>
            <a:ext cx="3749040" cy="822960"/>
          </a:xfrm>
          <a:prstGeom prst="rect">
            <a:avLst/>
          </a:prstGeom>
          <a:solidFill>
            <a:srgbClr val="FFF3C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5029200" y="35661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備蓄ワクチン（AS03アジュバント）が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clade 2.3.4.4bに交差中和活性あり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bridging vaccineとして期待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365760" y="4818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🦠 薬剤耐性菌（AMR）― 深刻化する脅威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09728" cy="182880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2021年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AMR関連死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471万人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起因死114万人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109728" cy="1828800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3383280" y="1188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2050年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予測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737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822万人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83280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起因死191万人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6126480" y="1097280"/>
            <a:ext cx="109728" cy="182880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6309360" y="1188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回避可能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死亡数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1737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9,200万人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309360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適切な介入で累積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200400"/>
            <a:ext cx="85953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274320" y="3200400"/>
            <a:ext cx="109728" cy="137160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54864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注目すべき変化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36576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MRSA関連死：26.1万人（1990）→ 55万人（2021）に倍増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WHO 2024年版：カルバペネム耐性 K. pneumoniae が最高スコア（84%）で最上位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5歳未満は50%以上減少、一方70歳以上は80%以上増加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365760" y="4818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🦠 新規BL/BLI配合抗菌薬 ― 治療選択肢の拡大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7432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薬剤名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主な対象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臨床的位置づけ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Cefepime/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enmetazobactam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ESBL産生菌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カルバペネム温存戦略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Aztreonam/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avibactam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CRE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（MBL含む）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MBL産生菌への数少ない選択肢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Sulbactam/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durlobactam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CRAB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カルバペネム耐性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A. baumannii の新選択肢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E8F4F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3"/>
          <p:cNvSpPr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💡 実臨床では AST活動の推進 と 培養結果に基づくde-escalation の徹底が引き続き重要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/>
          <p:nvPr/>
        </p:nvSpPr>
        <p:spPr>
          <a:xfrm>
            <a:off x="365760" y="4818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🔬 梅毒の急増 ― 世界と日本の疫学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09728" cy="347472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B59B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世界的動向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年間推定800万人が新規感染（JAMA 2025）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米国：2019-2023に61%増加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- 女性112%増、先天梅毒106%増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MSMが不均衡に影響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高所得国でも先天梅毒が再興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109728" cy="347472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93776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日本の状況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2020年を変曲点に急増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年間変化率 43.8%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029200" y="265176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非店舗型デリバリーヘルス事業数と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強い相関（Mori et al. 2025）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妊婦梅毒有病率：1/1,215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→ 早産9%、子宮内胎児死亡2%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→ 新生児先天梅毒7%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365760" y="4818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🔬 梅毒 ― 診断アルゴリズムと治療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09728" cy="201168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B59B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診断アルゴリズム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Reverse algorithm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（海外で普及）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TPHA/FTA-ABS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（特異抗体）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20116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6032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RPR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（活動性評価）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560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 見逃し注意：神経梅毒・眼梅毒・耳梅毒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原因不明の視力障害・聴覚障害で鑑別に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109728" cy="201168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93776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治療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1554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第一選択：BPG 240万単位 筋注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（日本では2022年から使用可能）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PCGアレルギー → Doxycycline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100mg 1日2回 14日間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🆕 DoxyPEP：性的曝露後予防投与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梅毒・クラミジア・淋菌の予防効果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383280"/>
            <a:ext cx="8595360" cy="1097280"/>
          </a:xfrm>
          <a:prstGeom prst="rect">
            <a:avLst/>
          </a:prstGeom>
          <a:solidFill>
            <a:srgbClr val="F8D7D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45720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🚨 先天梅毒予防のために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妊婦スクリーニングの強化（特に妊娠後期の再検査）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パートナーの検査・治療も重要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先天梅毒率はWHO目標の8.5倍に達している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365760" y="4818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🫁 マイコプラズマ肺炎 ― マクロライド耐性時代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09728" cy="1828800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再興の背景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パンデミック中のNPIにより循環抑制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免疫低下集団で2024-2025年に大規模再興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GBD研究：下気道感染の第3位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（年間2,530万エピソード）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097280"/>
          <a:ext cx="4114800" cy="19050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地域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マクロライド耐性率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第二選択薬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中国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C3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80%超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テトラサイクリン系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日本・韓国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8850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50-80%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テトラサイクリン系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トスフロキサシン（小児）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欧米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8A7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10-30%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マクロライドが第一選択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6"/>
          <p:cNvSpPr/>
          <p:nvPr/>
        </p:nvSpPr>
        <p:spPr>
          <a:xfrm>
            <a:off x="274320" y="3200400"/>
            <a:ext cx="8595360" cy="1371600"/>
          </a:xfrm>
          <a:prstGeom prst="rect">
            <a:avLst/>
          </a:prstGeom>
          <a:solidFill>
            <a:srgbClr val="E8F4F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治療戦略（2024年 世界初MRMP小児コンセンサス）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3566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① マクロライド 48-72時間で初期治療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② 改善なし → テトラサイクリン系に変更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③ 難治性 → コルチコステロイド + IVIG 併用を検討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/>
          <p:nvPr/>
        </p:nvSpPr>
        <p:spPr>
          <a:xfrm>
            <a:off x="365760" y="4818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😷 COVID-19 ― 変異株の現在地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09728" cy="146304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6血清型とT細胞交差免疫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SARS-CoV-2は6つの血清型に分類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血清型間でT細胞交差反応性が段階的に低下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Serotype VI（BA.2.86/JN.1系統）に対する交差T細胞応答が顕著に弱い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→ ユニバーサルワクチン開発の障壁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834640"/>
            <a:ext cx="8595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274320" y="2834640"/>
            <a:ext cx="109728" cy="1737360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免疫プロファイルとブースター戦略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32918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XBB.1.5に対する中和抗体は全年齢で著明に低下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ワクチン接種は自然感染単独より強い中和活性を誘導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60歳以上で交差中和の改善が最も大きい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→ 年齢別ブースター戦略の最適化が重要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365760" y="4818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😷 Long COVID ― 治療の新展開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09728" cy="228600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メトホルミン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英国62万人超コホート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PCC発症リスク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64%低下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0.36 (95%CI 0.32-0.41)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対象：BMI≧25 + COVID診断後90日以内に開始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41148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109728" cy="2286000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93776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メチルプレドニゾロン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post-COVID ILD 229例 RCT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0.5mg/kg/日投与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機能改善率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0" y="2194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74.2%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02920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対照 55.2%（OR 2.33）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657600"/>
            <a:ext cx="8595360" cy="914400"/>
          </a:xfrm>
          <a:prstGeom prst="rect">
            <a:avLst/>
          </a:prstGeom>
          <a:solidFill>
            <a:srgbClr val="E8F4FD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274320" y="3657600"/>
            <a:ext cx="109728" cy="91440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548640" y="3749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🔬 病態機序：NK細胞の転写リプログラミング、マスト細胞活性化 → 小径線維神経障害・自律神経障害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365760" y="4818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🔴 麻疹の再流行 ― ワクチンギャップ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09728" cy="22860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74C3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世界的な再流行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米国を含む複数の高所得国で再流行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主因：MMR接種率の低下＋ワクチン忌避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WHOの95%集団免疫閾値を下回る地域が増加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イタリア：18-24歳の感受性率 39.8%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2回接種済でも69.6%が感受性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109728" cy="228600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93776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免疫ギャップの実態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5544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アイルランド：10-17歳で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血清陽性率87-89%（閾値95%未達）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自然感染はワクチンより持続的な免疫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→ ワクチンのみ世代で免疫waning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3回目接種の有効性は未証明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→ まず2回接種の徹底が最優先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657600"/>
            <a:ext cx="8595360" cy="914400"/>
          </a:xfrm>
          <a:prstGeom prst="rect">
            <a:avLst/>
          </a:prstGeom>
          <a:solidFill>
            <a:srgbClr val="FFF3C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🏥 医療従事者への推奨：自身の麻疹抗体価確認と追加接種。特に1978-1990年生まれ（接種1回世代）は要確認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365760" y="4818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💥 mpox（サル痘）― クレードIbの拡散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09728" cy="2103120"/>
          </a:xfrm>
          <a:prstGeom prst="rect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E44A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クレードIb：新たなリスク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2023年後半にコンゴで検出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アフリカ外に拡散（アジア含む）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インド：10例確認（90% UAE渡航歴）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APOBEC3変異 → 持続的ヒト-ヒト感染示唆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アフリカ全体：9,446例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COVID後のmpoxリスク約4倍（IRR 3.77）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109728" cy="210312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93776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治療・ワクチン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55448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前臨床で有効な3剤：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テコビリマト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シドフォビル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ブリンシドフォビル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ワクチン：MVA-BN（JYNNEOS）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ACAM2000より安全・免疫原性に優れる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優先使用が推奨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474720"/>
            <a:ext cx="8595360" cy="548640"/>
          </a:xfrm>
          <a:prstGeom prst="rect">
            <a:avLst/>
          </a:prstGeom>
          <a:solidFill>
            <a:srgbClr val="F0E6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44A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感染症法分類：4類 ｜ 水疱膿疱性皮疹＋リンパ節腫脹（渡航歴・接触歴）で疑う ｜ PCR（皮膚病変部）で確定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365760" y="4818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⚡ 侵襲性A群溶連菌（iGAS）― 劇症型の急増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09728" cy="21031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疫学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 STSS（2024年6月時点）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977例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急増の要因：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NPI解除による免疫低下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呼吸器ウイルスとの相互作用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M1UK等の超毒性クローン拡大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（SpeAスーパー抗原の発現増加）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11480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109728" cy="210312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493776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臨床像と予後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emm1 iGAS 30日死亡率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1828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029200" y="23774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死亡の63.7%が検体採取1日以内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15歳未満：致死例の56.3%が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検体採取前に死亡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IVIG：iGAS全体への有効性は不確定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（日本全国調査 481例）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474720"/>
            <a:ext cx="8595360" cy="1097280"/>
          </a:xfrm>
          <a:prstGeom prst="rect">
            <a:avLst/>
          </a:prstGeom>
          <a:solidFill>
            <a:srgbClr val="F8D7D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45720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🚨 劇症型を疑うべき所見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急速に進行する軟部組織の疼痛（壊死性筋膜炎）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低血圧・頻脈・意識障害（敗血症性ショック）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先行する軽微な外傷・水痘・インフルエンザ後の急激な悪化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365760" y="4818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📋 医療従事者のための実践チェックリスト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7406640" cy="32918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感染症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いつ疑う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主な検査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届出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H5N1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鳥・乳牛接触+呼吸器/結膜症状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PCR（鼻咽頭・結膜）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2類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梅毒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無痛性潰瘍,皮疹,視力・聴力障害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RPR+TPHA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5類全数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マイコ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プラズマ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乾性咳嗽が遷延,ML 48-72h無効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PCR, 迅速抗原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5類定点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麻疹</a:t>
                      </a:r>
                      <a:endParaRPr lang="en-US" sz="11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発熱+発疹+カタル（渡航歴）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IgM, PCR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5類全数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（直ちに）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mpox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水疱膿疱性皮疹+リンパ節腫脹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PCR（皮膚病変）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4類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iGAS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/STSS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急速進行の軟部組織痛,ショック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血培, 迅速抗原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5類全数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（STSS）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3"/>
          <p:cNvSpPr/>
          <p:nvPr/>
        </p:nvSpPr>
        <p:spPr>
          <a:xfrm>
            <a:off x="365760" y="4818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 Home Message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🐔 H5N1：乳牛→ヒト感染の新経路。ヒト-ヒト感染は未確認だが監視継続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🦠 AMR：2050年に822万人。新規BL/BLI配合薬で治療選択肢拡大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04825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🔬 梅毒：日本で年43.8%増。妊婦スクリーニングとDoxyPEPに注目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2374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🫁 マイコプラズマ：東アジアではML耐性率50-80%。テトラサイクリン系が代替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99923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😷 Long COVID：メトホルミンでPCCリスク64%低下（BMI≧25）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47472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🔴 麻疹：ワクチンギャップ。1978-1990年生まれは抗体価確認を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95020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💥 mpox：クレードIbが世界拡散。MVA-BNワクチンを優先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256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⚡ iGAS：STSS 30日死亡率24%。培養前に作用する早期治療が鍵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4419" y="47777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ご視聴ありがとうございました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📚 主要参考文献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[1] GBD 2021 LRI Collaborators. Lancet Infect Dis 2024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[2] Peacock TP, et al. Nature 2024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[7] GBD 2021 AMR Collaborators. Lancet 2024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[12] Chevalier FJ, et al. JAMA 2025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[17] Wang YS, et al. World J Pediatr 2024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[19] Guo Y, et al. Emerg Microbes Infect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[21] Chaichana U, et al. Clin Infect Dis 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[25] Edward M. Global Public Health 2026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[30] Judson SD, et al. Lancet Infect Dis 2026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[35] Flamant A, et al. Lancet Infect Dis 2025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[38] Li HK, et al. Clin Infect Dis 2025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全39文献の詳細はブログ記事をご参照ください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365760" y="4818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1175</Words>
  <Application>Microsoft Office PowerPoint</Application>
  <PresentationFormat>画面に合わせる (16:9)</PresentationFormat>
  <Paragraphs>308</Paragraphs>
  <Slides>16</Slides>
  <Notes>16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0" baseType="lpstr">
      <vt:lpstr>BIZ UDPGothic</vt:lpstr>
      <vt:lpstr>Arial</vt:lpstr>
      <vt:lpstr>Segoe UI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【2025-2026年】感染症の最新動向まとめ</dc:title>
  <dc:subject>PptxGenJS Presentation</dc:subject>
  <dc:creator>今村久司</dc:creator>
  <cp:lastModifiedBy>久司 今村</cp:lastModifiedBy>
  <cp:revision>1</cp:revision>
  <dcterms:created xsi:type="dcterms:W3CDTF">2026-03-29T09:19:10Z</dcterms:created>
  <dcterms:modified xsi:type="dcterms:W3CDTF">2026-03-29T14:43:14Z</dcterms:modified>
</cp:coreProperties>
</file>