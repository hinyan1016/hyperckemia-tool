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FE1F5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2026年上半期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内科 Practice-Changing 論文 14選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743200" y="2377440"/>
            <a:ext cx="365760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C51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— Less is More / 上流介入 / 予防医療進化 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1F5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NEJM・Lancet・JAMA から厳選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Medicine Highlights 2026 Q1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医師・研修医向け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2026年上半期の3つの潮流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Major Trends in Q1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6974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2697480" cy="77724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① Less is More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3258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標準治療の引き算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• SMART-DECISION (β遮断薬中止)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• WISDOM (リスクベース乳がん検診)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• CTT (スタチン副作用)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6974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8A7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914400"/>
            <a:ext cx="2697480" cy="77724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9601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② 上流介入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46120" y="13258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新規モダリティの躍進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• Iptacopan (補体)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• Olezarsen (APOC3)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• Semaglutide (MASH)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• Tezepelumab (TSLP)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• Treprostinil 吸入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• CHAMPION-AF (LAAC)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914400"/>
            <a:ext cx="26974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85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914400"/>
            <a:ext cx="2697480" cy="777240"/>
          </a:xfrm>
          <a:prstGeom prst="rect">
            <a:avLst/>
          </a:prstGeom>
          <a:solidFill>
            <a:srgbClr val="E8850C"/>
          </a:solidFill>
          <a:ln w="12700">
            <a:solidFill>
              <a:srgbClr val="E885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9601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③ 予防医療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13258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発症前・再発前介入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182880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• Lenacapavir (HIV)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• Abatacept (RA前治療)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• Hydration (結石)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• FMT (CDI)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FE1F5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第 1 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is More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C51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— 標準治療の引き算 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SMART-DECISION  ・  WISDOM  ・  CTT (Statin)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1. 心筋梗塞後β遮断薬は中止してよいか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SMART-DECISION Trial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NEJM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2026/3/30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SMART-DECISION (Choi KH ら / 韓国)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 (P)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心筋梗塞後 1年以上β遮断薬継続中、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LVEF ≥40% の安定患者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2,540例 (平均63歳, 女性12.8%)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介入 (I/C)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β遮断薬「中止」 vs 「継続」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中央値追跡 3.1年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主要結果 (Result)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163824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全死亡＋再梗塞＋心不全入院: 中止群 7.2% vs 継続群 9.0% (HR 0.80, 95%CI 0.57–1.13)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 「中止」の「継続」に対する 非劣性 を達成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FF4D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💡 Take-home: LVEFが保たれ安定した心筋梗塞既往患者では、1年以降のβ遮断薬中止は安全な選択肢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2. リスクベース vs 毎年マンモグラフィ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WISDOM Trial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2026/3/3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WISDOM (Esserman LJ ら / 米国)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 (P)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40〜74歳の女性 28,372例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(リスクベース 14,212 vs 毎年 14,160)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介入 (I/C)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個人リスクに応じた検診間隔 vs 一律毎年マンモ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中央値追跡 5.1年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主要結果 (Result)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163824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Stage IIB以上のがん発見率: リスクベース 30/10万人年 vs 毎年 48/10万人年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 非劣性。最高リスク層では Stage IIB+ ゼロ (=より早期検出)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FF4D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💡 Take-home: 個別化検診（precision prevention）が、過剰診断を減らしつつ進行がん検出を担保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3. スタチン副作用の大半はノセボ効果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CTT Collaboration Meta-analysis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Lancet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2026/2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CTT Collaboration (Reith C ら, Oxford)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 (P)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スタチン vs プラセボ 二重盲検RCT 19試験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123,940例 (中央値追跡 4.5年)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介入 (I/C)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スタチン群 と プラセボ群 の有害事象を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個別患者データレベルで比較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主要結果 (Result)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163824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記憶障害・抑うつ・睡眠障害・性機能障害 → スタチンに起因しない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因果が確認されたのは 横紋筋融解・新規糖尿病・肝酵素上昇 など6項目のみ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FF4D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💡 Take-home: スタチン副作用の大半はノセボ効果。患者教育と再投与（rechallenge）戦略が重要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8A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EDDA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第 2 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 Intervention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C51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— 病態上流への介入：新規モダリティ 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Iptacopan ・ Olezarsen ・ Semaglutide ・ Tezepelumab ・ Treprostinil ・ CHAMPION-AF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4. IgA腎症に補体B因子阻害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APPLAUSE-IgAN 24-month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NEJM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2026/3/29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APPLAUSE-IgAN 24ヶ月最終データ (Barratt J ら)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 (P)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原発性IgA腎症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(標準治療下でもタンパク尿持続)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介入 (I/C)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補体B因子阻害薬 Iptacopan vs プラセボ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投与期間 24ヶ月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主要結果 (Result)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163824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年間eGFR低下: −3.10 vs −6.12 mL/min/1.73㎡ (差 +3.02, p&lt;0.001)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腎複合エンドポイント: 21.4% vs 33.5% (HR 0.57)。重篤感染 6.7% vs 2.1% に注意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FF4D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💡 Take-home: 補体副経路の直接阻害が、IgA腎症の進行をほぼ半減 (ただし感染症対策必須)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5. APOC3標的で重症高TG血症と膵炎を抑制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CORE-TIMI 72 (Olezarsen)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NEJM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CORE-TIMI 72a / 72b (Marston NA ら)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 (P)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重症高トリグリセリド血症患者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(TG ≥500 mg/dL)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介入 (I/C)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APOC3標的アンチセンスオリゴ Olezarsen 50/80mg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月1回 皮下注 vs プラセボ (12ヶ月)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主要結果 (Result)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163824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6ヶ月でTG値が大幅低下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急性膵炎 平均発症率比 0.15 (95%CI 0.05–0.40, p&lt;0.001) → 約 85% 減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FF4D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💡 Take-home: mRNA標的の新世代モダリティが、難治性高TG血症の膵炎リスクをほぼゼロに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6. セマグルチドが MASH に有効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ESSENCE Trial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NEJM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2025/4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ESSENCE (Sanyal AJ ら)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 (P)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MASH (代謝機能障害関連脂肪肝炎)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線維化Stage 2–3 / 1,197例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介入 (I/C)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セマグルチド 2.4mg 週1回 皮下注 vs プラセボ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投与期間 72週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主要結果 (Result)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163824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線維化悪化なし MASH消失率: 62.9% vs 34.3% (差 +28.7%, p&lt;0.001)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MASH消失＋線維化改善の同時達成: 32.7% vs 16.1%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FF4D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💡 Take-home: GLP-1受容体作動薬がMASH治療薬としての確固たる地位を獲得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7. 重症喘息の経口ステロイド離脱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WAYFINDER (Tezepelumab Phase 3b)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Lancet 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2026/2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WAYFINDER (フェーズ3b・単群)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 (P)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OCS依存性 重症喘息成人 298例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(プレドニン換算 5–40 mg/日)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介入 (I/C)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TSLP阻害薬 Tezepelumab 210mg / 4週ごと SC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投与期間 52週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主要結果 (Result)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163824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52週時点で OCS ≤5 mg 達成: 89.9%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OCS 完全離脱: 50.3% (喘息コントロール悪化なし)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FF4D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💡 Take-home: TSLP阻害薬がOCS依存重症喘息の半数を「ステロイドフリー」に到達させる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8. 吸入Treprostinilが IPF の進行を抑制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TETON-2 Trial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NEJM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2026/3/11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TETON-2 (Nathan SD ら)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 (P)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特発性肺線維症 (IPF) 患者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介入 (I/C)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吸入 Treprostinil 12吸入×4回/日 vs プラセボ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投与期間 52週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主要結果 (Result)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163824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FVC変化中央値: −49.9 mL vs −136.4 mL (差 +95.6 mL)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臨床的悪化イベント: 27.2% vs 39.0%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FF4D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💡 Take-home: PH-ILDだけでなく IPF 本体の進行を抑制。pirfenidone・nintedanibに次ぐ第3の選択肢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9. 左心耳閉鎖術 vs DOAC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CHAMPION-AF Trial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NEJM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2026/3/28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CHAMPION-AF (Leon MB ら / ACC.26)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 (P)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長期DOAC可能な心房細動患者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3,000例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介入 (I/C)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WATCHMAN FLX による LAAC 1,499例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vs DOAC 1,501例 (3年追跡)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主要結果 (Result)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163824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心血管死＋脳卒中＋全身塞栓 → 非劣性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非手技関連出血: 10.9% vs 19.0% (45%減, p&lt;0.001) 優越性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FF4D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💡 Take-home: LAACが「DOAC不耐者の代替」から「DOAC候補患者でも選択肢の1つ」へシフト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85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3657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E5C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第 3 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Prevention Evolved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— 予防医療の進化：発症前・再発前介入 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5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PURPOSE-2 (Lenacapavir) ・ ALTO (Abatacept) ・ Hydration ・ FMT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10. 年2回注射でHIV感染をほぼゼロに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PURPOSE-2 Trial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NEJM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2024/11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PURPOSE-2 (Lenacapavir 二重盲検RCT)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 (P)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シスゲイ男性・トランスジェンダー等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3,265例 (2:1割付)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介入 (I/C)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長作用型カプシド阻害薬 Lenacapavir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26週ごと SC vs 毎日 FTC/TDF (PrEP)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主要結果 (Result)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163824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HIV発症率: Lenacapavir群 0.10/100人年 (2例)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vs F/TDF群 0.93/100人年 (9例) 背景発症率より有意に低下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FF4D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💡 Take-home: 毎日服薬のアドヒアランス問題を根本解決。HIV予防の歴史的ブレイクスルー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11. 関節リウマチを発症前に「治療」する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ALTO (APIPPRA Long-term)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Lancet Rheum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2026/1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ALTO (APIPPRA Long-term Outcome)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 (P)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抗CCP抗体陽性＋関節痛の RA発症ハイリスク群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213例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介入 (I/C)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T細胞共刺激モジュレーター Abatacept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1年間 投与 vs プラセボ (4–8年追跡)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主要結果 (Result)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163824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1年治療で 治療終了後 最長4年にわたり RA発症が有意に遅延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広範な自己抗体プロファイルを持つ患者で特に有効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FF4D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💡 Take-home: 「症状が出る前に治療」する Pre-emptive therapy の概念実証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12. 水分摂取で結石は再発予防できるか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Hydration Adherence Trial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Lancet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2026/3/21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Hydration trial (Desai AC ら / USDN)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 (P)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尿路結石既往患者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介入 (I/C)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スマート水筒・コーチング・インセンティブによる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水分摂取増加プログラム vs 通常ケア (2年)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主要結果 (Result)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163824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介入群で 尿量は有意に増加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しかし症候性結石再発率には 有意差なし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FF4D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💡 Take-home: 行動介入だけでは不十分。食事制限・薬物療法を含む包括的アプローチが必要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13. 再発性CDIにおけるFMT・微生物製剤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FMT for Recurrent C. difficile (Review 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FMT vs 精製マイクロバイオーム製剤 (FDA承認製剤の登場)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 (P)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再発性Clostridioides difficile感染症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小児・成人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介入 (I/C)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従来型FMT vs FDA承認の精製微生物製剤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(Fecal microbiota live-jslm / SER-109 等)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主要結果 (Result)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163824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小児ではFMT治癒率 約86% (単回 81%)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重篤有害事象 2.0% — 高い有効性と安全性が再確認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FF4D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💡 Take-home: CDIマイクロバイオーム治療の「使い分け」が整理される時代へ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14. Surviving Sepsis Campaign 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SSC 2026 Guideline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 Care Med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2026/4/1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SSC 2026 (Prescott HC・Antonelli M 共同議長 / 23ヶ国69名パネル)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457200" cy="13258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916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15087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抗菌薬投与のタイミング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8745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敗血症性ショック疑い → 1時間以内 を維持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敗血症（ショックなし）はリスク階層化で柔軟化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417320"/>
            <a:ext cx="457200" cy="13258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6916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66360" y="15087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輸液蘇生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18745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固定 30 mL/kg/h ではなく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動的指標による個別化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880360"/>
            <a:ext cx="457200" cy="13258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154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" y="29718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129ステートメント中 46が新規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33756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Precision Medicine（免疫表現型ベース）への展望が初めて明文化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88036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2880360"/>
            <a:ext cx="457200" cy="1325880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154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166360" y="29718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低中所得国の文脈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360" y="333756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パネリストの 38% が低中所得国出身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資源制約下の推奨も提示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370832"/>
            <a:ext cx="8595360" cy="384048"/>
          </a:xfrm>
          <a:prstGeom prst="rect">
            <a:avLst/>
          </a:prstGeom>
          <a:solidFill>
            <a:srgbClr val="FFF4D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389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💡 Take-home: 1時間ルールは堅持しつつ、輸液・Precision Medicineで「個別化」へ進化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15. 病院前 全血輸血 vs 標準ケア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SWiFT Trial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645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NEJM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2026/3/17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SWiFT (Study of Whole blood in Frontline Trauma)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対象 (P)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生命危険を伴う出血性外傷 616例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(救急航空機10機 / 19病院)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4251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17320"/>
            <a:ext cx="4251960" cy="29260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17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介入 (I/C)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74650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病院前 全血 2単位 輸血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vs 標準血液製剤輸血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主要結果 (Result)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163824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24時間以内の死亡 or 大量輸血の複合エンドポイントで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優越性なし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FF4D6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💡 Take-home: プレホスピタル全血戦略のロジ・コストを見直す根拠 (PDF原文「RePHILL-2」は誤記)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14試験 × 3つの潮流 マッピング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Table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64592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潮流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20240" y="914400"/>
            <a:ext cx="365760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代表試験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914400"/>
            <a:ext cx="329184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914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臨床への含意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371600"/>
            <a:ext cx="1645920" cy="777240"/>
          </a:xfrm>
          <a:prstGeom prst="rect">
            <a:avLst/>
          </a:prstGeom>
          <a:solidFill>
            <a:srgbClr val="2C5A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716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Less is More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20240" y="1371600"/>
            <a:ext cx="365760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4173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SMART-DECISION / WISDOM / CTT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1371600"/>
            <a:ext cx="329184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4173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漫然継続を見直し、個別化と引き算が標準へ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48840"/>
            <a:ext cx="1645920" cy="777240"/>
          </a:xfrm>
          <a:prstGeom prst="rect">
            <a:avLst/>
          </a:prstGeom>
          <a:solidFill>
            <a:srgbClr val="28A7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488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上流介入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20240" y="214884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1945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Iptacopan / Olezarsen / Semaglutide / Tezepelumab / Treprostinil / LAAC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2148840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1945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分子・デバイスで病態上流を直接攻撃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1645920" cy="777240"/>
          </a:xfrm>
          <a:prstGeom prst="rect">
            <a:avLst/>
          </a:prstGeom>
          <a:solidFill>
            <a:srgbClr val="E885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9260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予防医療進化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920240" y="2926080"/>
            <a:ext cx="365760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29718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Lenacapavir / Abatacept / Hydration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77840" y="2926080"/>
            <a:ext cx="329184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29718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発症前・再発前介入と、行動介入の限界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703320"/>
            <a:ext cx="1645920" cy="777240"/>
          </a:xfrm>
          <a:prstGeom prst="rect">
            <a:avLst/>
          </a:prstGeom>
          <a:solidFill>
            <a:srgbClr val="DC3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703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重症ケア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920240" y="370332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37490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SSC 2026 / SWiFT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77840" y="3703320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37490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個別化 (Precision Medicine) への進化と再評価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Internal Medicine Practice-Changing Papers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914400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54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✓ 「漫然と続ける標準治療」を引き算する研究が増加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✓ 補体・mRNA・長作用型注射など 病態上流のモダリティ が躍進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5603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✓ 発症前 / 再発前 の能動的介入が新しい予防医療の柱に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✓ 1試験の結果だけでなく、対象集団・サブ解析を読み込むことが重要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F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Medicine 2026 Q1 — End of Slides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1F5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参考文献は記事末尾を参照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2026年上半期 内科Practice-Changing論文14選</dc:title>
  <dc:subject>PptxGenJS Presentation</dc:subject>
  <dc:creator>PptxGenJS</dc:creator>
  <cp:lastModifiedBy>PptxGenJS</cp:lastModifiedBy>
  <cp:revision>1</cp:revision>
  <dcterms:created xsi:type="dcterms:W3CDTF">2026-04-21T01:30:56Z</dcterms:created>
  <dcterms:modified xsi:type="dcterms:W3CDTF">2026-04-21T01:30:56Z</dcterms:modified>
</cp:coreProperties>
</file>