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Shape 1"/>
          <p:cNvSpPr/>
          <p:nvPr/>
        </p:nvSpPr>
        <p:spPr>
          <a:xfrm>
            <a:off x="0" y="5088636"/>
            <a:ext cx="9144000" cy="54864"/>
          </a:xfrm>
          <a:prstGeom prst="rect">
            <a:avLst/>
          </a:prstGeom>
          <a:solidFill>
            <a:srgbClr val="4A90D9"/>
          </a:solidFill>
          <a:ln/>
        </p:spPr>
      </p:sp>
      <p:sp>
        <p:nvSpPr>
          <p:cNvPr id="4" name="Text 2"/>
          <p:cNvSpPr/>
          <p:nvPr/>
        </p:nvSpPr>
        <p:spPr>
          <a:xfrm>
            <a:off x="731520" y="457200"/>
            <a:ext cx="7680960" cy="457200"/>
          </a:xfrm>
          <a:prstGeom prst="rect">
            <a:avLst/>
          </a:prstGeom>
          <a:noFill/>
          <a:ln/>
        </p:spPr>
        <p:txBody>
          <a:bodyPr wrap="square" lIns="0" tIns="0" rIns="0" bIns="0" rtlCol="0" anchor="ctr"/>
          <a:lstStyle/>
          <a:p>
            <a:pPr algn="ctr" indent="0" marL="0">
              <a:buNone/>
            </a:pPr>
            <a:r>
              <a:rPr lang="en-US" sz="1600" dirty="0">
                <a:solidFill>
                  <a:srgbClr val="4A90D9"/>
                </a:solidFill>
                <a:latin typeface="BIZ UDPGothic" pitchFamily="34" charset="0"/>
                <a:ea typeface="BIZ UDPGothic" pitchFamily="34" charset="-122"/>
                <a:cs typeface="BIZ UDPGothic" pitchFamily="34" charset="-120"/>
              </a:rPr>
              <a:t>脳神経内科医が答える からだの不思議 #06</a:t>
            </a:r>
            <a:endParaRPr lang="en-US" sz="1600" dirty="0"/>
          </a:p>
        </p:txBody>
      </p:sp>
      <p:sp>
        <p:nvSpPr>
          <p:cNvPr id="5" name="Text 3"/>
          <p:cNvSpPr/>
          <p:nvPr/>
        </p:nvSpPr>
        <p:spPr>
          <a:xfrm>
            <a:off x="731520" y="1097280"/>
            <a:ext cx="7680960" cy="1097280"/>
          </a:xfrm>
          <a:prstGeom prst="rect">
            <a:avLst/>
          </a:prstGeom>
          <a:noFill/>
          <a:ln/>
        </p:spPr>
        <p:txBody>
          <a:bodyPr wrap="square" lIns="0" tIns="0" rIns="0" bIns="0" rtlCol="0" anchor="ctr"/>
          <a:lstStyle/>
          <a:p>
            <a:pPr algn="ctr" indent="0" marL="0">
              <a:lnSpc>
                <a:spcPct val="120000"/>
              </a:lnSpc>
              <a:buNone/>
            </a:pPr>
            <a:r>
              <a:rPr lang="en-US" sz="3800" b="1" dirty="0">
                <a:solidFill>
                  <a:srgbClr val="FFFFFF"/>
                </a:solidFill>
                <a:latin typeface="BIZ UDPGothic" pitchFamily="34" charset="0"/>
                <a:ea typeface="BIZ UDPGothic" pitchFamily="34" charset="-122"/>
                <a:cs typeface="BIZ UDPGothic" pitchFamily="34" charset="-120"/>
              </a:rPr>
              <a:t>なぜあくびはうつるのか？</a:t>
            </a:r>
            <a:endParaRPr lang="en-US" sz="3800" dirty="0"/>
          </a:p>
        </p:txBody>
      </p:sp>
      <p:sp>
        <p:nvSpPr>
          <p:cNvPr id="6" name="Text 4"/>
          <p:cNvSpPr/>
          <p:nvPr/>
        </p:nvSpPr>
        <p:spPr>
          <a:xfrm>
            <a:off x="731520" y="2286000"/>
            <a:ext cx="7680960" cy="548640"/>
          </a:xfrm>
          <a:prstGeom prst="rect">
            <a:avLst/>
          </a:prstGeom>
          <a:noFill/>
          <a:ln/>
        </p:spPr>
        <p:txBody>
          <a:bodyPr wrap="square" lIns="0" tIns="0" rIns="0" bIns="0" rtlCol="0" anchor="ctr"/>
          <a:lstStyle/>
          <a:p>
            <a:pPr algn="ctr" indent="0" marL="0">
              <a:buNone/>
            </a:pPr>
            <a:r>
              <a:rPr lang="en-US" sz="2000" dirty="0">
                <a:solidFill>
                  <a:srgbClr val="4A90D9"/>
                </a:solidFill>
                <a:latin typeface="BIZ UDPGothic" pitchFamily="34" charset="0"/>
                <a:ea typeface="BIZ UDPGothic" pitchFamily="34" charset="-122"/>
                <a:cs typeface="BIZ UDPGothic" pitchFamily="34" charset="-120"/>
              </a:rPr>
              <a:t>― ミラーニューロンと共感の脳科学 ―</a:t>
            </a:r>
            <a:endParaRPr lang="en-US" sz="2000" dirty="0"/>
          </a:p>
        </p:txBody>
      </p:sp>
      <p:sp>
        <p:nvSpPr>
          <p:cNvPr id="7" name="Shape 5"/>
          <p:cNvSpPr/>
          <p:nvPr/>
        </p:nvSpPr>
        <p:spPr>
          <a:xfrm>
            <a:off x="2743200" y="3017520"/>
            <a:ext cx="3657600" cy="0"/>
          </a:xfrm>
          <a:prstGeom prst="line">
            <a:avLst/>
          </a:prstGeom>
          <a:noFill/>
          <a:ln w="25400">
            <a:solidFill>
              <a:srgbClr val="4A90D9"/>
            </a:solidFill>
            <a:prstDash val="solid"/>
          </a:ln>
        </p:spPr>
      </p:sp>
      <p:sp>
        <p:nvSpPr>
          <p:cNvPr id="8" name="Text 6"/>
          <p:cNvSpPr/>
          <p:nvPr/>
        </p:nvSpPr>
        <p:spPr>
          <a:xfrm>
            <a:off x="731520" y="3291840"/>
            <a:ext cx="7680960" cy="457200"/>
          </a:xfrm>
          <a:prstGeom prst="rect">
            <a:avLst/>
          </a:prstGeom>
          <a:noFill/>
          <a:ln/>
        </p:spPr>
        <p:txBody>
          <a:bodyPr wrap="square" lIns="0" tIns="0" rIns="0" bIns="0" rtlCol="0" anchor="ctr"/>
          <a:lstStyle/>
          <a:p>
            <a:pPr algn="ctr" indent="0" marL="0">
              <a:buNone/>
            </a:pPr>
            <a:r>
              <a:rPr lang="en-US" sz="2000" dirty="0">
                <a:solidFill>
                  <a:srgbClr val="E8F0FE"/>
                </a:solidFill>
                <a:latin typeface="BIZ UDPGothic" pitchFamily="34" charset="0"/>
                <a:ea typeface="BIZ UDPGothic" pitchFamily="34" charset="-122"/>
                <a:cs typeface="BIZ UDPGothic" pitchFamily="34" charset="-120"/>
              </a:rPr>
              <a:t>医知創造ラボ  今村久司</a:t>
            </a:r>
            <a:endParaRPr lang="en-US" sz="2000" dirty="0"/>
          </a:p>
        </p:txBody>
      </p:sp>
      <p:sp>
        <p:nvSpPr>
          <p:cNvPr id="9" name="Text 7"/>
          <p:cNvSpPr/>
          <p:nvPr/>
        </p:nvSpPr>
        <p:spPr>
          <a:xfrm>
            <a:off x="731520" y="3840480"/>
            <a:ext cx="7680960" cy="365760"/>
          </a:xfrm>
          <a:prstGeom prst="rect">
            <a:avLst/>
          </a:prstGeom>
          <a:noFill/>
          <a:ln/>
        </p:spPr>
        <p:txBody>
          <a:bodyPr wrap="square" lIns="0" tIns="0" rIns="0" bIns="0" rtlCol="0" anchor="ctr"/>
          <a:lstStyle/>
          <a:p>
            <a:pPr algn="ctr" indent="0" marL="0">
              <a:buNone/>
            </a:pPr>
            <a:r>
              <a:rPr lang="en-US" sz="1400" i="1" dirty="0">
                <a:solidFill>
                  <a:srgbClr val="636E72"/>
                </a:solidFill>
                <a:latin typeface="BIZ UDPGothic" pitchFamily="34" charset="0"/>
                <a:ea typeface="BIZ UDPGothic" pitchFamily="34" charset="-122"/>
                <a:cs typeface="BIZ UDPGothic" pitchFamily="34" charset="-120"/>
              </a:rPr>
              <a:t>脳神経内科専門医</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こんな経験ありませんか？</a:t>
            </a:r>
            <a:endParaRPr lang="en-US" sz="2400" dirty="0"/>
          </a:p>
        </p:txBody>
      </p:sp>
      <p:sp>
        <p:nvSpPr>
          <p:cNvPr id="4" name="Shape 2"/>
          <p:cNvSpPr/>
          <p:nvPr/>
        </p:nvSpPr>
        <p:spPr>
          <a:xfrm>
            <a:off x="914400" y="1097280"/>
            <a:ext cx="73152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1188720" y="1188720"/>
            <a:ext cx="6766560" cy="868680"/>
          </a:xfrm>
          <a:prstGeom prst="rect">
            <a:avLst/>
          </a:prstGeom>
          <a:noFill/>
          <a:ln/>
        </p:spPr>
        <p:txBody>
          <a:bodyPr wrap="square" lIns="0" tIns="0" rIns="0" bIns="0" rtlCol="0" anchor="ctr"/>
          <a:lstStyle/>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会議中に誰かがあくびをした瞬間、</a:t>
            </a:r>
            <a:endParaRPr lang="en-US" sz="1800" dirty="0"/>
          </a:p>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自分もあくびが出てしまった</a:t>
            </a:r>
            <a:endParaRPr lang="en-US" sz="1800" dirty="0"/>
          </a:p>
        </p:txBody>
      </p:sp>
      <p:sp>
        <p:nvSpPr>
          <p:cNvPr id="6" name="Shape 4"/>
          <p:cNvSpPr/>
          <p:nvPr/>
        </p:nvSpPr>
        <p:spPr>
          <a:xfrm>
            <a:off x="914400" y="2331720"/>
            <a:ext cx="73152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7" name="Text 5"/>
          <p:cNvSpPr/>
          <p:nvPr/>
        </p:nvSpPr>
        <p:spPr>
          <a:xfrm>
            <a:off x="1188720" y="2423160"/>
            <a:ext cx="6766560" cy="868680"/>
          </a:xfrm>
          <a:prstGeom prst="rect">
            <a:avLst/>
          </a:prstGeom>
          <a:noFill/>
          <a:ln/>
        </p:spPr>
        <p:txBody>
          <a:bodyPr wrap="square" lIns="0" tIns="0" rIns="0" bIns="0" rtlCol="0" anchor="ctr"/>
          <a:lstStyle/>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「あくび」という文字を読んだだけで</a:t>
            </a:r>
            <a:endParaRPr lang="en-US" sz="1800" dirty="0"/>
          </a:p>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口が開きかけた</a:t>
            </a:r>
            <a:endParaRPr lang="en-US" sz="1800" dirty="0"/>
          </a:p>
        </p:txBody>
      </p:sp>
      <p:sp>
        <p:nvSpPr>
          <p:cNvPr id="8" name="Shape 6"/>
          <p:cNvSpPr/>
          <p:nvPr/>
        </p:nvSpPr>
        <p:spPr>
          <a:xfrm>
            <a:off x="914400" y="3566160"/>
            <a:ext cx="73152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Text 7"/>
          <p:cNvSpPr/>
          <p:nvPr/>
        </p:nvSpPr>
        <p:spPr>
          <a:xfrm>
            <a:off x="1188720" y="3657600"/>
            <a:ext cx="6766560" cy="868680"/>
          </a:xfrm>
          <a:prstGeom prst="rect">
            <a:avLst/>
          </a:prstGeom>
          <a:noFill/>
          <a:ln/>
        </p:spPr>
        <p:txBody>
          <a:bodyPr wrap="square" lIns="0" tIns="0" rIns="0" bIns="0" rtlCol="0" anchor="ctr"/>
          <a:lstStyle/>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目が見えていなくても、あくびの音を聞いただけで</a:t>
            </a:r>
            <a:endParaRPr lang="en-US" sz="1800" dirty="0"/>
          </a:p>
          <a:p>
            <a:pPr indent="0" marL="0">
              <a:lnSpc>
                <a:spcPct val="120000"/>
              </a:lnSpc>
              <a:buNone/>
            </a:pPr>
            <a:r>
              <a:rPr lang="en-US" sz="1800" dirty="0">
                <a:solidFill>
                  <a:srgbClr val="2D3436"/>
                </a:solidFill>
                <a:latin typeface="BIZ UDPGothic" pitchFamily="34" charset="0"/>
                <a:ea typeface="BIZ UDPGothic" pitchFamily="34" charset="-122"/>
                <a:cs typeface="BIZ UDPGothic" pitchFamily="34" charset="-120"/>
              </a:rPr>
              <a:t>うつることがある</a:t>
            </a:r>
            <a:endParaRPr lang="en-US" sz="1800" dirty="0"/>
          </a:p>
        </p:txBody>
      </p:sp>
      <p:sp>
        <p:nvSpPr>
          <p:cNvPr id="10" name="Shape 8"/>
          <p:cNvSpPr/>
          <p:nvPr/>
        </p:nvSpPr>
        <p:spPr>
          <a:xfrm>
            <a:off x="914400" y="4572000"/>
            <a:ext cx="7315200" cy="457200"/>
          </a:xfrm>
          <a:prstGeom prst="rect">
            <a:avLst/>
          </a:prstGeom>
          <a:solidFill>
            <a:srgbClr val="E8F0FE"/>
          </a:solidFill>
          <a:ln/>
        </p:spPr>
      </p:sp>
      <p:sp>
        <p:nvSpPr>
          <p:cNvPr id="11" name="Text 9"/>
          <p:cNvSpPr/>
          <p:nvPr/>
        </p:nvSpPr>
        <p:spPr>
          <a:xfrm>
            <a:off x="914400" y="4572000"/>
            <a:ext cx="7315200" cy="457200"/>
          </a:xfrm>
          <a:prstGeom prst="rect">
            <a:avLst/>
          </a:prstGeom>
          <a:noFill/>
          <a:ln/>
        </p:spPr>
        <p:txBody>
          <a:bodyPr wrap="square" lIns="0" tIns="0" rIns="0" bIns="0" rtlCol="0" anchor="ctr"/>
          <a:lstStyle/>
          <a:p>
            <a:pPr algn="ctr" indent="0" marL="0">
              <a:buNone/>
            </a:pPr>
            <a:r>
              <a:rPr lang="en-US" sz="1500" b="1" dirty="0">
                <a:solidFill>
                  <a:srgbClr val="2C5AA0"/>
                </a:solidFill>
                <a:latin typeface="BIZ UDPGothic" pitchFamily="34" charset="0"/>
                <a:ea typeface="BIZ UDPGothic" pitchFamily="34" charset="-122"/>
                <a:cs typeface="BIZ UDPGothic" pitchFamily="34" charset="-120"/>
              </a:rPr>
              <a:t>成人の約50〜60%が他者のあくびを見て60秒以内にもらいあくびをする</a:t>
            </a:r>
            <a:endParaRPr lang="en-US" sz="1500" dirty="0"/>
          </a:p>
        </p:txBody>
      </p:sp>
      <p:sp>
        <p:nvSpPr>
          <p:cNvPr id="12" name="Text 10"/>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2/9</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脳の中で何が起きているか ― ミラーニューロン</a:t>
            </a:r>
            <a:endParaRPr lang="en-US" sz="2400" dirty="0"/>
          </a:p>
        </p:txBody>
      </p:sp>
      <p:sp>
        <p:nvSpPr>
          <p:cNvPr id="4" name="Shape 2"/>
          <p:cNvSpPr/>
          <p:nvPr/>
        </p:nvSpPr>
        <p:spPr>
          <a:xfrm>
            <a:off x="457200" y="1005840"/>
            <a:ext cx="8229600" cy="12801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731520" y="1051560"/>
            <a:ext cx="7680960" cy="457200"/>
          </a:xfrm>
          <a:prstGeom prst="rect">
            <a:avLst/>
          </a:prstGeom>
          <a:noFill/>
          <a:ln/>
        </p:spPr>
        <p:txBody>
          <a:bodyPr wrap="square" lIns="0" tIns="0" rIns="0" bIns="0" rtlCol="0" anchor="ctr"/>
          <a:lstStyle/>
          <a:p>
            <a:pPr indent="0" marL="0">
              <a:buNone/>
            </a:pPr>
            <a:r>
              <a:rPr lang="en-US" sz="2000" b="1" dirty="0">
                <a:solidFill>
                  <a:srgbClr val="2C5AA0"/>
                </a:solidFill>
                <a:latin typeface="Segoe UI" pitchFamily="34" charset="0"/>
                <a:ea typeface="Segoe UI" pitchFamily="34" charset="-122"/>
                <a:cs typeface="Segoe UI" pitchFamily="34" charset="-120"/>
              </a:rPr>
              <a:t>ミラーニューロン（Mirror Neuron）</a:t>
            </a:r>
            <a:endParaRPr lang="en-US" sz="2000" dirty="0"/>
          </a:p>
        </p:txBody>
      </p:sp>
      <p:sp>
        <p:nvSpPr>
          <p:cNvPr id="6" name="Text 4"/>
          <p:cNvSpPr/>
          <p:nvPr/>
        </p:nvSpPr>
        <p:spPr>
          <a:xfrm>
            <a:off x="731520" y="1508760"/>
            <a:ext cx="7680960" cy="640080"/>
          </a:xfrm>
          <a:prstGeom prst="rect">
            <a:avLst/>
          </a:prstGeom>
          <a:noFill/>
          <a:ln/>
        </p:spPr>
        <p:txBody>
          <a:bodyPr wrap="square" lIns="0" tIns="0" rIns="0" bIns="0" rtlCol="0" anchor="ctr"/>
          <a:lstStyle/>
          <a:p>
            <a:pPr indent="0" marL="0">
              <a:lnSpc>
                <a:spcPct val="125000"/>
              </a:lnSpc>
              <a:buNone/>
            </a:pPr>
            <a:r>
              <a:rPr lang="en-US" sz="1500" dirty="0">
                <a:solidFill>
                  <a:srgbClr val="2D3436"/>
                </a:solidFill>
                <a:latin typeface="BIZ UDPGothic" pitchFamily="34" charset="0"/>
                <a:ea typeface="BIZ UDPGothic" pitchFamily="34" charset="-122"/>
                <a:cs typeface="BIZ UDPGothic" pitchFamily="34" charset="-120"/>
              </a:rPr>
              <a:t>「自分が動作をするときだけでなく、他者が同じ動作をするのを</a:t>
            </a:r>
            <a:endParaRPr lang="en-US" sz="1500" dirty="0"/>
          </a:p>
          <a:p>
            <a:pPr indent="0" marL="0">
              <a:lnSpc>
                <a:spcPct val="125000"/>
              </a:lnSpc>
              <a:buNone/>
            </a:pPr>
            <a:r>
              <a:rPr lang="en-US" sz="1500" dirty="0">
                <a:solidFill>
                  <a:srgbClr val="2D3436"/>
                </a:solidFill>
                <a:latin typeface="BIZ UDPGothic" pitchFamily="34" charset="0"/>
                <a:ea typeface="BIZ UDPGothic" pitchFamily="34" charset="-122"/>
                <a:cs typeface="BIZ UDPGothic" pitchFamily="34" charset="-120"/>
              </a:rPr>
              <a:t>観察しただけでも活動する神経細胞」（1990年代にサルの研究から発見）</a:t>
            </a:r>
            <a:endParaRPr lang="en-US" sz="1500" dirty="0"/>
          </a:p>
        </p:txBody>
      </p:sp>
      <p:sp>
        <p:nvSpPr>
          <p:cNvPr id="7" name="Shape 5"/>
          <p:cNvSpPr/>
          <p:nvPr/>
        </p:nvSpPr>
        <p:spPr>
          <a:xfrm>
            <a:off x="274320" y="2514600"/>
            <a:ext cx="2743200" cy="18288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8" name="Text 6"/>
          <p:cNvSpPr/>
          <p:nvPr/>
        </p:nvSpPr>
        <p:spPr>
          <a:xfrm>
            <a:off x="274320" y="260604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9" name="Text 7"/>
          <p:cNvSpPr/>
          <p:nvPr/>
        </p:nvSpPr>
        <p:spPr>
          <a:xfrm>
            <a:off x="274320" y="3108960"/>
            <a:ext cx="2743200" cy="457200"/>
          </a:xfrm>
          <a:prstGeom prst="rect">
            <a:avLst/>
          </a:prstGeom>
          <a:noFill/>
          <a:ln/>
        </p:spPr>
        <p:txBody>
          <a:bodyPr wrap="square" lIns="0" tIns="0" rIns="0" bIns="0" rtlCol="0" anchor="ctr"/>
          <a:lstStyle/>
          <a:p>
            <a:pPr algn="ctr" indent="0" marL="0">
              <a:buNone/>
            </a:pPr>
            <a:r>
              <a:rPr lang="en-US" sz="1800" b="1" dirty="0">
                <a:solidFill>
                  <a:srgbClr val="2C5AA0"/>
                </a:solidFill>
                <a:latin typeface="BIZ UDPGothic" pitchFamily="34" charset="0"/>
                <a:ea typeface="BIZ UDPGothic" pitchFamily="34" charset="-122"/>
                <a:cs typeface="BIZ UDPGothic" pitchFamily="34" charset="-120"/>
              </a:rPr>
              <a:t>下前頭回</a:t>
            </a:r>
            <a:endParaRPr lang="en-US" sz="1800" dirty="0"/>
          </a:p>
        </p:txBody>
      </p:sp>
      <p:sp>
        <p:nvSpPr>
          <p:cNvPr id="10" name="Text 8"/>
          <p:cNvSpPr/>
          <p:nvPr/>
        </p:nvSpPr>
        <p:spPr>
          <a:xfrm>
            <a:off x="274320" y="3566160"/>
            <a:ext cx="2743200" cy="640080"/>
          </a:xfrm>
          <a:prstGeom prst="rect">
            <a:avLst/>
          </a:prstGeom>
          <a:noFill/>
          <a:ln/>
        </p:spPr>
        <p:txBody>
          <a:bodyPr wrap="square" lIns="0" tIns="0" rIns="0" bIns="0" rtlCol="0" anchor="t"/>
          <a:lstStyle/>
          <a:p>
            <a:pPr algn="ct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動作の模倣</a:t>
            </a:r>
            <a:endParaRPr lang="en-US" sz="1400" dirty="0"/>
          </a:p>
          <a:p>
            <a:pPr algn="ct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観察・実行</a:t>
            </a:r>
            <a:endParaRPr lang="en-US" sz="1400" dirty="0"/>
          </a:p>
        </p:txBody>
      </p:sp>
      <p:sp>
        <p:nvSpPr>
          <p:cNvPr id="11" name="Shape 9"/>
          <p:cNvSpPr/>
          <p:nvPr/>
        </p:nvSpPr>
        <p:spPr>
          <a:xfrm>
            <a:off x="3200400" y="2514600"/>
            <a:ext cx="2743200" cy="18288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2" name="Text 10"/>
          <p:cNvSpPr/>
          <p:nvPr/>
        </p:nvSpPr>
        <p:spPr>
          <a:xfrm>
            <a:off x="3200400" y="260604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3200400" y="3108960"/>
            <a:ext cx="2743200" cy="457200"/>
          </a:xfrm>
          <a:prstGeom prst="rect">
            <a:avLst/>
          </a:prstGeom>
          <a:noFill/>
          <a:ln/>
        </p:spPr>
        <p:txBody>
          <a:bodyPr wrap="square" lIns="0" tIns="0" rIns="0" bIns="0" rtlCol="0" anchor="ctr"/>
          <a:lstStyle/>
          <a:p>
            <a:pPr algn="ctr" indent="0" marL="0">
              <a:buNone/>
            </a:pPr>
            <a:r>
              <a:rPr lang="en-US" sz="1800" b="1" dirty="0">
                <a:solidFill>
                  <a:srgbClr val="2C5AA0"/>
                </a:solidFill>
                <a:latin typeface="BIZ UDPGothic" pitchFamily="34" charset="0"/>
                <a:ea typeface="BIZ UDPGothic" pitchFamily="34" charset="-122"/>
                <a:cs typeface="BIZ UDPGothic" pitchFamily="34" charset="-120"/>
              </a:rPr>
              <a:t>頭頂葉</a:t>
            </a:r>
            <a:endParaRPr lang="en-US" sz="1800" dirty="0"/>
          </a:p>
        </p:txBody>
      </p:sp>
      <p:sp>
        <p:nvSpPr>
          <p:cNvPr id="14" name="Text 12"/>
          <p:cNvSpPr/>
          <p:nvPr/>
        </p:nvSpPr>
        <p:spPr>
          <a:xfrm>
            <a:off x="3200400" y="3566160"/>
            <a:ext cx="2743200" cy="640080"/>
          </a:xfrm>
          <a:prstGeom prst="rect">
            <a:avLst/>
          </a:prstGeom>
          <a:noFill/>
          <a:ln/>
        </p:spPr>
        <p:txBody>
          <a:bodyPr wrap="square" lIns="0" tIns="0" rIns="0" bIns="0" rtlCol="0" anchor="t"/>
          <a:lstStyle/>
          <a:p>
            <a:pPr algn="ct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空間的な</a:t>
            </a:r>
            <a:endParaRPr lang="en-US" sz="1400" dirty="0"/>
          </a:p>
          <a:p>
            <a:pPr algn="ct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動作処理</a:t>
            </a:r>
            <a:endParaRPr lang="en-US" sz="1400" dirty="0"/>
          </a:p>
        </p:txBody>
      </p:sp>
      <p:sp>
        <p:nvSpPr>
          <p:cNvPr id="15" name="Shape 13"/>
          <p:cNvSpPr/>
          <p:nvPr/>
        </p:nvSpPr>
        <p:spPr>
          <a:xfrm>
            <a:off x="6126480" y="2514600"/>
            <a:ext cx="2743200" cy="182880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6" name="Text 14"/>
          <p:cNvSpPr/>
          <p:nvPr/>
        </p:nvSpPr>
        <p:spPr>
          <a:xfrm>
            <a:off x="6126480" y="2606040"/>
            <a:ext cx="2743200" cy="50292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7" name="Text 15"/>
          <p:cNvSpPr/>
          <p:nvPr/>
        </p:nvSpPr>
        <p:spPr>
          <a:xfrm>
            <a:off x="6126480" y="3108960"/>
            <a:ext cx="2743200" cy="457200"/>
          </a:xfrm>
          <a:prstGeom prst="rect">
            <a:avLst/>
          </a:prstGeom>
          <a:noFill/>
          <a:ln/>
        </p:spPr>
        <p:txBody>
          <a:bodyPr wrap="square" lIns="0" tIns="0" rIns="0" bIns="0" rtlCol="0" anchor="ctr"/>
          <a:lstStyle/>
          <a:p>
            <a:pPr algn="ctr" indent="0" marL="0">
              <a:buNone/>
            </a:pPr>
            <a:r>
              <a:rPr lang="en-US" sz="1800" b="1" dirty="0">
                <a:solidFill>
                  <a:srgbClr val="2C5AA0"/>
                </a:solidFill>
                <a:latin typeface="BIZ UDPGothic" pitchFamily="34" charset="0"/>
                <a:ea typeface="BIZ UDPGothic" pitchFamily="34" charset="-122"/>
                <a:cs typeface="BIZ UDPGothic" pitchFamily="34" charset="-120"/>
              </a:rPr>
              <a:t>補足運動野</a:t>
            </a:r>
            <a:endParaRPr lang="en-US" sz="1800" dirty="0"/>
          </a:p>
        </p:txBody>
      </p:sp>
      <p:sp>
        <p:nvSpPr>
          <p:cNvPr id="18" name="Text 16"/>
          <p:cNvSpPr/>
          <p:nvPr/>
        </p:nvSpPr>
        <p:spPr>
          <a:xfrm>
            <a:off x="6126480" y="3566160"/>
            <a:ext cx="2743200" cy="640080"/>
          </a:xfrm>
          <a:prstGeom prst="rect">
            <a:avLst/>
          </a:prstGeom>
          <a:noFill/>
          <a:ln/>
        </p:spPr>
        <p:txBody>
          <a:bodyPr wrap="square" lIns="0" tIns="0" rIns="0" bIns="0" rtlCol="0" anchor="t"/>
          <a:lstStyle/>
          <a:p>
            <a:pPr algn="ct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運動プログラム</a:t>
            </a:r>
            <a:endParaRPr lang="en-US" sz="1400" dirty="0"/>
          </a:p>
          <a:p>
            <a:pPr algn="ctr" indent="0" marL="0">
              <a:lnSpc>
                <a:spcPct val="120000"/>
              </a:lnSpc>
              <a:buNone/>
            </a:pPr>
            <a:r>
              <a:rPr lang="en-US" sz="1400" dirty="0">
                <a:solidFill>
                  <a:srgbClr val="2D3436"/>
                </a:solidFill>
                <a:latin typeface="BIZ UDPGothic" pitchFamily="34" charset="0"/>
                <a:ea typeface="BIZ UDPGothic" pitchFamily="34" charset="-122"/>
                <a:cs typeface="BIZ UDPGothic" pitchFamily="34" charset="-120"/>
              </a:rPr>
              <a:t>の活性化</a:t>
            </a:r>
            <a:endParaRPr lang="en-US" sz="1400" dirty="0"/>
          </a:p>
        </p:txBody>
      </p:sp>
      <p:sp>
        <p:nvSpPr>
          <p:cNvPr id="19" name="Text 17"/>
          <p:cNvSpPr/>
          <p:nvPr/>
        </p:nvSpPr>
        <p:spPr>
          <a:xfrm>
            <a:off x="2834640" y="2926080"/>
            <a:ext cx="457200" cy="457200"/>
          </a:xfrm>
          <a:prstGeom prst="rect">
            <a:avLst/>
          </a:prstGeom>
          <a:noFill/>
          <a:ln/>
        </p:spPr>
        <p:txBody>
          <a:bodyPr wrap="square" lIns="0" tIns="0" rIns="0" bIns="0" rtlCol="0" anchor="ctr"/>
          <a:lstStyle/>
          <a:p>
            <a:pPr algn="ctr" indent="0" marL="0">
              <a:buNone/>
            </a:pPr>
            <a:r>
              <a:rPr lang="en-US" sz="2600" dirty="0">
                <a:solidFill>
                  <a:srgbClr val="4A90D9"/>
                </a:solidFill>
              </a:rPr>
              <a:t>→</a:t>
            </a:r>
            <a:endParaRPr lang="en-US" sz="2600" dirty="0"/>
          </a:p>
        </p:txBody>
      </p:sp>
      <p:sp>
        <p:nvSpPr>
          <p:cNvPr id="20" name="Text 18"/>
          <p:cNvSpPr/>
          <p:nvPr/>
        </p:nvSpPr>
        <p:spPr>
          <a:xfrm>
            <a:off x="5760720" y="2926080"/>
            <a:ext cx="457200" cy="457200"/>
          </a:xfrm>
          <a:prstGeom prst="rect">
            <a:avLst/>
          </a:prstGeom>
          <a:noFill/>
          <a:ln/>
        </p:spPr>
        <p:txBody>
          <a:bodyPr wrap="square" lIns="0" tIns="0" rIns="0" bIns="0" rtlCol="0" anchor="ctr"/>
          <a:lstStyle/>
          <a:p>
            <a:pPr algn="ctr" indent="0" marL="0">
              <a:buNone/>
            </a:pPr>
            <a:r>
              <a:rPr lang="en-US" sz="2600" dirty="0">
                <a:solidFill>
                  <a:srgbClr val="4A90D9"/>
                </a:solidFill>
              </a:rPr>
              <a:t>→</a:t>
            </a:r>
            <a:endParaRPr lang="en-US" sz="2600" dirty="0"/>
          </a:p>
        </p:txBody>
      </p:sp>
      <p:sp>
        <p:nvSpPr>
          <p:cNvPr id="21" name="Text 19"/>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3/9</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共感との深いつながり</a:t>
            </a:r>
            <a:endParaRPr lang="en-US" sz="2400" dirty="0"/>
          </a:p>
        </p:txBody>
      </p:sp>
      <p:sp>
        <p:nvSpPr>
          <p:cNvPr id="4" name="Shape 2"/>
          <p:cNvSpPr/>
          <p:nvPr/>
        </p:nvSpPr>
        <p:spPr>
          <a:xfrm>
            <a:off x="457200" y="1097280"/>
            <a:ext cx="3931920" cy="2377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97280"/>
            <a:ext cx="3931920" cy="502920"/>
          </a:xfrm>
          <a:prstGeom prst="rect">
            <a:avLst/>
          </a:prstGeom>
          <a:solidFill>
            <a:srgbClr val="2C5AA0"/>
          </a:solidFill>
          <a:ln/>
        </p:spPr>
      </p:sp>
      <p:sp>
        <p:nvSpPr>
          <p:cNvPr id="6" name="Text 4"/>
          <p:cNvSpPr/>
          <p:nvPr/>
        </p:nvSpPr>
        <p:spPr>
          <a:xfrm>
            <a:off x="457200" y="1097280"/>
            <a:ext cx="3931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前帯状皮質（ACC）</a:t>
            </a:r>
            <a:endParaRPr lang="en-US" sz="1600" dirty="0"/>
          </a:p>
        </p:txBody>
      </p:sp>
      <p:sp>
        <p:nvSpPr>
          <p:cNvPr id="7" name="Text 5"/>
          <p:cNvSpPr/>
          <p:nvPr/>
        </p:nvSpPr>
        <p:spPr>
          <a:xfrm>
            <a:off x="457200" y="1645920"/>
            <a:ext cx="3931920" cy="4572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8" name="Text 6"/>
          <p:cNvSpPr/>
          <p:nvPr/>
        </p:nvSpPr>
        <p:spPr>
          <a:xfrm>
            <a:off x="640080" y="2148840"/>
            <a:ext cx="3566160" cy="1097280"/>
          </a:xfrm>
          <a:prstGeom prst="rect">
            <a:avLst/>
          </a:prstGeom>
          <a:noFill/>
          <a:ln/>
        </p:spPr>
        <p:txBody>
          <a:bodyPr wrap="square" lIns="0" tIns="0" rIns="0" bIns="0" rtlCol="0" anchor="t"/>
          <a:lstStyle/>
          <a:p>
            <a:pPr algn="ctr" indent="0" marL="0">
              <a:lnSpc>
                <a:spcPct val="130000"/>
              </a:lnSpc>
              <a:buNone/>
            </a:pPr>
            <a:r>
              <a:rPr lang="en-US" sz="1500" dirty="0">
                <a:solidFill>
                  <a:srgbClr val="2D3436"/>
                </a:solidFill>
                <a:latin typeface="BIZ UDPGothic" pitchFamily="34" charset="0"/>
                <a:ea typeface="BIZ UDPGothic" pitchFamily="34" charset="-122"/>
                <a:cs typeface="BIZ UDPGothic" pitchFamily="34" charset="-120"/>
              </a:rPr>
              <a:t>他者の感情状態を</a:t>
            </a:r>
            <a:endParaRPr lang="en-US" sz="1500" dirty="0"/>
          </a:p>
          <a:p>
            <a:pPr algn="ctr" indent="0" marL="0">
              <a:lnSpc>
                <a:spcPct val="130000"/>
              </a:lnSpc>
              <a:buNone/>
            </a:pPr>
            <a:r>
              <a:rPr lang="en-US" sz="1500" dirty="0">
                <a:solidFill>
                  <a:srgbClr val="2D3436"/>
                </a:solidFill>
                <a:latin typeface="BIZ UDPGothic" pitchFamily="34" charset="0"/>
                <a:ea typeface="BIZ UDPGothic" pitchFamily="34" charset="-122"/>
                <a:cs typeface="BIZ UDPGothic" pitchFamily="34" charset="-120"/>
              </a:rPr>
              <a:t>自分のものとして処理</a:t>
            </a:r>
            <a:endParaRPr lang="en-US" sz="1500" dirty="0"/>
          </a:p>
          <a:p>
            <a:pPr algn="ctr" indent="0" marL="0">
              <a:lnSpc>
                <a:spcPct val="130000"/>
              </a:lnSpc>
              <a:buNone/>
            </a:pPr>
            <a:r>
              <a:rPr lang="en-US" sz="1500" dirty="0">
                <a:solidFill>
                  <a:srgbClr val="2D3436"/>
                </a:solidFill>
                <a:latin typeface="BIZ UDPGothic" pitchFamily="34" charset="0"/>
                <a:ea typeface="BIZ UDPGothic" pitchFamily="34" charset="-122"/>
                <a:cs typeface="BIZ UDPGothic" pitchFamily="34" charset="-120"/>
              </a:rPr>
              <a:t>（情動的共感の中枢）</a:t>
            </a:r>
            <a:endParaRPr lang="en-US" sz="1500" dirty="0"/>
          </a:p>
        </p:txBody>
      </p:sp>
      <p:sp>
        <p:nvSpPr>
          <p:cNvPr id="9" name="Shape 7"/>
          <p:cNvSpPr/>
          <p:nvPr/>
        </p:nvSpPr>
        <p:spPr>
          <a:xfrm>
            <a:off x="4846320" y="1097280"/>
            <a:ext cx="3931920" cy="237744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846320" y="1097280"/>
            <a:ext cx="3931920" cy="502920"/>
          </a:xfrm>
          <a:prstGeom prst="rect">
            <a:avLst/>
          </a:prstGeom>
          <a:solidFill>
            <a:srgbClr val="4A90D9"/>
          </a:solidFill>
          <a:ln/>
        </p:spPr>
      </p:sp>
      <p:sp>
        <p:nvSpPr>
          <p:cNvPr id="11" name="Text 9"/>
          <p:cNvSpPr/>
          <p:nvPr/>
        </p:nvSpPr>
        <p:spPr>
          <a:xfrm>
            <a:off x="4846320" y="1097280"/>
            <a:ext cx="3931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BIZ UDPGothic" pitchFamily="34" charset="0"/>
                <a:ea typeface="BIZ UDPGothic" pitchFamily="34" charset="-122"/>
                <a:cs typeface="BIZ UDPGothic" pitchFamily="34" charset="-120"/>
              </a:rPr>
              <a:t>島皮質（insula）</a:t>
            </a:r>
            <a:endParaRPr lang="en-US" sz="1600" dirty="0"/>
          </a:p>
        </p:txBody>
      </p:sp>
      <p:sp>
        <p:nvSpPr>
          <p:cNvPr id="12" name="Text 10"/>
          <p:cNvSpPr/>
          <p:nvPr/>
        </p:nvSpPr>
        <p:spPr>
          <a:xfrm>
            <a:off x="4846320" y="1645920"/>
            <a:ext cx="3931920" cy="457200"/>
          </a:xfrm>
          <a:prstGeom prst="rect">
            <a:avLst/>
          </a:prstGeom>
          <a:noFill/>
          <a:ln/>
        </p:spPr>
        <p:txBody>
          <a:bodyPr wrap="square" lIns="0" tIns="0" rIns="0" bIns="0" rtlCol="0" anchor="ctr"/>
          <a:lstStyle/>
          <a:p>
            <a:pPr algn="ctr" indent="0" marL="0">
              <a:buNone/>
            </a:pPr>
            <a:r>
              <a:rPr lang="en-US" sz="2600" dirty="0">
                <a:solidFill>
                  <a:srgbClr val="000000"/>
                </a:solidFill>
              </a:rPr>
              <a:t>🌐</a:t>
            </a:r>
            <a:endParaRPr lang="en-US" sz="2600" dirty="0"/>
          </a:p>
        </p:txBody>
      </p:sp>
      <p:sp>
        <p:nvSpPr>
          <p:cNvPr id="13" name="Text 11"/>
          <p:cNvSpPr/>
          <p:nvPr/>
        </p:nvSpPr>
        <p:spPr>
          <a:xfrm>
            <a:off x="5029200" y="2148840"/>
            <a:ext cx="3566160" cy="1097280"/>
          </a:xfrm>
          <a:prstGeom prst="rect">
            <a:avLst/>
          </a:prstGeom>
          <a:noFill/>
          <a:ln/>
        </p:spPr>
        <p:txBody>
          <a:bodyPr wrap="square" lIns="0" tIns="0" rIns="0" bIns="0" rtlCol="0" anchor="t"/>
          <a:lstStyle/>
          <a:p>
            <a:pPr algn="ctr" indent="0" marL="0">
              <a:lnSpc>
                <a:spcPct val="130000"/>
              </a:lnSpc>
              <a:buNone/>
            </a:pPr>
            <a:r>
              <a:rPr lang="en-US" sz="1500" dirty="0">
                <a:solidFill>
                  <a:srgbClr val="2D3436"/>
                </a:solidFill>
                <a:latin typeface="BIZ UDPGothic" pitchFamily="34" charset="0"/>
                <a:ea typeface="BIZ UDPGothic" pitchFamily="34" charset="-122"/>
                <a:cs typeface="BIZ UDPGothic" pitchFamily="34" charset="-120"/>
              </a:rPr>
              <a:t>身体感覚と感情を統合</a:t>
            </a:r>
            <a:endParaRPr lang="en-US" sz="1500" dirty="0"/>
          </a:p>
          <a:p>
            <a:pPr algn="ctr" indent="0" marL="0">
              <a:lnSpc>
                <a:spcPct val="130000"/>
              </a:lnSpc>
              <a:buNone/>
            </a:pPr>
            <a:r>
              <a:rPr lang="en-US" sz="1500" dirty="0">
                <a:solidFill>
                  <a:srgbClr val="2D3436"/>
                </a:solidFill>
                <a:latin typeface="BIZ UDPGothic" pitchFamily="34" charset="0"/>
                <a:ea typeface="BIZ UDPGothic" pitchFamily="34" charset="-122"/>
                <a:cs typeface="BIZ UDPGothic" pitchFamily="34" charset="-120"/>
              </a:rPr>
              <a:t>社会的・共感的処理の</a:t>
            </a:r>
            <a:endParaRPr lang="en-US" sz="1500" dirty="0"/>
          </a:p>
          <a:p>
            <a:pPr algn="ctr" indent="0" marL="0">
              <a:lnSpc>
                <a:spcPct val="130000"/>
              </a:lnSpc>
              <a:buNone/>
            </a:pPr>
            <a:r>
              <a:rPr lang="en-US" sz="1500" dirty="0">
                <a:solidFill>
                  <a:srgbClr val="2D3436"/>
                </a:solidFill>
                <a:latin typeface="BIZ UDPGothic" pitchFamily="34" charset="0"/>
                <a:ea typeface="BIZ UDPGothic" pitchFamily="34" charset="-122"/>
                <a:cs typeface="BIZ UDPGothic" pitchFamily="34" charset="-120"/>
              </a:rPr>
              <a:t>中心的役割</a:t>
            </a:r>
            <a:endParaRPr lang="en-US" sz="1500" dirty="0"/>
          </a:p>
        </p:txBody>
      </p:sp>
      <p:sp>
        <p:nvSpPr>
          <p:cNvPr id="14" name="Shape 12"/>
          <p:cNvSpPr/>
          <p:nvPr/>
        </p:nvSpPr>
        <p:spPr>
          <a:xfrm>
            <a:off x="457200" y="3749040"/>
            <a:ext cx="8229600" cy="11887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749040"/>
            <a:ext cx="137160" cy="1188720"/>
          </a:xfrm>
          <a:prstGeom prst="rect">
            <a:avLst/>
          </a:prstGeom>
          <a:solidFill>
            <a:srgbClr val="28A745"/>
          </a:solidFill>
          <a:ln/>
        </p:spPr>
      </p:sp>
      <p:sp>
        <p:nvSpPr>
          <p:cNvPr id="16" name="Text 14"/>
          <p:cNvSpPr/>
          <p:nvPr/>
        </p:nvSpPr>
        <p:spPr>
          <a:xfrm>
            <a:off x="822960" y="3840480"/>
            <a:ext cx="7680960" cy="1005840"/>
          </a:xfrm>
          <a:prstGeom prst="rect">
            <a:avLst/>
          </a:prstGeom>
          <a:noFill/>
          <a:ln/>
        </p:spPr>
        <p:txBody>
          <a:bodyPr wrap="square" lIns="0" tIns="0" rIns="0" bIns="0" rtlCol="0" anchor="t"/>
          <a:lstStyle/>
          <a:p>
            <a:pPr indent="0" marL="0">
              <a:lnSpc>
                <a:spcPct val="130000"/>
              </a:lnSpc>
              <a:buNone/>
            </a:pPr>
            <a:r>
              <a:rPr lang="en-US" sz="1400" b="1" dirty="0">
                <a:solidFill>
                  <a:srgbClr val="2C5AA0"/>
                </a:solidFill>
                <a:latin typeface="BIZ UDPGothic" pitchFamily="34" charset="0"/>
                <a:ea typeface="BIZ UDPGothic" pitchFamily="34" charset="-122"/>
                <a:cs typeface="BIZ UDPGothic" pitchFamily="34" charset="-120"/>
              </a:rPr>
              <a:t>もらいあくびは社会的絆の強さを反映する</a:t>
            </a:r>
            <a:endParaRPr lang="en-US" sz="1400" dirty="0"/>
          </a:p>
          <a:p>
            <a:pPr indent="0" marL="0">
              <a:lnSpc>
                <a:spcPct val="130000"/>
              </a:lnSpc>
              <a:buNone/>
            </a:pPr>
            <a:r>
              <a:rPr lang="en-US" sz="1400" dirty="0">
                <a:solidFill>
                  <a:srgbClr val="2D3436"/>
                </a:solidFill>
                <a:latin typeface="BIZ UDPGothic" pitchFamily="34" charset="0"/>
                <a:ea typeface="BIZ UDPGothic" pitchFamily="34" charset="-122"/>
                <a:cs typeface="BIZ UDPGothic" pitchFamily="34" charset="-120"/>
              </a:rPr>
              <a:t>親しい人のあくびはうつりやすく、見知らぬ人・写真・アニメーションはうつりにくい</a:t>
            </a:r>
            <a:endParaRPr lang="en-US" sz="1400" dirty="0"/>
          </a:p>
          <a:p>
            <a:pPr indent="0" marL="0">
              <a:lnSpc>
                <a:spcPct val="130000"/>
              </a:lnSpc>
              <a:buNone/>
            </a:pPr>
            <a:r>
              <a:rPr lang="en-US" sz="1400" b="1" dirty="0">
                <a:solidFill>
                  <a:srgbClr val="28A745"/>
                </a:solidFill>
                <a:latin typeface="BIZ UDPGothic" pitchFamily="34" charset="0"/>
                <a:ea typeface="BIZ UDPGothic" pitchFamily="34" charset="-122"/>
                <a:cs typeface="BIZ UDPGothic" pitchFamily="34" charset="-120"/>
              </a:rPr>
              <a:t>→ これらの領域の活動の強さがもらいあくびの起こりやすさと相関する</a:t>
            </a:r>
            <a:endParaRPr lang="en-US" sz="1400" dirty="0"/>
          </a:p>
        </p:txBody>
      </p:sp>
      <p:sp>
        <p:nvSpPr>
          <p:cNvPr id="17" name="Text 15"/>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4/9</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動物にもうつるあくび ― 社会性をもつ生き物の共通反応</a:t>
            </a:r>
            <a:endParaRPr lang="en-US" sz="2400" dirty="0"/>
          </a:p>
        </p:txBody>
      </p:sp>
      <p:sp>
        <p:nvSpPr>
          <p:cNvPr id="4" name="Shape 2"/>
          <p:cNvSpPr/>
          <p:nvPr/>
        </p:nvSpPr>
        <p:spPr>
          <a:xfrm>
            <a:off x="182880" y="1051560"/>
            <a:ext cx="201168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Text 3"/>
          <p:cNvSpPr/>
          <p:nvPr/>
        </p:nvSpPr>
        <p:spPr>
          <a:xfrm>
            <a:off x="182880" y="1143000"/>
            <a:ext cx="2011680" cy="64008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6" name="Shape 4"/>
          <p:cNvSpPr/>
          <p:nvPr/>
        </p:nvSpPr>
        <p:spPr>
          <a:xfrm>
            <a:off x="182880" y="1783080"/>
            <a:ext cx="2011680" cy="457200"/>
          </a:xfrm>
          <a:prstGeom prst="rect">
            <a:avLst/>
          </a:prstGeom>
          <a:solidFill>
            <a:srgbClr val="2C5AA0"/>
          </a:solidFill>
          <a:ln/>
        </p:spPr>
      </p:sp>
      <p:sp>
        <p:nvSpPr>
          <p:cNvPr id="7" name="Text 5"/>
          <p:cNvSpPr/>
          <p:nvPr/>
        </p:nvSpPr>
        <p:spPr>
          <a:xfrm>
            <a:off x="182880" y="17830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チンパンジー</a:t>
            </a:r>
            <a:endParaRPr lang="en-US" sz="1400" dirty="0"/>
          </a:p>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ボノボ</a:t>
            </a:r>
            <a:endParaRPr lang="en-US" sz="1400" dirty="0"/>
          </a:p>
        </p:txBody>
      </p:sp>
      <p:sp>
        <p:nvSpPr>
          <p:cNvPr id="8" name="Text 6"/>
          <p:cNvSpPr/>
          <p:nvPr/>
        </p:nvSpPr>
        <p:spPr>
          <a:xfrm>
            <a:off x="274320" y="2286000"/>
            <a:ext cx="1828800" cy="1188720"/>
          </a:xfrm>
          <a:prstGeom prst="rect">
            <a:avLst/>
          </a:prstGeom>
          <a:noFill/>
          <a:ln/>
        </p:spPr>
        <p:txBody>
          <a:bodyPr wrap="square" lIns="0" tIns="0" rIns="0" bIns="0" rtlCol="0" anchor="t"/>
          <a:lstStyle/>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ヒトに最も近い</a:t>
            </a:r>
            <a:endParaRPr lang="en-US" sz="1300" dirty="0"/>
          </a:p>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霊長類での報告あり</a:t>
            </a:r>
            <a:endParaRPr lang="en-US" sz="1300" dirty="0"/>
          </a:p>
        </p:txBody>
      </p:sp>
      <p:sp>
        <p:nvSpPr>
          <p:cNvPr id="9" name="Shape 7"/>
          <p:cNvSpPr/>
          <p:nvPr/>
        </p:nvSpPr>
        <p:spPr>
          <a:xfrm>
            <a:off x="2377440" y="1051560"/>
            <a:ext cx="201168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Text 8"/>
          <p:cNvSpPr/>
          <p:nvPr/>
        </p:nvSpPr>
        <p:spPr>
          <a:xfrm>
            <a:off x="2377440" y="1143000"/>
            <a:ext cx="2011680" cy="64008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1" name="Shape 9"/>
          <p:cNvSpPr/>
          <p:nvPr/>
        </p:nvSpPr>
        <p:spPr>
          <a:xfrm>
            <a:off x="2377440" y="1783080"/>
            <a:ext cx="2011680" cy="457200"/>
          </a:xfrm>
          <a:prstGeom prst="rect">
            <a:avLst/>
          </a:prstGeom>
          <a:solidFill>
            <a:srgbClr val="28A745"/>
          </a:solidFill>
          <a:ln/>
        </p:spPr>
      </p:sp>
      <p:sp>
        <p:nvSpPr>
          <p:cNvPr id="12" name="Text 10"/>
          <p:cNvSpPr/>
          <p:nvPr/>
        </p:nvSpPr>
        <p:spPr>
          <a:xfrm>
            <a:off x="2377440" y="17830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イヌ</a:t>
            </a:r>
            <a:endParaRPr lang="en-US" sz="1400" dirty="0"/>
          </a:p>
        </p:txBody>
      </p:sp>
      <p:sp>
        <p:nvSpPr>
          <p:cNvPr id="13" name="Text 11"/>
          <p:cNvSpPr/>
          <p:nvPr/>
        </p:nvSpPr>
        <p:spPr>
          <a:xfrm>
            <a:off x="2468880" y="2286000"/>
            <a:ext cx="1828800" cy="1188720"/>
          </a:xfrm>
          <a:prstGeom prst="rect">
            <a:avLst/>
          </a:prstGeom>
          <a:noFill/>
          <a:ln/>
        </p:spPr>
        <p:txBody>
          <a:bodyPr wrap="square" lIns="0" tIns="0" rIns="0" bIns="0" rtlCol="0" anchor="t"/>
          <a:lstStyle/>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ヒトのあくびを</a:t>
            </a:r>
            <a:endParaRPr lang="en-US" sz="1300" dirty="0"/>
          </a:p>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見てうつることが</a:t>
            </a:r>
            <a:endParaRPr lang="en-US" sz="1300" dirty="0"/>
          </a:p>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報告されている</a:t>
            </a:r>
            <a:endParaRPr lang="en-US" sz="1300" dirty="0"/>
          </a:p>
        </p:txBody>
      </p:sp>
      <p:sp>
        <p:nvSpPr>
          <p:cNvPr id="14" name="Shape 12"/>
          <p:cNvSpPr/>
          <p:nvPr/>
        </p:nvSpPr>
        <p:spPr>
          <a:xfrm>
            <a:off x="4572000" y="1051560"/>
            <a:ext cx="201168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Text 13"/>
          <p:cNvSpPr/>
          <p:nvPr/>
        </p:nvSpPr>
        <p:spPr>
          <a:xfrm>
            <a:off x="4572000" y="1143000"/>
            <a:ext cx="2011680" cy="64008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16" name="Shape 14"/>
          <p:cNvSpPr/>
          <p:nvPr/>
        </p:nvSpPr>
        <p:spPr>
          <a:xfrm>
            <a:off x="4572000" y="1783080"/>
            <a:ext cx="2011680" cy="457200"/>
          </a:xfrm>
          <a:prstGeom prst="rect">
            <a:avLst/>
          </a:prstGeom>
          <a:solidFill>
            <a:srgbClr val="E8850C"/>
          </a:solidFill>
          <a:ln/>
        </p:spPr>
      </p:sp>
      <p:sp>
        <p:nvSpPr>
          <p:cNvPr id="17" name="Text 15"/>
          <p:cNvSpPr/>
          <p:nvPr/>
        </p:nvSpPr>
        <p:spPr>
          <a:xfrm>
            <a:off x="4572000" y="17830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オウム</a:t>
            </a:r>
            <a:endParaRPr lang="en-US" sz="1400" dirty="0"/>
          </a:p>
        </p:txBody>
      </p:sp>
      <p:sp>
        <p:nvSpPr>
          <p:cNvPr id="18" name="Text 16"/>
          <p:cNvSpPr/>
          <p:nvPr/>
        </p:nvSpPr>
        <p:spPr>
          <a:xfrm>
            <a:off x="4663440" y="2286000"/>
            <a:ext cx="1828800" cy="1188720"/>
          </a:xfrm>
          <a:prstGeom prst="rect">
            <a:avLst/>
          </a:prstGeom>
          <a:noFill/>
          <a:ln/>
        </p:spPr>
        <p:txBody>
          <a:bodyPr wrap="square" lIns="0" tIns="0" rIns="0" bIns="0" rtlCol="0" anchor="t"/>
          <a:lstStyle/>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鳥類でも</a:t>
            </a:r>
            <a:endParaRPr lang="en-US" sz="1300" dirty="0"/>
          </a:p>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類似反応の</a:t>
            </a:r>
            <a:endParaRPr lang="en-US" sz="1300" dirty="0"/>
          </a:p>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報告あり</a:t>
            </a:r>
            <a:endParaRPr lang="en-US" sz="1300" dirty="0"/>
          </a:p>
        </p:txBody>
      </p:sp>
      <p:sp>
        <p:nvSpPr>
          <p:cNvPr id="19" name="Shape 17"/>
          <p:cNvSpPr/>
          <p:nvPr/>
        </p:nvSpPr>
        <p:spPr>
          <a:xfrm>
            <a:off x="6766560" y="1051560"/>
            <a:ext cx="2011680" cy="25603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0" name="Text 18"/>
          <p:cNvSpPr/>
          <p:nvPr/>
        </p:nvSpPr>
        <p:spPr>
          <a:xfrm>
            <a:off x="6766560" y="1143000"/>
            <a:ext cx="2011680" cy="640080"/>
          </a:xfrm>
          <a:prstGeom prst="rect">
            <a:avLst/>
          </a:prstGeom>
          <a:noFill/>
          <a:ln/>
        </p:spPr>
        <p:txBody>
          <a:bodyPr wrap="square" lIns="0" tIns="0" rIns="0" bIns="0" rtlCol="0" anchor="ctr"/>
          <a:lstStyle/>
          <a:p>
            <a:pPr algn="ctr" indent="0" marL="0">
              <a:buNone/>
            </a:pPr>
            <a:r>
              <a:rPr lang="en-US" sz="3200" dirty="0">
                <a:solidFill>
                  <a:srgbClr val="000000"/>
                </a:solidFill>
              </a:rPr>
              <a:t>🐘</a:t>
            </a:r>
            <a:endParaRPr lang="en-US" sz="3200" dirty="0"/>
          </a:p>
        </p:txBody>
      </p:sp>
      <p:sp>
        <p:nvSpPr>
          <p:cNvPr id="21" name="Shape 19"/>
          <p:cNvSpPr/>
          <p:nvPr/>
        </p:nvSpPr>
        <p:spPr>
          <a:xfrm>
            <a:off x="6766560" y="1783080"/>
            <a:ext cx="2011680" cy="457200"/>
          </a:xfrm>
          <a:prstGeom prst="rect">
            <a:avLst/>
          </a:prstGeom>
          <a:solidFill>
            <a:srgbClr val="4A90D9"/>
          </a:solidFill>
          <a:ln/>
        </p:spPr>
      </p:sp>
      <p:sp>
        <p:nvSpPr>
          <p:cNvPr id="22" name="Text 20"/>
          <p:cNvSpPr/>
          <p:nvPr/>
        </p:nvSpPr>
        <p:spPr>
          <a:xfrm>
            <a:off x="6766560" y="1783080"/>
            <a:ext cx="20116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ゾウ</a:t>
            </a:r>
            <a:endParaRPr lang="en-US" sz="1400" dirty="0"/>
          </a:p>
        </p:txBody>
      </p:sp>
      <p:sp>
        <p:nvSpPr>
          <p:cNvPr id="23" name="Text 21"/>
          <p:cNvSpPr/>
          <p:nvPr/>
        </p:nvSpPr>
        <p:spPr>
          <a:xfrm>
            <a:off x="6858000" y="2286000"/>
            <a:ext cx="1828800" cy="1188720"/>
          </a:xfrm>
          <a:prstGeom prst="rect">
            <a:avLst/>
          </a:prstGeom>
          <a:noFill/>
          <a:ln/>
        </p:spPr>
        <p:txBody>
          <a:bodyPr wrap="square" lIns="0" tIns="0" rIns="0" bIns="0" rtlCol="0" anchor="t"/>
          <a:lstStyle/>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群れ内での</a:t>
            </a:r>
            <a:endParaRPr lang="en-US" sz="1300" dirty="0"/>
          </a:p>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同調行動として</a:t>
            </a:r>
            <a:endParaRPr lang="en-US" sz="1300" dirty="0"/>
          </a:p>
          <a:p>
            <a:pPr algn="ctr" indent="0" marL="0">
              <a:lnSpc>
                <a:spcPct val="120000"/>
              </a:lnSpc>
              <a:buNone/>
            </a:pPr>
            <a:r>
              <a:rPr lang="en-US" sz="1300" dirty="0">
                <a:solidFill>
                  <a:srgbClr val="2D3436"/>
                </a:solidFill>
                <a:latin typeface="BIZ UDPGothic" pitchFamily="34" charset="0"/>
                <a:ea typeface="BIZ UDPGothic" pitchFamily="34" charset="-122"/>
                <a:cs typeface="BIZ UDPGothic" pitchFamily="34" charset="-120"/>
              </a:rPr>
              <a:t>観察される</a:t>
            </a:r>
            <a:endParaRPr lang="en-US" sz="1300" dirty="0"/>
          </a:p>
        </p:txBody>
      </p:sp>
      <p:sp>
        <p:nvSpPr>
          <p:cNvPr id="24" name="Shape 22"/>
          <p:cNvSpPr/>
          <p:nvPr/>
        </p:nvSpPr>
        <p:spPr>
          <a:xfrm>
            <a:off x="457200" y="3840480"/>
            <a:ext cx="8229600" cy="109728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5" name="Shape 23"/>
          <p:cNvSpPr/>
          <p:nvPr/>
        </p:nvSpPr>
        <p:spPr>
          <a:xfrm>
            <a:off x="457200" y="3840480"/>
            <a:ext cx="8229600" cy="411480"/>
          </a:xfrm>
          <a:prstGeom prst="rect">
            <a:avLst/>
          </a:prstGeom>
          <a:solidFill>
            <a:srgbClr val="1B3A5C"/>
          </a:solidFill>
          <a:ln/>
        </p:spPr>
      </p:sp>
      <p:sp>
        <p:nvSpPr>
          <p:cNvPr id="26" name="Text 24"/>
          <p:cNvSpPr/>
          <p:nvPr/>
        </p:nvSpPr>
        <p:spPr>
          <a:xfrm>
            <a:off x="731520" y="3840480"/>
            <a:ext cx="7680960" cy="411480"/>
          </a:xfrm>
          <a:prstGeom prst="rect">
            <a:avLst/>
          </a:prstGeom>
          <a:noFill/>
          <a:ln/>
        </p:spPr>
        <p:txBody>
          <a:bodyPr wrap="square" lIns="0" tIns="0" rIns="0" bIns="0" rtlCol="0" anchor="ctr"/>
          <a:lstStyle/>
          <a:p>
            <a:pPr indent="0" marL="0">
              <a:buNone/>
            </a:pPr>
            <a:r>
              <a:rPr lang="en-US" sz="1600" b="1" dirty="0">
                <a:solidFill>
                  <a:srgbClr val="FFFFFF"/>
                </a:solidFill>
                <a:latin typeface="BIZ UDPGothic" pitchFamily="34" charset="0"/>
                <a:ea typeface="BIZ UDPGothic" pitchFamily="34" charset="-122"/>
                <a:cs typeface="BIZ UDPGothic" pitchFamily="34" charset="-120"/>
              </a:rPr>
              <a:t>なぜ社会性のある動物に広くみられるのか？</a:t>
            </a:r>
            <a:endParaRPr lang="en-US" sz="1600" dirty="0"/>
          </a:p>
        </p:txBody>
      </p:sp>
      <p:sp>
        <p:nvSpPr>
          <p:cNvPr id="27" name="Text 25"/>
          <p:cNvSpPr/>
          <p:nvPr/>
        </p:nvSpPr>
        <p:spPr>
          <a:xfrm>
            <a:off x="731520" y="4297680"/>
            <a:ext cx="7680960" cy="548640"/>
          </a:xfrm>
          <a:prstGeom prst="rect">
            <a:avLst/>
          </a:prstGeom>
          <a:noFill/>
          <a:ln/>
        </p:spPr>
        <p:txBody>
          <a:bodyPr wrap="square" lIns="0" tIns="0" rIns="0" bIns="0" rtlCol="0" anchor="ctr"/>
          <a:lstStyle/>
          <a:p>
            <a:pPr indent="0" marL="0">
              <a:buNone/>
            </a:pPr>
            <a:r>
              <a:rPr lang="en-US" sz="1400" dirty="0">
                <a:solidFill>
                  <a:srgbClr val="2D3436"/>
                </a:solidFill>
                <a:latin typeface="BIZ UDPGothic" pitchFamily="34" charset="0"/>
                <a:ea typeface="BIZ UDPGothic" pitchFamily="34" charset="-122"/>
                <a:cs typeface="BIZ UDPGothic" pitchFamily="34" charset="-120"/>
              </a:rPr>
              <a:t>→ もらいあくびは「社会的同調・絆の形成」に関わる進化的に保存されたシステムと考えられる</a:t>
            </a:r>
            <a:endParaRPr lang="en-US" sz="1400" dirty="0"/>
          </a:p>
        </p:txBody>
      </p:sp>
      <p:sp>
        <p:nvSpPr>
          <p:cNvPr id="28" name="Text 26"/>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5/9</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うつりやすい人・うつりにくい人</a:t>
            </a:r>
            <a:endParaRPr lang="en-US" sz="2400" dirty="0"/>
          </a:p>
        </p:txBody>
      </p:sp>
      <p:sp>
        <p:nvSpPr>
          <p:cNvPr id="4" name="Shape 2"/>
          <p:cNvSpPr/>
          <p:nvPr/>
        </p:nvSpPr>
        <p:spPr>
          <a:xfrm>
            <a:off x="274320" y="1005840"/>
            <a:ext cx="1828800" cy="457200"/>
          </a:xfrm>
          <a:prstGeom prst="rect">
            <a:avLst/>
          </a:prstGeom>
          <a:solidFill>
            <a:srgbClr val="1B3A5C"/>
          </a:solidFill>
          <a:ln/>
        </p:spPr>
      </p:sp>
      <p:sp>
        <p:nvSpPr>
          <p:cNvPr id="5" name="Shape 3"/>
          <p:cNvSpPr/>
          <p:nvPr/>
        </p:nvSpPr>
        <p:spPr>
          <a:xfrm>
            <a:off x="2103120" y="1005840"/>
            <a:ext cx="3383280" cy="457200"/>
          </a:xfrm>
          <a:prstGeom prst="rect">
            <a:avLst/>
          </a:prstGeom>
          <a:solidFill>
            <a:srgbClr val="28A745"/>
          </a:solidFill>
          <a:ln/>
        </p:spPr>
      </p:sp>
      <p:sp>
        <p:nvSpPr>
          <p:cNvPr id="6" name="Shape 4"/>
          <p:cNvSpPr/>
          <p:nvPr/>
        </p:nvSpPr>
        <p:spPr>
          <a:xfrm>
            <a:off x="5486400" y="1005840"/>
            <a:ext cx="3383280" cy="457200"/>
          </a:xfrm>
          <a:prstGeom prst="rect">
            <a:avLst/>
          </a:prstGeom>
          <a:solidFill>
            <a:srgbClr val="DC3545"/>
          </a:solidFill>
          <a:ln/>
        </p:spPr>
      </p:sp>
      <p:sp>
        <p:nvSpPr>
          <p:cNvPr id="7" name="Text 5"/>
          <p:cNvSpPr/>
          <p:nvPr/>
        </p:nvSpPr>
        <p:spPr>
          <a:xfrm>
            <a:off x="274320" y="1005840"/>
            <a:ext cx="18288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特徴</a:t>
            </a:r>
            <a:endParaRPr lang="en-US" sz="1400" dirty="0"/>
          </a:p>
        </p:txBody>
      </p:sp>
      <p:sp>
        <p:nvSpPr>
          <p:cNvPr id="8" name="Text 6"/>
          <p:cNvSpPr/>
          <p:nvPr/>
        </p:nvSpPr>
        <p:spPr>
          <a:xfrm>
            <a:off x="2103120" y="1005840"/>
            <a:ext cx="3383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うつりやすい傾向</a:t>
            </a:r>
            <a:endParaRPr lang="en-US" sz="1400" dirty="0"/>
          </a:p>
        </p:txBody>
      </p:sp>
      <p:sp>
        <p:nvSpPr>
          <p:cNvPr id="9" name="Text 7"/>
          <p:cNvSpPr/>
          <p:nvPr/>
        </p:nvSpPr>
        <p:spPr>
          <a:xfrm>
            <a:off x="5486400" y="1005840"/>
            <a:ext cx="338328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うつりにくい傾向</a:t>
            </a:r>
            <a:endParaRPr lang="en-US" sz="1400" dirty="0"/>
          </a:p>
        </p:txBody>
      </p:sp>
      <p:sp>
        <p:nvSpPr>
          <p:cNvPr id="10" name="Shape 8"/>
          <p:cNvSpPr/>
          <p:nvPr/>
        </p:nvSpPr>
        <p:spPr>
          <a:xfrm>
            <a:off x="274320" y="1463040"/>
            <a:ext cx="8595360" cy="658368"/>
          </a:xfrm>
          <a:prstGeom prst="rect">
            <a:avLst/>
          </a:prstGeom>
          <a:solidFill>
            <a:srgbClr val="F5F7FA"/>
          </a:solidFill>
          <a:ln/>
        </p:spPr>
      </p:sp>
      <p:sp>
        <p:nvSpPr>
          <p:cNvPr id="11" name="Text 9"/>
          <p:cNvSpPr/>
          <p:nvPr/>
        </p:nvSpPr>
        <p:spPr>
          <a:xfrm>
            <a:off x="274320" y="1463040"/>
            <a:ext cx="1828800" cy="658368"/>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共感性</a:t>
            </a:r>
            <a:endParaRPr lang="en-US" sz="1300" dirty="0"/>
          </a:p>
        </p:txBody>
      </p:sp>
      <p:sp>
        <p:nvSpPr>
          <p:cNvPr id="12" name="Text 10"/>
          <p:cNvSpPr/>
          <p:nvPr/>
        </p:nvSpPr>
        <p:spPr>
          <a:xfrm>
            <a:off x="2103120" y="1463040"/>
            <a:ext cx="3383280" cy="658368"/>
          </a:xfrm>
          <a:prstGeom prst="rect">
            <a:avLst/>
          </a:prstGeom>
          <a:noFill/>
          <a:ln/>
        </p:spPr>
        <p:txBody>
          <a:bodyPr wrap="square" lIns="0" tIns="101600" rIns="10160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共感スコアが高い</a:t>
            </a:r>
            <a:endParaRPr lang="en-US" sz="1300" dirty="0"/>
          </a:p>
        </p:txBody>
      </p:sp>
      <p:sp>
        <p:nvSpPr>
          <p:cNvPr id="13" name="Text 11"/>
          <p:cNvSpPr/>
          <p:nvPr/>
        </p:nvSpPr>
        <p:spPr>
          <a:xfrm>
            <a:off x="5486400" y="1463040"/>
            <a:ext cx="3383280" cy="658368"/>
          </a:xfrm>
          <a:prstGeom prst="rect">
            <a:avLst/>
          </a:prstGeom>
          <a:noFill/>
          <a:ln/>
        </p:spPr>
        <p:txBody>
          <a:bodyPr wrap="square" lIns="0" tIns="101600" rIns="101600" bIns="0" rtlCol="0" anchor="ctr"/>
          <a:lstStyle/>
          <a:p>
            <a:pPr indent="0" marL="0">
              <a:buNone/>
            </a:pPr>
            <a:r>
              <a:rPr lang="en-US" sz="1300" b="1" dirty="0">
                <a:solidFill>
                  <a:srgbClr val="DC3545"/>
                </a:solidFill>
                <a:latin typeface="BIZ UDPGothic" pitchFamily="34" charset="0"/>
                <a:ea typeface="BIZ UDPGothic" pitchFamily="34" charset="-122"/>
                <a:cs typeface="BIZ UDPGothic" pitchFamily="34" charset="-120"/>
              </a:rPr>
              <a:t>共感スコアが低い</a:t>
            </a:r>
            <a:endParaRPr lang="en-US" sz="1300" dirty="0"/>
          </a:p>
        </p:txBody>
      </p:sp>
      <p:sp>
        <p:nvSpPr>
          <p:cNvPr id="14" name="Shape 12"/>
          <p:cNvSpPr/>
          <p:nvPr/>
        </p:nvSpPr>
        <p:spPr>
          <a:xfrm>
            <a:off x="274320" y="2121408"/>
            <a:ext cx="8595360" cy="658368"/>
          </a:xfrm>
          <a:prstGeom prst="rect">
            <a:avLst/>
          </a:prstGeom>
          <a:solidFill>
            <a:srgbClr val="FFFFFF"/>
          </a:solidFill>
          <a:ln/>
        </p:spPr>
      </p:sp>
      <p:sp>
        <p:nvSpPr>
          <p:cNvPr id="15" name="Text 13"/>
          <p:cNvSpPr/>
          <p:nvPr/>
        </p:nvSpPr>
        <p:spPr>
          <a:xfrm>
            <a:off x="274320" y="2121408"/>
            <a:ext cx="1828800" cy="658368"/>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年齢</a:t>
            </a:r>
            <a:endParaRPr lang="en-US" sz="1300" dirty="0"/>
          </a:p>
        </p:txBody>
      </p:sp>
      <p:sp>
        <p:nvSpPr>
          <p:cNvPr id="16" name="Text 14"/>
          <p:cNvSpPr/>
          <p:nvPr/>
        </p:nvSpPr>
        <p:spPr>
          <a:xfrm>
            <a:off x="2103120" y="2121408"/>
            <a:ext cx="3383280" cy="658368"/>
          </a:xfrm>
          <a:prstGeom prst="rect">
            <a:avLst/>
          </a:prstGeom>
          <a:noFill/>
          <a:ln/>
        </p:spPr>
        <p:txBody>
          <a:bodyPr wrap="square" lIns="0" tIns="101600" rIns="10160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成人（特に20〜40代）</a:t>
            </a:r>
            <a:endParaRPr lang="en-US" sz="1300" dirty="0"/>
          </a:p>
        </p:txBody>
      </p:sp>
      <p:sp>
        <p:nvSpPr>
          <p:cNvPr id="17" name="Text 15"/>
          <p:cNvSpPr/>
          <p:nvPr/>
        </p:nvSpPr>
        <p:spPr>
          <a:xfrm>
            <a:off x="5486400" y="2121408"/>
            <a:ext cx="3383280" cy="658368"/>
          </a:xfrm>
          <a:prstGeom prst="rect">
            <a:avLst/>
          </a:prstGeom>
          <a:noFill/>
          <a:ln/>
        </p:spPr>
        <p:txBody>
          <a:bodyPr wrap="square" lIns="0" tIns="101600" rIns="101600" bIns="0" rtlCol="0" anchor="ctr"/>
          <a:lstStyle/>
          <a:p>
            <a:pPr indent="0" marL="0">
              <a:buNone/>
            </a:pPr>
            <a:r>
              <a:rPr lang="en-US" sz="1300" b="1" dirty="0">
                <a:solidFill>
                  <a:srgbClr val="DC3545"/>
                </a:solidFill>
                <a:latin typeface="BIZ UDPGothic" pitchFamily="34" charset="0"/>
                <a:ea typeface="BIZ UDPGothic" pitchFamily="34" charset="-122"/>
                <a:cs typeface="BIZ UDPGothic" pitchFamily="34" charset="-120"/>
              </a:rPr>
              <a:t>乳幼児（4歳未満）・高齢者</a:t>
            </a:r>
            <a:endParaRPr lang="en-US" sz="1300" dirty="0"/>
          </a:p>
        </p:txBody>
      </p:sp>
      <p:sp>
        <p:nvSpPr>
          <p:cNvPr id="18" name="Shape 16"/>
          <p:cNvSpPr/>
          <p:nvPr/>
        </p:nvSpPr>
        <p:spPr>
          <a:xfrm>
            <a:off x="274320" y="2779776"/>
            <a:ext cx="8595360" cy="658368"/>
          </a:xfrm>
          <a:prstGeom prst="rect">
            <a:avLst/>
          </a:prstGeom>
          <a:solidFill>
            <a:srgbClr val="F5F7FA"/>
          </a:solidFill>
          <a:ln/>
        </p:spPr>
      </p:sp>
      <p:sp>
        <p:nvSpPr>
          <p:cNvPr id="19" name="Text 17"/>
          <p:cNvSpPr/>
          <p:nvPr/>
        </p:nvSpPr>
        <p:spPr>
          <a:xfrm>
            <a:off x="274320" y="2779776"/>
            <a:ext cx="1828800" cy="658368"/>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相手との関係</a:t>
            </a:r>
            <a:endParaRPr lang="en-US" sz="1300" dirty="0"/>
          </a:p>
        </p:txBody>
      </p:sp>
      <p:sp>
        <p:nvSpPr>
          <p:cNvPr id="20" name="Text 18"/>
          <p:cNvSpPr/>
          <p:nvPr/>
        </p:nvSpPr>
        <p:spPr>
          <a:xfrm>
            <a:off x="2103120" y="2779776"/>
            <a:ext cx="3383280" cy="658368"/>
          </a:xfrm>
          <a:prstGeom prst="rect">
            <a:avLst/>
          </a:prstGeom>
          <a:noFill/>
          <a:ln/>
        </p:spPr>
        <p:txBody>
          <a:bodyPr wrap="square" lIns="0" tIns="101600" rIns="10160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家族・友人・親しい同僚</a:t>
            </a:r>
            <a:endParaRPr lang="en-US" sz="1300" dirty="0"/>
          </a:p>
        </p:txBody>
      </p:sp>
      <p:sp>
        <p:nvSpPr>
          <p:cNvPr id="21" name="Text 19"/>
          <p:cNvSpPr/>
          <p:nvPr/>
        </p:nvSpPr>
        <p:spPr>
          <a:xfrm>
            <a:off x="5486400" y="2779776"/>
            <a:ext cx="3383280" cy="658368"/>
          </a:xfrm>
          <a:prstGeom prst="rect">
            <a:avLst/>
          </a:prstGeom>
          <a:noFill/>
          <a:ln/>
        </p:spPr>
        <p:txBody>
          <a:bodyPr wrap="square" lIns="0" tIns="101600" rIns="101600" bIns="0" rtlCol="0" anchor="ctr"/>
          <a:lstStyle/>
          <a:p>
            <a:pPr indent="0" marL="0">
              <a:buNone/>
            </a:pPr>
            <a:r>
              <a:rPr lang="en-US" sz="1300" b="1" dirty="0">
                <a:solidFill>
                  <a:srgbClr val="DC3545"/>
                </a:solidFill>
                <a:latin typeface="BIZ UDPGothic" pitchFamily="34" charset="0"/>
                <a:ea typeface="BIZ UDPGothic" pitchFamily="34" charset="-122"/>
                <a:cs typeface="BIZ UDPGothic" pitchFamily="34" charset="-120"/>
              </a:rPr>
              <a:t>見知らぬ人・写真・動画</a:t>
            </a:r>
            <a:endParaRPr lang="en-US" sz="1300" dirty="0"/>
          </a:p>
        </p:txBody>
      </p:sp>
      <p:sp>
        <p:nvSpPr>
          <p:cNvPr id="22" name="Shape 20"/>
          <p:cNvSpPr/>
          <p:nvPr/>
        </p:nvSpPr>
        <p:spPr>
          <a:xfrm>
            <a:off x="274320" y="3438144"/>
            <a:ext cx="8595360" cy="658368"/>
          </a:xfrm>
          <a:prstGeom prst="rect">
            <a:avLst/>
          </a:prstGeom>
          <a:solidFill>
            <a:srgbClr val="FFFFFF"/>
          </a:solidFill>
          <a:ln/>
        </p:spPr>
      </p:sp>
      <p:sp>
        <p:nvSpPr>
          <p:cNvPr id="23" name="Text 21"/>
          <p:cNvSpPr/>
          <p:nvPr/>
        </p:nvSpPr>
        <p:spPr>
          <a:xfrm>
            <a:off x="274320" y="3438144"/>
            <a:ext cx="1828800" cy="658368"/>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神経発達特性</a:t>
            </a:r>
            <a:endParaRPr lang="en-US" sz="1300" dirty="0"/>
          </a:p>
        </p:txBody>
      </p:sp>
      <p:sp>
        <p:nvSpPr>
          <p:cNvPr id="24" name="Text 22"/>
          <p:cNvSpPr/>
          <p:nvPr/>
        </p:nvSpPr>
        <p:spPr>
          <a:xfrm>
            <a:off x="2103120" y="3438144"/>
            <a:ext cx="3383280" cy="658368"/>
          </a:xfrm>
          <a:prstGeom prst="rect">
            <a:avLst/>
          </a:prstGeom>
          <a:noFill/>
          <a:ln/>
        </p:spPr>
        <p:txBody>
          <a:bodyPr wrap="square" lIns="0" tIns="101600" rIns="10160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定型発達</a:t>
            </a:r>
            <a:endParaRPr lang="en-US" sz="1300" dirty="0"/>
          </a:p>
        </p:txBody>
      </p:sp>
      <p:sp>
        <p:nvSpPr>
          <p:cNvPr id="25" name="Text 23"/>
          <p:cNvSpPr/>
          <p:nvPr/>
        </p:nvSpPr>
        <p:spPr>
          <a:xfrm>
            <a:off x="5486400" y="3438144"/>
            <a:ext cx="3383280" cy="658368"/>
          </a:xfrm>
          <a:prstGeom prst="rect">
            <a:avLst/>
          </a:prstGeom>
          <a:noFill/>
          <a:ln/>
        </p:spPr>
        <p:txBody>
          <a:bodyPr wrap="square" lIns="0" tIns="101600" rIns="101600" bIns="0" rtlCol="0" anchor="ctr"/>
          <a:lstStyle/>
          <a:p>
            <a:pPr indent="0" marL="0">
              <a:buNone/>
            </a:pPr>
            <a:r>
              <a:rPr lang="en-US" sz="1300" b="1" dirty="0">
                <a:solidFill>
                  <a:srgbClr val="DC3545"/>
                </a:solidFill>
                <a:latin typeface="BIZ UDPGothic" pitchFamily="34" charset="0"/>
                <a:ea typeface="BIZ UDPGothic" pitchFamily="34" charset="-122"/>
                <a:cs typeface="BIZ UDPGothic" pitchFamily="34" charset="-120"/>
              </a:rPr>
              <a:t>自閉スペクトラム症の一部</a:t>
            </a:r>
            <a:endParaRPr lang="en-US" sz="1300" dirty="0"/>
          </a:p>
        </p:txBody>
      </p:sp>
      <p:sp>
        <p:nvSpPr>
          <p:cNvPr id="26" name="Shape 24"/>
          <p:cNvSpPr/>
          <p:nvPr/>
        </p:nvSpPr>
        <p:spPr>
          <a:xfrm>
            <a:off x="274320" y="4096512"/>
            <a:ext cx="8595360" cy="658368"/>
          </a:xfrm>
          <a:prstGeom prst="rect">
            <a:avLst/>
          </a:prstGeom>
          <a:solidFill>
            <a:srgbClr val="F5F7FA"/>
          </a:solidFill>
          <a:ln/>
        </p:spPr>
      </p:sp>
      <p:sp>
        <p:nvSpPr>
          <p:cNvPr id="27" name="Text 25"/>
          <p:cNvSpPr/>
          <p:nvPr/>
        </p:nvSpPr>
        <p:spPr>
          <a:xfrm>
            <a:off x="274320" y="4096512"/>
            <a:ext cx="1828800" cy="658368"/>
          </a:xfrm>
          <a:prstGeom prst="rect">
            <a:avLst/>
          </a:prstGeom>
          <a:noFill/>
          <a:ln/>
        </p:spPr>
        <p:txBody>
          <a:bodyPr wrap="square" lIns="25400" tIns="25400" rIns="25400" bIns="25400" rtlCol="0" anchor="ctr"/>
          <a:lstStyle/>
          <a:p>
            <a:pPr algn="ctr" indent="0" marL="0">
              <a:buNone/>
            </a:pPr>
            <a:r>
              <a:rPr lang="en-US" sz="1300" b="1" dirty="0">
                <a:solidFill>
                  <a:srgbClr val="2C5AA0"/>
                </a:solidFill>
                <a:latin typeface="BIZ UDPGothic" pitchFamily="34" charset="0"/>
                <a:ea typeface="BIZ UDPGothic" pitchFamily="34" charset="-122"/>
                <a:cs typeface="BIZ UDPGothic" pitchFamily="34" charset="-120"/>
              </a:rPr>
              <a:t>注意の向き</a:t>
            </a:r>
            <a:endParaRPr lang="en-US" sz="1300" dirty="0"/>
          </a:p>
        </p:txBody>
      </p:sp>
      <p:sp>
        <p:nvSpPr>
          <p:cNvPr id="28" name="Text 26"/>
          <p:cNvSpPr/>
          <p:nvPr/>
        </p:nvSpPr>
        <p:spPr>
          <a:xfrm>
            <a:off x="2103120" y="4096512"/>
            <a:ext cx="3383280" cy="658368"/>
          </a:xfrm>
          <a:prstGeom prst="rect">
            <a:avLst/>
          </a:prstGeom>
          <a:noFill/>
          <a:ln/>
        </p:spPr>
        <p:txBody>
          <a:bodyPr wrap="square" lIns="0" tIns="101600" rIns="101600" bIns="0" rtlCol="0" anchor="ctr"/>
          <a:lstStyle/>
          <a:p>
            <a:pPr indent="0" marL="0">
              <a:buNone/>
            </a:pPr>
            <a:r>
              <a:rPr lang="en-US" sz="1300" dirty="0">
                <a:solidFill>
                  <a:srgbClr val="2D3436"/>
                </a:solidFill>
                <a:latin typeface="BIZ UDPGothic" pitchFamily="34" charset="0"/>
                <a:ea typeface="BIZ UDPGothic" pitchFamily="34" charset="-122"/>
                <a:cs typeface="BIZ UDPGothic" pitchFamily="34" charset="-120"/>
              </a:rPr>
              <a:t>相手の顔に注目している</a:t>
            </a:r>
            <a:endParaRPr lang="en-US" sz="1300" dirty="0"/>
          </a:p>
        </p:txBody>
      </p:sp>
      <p:sp>
        <p:nvSpPr>
          <p:cNvPr id="29" name="Text 27"/>
          <p:cNvSpPr/>
          <p:nvPr/>
        </p:nvSpPr>
        <p:spPr>
          <a:xfrm>
            <a:off x="5486400" y="4096512"/>
            <a:ext cx="3383280" cy="658368"/>
          </a:xfrm>
          <a:prstGeom prst="rect">
            <a:avLst/>
          </a:prstGeom>
          <a:noFill/>
          <a:ln/>
        </p:spPr>
        <p:txBody>
          <a:bodyPr wrap="square" lIns="0" tIns="101600" rIns="101600" bIns="0" rtlCol="0" anchor="ctr"/>
          <a:lstStyle/>
          <a:p>
            <a:pPr indent="0" marL="0">
              <a:buNone/>
            </a:pPr>
            <a:r>
              <a:rPr lang="en-US" sz="1300" b="1" dirty="0">
                <a:solidFill>
                  <a:srgbClr val="DC3545"/>
                </a:solidFill>
                <a:latin typeface="BIZ UDPGothic" pitchFamily="34" charset="0"/>
                <a:ea typeface="BIZ UDPGothic" pitchFamily="34" charset="-122"/>
                <a:cs typeface="BIZ UDPGothic" pitchFamily="34" charset="-120"/>
              </a:rPr>
              <a:t>目をそらしている・スマホ操作中</a:t>
            </a:r>
            <a:endParaRPr lang="en-US" sz="1300" dirty="0"/>
          </a:p>
        </p:txBody>
      </p:sp>
      <p:sp>
        <p:nvSpPr>
          <p:cNvPr id="30" name="Shape 28"/>
          <p:cNvSpPr/>
          <p:nvPr/>
        </p:nvSpPr>
        <p:spPr>
          <a:xfrm>
            <a:off x="274320" y="4709160"/>
            <a:ext cx="8595360" cy="365760"/>
          </a:xfrm>
          <a:prstGeom prst="rect">
            <a:avLst/>
          </a:prstGeom>
          <a:solidFill>
            <a:srgbClr val="E8F0FE"/>
          </a:solidFill>
          <a:ln/>
        </p:spPr>
      </p:sp>
      <p:sp>
        <p:nvSpPr>
          <p:cNvPr id="31" name="Text 29"/>
          <p:cNvSpPr/>
          <p:nvPr/>
        </p:nvSpPr>
        <p:spPr>
          <a:xfrm>
            <a:off x="457200" y="4709160"/>
            <a:ext cx="8229600" cy="365760"/>
          </a:xfrm>
          <a:prstGeom prst="rect">
            <a:avLst/>
          </a:prstGeom>
          <a:noFill/>
          <a:ln/>
        </p:spPr>
        <p:txBody>
          <a:bodyPr wrap="square" lIns="0" tIns="0" rIns="0" bIns="0" rtlCol="0" anchor="ctr"/>
          <a:lstStyle/>
          <a:p>
            <a:pPr indent="0" marL="0">
              <a:buNone/>
            </a:pPr>
            <a:r>
              <a:rPr lang="en-US" sz="1200" b="1" dirty="0">
                <a:solidFill>
                  <a:srgbClr val="2C5AA0"/>
                </a:solidFill>
                <a:latin typeface="BIZ UDPGothic" pitchFamily="34" charset="0"/>
                <a:ea typeface="BIZ UDPGothic" pitchFamily="34" charset="-122"/>
                <a:cs typeface="BIZ UDPGothic" pitchFamily="34" charset="-120"/>
              </a:rPr>
              <a:t>「もらいあくびしない＝共感力がない」は誤り。疲労・睡眠不足・注意の向き方など状況要因も大きく影響する</a:t>
            </a:r>
            <a:endParaRPr lang="en-US" sz="1200" dirty="0"/>
          </a:p>
        </p:txBody>
      </p:sp>
      <p:sp>
        <p:nvSpPr>
          <p:cNvPr id="32" name="Text 30"/>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6/9</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こんなときは要注意 ― 病的なあくびと神経疾患</a:t>
            </a:r>
            <a:endParaRPr lang="en-US" sz="2400" dirty="0"/>
          </a:p>
        </p:txBody>
      </p:sp>
      <p:sp>
        <p:nvSpPr>
          <p:cNvPr id="4" name="Shape 2"/>
          <p:cNvSpPr/>
          <p:nvPr/>
        </p:nvSpPr>
        <p:spPr>
          <a:xfrm>
            <a:off x="457200" y="1051560"/>
            <a:ext cx="82296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457200" y="1051560"/>
            <a:ext cx="137160" cy="1051560"/>
          </a:xfrm>
          <a:prstGeom prst="rect">
            <a:avLst/>
          </a:prstGeom>
          <a:solidFill>
            <a:srgbClr val="DC3545"/>
          </a:solidFill>
          <a:ln/>
        </p:spPr>
      </p:sp>
      <p:sp>
        <p:nvSpPr>
          <p:cNvPr id="6" name="Text 4"/>
          <p:cNvSpPr/>
          <p:nvPr/>
        </p:nvSpPr>
        <p:spPr>
          <a:xfrm>
            <a:off x="640080" y="1143000"/>
            <a:ext cx="64008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371600" y="1097280"/>
            <a:ext cx="7040880" cy="347472"/>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脳幹・視床下部病変</a:t>
            </a:r>
            <a:endParaRPr lang="en-US" sz="1700" dirty="0"/>
          </a:p>
        </p:txBody>
      </p:sp>
      <p:sp>
        <p:nvSpPr>
          <p:cNvPr id="8" name="Text 6"/>
          <p:cNvSpPr/>
          <p:nvPr/>
        </p:nvSpPr>
        <p:spPr>
          <a:xfrm>
            <a:off x="1371600" y="1453896"/>
            <a:ext cx="7040880" cy="603504"/>
          </a:xfrm>
          <a:prstGeom prst="rect">
            <a:avLst/>
          </a:prstGeom>
          <a:noFill/>
          <a:ln/>
        </p:spPr>
        <p:txBody>
          <a:bodyPr wrap="square" lIns="0" tIns="0" rIns="0" bIns="0" rtlCol="0" anchor="ctr"/>
          <a:lstStyle/>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延髄・橋・視床下部が制御を担う</a:t>
            </a:r>
            <a:endParaRPr lang="en-US" sz="1300" dirty="0"/>
          </a:p>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梗塞・腫瘍・脱髄（多発性硬化症など）で過剰なあくびが出現</a:t>
            </a:r>
            <a:endParaRPr lang="en-US" sz="1300" dirty="0"/>
          </a:p>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めまい・構音障害・嚥下障害・顔面感覚障害を伴う場合は緊急性あり</a:t>
            </a:r>
            <a:endParaRPr lang="en-US" sz="1300" dirty="0"/>
          </a:p>
        </p:txBody>
      </p:sp>
      <p:sp>
        <p:nvSpPr>
          <p:cNvPr id="9" name="Shape 7"/>
          <p:cNvSpPr/>
          <p:nvPr/>
        </p:nvSpPr>
        <p:spPr>
          <a:xfrm>
            <a:off x="457200" y="2286000"/>
            <a:ext cx="82296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0" name="Shape 8"/>
          <p:cNvSpPr/>
          <p:nvPr/>
        </p:nvSpPr>
        <p:spPr>
          <a:xfrm>
            <a:off x="457200" y="2286000"/>
            <a:ext cx="137160" cy="1051560"/>
          </a:xfrm>
          <a:prstGeom prst="rect">
            <a:avLst/>
          </a:prstGeom>
          <a:solidFill>
            <a:srgbClr val="E8850C"/>
          </a:solidFill>
          <a:ln/>
        </p:spPr>
      </p:sp>
      <p:sp>
        <p:nvSpPr>
          <p:cNvPr id="11" name="Text 9"/>
          <p:cNvSpPr/>
          <p:nvPr/>
        </p:nvSpPr>
        <p:spPr>
          <a:xfrm>
            <a:off x="640080" y="2377440"/>
            <a:ext cx="64008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2" name="Text 10"/>
          <p:cNvSpPr/>
          <p:nvPr/>
        </p:nvSpPr>
        <p:spPr>
          <a:xfrm>
            <a:off x="1371600" y="2331720"/>
            <a:ext cx="7040880" cy="347472"/>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てんかん発作（側頭葉てんかんなど）</a:t>
            </a:r>
            <a:endParaRPr lang="en-US" sz="1700" dirty="0"/>
          </a:p>
        </p:txBody>
      </p:sp>
      <p:sp>
        <p:nvSpPr>
          <p:cNvPr id="13" name="Text 11"/>
          <p:cNvSpPr/>
          <p:nvPr/>
        </p:nvSpPr>
        <p:spPr>
          <a:xfrm>
            <a:off x="1371600" y="2688336"/>
            <a:ext cx="7040880" cy="603504"/>
          </a:xfrm>
          <a:prstGeom prst="rect">
            <a:avLst/>
          </a:prstGeom>
          <a:noFill/>
          <a:ln/>
        </p:spPr>
        <p:txBody>
          <a:bodyPr wrap="square" lIns="0" tIns="0" rIns="0" bIns="0" rtlCol="0" anchor="ctr"/>
          <a:lstStyle/>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発作の前兆（前駆症状）としてあくびが繰り返し出ることがある</a:t>
            </a:r>
            <a:endParaRPr lang="en-US" sz="1300" dirty="0"/>
          </a:p>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デジャブ・腹部不快感などの前兆と合わせて診断の手がかりに</a:t>
            </a:r>
            <a:endParaRPr lang="en-US" sz="1300" dirty="0"/>
          </a:p>
        </p:txBody>
      </p:sp>
      <p:sp>
        <p:nvSpPr>
          <p:cNvPr id="14" name="Shape 12"/>
          <p:cNvSpPr/>
          <p:nvPr/>
        </p:nvSpPr>
        <p:spPr>
          <a:xfrm>
            <a:off x="457200" y="3520440"/>
            <a:ext cx="8229600" cy="105156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5" name="Shape 13"/>
          <p:cNvSpPr/>
          <p:nvPr/>
        </p:nvSpPr>
        <p:spPr>
          <a:xfrm>
            <a:off x="457200" y="3520440"/>
            <a:ext cx="137160" cy="1051560"/>
          </a:xfrm>
          <a:prstGeom prst="rect">
            <a:avLst/>
          </a:prstGeom>
          <a:solidFill>
            <a:srgbClr val="4A90D9"/>
          </a:solidFill>
          <a:ln/>
        </p:spPr>
      </p:sp>
      <p:sp>
        <p:nvSpPr>
          <p:cNvPr id="16" name="Text 14"/>
          <p:cNvSpPr/>
          <p:nvPr/>
        </p:nvSpPr>
        <p:spPr>
          <a:xfrm>
            <a:off x="640080" y="3611880"/>
            <a:ext cx="640080" cy="82296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Text 15"/>
          <p:cNvSpPr/>
          <p:nvPr/>
        </p:nvSpPr>
        <p:spPr>
          <a:xfrm>
            <a:off x="1371600" y="3566160"/>
            <a:ext cx="7040880" cy="347472"/>
          </a:xfrm>
          <a:prstGeom prst="rect">
            <a:avLst/>
          </a:prstGeom>
          <a:noFill/>
          <a:ln/>
        </p:spPr>
        <p:txBody>
          <a:bodyPr wrap="square" lIns="0" tIns="0" rIns="0" bIns="0" rtlCol="0" anchor="ctr"/>
          <a:lstStyle/>
          <a:p>
            <a:pPr indent="0" marL="0">
              <a:buNone/>
            </a:pPr>
            <a:r>
              <a:rPr lang="en-US" sz="1700" b="1" dirty="0">
                <a:solidFill>
                  <a:srgbClr val="2D3436"/>
                </a:solidFill>
                <a:latin typeface="BIZ UDPGothic" pitchFamily="34" charset="0"/>
                <a:ea typeface="BIZ UDPGothic" pitchFamily="34" charset="-122"/>
                <a:cs typeface="BIZ UDPGothic" pitchFamily="34" charset="-120"/>
              </a:rPr>
              <a:t>薬剤性あくび（SSRI・SNRI）</a:t>
            </a:r>
            <a:endParaRPr lang="en-US" sz="1700" dirty="0"/>
          </a:p>
        </p:txBody>
      </p:sp>
      <p:sp>
        <p:nvSpPr>
          <p:cNvPr id="18" name="Text 16"/>
          <p:cNvSpPr/>
          <p:nvPr/>
        </p:nvSpPr>
        <p:spPr>
          <a:xfrm>
            <a:off x="1371600" y="3922776"/>
            <a:ext cx="7040880" cy="603504"/>
          </a:xfrm>
          <a:prstGeom prst="rect">
            <a:avLst/>
          </a:prstGeom>
          <a:noFill/>
          <a:ln/>
        </p:spPr>
        <p:txBody>
          <a:bodyPr wrap="square" lIns="0" tIns="0" rIns="0" bIns="0" rtlCol="0" anchor="ctr"/>
          <a:lstStyle/>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セロトニン作動性薬の副作用として過剰なあくびが出現することがある</a:t>
            </a:r>
            <a:endParaRPr lang="en-US" sz="1300" dirty="0"/>
          </a:p>
          <a:p>
            <a:pPr indent="0" marL="0">
              <a:lnSpc>
                <a:spcPct val="120000"/>
              </a:lnSpc>
              <a:buNone/>
            </a:pPr>
            <a:r>
              <a:rPr lang="en-US" sz="1300" dirty="0">
                <a:solidFill>
                  <a:srgbClr val="636E72"/>
                </a:solidFill>
                <a:latin typeface="BIZ UDPGothic" pitchFamily="34" charset="0"/>
                <a:ea typeface="BIZ UDPGothic" pitchFamily="34" charset="-122"/>
                <a:cs typeface="BIZ UDPGothic" pitchFamily="34" charset="-120"/>
              </a:rPr>
              <a:t>薬剤開始・増量後にあくびが増えた場合は主治医に相談を</a:t>
            </a:r>
            <a:endParaRPr lang="en-US" sz="1300" dirty="0"/>
          </a:p>
        </p:txBody>
      </p:sp>
      <p:sp>
        <p:nvSpPr>
          <p:cNvPr id="19" name="Text 17"/>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7/9</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2C5AA0"/>
          </a:solidFill>
          <a:ln/>
        </p:spPr>
      </p:sp>
      <p:sp>
        <p:nvSpPr>
          <p:cNvPr id="3" name="Text 1"/>
          <p:cNvSpPr/>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こんなあくびはすぐ受診を</a:t>
            </a:r>
            <a:endParaRPr lang="en-US" sz="2400" dirty="0"/>
          </a:p>
        </p:txBody>
      </p:sp>
      <p:sp>
        <p:nvSpPr>
          <p:cNvPr id="4" name="Shape 2"/>
          <p:cNvSpPr/>
          <p:nvPr/>
        </p:nvSpPr>
        <p:spPr>
          <a:xfrm>
            <a:off x="457200" y="1005840"/>
            <a:ext cx="822960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5" name="Shape 3"/>
          <p:cNvSpPr/>
          <p:nvPr/>
        </p:nvSpPr>
        <p:spPr>
          <a:xfrm>
            <a:off x="640080" y="1152144"/>
            <a:ext cx="457200" cy="457200"/>
          </a:xfrm>
          <a:prstGeom prst="ellipse">
            <a:avLst/>
          </a:prstGeom>
          <a:solidFill>
            <a:srgbClr val="DC3545"/>
          </a:solidFill>
          <a:ln/>
        </p:spPr>
      </p:sp>
      <p:sp>
        <p:nvSpPr>
          <p:cNvPr id="6" name="Text 4"/>
          <p:cNvSpPr/>
          <p:nvPr/>
        </p:nvSpPr>
        <p:spPr>
          <a:xfrm>
            <a:off x="640080" y="1152144"/>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7" name="Text 5"/>
          <p:cNvSpPr/>
          <p:nvPr/>
        </p:nvSpPr>
        <p:spPr>
          <a:xfrm>
            <a:off x="1234440" y="1005840"/>
            <a:ext cx="7223760" cy="749808"/>
          </a:xfrm>
          <a:prstGeom prst="rect">
            <a:avLst/>
          </a:prstGeom>
          <a:noFill/>
          <a:ln/>
        </p:spPr>
        <p:txBody>
          <a:bodyPr wrap="square" lIns="0" tIns="76200" rIns="7620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急に止まらないあくびが出現し、めまい・ろれつが回らない・物が二重に見える などを伴う</a:t>
            </a:r>
            <a:endParaRPr lang="en-US" sz="1500" dirty="0"/>
          </a:p>
        </p:txBody>
      </p:sp>
      <p:sp>
        <p:nvSpPr>
          <p:cNvPr id="8" name="Shape 6"/>
          <p:cNvSpPr/>
          <p:nvPr/>
        </p:nvSpPr>
        <p:spPr>
          <a:xfrm>
            <a:off x="457200" y="1901952"/>
            <a:ext cx="822960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9" name="Shape 7"/>
          <p:cNvSpPr/>
          <p:nvPr/>
        </p:nvSpPr>
        <p:spPr>
          <a:xfrm>
            <a:off x="640080" y="2048256"/>
            <a:ext cx="457200" cy="457200"/>
          </a:xfrm>
          <a:prstGeom prst="ellipse">
            <a:avLst/>
          </a:prstGeom>
          <a:solidFill>
            <a:srgbClr val="DC3545"/>
          </a:solidFill>
          <a:ln/>
        </p:spPr>
      </p:sp>
      <p:sp>
        <p:nvSpPr>
          <p:cNvPr id="10" name="Text 8"/>
          <p:cNvSpPr/>
          <p:nvPr/>
        </p:nvSpPr>
        <p:spPr>
          <a:xfrm>
            <a:off x="640080"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11" name="Text 9"/>
          <p:cNvSpPr/>
          <p:nvPr/>
        </p:nvSpPr>
        <p:spPr>
          <a:xfrm>
            <a:off x="1234440" y="1901952"/>
            <a:ext cx="7223760" cy="749808"/>
          </a:xfrm>
          <a:prstGeom prst="rect">
            <a:avLst/>
          </a:prstGeom>
          <a:noFill/>
          <a:ln/>
        </p:spPr>
        <p:txBody>
          <a:bodyPr wrap="square" lIns="0" tIns="76200" rIns="7620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あくびの直前後に意識がぼんやりする・自分でも気づかない行動をしている</a:t>
            </a:r>
            <a:endParaRPr lang="en-US" sz="1500" dirty="0"/>
          </a:p>
        </p:txBody>
      </p:sp>
      <p:sp>
        <p:nvSpPr>
          <p:cNvPr id="12" name="Shape 10"/>
          <p:cNvSpPr/>
          <p:nvPr/>
        </p:nvSpPr>
        <p:spPr>
          <a:xfrm>
            <a:off x="457200" y="2798064"/>
            <a:ext cx="822960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3" name="Shape 11"/>
          <p:cNvSpPr/>
          <p:nvPr/>
        </p:nvSpPr>
        <p:spPr>
          <a:xfrm>
            <a:off x="640080" y="2944368"/>
            <a:ext cx="457200" cy="457200"/>
          </a:xfrm>
          <a:prstGeom prst="ellipse">
            <a:avLst/>
          </a:prstGeom>
          <a:solidFill>
            <a:srgbClr val="DC3545"/>
          </a:solidFill>
          <a:ln/>
        </p:spPr>
      </p:sp>
      <p:sp>
        <p:nvSpPr>
          <p:cNvPr id="14" name="Text 12"/>
          <p:cNvSpPr/>
          <p:nvPr/>
        </p:nvSpPr>
        <p:spPr>
          <a:xfrm>
            <a:off x="640080" y="2944368"/>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15" name="Text 13"/>
          <p:cNvSpPr/>
          <p:nvPr/>
        </p:nvSpPr>
        <p:spPr>
          <a:xfrm>
            <a:off x="1234440" y="2798064"/>
            <a:ext cx="7223760" cy="749808"/>
          </a:xfrm>
          <a:prstGeom prst="rect">
            <a:avLst/>
          </a:prstGeom>
          <a:noFill/>
          <a:ln/>
        </p:spPr>
        <p:txBody>
          <a:bodyPr wrap="square" lIns="0" tIns="76200" rIns="7620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抗うつ薬など（SSRI・SNRI）を開始・増量した後から、著しくあくびが増えた</a:t>
            </a:r>
            <a:endParaRPr lang="en-US" sz="1500" dirty="0"/>
          </a:p>
        </p:txBody>
      </p:sp>
      <p:sp>
        <p:nvSpPr>
          <p:cNvPr id="16" name="Shape 14"/>
          <p:cNvSpPr/>
          <p:nvPr/>
        </p:nvSpPr>
        <p:spPr>
          <a:xfrm>
            <a:off x="457200" y="3694176"/>
            <a:ext cx="8229600" cy="749808"/>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17" name="Shape 15"/>
          <p:cNvSpPr/>
          <p:nvPr/>
        </p:nvSpPr>
        <p:spPr>
          <a:xfrm>
            <a:off x="640080" y="3840480"/>
            <a:ext cx="457200" cy="457200"/>
          </a:xfrm>
          <a:prstGeom prst="ellipse">
            <a:avLst/>
          </a:prstGeom>
          <a:solidFill>
            <a:srgbClr val="DC3545"/>
          </a:solidFill>
          <a:ln/>
        </p:spPr>
      </p:sp>
      <p:sp>
        <p:nvSpPr>
          <p:cNvPr id="18" name="Text 16"/>
          <p:cNvSpPr/>
          <p:nvPr/>
        </p:nvSpPr>
        <p:spPr>
          <a:xfrm>
            <a:off x="640080" y="3840480"/>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19" name="Text 17"/>
          <p:cNvSpPr/>
          <p:nvPr/>
        </p:nvSpPr>
        <p:spPr>
          <a:xfrm>
            <a:off x="1234440" y="3694176"/>
            <a:ext cx="7223760" cy="749808"/>
          </a:xfrm>
          <a:prstGeom prst="rect">
            <a:avLst/>
          </a:prstGeom>
          <a:noFill/>
          <a:ln/>
        </p:spPr>
        <p:txBody>
          <a:bodyPr wrap="square" lIns="0" tIns="76200" rIns="76200" bIns="0" rtlCol="0" anchor="ctr"/>
          <a:lstStyle/>
          <a:p>
            <a:pPr indent="0" marL="0">
              <a:buNone/>
            </a:pPr>
            <a:r>
              <a:rPr lang="en-US" sz="1500" dirty="0">
                <a:solidFill>
                  <a:srgbClr val="2D3436"/>
                </a:solidFill>
                <a:latin typeface="BIZ UDPGothic" pitchFamily="34" charset="0"/>
                <a:ea typeface="BIZ UDPGothic" pitchFamily="34" charset="-122"/>
                <a:cs typeface="BIZ UDPGothic" pitchFamily="34" charset="-120"/>
              </a:rPr>
              <a:t>あくびと同時に頭痛・嘔吐（おうと）・複視（ふくし）が伴う</a:t>
            </a:r>
            <a:endParaRPr lang="en-US" sz="1500" dirty="0"/>
          </a:p>
        </p:txBody>
      </p:sp>
      <p:sp>
        <p:nvSpPr>
          <p:cNvPr id="20" name="Shape 18"/>
          <p:cNvSpPr/>
          <p:nvPr/>
        </p:nvSpPr>
        <p:spPr>
          <a:xfrm>
            <a:off x="457200" y="4572000"/>
            <a:ext cx="8229600" cy="502920"/>
          </a:xfrm>
          <a:prstGeom prst="rect">
            <a:avLst/>
          </a:prstGeom>
          <a:solidFill>
            <a:srgbClr val="FFFFFF"/>
          </a:solidFill>
          <a:ln/>
          <a:effectLst>
            <a:outerShdw sx="100000" sy="100000" kx="0" ky="0" algn="bl" rotWithShape="0" blurRad="50800" dist="25400" dir="8100000">
              <a:srgbClr val="000000">
                <a:alpha val="12000"/>
              </a:srgbClr>
            </a:outerShdw>
          </a:effectLst>
        </p:spPr>
      </p:sp>
      <p:sp>
        <p:nvSpPr>
          <p:cNvPr id="21" name="Shape 19"/>
          <p:cNvSpPr/>
          <p:nvPr/>
        </p:nvSpPr>
        <p:spPr>
          <a:xfrm>
            <a:off x="457200" y="4572000"/>
            <a:ext cx="8229600" cy="502920"/>
          </a:xfrm>
          <a:prstGeom prst="rect">
            <a:avLst/>
          </a:prstGeom>
          <a:solidFill>
            <a:srgbClr val="DC3545"/>
          </a:solidFill>
          <a:ln/>
        </p:spPr>
      </p:sp>
      <p:sp>
        <p:nvSpPr>
          <p:cNvPr id="22" name="Text 20"/>
          <p:cNvSpPr/>
          <p:nvPr/>
        </p:nvSpPr>
        <p:spPr>
          <a:xfrm>
            <a:off x="731520" y="4572000"/>
            <a:ext cx="7680960" cy="502920"/>
          </a:xfrm>
          <a:prstGeom prst="rect">
            <a:avLst/>
          </a:prstGeom>
          <a:noFill/>
          <a:ln/>
        </p:spPr>
        <p:txBody>
          <a:bodyPr wrap="square" lIns="0" tIns="0" rIns="0" bIns="0" rtlCol="0" anchor="ctr"/>
          <a:lstStyle/>
          <a:p>
            <a:pPr algn="ctr" indent="0" marL="0">
              <a:buNone/>
            </a:pPr>
            <a:r>
              <a:rPr lang="en-US" sz="1500" b="1" dirty="0">
                <a:solidFill>
                  <a:srgbClr val="FFFFFF"/>
                </a:solidFill>
                <a:latin typeface="BIZ UDPGothic" pitchFamily="34" charset="0"/>
                <a:ea typeface="BIZ UDPGothic" pitchFamily="34" charset="-122"/>
                <a:cs typeface="BIZ UDPGothic" pitchFamily="34" charset="-120"/>
              </a:rPr>
              <a:t>「ふだんと違う・急に増えた・他の症状を伴う」あくびは脳神経内科へ</a:t>
            </a:r>
            <a:endParaRPr lang="en-US" sz="1500" dirty="0"/>
          </a:p>
        </p:txBody>
      </p:sp>
      <p:sp>
        <p:nvSpPr>
          <p:cNvPr id="23" name="Text 21"/>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8/9</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4A90D9"/>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Segoe UI" pitchFamily="34" charset="0"/>
                <a:ea typeface="Segoe UI" pitchFamily="34" charset="-122"/>
                <a:cs typeface="Segoe UI" pitchFamily="34" charset="-120"/>
              </a:rPr>
              <a:t>Take Home Message</a:t>
            </a:r>
            <a:endParaRPr lang="en-US" sz="2600" dirty="0"/>
          </a:p>
        </p:txBody>
      </p:sp>
      <p:sp>
        <p:nvSpPr>
          <p:cNvPr id="4" name="Shape 2"/>
          <p:cNvSpPr/>
          <p:nvPr/>
        </p:nvSpPr>
        <p:spPr>
          <a:xfrm>
            <a:off x="731520" y="1005840"/>
            <a:ext cx="7680960" cy="822960"/>
          </a:xfrm>
          <a:prstGeom prst="roundRect">
            <a:avLst>
              <a:gd name="adj" fmla="val 11111"/>
            </a:avLst>
          </a:prstGeom>
          <a:solidFill>
            <a:srgbClr val="243B5C"/>
          </a:solidFill>
          <a:ln/>
        </p:spPr>
      </p:sp>
      <p:sp>
        <p:nvSpPr>
          <p:cNvPr id="5" name="Shape 3"/>
          <p:cNvSpPr/>
          <p:nvPr/>
        </p:nvSpPr>
        <p:spPr>
          <a:xfrm>
            <a:off x="914400" y="1143000"/>
            <a:ext cx="548640" cy="548640"/>
          </a:xfrm>
          <a:prstGeom prst="ellipse">
            <a:avLst/>
          </a:prstGeom>
          <a:solidFill>
            <a:srgbClr val="4A90D9"/>
          </a:solidFill>
          <a:ln/>
        </p:spPr>
      </p:sp>
      <p:sp>
        <p:nvSpPr>
          <p:cNvPr id="6" name="Text 4"/>
          <p:cNvSpPr/>
          <p:nvPr/>
        </p:nvSpPr>
        <p:spPr>
          <a:xfrm>
            <a:off x="914400" y="114300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1</a:t>
            </a:r>
            <a:endParaRPr lang="en-US" sz="2200" dirty="0"/>
          </a:p>
        </p:txBody>
      </p:sp>
      <p:sp>
        <p:nvSpPr>
          <p:cNvPr id="7" name="Text 5"/>
          <p:cNvSpPr/>
          <p:nvPr/>
        </p:nvSpPr>
        <p:spPr>
          <a:xfrm>
            <a:off x="1645920" y="1005840"/>
            <a:ext cx="6583680" cy="822960"/>
          </a:xfrm>
          <a:prstGeom prst="rect">
            <a:avLst/>
          </a:prstGeom>
          <a:noFill/>
          <a:ln/>
        </p:spPr>
        <p:txBody>
          <a:bodyPr wrap="square" lIns="0" tIns="0" rIns="0" bIns="0" rtlCol="0" anchor="ctr"/>
          <a:lstStyle/>
          <a:p>
            <a:pPr indent="0" marL="0">
              <a:lnSpc>
                <a:spcPct val="110000"/>
              </a:lnSpc>
              <a:buNone/>
            </a:pPr>
            <a:r>
              <a:rPr lang="en-US" sz="1400" dirty="0">
                <a:solidFill>
                  <a:srgbClr val="E8F0FE"/>
                </a:solidFill>
                <a:latin typeface="BIZ UDPGothic" pitchFamily="34" charset="0"/>
                <a:ea typeface="BIZ UDPGothic" pitchFamily="34" charset="-122"/>
                <a:cs typeface="BIZ UDPGothic" pitchFamily="34" charset="-120"/>
              </a:rPr>
              <a:t>もらいあくびはミラーニューロン系と共感回路（前帯状皮質・島皮質）が関与する社会的現象</a:t>
            </a:r>
            <a:endParaRPr lang="en-US" sz="1400" dirty="0"/>
          </a:p>
        </p:txBody>
      </p:sp>
      <p:sp>
        <p:nvSpPr>
          <p:cNvPr id="8" name="Shape 6"/>
          <p:cNvSpPr/>
          <p:nvPr/>
        </p:nvSpPr>
        <p:spPr>
          <a:xfrm>
            <a:off x="731520" y="1965960"/>
            <a:ext cx="7680960" cy="822960"/>
          </a:xfrm>
          <a:prstGeom prst="roundRect">
            <a:avLst>
              <a:gd name="adj" fmla="val 11111"/>
            </a:avLst>
          </a:prstGeom>
          <a:solidFill>
            <a:srgbClr val="243B5C"/>
          </a:solidFill>
          <a:ln/>
        </p:spPr>
      </p:sp>
      <p:sp>
        <p:nvSpPr>
          <p:cNvPr id="9" name="Shape 7"/>
          <p:cNvSpPr/>
          <p:nvPr/>
        </p:nvSpPr>
        <p:spPr>
          <a:xfrm>
            <a:off x="914400" y="2103120"/>
            <a:ext cx="548640" cy="548640"/>
          </a:xfrm>
          <a:prstGeom prst="ellipse">
            <a:avLst/>
          </a:prstGeom>
          <a:solidFill>
            <a:srgbClr val="4A90D9"/>
          </a:solidFill>
          <a:ln/>
        </p:spPr>
      </p:sp>
      <p:sp>
        <p:nvSpPr>
          <p:cNvPr id="10" name="Text 8"/>
          <p:cNvSpPr/>
          <p:nvPr/>
        </p:nvSpPr>
        <p:spPr>
          <a:xfrm>
            <a:off x="914400" y="210312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2</a:t>
            </a:r>
            <a:endParaRPr lang="en-US" sz="2200" dirty="0"/>
          </a:p>
        </p:txBody>
      </p:sp>
      <p:sp>
        <p:nvSpPr>
          <p:cNvPr id="11" name="Text 9"/>
          <p:cNvSpPr/>
          <p:nvPr/>
        </p:nvSpPr>
        <p:spPr>
          <a:xfrm>
            <a:off x="1645920" y="1965960"/>
            <a:ext cx="6583680" cy="822960"/>
          </a:xfrm>
          <a:prstGeom prst="rect">
            <a:avLst/>
          </a:prstGeom>
          <a:noFill/>
          <a:ln/>
        </p:spPr>
        <p:txBody>
          <a:bodyPr wrap="square" lIns="0" tIns="0" rIns="0" bIns="0" rtlCol="0" anchor="ctr"/>
          <a:lstStyle/>
          <a:p>
            <a:pPr indent="0" marL="0">
              <a:lnSpc>
                <a:spcPct val="110000"/>
              </a:lnSpc>
              <a:buNone/>
            </a:pPr>
            <a:r>
              <a:rPr lang="en-US" sz="1400" dirty="0">
                <a:solidFill>
                  <a:srgbClr val="E8F0FE"/>
                </a:solidFill>
                <a:latin typeface="BIZ UDPGothic" pitchFamily="34" charset="0"/>
                <a:ea typeface="BIZ UDPGothic" pitchFamily="34" charset="-122"/>
                <a:cs typeface="BIZ UDPGothic" pitchFamily="34" charset="-120"/>
              </a:rPr>
              <a:t>視覚だけでなく聴覚・言語でもうつる多感覚現象で、社会的絆の強さを反映する</a:t>
            </a:r>
            <a:endParaRPr lang="en-US" sz="1400" dirty="0"/>
          </a:p>
        </p:txBody>
      </p:sp>
      <p:sp>
        <p:nvSpPr>
          <p:cNvPr id="12" name="Shape 10"/>
          <p:cNvSpPr/>
          <p:nvPr/>
        </p:nvSpPr>
        <p:spPr>
          <a:xfrm>
            <a:off x="731520" y="2926080"/>
            <a:ext cx="7680960" cy="822960"/>
          </a:xfrm>
          <a:prstGeom prst="roundRect">
            <a:avLst>
              <a:gd name="adj" fmla="val 11111"/>
            </a:avLst>
          </a:prstGeom>
          <a:solidFill>
            <a:srgbClr val="243B5C"/>
          </a:solidFill>
          <a:ln/>
        </p:spPr>
      </p:sp>
      <p:sp>
        <p:nvSpPr>
          <p:cNvPr id="13" name="Shape 11"/>
          <p:cNvSpPr/>
          <p:nvPr/>
        </p:nvSpPr>
        <p:spPr>
          <a:xfrm>
            <a:off x="914400" y="3063240"/>
            <a:ext cx="548640" cy="548640"/>
          </a:xfrm>
          <a:prstGeom prst="ellipse">
            <a:avLst/>
          </a:prstGeom>
          <a:solidFill>
            <a:srgbClr val="4A90D9"/>
          </a:solidFill>
          <a:ln/>
        </p:spPr>
      </p:sp>
      <p:sp>
        <p:nvSpPr>
          <p:cNvPr id="14" name="Text 12"/>
          <p:cNvSpPr/>
          <p:nvPr/>
        </p:nvSpPr>
        <p:spPr>
          <a:xfrm>
            <a:off x="914400" y="306324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3</a:t>
            </a:r>
            <a:endParaRPr lang="en-US" sz="2200" dirty="0"/>
          </a:p>
        </p:txBody>
      </p:sp>
      <p:sp>
        <p:nvSpPr>
          <p:cNvPr id="15" name="Text 13"/>
          <p:cNvSpPr/>
          <p:nvPr/>
        </p:nvSpPr>
        <p:spPr>
          <a:xfrm>
            <a:off x="1645920" y="2926080"/>
            <a:ext cx="6583680" cy="822960"/>
          </a:xfrm>
          <a:prstGeom prst="rect">
            <a:avLst/>
          </a:prstGeom>
          <a:noFill/>
          <a:ln/>
        </p:spPr>
        <p:txBody>
          <a:bodyPr wrap="square" lIns="0" tIns="0" rIns="0" bIns="0" rtlCol="0" anchor="ctr"/>
          <a:lstStyle/>
          <a:p>
            <a:pPr indent="0" marL="0">
              <a:lnSpc>
                <a:spcPct val="110000"/>
              </a:lnSpc>
              <a:buNone/>
            </a:pPr>
            <a:r>
              <a:rPr lang="en-US" sz="1400" dirty="0">
                <a:solidFill>
                  <a:srgbClr val="E8F0FE"/>
                </a:solidFill>
                <a:latin typeface="BIZ UDPGothic" pitchFamily="34" charset="0"/>
                <a:ea typeface="BIZ UDPGothic" pitchFamily="34" charset="-122"/>
                <a:cs typeface="BIZ UDPGothic" pitchFamily="34" charset="-120"/>
              </a:rPr>
              <a:t>うつりやすさには個人差があり、共感性・年齢・相手との関係が影響する</a:t>
            </a:r>
            <a:endParaRPr lang="en-US" sz="1400" dirty="0"/>
          </a:p>
        </p:txBody>
      </p:sp>
      <p:sp>
        <p:nvSpPr>
          <p:cNvPr id="16" name="Shape 14"/>
          <p:cNvSpPr/>
          <p:nvPr/>
        </p:nvSpPr>
        <p:spPr>
          <a:xfrm>
            <a:off x="731520" y="3886200"/>
            <a:ext cx="7680960" cy="822960"/>
          </a:xfrm>
          <a:prstGeom prst="roundRect">
            <a:avLst>
              <a:gd name="adj" fmla="val 11111"/>
            </a:avLst>
          </a:prstGeom>
          <a:solidFill>
            <a:srgbClr val="243B5C"/>
          </a:solidFill>
          <a:ln/>
        </p:spPr>
      </p:sp>
      <p:sp>
        <p:nvSpPr>
          <p:cNvPr id="17" name="Shape 15"/>
          <p:cNvSpPr/>
          <p:nvPr/>
        </p:nvSpPr>
        <p:spPr>
          <a:xfrm>
            <a:off x="914400" y="4023360"/>
            <a:ext cx="548640" cy="548640"/>
          </a:xfrm>
          <a:prstGeom prst="ellipse">
            <a:avLst/>
          </a:prstGeom>
          <a:solidFill>
            <a:srgbClr val="4A90D9"/>
          </a:solidFill>
          <a:ln/>
        </p:spPr>
      </p:sp>
      <p:sp>
        <p:nvSpPr>
          <p:cNvPr id="18" name="Text 16"/>
          <p:cNvSpPr/>
          <p:nvPr/>
        </p:nvSpPr>
        <p:spPr>
          <a:xfrm>
            <a:off x="914400" y="4023360"/>
            <a:ext cx="54864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Segoe UI" pitchFamily="34" charset="0"/>
                <a:ea typeface="Segoe UI" pitchFamily="34" charset="-122"/>
                <a:cs typeface="Segoe UI" pitchFamily="34" charset="-120"/>
              </a:rPr>
              <a:t>4</a:t>
            </a:r>
            <a:endParaRPr lang="en-US" sz="2200" dirty="0"/>
          </a:p>
        </p:txBody>
      </p:sp>
      <p:sp>
        <p:nvSpPr>
          <p:cNvPr id="19" name="Text 17"/>
          <p:cNvSpPr/>
          <p:nvPr/>
        </p:nvSpPr>
        <p:spPr>
          <a:xfrm>
            <a:off x="1645920" y="3886200"/>
            <a:ext cx="6583680" cy="822960"/>
          </a:xfrm>
          <a:prstGeom prst="rect">
            <a:avLst/>
          </a:prstGeom>
          <a:noFill/>
          <a:ln/>
        </p:spPr>
        <p:txBody>
          <a:bodyPr wrap="square" lIns="0" tIns="0" rIns="0" bIns="0" rtlCol="0" anchor="ctr"/>
          <a:lstStyle/>
          <a:p>
            <a:pPr indent="0" marL="0">
              <a:lnSpc>
                <a:spcPct val="110000"/>
              </a:lnSpc>
              <a:buNone/>
            </a:pPr>
            <a:r>
              <a:rPr lang="en-US" sz="1400" dirty="0">
                <a:solidFill>
                  <a:srgbClr val="E8F0FE"/>
                </a:solidFill>
                <a:latin typeface="BIZ UDPGothic" pitchFamily="34" charset="0"/>
                <a:ea typeface="BIZ UDPGothic" pitchFamily="34" charset="-122"/>
                <a:cs typeface="BIZ UDPGothic" pitchFamily="34" charset="-120"/>
              </a:rPr>
              <a:t>止まらない・急に増えたあくびは脳幹病変・てんかん・薬剤性のサインの可能性あり</a:t>
            </a:r>
            <a:endParaRPr lang="en-US" sz="1400" dirty="0"/>
          </a:p>
          <a:p>
            <a:pPr indent="0" marL="0">
              <a:lnSpc>
                <a:spcPct val="110000"/>
              </a:lnSpc>
              <a:buNone/>
            </a:pPr>
            <a:r>
              <a:rPr lang="en-US" sz="1400" dirty="0">
                <a:solidFill>
                  <a:srgbClr val="E8F0FE"/>
                </a:solidFill>
                <a:latin typeface="BIZ UDPGothic" pitchFamily="34" charset="0"/>
                <a:ea typeface="BIZ UDPGothic" pitchFamily="34" charset="-122"/>
                <a:cs typeface="BIZ UDPGothic" pitchFamily="34" charset="-120"/>
              </a:rPr>
              <a:t>めまい・構音障害・意識障害などを伴う場合は緊急受診を</a:t>
            </a:r>
            <a:endParaRPr lang="en-US" sz="1400" dirty="0"/>
          </a:p>
        </p:txBody>
      </p:sp>
      <p:sp>
        <p:nvSpPr>
          <p:cNvPr id="20" name="Shape 18"/>
          <p:cNvSpPr/>
          <p:nvPr/>
        </p:nvSpPr>
        <p:spPr>
          <a:xfrm>
            <a:off x="1828800" y="4663440"/>
            <a:ext cx="5486400" cy="0"/>
          </a:xfrm>
          <a:prstGeom prst="line">
            <a:avLst/>
          </a:prstGeom>
          <a:noFill/>
          <a:ln w="12700">
            <a:solidFill>
              <a:srgbClr val="4A90D9"/>
            </a:solidFill>
            <a:prstDash val="solid"/>
          </a:ln>
        </p:spPr>
      </p:sp>
      <p:sp>
        <p:nvSpPr>
          <p:cNvPr id="21" name="Text 19"/>
          <p:cNvSpPr/>
          <p:nvPr/>
        </p:nvSpPr>
        <p:spPr>
          <a:xfrm>
            <a:off x="457200" y="4754880"/>
            <a:ext cx="8229600" cy="365760"/>
          </a:xfrm>
          <a:prstGeom prst="rect">
            <a:avLst/>
          </a:prstGeom>
          <a:noFill/>
          <a:ln/>
        </p:spPr>
        <p:txBody>
          <a:bodyPr wrap="square" lIns="0" tIns="0" rIns="0" bIns="0" rtlCol="0" anchor="ctr"/>
          <a:lstStyle/>
          <a:p>
            <a:pPr algn="ctr" indent="0" marL="0">
              <a:buNone/>
            </a:pPr>
            <a:r>
              <a:rPr lang="en-US" sz="1400" dirty="0">
                <a:solidFill>
                  <a:srgbClr val="636E72"/>
                </a:solidFill>
                <a:latin typeface="BIZ UDPGothic" pitchFamily="34" charset="0"/>
                <a:ea typeface="BIZ UDPGothic" pitchFamily="34" charset="-122"/>
                <a:cs typeface="BIZ UDPGothic" pitchFamily="34" charset="-120"/>
              </a:rPr>
              <a:t>医知創造ラボ  今村久司  ｜  チャンネル登録よろしくお願いします</a:t>
            </a:r>
            <a:endParaRPr lang="en-US" sz="1400" dirty="0"/>
          </a:p>
        </p:txBody>
      </p:sp>
      <p:sp>
        <p:nvSpPr>
          <p:cNvPr id="22" name="Text 20"/>
          <p:cNvSpPr/>
          <p:nvPr/>
        </p:nvSpPr>
        <p:spPr>
          <a:xfrm>
            <a:off x="8412480" y="4754880"/>
            <a:ext cx="548640" cy="365760"/>
          </a:xfrm>
          <a:prstGeom prst="rect">
            <a:avLst/>
          </a:prstGeom>
          <a:noFill/>
          <a:ln/>
        </p:spPr>
        <p:txBody>
          <a:bodyPr wrap="square" lIns="0" tIns="0" rIns="0" bIns="0" rtlCol="0" anchor="ctr"/>
          <a:lstStyle/>
          <a:p>
            <a:pPr algn="r" indent="0" marL="0">
              <a:buNone/>
            </a:pPr>
            <a:r>
              <a:rPr lang="en-US" sz="1100" dirty="0">
                <a:solidFill>
                  <a:srgbClr val="636E72"/>
                </a:solidFill>
                <a:latin typeface="BIZ UDPGothic" pitchFamily="34" charset="0"/>
                <a:ea typeface="BIZ UDPGothic" pitchFamily="34" charset="-122"/>
                <a:cs typeface="BIZ UDPGothic" pitchFamily="34" charset="-120"/>
              </a:rPr>
              <a:t>9/9</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なぜあくびはうつるのか？ ― ミラーニューロンと共感の脳科学</dc:title>
  <dc:subject>PptxGenJS Presentation</dc:subject>
  <dc:creator>今村久司</dc:creator>
  <cp:lastModifiedBy>今村久司</cp:lastModifiedBy>
  <cp:revision>1</cp:revision>
  <dcterms:created xsi:type="dcterms:W3CDTF">2026-04-02T02:32:19Z</dcterms:created>
  <dcterms:modified xsi:type="dcterms:W3CDTF">2026-04-02T02:32:19Z</dcterms:modified>
</cp:coreProperties>
</file>