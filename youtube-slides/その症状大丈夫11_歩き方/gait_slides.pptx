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🚶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歩き方がおかしい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2286000" y="2286000"/>
            <a:ext cx="4572000" cy="0"/>
          </a:xfrm>
          <a:prstGeom prst="line">
            <a:avLst/>
          </a:prstGeom>
          <a:noFill/>
          <a:ln w="25400">
            <a:solidFill>
              <a:srgbClr val="E885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4688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歩行パターンでわかる隠れた病気を</a:t>
            </a:r>
            <a:endParaRPr lang="en-US" sz="2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脳神経内科医が解説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0A4A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その症状、大丈夫？ #11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～脳神経内科医がAIで紡ぐ最新医療情報～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こんな経験、ありませんか？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109728" cy="59436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0515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🚶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463040" y="10515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家族に「歩き方が変」と言われた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1719072"/>
            <a:ext cx="804672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719072"/>
            <a:ext cx="109728" cy="59436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7647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🦶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463040" y="176479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つまずきやすくなった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2432304"/>
            <a:ext cx="804672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432304"/>
            <a:ext cx="109728" cy="59436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47802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🌀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463040" y="2478024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まっすぐ歩いているつもりがふらつく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3145536"/>
            <a:ext cx="804672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145536"/>
            <a:ext cx="109728" cy="59436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19125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👣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463040" y="3191256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歩幅が小さくなった気がする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804672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858768"/>
            <a:ext cx="109728" cy="59436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90448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🦵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463040" y="390448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長く歩くと足が重くなって休みたくなる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歩行のメカニズム ― なぜ歩き方で病気がわかる？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77240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7772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80160" y="1051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大脳・基底核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200400" y="1051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歩行の開始・速度・リズムを制御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00400" y="1417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パーキンソン病→小刻み歩行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8229600" cy="777240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920240"/>
            <a:ext cx="109728" cy="77724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01168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🔵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28016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小脳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200400" y="1965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バランス・協調運動を調整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00400" y="2331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小脳疾患→ふらつき歩行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8229600" cy="777240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834640"/>
            <a:ext cx="109728" cy="777240"/>
          </a:xfrm>
          <a:prstGeom prst="rect">
            <a:avLst>
              <a:gd name="adj" fmla="val 41667"/>
            </a:avLst>
          </a:prstGeom>
          <a:solidFill>
            <a:srgbClr val="7B2D8E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92608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🦴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280160" y="2880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B2D8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脊髄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3200400" y="2880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脳からの運動指令を手足に伝える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200400" y="3246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脊髄障害→つっぱり歩行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8229600" cy="777240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749040"/>
            <a:ext cx="109728" cy="77724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84048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1280160" y="3794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末梢神経・筋肉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3200400" y="3794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筋肉を動かし関節を制御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200400" y="4160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神経障害→つま先が上がらない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45720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※ 歩行は脳から筋肉まで全身の協調で成り立つ → どこが障害されたかで歩き方が変わる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歩行パターンでわかる病気 ― 前半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10058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👣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80160" y="1051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小刻み歩行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474720" y="1051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歩幅が狭く前かがみ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すくみ足・腕振りが減る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74720" y="1600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パーキンソン病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正常圧水頭症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0515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原因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194560"/>
            <a:ext cx="109728" cy="100584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3317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🦵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280160" y="2240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痙性歩行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474720" y="2240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足がつっぱり円を描くように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振り出す（ぶん回し歩行）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7472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脳卒中後遺症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脊髄障害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22402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原因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38328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383280"/>
            <a:ext cx="109728" cy="100584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5204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🌀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280160" y="3429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失調性歩行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474720" y="3429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ふらつきが大きく酔っ払いのよう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足を広げてバランスをとる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474720" y="3977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小脳疾患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脊髄小脳変性症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0" y="34290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原因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歩行パターンでわかる病気 ― 後半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1005840"/>
          </a:xfrm>
          <a:prstGeom prst="rect">
            <a:avLst>
              <a:gd name="adj" fmla="val 41667"/>
            </a:avLst>
          </a:prstGeom>
          <a:solidFill>
            <a:srgbClr val="7B2D8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🦶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80160" y="1051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2D8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鶏歩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474720" y="1051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つま先が上がらず膝を高く上げて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ペタペタと歩く（下垂足）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74720" y="1600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腓骨神経麻痺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腰椎椎間板ヘルニア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0515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2D8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原因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194560"/>
            <a:ext cx="109728" cy="100584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3317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🦆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280160" y="2240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動揺歩行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474720" y="2240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体を左右に揺らしながら歩く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（あひる歩き）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7472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筋ジストロフィー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近位筋の筋力低下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22402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原因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38328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383280"/>
            <a:ext cx="109728" cy="100584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5204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🛑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280160" y="3429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間欠性跛行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474720" y="3429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歩くと足が重く痛くなり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休むと回復して歩ける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474720" y="3977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脊柱管狭窄症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末梢動脈疾患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0" y="34290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原因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歩行障害の原因 ― 心配度で分類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12648"/>
          </a:xfrm>
          <a:prstGeom prst="rect">
            <a:avLst>
              <a:gd name="adj" fmla="val 14925"/>
            </a:avLst>
          </a:prstGeom>
          <a:solidFill>
            <a:srgbClr val="D4ED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612648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🟢 軽度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0" y="1051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加齢による筋力低下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663440" y="10515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歩幅の減少・歩行速度の低下。筋トレで改善可能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8229600" cy="612648"/>
          </a:xfrm>
          <a:prstGeom prst="rect">
            <a:avLst>
              <a:gd name="adj" fmla="val 14925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737360"/>
            <a:ext cx="109728" cy="612648"/>
          </a:xfrm>
          <a:prstGeom prst="rect">
            <a:avLst>
              <a:gd name="adj" fmla="val 41667"/>
            </a:avLst>
          </a:prstGeom>
          <a:solidFill>
            <a:srgbClr val="85640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7830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5640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🟡 要注意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828800" y="1783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パーキンソン病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63440" y="17830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小刻み歩行・すくみ足。早期治療で症状コントロール可能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8229600" cy="612648"/>
          </a:xfrm>
          <a:prstGeom prst="rect">
            <a:avLst>
              <a:gd name="adj" fmla="val 14925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468880"/>
            <a:ext cx="109728" cy="612648"/>
          </a:xfrm>
          <a:prstGeom prst="rect">
            <a:avLst>
              <a:gd name="adj" fmla="val 41667"/>
            </a:avLst>
          </a:prstGeom>
          <a:solidFill>
            <a:srgbClr val="85640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5146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5640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🟡 要注意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828800" y="2514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脊柱管狭窄症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663440" y="25146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長く歩くと足が重い。前かがみや休憩で回復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8229600" cy="612648"/>
          </a:xfrm>
          <a:prstGeom prst="rect">
            <a:avLst>
              <a:gd name="adj" fmla="val 14925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200400"/>
            <a:ext cx="109728" cy="612648"/>
          </a:xfrm>
          <a:prstGeom prst="rect">
            <a:avLst>
              <a:gd name="adj" fmla="val 41667"/>
            </a:avLst>
          </a:prstGeom>
          <a:solidFill>
            <a:srgbClr val="856404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2461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5640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🟡 要注意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828800" y="3246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正常圧水頭症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663440" y="32461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小刻み歩行＋認知症＋尿失禁。手術で改善可能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8229600" cy="612648"/>
          </a:xfrm>
          <a:prstGeom prst="rect">
            <a:avLst>
              <a:gd name="adj" fmla="val 1492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931920"/>
            <a:ext cx="109728" cy="612648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9776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🔴 緊急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828800" y="3977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脳卒中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663440" y="39776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突然の歩行困難＋片側の脱力・ろれつ障害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見逃されやすい原因 ― 正常圧水頭症（iNPH）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治る認知症とも呼ばれる ― 手術で改善可能な歩行障害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868680"/>
          </a:xfrm>
          <a:prstGeom prst="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109728" cy="8686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087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🚶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280160" y="1463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歩行障害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017520" y="1463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小刻み歩行・すくみ足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足が床に張り付く感覚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017520" y="1920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最も早期に出現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868680"/>
          </a:xfrm>
          <a:prstGeom prst="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423160"/>
            <a:ext cx="109728" cy="8686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1460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280160" y="2468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認知症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017520" y="2468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物忘れ・注意力低下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意欲の減退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017520" y="2926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アルツハイマーと誤診されやすい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429000"/>
            <a:ext cx="8229600" cy="868680"/>
          </a:xfrm>
          <a:prstGeom prst="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429000"/>
            <a:ext cx="109728" cy="8686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5204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🚽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280160" y="3474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尿失禁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017520" y="3474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頻尿・切迫性尿失禁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間に合わない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017520" y="3931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進行すると出現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※ 髄液シャント術で歩行障害の約8割が改善 ― 早期発見が重要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自分でできるチェック ― 歩行の変化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960120"/>
          </a:xfrm>
          <a:prstGeom prst="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9601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71600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📏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103120" y="1097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歩幅と速度を確認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103120" y="15087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横断歩道を青信号で渡りきれるか？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以前より歩幅が小さくなっていないか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8229600" cy="960120"/>
          </a:xfrm>
          <a:prstGeom prst="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48840"/>
            <a:ext cx="109728" cy="9601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24028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37160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⚖️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103120" y="2240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バランスを確認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2103120" y="26517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まっすぐ歩けるか？ふらつかないか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方向転換でよろめかないか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229600" cy="960120"/>
          </a:xfrm>
          <a:prstGeom prst="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291840"/>
            <a:ext cx="109728" cy="9601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38328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1371600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👟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2103120" y="3383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左右差を確認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2103120" y="37947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片足だけ引きずっていないか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靴底の減り方に左右差がないか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こんな場合はすぐ受診 ― 危険なサイン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594360"/>
          </a:xfrm>
          <a:prstGeom prst="rect">
            <a:avLst>
              <a:gd name="adj" fmla="val 1538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09728" cy="59436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1097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突然歩けなくなった＋片側の脱力・ろれつ障害（脳卒中）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1764792"/>
            <a:ext cx="8229600" cy="594360"/>
          </a:xfrm>
          <a:prstGeom prst="rect">
            <a:avLst>
              <a:gd name="adj" fmla="val 1538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64792"/>
            <a:ext cx="109728" cy="59436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1051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71600" y="181051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数日〜数週間で急速に歩行が悪化（脊髄障害・ギラン・バレー）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2478024"/>
            <a:ext cx="8229600" cy="594360"/>
          </a:xfrm>
          <a:prstGeom prst="rect">
            <a:avLst>
              <a:gd name="adj" fmla="val 1538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478024"/>
            <a:ext cx="109728" cy="59436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52374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⚠️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71600" y="25237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歩行障害＋排尿障害がある（脊髄圧迫の可能性）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3191256"/>
            <a:ext cx="8229600" cy="594360"/>
          </a:xfrm>
          <a:prstGeom prst="rect">
            <a:avLst>
              <a:gd name="adj" fmla="val 1538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91256"/>
            <a:ext cx="109728" cy="59436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23697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🩹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371600" y="323697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転倒を繰り返すようになった（骨折・頭部外傷のリスク）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57200" y="3904488"/>
            <a:ext cx="8229600" cy="594360"/>
          </a:xfrm>
          <a:prstGeom prst="rect">
            <a:avLst>
              <a:gd name="adj" fmla="val 1538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904488"/>
            <a:ext cx="109728" cy="59436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502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🚶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371600" y="395020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歩行障害＋認知機能低下＋尿失禁（正常圧水頭症の三徴）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14400" y="4572000"/>
            <a:ext cx="7315200" cy="182880"/>
          </a:xfrm>
          <a:prstGeom prst="rect">
            <a:avLst>
              <a:gd name="adj" fmla="val 50000"/>
            </a:avLst>
          </a:prstGeom>
          <a:solidFill>
            <a:srgbClr val="DC354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受診の目安 ― 緊急度3段階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05840"/>
          </a:xfrm>
          <a:prstGeom prst="rect">
            <a:avLst>
              <a:gd name="adj" fmla="val 9091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09728" cy="100584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🔴 すぐ受診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突然の歩行困難＋片側脱力・ろれつ障害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急速に歩行が悪化している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0" y="11887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脳卒中・脊髄障害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→119番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40280"/>
            <a:ext cx="109728" cy="1005840"/>
          </a:xfrm>
          <a:prstGeom prst="rect">
            <a:avLst>
              <a:gd name="adj" fmla="val 41667"/>
            </a:avLst>
          </a:prstGeom>
          <a:solidFill>
            <a:srgbClr val="85640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286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5640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🟡 早めに受診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31520" y="26974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数週間〜数ヶ月で徐々に歩きにくくなった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転倒が増えた・歩幅が小さくなった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認知機能低下や尿失禁を伴う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0" y="23774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85640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脳神経内科で精査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85640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MRI・歩行分析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8229600" cy="1005840"/>
          </a:xfrm>
          <a:prstGeom prst="rect">
            <a:avLst>
              <a:gd name="adj" fmla="val 9091"/>
            </a:avLst>
          </a:prstGeom>
          <a:solidFill>
            <a:srgbClr val="D4ED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429000"/>
            <a:ext cx="109728" cy="100584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74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🟢 様子見OK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31520" y="38862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疲労や体調不良時の一時的なふらつき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長時間の歩行後の足の重さ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0" y="3566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休息で改善すれば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心配不要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よくある質問 Q&amp;A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51560"/>
          </a:xfrm>
          <a:prstGeom prst="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105156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10515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歩き方がおかしいのは何科に行けばいい？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88720" y="1508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まず脳神経内科をおすすめします。歩行障害の原因は脳・脊髄・末梢神経・筋肉と多岐にわたりますが、脳神経内科はこれらを総合的に診断できます。必要に応じて整形外科等に紹介します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8229600" cy="1051560"/>
          </a:xfrm>
          <a:prstGeom prst="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240280"/>
            <a:ext cx="109728" cy="105156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2860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88720" y="2286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パーキンソン病の歩行障害は治りますか？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88720" y="2743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薬物療法で歩行を含む症状を大幅に改善できます。特に早期から適切な治療とリハビリを行うことで、長期間にわたって良好な歩行機能を維持できます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8229600" cy="1051560"/>
          </a:xfrm>
          <a:prstGeom prst="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474720"/>
            <a:ext cx="109728" cy="105156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5204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Q.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88720" y="3520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正常圧水頭症の手術は安全ですか？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152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A.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88720" y="3977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髄液シャント術は確立された手術で、歩行障害の改善率は約80%と報告されています。高齢者でも比較的安全に行える手術です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まとめ ― 歩き方がおかしいと感じたら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09728" cy="10058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71600" y="10972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歩行パターンが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原因疾患を示唆する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0" y="11430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小刻み→パーキンソン病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ふらつき→小脳 / つっぱり→脊髄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40280"/>
            <a:ext cx="109728" cy="10058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3172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371600" y="22860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正常圧水頭症は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手術で改善可能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029200" y="23317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歩行障害＋認知症＋尿失禁の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三徴に注目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429000"/>
            <a:ext cx="109728" cy="10058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5204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371600" y="34747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歩行障害は脳神経内科で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総合的に診断できる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029200" y="35204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脳・脊髄・末梢神経・筋肉の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どこが問題かを判断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ご視聴ありがとうございました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0" y="1371600"/>
            <a:ext cx="4572000" cy="0"/>
          </a:xfrm>
          <a:prstGeom prst="line">
            <a:avLst/>
          </a:prstGeom>
          <a:noFill/>
          <a:ln w="25400">
            <a:solidFill>
              <a:srgbClr val="E885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54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チャンネル登録・高評価よろしくお願いします！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286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🔗 ブログ記事で詳しく読む（概要欄にリンク）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697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🔍 歩行セルフチェックツール（概要欄にリンク）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次回予告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0A4A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#12 頭をぶつけた後、病院に行くべき？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8909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【その症状、大丈夫？#11】歩き方がおかしい ― 歩行パターンでわかる隠れた病気</dc:title>
  <dc:subject>PptxGenJS Presentation</dc:subject>
  <dc:creator>今村久司</dc:creator>
  <cp:lastModifiedBy>今村久司</cp:lastModifiedBy>
  <cp:revision>1</cp:revision>
  <dcterms:created xsi:type="dcterms:W3CDTF">2026-04-13T12:29:10Z</dcterms:created>
  <dcterms:modified xsi:type="dcterms:W3CDTF">2026-04-13T12:29:10Z</dcterms:modified>
</cp:coreProperties>
</file>