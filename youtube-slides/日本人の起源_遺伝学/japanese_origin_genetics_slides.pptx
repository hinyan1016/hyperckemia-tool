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modSld">
      <pc:chgData name="久司 今村" userId="1c5d66dd010fbc96" providerId="LiveId" clId="{062EBC09-E340-429A-A48C-2ED253578334}" dt="2026-03-29T13:16:55.883" v="71" actId="20577"/>
      <pc:docMkLst>
        <pc:docMk/>
      </pc:docMkLst>
      <pc:sldChg chg="modSp mod">
        <pc:chgData name="久司 今村" userId="1c5d66dd010fbc96" providerId="LiveId" clId="{062EBC09-E340-429A-A48C-2ED253578334}" dt="2026-03-29T13:16:29.746" v="68" actId="14100"/>
        <pc:sldMkLst>
          <pc:docMk/>
          <pc:sldMk cId="0" sldId="258"/>
        </pc:sldMkLst>
        <pc:spChg chg="mod">
          <ac:chgData name="久司 今村" userId="1c5d66dd010fbc96" providerId="LiveId" clId="{062EBC09-E340-429A-A48C-2ED253578334}" dt="2026-03-29T13:16:29.746" v="68" actId="14100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6:55.883" v="71" actId="20577"/>
        <pc:sldMkLst>
          <pc:docMk/>
          <pc:sldMk cId="0" sldId="259"/>
        </pc:sldMkLst>
        <pc:spChg chg="mod">
          <ac:chgData name="久司 今村" userId="1c5d66dd010fbc96" providerId="LiveId" clId="{062EBC09-E340-429A-A48C-2ED253578334}" dt="2026-03-29T13:16:55.883" v="71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2:29.749" v="1" actId="20577"/>
        <pc:sldMkLst>
          <pc:docMk/>
          <pc:sldMk cId="0" sldId="261"/>
        </pc:sldMkLst>
        <pc:spChg chg="mod">
          <ac:chgData name="久司 今村" userId="1c5d66dd010fbc96" providerId="LiveId" clId="{062EBC09-E340-429A-A48C-2ED253578334}" dt="2026-03-29T13:12:29.749" v="1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久司 今村" userId="1c5d66dd010fbc96" providerId="LiveId" clId="{062EBC09-E340-429A-A48C-2ED253578334}" dt="2026-03-29T13:12:16.905" v="0" actId="14100"/>
          <ac:spMkLst>
            <pc:docMk/>
            <pc:sldMk cId="0" sldId="261"/>
            <ac:spMk id="22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3:04.076" v="33" actId="20577"/>
        <pc:sldMkLst>
          <pc:docMk/>
          <pc:sldMk cId="0" sldId="265"/>
        </pc:sldMkLst>
        <pc:spChg chg="mod">
          <ac:chgData name="久司 今村" userId="1c5d66dd010fbc96" providerId="LiveId" clId="{062EBC09-E340-429A-A48C-2ED253578334}" dt="2026-03-29T13:13:04.076" v="33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3:15.668" v="34" actId="14100"/>
        <pc:sldMkLst>
          <pc:docMk/>
          <pc:sldMk cId="0" sldId="268"/>
        </pc:sldMkLst>
        <pc:spChg chg="mod">
          <ac:chgData name="久司 今村" userId="1c5d66dd010fbc96" providerId="LiveId" clId="{062EBC09-E340-429A-A48C-2ED253578334}" dt="2026-03-29T13:13:15.668" v="34" actId="14100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3:40.321" v="62" actId="20577"/>
        <pc:sldMkLst>
          <pc:docMk/>
          <pc:sldMk cId="0" sldId="271"/>
        </pc:sldMkLst>
        <pc:spChg chg="mod">
          <ac:chgData name="久司 今村" userId="1c5d66dd010fbc96" providerId="LiveId" clId="{062EBC09-E340-429A-A48C-2ED253578334}" dt="2026-03-29T13:13:40.321" v="62" actId="20577"/>
          <ac:spMkLst>
            <pc:docMk/>
            <pc:sldMk cId="0" sldId="271"/>
            <ac:spMk id="14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4:01.587" v="65" actId="1076"/>
        <pc:sldMkLst>
          <pc:docMk/>
          <pc:sldMk cId="0" sldId="272"/>
        </pc:sldMkLst>
        <pc:spChg chg="mod">
          <ac:chgData name="久司 今村" userId="1c5d66dd010fbc96" providerId="LiveId" clId="{062EBC09-E340-429A-A48C-2ED253578334}" dt="2026-03-29T13:13:56.587" v="64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久司 今村" userId="1c5d66dd010fbc96" providerId="LiveId" clId="{062EBC09-E340-429A-A48C-2ED253578334}" dt="2026-03-29T13:14:01.587" v="65" actId="107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久司 今村" userId="1c5d66dd010fbc96" providerId="LiveId" clId="{062EBC09-E340-429A-A48C-2ED253578334}" dt="2026-03-29T13:13:49.173" v="63" actId="1076"/>
          <ac:spMkLst>
            <pc:docMk/>
            <pc:sldMk cId="0" sldId="272"/>
            <ac:spMk id="21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9T13:14:23.134" v="67" actId="1076"/>
        <pc:sldMkLst>
          <pc:docMk/>
          <pc:sldMk cId="0" sldId="273"/>
        </pc:sldMkLst>
        <pc:spChg chg="mod">
          <ac:chgData name="久司 今村" userId="1c5d66dd010fbc96" providerId="LiveId" clId="{062EBC09-E340-429A-A48C-2ED253578334}" dt="2026-03-29T13:14:13.821" v="66" actId="107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久司 今村" userId="1c5d66dd010fbc96" providerId="LiveId" clId="{062EBC09-E340-429A-A48C-2ED253578334}" dt="2026-03-29T13:14:23.134" v="67" actId="1076"/>
          <ac:spMkLst>
            <pc:docMk/>
            <pc:sldMk cId="0" sldId="273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25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日本人はどこから来たのか？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最新ゲノム解析が明かす三重構造モデル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縄文人・弥生人・古墳人 — DNAに刻まれた3つのルーツ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32918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685800" cy="68580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二重構造モデル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とは何か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埴原和郎の仮説と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その30年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109728" cy="329184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51960" y="1280160"/>
            <a:ext cx="685800" cy="6858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25196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三重構造モデル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への転換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古代DNA解析が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明かした第3の祖先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109728" cy="32918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132320" y="1280160"/>
            <a:ext cx="685800" cy="6858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3232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DNAに残る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旧人類の痕跡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ネアンデルタール人・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デニソワ人の遺伝子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埴原和郎の「二重構造モデル」（1991年）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560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第1層：縄文人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旧石器時代〜に日本列島へ到達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狩猟・採集・漁撈の生活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東南アジア方面から渡来（当時の推定）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25603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第2層：弥生人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約2,300年前に渡来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水稲農耕を持ち込む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朝鮮半島経由で北東アジアから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  混血  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03520" y="3749040"/>
            <a:ext cx="3474720" cy="64008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303520" y="3749040"/>
            <a:ext cx="109728" cy="640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39496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現代日本人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Hudson MJ, et al. Evol Hum Sci. 2020;2:e6.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二重構造モデルの検証と残された疑問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3774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支持された点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・アイヌと琉球が遺伝的に近い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・本土日本人は韓国と遺伝的に近い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・混血モデルが置換モデルより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29〜63倍尤度が高い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23774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残された疑問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・古墳時代の急激な文化変容は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弥生の波だけで説明できるか？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・古墳人の形態が弥生人と異なる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・縄文人の東南アジア起源は否定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73152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09728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答えを出すには「古代人のDNAを直接読み解く」パレオゲノミクスの</a:t>
            </a:r>
            <a:endParaRPr lang="en-US" sz="1800" b="1" dirty="0">
              <a:solidFill>
                <a:srgbClr val="2D3436"/>
              </a:solidFill>
              <a:latin typeface="BIZ UDPGothic" pitchFamily="34" charset="0"/>
              <a:ea typeface="BIZ UDPGothic" pitchFamily="34" charset="-122"/>
              <a:cs typeface="BIZ UDPGothic" pitchFamily="34" charset="-120"/>
            </a:endParaRPr>
          </a:p>
          <a:p>
            <a:pPr marL="0" indent="0" algn="ctr">
              <a:buNone/>
            </a:pPr>
            <a:r>
              <a:rPr lang="en-US" sz="1800" b="1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進歩が必要だった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Omoto K, Saitou N. Am J Phys Anthropol. 1997 / Nakagome S, et al. Mol Biol Evol. 2015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三重構造モデル — 3つの祖先集団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09728" cy="3474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2万〜1.5万年前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大陸基層集団から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島嶼化で隔離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有効集団サイズ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約1,000人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109728" cy="34747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弥生渡来人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約3,000年前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渡来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3756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北東アジア起源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（朝鮮半島経由）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水稲農耕を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持ち込む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109728" cy="34747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古墳渡来人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AE6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約1,700年前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7AE6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東アジア起源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（弥生人とは異なる）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国家形成・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文字・仏教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Cooke NP, et al. Sci Adv. 2021;7(38):eabh2419.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縄文人 — 1万年以上孤立した独自の集団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9728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🏝️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海面上昇で隔離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最終氷期の終わりに日本列島が島嶼化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大陸から遺伝的に隔離された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109728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わずか約1,000人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40480" y="2057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有効集団サイズが極めて小さく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数千年にわたり維持された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09728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独自の遺伝</a:t>
            </a:r>
            <a:endParaRPr lang="en-US" sz="1900" b="1" dirty="0">
              <a:solidFill>
                <a:srgbClr val="C0392B"/>
              </a:solidFill>
              <a:latin typeface="BIZ UDPGothic" pitchFamily="34" charset="0"/>
              <a:ea typeface="BIZ UDPGothic" pitchFamily="34" charset="-122"/>
              <a:cs typeface="BIZ UDPGothic" pitchFamily="34" charset="-120"/>
            </a:endParaRPr>
          </a:p>
          <a:p>
            <a:pPr marL="0" indent="0">
              <a:buNone/>
            </a:pPr>
            <a:r>
              <a:rPr lang="en-US" sz="1900" b="1" dirty="0" err="1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プロファイル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84048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大陸のどの集団とも大きく異なる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2万〜1.5万年前に分岐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109728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1万年以上の独自進化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84048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狩猟採集・漁撈文化のなかで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環境に適応した遺伝的特徴を獲得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Cooke NP, et al. Sci Adv. 2021;7(38):eabh2419.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弥生人 — 北東アジアから水稲農耕とともに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32004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弥生人の遺伝的起源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・北東アジアに遺伝的起源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・現在の韓国・中国北部の集団と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遺伝的に近い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・約3,000年前に北九州から渡来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・水稲農耕技術をもたらす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・土井ヶ浜遺跡人骨で直接確認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32004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双方向の遺伝子流動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韓国・金海市の三国時代（4〜5世紀）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の古代ゲノムにも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「縄文関連の祖先成分」を検出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日本列島 ⇄ 朝鮮半島の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双方向的な遺伝子の移動を示唆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Gelabert P, et al. Curr Biol. 2022;32(15):3232-3244.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古墳人 — 東アジアからの「第3の波」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3716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最も注目すべき発見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古墳時代（3世紀後半〜7世紀）に、弥生人とは異なる「東アジア起源」の第3の祖先集団が日本列島に流入した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09728" cy="914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大和政権の成立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2743200"/>
            <a:ext cx="109728" cy="9144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文字・仏教の導入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109728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巨大前方後円墳の築造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solidFill>
            <a:srgbClr val="D4ED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109728" cy="7315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古墳時代に形成された三重構造は、1,500年以上経った今も私たちのDNAに刻まれている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Cooke NP, et al. Sci Adv. 2021;7(38):eabh2419.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JEWEL — 3,256人の全ゲノム解析（2024年 理研）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3716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研究規模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バイオバンク・ジャパンの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3,256人を高深度全ゲノム配列決定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13716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従来との違い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マイクロアレイでは見えなかった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稀少な遺伝的変異まで検出可能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109728" cy="16459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三重祖先構造を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大規模データで確認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6888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468880" y="2743200"/>
            <a:ext cx="109728" cy="16459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548640" cy="54864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00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6032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前例のない微細な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遺伝的構造を検出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09728" cy="16459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394960" y="2880360"/>
            <a:ext cx="548640" cy="54864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39496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5488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44のアーカイック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セグメントを同定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2743200"/>
            <a:ext cx="109728" cy="1645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589520" y="28803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5895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49440" y="3566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自然選択を受けた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候補遺伝子座を特定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Liu X, et al. Sci Adv. 2024;10(16):eadi8419.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日本人の遺伝的多様性 — 地域差マップ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651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地域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縄文祖先の比率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特徴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沖縄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約28.5%（最高）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縄文人との遺伝的親和性が最も高い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東北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885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約19%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青森・秋田・岩手で縄文系変異が多い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関東・中部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中間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日本の平均的な遺伝構成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近畿・四国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980B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約12%（低い）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漢民族と遺伝的親和性が高い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365760" y="3840480"/>
            <a:ext cx="109728" cy="7315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弥生人は北九州から東進 → 近畿に大きな影響 → </a:t>
            </a:r>
            <a:r>
              <a:rPr lang="en-US" sz="1700" b="1" dirty="0" err="1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東北・沖縄には縄文の</a:t>
            </a:r>
            <a:endParaRPr lang="en-US" sz="1700" b="1" dirty="0">
              <a:solidFill>
                <a:srgbClr val="2C5AA0"/>
              </a:solidFill>
              <a:latin typeface="BIZ UDPGothic" pitchFamily="34" charset="0"/>
              <a:ea typeface="BIZ UDPGothic" pitchFamily="34" charset="-122"/>
              <a:cs typeface="BIZ UDPGothic" pitchFamily="34" charset="-120"/>
            </a:endParaRPr>
          </a:p>
          <a:p>
            <a:pPr marL="0" indent="0" algn="ctr">
              <a:buNone/>
            </a:pPr>
            <a:r>
              <a:rPr lang="ja-JP" alt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　　　　　　　　　　　　　　　　　　　　　　　　　　</a:t>
            </a:r>
            <a:r>
              <a:rPr lang="en-US" sz="1700" b="1" dirty="0" err="1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特徴がより残存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Liu X, et al. Sci Adv. 2024 / Kawai Y, et al. PLoS Genet. 2023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日本人のDNAに残る旧人類の痕跡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32004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ネアンデルタール人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・アフリカ以外の現代人ゲノムに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約2%のDNAが残存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・日本人も同様に保持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・東アジア人では精神・認知形質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との関連が報告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32004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デニソワ人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・2010年にシベリアで発見された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「第3の人類」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・東アジア人に特有の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第3のデニソワ人系統が存在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・NKX6-1遺伝子と2型糖尿病の関連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・冠動脈疾患の遺伝率に1.69倍濃縮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Liu X, et al. Sci Adv. 2024 / Koller D, et al. BMC Biol. 2022 / Jacobs GS, et al. Cell. 2019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44のアーカイックセグメントと疾患リスク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651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遺伝子/領域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由来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関連形質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集団特異性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85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NKX6-1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デニソワ人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2型糖尿病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東アジア人特異的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85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MHC領域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デニソワ人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アルブミン/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グロブリン比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東アジア人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85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複数遺伝子座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デニソワ人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冠動脈疾患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(1.69倍濃縮)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東アジア人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複数遺伝子座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ネアンデルタール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精神・認知形質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36E7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東アジア人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365760" y="3840480"/>
            <a:ext cx="109728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これらのセグメントの多くは東アジア人に特異的で、ヨーロッパ人には見られない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Liu X, et al. Sci Adv. 2024 / Koller D, et al. BMC Biol. 2022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Y染色体ハプログループから見る日本人男性の系譜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240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ハプログループ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頻度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推定起源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拡大時期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D（D-M174）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約34.7%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アフリカ→南アジア→東アジア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約2万年前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980B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O（O-M175）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980B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約51.8%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東南アジア→東アジア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約4,000年前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636E7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C（C-M130）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636E7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約8.5%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中央〜北東アジア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約1.2万年前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365760" y="3566160"/>
            <a:ext cx="109728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ハプログループD — U字型分布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3844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アイヌ（約88%）・琉球で高頻度、近畿で低頻度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4632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ハプログループO — 逆U字型分布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九州で最高頻度、アイヌで低頻度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Hammer MF, et al. J Hum Genet. 2006;51(1):47-58.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ハプログループD — 6万年の旅路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3716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D-M174の分布の謎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チベット・日本・アンダマン諸島に高頻度で見られるが、その間の広大な地域ではほとんど検出されない「飛び石分布」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91440" cy="548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約6万年前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26080" y="2743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アフリカから出発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南ルートでユーラシアを東進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91440" cy="548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漢文化の拡大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26080" y="3474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新石器時代の人口爆発により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中間地域からD系統が駆逐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91440" cy="548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現在の分布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26080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チベット高原と日本列島に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「避難所」として残存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Shi H, et al. BMC Biol. 2008;6:45 / Mondal M, et al. Hum Genet. 2017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「日本人」の遺伝的多様性 — 均一ではない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743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アイヌ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縄文系D: 約88%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＋北方（ニヴフ・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コリャーク）の成分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109728" cy="27432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本土日本人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渡来系O: 約52%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縄文系D: 約35%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近畿で渡来系最多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109728" cy="2743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35508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縄文系の比率: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約28.5%（最高）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アイヌと遺伝的に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比較的近い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45920" y="4023360"/>
            <a:ext cx="5852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遺伝的に比較的近い（共に縄文成分が多い）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Tajima A, et al. J Hum Genet. 2004 / Hammer MF, et al. J Hum Genet. 2006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農耕がゲノムを変えた — 自然選択の痕跡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2860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ALDH2 — お酒に弱い体質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・東アジア人に特徴的な変異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・アルコール代謝関連遺伝子に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正の自然選択の痕跡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・農耕開始（約12,500年前）と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関連する可能性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22860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脂肪酸代謝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・脂肪酸代謝関連遺伝子にも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正の選択圧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・農耕による食生活の変化が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日本人のゲノムを形作った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・縄文→弥生の食文化転換が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選択圧として作用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D4ED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09728" cy="9144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縄文時代の人口減少期と江戸時代の人口減少期 — ゲノムに刻まれた2つの</a:t>
            </a:r>
          </a:p>
          <a:p>
            <a:pPr marL="0" indent="0" algn="ctr">
              <a:buNone/>
            </a:pPr>
            <a:r>
              <a:rPr lang="ja-JP" alt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　　　　　　　　　　　　　　　　　　　　　　　　</a:t>
            </a:r>
            <a:r>
              <a:rPr lang="en-US" sz="1700" b="1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ボトルネック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Kawai Y, et al. PLoS Genet. 2023;19(12):e1010625.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祖先の遺伝子と未来の医療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9728" cy="10972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薬理ゲノミクス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1143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祖先背景による薬の効き方の違い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日本人に最適化した用量設定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09728" cy="10972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疾患リスク予測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デニソワ人由来遺伝子と2型糖尿病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集団特異的なリスクモデル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109728" cy="10972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精密医療の実現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3611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JEWELなどの日本人ゲノムDB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個人最適化医療の基盤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109728" cy="4572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455212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祖先を知ることは、過去を知るだけでなく、未来の医療を変える力を持つ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私たちはどこから来たのか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09728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二重構造から三重構造へ — 縄文人・弥生人・古墳人の3つのルーツ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09728" cy="6400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縄文人は2万年前に分岐、約1,000人で1万年以上独自に進化した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109728" cy="640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ネアンデルタール人・デニソワ人のDNAも私たちのゲノムに残る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109728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日本人は遺伝的に均一ではなく、都道府県レベルの地域差がある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109728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160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多様な起源を持つ混血集団 — その多様性こそが私たちの強さ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457200"/>
          </a:xfrm>
          <a:prstGeom prst="rect">
            <a:avLst/>
          </a:prstGeom>
          <a:solidFill>
            <a:srgbClr val="1B3A5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私たちのDNAには、6万年の壮大な旅路が今も刻まれている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参考文献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Cooke NP, et al. Sci Adv. 2021;7(38):eabh2419.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Liu X, et al. Sci Adv. 2024;10(16):eadi8419.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Hudson MJ, et al. Evol Hum Sci. 2020;2:e6.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Omoto K, Saitou N. Am J Phys Anthropol. 1997;102(4):437-46.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Nakagome S, et al. Mol Biol Evol. 2015;32(6):1533-43.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Gelabert P, et al. Curr Biol. 2022;32(15):3232-3244.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Koller D, et al. BMC Biol. 2022;20(1):249.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Jacobs GS, et al. Cell. 2019;177(4):1010-1021.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Hammer MF, et al. J Hum Genet. 2006;51(1):47-58.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Shi H, et al. BMC Biol. 2008;6:45.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Tajima A, et al. J Hum Genet. 2004;49(4):187-193.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Kawai Y, et al. PLoS Genet. 2023;19(12):e1010625.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256032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チャンネル登録・高評価お願いします！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1132</Words>
  <Application>Microsoft Office PowerPoint</Application>
  <PresentationFormat>画面に合わせる (16:9)</PresentationFormat>
  <Paragraphs>321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日本人はどこから来たのか？最新ゲノム解析が明かす三重構造モデル</dc:title>
  <dc:subject>PptxGenJS Presentation</dc:subject>
  <dc:creator>今村久司</dc:creator>
  <cp:lastModifiedBy>久司 今村</cp:lastModifiedBy>
  <cp:revision>1</cp:revision>
  <dcterms:created xsi:type="dcterms:W3CDTF">2026-03-29T01:45:11Z</dcterms:created>
  <dcterms:modified xsi:type="dcterms:W3CDTF">2026-03-29T13:17:04Z</dcterms:modified>
</cp:coreProperties>
</file>