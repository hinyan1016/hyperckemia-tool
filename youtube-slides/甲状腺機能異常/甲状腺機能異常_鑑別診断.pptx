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97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modSld">
      <pc:chgData name="久司 今村" userId="1c5d66dd010fbc96" providerId="LiveId" clId="{17FB10CB-4D7A-4D51-827D-8C222DDB014F}" dt="2026-03-25T00:26:07.212" v="16" actId="14100"/>
      <pc:docMkLst>
        <pc:docMk/>
      </pc:docMkLst>
      <pc:sldChg chg="modSp mod">
        <pc:chgData name="久司 今村" userId="1c5d66dd010fbc96" providerId="LiveId" clId="{17FB10CB-4D7A-4D51-827D-8C222DDB014F}" dt="2026-03-25T00:26:07.212" v="16" actId="14100"/>
        <pc:sldMkLst>
          <pc:docMk/>
          <pc:sldMk cId="0" sldId="267"/>
        </pc:sldMkLst>
        <pc:spChg chg="mod">
          <ac:chgData name="久司 今村" userId="1c5d66dd010fbc96" providerId="LiveId" clId="{17FB10CB-4D7A-4D51-827D-8C222DDB014F}" dt="2026-03-25T00:25:05.168" v="6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久司 今村" userId="1c5d66dd010fbc96" providerId="LiveId" clId="{17FB10CB-4D7A-4D51-827D-8C222DDB014F}" dt="2026-03-25T00:26:07.212" v="16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久司 今村" userId="1c5d66dd010fbc96" providerId="LiveId" clId="{17FB10CB-4D7A-4D51-827D-8C222DDB014F}" dt="2026-03-25T00:26:00.589" v="15" actId="1035"/>
          <ac:spMkLst>
            <pc:docMk/>
            <pc:sldMk cId="0" sldId="267"/>
            <ac:spMk id="13" creationId="{00000000-0000-0000-0000-000000000000}"/>
          </ac:spMkLst>
        </pc:spChg>
      </pc:sldChg>
      <pc:sldChg chg="modSp mod">
        <pc:chgData name="久司 今村" userId="1c5d66dd010fbc96" providerId="LiveId" clId="{17FB10CB-4D7A-4D51-827D-8C222DDB014F}" dt="2026-03-25T00:24:42.797" v="2" actId="20577"/>
        <pc:sldMkLst>
          <pc:docMk/>
          <pc:sldMk cId="0" sldId="268"/>
        </pc:sldMkLst>
        <pc:spChg chg="mod">
          <ac:chgData name="久司 今村" userId="1c5d66dd010fbc96" providerId="LiveId" clId="{17FB10CB-4D7A-4D51-827D-8C222DDB014F}" dt="2026-03-25T00:24:42.797" v="2" actId="20577"/>
          <ac:spMkLst>
            <pc:docMk/>
            <pc:sldMk cId="0" sldId="268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7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7つのステップで系統的に考える 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0F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本日の内容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17220" y="1554480"/>
            <a:ext cx="411480" cy="41148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172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TSHの解釈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805940" y="1554480"/>
            <a:ext cx="411480" cy="41148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8059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TSH×FT4/FT3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パターン分類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2994660" y="1554480"/>
            <a:ext cx="411480" cy="41148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9946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破壊性 vs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産生過剰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183380" y="1554480"/>
            <a:ext cx="411480" cy="41148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833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8620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中毒症の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主要疾患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372100" y="1554480"/>
            <a:ext cx="411480" cy="41148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3721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機能低下症の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560820" y="1554480"/>
            <a:ext cx="411480" cy="411480"/>
          </a:xfrm>
          <a:prstGeom prst="ellipse">
            <a:avLst/>
          </a:prstGeom>
          <a:solidFill>
            <a:srgbClr val="6F42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5608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潜在性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甲状腺異常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228600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06640" y="13716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749540" y="1554480"/>
            <a:ext cx="411480" cy="41148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77495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52360" y="214884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1：TSHの解釈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TSH測定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 低値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甲状腺中毒症を疑う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 高値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甲状腺機能低下症を疑う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例外に注意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・中枢性甲状腺機能低下症：TSH低値〜正常 + FT4低値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・TSH産生腫瘍：TSH高値 + FT4/FT3高値（不適切TSH分泌）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2：TSH × FT4/FT3 パターン分類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3101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パターン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TSH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FT4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FT3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考える疾患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顕性中毒症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バセドウ病, 中毒性結節性甲状腺腫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T3中毒症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バセドウ病初期, 自律性結節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潜在性中毒症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軽症バセドウ病, 自律性結節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顕性低下症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↓〜正常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橋本病, ヨード過剰, 薬剤性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潜在性低下症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橋本病（初期〜軽症）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中枢性低下症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低〜正常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下垂体腫瘍, シーハン症候群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不適切TSH分泌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正常〜↑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TSH産生腫瘍, 甲状腺ホルモン不応症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甲状腺中毒症の分類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甲状腺中毒症（Thyrotoxicosis）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023360" cy="1828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産生過剰型（甲状腺機能亢進症）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・バセドウ病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54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・中毒性多結節性甲状腺腫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64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・中毒性腺腫（Plummer病）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・TSH産生腫瘍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023360" cy="1828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破壊性甲状腺炎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743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・亜急性甲状腺炎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54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・無痛性甲状腺炎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364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・産後甲状腺炎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・薬剤性（アミオダロン AIT2）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4023360" cy="320040"/>
          </a:xfrm>
          <a:prstGeom prst="roundRect">
            <a:avLst>
              <a:gd name="adj" fmla="val 28571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36576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抗甲状腺薬が有効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4206240"/>
            <a:ext cx="4023360" cy="320040"/>
          </a:xfrm>
          <a:prstGeom prst="roundRect">
            <a:avLst>
              <a:gd name="adj" fmla="val 28571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抗甲状腺薬は無効（対症療法）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3：破壊性 vs 産生過剰の鑑別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154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検査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産生過剰型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破壊性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TRAb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陽性（バセドウ病）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陰性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RI摂取率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（シンチ）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上昇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（びまん性 or 結節性）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著明に低下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エコー血流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増加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（thyroid inferno）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正常〜低下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サイログロブリン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軽度上昇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著明に上昇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経過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持続性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一過性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（自然軽快）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4251960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実臨床ではTRAb＋エコー血流で多くの場合鑑別可能。迷う場合はシンチが決め手。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バセドウ病のポイント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・TRAbがTSH受容体を持続刺激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・びまん性甲状腺腫大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・眼球突出（Graves眼症）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・前脛骨粘液水腫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・甲状腺中毒症の存在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・TRAb陽性 or TSAb陽性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・シンチでびまん性取り込み増加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（上記いずれかで確定）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 3つのオプション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9992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抗甲状腺薬（MMI第一選択, PTUは妊娠初期・MMI不耐時）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255264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2552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255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放射性ヨード治療（131I）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51129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77240" y="35112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112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手術（甲状腺全摘/亜全摘）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31520" y="39136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無顆粒球症に注意（0.1〜0.5%）— 発熱・咽頭痛→直ちに白血球分画を確認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投与開始3ヶ月以内に多い。患者への事前説明が必須。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亜急性甲状腺炎のポイント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臨床的特徴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・ウイルス感染後に発症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・有痛性甲状腺腫大（圧痛著明）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・CRP・赤沈の著明な上昇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・エコーで低エコー領域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・シンチで取り込み低下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臨床経過（3フェーズ）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00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中毒期：疼痛＋甲状腺ホルモン↑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984248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1984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1984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低下期：一過性機能低下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36829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23682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回復期：正常に回復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6F7EC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・NSAIDs（軽症〜中等症）  ・プレドニゾロン 15〜30mg（痛みが強い場合、漸減）  ・抗甲状腺薬は不要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亜急性 vs 無痛性の鑑別：圧痛の有無＋CRP上昇の有無が決め手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無痛性甲状腺炎・産後甲状腺炎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無痛性甲状腺炎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・痛みを伴わない破壊性甲状腺炎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・橋本病ベースの患者に多い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・中毒期→低下期→回復期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・CRP・赤沈は正常〜軽度上昇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・TRAb陰性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・多くは自然軽快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産後甲状腺炎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・産後1年以内に発症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・無痛性甲状腺炎の亜型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・頻度：産後女性の5〜10%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・産後うつとの鑑別が重要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・一部は永続的低下症へ移行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・抗TPO抗体陽性者にリスク高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フォローアップの重要性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・無痛性甲状腺炎は再発することがある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・産後甲状腺炎の約20〜30%が永続的甲状腺機能低下症に移行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・次回妊娠時にも再発リスクあり → 妊娠初期にTSH測定を推奨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薬剤性甲状腺中毒症（アミオダロン）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651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AIT Type 1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AIT Type 2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機序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ヨード過剰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（潜在的甲状腺疾患あり）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甲状腺への直接毒性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（破壊性甲状腺炎）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基礎疾患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バセドウ病, 多結節性甲状腺腫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正常甲状腺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エコー血流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増加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正常〜低下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IL-6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正常〜軽度上昇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著明上昇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治療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抗甲状腺薬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ステロイド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38100" marB="38100" anchor="ctr">
                    <a:lnL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A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その他の薬剤性甲状腺機能異常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・免疫チェックポイント阻害薬（ICI）→ 甲状腺炎（破壊性）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・リチウム → 甲状腺機能低下症（ヨード取り込み阻害）   ・インターフェロン → 甲状腺炎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5：甲状腺機能低下症の鑑別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1430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TSH高値 + FT4低値 → 甲状腺機能低下症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862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5800" y="204825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11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橋本病（慢性甲状腺炎）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011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E6F7EC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85800" y="255117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5511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14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ヨード過剰摂取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514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昆布・ヨード造影剤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85800" y="305409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054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017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薬剤性（リチウム、アミオダロン等）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85800" y="355701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85800" y="3557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RI治療後・手術後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DE8E8"/>
          </a:solidFill>
          <a:ln w="19050">
            <a:solidFill>
              <a:srgbClr val="8B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85800" y="4059936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85800" y="40599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中枢性（下垂体・視床下部障害）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4023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TSH低〜正常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8046720" cy="109728"/>
          </a:xfrm>
          <a:prstGeom prst="roundRect">
            <a:avLst>
              <a:gd name="adj" fmla="val 83333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橋本病（慢性甲状腺炎）のポイント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・抗TPO抗体陽性（90%以上）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・抗サイログロブリン抗体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・エコーで不均一な低エコー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</a:t>
            </a:r>
            <a:r>
              <a:rPr lang="en-US" sz="1200" dirty="0" err="1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全員が低下症ではない（euthyroidが初期は多い</a:t>
            </a: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LT4補充の適応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【顕性低下症】全例で適応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【潜在性低下症】以下で考慮：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・TSH ≥ 10  ・症状あり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・妊娠希望  ・脂質異常症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8046720" cy="1234440"/>
          </a:xfrm>
          <a:prstGeom prst="roundRect">
            <a:avLst>
              <a:gd name="adj" fmla="val 8333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54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LT4投与の実際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・目安量：1.6 μg/kg（成人で50〜150 μg/日）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・高齢者・冠動脈疾患：少量（12.5〜25 μg）から緩やかに増量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・TSH測定は6〜8週後 → 目標TSH 0.5〜4.0 mIU/L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・空腹時内服推奨。鉄剤・Ca剤とは4時間以上あける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橋本病 ≠ 必ず治療が必要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96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euthyroidの橋本病は経過観察（年1回TSH測定）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中枢性甲状腺機能低下症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42C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診断のポイント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3898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・FT4低値なのにTSHが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適切に上昇していない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・TSHは低値〜正常〜軽度高値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と多彩（bioactivity低下）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</a:t>
            </a:r>
            <a:r>
              <a:rPr lang="en-US" sz="1200" dirty="0" err="1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TSH単独スクリーニングで見逃される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疑うべき臨床状況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・下垂体腫瘍（最多）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・下垂体手術後・放射線後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・シーハン症候群（産後出血）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・下垂体炎（ICI関連含む）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・頭部外傷後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副腎不全合併に注意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・中枢性低下症では他の下垂体ホルモン欠損の合併が多い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・副腎不全合併時：甲状腺ホルモン補充の前にコルチゾール補充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順序を誤ると副腎クリーゼを誘発する危険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・精査：下垂体MRI＋下垂体前葉ホルモン一式測定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6：潜在性甲状腺機能異常の対応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749040" cy="1828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潜在性甲状腺機能低下症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TSH↑ + FT4正常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4〜12週後に再検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（一過性でないことを確認）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TSH ≥ 10 → LT4補充を考慮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TSH 4.5〜10 で治療検討：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・抗TPO抗体陽性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・症状あり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・妊娠希望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・脂質異常症合併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7490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74904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749040" cy="1828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潜在性甲状腺中毒症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TSH↓ + FT4/FT3正常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TSH &lt; 0.1 が持続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心房細動・骨粗鬆症リスク↑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原因検索＋治療を積極検討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TSH 0.1〜0.4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基本は経過観察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以下で治療考慮：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 ・65歳以上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 ・心疾患合併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 ・閉経後女性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Flags：甲状腺クリーゼ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甲状腺中毒症の急激な増悪 → 多臓器不全 → 死亡率 10〜30%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3840480" cy="19202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所見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スコア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体温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38℃以上（段階的に加点）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5〜30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中枢神経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不穏/せん妄/昏睡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10〜30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消化器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嘔吐/下痢/黄疸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10〜20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心血管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頻脈/心房細動/心不全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5〜25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トリガー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あり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0800" marR="50800" marT="25400" marB="25400" anchor="ctr">
                    <a:lnL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≥45点：甲状腺クリーゼ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50292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緊急治療（ICU管理）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0" y="228600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029200" y="2286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3212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PTU大量投与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（T4→T3変換阻害もあり）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0" y="269748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13"/>
          <p:cNvSpPr/>
          <p:nvPr/>
        </p:nvSpPr>
        <p:spPr>
          <a:xfrm>
            <a:off x="5029200" y="2697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32120" y="2697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無機ヨード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（PTU投与1時間後に開始）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310896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5029200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32120" y="3108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β遮断薬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（プロプラノロール）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0" y="352044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5029200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3212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（ヒドロコルチゾン）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0" y="3931920"/>
            <a:ext cx="411480" cy="36576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502920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32120" y="3931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冷却（解熱）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Flags：粘液水腫性昏睡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甲状腺機能低下症の究極の重症型 — 高齢女性に多い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意識障害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低体温（&lt;35℃）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徐脈・低血圧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低換気・CO2ナルコーシス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低Na血症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低血糖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・LT4静注（経口吸収が不確実）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初日200〜500μg→50〜100μg/日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・ヒドロコルチゾン併用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（副腎不全合併を想定）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・支持療法：保温（急速復温避ける）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低Na→水分制限、呼吸管理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トリガー：感染症、寒冷曝露、鎮静薬、手術、甲状腺薬の中断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鑑別フローまとめ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TSH測定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DC3545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甲状腺中毒症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FT4/FT3で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顕性 vs 潜在性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DE8E8"/>
          </a:solidFill>
          <a:ln w="19050">
            <a:solidFill>
              <a:srgbClr val="DC35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1A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TRAb / エコー血流 / シンチ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産生過剰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バセドウ病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自律性結節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342900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42316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破壊性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亜急性甲状腺炎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無痛性甲状腺炎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2C5AA0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FT4で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顕性 vs 潜在性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抗TPO抗体 / 薬剤歴 / ヨード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42900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E8F0FA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橋本病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（最多）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342900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F0E6FF"/>
          </a:solidFill>
          <a:ln w="19050">
            <a:solidFill>
              <a:srgbClr val="6F42C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995160" y="34290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ヨード過剰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9050">
            <a:solidFill>
              <a:srgbClr val="E8850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例外：TSH正常〜低値+FT4↓→中枢性 / TSH↑+FT4↑→不適切TSH分泌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甲状腺機能異常の鑑別診断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1380744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380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TSHは最も感度の高い検査だが、必ずFT4/FT3とセットで解釈する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31520" y="2039112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9385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甲状腺中毒症では「破壊性 vs 産生過剰」が治療方針を決める（TRAb・エコー・シンチ）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9689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9689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甲状腺機能低下症の最多原因は橋本病 — 抗TPO抗体が診断の鍵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31520" y="3355848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5526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中枢性低下症はTSH単独では見逃される — FT4低値+TSH非上昇で疑う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731520" y="4014216"/>
            <a:ext cx="365760" cy="36576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甲状腺クリーゼ・粘液水腫性昏睡は致死的緊急疾患 — 疑ったら直ちに治療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046720" cy="91440"/>
          </a:xfrm>
          <a:prstGeom prst="roundRect">
            <a:avLst>
              <a:gd name="adj" fmla="val 100000"/>
            </a:avLst>
          </a:prstGeom>
          <a:solidFill>
            <a:srgbClr val="1B3A5C"/>
          </a:solidFill>
          <a:ln w="19050">
            <a:solidFill>
              <a:srgbClr val="1B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1142</Words>
  <Application>Microsoft Office PowerPoint</Application>
  <PresentationFormat>画面に合わせる (16:9)</PresentationFormat>
  <Paragraphs>400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甲状腺機能異常の鑑別診断</dc:title>
  <dc:subject>PptxGenJS Presentation</dc:subject>
  <dc:creator>医知創造ラボ</dc:creator>
  <cp:lastModifiedBy>久司 今村</cp:lastModifiedBy>
  <cp:revision>1</cp:revision>
  <dcterms:created xsi:type="dcterms:W3CDTF">2026-03-25T00:21:46Z</dcterms:created>
  <dcterms:modified xsi:type="dcterms:W3CDTF">2026-03-25T00:26:08Z</dcterms:modified>
</cp:coreProperties>
</file>