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5" name="Shape 3"/>
          <p:cNvSpPr/>
          <p:nvPr/>
        </p:nvSpPr>
        <p:spPr>
          <a:xfrm>
            <a:off x="1371600" y="2606040"/>
            <a:ext cx="6400800" cy="36576"/>
          </a:xfrm>
          <a:prstGeom prst="rect">
            <a:avLst/>
          </a:prstGeom>
          <a:solidFill>
            <a:srgbClr val="E8850C"/>
          </a:solidFill>
          <a:ln w="127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脳梗塞のrt-PA静注療法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適応と禁忌を「時・血・画・出・偽」で覚える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1188720" cy="1005840"/>
          </a:xfrm>
          <a:prstGeom prst="rect">
            <a:avLst/>
          </a:prstGeom>
          <a:solidFill>
            <a:srgbClr val="2C5AA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7432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2377440" y="2743200"/>
            <a:ext cx="1188720" cy="1005840"/>
          </a:xfrm>
          <a:prstGeom prst="rect">
            <a:avLst/>
          </a:prstGeom>
          <a:solidFill>
            <a:srgbClr val="DC354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377440" y="27432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3840480" y="2743200"/>
            <a:ext cx="1188720" cy="1005840"/>
          </a:xfrm>
          <a:prstGeom prst="rect">
            <a:avLst/>
          </a:prstGeom>
          <a:solidFill>
            <a:srgbClr val="28A745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27432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5303520" y="2743200"/>
            <a:ext cx="1188720" cy="1005840"/>
          </a:xfrm>
          <a:prstGeom prst="rect">
            <a:avLst/>
          </a:prstGeom>
          <a:solidFill>
            <a:srgbClr val="E8850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03520" y="27432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6766560" y="2743200"/>
            <a:ext cx="1188720" cy="1005840"/>
          </a:xfrm>
          <a:prstGeom prst="rect">
            <a:avLst/>
          </a:prstGeom>
          <a:solidFill>
            <a:srgbClr val="7B2D8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27432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偽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ABB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今村久司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この動画で学べること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005840" y="1005840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005840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rt-PA（アルテプラーゼ）の適応の「本質」を1文で理解できる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828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" y="1755648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1755648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「時・血・画・出・偽」5つのキーワードで禁忌を体系的に覚えられる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1480" y="2578608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25786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1005840" y="2505456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43000" y="2505456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DWI/FLAIRミスマッチなど2025年最新の適応拡大ポイントを押さえられる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11480" y="3328416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33284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5840" y="3255264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43000" y="3255264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当直で使える30秒チェックフローを身につけられる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11480" y="4078224"/>
            <a:ext cx="475488" cy="475488"/>
          </a:xfrm>
          <a:prstGeom prst="ellipse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40782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1005840" y="4005072"/>
            <a:ext cx="7772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43000" y="4005072"/>
            <a:ext cx="7498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血栓回収療法との使い分け方針を理解できる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なぜ「丸暗記」ではうまくいかないのか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F8D7DA"/>
          </a:solidFill>
          <a:ln w="2540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24128"/>
            <a:ext cx="822960" cy="365760"/>
          </a:xfrm>
          <a:prstGeom prst="rect">
            <a:avLst/>
          </a:prstGeom>
          <a:solidFill>
            <a:srgbClr val="DC35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問題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適応と禁忌を「同じ重み」で並列暗記しようとすると…項目が多すぎて破綻する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 rot="5400000">
            <a:off x="4206240" y="2212848"/>
            <a:ext cx="731520" cy="502920"/>
          </a:xfrm>
          <a:prstGeom prst="chevron">
            <a:avLst/>
          </a:prstGeom>
          <a:solidFill>
            <a:srgbClr val="E8850C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2834640"/>
            <a:ext cx="8412480" cy="1005840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907792"/>
            <a:ext cx="822960" cy="347472"/>
          </a:xfrm>
          <a:prstGeom prst="rect">
            <a:avLst/>
          </a:prstGeom>
          <a:solidFill>
            <a:srgbClr val="28A74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解決策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3040" y="2834640"/>
            <a:ext cx="7132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「臨床判断の順番」で覚える ― 禁忌を順にくぐり抜けた症例が適応になる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371600" y="3977640"/>
            <a:ext cx="6400800" cy="777240"/>
          </a:xfrm>
          <a:prstGeom prst="rect">
            <a:avLst/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39776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「適応は、禁忌をくぐり抜けた結果」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ABB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1文で覚える適応の本質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solidFill>
            <a:srgbClr val="2C5AA0"/>
          </a:solidFill>
          <a:ln w="3810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7680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4.5時間以内</a:t>
            </a:r>
            <a:pPr algn="ctr" indent="0" marL="0">
              <a:spcAft>
                <a:spcPts val="8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で、</a:t>
            </a:r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D4EDDA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まだ助かる脳があり</a:t>
            </a:r>
            <a:pPr algn="ctr" indent="0" marL="0">
              <a:spcAft>
                <a:spcPts val="8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、
</a:t>
            </a:r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8A5B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出血させすぎない</a:t>
            </a:r>
            <a:pPr algn="ctr" indent="0" marL="0">
              <a:spcAft>
                <a:spcPts val="80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症例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2468880" cy="1005840"/>
          </a:xfrm>
          <a:prstGeom prst="rect">
            <a:avLst/>
          </a:prstGeom>
          <a:solidFill>
            <a:srgbClr val="223A5E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4.5時間以内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3749040"/>
            <a:ext cx="2468880" cy="1005840"/>
          </a:xfrm>
          <a:prstGeom prst="rect">
            <a:avLst/>
          </a:prstGeom>
          <a:solidFill>
            <a:srgbClr val="223A5E"/>
          </a:solidFill>
          <a:ln w="25400">
            <a:solidFill>
              <a:srgbClr val="28A7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9184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助かる脳が残っている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35040" y="3749040"/>
            <a:ext cx="2468880" cy="1005840"/>
          </a:xfrm>
          <a:prstGeom prst="rect">
            <a:avLst/>
          </a:prstGeom>
          <a:solidFill>
            <a:srgbClr val="223A5E"/>
          </a:solidFill>
          <a:ln w="2540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37490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035040" y="41148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止血能が保たれている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判断フレーム「時・血・画・出・偽」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1508760" cy="3566160"/>
          </a:xfrm>
          <a:prstGeom prst="rect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24231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時間内か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20040" y="3200400"/>
            <a:ext cx="1508760" cy="11887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3218688"/>
            <a:ext cx="14173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4.5時間以内（LKW基準）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039112" y="960120"/>
            <a:ext cx="1508760" cy="3566160"/>
          </a:xfrm>
          <a:prstGeom prst="rect">
            <a:avLst/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39112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2176272" y="2331720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039112" y="24231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数値異常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039112" y="3200400"/>
            <a:ext cx="1508760" cy="11887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2084832" y="3218688"/>
            <a:ext cx="14173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BP / 血糖 / 血小板 / INR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58184" y="960120"/>
            <a:ext cx="1508760" cy="3566160"/>
          </a:xfrm>
          <a:prstGeom prst="rect">
            <a:avLst/>
          </a:prstGeom>
          <a:solidFill>
            <a:srgbClr val="28A7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58184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</a:t>
            </a:r>
            <a:endParaRPr lang="en-US" sz="5600" dirty="0"/>
          </a:p>
        </p:txBody>
      </p:sp>
      <p:sp>
        <p:nvSpPr>
          <p:cNvPr id="19" name="Shape 17"/>
          <p:cNvSpPr/>
          <p:nvPr/>
        </p:nvSpPr>
        <p:spPr>
          <a:xfrm>
            <a:off x="3895344" y="2331720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758184" y="24231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画像禁忌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758184" y="3200400"/>
            <a:ext cx="1508760" cy="11887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803904" y="3218688"/>
            <a:ext cx="14173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出血・広範梗塞・圧排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77256" y="960120"/>
            <a:ext cx="1508760" cy="3566160"/>
          </a:xfrm>
          <a:prstGeom prst="rect">
            <a:avLst/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77256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</a:t>
            </a:r>
            <a:endParaRPr lang="en-US" sz="5600" dirty="0"/>
          </a:p>
        </p:txBody>
      </p:sp>
      <p:sp>
        <p:nvSpPr>
          <p:cNvPr id="25" name="Shape 23"/>
          <p:cNvSpPr/>
          <p:nvPr/>
        </p:nvSpPr>
        <p:spPr>
          <a:xfrm>
            <a:off x="5614416" y="2331720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77256" y="24231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出血歴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477256" y="3200400"/>
            <a:ext cx="1508760" cy="11887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5522976" y="3218688"/>
            <a:ext cx="14173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3か月 / 21日 / 14日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196328" y="960120"/>
            <a:ext cx="1508760" cy="3566160"/>
          </a:xfrm>
          <a:prstGeom prst="rect">
            <a:avLst/>
          </a:prstGeom>
          <a:solidFill>
            <a:srgbClr val="7B2D8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96328" y="10058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偽</a:t>
            </a:r>
            <a:endParaRPr lang="en-US" sz="5600" dirty="0"/>
          </a:p>
        </p:txBody>
      </p:sp>
      <p:sp>
        <p:nvSpPr>
          <p:cNvPr id="31" name="Shape 29"/>
          <p:cNvSpPr/>
          <p:nvPr/>
        </p:nvSpPr>
        <p:spPr>
          <a:xfrm>
            <a:off x="7333488" y="2331720"/>
            <a:ext cx="123444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7196328" y="24231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Mimic除外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196328" y="3200400"/>
            <a:ext cx="1508760" cy="11887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7242048" y="3218688"/>
            <a:ext cx="141732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痙攣・低血糖・SAH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この順番で禁忌を確認し、すべてクリアした症例が適応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「時」― 時間の判断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371600" cy="1371600"/>
          </a:xfrm>
          <a:prstGeom prst="rect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</a:t>
            </a:r>
            <a:endParaRPr lang="en-US" sz="6400" dirty="0"/>
          </a:p>
        </p:txBody>
      </p:sp>
      <p:sp>
        <p:nvSpPr>
          <p:cNvPr id="7" name="Shape 5"/>
          <p:cNvSpPr/>
          <p:nvPr/>
        </p:nvSpPr>
        <p:spPr>
          <a:xfrm>
            <a:off x="1828800" y="960120"/>
            <a:ext cx="6949440" cy="1371600"/>
          </a:xfrm>
          <a:prstGeom prst="rect">
            <a:avLst/>
          </a:prstGeom>
          <a:solidFill>
            <a:srgbClr val="E8F4FD"/>
          </a:solidFill>
          <a:ln w="25400">
            <a:solidFill>
              <a:srgbClr val="2C5A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0058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発症（Last Known Well）から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011680" y="1417320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4.5時間以内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274320" y="2514600"/>
            <a:ext cx="8595360" cy="1188720"/>
          </a:xfrm>
          <a:prstGeom prst="rect">
            <a:avLst/>
          </a:prstGeom>
          <a:solidFill>
            <a:srgbClr val="FFF3CD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560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例外：発症時刻不明 / 起床時発症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DWI陽性 ＋ FLAIR陰性（ミスマッチ）→ 4.5時間以内の可能性あり → 投与を検討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1371600" y="3840480"/>
            <a:ext cx="6400800" cy="868680"/>
          </a:xfrm>
          <a:prstGeom prst="rect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371600" y="3840480"/>
            <a:ext cx="6400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覚え方：「時計は1本、例外はMRI」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 / FLAIRミスマッチとは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93192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DWI（拡散強調）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3383280" cy="9144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高信号（＋）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2468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発症後すぐ異常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3931920" cy="2011680"/>
          </a:xfrm>
          <a:prstGeom prst="rect">
            <a:avLst/>
          </a:prstGeom>
          <a:solidFill>
            <a:srgbClr val="FFFFFF"/>
          </a:solidFill>
          <a:ln w="31750">
            <a:solidFill>
              <a:srgbClr val="28A7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FLAIR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0" y="1508760"/>
            <a:ext cx="3383280" cy="9144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50876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低信号 / 正常（－）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2468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発症4.5h以内の特徴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160520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4023360" y="29260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↓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65760" y="3429000"/>
            <a:ext cx="8412480" cy="1143000"/>
          </a:xfrm>
          <a:prstGeom prst="rect">
            <a:avLst/>
          </a:prstGeom>
          <a:solidFill>
            <a:srgbClr val="D4EDDA"/>
          </a:solidFill>
          <a:ln w="25400">
            <a:solidFill>
              <a:srgbClr val="28A7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まだ発症4.5時間以内の可能性が高い → rt-PA投与を検討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根拠：WAKE-UP trial（NEJM 2018）― DWI/FLAIRミスマッチ例への投与で転帰改善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「血」― 数字で覚える禁忌閾値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68680" cy="3840480"/>
          </a:xfrm>
          <a:prstGeom prst="rect">
            <a:avLst/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8686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280160" y="1005840"/>
            <a:ext cx="7543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100584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651760" y="100584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185/110 mmHg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166360" y="100584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以上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55080" y="10058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投与前にコントロール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80160" y="1783080"/>
            <a:ext cx="7543800" cy="713232"/>
          </a:xfrm>
          <a:prstGeom prst="rect">
            <a:avLst/>
          </a:prstGeom>
          <a:solidFill>
            <a:srgbClr val="E8F4FD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178308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51760" y="178308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＜50 / ＞400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166360" y="178308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mg/dL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178308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代謝異常・mimicのリスク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0160" y="2560320"/>
            <a:ext cx="7543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371600" y="256032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血小板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2651760" y="256032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10万 /μL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166360" y="256032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未満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355080" y="256032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止血能不十分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280160" y="3337560"/>
            <a:ext cx="7543800" cy="713232"/>
          </a:xfrm>
          <a:prstGeom prst="rect">
            <a:avLst/>
          </a:prstGeom>
          <a:solidFill>
            <a:srgbClr val="E8F4FD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371600" y="333756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PT-INR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651760" y="333756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1.7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166360" y="333756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超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5080" y="333756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抗凝固薬使用・肝不全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280160" y="4114800"/>
            <a:ext cx="7543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371600" y="4114800"/>
            <a:ext cx="1280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aPTT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2651760" y="4114800"/>
            <a:ext cx="2560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延長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166360" y="4114800"/>
            <a:ext cx="1188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（基準上限超）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55080" y="411480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ヘパリン使用中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「血」― 数字の意味を理解して覚える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743200" cy="3749040"/>
          </a:xfrm>
          <a:prstGeom prst="rect">
            <a:avLst/>
          </a:prstGeom>
          <a:solidFill>
            <a:srgbClr val="FFFFFF"/>
          </a:solidFill>
          <a:ln w="3175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185 / 110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血圧の閾値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0040" y="22860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高血圧 → 再灌流後の出血リスクが激増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931920"/>
            <a:ext cx="2377440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血が怖い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743200" cy="3749040"/>
          </a:xfrm>
          <a:prstGeom prst="rect">
            <a:avLst/>
          </a:prstGeom>
          <a:solidFill>
            <a:srgbClr val="FFFFFF"/>
          </a:solidFill>
          <a:ln w="31750">
            <a:solidFill>
              <a:srgbClr val="7B2D8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72968" y="960120"/>
            <a:ext cx="2743200" cy="82296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14" name="Text 12"/>
          <p:cNvSpPr/>
          <p:nvPr/>
        </p:nvSpPr>
        <p:spPr>
          <a:xfrm>
            <a:off x="3172968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＜50 / ＞400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264408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血糖の閾値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64408" y="22860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低血糖は神経症候を呈す（Stroke mimic）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高血糖は梗塞後の転帰悪化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55848" y="3931920"/>
            <a:ext cx="2377440" cy="54864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18" name="Text 16"/>
          <p:cNvSpPr/>
          <p:nvPr/>
        </p:nvSpPr>
        <p:spPr>
          <a:xfrm>
            <a:off x="3355848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本当に脳梗塞？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17336" y="960120"/>
            <a:ext cx="2743200" cy="3749040"/>
          </a:xfrm>
          <a:prstGeom prst="rect">
            <a:avLst/>
          </a:prstGeom>
          <a:solidFill>
            <a:srgbClr val="FFFFFF"/>
          </a:solidFill>
          <a:ln w="3175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17336" y="960120"/>
            <a:ext cx="27432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6117336" y="9601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10万 / INR1.7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08776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凝固系の閾値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208776" y="2286000"/>
            <a:ext cx="2560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止血能が不十分 → 出血を止められない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00216" y="3931920"/>
            <a:ext cx="2377440" cy="5486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5" name="Text 23"/>
          <p:cNvSpPr/>
          <p:nvPr/>
        </p:nvSpPr>
        <p:spPr>
          <a:xfrm>
            <a:off x="6300216" y="3931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血が怖い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「画」― 画像禁忌 ＝「血・広い・ずれてる」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0" cy="1097280"/>
          </a:xfrm>
          <a:prstGeom prst="rect">
            <a:avLst/>
          </a:prstGeom>
          <a:solidFill>
            <a:srgbClr val="28A7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1554480" y="960120"/>
            <a:ext cx="22402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554480" y="960120"/>
            <a:ext cx="224028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960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16459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出血がある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45920" y="22402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頭蓋内出血・くも膜下出血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023360" y="960120"/>
            <a:ext cx="22402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023360" y="960120"/>
            <a:ext cx="2240280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960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広い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14800" y="16459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広範な早期虚血性変化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114800" y="22402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ASPECTS低値・1/3以上の梗塞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960120"/>
            <a:ext cx="2240280" cy="2194560"/>
          </a:xfrm>
          <a:prstGeom prst="rect">
            <a:avLst/>
          </a:prstGeom>
          <a:solidFill>
            <a:srgbClr val="FFFFFF"/>
          </a:solidFill>
          <a:ln w="31750">
            <a:solidFill>
              <a:srgbClr val="7B2D8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92240" y="960120"/>
            <a:ext cx="2240280" cy="64008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9601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ずれてる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83680" y="1645920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圧排所見・正中線偏位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583680" y="2240280"/>
            <a:ext cx="2057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脳浮腫による mass effect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74320" y="3337560"/>
            <a:ext cx="8595360" cy="731520"/>
          </a:xfrm>
          <a:prstGeom prst="rect">
            <a:avLst/>
          </a:prstGeom>
          <a:solidFill>
            <a:srgbClr val="F8D7DA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7200" y="333756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注意：くも膜下出血が疑われる場合も禁忌 — 特に突然発症の頭痛 + 神経症状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28A7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すでに壊れすぎた脳への投与 → 出血転化リスクが転帰改善を上回る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「出」― 既往歴は「時期」で覚える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914400" cy="3611880"/>
          </a:xfrm>
          <a:prstGeom prst="rect">
            <a:avLst/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914400" cy="3611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1325880" y="1005840"/>
            <a:ext cx="74980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25880" y="1005840"/>
            <a:ext cx="1737360" cy="100584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1005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3か月以内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154680" y="10058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・脳梗塞既往  ・頭蓋内 / 脊髄手術  ・頭部外傷（重症）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325880" y="2148840"/>
            <a:ext cx="74980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25880" y="2148840"/>
            <a:ext cx="1737360" cy="100584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2148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21日以内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154680" y="21488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・消化管出血  ・尿路出血（肉眼的血尿など）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25880" y="3291840"/>
            <a:ext cx="74980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51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325880" y="3291840"/>
            <a:ext cx="1737360" cy="100584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14日以内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154680" y="32918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・大手術  ・重篤な外傷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325880" y="4206240"/>
            <a:ext cx="7498080" cy="731520"/>
          </a:xfrm>
          <a:prstGeom prst="rect">
            <a:avLst/>
          </a:prstGeom>
          <a:solidFill>
            <a:srgbClr val="F8D7DA"/>
          </a:solidFill>
          <a:ln w="2540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63040" y="42062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時期に関わらず禁忌：頭蓋内出血既往 / AVM / 動脈瘤（破裂リスク）/ 頭蓋内腫瘍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「出」の覚え方 ― タイムラインで整理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1005840"/>
          </a:xfrm>
          <a:prstGeom prst="rect">
            <a:avLst/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96012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「脳は3か月、出血は21日、手術は14日」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8229600" cy="1097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" y="2148840"/>
            <a:ext cx="329184" cy="329184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9" name="Text 7"/>
          <p:cNvSpPr/>
          <p:nvPr/>
        </p:nvSpPr>
        <p:spPr>
          <a:xfrm>
            <a:off x="-182880" y="25603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現在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395728" y="2148840"/>
            <a:ext cx="329184" cy="329184"/>
          </a:xfrm>
          <a:prstGeom prst="ellipse">
            <a:avLst/>
          </a:prstGeom>
          <a:solidFill>
            <a:srgbClr val="F5C518"/>
          </a:solidFill>
          <a:ln/>
        </p:spPr>
      </p:sp>
      <p:sp>
        <p:nvSpPr>
          <p:cNvPr id="11" name="Text 9"/>
          <p:cNvSpPr/>
          <p:nvPr/>
        </p:nvSpPr>
        <p:spPr>
          <a:xfrm>
            <a:off x="1920240" y="25603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14日前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C518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大手術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4681728" y="2148840"/>
            <a:ext cx="329184" cy="329184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25603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21日前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出血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522208" y="2148840"/>
            <a:ext cx="329184" cy="329184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5603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3か月前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脳梗塞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頭蓋内手術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BD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← 過去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160520"/>
            <a:ext cx="7680960" cy="731520"/>
          </a:xfrm>
          <a:prstGeom prst="rect">
            <a:avLst/>
          </a:prstGeom>
          <a:solidFill>
            <a:srgbClr val="223A5E"/>
          </a:solidFill>
          <a:ln w="1905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160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この期間内のイベントがあれば→投与禁忌（脳・出血・手術の順で期間が長い）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「偽」― それ、本当に脳梗塞ですか？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097280" cy="1097280"/>
          </a:xfrm>
          <a:prstGeom prst="rect">
            <a:avLst/>
          </a:prstGeom>
          <a:solidFill>
            <a:srgbClr val="7B2D8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9601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偽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8595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2D8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2240280"/>
            <a:ext cx="1828800" cy="82296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22402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痙攣発作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Todd麻痺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2240280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発作後の一過性麻痺 → 脳梗塞と見分けがつきにくい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92240" y="2331720"/>
            <a:ext cx="2240280" cy="64008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33172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既往・目撃者情報を必ず確認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172968"/>
            <a:ext cx="8595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172968"/>
            <a:ext cx="1828800" cy="82296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3172968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低血糖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血糖＜50 mg/dL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317296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神経症候を呈することがある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補正後に症状消失するかを確認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3264408"/>
            <a:ext cx="2240280" cy="6400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3264408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血糖補正後に再評価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74320" y="4105656"/>
            <a:ext cx="85953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105656"/>
            <a:ext cx="18288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105656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くも膜下出血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SAH疑い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194560" y="4105656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突然発症の頭痛 ＋ 神経症状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病態が全く異なる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492240" y="4197096"/>
            <a:ext cx="2240280" cy="64008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4197096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rt-PAは絶対禁忌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solidFill>
            <a:srgbClr val="7B2D8E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Stroke mimicへのrt-PA投与 → 不必要な出血リスク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当直で使える 30秒チェックフロー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82880" y="96012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C5A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078992"/>
            <a:ext cx="438912" cy="438912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97840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LKW（最終確認良好時刻）は？　→ 4.5時間以内か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178308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28A7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901952"/>
            <a:ext cx="438912" cy="438912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" y="1901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180136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CT/MRIで出血なし？　広範な梗塞・圧排なし？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82880" y="260604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6032" y="2724912"/>
            <a:ext cx="438912" cy="438912"/>
          </a:xfrm>
          <a:prstGeom prst="ellipse">
            <a:avLst/>
          </a:prstGeom>
          <a:solidFill>
            <a:srgbClr val="7B2D8E"/>
          </a:solidFill>
          <a:ln/>
        </p:spPr>
      </p:sp>
      <p:sp>
        <p:nvSpPr>
          <p:cNvPr id="15" name="Text 13"/>
          <p:cNvSpPr/>
          <p:nvPr/>
        </p:nvSpPr>
        <p:spPr>
          <a:xfrm>
            <a:off x="256032" y="2724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77240" y="262432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くも膜下出血が疑われない？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2880" y="342900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3547872"/>
            <a:ext cx="438912" cy="43891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344728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BP 185/110 mmHg 未満にコントロールできるか？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" y="425196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6032" y="4370832"/>
            <a:ext cx="438912" cy="43891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427024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血糖 50〜400 mg/dL の範囲内？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96012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DC35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28032" y="1078992"/>
            <a:ext cx="438912" cy="43891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7" name="Text 25"/>
          <p:cNvSpPr/>
          <p:nvPr/>
        </p:nvSpPr>
        <p:spPr>
          <a:xfrm>
            <a:off x="4828032" y="10789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349240" y="97840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血小板 ＞10万/μL　かつ　PT-INR ≤ 1.7？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754880" y="178308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28032" y="1901952"/>
            <a:ext cx="438912" cy="438912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31" name="Text 29"/>
          <p:cNvSpPr/>
          <p:nvPr/>
        </p:nvSpPr>
        <p:spPr>
          <a:xfrm>
            <a:off x="4828032" y="190195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349240" y="180136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3か月以内に脳梗塞・頭蓋内手術・重症頭部外傷なし？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754880" y="260604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28032" y="2724912"/>
            <a:ext cx="438912" cy="438912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35" name="Text 33"/>
          <p:cNvSpPr/>
          <p:nvPr/>
        </p:nvSpPr>
        <p:spPr>
          <a:xfrm>
            <a:off x="4828032" y="2724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349240" y="262432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21日以内のGI/尿路出血なし？　14日以内の大手術なし？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3429000"/>
            <a:ext cx="4297680" cy="713232"/>
          </a:xfrm>
          <a:prstGeom prst="rect">
            <a:avLst/>
          </a:prstGeom>
          <a:solidFill>
            <a:srgbClr val="FFFFFF"/>
          </a:solidFill>
          <a:ln w="19050">
            <a:solidFill>
              <a:srgbClr val="7B2D8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28032" y="3547872"/>
            <a:ext cx="438912" cy="438912"/>
          </a:xfrm>
          <a:prstGeom prst="ellipse">
            <a:avLst/>
          </a:prstGeom>
          <a:solidFill>
            <a:srgbClr val="7B2D8E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35478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700" dirty="0"/>
          </a:p>
        </p:txBody>
      </p:sp>
      <p:sp>
        <p:nvSpPr>
          <p:cNvPr id="40" name="Text 38"/>
          <p:cNvSpPr/>
          <p:nvPr/>
        </p:nvSpPr>
        <p:spPr>
          <a:xfrm>
            <a:off x="5349240" y="344728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痙攣・低血糖・SAHなどのStroke mimic除外済み？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754880" y="4251960"/>
            <a:ext cx="4297680" cy="713232"/>
          </a:xfrm>
          <a:prstGeom prst="rect">
            <a:avLst/>
          </a:prstGeom>
          <a:solidFill>
            <a:srgbClr val="D4EDDA"/>
          </a:solidFill>
          <a:ln w="38100">
            <a:solidFill>
              <a:srgbClr val="28A74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28032" y="4370832"/>
            <a:ext cx="438912" cy="438912"/>
          </a:xfrm>
          <a:prstGeom prst="ellipse">
            <a:avLst/>
          </a:prstGeom>
          <a:solidFill>
            <a:srgbClr val="28A745"/>
          </a:solidFill>
          <a:ln/>
        </p:spPr>
      </p:sp>
      <p:sp>
        <p:nvSpPr>
          <p:cNvPr id="43" name="Text 41"/>
          <p:cNvSpPr/>
          <p:nvPr/>
        </p:nvSpPr>
        <p:spPr>
          <a:xfrm>
            <a:off x="4828032" y="4370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5349240" y="4270248"/>
            <a:ext cx="3611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すべてクリア → 開始！インフォームドコンセントと体重確認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血栓回収療法との関係（2025年改訂ポイント）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16052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2C5AA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86868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rt-PA + 血栓回収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ブリッジング療法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・大血管閉塞に対して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2920" y="2468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・rt-PAを先に投与しながら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・血栓回収（IVT→EVT）へ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3566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・発症〜2時間20分以内が目安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4160520" cy="3474720"/>
          </a:xfrm>
          <a:prstGeom prst="rect">
            <a:avLst/>
          </a:prstGeom>
          <a:solidFill>
            <a:srgbClr val="FFFFFF"/>
          </a:solidFill>
          <a:ln w="3175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960120"/>
            <a:ext cx="4160520" cy="86868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05840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直接血栓回収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146304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EVT単独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19202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・大血管閉塞 ＋ rt-PA禁忌の場合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・発症2時間20分以降の大血管閉塞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7492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・IVT追加のベネフィットが限られる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074920" y="356616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・施設の体制・症例に応じて判断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8F4FD"/>
          </a:solidFill>
          <a:ln w="12700">
            <a:solidFill>
              <a:srgbClr val="2C5A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2025改訂：「2時間20分」の目安が明記 ― より早い再灌流戦略の選択が推奨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1234440"/>
          </a:xfrm>
          <a:prstGeom prst="rect">
            <a:avLst/>
          </a:prstGeom>
          <a:solidFill>
            <a:srgbClr val="2C5AA0"/>
          </a:solidFill>
          <a:ln w="25400">
            <a:solidFill>
              <a:srgbClr val="E8850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0058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005840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「4.5時間以内で、まだ助かる脳があり、出血させすぎない症例」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548640"/>
          </a:xfrm>
          <a:prstGeom prst="rect">
            <a:avLst/>
          </a:prstGeom>
          <a:solidFill>
            <a:srgbClr val="223A5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5つのキーワード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371600" cy="1005840"/>
          </a:xfrm>
          <a:prstGeom prst="rect">
            <a:avLst/>
          </a:prstGeom>
          <a:solidFill>
            <a:srgbClr val="2C5AA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718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2148840" y="2971800"/>
            <a:ext cx="1371600" cy="1005840"/>
          </a:xfrm>
          <a:prstGeom prst="rect">
            <a:avLst/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48840" y="29718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3749040" y="2971800"/>
            <a:ext cx="1371600" cy="1005840"/>
          </a:xfrm>
          <a:prstGeom prst="rect">
            <a:avLst/>
          </a:prstGeom>
          <a:solidFill>
            <a:srgbClr val="28A7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29718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</a:t>
            </a:r>
            <a:endParaRPr lang="en-US" sz="4400" dirty="0"/>
          </a:p>
        </p:txBody>
      </p:sp>
      <p:sp>
        <p:nvSpPr>
          <p:cNvPr id="17" name="Shape 15"/>
          <p:cNvSpPr/>
          <p:nvPr/>
        </p:nvSpPr>
        <p:spPr>
          <a:xfrm>
            <a:off x="5349240" y="2971800"/>
            <a:ext cx="1371600" cy="1005840"/>
          </a:xfrm>
          <a:prstGeom prst="rect">
            <a:avLst/>
          </a:prstGeom>
          <a:solidFill>
            <a:srgbClr val="E8850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49240" y="29718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出</a:t>
            </a:r>
            <a:endParaRPr lang="en-US" sz="4400" dirty="0"/>
          </a:p>
        </p:txBody>
      </p:sp>
      <p:sp>
        <p:nvSpPr>
          <p:cNvPr id="19" name="Shape 17"/>
          <p:cNvSpPr/>
          <p:nvPr/>
        </p:nvSpPr>
        <p:spPr>
          <a:xfrm>
            <a:off x="6949440" y="2971800"/>
            <a:ext cx="1371600" cy="1005840"/>
          </a:xfrm>
          <a:prstGeom prst="rect">
            <a:avLst/>
          </a:prstGeom>
          <a:solidFill>
            <a:srgbClr val="7B2D8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49440" y="297180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偽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8412480" cy="685800"/>
          </a:xfrm>
          <a:prstGeom prst="rect">
            <a:avLst/>
          </a:prstGeom>
          <a:solidFill>
            <a:srgbClr val="223A5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数字：4.5時間 ｜ 185/110 ｜ 50〜400 ｜ 10万 ｜ INR1.7 ｜ 3か月 / 21日 / 14日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参考文献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88136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0881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1248" y="1005840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日本脳卒中学会 脳卒中治療ガイドライン2021〔改訂2025〕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55648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7556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41248" y="1673352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Yamaguchi T, et al. Randomized double-blind study of tissue-type plasminogen activator (t-PA). Stroke 2006; 37:2873–2879. [J-ACT]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234086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" y="2423160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2423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2340864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Hacke W, et al. Thrombolysis with alteplase 3 to 4.5 hours after acute ischemic stroke. N Engl J Med 2008; 359:1317–1329. [ECASS III]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008376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90672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0906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1248" y="3008376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Thomalla G, et al. MRI-guided thrombolysis for stroke with unknown time of onset. N Engl J Med 2018; 379:611–622. [WAKE-UP]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67588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758184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7581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1248" y="3675888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アルテプラーゼ静注用0.6mg/kg 添付文書（最新版）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6F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47472" y="4425696"/>
            <a:ext cx="402336" cy="402336"/>
          </a:xfrm>
          <a:prstGeom prst="ellipse">
            <a:avLst/>
          </a:prstGeom>
          <a:solidFill>
            <a:srgbClr val="2C5AA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" y="44256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41248" y="4343400"/>
            <a:ext cx="7909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Powers WJ, et al. 2019 AHA/ASA Guideline for the Early Management of Patients With Acute Ischemic Stroke. Stroke 2019; 50:e344–e418.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rt-PA静注療法の適応と禁忌 ― 「時・血・画・出・偽」で覚える</dc:title>
  <dc:subject>PptxGenJS Presentation</dc:subject>
  <dc:creator>今村久司</dc:creator>
  <cp:lastModifiedBy>今村久司</cp:lastModifiedBy>
  <cp:revision>1</cp:revision>
  <dcterms:created xsi:type="dcterms:W3CDTF">2026-04-08T22:19:15Z</dcterms:created>
  <dcterms:modified xsi:type="dcterms:W3CDTF">2026-04-08T22:19:15Z</dcterms:modified>
</cp:coreProperties>
</file>