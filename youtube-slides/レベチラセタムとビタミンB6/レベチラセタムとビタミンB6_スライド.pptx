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脳神経内科医が解説する薬の話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イーケプラのイライラ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ビタミンB6で改善する？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エビデンスとブリバラセタムとの使い分け 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レベチラセタム（イーケプラ）の精神症状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使いやすく有効性の高い抗てんかん薬だが、精神・行動面の副作用がしばしば問題に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易刺激性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ちょっとしたことでイライラする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66928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攻撃性・興奮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突然怒り出す、暴言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😰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37160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焦燥・不安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落ち着きがない、焦り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😢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66928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抑うつ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気分の落ち込み、意欲低下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添付文書：精神症状 → 自殺企図への注意が明記されている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なぜビタミンB6が注目されるのか？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ビタミンB6の活性型 PLP（ピリドキサール5'-リン酸）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100以上の酵素反応の補酵素として機能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2286000" cy="640080"/>
          </a:xfrm>
          <a:prstGeom prst="rect">
            <a:avLst>
              <a:gd name="adj" fmla="val 14286"/>
            </a:avLst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セロトニン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気分の安定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2103120"/>
            <a:ext cx="2286000" cy="640080"/>
          </a:xfrm>
          <a:prstGeom prst="rect">
            <a:avLst>
              <a:gd name="adj" fmla="val 14286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GABA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抑制系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2286000" cy="640080"/>
          </a:xfrm>
          <a:prstGeom prst="rect">
            <a:avLst>
              <a:gd name="adj" fmla="val 14286"/>
            </a:avLst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ドパミン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報酬・意欲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仮説：LEVの精神症状メカニズム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・AMPA受容体拮抗作用による影響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・GABA系・セロトニン系への関与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B6補充で神経伝達物質合成を支援し、症状を緩和できる可能性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エビデンス① 小児データ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研究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146304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デザイン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051560"/>
            <a:ext cx="146304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051560"/>
            <a:ext cx="365760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63040"/>
            <a:ext cx="201168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6304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Romoli 2020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(SR)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1463040"/>
            <a:ext cx="146304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14630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(12研究)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1463040"/>
            <a:ext cx="146304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14630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小児中心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1463040"/>
            <a:ext cx="36576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463040"/>
            <a:ext cx="3511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72.5%（108/149例）改善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※バイアス大、エビデンス質低い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148840"/>
            <a:ext cx="2011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14884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Marino 2018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214884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21488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前向き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ケースコントロール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214884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21488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2148840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2148840"/>
            <a:ext cx="3511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92%がLEV継続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平均9日で改善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834640"/>
            <a:ext cx="201168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83464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Mahmoud 2021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2834640"/>
            <a:ext cx="146304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28346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49040" y="2834640"/>
            <a:ext cx="146304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192" y="28346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2834640"/>
            <a:ext cx="36576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2834640"/>
            <a:ext cx="3511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B6群で改善幅が有意に大きい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（p &lt; 0.001）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520440"/>
            <a:ext cx="2011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52044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Lob 2022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0" y="352044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59152" y="35204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後ろ向き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コホート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49040" y="352044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22192" y="35204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小児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240名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12080" y="3520440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3520440"/>
            <a:ext cx="3511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LEV中止率 49% vs 88%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（p = 0.001）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206240"/>
            <a:ext cx="201168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20624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Thananowan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0" y="4206240"/>
            <a:ext cx="146304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59152" y="42062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RCT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102例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4206240"/>
            <a:ext cx="146304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22192" y="42062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小児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思春期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12080" y="4206240"/>
            <a:ext cx="36576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85232" y="4206240"/>
            <a:ext cx="3511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主要評価項目は陰性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多変量解析でB6群が改善大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小児では「改善シグナル」あり ← ただし最大のRCT（2025年）は主要評価項目が陰性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エビデンス② 成人データ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37160" cy="10058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Alsaadi 2015（UAE ケースシリーズ）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51例中34例（66.6%）改善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556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後ろ向き、プラセボなし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137160" cy="10058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591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Dreischmeier 2021（米国 退役軍人）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20例中9例（45%）改善、55%は無効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後ろ向き、B6 100mg/日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74720"/>
            <a:ext cx="137160" cy="10058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478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Cheraghmakani 2022（成人RCT）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8404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B6群 vs プラセボ群：有意差なし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1330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唯一の成人RCT → 陰性結果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成人のエビデンスは小児より弱い ── 唯一のRCTは陰性結果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ビタミンB6 vs ブリバラセタム（BRV）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097280"/>
            <a:ext cx="320040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32004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ブリバラセタム（BRV）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22860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54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改善率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554480"/>
            <a:ext cx="32004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554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45〜72.5%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（研究による差大）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554480"/>
            <a:ext cx="32004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554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33.3〜83.0%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（加重平均66.6%）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40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エビデンス質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2240280"/>
            <a:ext cx="3200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2402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低い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（後ろ向き中心、RCT陰性）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2240280"/>
            <a:ext cx="3200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2402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中程度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（前向き研究あり）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2860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薬価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（1錠あたり）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2926080"/>
            <a:ext cx="32004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ピドキサール30mg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5.9〜6.3円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926080"/>
            <a:ext cx="32004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ブリィビアクト50mg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609.3円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11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効果発現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3611880"/>
            <a:ext cx="3200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3611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約1〜3週間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3611880"/>
            <a:ext cx="3200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611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切り替え後 早期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22860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97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位置づけ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0" y="4297680"/>
            <a:ext cx="32004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0" y="4297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LEVを救済する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安価な一手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4297680"/>
            <a:ext cx="32004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4297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より確実性の高い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本命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実践フローチャート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0" y="1097280"/>
            <a:ext cx="3657600" cy="594360"/>
          </a:xfrm>
          <a:prstGeom prst="rect">
            <a:avLst>
              <a:gd name="adj" fmla="val 15385"/>
            </a:avLst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1097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LEVで精神症状が出現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691640"/>
            <a:ext cx="0" cy="411480"/>
          </a:xfrm>
          <a:prstGeom prst="line">
            <a:avLst/>
          </a:prstGeom>
          <a:noFill/>
          <a:ln w="25400">
            <a:solidFill>
              <a:srgbClr val="636E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103120"/>
            <a:ext cx="4572000" cy="594360"/>
          </a:xfrm>
          <a:prstGeom prst="rect">
            <a:avLst>
              <a:gd name="adj" fmla="val 15385"/>
            </a:avLst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103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重症度を評価する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697480"/>
            <a:ext cx="0" cy="411480"/>
          </a:xfrm>
          <a:prstGeom prst="line">
            <a:avLst/>
          </a:prstGeom>
          <a:noFill/>
          <a:ln w="25400">
            <a:solidFill>
              <a:srgbClr val="28A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軽症〜中等症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548640"/>
          </a:xfrm>
          <a:prstGeom prst="rect">
            <a:avLst>
              <a:gd name="adj" fmla="val 16667"/>
            </a:avLst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 短期試行（2-4週）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14600" y="3657600"/>
            <a:ext cx="0" cy="365760"/>
          </a:xfrm>
          <a:prstGeom prst="line">
            <a:avLst/>
          </a:prstGeom>
          <a:noFill/>
          <a:ln w="25400">
            <a:solidFill>
              <a:srgbClr val="28A7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4023360"/>
            <a:ext cx="2011680" cy="502920"/>
          </a:xfrm>
          <a:prstGeom prst="rect">
            <a:avLst>
              <a:gd name="adj" fmla="val 18182"/>
            </a:avLst>
          </a:prstGeom>
          <a:solidFill>
            <a:srgbClr val="D4EDD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改善あり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B6継続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4023360"/>
            <a:ext cx="2011680" cy="502920"/>
          </a:xfrm>
          <a:prstGeom prst="rect">
            <a:avLst>
              <a:gd name="adj" fmla="val 18182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改善なし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BRVへ切替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2697480"/>
            <a:ext cx="0" cy="411480"/>
          </a:xfrm>
          <a:prstGeom prst="line">
            <a:avLst/>
          </a:prstGeom>
          <a:noFill/>
          <a:ln w="25400">
            <a:solidFill>
              <a:srgbClr val="DC3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108960"/>
            <a:ext cx="3200400" cy="548640"/>
          </a:xfrm>
          <a:prstGeom prst="rect">
            <a:avLst>
              <a:gd name="adj" fmla="val 16667"/>
            </a:avLst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LEV減量/中止 or BRVへ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0" y="3840480"/>
            <a:ext cx="33832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重症の基準：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4160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・自殺念慮/企図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43434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・精神病症状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45262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・他害リスク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47091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・急速な悪化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日本で使うときの注意点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37160" cy="13716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 製剤の違い：Pyridoxine vs ピドキサール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海外研究 → pyridoxine（ピリドキシン）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日本の処方 → ピドキサール（活性型PLP製剤）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同じ「ビタミンB6」でも厳密には異なる製剤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51760"/>
            <a:ext cx="137160" cy="10972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 用量の問題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海外エビデンス：小児 50-350 mg/日、成人 50-100 mg/日（pyridoxine）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日本のピドキサール：通常成人 10-60 mg/日 → 単純な換算は不可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931920"/>
            <a:ext cx="137160" cy="11430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77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3. 過量投与のリスク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Pyridoxine 1-6 g/日の長期投与 → 感覚ニューロパチー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上限量：米国FNB 100 mg/日 vs EFSA 12 mg/日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漫然と長期継続する薬ではない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Take Home Message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0058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LEV精神症状に対するB6には複数の報告あり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しかしエビデンスの質は低く、特に成人では弱い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0116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B6は「標準策」ではなく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条件のよい症例で先に試せる低コスト介入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軽症〜中等症 → B6短期試行（2-4週）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重症・B6無効 → BRVへ早めに切替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0233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日本ではpyridoxine vs ピドキサールの製剤差に注意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用量設計の根拠はまだ弱い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  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イーケプラのイライラ、ビタミンB6で改善する？ エビデンスとBRVとの使い分け</dc:title>
  <dc:subject>PptxGenJS Presentation</dc:subject>
  <dc:creator>今村久司</dc:creator>
  <cp:lastModifiedBy>今村久司</cp:lastModifiedBy>
  <cp:revision>1</cp:revision>
  <dcterms:created xsi:type="dcterms:W3CDTF">2026-04-07T02:36:55Z</dcterms:created>
  <dcterms:modified xsi:type="dcterms:W3CDTF">2026-04-07T02:36:55Z</dcterms:modified>
</cp:coreProperties>
</file>