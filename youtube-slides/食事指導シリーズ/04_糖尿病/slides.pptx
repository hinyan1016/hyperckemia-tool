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1710D9-7149-4ACB-BB3A-791039A96371}" v="3" dt="2026-03-26T03:40:25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597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久司 今村" userId="1c5d66dd010fbc96" providerId="LiveId" clId="{17FB10CB-4D7A-4D51-827D-8C222DDB014F}"/>
    <pc:docChg chg="modSld">
      <pc:chgData name="久司 今村" userId="1c5d66dd010fbc96" providerId="LiveId" clId="{17FB10CB-4D7A-4D51-827D-8C222DDB014F}" dt="2026-03-26T03:40:25.399" v="13"/>
      <pc:docMkLst>
        <pc:docMk/>
      </pc:docMkLst>
      <pc:sldChg chg="modSp mod">
        <pc:chgData name="久司 今村" userId="1c5d66dd010fbc96" providerId="LiveId" clId="{17FB10CB-4D7A-4D51-827D-8C222DDB014F}" dt="2026-03-26T03:36:15.918" v="2" actId="1036"/>
        <pc:sldMkLst>
          <pc:docMk/>
          <pc:sldMk cId="0" sldId="261"/>
        </pc:sldMkLst>
        <pc:spChg chg="mod">
          <ac:chgData name="久司 今村" userId="1c5d66dd010fbc96" providerId="LiveId" clId="{17FB10CB-4D7A-4D51-827D-8C222DDB014F}" dt="2026-03-26T03:36:15.918" v="2" actId="103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久司 今村" userId="1c5d66dd010fbc96" providerId="LiveId" clId="{17FB10CB-4D7A-4D51-827D-8C222DDB014F}" dt="2026-03-26T03:40:25.399" v="13"/>
        <pc:sldMkLst>
          <pc:docMk/>
          <pc:sldMk cId="0" sldId="263"/>
        </pc:sldMkLst>
        <pc:spChg chg="mod">
          <ac:chgData name="久司 今村" userId="1c5d66dd010fbc96" providerId="LiveId" clId="{17FB10CB-4D7A-4D51-827D-8C222DDB014F}" dt="2026-03-26T03:40:25.399" v="13"/>
          <ac:spMkLst>
            <pc:docMk/>
            <pc:sldMk cId="0" sldId="263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463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1097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8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第4回 / 全10回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糖尿病の食事指導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血糖を安定させる3つのルール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291840"/>
            <a:ext cx="45720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「甘いもの禁止」で終わらせない外来の実践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糖尿病で食事療法が重要な理由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食事は血糖に直結 ― 薬物療法を行っていても食事が乱れれば安定しない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血糖だけではない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・体重、脂質、血圧、脂肪肝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・将来の動脈硬化リスク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・「血糖だけを見る食事」ではなく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全身の代謝を整える食事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393192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継続がカギ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・一時的なイベントではない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・完璧だが続かない方法より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不完全でも継続できる方法に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価値がある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第4回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血糖を安定させる3つのルール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37360" y="1097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血糖を乱しにくい食事にする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14904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食後高血糖を起こしやすい食べ方を見直し、食事量のぶれを小さくする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0" y="132588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498080" y="1325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最重要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822960" y="2423160"/>
            <a:ext cx="640080" cy="64008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229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必要なら体重を調整する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267919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肥満→減量で血糖改善。高齢者・やせ→減らさないことが重要な場合も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0" y="251460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498080" y="2514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個別判断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822960" y="361188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82296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73736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続けられる方法にする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37360" y="386791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生活に合わない方法は続かない。一人暮らし・仕事・家族・外食を踏まえる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98080" y="3703320"/>
            <a:ext cx="914400" cy="36576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7498080" y="3703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基本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第4回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「甘いもの禁止」だけでは不十分な理由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09728" cy="1828800"/>
          </a:xfrm>
          <a:prstGeom prst="round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患者さんの認識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「甘いものは控えています」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「砂糖は使っていません」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「果物は体に良いから…」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109728" cy="1828800"/>
          </a:xfrm>
          <a:prstGeom prst="round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12064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見落とされがちな血糖源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・主食の量が多い（大盛り・丼）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・菓子パンが食事代わり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・飲み物に糖分が多い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・食事量が日によって大きくぶれる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7315200" cy="1188720"/>
          </a:xfrm>
          <a:prstGeom prst="roundRect">
            <a:avLst>
              <a:gd name="adj" fmla="val 7692"/>
            </a:avLst>
          </a:prstGeom>
          <a:solidFill>
            <a:srgbClr val="FFF3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188720" y="347472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血糖に強く影響するのは食事全体の炭水化物量</a:t>
            </a:r>
            <a:endParaRPr lang="en-US" sz="1700" dirty="0"/>
          </a:p>
          <a:p>
            <a:pPr marL="0" indent="0" algn="ctr">
              <a:buNone/>
            </a:pP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何をどれだけ、どの時間帯に食べているかを見ることが本質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第4回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まず整えたいのは主食の量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🍚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143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ご飯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0" y="1143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大盛り・丼もの・おかわりの習慣を見直す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0" y="1554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「ゼロ」ではなく「毎食の量をそろえる」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🍞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パン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43200" y="2240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菓子パンは糖質＋脂質が同時に多い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2651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菓子パン＋甘い飲み物のセットは特に注意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🍜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麺類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743200" y="33375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単品で済ませやすく、主食量が多くなりがち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0" y="37490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野菜やたんぱく質を組み合わせる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4389120"/>
            <a:ext cx="7680960" cy="457200"/>
          </a:xfrm>
          <a:prstGeom prst="roundRect">
            <a:avLst>
              <a:gd name="adj" fmla="val 20000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主食をゼロにする必要はない ― 量のぶれを整えるだけでも効果あり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第4回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199" y="100818"/>
            <a:ext cx="83163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血糖を乱しやすい食品 ― 主食以外で確認すべき3つ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09728" cy="960120"/>
          </a:xfrm>
          <a:prstGeom prst="round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🥤 甘い飲み物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4447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最も見逃されやすい。満腹感なく血糖だけ急上昇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食事を見直しても改善しない場合、原因が飲み物のことも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09728" cy="960120"/>
          </a:xfrm>
          <a:prstGeom prst="round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🍪 間食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5877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糖質中心の間食が習慣化すると血糖は不安定に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菓子・せんべい・チョコ・アイスが毎日入っていないか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09728" cy="960120"/>
          </a:xfrm>
          <a:prstGeom prst="round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38C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🥐 菓子パン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37307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糖質も脂質も多く、朝食・昼食代わりに選ばれやすい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血糖管理の面では不利な食品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第4回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たんぱく質と野菜を組み合わせる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「何を減らすか」だけでなく「何を組み合わせるか」も大切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🍚→🍚🐟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8470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✕ ご飯だけで済ます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847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魚・肉・卵・大豆製品を加える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🍜→🍜🥬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807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✕ 麺類だけで終わらせる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807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野菜やたんぱく質を組み合わせる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🥐→🥐🥚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7673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✕ 菓子パンだけの朝食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3767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卵・ヨーグルト・サラダを加える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7680960" cy="365760"/>
          </a:xfrm>
          <a:prstGeom prst="roundRect">
            <a:avLst>
              <a:gd name="adj" fmla="val 25000"/>
            </a:avLst>
          </a:prstGeom>
          <a:solidFill>
            <a:srgbClr val="FFF3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腎機能低下がある場合はたんぱく質の勧め方を慎重に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第4回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食べる順番より大事なこと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004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よく聞かれる質問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19" y="1737360"/>
            <a:ext cx="28791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</a:t>
            </a:r>
            <a:r>
              <a:rPr lang="en-US" sz="1400" dirty="0" err="1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野菜から食べるとよいですか</a:t>
            </a: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？」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</a:t>
            </a:r>
            <a:r>
              <a:rPr lang="ja-JP" alt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</a:t>
            </a:r>
            <a:r>
              <a:rPr lang="en-US" sz="1400" dirty="0" err="1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一定の意味はあるが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</a:t>
            </a:r>
            <a:r>
              <a:rPr lang="ja-JP" alt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　</a:t>
            </a:r>
            <a:r>
              <a:rPr lang="en-US" sz="1400" dirty="0" err="1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それだけでは不十分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31920" y="1188720"/>
            <a:ext cx="4754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3931920" y="1188720"/>
            <a:ext cx="475488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931920" y="1188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もっと重要なチェックポイント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06240" y="17373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主食の量が多すぎないか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飲み物に糖分が入っていないか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間食が習慣化していないか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□ 食事量が日によってぶれていないか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7315200" cy="502920"/>
          </a:xfrm>
          <a:prstGeom prst="roundRect">
            <a:avLst>
              <a:gd name="adj" fmla="val 18182"/>
            </a:avLst>
          </a:prstGeom>
          <a:solidFill>
            <a:srgbClr val="FFF3C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食べる順番は補助的な工夫。根本は食事全体の量と内容を整えること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第4回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外食・コンビニで気をつけたい3つのポイント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09728" cy="960120"/>
          </a:xfrm>
          <a:prstGeom prst="round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🍚 主食量が多くなりやすい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4447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丼もの・麺類単品・大盛りで炭水化物が増える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定食を選ぶ、大盛りにしない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09728" cy="960120"/>
          </a:xfrm>
          <a:prstGeom prst="round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🍞 単品食いになりやすい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5877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菓子パンだけ、おにぎりだけ → 血糖が急上昇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たんぱく質や野菜を組み合わせる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09728" cy="960120"/>
          </a:xfrm>
          <a:prstGeom prst="round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🥤 甘い飲み物をセットにしない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37307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食事に気をつけても飲み物で効果が薄れる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水やお茶を基本にする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第4回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全員に同じ制限をかけない ― 個別の注意が必要な場面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09728" cy="914400"/>
          </a:xfrm>
          <a:prstGeom prst="round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👴 高齢者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1463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血糖を気にするあまり食事量↓ → 体重減少・筋肉量低下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若年者や肥満患者と同じ制限は危険。食べられているか・体重が落ちていないかを確認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09728" cy="914400"/>
          </a:xfrm>
          <a:prstGeom prst="round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1440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⚖️ やせている患者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「減らす」より「整える」が重要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エネルギー不足にならず血糖を安定させる方法を考える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09728" cy="914400"/>
          </a:xfrm>
          <a:prstGeom prst="roundRect">
            <a:avLst/>
          </a:prstGeom>
          <a:solidFill>
            <a:srgbClr val="4338C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14400" y="33101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38C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🫘 腎機能低下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たんぱく質・塩分・カリウムの考え方が関わる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自己流の食事制限は危険 — 栄養士との連携が有用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第4回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よくある誤解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024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24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果物は体によいからいくらでも食べてよい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量を考えずに食べれば血糖に影響する。「健康に良い」と「血糖に無関係」は別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31520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938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砂糖を使っていなければ安心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3042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ご飯・パン・麺類も血糖に関わる。「甘くない＝安全」は誤り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2852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主食を抜けばよい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18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極端に減らすと続かず低栄養にも。ゼロより量を整える方が現実的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7673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7673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糖尿病用の食品だけ選べばよい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133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7D3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特別な食品より日常の食習慣（飲み物・間食・主食量）を整える方が効果的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第4回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外来で伝える行動目標の例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91440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5E2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1〜2個の具体的な目標に落とし込む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1371600" y="18288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737360" y="18288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主食は毎食同じくらいの量にそろえる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5146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1371600" y="25146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737360" y="2514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甘い飲み物を水かお茶に変える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32004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1371600" y="32004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1737360" y="3200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菓子パンを食事の代わりにしない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388620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371600" y="3886200"/>
            <a:ext cx="91440" cy="548640"/>
          </a:xfrm>
          <a:prstGeom prst="round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737360" y="38862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▸ おかずにたんぱく質を1品加える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71600" y="4572000"/>
            <a:ext cx="6400800" cy="365760"/>
          </a:xfrm>
          <a:prstGeom prst="roundRect">
            <a:avLst>
              <a:gd name="adj" fmla="val 25000"/>
            </a:avLst>
          </a:prstGeom>
          <a:solidFill>
            <a:srgbClr val="F8D7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37160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✕「甘いものをやめてください」だけでは行動変容につながりにくい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第4回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糖尿病の食事指導は「甘いもの禁止」だけでは不十分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097280" y="1783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まず整えたいのは主食の量 ― 毎食のぶれを小さくする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097280" y="2468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甘い飲み物・間食・菓子パンは見逃されやすい血糖源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1546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731520" y="31546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1097280" y="3154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たんぱく質と野菜を組み合わせ、血糖変動を緩やかに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3840480"/>
            <a:ext cx="768096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109728" cy="548640"/>
          </a:xfrm>
          <a:prstGeom prst="roundRect">
            <a:avLst/>
          </a:prstGeom>
          <a:solidFill>
            <a:srgbClr val="FF8F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097280" y="3840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✓  高齢者では制限しすぎによるフレイル・低栄養に注意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  第4回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次回予告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371600" y="1828800"/>
            <a:ext cx="6400800" cy="1828800"/>
          </a:xfrm>
          <a:prstGeom prst="roundRect">
            <a:avLst>
              <a:gd name="adj" fmla="val 7500"/>
            </a:avLst>
          </a:prstGeom>
          <a:solidFill>
            <a:srgbClr val="1B5E20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F0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第5回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肥満の食事指導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食べ方を変える行動療法的アプローチ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チャンネル登録で見逃さないようにしましょう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0" y="2011680"/>
            <a:ext cx="3657600" cy="0"/>
          </a:xfrm>
          <a:prstGeom prst="line">
            <a:avLst/>
          </a:prstGeom>
          <a:noFill/>
          <a:ln w="25400">
            <a:solidFill>
              <a:srgbClr val="FF8F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👍 高評価・チャンネル登録よろしくお願いします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📋 再生リストから他の回もご覧ください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F5E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💬 コメント欄で質問・リクエストお待ちしています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5D6A7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外来でそのまま使える食事指導シリーズ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479</Words>
  <Application>Microsoft Office PowerPoint</Application>
  <PresentationFormat>画面に合わせる (16:9)</PresentationFormat>
  <Paragraphs>174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BIZ UDPGothic</vt:lpstr>
      <vt:lpstr>Arial</vt:lpstr>
      <vt:lpstr>Segoe UI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食事指導シリーズ 第4回 糖尿病</dc:title>
  <dc:subject>PptxGenJS Presentation</dc:subject>
  <dc:creator>今村久司</dc:creator>
  <cp:lastModifiedBy>久司 今村</cp:lastModifiedBy>
  <cp:revision>1</cp:revision>
  <dcterms:created xsi:type="dcterms:W3CDTF">2026-03-26T02:00:56Z</dcterms:created>
  <dcterms:modified xsi:type="dcterms:W3CDTF">2026-03-26T03:40:36Z</dcterms:modified>
</cp:coreProperties>
</file>