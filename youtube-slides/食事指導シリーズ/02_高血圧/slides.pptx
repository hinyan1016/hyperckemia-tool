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2" d="100"/>
          <a:sy n="102" d="100"/>
        </p:scale>
        <p:origin x="597"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久司 今村" userId="1c5d66dd010fbc96" providerId="LiveId" clId="{17FB10CB-4D7A-4D51-827D-8C222DDB014F}"/>
    <pc:docChg chg="undo custSel modSld">
      <pc:chgData name="久司 今村" userId="1c5d66dd010fbc96" providerId="LiveId" clId="{17FB10CB-4D7A-4D51-827D-8C222DDB014F}" dt="2026-03-26T00:29:51.122" v="57" actId="14100"/>
      <pc:docMkLst>
        <pc:docMk/>
      </pc:docMkLst>
      <pc:sldChg chg="modSp mod">
        <pc:chgData name="久司 今村" userId="1c5d66dd010fbc96" providerId="LiveId" clId="{17FB10CB-4D7A-4D51-827D-8C222DDB014F}" dt="2026-03-26T00:29:51.122" v="57" actId="14100"/>
        <pc:sldMkLst>
          <pc:docMk/>
          <pc:sldMk cId="0" sldId="257"/>
        </pc:sldMkLst>
        <pc:spChg chg="mod">
          <ac:chgData name="久司 今村" userId="1c5d66dd010fbc96" providerId="LiveId" clId="{17FB10CB-4D7A-4D51-827D-8C222DDB014F}" dt="2026-03-26T00:29:51.122" v="57" actId="14100"/>
          <ac:spMkLst>
            <pc:docMk/>
            <pc:sldMk cId="0" sldId="257"/>
            <ac:spMk id="5" creationId="{00000000-0000-0000-0000-000000000000}"/>
          </ac:spMkLst>
        </pc:spChg>
      </pc:sldChg>
      <pc:sldChg chg="modSp mod">
        <pc:chgData name="久司 今村" userId="1c5d66dd010fbc96" providerId="LiveId" clId="{17FB10CB-4D7A-4D51-827D-8C222DDB014F}" dt="2026-03-25T23:37:32.279" v="56" actId="20577"/>
        <pc:sldMkLst>
          <pc:docMk/>
          <pc:sldMk cId="0" sldId="258"/>
        </pc:sldMkLst>
        <pc:spChg chg="mod">
          <ac:chgData name="久司 今村" userId="1c5d66dd010fbc96" providerId="LiveId" clId="{17FB10CB-4D7A-4D51-827D-8C222DDB014F}" dt="2026-03-25T23:37:32.279" v="56" actId="20577"/>
          <ac:spMkLst>
            <pc:docMk/>
            <pc:sldMk cId="0" sldId="258"/>
            <ac:spMk id="15" creationId="{00000000-0000-0000-0000-000000000000}"/>
          </ac:spMkLst>
        </pc:spChg>
      </pc:sldChg>
      <pc:sldChg chg="modSp mod">
        <pc:chgData name="久司 今村" userId="1c5d66dd010fbc96" providerId="LiveId" clId="{17FB10CB-4D7A-4D51-827D-8C222DDB014F}" dt="2026-03-25T23:32:44.959" v="1" actId="14100"/>
        <pc:sldMkLst>
          <pc:docMk/>
          <pc:sldMk cId="0" sldId="260"/>
        </pc:sldMkLst>
        <pc:spChg chg="mod">
          <ac:chgData name="久司 今村" userId="1c5d66dd010fbc96" providerId="LiveId" clId="{17FB10CB-4D7A-4D51-827D-8C222DDB014F}" dt="2026-03-25T23:32:40.475" v="0" actId="14100"/>
          <ac:spMkLst>
            <pc:docMk/>
            <pc:sldMk cId="0" sldId="260"/>
            <ac:spMk id="8" creationId="{00000000-0000-0000-0000-000000000000}"/>
          </ac:spMkLst>
        </pc:spChg>
        <pc:spChg chg="mod">
          <ac:chgData name="久司 今村" userId="1c5d66dd010fbc96" providerId="LiveId" clId="{17FB10CB-4D7A-4D51-827D-8C222DDB014F}" dt="2026-03-25T23:32:44.959" v="1" actId="14100"/>
          <ac:spMkLst>
            <pc:docMk/>
            <pc:sldMk cId="0" sldId="260"/>
            <ac:spMk id="11" creationId="{00000000-0000-0000-0000-000000000000}"/>
          </ac:spMkLst>
        </pc:spChg>
      </pc:sldChg>
      <pc:sldChg chg="modSp mod">
        <pc:chgData name="久司 今村" userId="1c5d66dd010fbc96" providerId="LiveId" clId="{17FB10CB-4D7A-4D51-827D-8C222DDB014F}" dt="2026-03-25T23:34:09.364" v="32" actId="1076"/>
        <pc:sldMkLst>
          <pc:docMk/>
          <pc:sldMk cId="0" sldId="261"/>
        </pc:sldMkLst>
        <pc:spChg chg="mod">
          <ac:chgData name="久司 今村" userId="1c5d66dd010fbc96" providerId="LiveId" clId="{17FB10CB-4D7A-4D51-827D-8C222DDB014F}" dt="2026-03-25T23:33:35.849" v="27" actId="1076"/>
          <ac:spMkLst>
            <pc:docMk/>
            <pc:sldMk cId="0" sldId="261"/>
            <ac:spMk id="6" creationId="{00000000-0000-0000-0000-000000000000}"/>
          </ac:spMkLst>
        </pc:spChg>
        <pc:spChg chg="mod">
          <ac:chgData name="久司 今村" userId="1c5d66dd010fbc96" providerId="LiveId" clId="{17FB10CB-4D7A-4D51-827D-8C222DDB014F}" dt="2026-03-25T23:33:42.066" v="29" actId="1076"/>
          <ac:spMkLst>
            <pc:docMk/>
            <pc:sldMk cId="0" sldId="261"/>
            <ac:spMk id="8" creationId="{00000000-0000-0000-0000-000000000000}"/>
          </ac:spMkLst>
        </pc:spChg>
        <pc:spChg chg="mod">
          <ac:chgData name="久司 今村" userId="1c5d66dd010fbc96" providerId="LiveId" clId="{17FB10CB-4D7A-4D51-827D-8C222DDB014F}" dt="2026-03-25T23:33:50.215" v="30" actId="1076"/>
          <ac:spMkLst>
            <pc:docMk/>
            <pc:sldMk cId="0" sldId="261"/>
            <ac:spMk id="10" creationId="{00000000-0000-0000-0000-000000000000}"/>
          </ac:spMkLst>
        </pc:spChg>
        <pc:spChg chg="mod">
          <ac:chgData name="久司 今村" userId="1c5d66dd010fbc96" providerId="LiveId" clId="{17FB10CB-4D7A-4D51-827D-8C222DDB014F}" dt="2026-03-25T23:34:00.416" v="31" actId="1076"/>
          <ac:spMkLst>
            <pc:docMk/>
            <pc:sldMk cId="0" sldId="261"/>
            <ac:spMk id="14" creationId="{00000000-0000-0000-0000-000000000000}"/>
          </ac:spMkLst>
        </pc:spChg>
        <pc:spChg chg="mod">
          <ac:chgData name="久司 今村" userId="1c5d66dd010fbc96" providerId="LiveId" clId="{17FB10CB-4D7A-4D51-827D-8C222DDB014F}" dt="2026-03-25T23:34:09.364" v="32" actId="1076"/>
          <ac:spMkLst>
            <pc:docMk/>
            <pc:sldMk cId="0" sldId="261"/>
            <ac:spMk id="18" creationId="{00000000-0000-0000-0000-000000000000}"/>
          </ac:spMkLst>
        </pc:spChg>
        <pc:spChg chg="mod">
          <ac:chgData name="久司 今村" userId="1c5d66dd010fbc96" providerId="LiveId" clId="{17FB10CB-4D7A-4D51-827D-8C222DDB014F}" dt="2026-03-25T23:33:11.731" v="14" actId="1037"/>
          <ac:spMkLst>
            <pc:docMk/>
            <pc:sldMk cId="0" sldId="261"/>
            <ac:spMk id="22" creationId="{00000000-0000-0000-0000-000000000000}"/>
          </ac:spMkLst>
        </pc:spChg>
      </pc:sldChg>
      <pc:sldChg chg="modSp mod">
        <pc:chgData name="久司 今村" userId="1c5d66dd010fbc96" providerId="LiveId" clId="{17FB10CB-4D7A-4D51-827D-8C222DDB014F}" dt="2026-03-25T23:34:28.062" v="33" actId="14100"/>
        <pc:sldMkLst>
          <pc:docMk/>
          <pc:sldMk cId="0" sldId="263"/>
        </pc:sldMkLst>
        <pc:spChg chg="mod">
          <ac:chgData name="久司 今村" userId="1c5d66dd010fbc96" providerId="LiveId" clId="{17FB10CB-4D7A-4D51-827D-8C222DDB014F}" dt="2026-03-25T23:34:28.062" v="33" actId="14100"/>
          <ac:spMkLst>
            <pc:docMk/>
            <pc:sldMk cId="0" sldId="263"/>
            <ac:spMk id="14" creationId="{00000000-0000-0000-0000-000000000000}"/>
          </ac:spMkLst>
        </pc:spChg>
      </pc:sldChg>
      <pc:sldChg chg="modSp mod">
        <pc:chgData name="久司 今村" userId="1c5d66dd010fbc96" providerId="LiveId" clId="{17FB10CB-4D7A-4D51-827D-8C222DDB014F}" dt="2026-03-25T23:35:22.769" v="52" actId="1076"/>
        <pc:sldMkLst>
          <pc:docMk/>
          <pc:sldMk cId="0" sldId="267"/>
        </pc:sldMkLst>
        <pc:spChg chg="mod">
          <ac:chgData name="久司 今村" userId="1c5d66dd010fbc96" providerId="LiveId" clId="{17FB10CB-4D7A-4D51-827D-8C222DDB014F}" dt="2026-03-25T23:35:02.008" v="50" actId="1035"/>
          <ac:spMkLst>
            <pc:docMk/>
            <pc:sldMk cId="0" sldId="267"/>
            <ac:spMk id="4" creationId="{00000000-0000-0000-0000-000000000000}"/>
          </ac:spMkLst>
        </pc:spChg>
        <pc:spChg chg="mod">
          <ac:chgData name="久司 今村" userId="1c5d66dd010fbc96" providerId="LiveId" clId="{17FB10CB-4D7A-4D51-827D-8C222DDB014F}" dt="2026-03-25T23:35:02.008" v="50" actId="1035"/>
          <ac:spMkLst>
            <pc:docMk/>
            <pc:sldMk cId="0" sldId="267"/>
            <ac:spMk id="10" creationId="{00000000-0000-0000-0000-000000000000}"/>
          </ac:spMkLst>
        </pc:spChg>
        <pc:spChg chg="mod">
          <ac:chgData name="久司 今村" userId="1c5d66dd010fbc96" providerId="LiveId" clId="{17FB10CB-4D7A-4D51-827D-8C222DDB014F}" dt="2026-03-25T23:35:02.008" v="50" actId="1035"/>
          <ac:spMkLst>
            <pc:docMk/>
            <pc:sldMk cId="0" sldId="267"/>
            <ac:spMk id="11" creationId="{00000000-0000-0000-0000-000000000000}"/>
          </ac:spMkLst>
        </pc:spChg>
        <pc:spChg chg="mod">
          <ac:chgData name="久司 今村" userId="1c5d66dd010fbc96" providerId="LiveId" clId="{17FB10CB-4D7A-4D51-827D-8C222DDB014F}" dt="2026-03-25T23:35:02.008" v="50" actId="1035"/>
          <ac:spMkLst>
            <pc:docMk/>
            <pc:sldMk cId="0" sldId="267"/>
            <ac:spMk id="13" creationId="{00000000-0000-0000-0000-000000000000}"/>
          </ac:spMkLst>
        </pc:spChg>
        <pc:spChg chg="mod">
          <ac:chgData name="久司 今村" userId="1c5d66dd010fbc96" providerId="LiveId" clId="{17FB10CB-4D7A-4D51-827D-8C222DDB014F}" dt="2026-03-25T23:35:02.008" v="50" actId="1035"/>
          <ac:spMkLst>
            <pc:docMk/>
            <pc:sldMk cId="0" sldId="267"/>
            <ac:spMk id="15" creationId="{00000000-0000-0000-0000-000000000000}"/>
          </ac:spMkLst>
        </pc:spChg>
        <pc:spChg chg="mod">
          <ac:chgData name="久司 今村" userId="1c5d66dd010fbc96" providerId="LiveId" clId="{17FB10CB-4D7A-4D51-827D-8C222DDB014F}" dt="2026-03-25T23:35:02.008" v="50" actId="1035"/>
          <ac:spMkLst>
            <pc:docMk/>
            <pc:sldMk cId="0" sldId="267"/>
            <ac:spMk id="16" creationId="{00000000-0000-0000-0000-000000000000}"/>
          </ac:spMkLst>
        </pc:spChg>
        <pc:spChg chg="mod">
          <ac:chgData name="久司 今村" userId="1c5d66dd010fbc96" providerId="LiveId" clId="{17FB10CB-4D7A-4D51-827D-8C222DDB014F}" dt="2026-03-25T23:35:02.008" v="50" actId="1035"/>
          <ac:spMkLst>
            <pc:docMk/>
            <pc:sldMk cId="0" sldId="267"/>
            <ac:spMk id="17" creationId="{00000000-0000-0000-0000-000000000000}"/>
          </ac:spMkLst>
        </pc:spChg>
        <pc:spChg chg="mod">
          <ac:chgData name="久司 今村" userId="1c5d66dd010fbc96" providerId="LiveId" clId="{17FB10CB-4D7A-4D51-827D-8C222DDB014F}" dt="2026-03-25T23:35:02.008" v="50" actId="1035"/>
          <ac:spMkLst>
            <pc:docMk/>
            <pc:sldMk cId="0" sldId="267"/>
            <ac:spMk id="18" creationId="{00000000-0000-0000-0000-000000000000}"/>
          </ac:spMkLst>
        </pc:spChg>
        <pc:spChg chg="mod">
          <ac:chgData name="久司 今村" userId="1c5d66dd010fbc96" providerId="LiveId" clId="{17FB10CB-4D7A-4D51-827D-8C222DDB014F}" dt="2026-03-25T23:35:02.008" v="50" actId="1035"/>
          <ac:spMkLst>
            <pc:docMk/>
            <pc:sldMk cId="0" sldId="267"/>
            <ac:spMk id="19" creationId="{00000000-0000-0000-0000-000000000000}"/>
          </ac:spMkLst>
        </pc:spChg>
        <pc:spChg chg="mod">
          <ac:chgData name="久司 今村" userId="1c5d66dd010fbc96" providerId="LiveId" clId="{17FB10CB-4D7A-4D51-827D-8C222DDB014F}" dt="2026-03-25T23:35:14.529" v="51" actId="1076"/>
          <ac:spMkLst>
            <pc:docMk/>
            <pc:sldMk cId="0" sldId="267"/>
            <ac:spMk id="21" creationId="{00000000-0000-0000-0000-000000000000}"/>
          </ac:spMkLst>
        </pc:spChg>
        <pc:spChg chg="mod">
          <ac:chgData name="久司 今村" userId="1c5d66dd010fbc96" providerId="LiveId" clId="{17FB10CB-4D7A-4D51-827D-8C222DDB014F}" dt="2026-03-25T23:35:22.769" v="52" actId="1076"/>
          <ac:spMkLst>
            <pc:docMk/>
            <pc:sldMk cId="0" sldId="267"/>
            <ac:spMk id="22" creationId="{00000000-0000-0000-0000-000000000000}"/>
          </ac:spMkLst>
        </pc:spChg>
      </pc:sldChg>
      <pc:sldChg chg="modSp mod">
        <pc:chgData name="久司 今村" userId="1c5d66dd010fbc96" providerId="LiveId" clId="{17FB10CB-4D7A-4D51-827D-8C222DDB014F}" dt="2026-03-25T23:35:42.904" v="53" actId="14100"/>
        <pc:sldMkLst>
          <pc:docMk/>
          <pc:sldMk cId="0" sldId="268"/>
        </pc:sldMkLst>
        <pc:spChg chg="mod">
          <ac:chgData name="久司 今村" userId="1c5d66dd010fbc96" providerId="LiveId" clId="{17FB10CB-4D7A-4D51-827D-8C222DDB014F}" dt="2026-03-25T23:35:42.904" v="53" actId="14100"/>
          <ac:spMkLst>
            <pc:docMk/>
            <pc:sldMk cId="0" sldId="268"/>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988277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5E20"/>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8F00"/>
          </a:solidFill>
          <a:ln/>
        </p:spPr>
        <p:txBody>
          <a:bodyPr/>
          <a:lstStyle/>
          <a:p>
            <a:endParaRPr lang="ja-JP" altLang="en-US"/>
          </a:p>
        </p:txBody>
      </p:sp>
      <p:sp>
        <p:nvSpPr>
          <p:cNvPr id="3" name="Shape 1"/>
          <p:cNvSpPr/>
          <p:nvPr/>
        </p:nvSpPr>
        <p:spPr>
          <a:xfrm>
            <a:off x="0" y="5088636"/>
            <a:ext cx="9144000" cy="54864"/>
          </a:xfrm>
          <a:prstGeom prst="rect">
            <a:avLst/>
          </a:prstGeom>
          <a:solidFill>
            <a:srgbClr val="FF8F00"/>
          </a:solidFill>
          <a:ln/>
        </p:spPr>
        <p:txBody>
          <a:bodyPr/>
          <a:lstStyle/>
          <a:p>
            <a:endParaRPr lang="ja-JP" altLang="en-US"/>
          </a:p>
        </p:txBody>
      </p:sp>
      <p:sp>
        <p:nvSpPr>
          <p:cNvPr id="4" name="Text 2"/>
          <p:cNvSpPr/>
          <p:nvPr/>
        </p:nvSpPr>
        <p:spPr>
          <a:xfrm>
            <a:off x="548640" y="457200"/>
            <a:ext cx="8046720" cy="457200"/>
          </a:xfrm>
          <a:prstGeom prst="rect">
            <a:avLst/>
          </a:prstGeom>
          <a:noFill/>
          <a:ln/>
        </p:spPr>
        <p:txBody>
          <a:bodyPr wrap="square" lIns="0" tIns="0" rIns="0" bIns="0" rtlCol="0" anchor="ctr"/>
          <a:lstStyle/>
          <a:p>
            <a:pPr marL="0" indent="0" algn="ctr">
              <a:buNone/>
            </a:pPr>
            <a:r>
              <a:rPr lang="en-US" sz="1600" dirty="0">
                <a:solidFill>
                  <a:srgbClr val="A5D6A7"/>
                </a:solidFill>
                <a:latin typeface="BIZ UDPGothic" pitchFamily="34" charset="0"/>
                <a:ea typeface="BIZ UDPGothic" pitchFamily="34" charset="-122"/>
                <a:cs typeface="BIZ UDPGothic" pitchFamily="34" charset="-120"/>
              </a:rPr>
              <a:t>外来でそのまま使える食事指導シリーズ</a:t>
            </a:r>
            <a:endParaRPr lang="en-US" sz="1600" dirty="0"/>
          </a:p>
        </p:txBody>
      </p:sp>
      <p:sp>
        <p:nvSpPr>
          <p:cNvPr id="5" name="Shape 3"/>
          <p:cNvSpPr/>
          <p:nvPr/>
        </p:nvSpPr>
        <p:spPr>
          <a:xfrm>
            <a:off x="3474720" y="1097280"/>
            <a:ext cx="2194560" cy="457200"/>
          </a:xfrm>
          <a:prstGeom prst="roundRect">
            <a:avLst>
              <a:gd name="adj" fmla="val 50000"/>
            </a:avLst>
          </a:prstGeom>
          <a:solidFill>
            <a:srgbClr val="FF8F00"/>
          </a:solidFill>
          <a:ln/>
        </p:spPr>
        <p:txBody>
          <a:bodyPr/>
          <a:lstStyle/>
          <a:p>
            <a:endParaRPr lang="ja-JP" altLang="en-US"/>
          </a:p>
        </p:txBody>
      </p:sp>
      <p:sp>
        <p:nvSpPr>
          <p:cNvPr id="6" name="Text 4"/>
          <p:cNvSpPr/>
          <p:nvPr/>
        </p:nvSpPr>
        <p:spPr>
          <a:xfrm>
            <a:off x="3474720" y="1097280"/>
            <a:ext cx="21945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BIZ UDPGothic" pitchFamily="34" charset="0"/>
                <a:ea typeface="BIZ UDPGothic" pitchFamily="34" charset="-122"/>
                <a:cs typeface="BIZ UDPGothic" pitchFamily="34" charset="-120"/>
              </a:rPr>
              <a:t>第2回 / 全10回</a:t>
            </a:r>
            <a:endParaRPr lang="en-US" sz="1400" dirty="0"/>
          </a:p>
        </p:txBody>
      </p:sp>
      <p:sp>
        <p:nvSpPr>
          <p:cNvPr id="7" name="Text 5"/>
          <p:cNvSpPr/>
          <p:nvPr/>
        </p:nvSpPr>
        <p:spPr>
          <a:xfrm>
            <a:off x="548640" y="1828800"/>
            <a:ext cx="8046720" cy="1280160"/>
          </a:xfrm>
          <a:prstGeom prst="rect">
            <a:avLst/>
          </a:prstGeom>
          <a:noFill/>
          <a:ln/>
        </p:spPr>
        <p:txBody>
          <a:bodyPr wrap="square" lIns="0" tIns="0" rIns="0" bIns="0" rtlCol="0" anchor="ctr"/>
          <a:lstStyle/>
          <a:p>
            <a:pPr marL="0" indent="0" algn="ctr">
              <a:buNone/>
            </a:pPr>
            <a:r>
              <a:rPr lang="en-US" sz="3400" b="1" dirty="0">
                <a:solidFill>
                  <a:srgbClr val="FFFFFF"/>
                </a:solidFill>
                <a:latin typeface="BIZ UDPGothic" pitchFamily="34" charset="0"/>
                <a:ea typeface="BIZ UDPGothic" pitchFamily="34" charset="-122"/>
                <a:cs typeface="BIZ UDPGothic" pitchFamily="34" charset="-120"/>
              </a:rPr>
              <a:t>高血圧の食事指導</a:t>
            </a:r>
            <a:endParaRPr lang="en-US" sz="3400" dirty="0"/>
          </a:p>
          <a:p>
            <a:pPr marL="0" indent="0" algn="ctr">
              <a:buNone/>
            </a:pPr>
            <a:r>
              <a:rPr lang="en-US" sz="3400" b="1" dirty="0">
                <a:solidFill>
                  <a:srgbClr val="FFFFFF"/>
                </a:solidFill>
                <a:latin typeface="BIZ UDPGothic" pitchFamily="34" charset="0"/>
                <a:ea typeface="BIZ UDPGothic" pitchFamily="34" charset="-122"/>
                <a:cs typeface="BIZ UDPGothic" pitchFamily="34" charset="-120"/>
              </a:rPr>
              <a:t>― 減塩だけでは不十分な理由</a:t>
            </a:r>
            <a:endParaRPr lang="en-US" sz="3400" dirty="0"/>
          </a:p>
        </p:txBody>
      </p:sp>
      <p:sp>
        <p:nvSpPr>
          <p:cNvPr id="8" name="Shape 6"/>
          <p:cNvSpPr/>
          <p:nvPr/>
        </p:nvSpPr>
        <p:spPr>
          <a:xfrm>
            <a:off x="2286000" y="3291840"/>
            <a:ext cx="4572000" cy="0"/>
          </a:xfrm>
          <a:prstGeom prst="line">
            <a:avLst/>
          </a:prstGeom>
          <a:noFill/>
          <a:ln w="25400">
            <a:solidFill>
              <a:srgbClr val="FF8F00"/>
            </a:solidFill>
            <a:prstDash val="solid"/>
          </a:ln>
        </p:spPr>
        <p:txBody>
          <a:bodyPr/>
          <a:lstStyle/>
          <a:p>
            <a:endParaRPr lang="ja-JP" altLang="en-US"/>
          </a:p>
        </p:txBody>
      </p:sp>
      <p:sp>
        <p:nvSpPr>
          <p:cNvPr id="9" name="Text 7"/>
          <p:cNvSpPr/>
          <p:nvPr/>
        </p:nvSpPr>
        <p:spPr>
          <a:xfrm>
            <a:off x="548640" y="3566160"/>
            <a:ext cx="8046720" cy="548640"/>
          </a:xfrm>
          <a:prstGeom prst="rect">
            <a:avLst/>
          </a:prstGeom>
          <a:noFill/>
          <a:ln/>
        </p:spPr>
        <p:txBody>
          <a:bodyPr wrap="square" lIns="0" tIns="0" rIns="0" bIns="0" rtlCol="0" anchor="ctr"/>
          <a:lstStyle/>
          <a:p>
            <a:pPr marL="0" indent="0" algn="ctr">
              <a:buNone/>
            </a:pPr>
            <a:r>
              <a:rPr lang="en-US" sz="1800" i="1" dirty="0">
                <a:solidFill>
                  <a:srgbClr val="B0BEC5"/>
                </a:solidFill>
                <a:latin typeface="BIZ UDPGothic" pitchFamily="34" charset="0"/>
                <a:ea typeface="BIZ UDPGothic" pitchFamily="34" charset="-122"/>
                <a:cs typeface="BIZ UDPGothic" pitchFamily="34" charset="-120"/>
              </a:rPr>
              <a:t>食塩摂取 6g/日未満を目指す外来の実践</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32"/>
          </a:solidFill>
          <a:ln/>
        </p:spPr>
        <p:txBody>
          <a:bodyPr/>
          <a:lstStyle/>
          <a:p>
            <a:endParaRPr lang="ja-JP" altLang="en-US"/>
          </a:p>
        </p:txBody>
      </p:sp>
      <p:sp>
        <p:nvSpPr>
          <p:cNvPr id="3" name="Text 1"/>
          <p:cNvSpPr/>
          <p:nvPr/>
        </p:nvSpPr>
        <p:spPr>
          <a:xfrm>
            <a:off x="457200" y="9144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BIZ UDPGothic" pitchFamily="34" charset="0"/>
                <a:ea typeface="BIZ UDPGothic" pitchFamily="34" charset="-122"/>
                <a:cs typeface="BIZ UDPGothic" pitchFamily="34" charset="-120"/>
              </a:rPr>
              <a:t>高血圧で食事が重要な理由</a:t>
            </a:r>
            <a:endParaRPr lang="en-US" sz="2800" dirty="0"/>
          </a:p>
        </p:txBody>
      </p:sp>
      <p:sp>
        <p:nvSpPr>
          <p:cNvPr id="4" name="Shape 2"/>
          <p:cNvSpPr/>
          <p:nvPr/>
        </p:nvSpPr>
        <p:spPr>
          <a:xfrm>
            <a:off x="731520" y="1097280"/>
            <a:ext cx="7680960" cy="914400"/>
          </a:xfrm>
          <a:prstGeom prst="roundRect">
            <a:avLst>
              <a:gd name="adj" fmla="val 10000"/>
            </a:avLst>
          </a:prstGeom>
          <a:solidFill>
            <a:srgbClr val="E8F5E9"/>
          </a:solidFill>
          <a:ln/>
        </p:spPr>
        <p:txBody>
          <a:bodyPr/>
          <a:lstStyle/>
          <a:p>
            <a:endParaRPr lang="ja-JP" altLang="en-US"/>
          </a:p>
        </p:txBody>
      </p:sp>
      <p:sp>
        <p:nvSpPr>
          <p:cNvPr id="5" name="Text 3"/>
          <p:cNvSpPr/>
          <p:nvPr/>
        </p:nvSpPr>
        <p:spPr>
          <a:xfrm>
            <a:off x="914399" y="1097280"/>
            <a:ext cx="7408985" cy="914400"/>
          </a:xfrm>
          <a:prstGeom prst="rect">
            <a:avLst/>
          </a:prstGeom>
          <a:noFill/>
          <a:ln/>
        </p:spPr>
        <p:txBody>
          <a:bodyPr wrap="square" lIns="0" tIns="0" rIns="0" bIns="0" rtlCol="0" anchor="ctr"/>
          <a:lstStyle/>
          <a:p>
            <a:pPr marL="0" indent="0" algn="ctr">
              <a:buNone/>
            </a:pPr>
            <a:r>
              <a:rPr lang="en-US" sz="2000" b="1" dirty="0">
                <a:solidFill>
                  <a:srgbClr val="1B5E20"/>
                </a:solidFill>
                <a:latin typeface="BIZ UDPGothic" pitchFamily="34" charset="0"/>
                <a:ea typeface="BIZ UDPGothic" pitchFamily="34" charset="-122"/>
                <a:cs typeface="BIZ UDPGothic" pitchFamily="34" charset="-120"/>
              </a:rPr>
              <a:t>高血圧 → 脳卒中・心不全・虚血性心疾患・CKD の重要な危険因子</a:t>
            </a:r>
            <a:endParaRPr lang="en-US" sz="2000" dirty="0"/>
          </a:p>
        </p:txBody>
      </p:sp>
      <p:sp>
        <p:nvSpPr>
          <p:cNvPr id="6" name="Shape 4"/>
          <p:cNvSpPr/>
          <p:nvPr/>
        </p:nvSpPr>
        <p:spPr>
          <a:xfrm>
            <a:off x="457200" y="2377440"/>
            <a:ext cx="3931920" cy="2286000"/>
          </a:xfrm>
          <a:prstGeom prst="roundRect">
            <a:avLst>
              <a:gd name="adj" fmla="val 4000"/>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7" name="Shape 5"/>
          <p:cNvSpPr/>
          <p:nvPr/>
        </p:nvSpPr>
        <p:spPr>
          <a:xfrm>
            <a:off x="457200" y="2377440"/>
            <a:ext cx="3931920" cy="502920"/>
          </a:xfrm>
          <a:prstGeom prst="roundRect">
            <a:avLst>
              <a:gd name="adj" fmla="val 18182"/>
            </a:avLst>
          </a:prstGeom>
          <a:solidFill>
            <a:srgbClr val="2E7D32"/>
          </a:solidFill>
          <a:ln/>
        </p:spPr>
        <p:txBody>
          <a:bodyPr/>
          <a:lstStyle/>
          <a:p>
            <a:endParaRPr lang="ja-JP" altLang="en-US"/>
          </a:p>
        </p:txBody>
      </p:sp>
      <p:sp>
        <p:nvSpPr>
          <p:cNvPr id="8" name="Text 6"/>
          <p:cNvSpPr/>
          <p:nvPr/>
        </p:nvSpPr>
        <p:spPr>
          <a:xfrm>
            <a:off x="457200" y="2377440"/>
            <a:ext cx="3931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BIZ UDPGothic" pitchFamily="34" charset="0"/>
                <a:ea typeface="BIZ UDPGothic" pitchFamily="34" charset="-122"/>
                <a:cs typeface="BIZ UDPGothic" pitchFamily="34" charset="-120"/>
              </a:rPr>
              <a:t>食事療法の位置づけ</a:t>
            </a:r>
            <a:endParaRPr lang="en-US" sz="1800" dirty="0"/>
          </a:p>
        </p:txBody>
      </p:sp>
      <p:sp>
        <p:nvSpPr>
          <p:cNvPr id="9" name="Text 7"/>
          <p:cNvSpPr/>
          <p:nvPr/>
        </p:nvSpPr>
        <p:spPr>
          <a:xfrm>
            <a:off x="731520" y="3017520"/>
            <a:ext cx="3383280" cy="1463040"/>
          </a:xfrm>
          <a:prstGeom prst="rect">
            <a:avLst/>
          </a:prstGeom>
          <a:noFill/>
          <a:ln/>
        </p:spPr>
        <p:txBody>
          <a:bodyPr wrap="square" lIns="0" tIns="0" rIns="0" bIns="0" rtlCol="0" anchor="ctr"/>
          <a:lstStyle/>
          <a:p>
            <a:pPr marL="0" indent="0">
              <a:buNone/>
            </a:pPr>
            <a:r>
              <a:rPr lang="en-US" sz="1600" dirty="0">
                <a:solidFill>
                  <a:srgbClr val="2D3436"/>
                </a:solidFill>
                <a:latin typeface="BIZ UDPGothic" pitchFamily="34" charset="0"/>
                <a:ea typeface="BIZ UDPGothic" pitchFamily="34" charset="-122"/>
                <a:cs typeface="BIZ UDPGothic" pitchFamily="34" charset="-120"/>
              </a:rPr>
              <a:t>・薬物療法と並ぶ基礎的介入</a:t>
            </a:r>
            <a:endParaRPr lang="en-US" sz="1600" dirty="0"/>
          </a:p>
          <a:p>
            <a:pPr marL="0" indent="0">
              <a:buNone/>
            </a:pPr>
            <a:r>
              <a:rPr lang="en-US" sz="1600" dirty="0">
                <a:solidFill>
                  <a:srgbClr val="2D3436"/>
                </a:solidFill>
                <a:latin typeface="BIZ UDPGothic" pitchFamily="34" charset="0"/>
                <a:ea typeface="BIZ UDPGothic" pitchFamily="34" charset="-122"/>
                <a:cs typeface="BIZ UDPGothic" pitchFamily="34" charset="-120"/>
              </a:rPr>
              <a:t>・減塩は治療にも予防にも有効</a:t>
            </a:r>
            <a:endParaRPr lang="en-US" sz="1600" dirty="0"/>
          </a:p>
          <a:p>
            <a:pPr marL="0" indent="0">
              <a:buNone/>
            </a:pPr>
            <a:r>
              <a:rPr lang="en-US" sz="1600" dirty="0">
                <a:solidFill>
                  <a:srgbClr val="2D3436"/>
                </a:solidFill>
                <a:latin typeface="BIZ UDPGothic" pitchFamily="34" charset="0"/>
                <a:ea typeface="BIZ UDPGothic" pitchFamily="34" charset="-122"/>
                <a:cs typeface="BIZ UDPGothic" pitchFamily="34" charset="-120"/>
              </a:rPr>
              <a:t>・食事だけで全て解決はしないが</a:t>
            </a:r>
            <a:endParaRPr lang="en-US" sz="1600" dirty="0"/>
          </a:p>
          <a:p>
            <a:pPr marL="0" indent="0">
              <a:buNone/>
            </a:pPr>
            <a:r>
              <a:rPr lang="en-US" sz="1600" dirty="0">
                <a:solidFill>
                  <a:srgbClr val="2D3436"/>
                </a:solidFill>
                <a:latin typeface="BIZ UDPGothic" pitchFamily="34" charset="0"/>
                <a:ea typeface="BIZ UDPGothic" pitchFamily="34" charset="-122"/>
                <a:cs typeface="BIZ UDPGothic" pitchFamily="34" charset="-120"/>
              </a:rPr>
              <a:t>  薬物療法との併用で効果向上</a:t>
            </a:r>
            <a:endParaRPr lang="en-US" sz="1600" dirty="0"/>
          </a:p>
        </p:txBody>
      </p:sp>
      <p:sp>
        <p:nvSpPr>
          <p:cNvPr id="10" name="Shape 8"/>
          <p:cNvSpPr/>
          <p:nvPr/>
        </p:nvSpPr>
        <p:spPr>
          <a:xfrm>
            <a:off x="4754880" y="2377440"/>
            <a:ext cx="3931920" cy="2286000"/>
          </a:xfrm>
          <a:prstGeom prst="roundRect">
            <a:avLst>
              <a:gd name="adj" fmla="val 4000"/>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11" name="Shape 9"/>
          <p:cNvSpPr/>
          <p:nvPr/>
        </p:nvSpPr>
        <p:spPr>
          <a:xfrm>
            <a:off x="4754880" y="2377440"/>
            <a:ext cx="3931920" cy="502920"/>
          </a:xfrm>
          <a:prstGeom prst="roundRect">
            <a:avLst>
              <a:gd name="adj" fmla="val 18182"/>
            </a:avLst>
          </a:prstGeom>
          <a:solidFill>
            <a:srgbClr val="E67E22"/>
          </a:solidFill>
          <a:ln/>
        </p:spPr>
        <p:txBody>
          <a:bodyPr/>
          <a:lstStyle/>
          <a:p>
            <a:endParaRPr lang="ja-JP" altLang="en-US"/>
          </a:p>
        </p:txBody>
      </p:sp>
      <p:sp>
        <p:nvSpPr>
          <p:cNvPr id="12" name="Text 10"/>
          <p:cNvSpPr/>
          <p:nvPr/>
        </p:nvSpPr>
        <p:spPr>
          <a:xfrm>
            <a:off x="4754880" y="2377440"/>
            <a:ext cx="3931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BIZ UDPGothic" pitchFamily="34" charset="0"/>
                <a:ea typeface="BIZ UDPGothic" pitchFamily="34" charset="-122"/>
                <a:cs typeface="BIZ UDPGothic" pitchFamily="34" charset="-120"/>
              </a:rPr>
              <a:t>血圧に影響する因子</a:t>
            </a:r>
            <a:endParaRPr lang="en-US" sz="1800" dirty="0"/>
          </a:p>
        </p:txBody>
      </p:sp>
      <p:sp>
        <p:nvSpPr>
          <p:cNvPr id="13" name="Text 11"/>
          <p:cNvSpPr/>
          <p:nvPr/>
        </p:nvSpPr>
        <p:spPr>
          <a:xfrm>
            <a:off x="5029200" y="3017520"/>
            <a:ext cx="3383280" cy="1463040"/>
          </a:xfrm>
          <a:prstGeom prst="rect">
            <a:avLst/>
          </a:prstGeom>
          <a:noFill/>
          <a:ln/>
        </p:spPr>
        <p:txBody>
          <a:bodyPr wrap="square" lIns="0" tIns="0" rIns="0" bIns="0" rtlCol="0" anchor="ctr"/>
          <a:lstStyle/>
          <a:p>
            <a:pPr marL="0" indent="0">
              <a:buNone/>
            </a:pPr>
            <a:r>
              <a:rPr lang="en-US" sz="1600" dirty="0">
                <a:solidFill>
                  <a:srgbClr val="2D3436"/>
                </a:solidFill>
                <a:latin typeface="BIZ UDPGothic" pitchFamily="34" charset="0"/>
                <a:ea typeface="BIZ UDPGothic" pitchFamily="34" charset="-122"/>
                <a:cs typeface="BIZ UDPGothic" pitchFamily="34" charset="-120"/>
              </a:rPr>
              <a:t>・食塩摂取</a:t>
            </a:r>
            <a:endParaRPr lang="en-US" sz="1600" dirty="0"/>
          </a:p>
          <a:p>
            <a:pPr marL="0" indent="0">
              <a:buNone/>
            </a:pPr>
            <a:r>
              <a:rPr lang="en-US" sz="1600" dirty="0">
                <a:solidFill>
                  <a:srgbClr val="2D3436"/>
                </a:solidFill>
                <a:latin typeface="BIZ UDPGothic" pitchFamily="34" charset="0"/>
                <a:ea typeface="BIZ UDPGothic" pitchFamily="34" charset="-122"/>
                <a:cs typeface="BIZ UDPGothic" pitchFamily="34" charset="-120"/>
              </a:rPr>
              <a:t>・肥満（内臓脂肪）</a:t>
            </a:r>
            <a:endParaRPr lang="en-US" sz="1600" dirty="0"/>
          </a:p>
          <a:p>
            <a:pPr marL="0" indent="0">
              <a:buNone/>
            </a:pPr>
            <a:r>
              <a:rPr lang="en-US" sz="1600" dirty="0">
                <a:solidFill>
                  <a:srgbClr val="2D3436"/>
                </a:solidFill>
                <a:latin typeface="BIZ UDPGothic" pitchFamily="34" charset="0"/>
                <a:ea typeface="BIZ UDPGothic" pitchFamily="34" charset="-122"/>
                <a:cs typeface="BIZ UDPGothic" pitchFamily="34" charset="-120"/>
              </a:rPr>
              <a:t>・飲酒</a:t>
            </a:r>
            <a:endParaRPr lang="en-US" sz="1600" dirty="0"/>
          </a:p>
          <a:p>
            <a:pPr marL="0" indent="0">
              <a:buNone/>
            </a:pPr>
            <a:r>
              <a:rPr lang="en-US" sz="1600" dirty="0">
                <a:solidFill>
                  <a:srgbClr val="2D3436"/>
                </a:solidFill>
                <a:latin typeface="BIZ UDPGothic" pitchFamily="34" charset="0"/>
                <a:ea typeface="BIZ UDPGothic" pitchFamily="34" charset="-122"/>
                <a:cs typeface="BIZ UDPGothic" pitchFamily="34" charset="-120"/>
              </a:rPr>
              <a:t>・運動不足・ストレス</a:t>
            </a:r>
            <a:endParaRPr lang="en-US" sz="1600" dirty="0"/>
          </a:p>
          <a:p>
            <a:pPr marL="0" indent="0">
              <a:buNone/>
            </a:pPr>
            <a:r>
              <a:rPr lang="en-US" sz="1600" dirty="0">
                <a:solidFill>
                  <a:srgbClr val="2D3436"/>
                </a:solidFill>
                <a:latin typeface="BIZ UDPGothic" pitchFamily="34" charset="0"/>
                <a:ea typeface="BIZ UDPGothic" pitchFamily="34" charset="-122"/>
                <a:cs typeface="BIZ UDPGothic" pitchFamily="34" charset="-120"/>
              </a:rPr>
              <a:t>・腎機能・薬剤</a:t>
            </a:r>
            <a:endParaRPr lang="en-US" sz="1600" dirty="0"/>
          </a:p>
        </p:txBody>
      </p:sp>
      <p:sp>
        <p:nvSpPr>
          <p:cNvPr id="14" name="Shape 12"/>
          <p:cNvSpPr/>
          <p:nvPr/>
        </p:nvSpPr>
        <p:spPr>
          <a:xfrm>
            <a:off x="0" y="4892040"/>
            <a:ext cx="9144000" cy="256032"/>
          </a:xfrm>
          <a:prstGeom prst="rect">
            <a:avLst/>
          </a:prstGeom>
          <a:solidFill>
            <a:srgbClr val="1B5E20"/>
          </a:solidFill>
          <a:ln/>
        </p:spPr>
        <p:txBody>
          <a:bodyPr/>
          <a:lstStyle/>
          <a:p>
            <a:endParaRPr lang="ja-JP" altLang="en-US"/>
          </a:p>
        </p:txBody>
      </p:sp>
      <p:sp>
        <p:nvSpPr>
          <p:cNvPr id="15" name="Text 13"/>
          <p:cNvSpPr/>
          <p:nvPr/>
        </p:nvSpPr>
        <p:spPr>
          <a:xfrm>
            <a:off x="274320" y="4892040"/>
            <a:ext cx="8595360" cy="256032"/>
          </a:xfrm>
          <a:prstGeom prst="rect">
            <a:avLst/>
          </a:prstGeom>
          <a:noFill/>
          <a:ln/>
        </p:spPr>
        <p:txBody>
          <a:bodyPr wrap="square" lIns="0" tIns="0" rIns="0" bIns="0" rtlCol="0" anchor="ctr"/>
          <a:lstStyle/>
          <a:p>
            <a:pPr marL="0" indent="0" algn="r">
              <a:buNone/>
            </a:pPr>
            <a:r>
              <a:rPr lang="en-US" sz="1000" dirty="0">
                <a:solidFill>
                  <a:srgbClr val="A5D6A7"/>
                </a:solidFill>
                <a:latin typeface="BIZ UDPGothic" pitchFamily="34" charset="0"/>
                <a:ea typeface="BIZ UDPGothic" pitchFamily="34" charset="-122"/>
                <a:cs typeface="BIZ UDPGothic" pitchFamily="34" charset="-120"/>
              </a:rPr>
              <a:t>外来でそのまま使える食事指導シリーズ  第2回</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32"/>
          </a:solidFill>
          <a:ln/>
        </p:spPr>
        <p:txBody>
          <a:bodyPr/>
          <a:lstStyle/>
          <a:p>
            <a:endParaRPr lang="ja-JP" altLang="en-US"/>
          </a:p>
        </p:txBody>
      </p:sp>
      <p:sp>
        <p:nvSpPr>
          <p:cNvPr id="3" name="Text 1"/>
          <p:cNvSpPr/>
          <p:nvPr/>
        </p:nvSpPr>
        <p:spPr>
          <a:xfrm>
            <a:off x="457200" y="9144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BIZ UDPGothic" pitchFamily="34" charset="0"/>
                <a:ea typeface="BIZ UDPGothic" pitchFamily="34" charset="-122"/>
                <a:cs typeface="BIZ UDPGothic" pitchFamily="34" charset="-120"/>
              </a:rPr>
              <a:t>高血圧の食事指導で目指す3つのこと</a:t>
            </a:r>
            <a:endParaRPr lang="en-US" sz="2800" dirty="0"/>
          </a:p>
        </p:txBody>
      </p:sp>
      <p:sp>
        <p:nvSpPr>
          <p:cNvPr id="4" name="Shape 2"/>
          <p:cNvSpPr/>
          <p:nvPr/>
        </p:nvSpPr>
        <p:spPr>
          <a:xfrm>
            <a:off x="548640" y="1051560"/>
            <a:ext cx="8046720" cy="1005840"/>
          </a:xfrm>
          <a:prstGeom prst="roundRect">
            <a:avLst>
              <a:gd name="adj" fmla="val 9091"/>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5" name="Shape 3"/>
          <p:cNvSpPr/>
          <p:nvPr/>
        </p:nvSpPr>
        <p:spPr>
          <a:xfrm>
            <a:off x="822960" y="1234440"/>
            <a:ext cx="640080" cy="640080"/>
          </a:xfrm>
          <a:prstGeom prst="ellipse">
            <a:avLst/>
          </a:prstGeom>
          <a:solidFill>
            <a:srgbClr val="DC3545"/>
          </a:solidFill>
          <a:ln/>
        </p:spPr>
        <p:txBody>
          <a:bodyPr/>
          <a:lstStyle/>
          <a:p>
            <a:endParaRPr lang="ja-JP" altLang="en-US"/>
          </a:p>
        </p:txBody>
      </p:sp>
      <p:sp>
        <p:nvSpPr>
          <p:cNvPr id="6" name="Text 4"/>
          <p:cNvSpPr/>
          <p:nvPr/>
        </p:nvSpPr>
        <p:spPr>
          <a:xfrm>
            <a:off x="822960" y="123444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Segoe UI" pitchFamily="34" charset="0"/>
                <a:ea typeface="Segoe UI" pitchFamily="34" charset="-122"/>
                <a:cs typeface="Segoe UI" pitchFamily="34" charset="-120"/>
              </a:rPr>
              <a:t>1</a:t>
            </a:r>
            <a:endParaRPr lang="en-US" sz="2400" dirty="0"/>
          </a:p>
        </p:txBody>
      </p:sp>
      <p:sp>
        <p:nvSpPr>
          <p:cNvPr id="7" name="Text 5"/>
          <p:cNvSpPr/>
          <p:nvPr/>
        </p:nvSpPr>
        <p:spPr>
          <a:xfrm>
            <a:off x="1737360" y="1097280"/>
            <a:ext cx="5029200" cy="365760"/>
          </a:xfrm>
          <a:prstGeom prst="rect">
            <a:avLst/>
          </a:prstGeom>
          <a:noFill/>
          <a:ln/>
        </p:spPr>
        <p:txBody>
          <a:bodyPr wrap="square" lIns="0" tIns="0" rIns="0" bIns="0" rtlCol="0" anchor="ctr"/>
          <a:lstStyle/>
          <a:p>
            <a:pPr marL="0" indent="0">
              <a:buNone/>
            </a:pPr>
            <a:r>
              <a:rPr lang="en-US" sz="2000" b="1" dirty="0">
                <a:solidFill>
                  <a:srgbClr val="DC3545"/>
                </a:solidFill>
                <a:latin typeface="BIZ UDPGothic" pitchFamily="34" charset="0"/>
                <a:ea typeface="BIZ UDPGothic" pitchFamily="34" charset="-122"/>
                <a:cs typeface="BIZ UDPGothic" pitchFamily="34" charset="-120"/>
              </a:rPr>
              <a:t>食塩摂取を減らす</a:t>
            </a:r>
            <a:endParaRPr lang="en-US" sz="2000" dirty="0"/>
          </a:p>
        </p:txBody>
      </p:sp>
      <p:sp>
        <p:nvSpPr>
          <p:cNvPr id="8" name="Text 6"/>
          <p:cNvSpPr/>
          <p:nvPr/>
        </p:nvSpPr>
        <p:spPr>
          <a:xfrm>
            <a:off x="1737360" y="1490472"/>
            <a:ext cx="5943600" cy="502920"/>
          </a:xfrm>
          <a:prstGeom prst="rect">
            <a:avLst/>
          </a:prstGeom>
          <a:noFill/>
          <a:ln/>
        </p:spPr>
        <p:txBody>
          <a:bodyPr wrap="square" lIns="0" tIns="0" rIns="0" bIns="0" rtlCol="0" anchor="ctr"/>
          <a:lstStyle/>
          <a:p>
            <a:pPr marL="0" indent="0">
              <a:buNone/>
            </a:pPr>
            <a:r>
              <a:rPr lang="en-US" sz="1400" dirty="0">
                <a:solidFill>
                  <a:srgbClr val="636E72"/>
                </a:solidFill>
                <a:latin typeface="BIZ UDPGothic" pitchFamily="34" charset="0"/>
                <a:ea typeface="BIZ UDPGothic" pitchFamily="34" charset="-122"/>
                <a:cs typeface="BIZ UDPGothic" pitchFamily="34" charset="-120"/>
              </a:rPr>
              <a:t>最優先。外食・加工食品・汁物が多い患者で効果大</a:t>
            </a:r>
            <a:endParaRPr lang="en-US" sz="1400" dirty="0"/>
          </a:p>
        </p:txBody>
      </p:sp>
      <p:sp>
        <p:nvSpPr>
          <p:cNvPr id="9" name="Shape 7"/>
          <p:cNvSpPr/>
          <p:nvPr/>
        </p:nvSpPr>
        <p:spPr>
          <a:xfrm>
            <a:off x="7498080" y="1325880"/>
            <a:ext cx="914400" cy="365760"/>
          </a:xfrm>
          <a:prstGeom prst="roundRect">
            <a:avLst>
              <a:gd name="adj" fmla="val 50000"/>
            </a:avLst>
          </a:prstGeom>
          <a:solidFill>
            <a:srgbClr val="DC3545"/>
          </a:solidFill>
          <a:ln/>
        </p:spPr>
        <p:txBody>
          <a:bodyPr/>
          <a:lstStyle/>
          <a:p>
            <a:endParaRPr lang="ja-JP" altLang="en-US"/>
          </a:p>
        </p:txBody>
      </p:sp>
      <p:sp>
        <p:nvSpPr>
          <p:cNvPr id="10" name="Text 8"/>
          <p:cNvSpPr/>
          <p:nvPr/>
        </p:nvSpPr>
        <p:spPr>
          <a:xfrm>
            <a:off x="7498080" y="1325880"/>
            <a:ext cx="91440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BIZ UDPGothic" pitchFamily="34" charset="0"/>
                <a:ea typeface="BIZ UDPGothic" pitchFamily="34" charset="-122"/>
                <a:cs typeface="BIZ UDPGothic" pitchFamily="34" charset="-120"/>
              </a:rPr>
              <a:t>最優先</a:t>
            </a:r>
            <a:endParaRPr lang="en-US" sz="1200" dirty="0"/>
          </a:p>
        </p:txBody>
      </p:sp>
      <p:sp>
        <p:nvSpPr>
          <p:cNvPr id="11" name="Shape 9"/>
          <p:cNvSpPr/>
          <p:nvPr/>
        </p:nvSpPr>
        <p:spPr>
          <a:xfrm>
            <a:off x="548640" y="2240280"/>
            <a:ext cx="8046720" cy="1005840"/>
          </a:xfrm>
          <a:prstGeom prst="roundRect">
            <a:avLst>
              <a:gd name="adj" fmla="val 9091"/>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12" name="Shape 10"/>
          <p:cNvSpPr/>
          <p:nvPr/>
        </p:nvSpPr>
        <p:spPr>
          <a:xfrm>
            <a:off x="822960" y="2423160"/>
            <a:ext cx="640080" cy="640080"/>
          </a:xfrm>
          <a:prstGeom prst="ellipse">
            <a:avLst/>
          </a:prstGeom>
          <a:solidFill>
            <a:srgbClr val="E67E22"/>
          </a:solidFill>
          <a:ln/>
        </p:spPr>
        <p:txBody>
          <a:bodyPr/>
          <a:lstStyle/>
          <a:p>
            <a:endParaRPr lang="ja-JP" altLang="en-US"/>
          </a:p>
        </p:txBody>
      </p:sp>
      <p:sp>
        <p:nvSpPr>
          <p:cNvPr id="13" name="Text 11"/>
          <p:cNvSpPr/>
          <p:nvPr/>
        </p:nvSpPr>
        <p:spPr>
          <a:xfrm>
            <a:off x="822960" y="242316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Segoe UI" pitchFamily="34" charset="0"/>
                <a:ea typeface="Segoe UI" pitchFamily="34" charset="-122"/>
                <a:cs typeface="Segoe UI" pitchFamily="34" charset="-120"/>
              </a:rPr>
              <a:t>2</a:t>
            </a:r>
            <a:endParaRPr lang="en-US" sz="2400" dirty="0"/>
          </a:p>
        </p:txBody>
      </p:sp>
      <p:sp>
        <p:nvSpPr>
          <p:cNvPr id="14" name="Text 12"/>
          <p:cNvSpPr/>
          <p:nvPr/>
        </p:nvSpPr>
        <p:spPr>
          <a:xfrm>
            <a:off x="1737360" y="2286000"/>
            <a:ext cx="5029200" cy="365760"/>
          </a:xfrm>
          <a:prstGeom prst="rect">
            <a:avLst/>
          </a:prstGeom>
          <a:noFill/>
          <a:ln/>
        </p:spPr>
        <p:txBody>
          <a:bodyPr wrap="square" lIns="0" tIns="0" rIns="0" bIns="0" rtlCol="0" anchor="ctr"/>
          <a:lstStyle/>
          <a:p>
            <a:pPr marL="0" indent="0">
              <a:buNone/>
            </a:pPr>
            <a:r>
              <a:rPr lang="en-US" sz="2000" b="1" dirty="0">
                <a:solidFill>
                  <a:srgbClr val="E67E22"/>
                </a:solidFill>
                <a:latin typeface="BIZ UDPGothic" pitchFamily="34" charset="0"/>
                <a:ea typeface="BIZ UDPGothic" pitchFamily="34" charset="-122"/>
                <a:cs typeface="BIZ UDPGothic" pitchFamily="34" charset="-120"/>
              </a:rPr>
              <a:t>体重が過剰なら少しでも減らす</a:t>
            </a:r>
            <a:endParaRPr lang="en-US" sz="2000" dirty="0"/>
          </a:p>
        </p:txBody>
      </p:sp>
      <p:sp>
        <p:nvSpPr>
          <p:cNvPr id="15" name="Text 13"/>
          <p:cNvSpPr/>
          <p:nvPr/>
        </p:nvSpPr>
        <p:spPr>
          <a:xfrm>
            <a:off x="1737360" y="2679192"/>
            <a:ext cx="5943600" cy="502920"/>
          </a:xfrm>
          <a:prstGeom prst="rect">
            <a:avLst/>
          </a:prstGeom>
          <a:noFill/>
          <a:ln/>
        </p:spPr>
        <p:txBody>
          <a:bodyPr wrap="square" lIns="0" tIns="0" rIns="0" bIns="0" rtlCol="0" anchor="ctr"/>
          <a:lstStyle/>
          <a:p>
            <a:pPr marL="0" indent="0">
              <a:buNone/>
            </a:pPr>
            <a:r>
              <a:rPr lang="en-US" sz="1400" dirty="0" err="1">
                <a:solidFill>
                  <a:srgbClr val="636E72"/>
                </a:solidFill>
                <a:latin typeface="BIZ UDPGothic" pitchFamily="34" charset="0"/>
                <a:ea typeface="BIZ UDPGothic" pitchFamily="34" charset="-122"/>
                <a:cs typeface="BIZ UDPGothic" pitchFamily="34" charset="-120"/>
              </a:rPr>
              <a:t>肥満があると血圧は下がりにくい</a:t>
            </a:r>
            <a:r>
              <a:rPr lang="en-US" sz="1400" dirty="0">
                <a:solidFill>
                  <a:srgbClr val="636E72"/>
                </a:solidFill>
                <a:latin typeface="BIZ UDPGothic" pitchFamily="34" charset="0"/>
                <a:ea typeface="BIZ UDPGothic" pitchFamily="34" charset="-122"/>
                <a:cs typeface="BIZ UDPGothic" pitchFamily="34" charset="-120"/>
              </a:rPr>
              <a:t>。</a:t>
            </a:r>
          </a:p>
          <a:p>
            <a:pPr marL="0" indent="0">
              <a:buNone/>
            </a:pPr>
            <a:r>
              <a:rPr lang="en-US" sz="1400" dirty="0" err="1">
                <a:solidFill>
                  <a:srgbClr val="636E72"/>
                </a:solidFill>
                <a:latin typeface="BIZ UDPGothic" pitchFamily="34" charset="0"/>
                <a:ea typeface="BIZ UDPGothic" pitchFamily="34" charset="-122"/>
                <a:cs typeface="BIZ UDPGothic" pitchFamily="34" charset="-120"/>
              </a:rPr>
              <a:t>食塩を減らしても体重増加が続けば改善乏しい</a:t>
            </a:r>
            <a:endParaRPr lang="en-US" sz="1400" dirty="0"/>
          </a:p>
        </p:txBody>
      </p:sp>
      <p:sp>
        <p:nvSpPr>
          <p:cNvPr id="16" name="Shape 14"/>
          <p:cNvSpPr/>
          <p:nvPr/>
        </p:nvSpPr>
        <p:spPr>
          <a:xfrm>
            <a:off x="7498080" y="2514600"/>
            <a:ext cx="914400" cy="365760"/>
          </a:xfrm>
          <a:prstGeom prst="roundRect">
            <a:avLst>
              <a:gd name="adj" fmla="val 50000"/>
            </a:avLst>
          </a:prstGeom>
          <a:solidFill>
            <a:srgbClr val="E67E22"/>
          </a:solidFill>
          <a:ln/>
        </p:spPr>
        <p:txBody>
          <a:bodyPr/>
          <a:lstStyle/>
          <a:p>
            <a:endParaRPr lang="ja-JP" altLang="en-US"/>
          </a:p>
        </p:txBody>
      </p:sp>
      <p:sp>
        <p:nvSpPr>
          <p:cNvPr id="17" name="Text 15"/>
          <p:cNvSpPr/>
          <p:nvPr/>
        </p:nvSpPr>
        <p:spPr>
          <a:xfrm>
            <a:off x="7498080" y="2514600"/>
            <a:ext cx="91440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BIZ UDPGothic" pitchFamily="34" charset="0"/>
                <a:ea typeface="BIZ UDPGothic" pitchFamily="34" charset="-122"/>
                <a:cs typeface="BIZ UDPGothic" pitchFamily="34" charset="-120"/>
              </a:rPr>
              <a:t>重要</a:t>
            </a:r>
            <a:endParaRPr lang="en-US" sz="1200" dirty="0"/>
          </a:p>
        </p:txBody>
      </p:sp>
      <p:sp>
        <p:nvSpPr>
          <p:cNvPr id="18" name="Shape 16"/>
          <p:cNvSpPr/>
          <p:nvPr/>
        </p:nvSpPr>
        <p:spPr>
          <a:xfrm>
            <a:off x="548640" y="3429000"/>
            <a:ext cx="8046720" cy="1005840"/>
          </a:xfrm>
          <a:prstGeom prst="roundRect">
            <a:avLst>
              <a:gd name="adj" fmla="val 9091"/>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19" name="Shape 17"/>
          <p:cNvSpPr/>
          <p:nvPr/>
        </p:nvSpPr>
        <p:spPr>
          <a:xfrm>
            <a:off x="822960" y="3611880"/>
            <a:ext cx="640080" cy="640080"/>
          </a:xfrm>
          <a:prstGeom prst="ellipse">
            <a:avLst/>
          </a:prstGeom>
          <a:solidFill>
            <a:srgbClr val="2E7D32"/>
          </a:solidFill>
          <a:ln/>
        </p:spPr>
        <p:txBody>
          <a:bodyPr/>
          <a:lstStyle/>
          <a:p>
            <a:endParaRPr lang="ja-JP" altLang="en-US"/>
          </a:p>
        </p:txBody>
      </p:sp>
      <p:sp>
        <p:nvSpPr>
          <p:cNvPr id="20" name="Text 18"/>
          <p:cNvSpPr/>
          <p:nvPr/>
        </p:nvSpPr>
        <p:spPr>
          <a:xfrm>
            <a:off x="822960" y="361188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Segoe UI" pitchFamily="34" charset="0"/>
                <a:ea typeface="Segoe UI" pitchFamily="34" charset="-122"/>
                <a:cs typeface="Segoe UI" pitchFamily="34" charset="-120"/>
              </a:rPr>
              <a:t>3</a:t>
            </a:r>
            <a:endParaRPr lang="en-US" sz="2400" dirty="0"/>
          </a:p>
        </p:txBody>
      </p:sp>
      <p:sp>
        <p:nvSpPr>
          <p:cNvPr id="21" name="Text 19"/>
          <p:cNvSpPr/>
          <p:nvPr/>
        </p:nvSpPr>
        <p:spPr>
          <a:xfrm>
            <a:off x="1737360" y="3474720"/>
            <a:ext cx="5029200" cy="365760"/>
          </a:xfrm>
          <a:prstGeom prst="rect">
            <a:avLst/>
          </a:prstGeom>
          <a:noFill/>
          <a:ln/>
        </p:spPr>
        <p:txBody>
          <a:bodyPr wrap="square" lIns="0" tIns="0" rIns="0" bIns="0" rtlCol="0" anchor="ctr"/>
          <a:lstStyle/>
          <a:p>
            <a:pPr marL="0" indent="0">
              <a:buNone/>
            </a:pPr>
            <a:r>
              <a:rPr lang="en-US" sz="2000" b="1" dirty="0">
                <a:solidFill>
                  <a:srgbClr val="2E7D32"/>
                </a:solidFill>
                <a:latin typeface="BIZ UDPGothic" pitchFamily="34" charset="0"/>
                <a:ea typeface="BIZ UDPGothic" pitchFamily="34" charset="-122"/>
                <a:cs typeface="BIZ UDPGothic" pitchFamily="34" charset="-120"/>
              </a:rPr>
              <a:t>続けられる形にする</a:t>
            </a:r>
            <a:endParaRPr lang="en-US" sz="2000" dirty="0"/>
          </a:p>
        </p:txBody>
      </p:sp>
      <p:sp>
        <p:nvSpPr>
          <p:cNvPr id="22" name="Text 20"/>
          <p:cNvSpPr/>
          <p:nvPr/>
        </p:nvSpPr>
        <p:spPr>
          <a:xfrm>
            <a:off x="1737360" y="3867912"/>
            <a:ext cx="5943600" cy="502920"/>
          </a:xfrm>
          <a:prstGeom prst="rect">
            <a:avLst/>
          </a:prstGeom>
          <a:noFill/>
          <a:ln/>
        </p:spPr>
        <p:txBody>
          <a:bodyPr wrap="square" lIns="0" tIns="0" rIns="0" bIns="0" rtlCol="0" anchor="ctr"/>
          <a:lstStyle/>
          <a:p>
            <a:pPr marL="0" indent="0">
              <a:buNone/>
            </a:pPr>
            <a:r>
              <a:rPr lang="en-US" sz="1400" dirty="0">
                <a:solidFill>
                  <a:srgbClr val="636E72"/>
                </a:solidFill>
                <a:latin typeface="BIZ UDPGothic" pitchFamily="34" charset="0"/>
                <a:ea typeface="BIZ UDPGothic" pitchFamily="34" charset="-122"/>
                <a:cs typeface="BIZ UDPGothic" pitchFamily="34" charset="-120"/>
              </a:rPr>
              <a:t>短期間だけ厳しくしても続かない。無理なく続けられて初めて意味がある</a:t>
            </a:r>
            <a:endParaRPr lang="en-US" sz="1400" dirty="0"/>
          </a:p>
        </p:txBody>
      </p:sp>
      <p:sp>
        <p:nvSpPr>
          <p:cNvPr id="23" name="Shape 21"/>
          <p:cNvSpPr/>
          <p:nvPr/>
        </p:nvSpPr>
        <p:spPr>
          <a:xfrm>
            <a:off x="7498080" y="3703320"/>
            <a:ext cx="914400" cy="365760"/>
          </a:xfrm>
          <a:prstGeom prst="roundRect">
            <a:avLst>
              <a:gd name="adj" fmla="val 50000"/>
            </a:avLst>
          </a:prstGeom>
          <a:solidFill>
            <a:srgbClr val="2E7D32"/>
          </a:solidFill>
          <a:ln/>
        </p:spPr>
        <p:txBody>
          <a:bodyPr/>
          <a:lstStyle/>
          <a:p>
            <a:endParaRPr lang="ja-JP" altLang="en-US"/>
          </a:p>
        </p:txBody>
      </p:sp>
      <p:sp>
        <p:nvSpPr>
          <p:cNvPr id="24" name="Text 22"/>
          <p:cNvSpPr/>
          <p:nvPr/>
        </p:nvSpPr>
        <p:spPr>
          <a:xfrm>
            <a:off x="7498080" y="3703320"/>
            <a:ext cx="91440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BIZ UDPGothic" pitchFamily="34" charset="0"/>
                <a:ea typeface="BIZ UDPGothic" pitchFamily="34" charset="-122"/>
                <a:cs typeface="BIZ UDPGothic" pitchFamily="34" charset="-120"/>
              </a:rPr>
              <a:t>基本</a:t>
            </a:r>
            <a:endParaRPr lang="en-US" sz="1200" dirty="0"/>
          </a:p>
        </p:txBody>
      </p:sp>
      <p:sp>
        <p:nvSpPr>
          <p:cNvPr id="25" name="Shape 23"/>
          <p:cNvSpPr/>
          <p:nvPr/>
        </p:nvSpPr>
        <p:spPr>
          <a:xfrm>
            <a:off x="0" y="4892040"/>
            <a:ext cx="9144000" cy="256032"/>
          </a:xfrm>
          <a:prstGeom prst="rect">
            <a:avLst/>
          </a:prstGeom>
          <a:solidFill>
            <a:srgbClr val="1B5E20"/>
          </a:solidFill>
          <a:ln/>
        </p:spPr>
        <p:txBody>
          <a:bodyPr/>
          <a:lstStyle/>
          <a:p>
            <a:endParaRPr lang="ja-JP" altLang="en-US"/>
          </a:p>
        </p:txBody>
      </p:sp>
      <p:sp>
        <p:nvSpPr>
          <p:cNvPr id="26" name="Text 24"/>
          <p:cNvSpPr/>
          <p:nvPr/>
        </p:nvSpPr>
        <p:spPr>
          <a:xfrm>
            <a:off x="274320" y="4892040"/>
            <a:ext cx="8595360" cy="256032"/>
          </a:xfrm>
          <a:prstGeom prst="rect">
            <a:avLst/>
          </a:prstGeom>
          <a:noFill/>
          <a:ln/>
        </p:spPr>
        <p:txBody>
          <a:bodyPr wrap="square" lIns="0" tIns="0" rIns="0" bIns="0" rtlCol="0" anchor="ctr"/>
          <a:lstStyle/>
          <a:p>
            <a:pPr marL="0" indent="0" algn="r">
              <a:buNone/>
            </a:pPr>
            <a:r>
              <a:rPr lang="en-US" sz="1000" dirty="0">
                <a:solidFill>
                  <a:srgbClr val="A5D6A7"/>
                </a:solidFill>
                <a:latin typeface="BIZ UDPGothic" pitchFamily="34" charset="0"/>
                <a:ea typeface="BIZ UDPGothic" pitchFamily="34" charset="-122"/>
                <a:cs typeface="BIZ UDPGothic" pitchFamily="34" charset="-120"/>
              </a:rPr>
              <a:t>外来でそのまま使える食事指導シリーズ  第2回</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DC3545"/>
          </a:solidFill>
          <a:ln/>
        </p:spPr>
        <p:txBody>
          <a:bodyPr/>
          <a:lstStyle/>
          <a:p>
            <a:endParaRPr lang="ja-JP" altLang="en-US"/>
          </a:p>
        </p:txBody>
      </p:sp>
      <p:sp>
        <p:nvSpPr>
          <p:cNvPr id="3" name="Text 1"/>
          <p:cNvSpPr/>
          <p:nvPr/>
        </p:nvSpPr>
        <p:spPr>
          <a:xfrm>
            <a:off x="457200" y="9144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BIZ UDPGothic" pitchFamily="34" charset="0"/>
                <a:ea typeface="BIZ UDPGothic" pitchFamily="34" charset="-122"/>
                <a:cs typeface="BIZ UDPGothic" pitchFamily="34" charset="-120"/>
              </a:rPr>
              <a:t>患者さんが気づいていない塩分源</a:t>
            </a:r>
            <a:endParaRPr lang="en-US" sz="2800" dirty="0"/>
          </a:p>
        </p:txBody>
      </p:sp>
      <p:sp>
        <p:nvSpPr>
          <p:cNvPr id="4" name="Shape 2"/>
          <p:cNvSpPr/>
          <p:nvPr/>
        </p:nvSpPr>
        <p:spPr>
          <a:xfrm>
            <a:off x="731520" y="1051560"/>
            <a:ext cx="7680960" cy="548640"/>
          </a:xfrm>
          <a:prstGeom prst="roundRect">
            <a:avLst>
              <a:gd name="adj" fmla="val 16667"/>
            </a:avLst>
          </a:prstGeom>
          <a:solidFill>
            <a:srgbClr val="F8D7DA"/>
          </a:solidFill>
          <a:ln/>
        </p:spPr>
        <p:txBody>
          <a:bodyPr/>
          <a:lstStyle/>
          <a:p>
            <a:endParaRPr lang="ja-JP" altLang="en-US"/>
          </a:p>
        </p:txBody>
      </p:sp>
      <p:sp>
        <p:nvSpPr>
          <p:cNvPr id="5" name="Text 3"/>
          <p:cNvSpPr/>
          <p:nvPr/>
        </p:nvSpPr>
        <p:spPr>
          <a:xfrm>
            <a:off x="914400" y="1051560"/>
            <a:ext cx="7315200" cy="548640"/>
          </a:xfrm>
          <a:prstGeom prst="rect">
            <a:avLst/>
          </a:prstGeom>
          <a:noFill/>
          <a:ln/>
        </p:spPr>
        <p:txBody>
          <a:bodyPr wrap="square" lIns="0" tIns="0" rIns="0" bIns="0" rtlCol="0" anchor="ctr"/>
          <a:lstStyle/>
          <a:p>
            <a:pPr marL="0" indent="0" algn="ctr">
              <a:buNone/>
            </a:pPr>
            <a:r>
              <a:rPr lang="en-US" sz="1600" b="1" dirty="0">
                <a:solidFill>
                  <a:srgbClr val="DC3545"/>
                </a:solidFill>
                <a:latin typeface="BIZ UDPGothic" pitchFamily="34" charset="0"/>
                <a:ea typeface="BIZ UDPGothic" pitchFamily="34" charset="-122"/>
                <a:cs typeface="BIZ UDPGothic" pitchFamily="34" charset="-120"/>
              </a:rPr>
              <a:t>「塩辛いものはそんなに食べていない」← 実はここに塩分が隠れている</a:t>
            </a:r>
            <a:endParaRPr lang="en-US" sz="1600" dirty="0"/>
          </a:p>
        </p:txBody>
      </p:sp>
      <p:sp>
        <p:nvSpPr>
          <p:cNvPr id="6" name="Shape 4"/>
          <p:cNvSpPr/>
          <p:nvPr/>
        </p:nvSpPr>
        <p:spPr>
          <a:xfrm>
            <a:off x="457200" y="1828800"/>
            <a:ext cx="8229600" cy="640080"/>
          </a:xfrm>
          <a:prstGeom prst="roundRect">
            <a:avLst>
              <a:gd name="adj" fmla="val 11429"/>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7" name="Text 5"/>
          <p:cNvSpPr/>
          <p:nvPr/>
        </p:nvSpPr>
        <p:spPr>
          <a:xfrm>
            <a:off x="640080" y="1828800"/>
            <a:ext cx="548640" cy="6400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8" name="Text 6"/>
          <p:cNvSpPr/>
          <p:nvPr/>
        </p:nvSpPr>
        <p:spPr>
          <a:xfrm>
            <a:off x="1280160" y="1828800"/>
            <a:ext cx="1828800" cy="640080"/>
          </a:xfrm>
          <a:prstGeom prst="rect">
            <a:avLst/>
          </a:prstGeom>
          <a:noFill/>
          <a:ln/>
        </p:spPr>
        <p:txBody>
          <a:bodyPr wrap="square" lIns="0" tIns="0" rIns="0" bIns="0" rtlCol="0" anchor="ctr"/>
          <a:lstStyle/>
          <a:p>
            <a:pPr marL="0" indent="0">
              <a:buNone/>
            </a:pPr>
            <a:r>
              <a:rPr lang="en-US" sz="1800" b="1" dirty="0">
                <a:solidFill>
                  <a:srgbClr val="2D3436"/>
                </a:solidFill>
                <a:latin typeface="BIZ UDPGothic" pitchFamily="34" charset="0"/>
                <a:ea typeface="BIZ UDPGothic" pitchFamily="34" charset="-122"/>
                <a:cs typeface="BIZ UDPGothic" pitchFamily="34" charset="-120"/>
              </a:rPr>
              <a:t>汁物</a:t>
            </a:r>
            <a:endParaRPr lang="en-US" sz="1800" dirty="0"/>
          </a:p>
        </p:txBody>
      </p:sp>
      <p:sp>
        <p:nvSpPr>
          <p:cNvPr id="9" name="Text 7"/>
          <p:cNvSpPr/>
          <p:nvPr/>
        </p:nvSpPr>
        <p:spPr>
          <a:xfrm>
            <a:off x="3200400" y="1828800"/>
            <a:ext cx="3474720" cy="640080"/>
          </a:xfrm>
          <a:prstGeom prst="rect">
            <a:avLst/>
          </a:prstGeom>
          <a:noFill/>
          <a:ln/>
        </p:spPr>
        <p:txBody>
          <a:bodyPr wrap="square" lIns="0" tIns="0" rIns="0" bIns="0" rtlCol="0" anchor="ctr"/>
          <a:lstStyle/>
          <a:p>
            <a:pPr marL="0" indent="0">
              <a:buNone/>
            </a:pPr>
            <a:r>
              <a:rPr lang="en-US" sz="1500" dirty="0">
                <a:solidFill>
                  <a:srgbClr val="636E72"/>
                </a:solidFill>
                <a:latin typeface="BIZ UDPGothic" pitchFamily="34" charset="0"/>
                <a:ea typeface="BIZ UDPGothic" pitchFamily="34" charset="-122"/>
                <a:cs typeface="BIZ UDPGothic" pitchFamily="34" charset="-120"/>
              </a:rPr>
              <a:t>みそ汁・ラーメン・うどんの汁</a:t>
            </a:r>
            <a:endParaRPr lang="en-US" sz="1500" dirty="0"/>
          </a:p>
        </p:txBody>
      </p:sp>
      <p:sp>
        <p:nvSpPr>
          <p:cNvPr id="10" name="Shape 8"/>
          <p:cNvSpPr/>
          <p:nvPr/>
        </p:nvSpPr>
        <p:spPr>
          <a:xfrm>
            <a:off x="6949440" y="1965960"/>
            <a:ext cx="1554480" cy="365760"/>
          </a:xfrm>
          <a:prstGeom prst="roundRect">
            <a:avLst>
              <a:gd name="adj" fmla="val 25000"/>
            </a:avLst>
          </a:prstGeom>
          <a:solidFill>
            <a:srgbClr val="DC3545"/>
          </a:solidFill>
          <a:ln/>
        </p:spPr>
        <p:txBody>
          <a:bodyPr/>
          <a:lstStyle/>
          <a:p>
            <a:endParaRPr lang="ja-JP" altLang="en-US"/>
          </a:p>
        </p:txBody>
      </p:sp>
      <p:sp>
        <p:nvSpPr>
          <p:cNvPr id="11" name="Text 9"/>
          <p:cNvSpPr/>
          <p:nvPr/>
        </p:nvSpPr>
        <p:spPr>
          <a:xfrm>
            <a:off x="6949440" y="1965960"/>
            <a:ext cx="1554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BIZ UDPGothic" pitchFamily="34" charset="0"/>
                <a:ea typeface="BIZ UDPGothic" pitchFamily="34" charset="-122"/>
                <a:cs typeface="BIZ UDPGothic" pitchFamily="34" charset="-120"/>
              </a:rPr>
              <a:t>1.5〜6g/杯</a:t>
            </a:r>
            <a:endParaRPr lang="en-US" sz="1300" dirty="0"/>
          </a:p>
        </p:txBody>
      </p:sp>
      <p:sp>
        <p:nvSpPr>
          <p:cNvPr id="12" name="Shape 10"/>
          <p:cNvSpPr/>
          <p:nvPr/>
        </p:nvSpPr>
        <p:spPr>
          <a:xfrm>
            <a:off x="457200" y="2578608"/>
            <a:ext cx="8229600" cy="640080"/>
          </a:xfrm>
          <a:prstGeom prst="roundRect">
            <a:avLst>
              <a:gd name="adj" fmla="val 11429"/>
            </a:avLst>
          </a:prstGeom>
          <a:solidFill>
            <a:srgbClr val="E8F5E9"/>
          </a:solidFill>
          <a:ln/>
          <a:effectLst>
            <a:outerShdw blurRad="50800" dist="25400" dir="8100000" algn="bl" rotWithShape="0">
              <a:srgbClr val="000000">
                <a:alpha val="12000"/>
              </a:srgbClr>
            </a:outerShdw>
          </a:effectLst>
        </p:spPr>
        <p:txBody>
          <a:bodyPr/>
          <a:lstStyle/>
          <a:p>
            <a:endParaRPr lang="ja-JP" altLang="en-US"/>
          </a:p>
        </p:txBody>
      </p:sp>
      <p:sp>
        <p:nvSpPr>
          <p:cNvPr id="13" name="Text 11"/>
          <p:cNvSpPr/>
          <p:nvPr/>
        </p:nvSpPr>
        <p:spPr>
          <a:xfrm>
            <a:off x="640080" y="2578608"/>
            <a:ext cx="548640" cy="6400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4" name="Text 12"/>
          <p:cNvSpPr/>
          <p:nvPr/>
        </p:nvSpPr>
        <p:spPr>
          <a:xfrm>
            <a:off x="1280160" y="2578608"/>
            <a:ext cx="1828800" cy="640080"/>
          </a:xfrm>
          <a:prstGeom prst="rect">
            <a:avLst/>
          </a:prstGeom>
          <a:noFill/>
          <a:ln/>
        </p:spPr>
        <p:txBody>
          <a:bodyPr wrap="square" lIns="0" tIns="0" rIns="0" bIns="0" rtlCol="0" anchor="ctr"/>
          <a:lstStyle/>
          <a:p>
            <a:pPr marL="0" indent="0">
              <a:buNone/>
            </a:pPr>
            <a:r>
              <a:rPr lang="en-US" sz="1800" b="1" dirty="0">
                <a:solidFill>
                  <a:srgbClr val="2D3436"/>
                </a:solidFill>
                <a:latin typeface="BIZ UDPGothic" pitchFamily="34" charset="0"/>
                <a:ea typeface="BIZ UDPGothic" pitchFamily="34" charset="-122"/>
                <a:cs typeface="BIZ UDPGothic" pitchFamily="34" charset="-120"/>
              </a:rPr>
              <a:t>漬物・佃煮</a:t>
            </a:r>
            <a:endParaRPr lang="en-US" sz="1800" dirty="0"/>
          </a:p>
        </p:txBody>
      </p:sp>
      <p:sp>
        <p:nvSpPr>
          <p:cNvPr id="15" name="Text 13"/>
          <p:cNvSpPr/>
          <p:nvPr/>
        </p:nvSpPr>
        <p:spPr>
          <a:xfrm>
            <a:off x="3200400" y="2578608"/>
            <a:ext cx="3474720" cy="640080"/>
          </a:xfrm>
          <a:prstGeom prst="rect">
            <a:avLst/>
          </a:prstGeom>
          <a:noFill/>
          <a:ln/>
        </p:spPr>
        <p:txBody>
          <a:bodyPr wrap="square" lIns="0" tIns="0" rIns="0" bIns="0" rtlCol="0" anchor="ctr"/>
          <a:lstStyle/>
          <a:p>
            <a:pPr marL="0" indent="0">
              <a:buNone/>
            </a:pPr>
            <a:r>
              <a:rPr lang="en-US" sz="1500" dirty="0">
                <a:solidFill>
                  <a:srgbClr val="636E72"/>
                </a:solidFill>
                <a:latin typeface="BIZ UDPGothic" pitchFamily="34" charset="0"/>
                <a:ea typeface="BIZ UDPGothic" pitchFamily="34" charset="-122"/>
                <a:cs typeface="BIZ UDPGothic" pitchFamily="34" charset="-120"/>
              </a:rPr>
              <a:t>少量でも高塩分。毎食で積み重なる</a:t>
            </a:r>
            <a:endParaRPr lang="en-US" sz="1500" dirty="0"/>
          </a:p>
        </p:txBody>
      </p:sp>
      <p:sp>
        <p:nvSpPr>
          <p:cNvPr id="16" name="Shape 14"/>
          <p:cNvSpPr/>
          <p:nvPr/>
        </p:nvSpPr>
        <p:spPr>
          <a:xfrm>
            <a:off x="6949440" y="2715768"/>
            <a:ext cx="1554480" cy="365760"/>
          </a:xfrm>
          <a:prstGeom prst="roundRect">
            <a:avLst>
              <a:gd name="adj" fmla="val 25000"/>
            </a:avLst>
          </a:prstGeom>
          <a:solidFill>
            <a:srgbClr val="DC3545"/>
          </a:solidFill>
          <a:ln/>
        </p:spPr>
        <p:txBody>
          <a:bodyPr/>
          <a:lstStyle/>
          <a:p>
            <a:endParaRPr lang="ja-JP" altLang="en-US"/>
          </a:p>
        </p:txBody>
      </p:sp>
      <p:sp>
        <p:nvSpPr>
          <p:cNvPr id="17" name="Text 15"/>
          <p:cNvSpPr/>
          <p:nvPr/>
        </p:nvSpPr>
        <p:spPr>
          <a:xfrm>
            <a:off x="6949440" y="2715768"/>
            <a:ext cx="1554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BIZ UDPGothic" pitchFamily="34" charset="0"/>
                <a:ea typeface="BIZ UDPGothic" pitchFamily="34" charset="-122"/>
                <a:cs typeface="BIZ UDPGothic" pitchFamily="34" charset="-120"/>
              </a:rPr>
              <a:t>1〜2g/回</a:t>
            </a:r>
            <a:endParaRPr lang="en-US" sz="1300" dirty="0"/>
          </a:p>
        </p:txBody>
      </p:sp>
      <p:sp>
        <p:nvSpPr>
          <p:cNvPr id="18" name="Shape 16"/>
          <p:cNvSpPr/>
          <p:nvPr/>
        </p:nvSpPr>
        <p:spPr>
          <a:xfrm>
            <a:off x="457200" y="3328416"/>
            <a:ext cx="8229600" cy="640080"/>
          </a:xfrm>
          <a:prstGeom prst="roundRect">
            <a:avLst>
              <a:gd name="adj" fmla="val 11429"/>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19" name="Text 17"/>
          <p:cNvSpPr/>
          <p:nvPr/>
        </p:nvSpPr>
        <p:spPr>
          <a:xfrm>
            <a:off x="640080" y="3328416"/>
            <a:ext cx="548640" cy="6400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0" name="Text 18"/>
          <p:cNvSpPr/>
          <p:nvPr/>
        </p:nvSpPr>
        <p:spPr>
          <a:xfrm>
            <a:off x="1280160" y="3328416"/>
            <a:ext cx="1828800" cy="640080"/>
          </a:xfrm>
          <a:prstGeom prst="rect">
            <a:avLst/>
          </a:prstGeom>
          <a:noFill/>
          <a:ln/>
        </p:spPr>
        <p:txBody>
          <a:bodyPr wrap="square" lIns="0" tIns="0" rIns="0" bIns="0" rtlCol="0" anchor="ctr"/>
          <a:lstStyle/>
          <a:p>
            <a:pPr marL="0" indent="0">
              <a:buNone/>
            </a:pPr>
            <a:r>
              <a:rPr lang="en-US" sz="1800" b="1" dirty="0">
                <a:solidFill>
                  <a:srgbClr val="2D3436"/>
                </a:solidFill>
                <a:latin typeface="BIZ UDPGothic" pitchFamily="34" charset="0"/>
                <a:ea typeface="BIZ UDPGothic" pitchFamily="34" charset="-122"/>
                <a:cs typeface="BIZ UDPGothic" pitchFamily="34" charset="-120"/>
              </a:rPr>
              <a:t>加工食品</a:t>
            </a:r>
            <a:endParaRPr lang="en-US" sz="1800" dirty="0"/>
          </a:p>
        </p:txBody>
      </p:sp>
      <p:sp>
        <p:nvSpPr>
          <p:cNvPr id="21" name="Text 19"/>
          <p:cNvSpPr/>
          <p:nvPr/>
        </p:nvSpPr>
        <p:spPr>
          <a:xfrm>
            <a:off x="3200400" y="3328416"/>
            <a:ext cx="3474720" cy="640080"/>
          </a:xfrm>
          <a:prstGeom prst="rect">
            <a:avLst/>
          </a:prstGeom>
          <a:noFill/>
          <a:ln/>
        </p:spPr>
        <p:txBody>
          <a:bodyPr wrap="square" lIns="0" tIns="0" rIns="0" bIns="0" rtlCol="0" anchor="ctr"/>
          <a:lstStyle/>
          <a:p>
            <a:pPr marL="0" indent="0">
              <a:buNone/>
            </a:pPr>
            <a:r>
              <a:rPr lang="en-US" sz="1500" dirty="0">
                <a:solidFill>
                  <a:srgbClr val="636E72"/>
                </a:solidFill>
                <a:latin typeface="BIZ UDPGothic" pitchFamily="34" charset="0"/>
                <a:ea typeface="BIZ UDPGothic" pitchFamily="34" charset="-122"/>
                <a:cs typeface="BIZ UDPGothic" pitchFamily="34" charset="-120"/>
              </a:rPr>
              <a:t>ハム・ソーセージ・練り物・カップ麺</a:t>
            </a:r>
            <a:endParaRPr lang="en-US" sz="1500" dirty="0"/>
          </a:p>
        </p:txBody>
      </p:sp>
      <p:sp>
        <p:nvSpPr>
          <p:cNvPr id="22" name="Shape 20"/>
          <p:cNvSpPr/>
          <p:nvPr/>
        </p:nvSpPr>
        <p:spPr>
          <a:xfrm>
            <a:off x="6949440" y="3465576"/>
            <a:ext cx="1554480" cy="365760"/>
          </a:xfrm>
          <a:prstGeom prst="roundRect">
            <a:avLst>
              <a:gd name="adj" fmla="val 25000"/>
            </a:avLst>
          </a:prstGeom>
          <a:solidFill>
            <a:srgbClr val="DC3545"/>
          </a:solidFill>
          <a:ln/>
        </p:spPr>
        <p:txBody>
          <a:bodyPr/>
          <a:lstStyle/>
          <a:p>
            <a:endParaRPr lang="ja-JP" altLang="en-US"/>
          </a:p>
        </p:txBody>
      </p:sp>
      <p:sp>
        <p:nvSpPr>
          <p:cNvPr id="23" name="Text 21"/>
          <p:cNvSpPr/>
          <p:nvPr/>
        </p:nvSpPr>
        <p:spPr>
          <a:xfrm>
            <a:off x="6949440" y="3465576"/>
            <a:ext cx="1554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BIZ UDPGothic" pitchFamily="34" charset="0"/>
                <a:ea typeface="BIZ UDPGothic" pitchFamily="34" charset="-122"/>
                <a:cs typeface="BIZ UDPGothic" pitchFamily="34" charset="-120"/>
              </a:rPr>
              <a:t>1〜5g/食</a:t>
            </a:r>
            <a:endParaRPr lang="en-US" sz="1300" dirty="0"/>
          </a:p>
        </p:txBody>
      </p:sp>
      <p:sp>
        <p:nvSpPr>
          <p:cNvPr id="24" name="Shape 22"/>
          <p:cNvSpPr/>
          <p:nvPr/>
        </p:nvSpPr>
        <p:spPr>
          <a:xfrm>
            <a:off x="457200" y="4078224"/>
            <a:ext cx="8229600" cy="640080"/>
          </a:xfrm>
          <a:prstGeom prst="roundRect">
            <a:avLst>
              <a:gd name="adj" fmla="val 11429"/>
            </a:avLst>
          </a:prstGeom>
          <a:solidFill>
            <a:srgbClr val="E8F5E9"/>
          </a:solidFill>
          <a:ln/>
          <a:effectLst>
            <a:outerShdw blurRad="50800" dist="25400" dir="8100000" algn="bl" rotWithShape="0">
              <a:srgbClr val="000000">
                <a:alpha val="12000"/>
              </a:srgbClr>
            </a:outerShdw>
          </a:effectLst>
        </p:spPr>
        <p:txBody>
          <a:bodyPr/>
          <a:lstStyle/>
          <a:p>
            <a:endParaRPr lang="ja-JP" altLang="en-US"/>
          </a:p>
        </p:txBody>
      </p:sp>
      <p:sp>
        <p:nvSpPr>
          <p:cNvPr id="25" name="Text 23"/>
          <p:cNvSpPr/>
          <p:nvPr/>
        </p:nvSpPr>
        <p:spPr>
          <a:xfrm>
            <a:off x="640080" y="4078224"/>
            <a:ext cx="548640" cy="6400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6" name="Text 24"/>
          <p:cNvSpPr/>
          <p:nvPr/>
        </p:nvSpPr>
        <p:spPr>
          <a:xfrm>
            <a:off x="1280160" y="4078224"/>
            <a:ext cx="1828800" cy="640080"/>
          </a:xfrm>
          <a:prstGeom prst="rect">
            <a:avLst/>
          </a:prstGeom>
          <a:noFill/>
          <a:ln/>
        </p:spPr>
        <p:txBody>
          <a:bodyPr wrap="square" lIns="0" tIns="0" rIns="0" bIns="0" rtlCol="0" anchor="ctr"/>
          <a:lstStyle/>
          <a:p>
            <a:pPr marL="0" indent="0">
              <a:buNone/>
            </a:pPr>
            <a:r>
              <a:rPr lang="en-US" sz="1800" b="1" dirty="0">
                <a:solidFill>
                  <a:srgbClr val="2D3436"/>
                </a:solidFill>
                <a:latin typeface="BIZ UDPGothic" pitchFamily="34" charset="0"/>
                <a:ea typeface="BIZ UDPGothic" pitchFamily="34" charset="-122"/>
                <a:cs typeface="BIZ UDPGothic" pitchFamily="34" charset="-120"/>
              </a:rPr>
              <a:t>惣菜・弁当</a:t>
            </a:r>
            <a:endParaRPr lang="en-US" sz="1800" dirty="0"/>
          </a:p>
        </p:txBody>
      </p:sp>
      <p:sp>
        <p:nvSpPr>
          <p:cNvPr id="27" name="Text 25"/>
          <p:cNvSpPr/>
          <p:nvPr/>
        </p:nvSpPr>
        <p:spPr>
          <a:xfrm>
            <a:off x="3200400" y="4078224"/>
            <a:ext cx="3474720" cy="640080"/>
          </a:xfrm>
          <a:prstGeom prst="rect">
            <a:avLst/>
          </a:prstGeom>
          <a:noFill/>
          <a:ln/>
        </p:spPr>
        <p:txBody>
          <a:bodyPr wrap="square" lIns="0" tIns="0" rIns="0" bIns="0" rtlCol="0" anchor="ctr"/>
          <a:lstStyle/>
          <a:p>
            <a:pPr marL="0" indent="0">
              <a:buNone/>
            </a:pPr>
            <a:r>
              <a:rPr lang="en-US" sz="1500" dirty="0">
                <a:solidFill>
                  <a:srgbClr val="636E72"/>
                </a:solidFill>
                <a:latin typeface="BIZ UDPGothic" pitchFamily="34" charset="0"/>
                <a:ea typeface="BIZ UDPGothic" pitchFamily="34" charset="-122"/>
                <a:cs typeface="BIZ UDPGothic" pitchFamily="34" charset="-120"/>
              </a:rPr>
              <a:t>外食・コンビニ弁当・丼物</a:t>
            </a:r>
            <a:endParaRPr lang="en-US" sz="1500" dirty="0"/>
          </a:p>
        </p:txBody>
      </p:sp>
      <p:sp>
        <p:nvSpPr>
          <p:cNvPr id="28" name="Shape 26"/>
          <p:cNvSpPr/>
          <p:nvPr/>
        </p:nvSpPr>
        <p:spPr>
          <a:xfrm>
            <a:off x="6949440" y="4215384"/>
            <a:ext cx="1554480" cy="365760"/>
          </a:xfrm>
          <a:prstGeom prst="roundRect">
            <a:avLst>
              <a:gd name="adj" fmla="val 25000"/>
            </a:avLst>
          </a:prstGeom>
          <a:solidFill>
            <a:srgbClr val="DC3545"/>
          </a:solidFill>
          <a:ln/>
        </p:spPr>
        <p:txBody>
          <a:bodyPr/>
          <a:lstStyle/>
          <a:p>
            <a:endParaRPr lang="ja-JP" altLang="en-US"/>
          </a:p>
        </p:txBody>
      </p:sp>
      <p:sp>
        <p:nvSpPr>
          <p:cNvPr id="29" name="Text 27"/>
          <p:cNvSpPr/>
          <p:nvPr/>
        </p:nvSpPr>
        <p:spPr>
          <a:xfrm>
            <a:off x="6949440" y="4215384"/>
            <a:ext cx="15544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BIZ UDPGothic" pitchFamily="34" charset="0"/>
                <a:ea typeface="BIZ UDPGothic" pitchFamily="34" charset="-122"/>
                <a:cs typeface="BIZ UDPGothic" pitchFamily="34" charset="-120"/>
              </a:rPr>
              <a:t>3〜6g/食</a:t>
            </a:r>
            <a:endParaRPr lang="en-US" sz="1300" dirty="0"/>
          </a:p>
        </p:txBody>
      </p:sp>
      <p:sp>
        <p:nvSpPr>
          <p:cNvPr id="30" name="Shape 28"/>
          <p:cNvSpPr/>
          <p:nvPr/>
        </p:nvSpPr>
        <p:spPr>
          <a:xfrm>
            <a:off x="0" y="4892040"/>
            <a:ext cx="9144000" cy="256032"/>
          </a:xfrm>
          <a:prstGeom prst="rect">
            <a:avLst/>
          </a:prstGeom>
          <a:solidFill>
            <a:srgbClr val="1B5E20"/>
          </a:solidFill>
          <a:ln/>
        </p:spPr>
        <p:txBody>
          <a:bodyPr/>
          <a:lstStyle/>
          <a:p>
            <a:endParaRPr lang="ja-JP" altLang="en-US"/>
          </a:p>
        </p:txBody>
      </p:sp>
      <p:sp>
        <p:nvSpPr>
          <p:cNvPr id="31" name="Text 29"/>
          <p:cNvSpPr/>
          <p:nvPr/>
        </p:nvSpPr>
        <p:spPr>
          <a:xfrm>
            <a:off x="274320" y="4892040"/>
            <a:ext cx="8595360" cy="256032"/>
          </a:xfrm>
          <a:prstGeom prst="rect">
            <a:avLst/>
          </a:prstGeom>
          <a:noFill/>
          <a:ln/>
        </p:spPr>
        <p:txBody>
          <a:bodyPr wrap="square" lIns="0" tIns="0" rIns="0" bIns="0" rtlCol="0" anchor="ctr"/>
          <a:lstStyle/>
          <a:p>
            <a:pPr marL="0" indent="0" algn="r">
              <a:buNone/>
            </a:pPr>
            <a:r>
              <a:rPr lang="en-US" sz="1000" dirty="0">
                <a:solidFill>
                  <a:srgbClr val="A5D6A7"/>
                </a:solidFill>
                <a:latin typeface="BIZ UDPGothic" pitchFamily="34" charset="0"/>
                <a:ea typeface="BIZ UDPGothic" pitchFamily="34" charset="-122"/>
                <a:cs typeface="BIZ UDPGothic" pitchFamily="34" charset="-120"/>
              </a:rPr>
              <a:t>外来でそのまま使える食事指導シリーズ  第2回</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32"/>
          </a:solidFill>
          <a:ln/>
        </p:spPr>
        <p:txBody>
          <a:bodyPr/>
          <a:lstStyle/>
          <a:p>
            <a:endParaRPr lang="ja-JP" altLang="en-US"/>
          </a:p>
        </p:txBody>
      </p:sp>
      <p:sp>
        <p:nvSpPr>
          <p:cNvPr id="3" name="Text 1"/>
          <p:cNvSpPr/>
          <p:nvPr/>
        </p:nvSpPr>
        <p:spPr>
          <a:xfrm>
            <a:off x="457200" y="9144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BIZ UDPGothic" pitchFamily="34" charset="0"/>
                <a:ea typeface="BIZ UDPGothic" pitchFamily="34" charset="-122"/>
                <a:cs typeface="BIZ UDPGothic" pitchFamily="34" charset="-120"/>
              </a:rPr>
              <a:t>「塩をかけない」だけでは減塩にならない</a:t>
            </a:r>
            <a:endParaRPr lang="en-US" sz="2800" dirty="0"/>
          </a:p>
        </p:txBody>
      </p:sp>
      <p:sp>
        <p:nvSpPr>
          <p:cNvPr id="4" name="Shape 2"/>
          <p:cNvSpPr/>
          <p:nvPr/>
        </p:nvSpPr>
        <p:spPr>
          <a:xfrm>
            <a:off x="457200" y="1188720"/>
            <a:ext cx="3931920" cy="1828800"/>
          </a:xfrm>
          <a:prstGeom prst="roundRect">
            <a:avLst>
              <a:gd name="adj" fmla="val 5000"/>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5" name="Shape 3"/>
          <p:cNvSpPr/>
          <p:nvPr/>
        </p:nvSpPr>
        <p:spPr>
          <a:xfrm>
            <a:off x="457200" y="1188720"/>
            <a:ext cx="109728" cy="1828800"/>
          </a:xfrm>
          <a:prstGeom prst="roundRect">
            <a:avLst/>
          </a:prstGeom>
          <a:solidFill>
            <a:srgbClr val="DC3545"/>
          </a:solidFill>
          <a:ln/>
        </p:spPr>
        <p:txBody>
          <a:bodyPr/>
          <a:lstStyle/>
          <a:p>
            <a:endParaRPr lang="ja-JP" altLang="en-US"/>
          </a:p>
        </p:txBody>
      </p:sp>
      <p:sp>
        <p:nvSpPr>
          <p:cNvPr id="6" name="Text 4"/>
          <p:cNvSpPr/>
          <p:nvPr/>
        </p:nvSpPr>
        <p:spPr>
          <a:xfrm>
            <a:off x="822960" y="1280160"/>
            <a:ext cx="3291840" cy="320040"/>
          </a:xfrm>
          <a:prstGeom prst="rect">
            <a:avLst/>
          </a:prstGeom>
          <a:noFill/>
          <a:ln/>
        </p:spPr>
        <p:txBody>
          <a:bodyPr wrap="square" lIns="0" tIns="0" rIns="0" bIns="0" rtlCol="0" anchor="ctr"/>
          <a:lstStyle/>
          <a:p>
            <a:pPr marL="0" indent="0">
              <a:buNone/>
            </a:pPr>
            <a:r>
              <a:rPr lang="en-US" sz="1600" b="1" dirty="0">
                <a:solidFill>
                  <a:srgbClr val="DC3545"/>
                </a:solidFill>
                <a:latin typeface="BIZ UDPGothic" pitchFamily="34" charset="0"/>
                <a:ea typeface="BIZ UDPGothic" pitchFamily="34" charset="-122"/>
                <a:cs typeface="BIZ UDPGothic" pitchFamily="34" charset="-120"/>
              </a:rPr>
              <a:t>患者さんの認識</a:t>
            </a:r>
            <a:endParaRPr lang="en-US" sz="1600" dirty="0"/>
          </a:p>
        </p:txBody>
      </p:sp>
      <p:sp>
        <p:nvSpPr>
          <p:cNvPr id="7" name="Text 5"/>
          <p:cNvSpPr/>
          <p:nvPr/>
        </p:nvSpPr>
        <p:spPr>
          <a:xfrm>
            <a:off x="822960" y="1645920"/>
            <a:ext cx="3291840" cy="1188720"/>
          </a:xfrm>
          <a:prstGeom prst="rect">
            <a:avLst/>
          </a:prstGeom>
          <a:noFill/>
          <a:ln/>
        </p:spPr>
        <p:txBody>
          <a:bodyPr wrap="square" lIns="0" tIns="0" rIns="0" bIns="0" rtlCol="0" anchor="ctr"/>
          <a:lstStyle/>
          <a:p>
            <a:pPr marL="0" indent="0">
              <a:buNone/>
            </a:pPr>
            <a:r>
              <a:rPr lang="en-US" sz="1700" dirty="0">
                <a:solidFill>
                  <a:srgbClr val="2D3436"/>
                </a:solidFill>
                <a:latin typeface="BIZ UDPGothic" pitchFamily="34" charset="0"/>
                <a:ea typeface="BIZ UDPGothic" pitchFamily="34" charset="-122"/>
                <a:cs typeface="BIZ UDPGothic" pitchFamily="34" charset="-120"/>
              </a:rPr>
              <a:t>「食卓塩は使っていません」</a:t>
            </a:r>
            <a:endParaRPr lang="en-US" sz="1700" dirty="0"/>
          </a:p>
          <a:p>
            <a:pPr marL="0" indent="0">
              <a:buNone/>
            </a:pPr>
            <a:r>
              <a:rPr lang="en-US" sz="1700" dirty="0">
                <a:solidFill>
                  <a:srgbClr val="2D3436"/>
                </a:solidFill>
                <a:latin typeface="BIZ UDPGothic" pitchFamily="34" charset="0"/>
                <a:ea typeface="BIZ UDPGothic" pitchFamily="34" charset="-122"/>
                <a:cs typeface="BIZ UDPGothic" pitchFamily="34" charset="-120"/>
              </a:rPr>
              <a:t>「そんなに塩辛いものは</a:t>
            </a:r>
            <a:endParaRPr lang="en-US" sz="1700" dirty="0"/>
          </a:p>
          <a:p>
            <a:pPr marL="0" indent="0">
              <a:buNone/>
            </a:pPr>
            <a:r>
              <a:rPr lang="en-US" sz="1700" dirty="0">
                <a:solidFill>
                  <a:srgbClr val="2D3436"/>
                </a:solidFill>
                <a:latin typeface="BIZ UDPGothic" pitchFamily="34" charset="0"/>
                <a:ea typeface="BIZ UDPGothic" pitchFamily="34" charset="-122"/>
                <a:cs typeface="BIZ UDPGothic" pitchFamily="34" charset="-120"/>
              </a:rPr>
              <a:t> 食べていないです」</a:t>
            </a:r>
            <a:endParaRPr lang="en-US" sz="1700" dirty="0"/>
          </a:p>
        </p:txBody>
      </p:sp>
      <p:sp>
        <p:nvSpPr>
          <p:cNvPr id="8" name="Shape 6"/>
          <p:cNvSpPr/>
          <p:nvPr/>
        </p:nvSpPr>
        <p:spPr>
          <a:xfrm>
            <a:off x="4754880" y="1188720"/>
            <a:ext cx="3931920" cy="1828800"/>
          </a:xfrm>
          <a:prstGeom prst="roundRect">
            <a:avLst>
              <a:gd name="adj" fmla="val 5000"/>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9" name="Shape 7"/>
          <p:cNvSpPr/>
          <p:nvPr/>
        </p:nvSpPr>
        <p:spPr>
          <a:xfrm>
            <a:off x="4754880" y="1188720"/>
            <a:ext cx="109728" cy="1828800"/>
          </a:xfrm>
          <a:prstGeom prst="roundRect">
            <a:avLst/>
          </a:prstGeom>
          <a:solidFill>
            <a:srgbClr val="2E7D32"/>
          </a:solidFill>
          <a:ln/>
        </p:spPr>
        <p:txBody>
          <a:bodyPr/>
          <a:lstStyle/>
          <a:p>
            <a:endParaRPr lang="ja-JP" altLang="en-US"/>
          </a:p>
        </p:txBody>
      </p:sp>
      <p:sp>
        <p:nvSpPr>
          <p:cNvPr id="10" name="Text 8"/>
          <p:cNvSpPr/>
          <p:nvPr/>
        </p:nvSpPr>
        <p:spPr>
          <a:xfrm>
            <a:off x="5120640" y="1280160"/>
            <a:ext cx="3291840" cy="320040"/>
          </a:xfrm>
          <a:prstGeom prst="rect">
            <a:avLst/>
          </a:prstGeom>
          <a:noFill/>
          <a:ln/>
        </p:spPr>
        <p:txBody>
          <a:bodyPr wrap="square" lIns="0" tIns="0" rIns="0" bIns="0" rtlCol="0" anchor="ctr"/>
          <a:lstStyle/>
          <a:p>
            <a:pPr marL="0" indent="0">
              <a:buNone/>
            </a:pPr>
            <a:r>
              <a:rPr lang="en-US" sz="1600" b="1" dirty="0">
                <a:solidFill>
                  <a:srgbClr val="2E7D32"/>
                </a:solidFill>
                <a:latin typeface="BIZ UDPGothic" pitchFamily="34" charset="0"/>
                <a:ea typeface="BIZ UDPGothic" pitchFamily="34" charset="-122"/>
                <a:cs typeface="BIZ UDPGothic" pitchFamily="34" charset="-120"/>
              </a:rPr>
              <a:t>実際の塩分源</a:t>
            </a:r>
            <a:endParaRPr lang="en-US" sz="1600" dirty="0"/>
          </a:p>
        </p:txBody>
      </p:sp>
      <p:sp>
        <p:nvSpPr>
          <p:cNvPr id="11" name="Text 9"/>
          <p:cNvSpPr/>
          <p:nvPr/>
        </p:nvSpPr>
        <p:spPr>
          <a:xfrm>
            <a:off x="5120639" y="1645920"/>
            <a:ext cx="3507545" cy="1188720"/>
          </a:xfrm>
          <a:prstGeom prst="rect">
            <a:avLst/>
          </a:prstGeom>
          <a:noFill/>
          <a:ln/>
        </p:spPr>
        <p:txBody>
          <a:bodyPr wrap="square" lIns="0" tIns="0" rIns="0" bIns="0" rtlCol="0" anchor="ctr"/>
          <a:lstStyle/>
          <a:p>
            <a:pPr marL="0" indent="0">
              <a:buNone/>
            </a:pPr>
            <a:r>
              <a:rPr lang="en-US" sz="1700" dirty="0">
                <a:solidFill>
                  <a:srgbClr val="2D3436"/>
                </a:solidFill>
                <a:latin typeface="BIZ UDPGothic" pitchFamily="34" charset="0"/>
                <a:ea typeface="BIZ UDPGothic" pitchFamily="34" charset="-122"/>
                <a:cs typeface="BIZ UDPGothic" pitchFamily="34" charset="-120"/>
              </a:rPr>
              <a:t>料理に振る塩 ≪ 食品・惣菜に</a:t>
            </a:r>
            <a:endParaRPr lang="en-US" sz="1700" dirty="0"/>
          </a:p>
          <a:p>
            <a:pPr marL="0" indent="0">
              <a:buNone/>
            </a:pPr>
            <a:r>
              <a:rPr lang="en-US" sz="1700" dirty="0">
                <a:solidFill>
                  <a:srgbClr val="2D3436"/>
                </a:solidFill>
                <a:latin typeface="BIZ UDPGothic" pitchFamily="34" charset="0"/>
                <a:ea typeface="BIZ UDPGothic" pitchFamily="34" charset="-122"/>
                <a:cs typeface="BIZ UDPGothic" pitchFamily="34" charset="-120"/>
              </a:rPr>
              <a:t>もともと含まれる塩分</a:t>
            </a:r>
            <a:endParaRPr lang="en-US" sz="1700" dirty="0"/>
          </a:p>
          <a:p>
            <a:pPr marL="0" indent="0">
              <a:buNone/>
            </a:pPr>
            <a:endParaRPr lang="en-US" sz="1700" dirty="0"/>
          </a:p>
          <a:p>
            <a:pPr marL="0" indent="0">
              <a:buNone/>
            </a:pPr>
            <a:r>
              <a:rPr lang="en-US" sz="1700" dirty="0">
                <a:solidFill>
                  <a:srgbClr val="2D3436"/>
                </a:solidFill>
                <a:latin typeface="BIZ UDPGothic" pitchFamily="34" charset="0"/>
                <a:ea typeface="BIZ UDPGothic" pitchFamily="34" charset="-122"/>
                <a:cs typeface="BIZ UDPGothic" pitchFamily="34" charset="-120"/>
              </a:rPr>
              <a:t>→ 塩分の多い食品を見抜く力が重要</a:t>
            </a:r>
            <a:endParaRPr lang="en-US" sz="1700" dirty="0"/>
          </a:p>
        </p:txBody>
      </p:sp>
      <p:sp>
        <p:nvSpPr>
          <p:cNvPr id="12" name="Shape 10"/>
          <p:cNvSpPr/>
          <p:nvPr/>
        </p:nvSpPr>
        <p:spPr>
          <a:xfrm>
            <a:off x="457200" y="3383280"/>
            <a:ext cx="8229600" cy="1463040"/>
          </a:xfrm>
          <a:prstGeom prst="roundRect">
            <a:avLst>
              <a:gd name="adj" fmla="val 6250"/>
            </a:avLst>
          </a:prstGeom>
          <a:solidFill>
            <a:srgbClr val="E8F5E9"/>
          </a:solidFill>
          <a:ln/>
          <a:effectLst>
            <a:outerShdw blurRad="50800" dist="25400" dir="8100000" algn="bl" rotWithShape="0">
              <a:srgbClr val="000000">
                <a:alpha val="12000"/>
              </a:srgbClr>
            </a:outerShdw>
          </a:effectLst>
        </p:spPr>
        <p:txBody>
          <a:bodyPr/>
          <a:lstStyle/>
          <a:p>
            <a:endParaRPr lang="ja-JP" altLang="en-US"/>
          </a:p>
        </p:txBody>
      </p:sp>
      <p:sp>
        <p:nvSpPr>
          <p:cNvPr id="13" name="Text 11"/>
          <p:cNvSpPr/>
          <p:nvPr/>
        </p:nvSpPr>
        <p:spPr>
          <a:xfrm>
            <a:off x="731520" y="3474720"/>
            <a:ext cx="7680960" cy="320040"/>
          </a:xfrm>
          <a:prstGeom prst="rect">
            <a:avLst/>
          </a:prstGeom>
          <a:noFill/>
          <a:ln/>
        </p:spPr>
        <p:txBody>
          <a:bodyPr wrap="square" lIns="0" tIns="0" rIns="0" bIns="0" rtlCol="0" anchor="ctr"/>
          <a:lstStyle/>
          <a:p>
            <a:pPr marL="0" indent="0">
              <a:buNone/>
            </a:pPr>
            <a:r>
              <a:rPr lang="en-US" sz="1600" b="1" dirty="0">
                <a:solidFill>
                  <a:srgbClr val="1B5E20"/>
                </a:solidFill>
                <a:latin typeface="BIZ UDPGothic" pitchFamily="34" charset="0"/>
                <a:ea typeface="BIZ UDPGothic" pitchFamily="34" charset="-122"/>
                <a:cs typeface="BIZ UDPGothic" pitchFamily="34" charset="-120"/>
              </a:rPr>
              <a:t>外来で聞くべきチェックポイント</a:t>
            </a:r>
            <a:endParaRPr lang="en-US" sz="1600" dirty="0"/>
          </a:p>
        </p:txBody>
      </p:sp>
      <p:sp>
        <p:nvSpPr>
          <p:cNvPr id="14" name="Text 12"/>
          <p:cNvSpPr/>
          <p:nvPr/>
        </p:nvSpPr>
        <p:spPr>
          <a:xfrm>
            <a:off x="731520" y="3840480"/>
            <a:ext cx="7680960" cy="822960"/>
          </a:xfrm>
          <a:prstGeom prst="rect">
            <a:avLst/>
          </a:prstGeom>
          <a:noFill/>
          <a:ln/>
        </p:spPr>
        <p:txBody>
          <a:bodyPr wrap="square" lIns="0" tIns="0" rIns="0" bIns="0" rtlCol="0" anchor="ctr"/>
          <a:lstStyle/>
          <a:p>
            <a:pPr marL="0" indent="0">
              <a:buNone/>
            </a:pPr>
            <a:r>
              <a:rPr lang="en-US" sz="1700" dirty="0">
                <a:solidFill>
                  <a:srgbClr val="2D3436"/>
                </a:solidFill>
                <a:latin typeface="BIZ UDPGothic" pitchFamily="34" charset="0"/>
                <a:ea typeface="BIZ UDPGothic" pitchFamily="34" charset="-122"/>
                <a:cs typeface="BIZ UDPGothic" pitchFamily="34" charset="-120"/>
              </a:rPr>
              <a:t>□ 汁物の回数　□ 麺の汁を飲むか　□ 漬物の頻度</a:t>
            </a:r>
            <a:endParaRPr lang="en-US" sz="1700" dirty="0"/>
          </a:p>
          <a:p>
            <a:pPr marL="0" indent="0">
              <a:buNone/>
            </a:pPr>
            <a:r>
              <a:rPr lang="en-US" sz="1700" dirty="0">
                <a:solidFill>
                  <a:srgbClr val="2D3436"/>
                </a:solidFill>
                <a:latin typeface="BIZ UDPGothic" pitchFamily="34" charset="0"/>
                <a:ea typeface="BIZ UDPGothic" pitchFamily="34" charset="-122"/>
                <a:cs typeface="BIZ UDPGothic" pitchFamily="34" charset="-120"/>
              </a:rPr>
              <a:t>□ 弁当・惣菜の利用頻度　□ カップ麺・加工肉の習慣</a:t>
            </a:r>
            <a:endParaRPr lang="en-US" sz="1700" dirty="0"/>
          </a:p>
        </p:txBody>
      </p:sp>
      <p:sp>
        <p:nvSpPr>
          <p:cNvPr id="15" name="Shape 13"/>
          <p:cNvSpPr/>
          <p:nvPr/>
        </p:nvSpPr>
        <p:spPr>
          <a:xfrm>
            <a:off x="0" y="4892040"/>
            <a:ext cx="9144000" cy="256032"/>
          </a:xfrm>
          <a:prstGeom prst="rect">
            <a:avLst/>
          </a:prstGeom>
          <a:solidFill>
            <a:srgbClr val="1B5E20"/>
          </a:solidFill>
          <a:ln/>
        </p:spPr>
        <p:txBody>
          <a:bodyPr/>
          <a:lstStyle/>
          <a:p>
            <a:endParaRPr lang="ja-JP" altLang="en-US"/>
          </a:p>
        </p:txBody>
      </p:sp>
      <p:sp>
        <p:nvSpPr>
          <p:cNvPr id="16" name="Text 14"/>
          <p:cNvSpPr/>
          <p:nvPr/>
        </p:nvSpPr>
        <p:spPr>
          <a:xfrm>
            <a:off x="274320" y="4892040"/>
            <a:ext cx="8595360" cy="256032"/>
          </a:xfrm>
          <a:prstGeom prst="rect">
            <a:avLst/>
          </a:prstGeom>
          <a:noFill/>
          <a:ln/>
        </p:spPr>
        <p:txBody>
          <a:bodyPr wrap="square" lIns="0" tIns="0" rIns="0" bIns="0" rtlCol="0" anchor="ctr"/>
          <a:lstStyle/>
          <a:p>
            <a:pPr marL="0" indent="0" algn="r">
              <a:buNone/>
            </a:pPr>
            <a:r>
              <a:rPr lang="en-US" sz="1000" dirty="0">
                <a:solidFill>
                  <a:srgbClr val="A5D6A7"/>
                </a:solidFill>
                <a:latin typeface="BIZ UDPGothic" pitchFamily="34" charset="0"/>
                <a:ea typeface="BIZ UDPGothic" pitchFamily="34" charset="-122"/>
                <a:cs typeface="BIZ UDPGothic" pitchFamily="34" charset="-120"/>
              </a:rPr>
              <a:t>外来でそのまま使える食事指導シリーズ  第2回</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32"/>
          </a:solidFill>
          <a:ln/>
        </p:spPr>
        <p:txBody>
          <a:bodyPr/>
          <a:lstStyle/>
          <a:p>
            <a:endParaRPr lang="ja-JP" altLang="en-US"/>
          </a:p>
        </p:txBody>
      </p:sp>
      <p:sp>
        <p:nvSpPr>
          <p:cNvPr id="3" name="Text 1"/>
          <p:cNvSpPr/>
          <p:nvPr/>
        </p:nvSpPr>
        <p:spPr>
          <a:xfrm>
            <a:off x="457200" y="9144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BIZ UDPGothic" pitchFamily="34" charset="0"/>
                <a:ea typeface="BIZ UDPGothic" pitchFamily="34" charset="-122"/>
                <a:cs typeface="BIZ UDPGothic" pitchFamily="34" charset="-120"/>
              </a:rPr>
              <a:t>食塩を減らしやすい5つの具体策</a:t>
            </a:r>
            <a:endParaRPr lang="en-US" sz="2800" dirty="0"/>
          </a:p>
        </p:txBody>
      </p:sp>
      <p:sp>
        <p:nvSpPr>
          <p:cNvPr id="4" name="Shape 2"/>
          <p:cNvSpPr/>
          <p:nvPr/>
        </p:nvSpPr>
        <p:spPr>
          <a:xfrm>
            <a:off x="457200" y="1005840"/>
            <a:ext cx="8229600" cy="640080"/>
          </a:xfrm>
          <a:prstGeom prst="roundRect">
            <a:avLst>
              <a:gd name="adj" fmla="val 11429"/>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5" name="Text 3"/>
          <p:cNvSpPr/>
          <p:nvPr/>
        </p:nvSpPr>
        <p:spPr>
          <a:xfrm>
            <a:off x="640080" y="1005840"/>
            <a:ext cx="548640" cy="6400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6" name="Text 4"/>
          <p:cNvSpPr/>
          <p:nvPr/>
        </p:nvSpPr>
        <p:spPr>
          <a:xfrm>
            <a:off x="1167620" y="1005840"/>
            <a:ext cx="2926080" cy="640080"/>
          </a:xfrm>
          <a:prstGeom prst="rect">
            <a:avLst/>
          </a:prstGeom>
          <a:noFill/>
          <a:ln/>
        </p:spPr>
        <p:txBody>
          <a:bodyPr wrap="square" lIns="0" tIns="0" rIns="0" bIns="0" rtlCol="0" anchor="ctr"/>
          <a:lstStyle/>
          <a:p>
            <a:pPr marL="0" indent="0">
              <a:buNone/>
            </a:pPr>
            <a:r>
              <a:rPr lang="en-US" sz="1700" b="1" dirty="0">
                <a:solidFill>
                  <a:srgbClr val="2E7D32"/>
                </a:solidFill>
                <a:latin typeface="BIZ UDPGothic" pitchFamily="34" charset="0"/>
                <a:ea typeface="BIZ UDPGothic" pitchFamily="34" charset="-122"/>
                <a:cs typeface="BIZ UDPGothic" pitchFamily="34" charset="-120"/>
              </a:rPr>
              <a:t>汁物の回数と量を調整</a:t>
            </a:r>
            <a:endParaRPr lang="en-US" sz="1700" dirty="0"/>
          </a:p>
        </p:txBody>
      </p:sp>
      <p:sp>
        <p:nvSpPr>
          <p:cNvPr id="7" name="Text 5"/>
          <p:cNvSpPr/>
          <p:nvPr/>
        </p:nvSpPr>
        <p:spPr>
          <a:xfrm>
            <a:off x="4297680" y="1005840"/>
            <a:ext cx="4206240" cy="640080"/>
          </a:xfrm>
          <a:prstGeom prst="rect">
            <a:avLst/>
          </a:prstGeom>
          <a:noFill/>
          <a:ln/>
        </p:spPr>
        <p:txBody>
          <a:bodyPr wrap="square" lIns="0" tIns="0" rIns="0" bIns="0" rtlCol="0" anchor="ctr"/>
          <a:lstStyle/>
          <a:p>
            <a:pPr marL="0" indent="0">
              <a:buNone/>
            </a:pPr>
            <a:r>
              <a:rPr lang="en-US" sz="1500" dirty="0">
                <a:solidFill>
                  <a:srgbClr val="636E72"/>
                </a:solidFill>
                <a:latin typeface="BIZ UDPGothic" pitchFamily="34" charset="0"/>
                <a:ea typeface="BIZ UDPGothic" pitchFamily="34" charset="-122"/>
                <a:cs typeface="BIZ UDPGothic" pitchFamily="34" charset="-120"/>
              </a:rPr>
              <a:t>1日3回→1回、具を多く汁を少なめに</a:t>
            </a:r>
            <a:endParaRPr lang="en-US" sz="1500" dirty="0"/>
          </a:p>
        </p:txBody>
      </p:sp>
      <p:sp>
        <p:nvSpPr>
          <p:cNvPr id="8" name="Shape 6"/>
          <p:cNvSpPr/>
          <p:nvPr/>
        </p:nvSpPr>
        <p:spPr>
          <a:xfrm>
            <a:off x="457200" y="1755648"/>
            <a:ext cx="8229600" cy="640080"/>
          </a:xfrm>
          <a:prstGeom prst="roundRect">
            <a:avLst>
              <a:gd name="adj" fmla="val 11429"/>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9" name="Text 7"/>
          <p:cNvSpPr/>
          <p:nvPr/>
        </p:nvSpPr>
        <p:spPr>
          <a:xfrm>
            <a:off x="640080" y="1755648"/>
            <a:ext cx="548640" cy="6400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0" name="Text 8"/>
          <p:cNvSpPr/>
          <p:nvPr/>
        </p:nvSpPr>
        <p:spPr>
          <a:xfrm>
            <a:off x="1219203" y="1755648"/>
            <a:ext cx="2926080" cy="640080"/>
          </a:xfrm>
          <a:prstGeom prst="rect">
            <a:avLst/>
          </a:prstGeom>
          <a:noFill/>
          <a:ln/>
        </p:spPr>
        <p:txBody>
          <a:bodyPr wrap="square" lIns="0" tIns="0" rIns="0" bIns="0" rtlCol="0" anchor="ctr"/>
          <a:lstStyle/>
          <a:p>
            <a:pPr marL="0" indent="0">
              <a:buNone/>
            </a:pPr>
            <a:r>
              <a:rPr lang="en-US" sz="1700" b="1" dirty="0">
                <a:solidFill>
                  <a:srgbClr val="2E7D32"/>
                </a:solidFill>
                <a:latin typeface="BIZ UDPGothic" pitchFamily="34" charset="0"/>
                <a:ea typeface="BIZ UDPGothic" pitchFamily="34" charset="-122"/>
                <a:cs typeface="BIZ UDPGothic" pitchFamily="34" charset="-120"/>
              </a:rPr>
              <a:t>麺の汁を残す</a:t>
            </a:r>
            <a:endParaRPr lang="en-US" sz="1700" dirty="0"/>
          </a:p>
        </p:txBody>
      </p:sp>
      <p:sp>
        <p:nvSpPr>
          <p:cNvPr id="11" name="Text 9"/>
          <p:cNvSpPr/>
          <p:nvPr/>
        </p:nvSpPr>
        <p:spPr>
          <a:xfrm>
            <a:off x="4297680" y="1755648"/>
            <a:ext cx="4206240" cy="640080"/>
          </a:xfrm>
          <a:prstGeom prst="rect">
            <a:avLst/>
          </a:prstGeom>
          <a:noFill/>
          <a:ln/>
        </p:spPr>
        <p:txBody>
          <a:bodyPr wrap="square" lIns="0" tIns="0" rIns="0" bIns="0" rtlCol="0" anchor="ctr"/>
          <a:lstStyle/>
          <a:p>
            <a:pPr marL="0" indent="0">
              <a:buNone/>
            </a:pPr>
            <a:r>
              <a:rPr lang="en-US" sz="1500" dirty="0">
                <a:solidFill>
                  <a:srgbClr val="636E72"/>
                </a:solidFill>
                <a:latin typeface="BIZ UDPGothic" pitchFamily="34" charset="0"/>
                <a:ea typeface="BIZ UDPGothic" pitchFamily="34" charset="-122"/>
                <a:cs typeface="BIZ UDPGothic" pitchFamily="34" charset="-120"/>
              </a:rPr>
              <a:t>説明しやすく、実行しやすい。大きな減塩効果</a:t>
            </a:r>
            <a:endParaRPr lang="en-US" sz="1500" dirty="0"/>
          </a:p>
        </p:txBody>
      </p:sp>
      <p:sp>
        <p:nvSpPr>
          <p:cNvPr id="12" name="Shape 10"/>
          <p:cNvSpPr/>
          <p:nvPr/>
        </p:nvSpPr>
        <p:spPr>
          <a:xfrm>
            <a:off x="457200" y="2505456"/>
            <a:ext cx="8229600" cy="640080"/>
          </a:xfrm>
          <a:prstGeom prst="roundRect">
            <a:avLst>
              <a:gd name="adj" fmla="val 11429"/>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13" name="Text 11"/>
          <p:cNvSpPr/>
          <p:nvPr/>
        </p:nvSpPr>
        <p:spPr>
          <a:xfrm>
            <a:off x="640080" y="2505456"/>
            <a:ext cx="548640" cy="6400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4" name="Text 12"/>
          <p:cNvSpPr/>
          <p:nvPr/>
        </p:nvSpPr>
        <p:spPr>
          <a:xfrm>
            <a:off x="1167620" y="2505456"/>
            <a:ext cx="2926080" cy="640080"/>
          </a:xfrm>
          <a:prstGeom prst="rect">
            <a:avLst/>
          </a:prstGeom>
          <a:noFill/>
          <a:ln/>
        </p:spPr>
        <p:txBody>
          <a:bodyPr wrap="square" lIns="0" tIns="0" rIns="0" bIns="0" rtlCol="0" anchor="ctr"/>
          <a:lstStyle/>
          <a:p>
            <a:pPr marL="0" indent="0">
              <a:buNone/>
            </a:pPr>
            <a:r>
              <a:rPr lang="en-US" sz="1700" b="1" dirty="0">
                <a:solidFill>
                  <a:srgbClr val="2E7D32"/>
                </a:solidFill>
                <a:latin typeface="BIZ UDPGothic" pitchFamily="34" charset="0"/>
                <a:ea typeface="BIZ UDPGothic" pitchFamily="34" charset="-122"/>
                <a:cs typeface="BIZ UDPGothic" pitchFamily="34" charset="-120"/>
              </a:rPr>
              <a:t>調味料は少量を意識</a:t>
            </a:r>
            <a:endParaRPr lang="en-US" sz="1700" dirty="0"/>
          </a:p>
        </p:txBody>
      </p:sp>
      <p:sp>
        <p:nvSpPr>
          <p:cNvPr id="15" name="Text 13"/>
          <p:cNvSpPr/>
          <p:nvPr/>
        </p:nvSpPr>
        <p:spPr>
          <a:xfrm>
            <a:off x="4297680" y="2505456"/>
            <a:ext cx="4206240" cy="640080"/>
          </a:xfrm>
          <a:prstGeom prst="rect">
            <a:avLst/>
          </a:prstGeom>
          <a:noFill/>
          <a:ln/>
        </p:spPr>
        <p:txBody>
          <a:bodyPr wrap="square" lIns="0" tIns="0" rIns="0" bIns="0" rtlCol="0" anchor="ctr"/>
          <a:lstStyle/>
          <a:p>
            <a:pPr marL="0" indent="0">
              <a:buNone/>
            </a:pPr>
            <a:r>
              <a:rPr lang="en-US" sz="1500" dirty="0">
                <a:solidFill>
                  <a:srgbClr val="636E72"/>
                </a:solidFill>
                <a:latin typeface="BIZ UDPGothic" pitchFamily="34" charset="0"/>
                <a:ea typeface="BIZ UDPGothic" pitchFamily="34" charset="-122"/>
                <a:cs typeface="BIZ UDPGothic" pitchFamily="34" charset="-120"/>
              </a:rPr>
              <a:t>小皿に取る、全体にかけない。しょうゆ・ソース</a:t>
            </a:r>
            <a:endParaRPr lang="en-US" sz="1500" dirty="0"/>
          </a:p>
        </p:txBody>
      </p:sp>
      <p:sp>
        <p:nvSpPr>
          <p:cNvPr id="16" name="Shape 14"/>
          <p:cNvSpPr/>
          <p:nvPr/>
        </p:nvSpPr>
        <p:spPr>
          <a:xfrm>
            <a:off x="457200" y="3255264"/>
            <a:ext cx="8229600" cy="640080"/>
          </a:xfrm>
          <a:prstGeom prst="roundRect">
            <a:avLst>
              <a:gd name="adj" fmla="val 11429"/>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17" name="Text 15"/>
          <p:cNvSpPr/>
          <p:nvPr/>
        </p:nvSpPr>
        <p:spPr>
          <a:xfrm>
            <a:off x="640080" y="3255264"/>
            <a:ext cx="548640" cy="6400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8" name="Text 16"/>
          <p:cNvSpPr/>
          <p:nvPr/>
        </p:nvSpPr>
        <p:spPr>
          <a:xfrm>
            <a:off x="1167620" y="3255264"/>
            <a:ext cx="2926080" cy="640080"/>
          </a:xfrm>
          <a:prstGeom prst="rect">
            <a:avLst/>
          </a:prstGeom>
          <a:noFill/>
          <a:ln/>
        </p:spPr>
        <p:txBody>
          <a:bodyPr wrap="square" lIns="0" tIns="0" rIns="0" bIns="0" rtlCol="0" anchor="ctr"/>
          <a:lstStyle/>
          <a:p>
            <a:pPr marL="0" indent="0">
              <a:buNone/>
            </a:pPr>
            <a:r>
              <a:rPr lang="en-US" sz="1700" b="1" dirty="0">
                <a:solidFill>
                  <a:srgbClr val="2E7D32"/>
                </a:solidFill>
                <a:latin typeface="BIZ UDPGothic" pitchFamily="34" charset="0"/>
                <a:ea typeface="BIZ UDPGothic" pitchFamily="34" charset="-122"/>
                <a:cs typeface="BIZ UDPGothic" pitchFamily="34" charset="-120"/>
              </a:rPr>
              <a:t>だし・酸味・香辛料を活用</a:t>
            </a:r>
            <a:endParaRPr lang="en-US" sz="1700" dirty="0"/>
          </a:p>
        </p:txBody>
      </p:sp>
      <p:sp>
        <p:nvSpPr>
          <p:cNvPr id="19" name="Text 17"/>
          <p:cNvSpPr/>
          <p:nvPr/>
        </p:nvSpPr>
        <p:spPr>
          <a:xfrm>
            <a:off x="4297680" y="3255264"/>
            <a:ext cx="4206240" cy="640080"/>
          </a:xfrm>
          <a:prstGeom prst="rect">
            <a:avLst/>
          </a:prstGeom>
          <a:noFill/>
          <a:ln/>
        </p:spPr>
        <p:txBody>
          <a:bodyPr wrap="square" lIns="0" tIns="0" rIns="0" bIns="0" rtlCol="0" anchor="ctr"/>
          <a:lstStyle/>
          <a:p>
            <a:pPr marL="0" indent="0">
              <a:buNone/>
            </a:pPr>
            <a:r>
              <a:rPr lang="en-US" sz="1500" dirty="0">
                <a:solidFill>
                  <a:srgbClr val="636E72"/>
                </a:solidFill>
                <a:latin typeface="BIZ UDPGothic" pitchFamily="34" charset="0"/>
                <a:ea typeface="BIZ UDPGothic" pitchFamily="34" charset="-122"/>
                <a:cs typeface="BIZ UDPGothic" pitchFamily="34" charset="-120"/>
              </a:rPr>
              <a:t>レモン、酢、こしょう、七味、だしのうまみ</a:t>
            </a:r>
            <a:endParaRPr lang="en-US" sz="1500" dirty="0"/>
          </a:p>
        </p:txBody>
      </p:sp>
      <p:sp>
        <p:nvSpPr>
          <p:cNvPr id="20" name="Shape 18"/>
          <p:cNvSpPr/>
          <p:nvPr/>
        </p:nvSpPr>
        <p:spPr>
          <a:xfrm>
            <a:off x="457200" y="4005072"/>
            <a:ext cx="8229600" cy="640080"/>
          </a:xfrm>
          <a:prstGeom prst="roundRect">
            <a:avLst>
              <a:gd name="adj" fmla="val 11429"/>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21" name="Text 19"/>
          <p:cNvSpPr/>
          <p:nvPr/>
        </p:nvSpPr>
        <p:spPr>
          <a:xfrm>
            <a:off x="640080" y="4005072"/>
            <a:ext cx="548640" cy="6400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2" name="Text 20"/>
          <p:cNvSpPr/>
          <p:nvPr/>
        </p:nvSpPr>
        <p:spPr>
          <a:xfrm>
            <a:off x="1167620" y="4005072"/>
            <a:ext cx="3017520" cy="640080"/>
          </a:xfrm>
          <a:prstGeom prst="rect">
            <a:avLst/>
          </a:prstGeom>
          <a:noFill/>
          <a:ln/>
        </p:spPr>
        <p:txBody>
          <a:bodyPr wrap="square" lIns="0" tIns="0" rIns="0" bIns="0" rtlCol="0" anchor="ctr"/>
          <a:lstStyle/>
          <a:p>
            <a:pPr marL="0" indent="0">
              <a:buNone/>
            </a:pPr>
            <a:r>
              <a:rPr lang="en-US" sz="1700" b="1" dirty="0">
                <a:solidFill>
                  <a:srgbClr val="2E7D32"/>
                </a:solidFill>
                <a:latin typeface="BIZ UDPGothic" pitchFamily="34" charset="0"/>
                <a:ea typeface="BIZ UDPGothic" pitchFamily="34" charset="-122"/>
                <a:cs typeface="BIZ UDPGothic" pitchFamily="34" charset="-120"/>
              </a:rPr>
              <a:t>加工食品を毎日の習慣にしない</a:t>
            </a:r>
            <a:endParaRPr lang="en-US" sz="1700" dirty="0"/>
          </a:p>
        </p:txBody>
      </p:sp>
      <p:sp>
        <p:nvSpPr>
          <p:cNvPr id="23" name="Text 21"/>
          <p:cNvSpPr/>
          <p:nvPr/>
        </p:nvSpPr>
        <p:spPr>
          <a:xfrm>
            <a:off x="4297680" y="4005072"/>
            <a:ext cx="4206240" cy="640080"/>
          </a:xfrm>
          <a:prstGeom prst="rect">
            <a:avLst/>
          </a:prstGeom>
          <a:noFill/>
          <a:ln/>
        </p:spPr>
        <p:txBody>
          <a:bodyPr wrap="square" lIns="0" tIns="0" rIns="0" bIns="0" rtlCol="0" anchor="ctr"/>
          <a:lstStyle/>
          <a:p>
            <a:pPr marL="0" indent="0">
              <a:buNone/>
            </a:pPr>
            <a:r>
              <a:rPr lang="en-US" sz="1500" dirty="0">
                <a:solidFill>
                  <a:srgbClr val="636E72"/>
                </a:solidFill>
                <a:latin typeface="BIZ UDPGothic" pitchFamily="34" charset="0"/>
                <a:ea typeface="BIZ UDPGothic" pitchFamily="34" charset="-122"/>
                <a:cs typeface="BIZ UDPGothic" pitchFamily="34" charset="-120"/>
              </a:rPr>
              <a:t>たまに食べるのはOK。毎日続くと塩分がかさむ</a:t>
            </a:r>
            <a:endParaRPr lang="en-US" sz="1500" dirty="0"/>
          </a:p>
        </p:txBody>
      </p:sp>
      <p:sp>
        <p:nvSpPr>
          <p:cNvPr id="24" name="Shape 22"/>
          <p:cNvSpPr/>
          <p:nvPr/>
        </p:nvSpPr>
        <p:spPr>
          <a:xfrm>
            <a:off x="0" y="4892040"/>
            <a:ext cx="9144000" cy="256032"/>
          </a:xfrm>
          <a:prstGeom prst="rect">
            <a:avLst/>
          </a:prstGeom>
          <a:solidFill>
            <a:srgbClr val="1B5E20"/>
          </a:solidFill>
          <a:ln/>
        </p:spPr>
        <p:txBody>
          <a:bodyPr/>
          <a:lstStyle/>
          <a:p>
            <a:endParaRPr lang="ja-JP" altLang="en-US"/>
          </a:p>
        </p:txBody>
      </p:sp>
      <p:sp>
        <p:nvSpPr>
          <p:cNvPr id="25" name="Text 23"/>
          <p:cNvSpPr/>
          <p:nvPr/>
        </p:nvSpPr>
        <p:spPr>
          <a:xfrm>
            <a:off x="274320" y="4892040"/>
            <a:ext cx="8595360" cy="256032"/>
          </a:xfrm>
          <a:prstGeom prst="rect">
            <a:avLst/>
          </a:prstGeom>
          <a:noFill/>
          <a:ln/>
        </p:spPr>
        <p:txBody>
          <a:bodyPr wrap="square" lIns="0" tIns="0" rIns="0" bIns="0" rtlCol="0" anchor="ctr"/>
          <a:lstStyle/>
          <a:p>
            <a:pPr marL="0" indent="0" algn="r">
              <a:buNone/>
            </a:pPr>
            <a:r>
              <a:rPr lang="en-US" sz="1000" dirty="0">
                <a:solidFill>
                  <a:srgbClr val="A5D6A7"/>
                </a:solidFill>
                <a:latin typeface="BIZ UDPGothic" pitchFamily="34" charset="0"/>
                <a:ea typeface="BIZ UDPGothic" pitchFamily="34" charset="-122"/>
                <a:cs typeface="BIZ UDPGothic" pitchFamily="34" charset="-120"/>
              </a:rPr>
              <a:t>外来でそのまま使える食事指導シリーズ  第2回</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32"/>
          </a:solidFill>
          <a:ln/>
        </p:spPr>
        <p:txBody>
          <a:bodyPr/>
          <a:lstStyle/>
          <a:p>
            <a:endParaRPr lang="ja-JP" altLang="en-US"/>
          </a:p>
        </p:txBody>
      </p:sp>
      <p:sp>
        <p:nvSpPr>
          <p:cNvPr id="3" name="Text 1"/>
          <p:cNvSpPr/>
          <p:nvPr/>
        </p:nvSpPr>
        <p:spPr>
          <a:xfrm>
            <a:off x="457200" y="9144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BIZ UDPGothic" pitchFamily="34" charset="0"/>
                <a:ea typeface="BIZ UDPGothic" pitchFamily="34" charset="-122"/>
                <a:cs typeface="BIZ UDPGothic" pitchFamily="34" charset="-120"/>
              </a:rPr>
              <a:t>野菜・果物はどう考えるか</a:t>
            </a:r>
            <a:endParaRPr lang="en-US" sz="2800" dirty="0"/>
          </a:p>
        </p:txBody>
      </p:sp>
      <p:sp>
        <p:nvSpPr>
          <p:cNvPr id="4" name="Shape 2"/>
          <p:cNvSpPr/>
          <p:nvPr/>
        </p:nvSpPr>
        <p:spPr>
          <a:xfrm>
            <a:off x="457200" y="1188720"/>
            <a:ext cx="3931920" cy="2560320"/>
          </a:xfrm>
          <a:prstGeom prst="roundRect">
            <a:avLst>
              <a:gd name="adj" fmla="val 3571"/>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5" name="Shape 3"/>
          <p:cNvSpPr/>
          <p:nvPr/>
        </p:nvSpPr>
        <p:spPr>
          <a:xfrm>
            <a:off x="457200" y="1188720"/>
            <a:ext cx="3931920" cy="502920"/>
          </a:xfrm>
          <a:prstGeom prst="roundRect">
            <a:avLst>
              <a:gd name="adj" fmla="val 18182"/>
            </a:avLst>
          </a:prstGeom>
          <a:solidFill>
            <a:srgbClr val="2E7D32"/>
          </a:solidFill>
          <a:ln/>
        </p:spPr>
        <p:txBody>
          <a:bodyPr/>
          <a:lstStyle/>
          <a:p>
            <a:endParaRPr lang="ja-JP" altLang="en-US"/>
          </a:p>
        </p:txBody>
      </p:sp>
      <p:sp>
        <p:nvSpPr>
          <p:cNvPr id="6" name="Text 4"/>
          <p:cNvSpPr/>
          <p:nvPr/>
        </p:nvSpPr>
        <p:spPr>
          <a:xfrm>
            <a:off x="457200" y="1188720"/>
            <a:ext cx="3931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BIZ UDPGothic" pitchFamily="34" charset="0"/>
                <a:ea typeface="BIZ UDPGothic" pitchFamily="34" charset="-122"/>
                <a:cs typeface="BIZ UDPGothic" pitchFamily="34" charset="-120"/>
              </a:rPr>
              <a:t>一般的には有利</a:t>
            </a:r>
            <a:endParaRPr lang="en-US" sz="1800" dirty="0"/>
          </a:p>
        </p:txBody>
      </p:sp>
      <p:sp>
        <p:nvSpPr>
          <p:cNvPr id="7" name="Text 5"/>
          <p:cNvSpPr/>
          <p:nvPr/>
        </p:nvSpPr>
        <p:spPr>
          <a:xfrm>
            <a:off x="731520" y="1828800"/>
            <a:ext cx="3383280" cy="1645920"/>
          </a:xfrm>
          <a:prstGeom prst="rect">
            <a:avLst/>
          </a:prstGeom>
          <a:noFill/>
          <a:ln/>
        </p:spPr>
        <p:txBody>
          <a:bodyPr wrap="square" lIns="0" tIns="0" rIns="0" bIns="0" rtlCol="0" anchor="ctr"/>
          <a:lstStyle/>
          <a:p>
            <a:pPr marL="0" indent="0">
              <a:buNone/>
            </a:pPr>
            <a:r>
              <a:rPr lang="en-US" sz="1600" dirty="0">
                <a:solidFill>
                  <a:srgbClr val="2D3436"/>
                </a:solidFill>
                <a:latin typeface="BIZ UDPGothic" pitchFamily="34" charset="0"/>
                <a:ea typeface="BIZ UDPGothic" pitchFamily="34" charset="-122"/>
                <a:cs typeface="BIZ UDPGothic" pitchFamily="34" charset="-120"/>
              </a:rPr>
              <a:t>・食物繊維・カリウムを含む</a:t>
            </a:r>
            <a:endParaRPr lang="en-US" sz="1600" dirty="0"/>
          </a:p>
          <a:p>
            <a:pPr marL="0" indent="0">
              <a:buNone/>
            </a:pPr>
            <a:r>
              <a:rPr lang="en-US" sz="1600" dirty="0">
                <a:solidFill>
                  <a:srgbClr val="2D3436"/>
                </a:solidFill>
                <a:latin typeface="BIZ UDPGothic" pitchFamily="34" charset="0"/>
                <a:ea typeface="BIZ UDPGothic" pitchFamily="34" charset="-122"/>
                <a:cs typeface="BIZ UDPGothic" pitchFamily="34" charset="-120"/>
              </a:rPr>
              <a:t>・血圧管理に有利な食事パターン</a:t>
            </a:r>
            <a:endParaRPr lang="en-US" sz="1600" dirty="0"/>
          </a:p>
          <a:p>
            <a:pPr marL="0" indent="0">
              <a:buNone/>
            </a:pPr>
            <a:r>
              <a:rPr lang="en-US" sz="1600" dirty="0">
                <a:solidFill>
                  <a:srgbClr val="2D3436"/>
                </a:solidFill>
                <a:latin typeface="BIZ UDPGothic" pitchFamily="34" charset="0"/>
                <a:ea typeface="BIZ UDPGothic" pitchFamily="34" charset="-122"/>
                <a:cs typeface="BIZ UDPGothic" pitchFamily="34" charset="-120"/>
              </a:rPr>
              <a:t>  の一部</a:t>
            </a:r>
            <a:endParaRPr lang="en-US" sz="1600" dirty="0"/>
          </a:p>
          <a:p>
            <a:pPr marL="0" indent="0">
              <a:buNone/>
            </a:pPr>
            <a:r>
              <a:rPr lang="en-US" sz="1600" dirty="0">
                <a:solidFill>
                  <a:srgbClr val="2D3436"/>
                </a:solidFill>
                <a:latin typeface="BIZ UDPGothic" pitchFamily="34" charset="0"/>
                <a:ea typeface="BIZ UDPGothic" pitchFamily="34" charset="-122"/>
                <a:cs typeface="BIZ UDPGothic" pitchFamily="34" charset="-120"/>
              </a:rPr>
              <a:t>・野菜や果物の摂取を一般に推奨</a:t>
            </a:r>
            <a:endParaRPr lang="en-US" sz="1600" dirty="0"/>
          </a:p>
        </p:txBody>
      </p:sp>
      <p:sp>
        <p:nvSpPr>
          <p:cNvPr id="8" name="Shape 6"/>
          <p:cNvSpPr/>
          <p:nvPr/>
        </p:nvSpPr>
        <p:spPr>
          <a:xfrm>
            <a:off x="4754880" y="1188720"/>
            <a:ext cx="3931920" cy="2560320"/>
          </a:xfrm>
          <a:prstGeom prst="roundRect">
            <a:avLst>
              <a:gd name="adj" fmla="val 3571"/>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9" name="Shape 7"/>
          <p:cNvSpPr/>
          <p:nvPr/>
        </p:nvSpPr>
        <p:spPr>
          <a:xfrm>
            <a:off x="4754880" y="1188720"/>
            <a:ext cx="3931920" cy="502920"/>
          </a:xfrm>
          <a:prstGeom prst="roundRect">
            <a:avLst>
              <a:gd name="adj" fmla="val 18182"/>
            </a:avLst>
          </a:prstGeom>
          <a:solidFill>
            <a:srgbClr val="DC3545"/>
          </a:solidFill>
          <a:ln/>
        </p:spPr>
        <p:txBody>
          <a:bodyPr/>
          <a:lstStyle/>
          <a:p>
            <a:endParaRPr lang="ja-JP" altLang="en-US"/>
          </a:p>
        </p:txBody>
      </p:sp>
      <p:sp>
        <p:nvSpPr>
          <p:cNvPr id="10" name="Text 8"/>
          <p:cNvSpPr/>
          <p:nvPr/>
        </p:nvSpPr>
        <p:spPr>
          <a:xfrm>
            <a:off x="4754880" y="1188720"/>
            <a:ext cx="3931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BIZ UDPGothic" pitchFamily="34" charset="0"/>
                <a:ea typeface="BIZ UDPGothic" pitchFamily="34" charset="-122"/>
                <a:cs typeface="BIZ UDPGothic" pitchFamily="34" charset="-120"/>
              </a:rPr>
              <a:t>⚠ CKD合併では注意</a:t>
            </a:r>
            <a:endParaRPr lang="en-US" sz="1800" dirty="0"/>
          </a:p>
        </p:txBody>
      </p:sp>
      <p:sp>
        <p:nvSpPr>
          <p:cNvPr id="11" name="Text 9"/>
          <p:cNvSpPr/>
          <p:nvPr/>
        </p:nvSpPr>
        <p:spPr>
          <a:xfrm>
            <a:off x="5029200" y="1828800"/>
            <a:ext cx="3383280" cy="1645920"/>
          </a:xfrm>
          <a:prstGeom prst="rect">
            <a:avLst/>
          </a:prstGeom>
          <a:noFill/>
          <a:ln/>
        </p:spPr>
        <p:txBody>
          <a:bodyPr wrap="square" lIns="0" tIns="0" rIns="0" bIns="0" rtlCol="0" anchor="ctr"/>
          <a:lstStyle/>
          <a:p>
            <a:pPr marL="0" indent="0">
              <a:buNone/>
            </a:pPr>
            <a:r>
              <a:rPr lang="en-US" sz="1600" dirty="0">
                <a:solidFill>
                  <a:srgbClr val="2D3436"/>
                </a:solidFill>
                <a:latin typeface="BIZ UDPGothic" pitchFamily="34" charset="0"/>
                <a:ea typeface="BIZ UDPGothic" pitchFamily="34" charset="-122"/>
                <a:cs typeface="BIZ UDPGothic" pitchFamily="34" charset="-120"/>
              </a:rPr>
              <a:t>・腎機能低下＋高K血症があれば</a:t>
            </a:r>
            <a:endParaRPr lang="en-US" sz="1600" dirty="0"/>
          </a:p>
          <a:p>
            <a:pPr marL="0" indent="0">
              <a:buNone/>
            </a:pPr>
            <a:r>
              <a:rPr lang="en-US" sz="1600" dirty="0">
                <a:solidFill>
                  <a:srgbClr val="2D3436"/>
                </a:solidFill>
                <a:latin typeface="BIZ UDPGothic" pitchFamily="34" charset="0"/>
                <a:ea typeface="BIZ UDPGothic" pitchFamily="34" charset="-122"/>
                <a:cs typeface="BIZ UDPGothic" pitchFamily="34" charset="-120"/>
              </a:rPr>
              <a:t>  カリウム摂取を無条件に推奨</a:t>
            </a:r>
            <a:endParaRPr lang="en-US" sz="1600" dirty="0"/>
          </a:p>
          <a:p>
            <a:pPr marL="0" indent="0">
              <a:buNone/>
            </a:pPr>
            <a:r>
              <a:rPr lang="en-US" sz="1600" dirty="0">
                <a:solidFill>
                  <a:srgbClr val="2D3436"/>
                </a:solidFill>
                <a:latin typeface="BIZ UDPGothic" pitchFamily="34" charset="0"/>
                <a:ea typeface="BIZ UDPGothic" pitchFamily="34" charset="-122"/>
                <a:cs typeface="BIZ UDPGothic" pitchFamily="34" charset="-120"/>
              </a:rPr>
              <a:t>  できない</a:t>
            </a:r>
            <a:endParaRPr lang="en-US" sz="1600" dirty="0"/>
          </a:p>
          <a:p>
            <a:pPr marL="0" indent="0">
              <a:buNone/>
            </a:pPr>
            <a:r>
              <a:rPr lang="en-US" sz="1600" dirty="0">
                <a:solidFill>
                  <a:srgbClr val="2D3436"/>
                </a:solidFill>
                <a:latin typeface="BIZ UDPGothic" pitchFamily="34" charset="0"/>
                <a:ea typeface="BIZ UDPGothic" pitchFamily="34" charset="-122"/>
                <a:cs typeface="BIZ UDPGothic" pitchFamily="34" charset="-120"/>
              </a:rPr>
              <a:t>・腎機能・血清K値を確認してから</a:t>
            </a:r>
            <a:endParaRPr lang="en-US" sz="1600" dirty="0"/>
          </a:p>
          <a:p>
            <a:pPr marL="0" indent="0">
              <a:buNone/>
            </a:pPr>
            <a:r>
              <a:rPr lang="en-US" sz="1600" dirty="0">
                <a:solidFill>
                  <a:srgbClr val="2D3436"/>
                </a:solidFill>
                <a:latin typeface="BIZ UDPGothic" pitchFamily="34" charset="0"/>
                <a:ea typeface="BIZ UDPGothic" pitchFamily="34" charset="-122"/>
                <a:cs typeface="BIZ UDPGothic" pitchFamily="34" charset="-120"/>
              </a:rPr>
              <a:t>・「どんどん増やしましょう」は危険</a:t>
            </a:r>
            <a:endParaRPr lang="en-US" sz="1600" dirty="0"/>
          </a:p>
        </p:txBody>
      </p:sp>
      <p:sp>
        <p:nvSpPr>
          <p:cNvPr id="12" name="Shape 10"/>
          <p:cNvSpPr/>
          <p:nvPr/>
        </p:nvSpPr>
        <p:spPr>
          <a:xfrm>
            <a:off x="914400" y="4114800"/>
            <a:ext cx="7315200" cy="502920"/>
          </a:xfrm>
          <a:prstGeom prst="roundRect">
            <a:avLst>
              <a:gd name="adj" fmla="val 18182"/>
            </a:avLst>
          </a:prstGeom>
          <a:solidFill>
            <a:srgbClr val="FFF3CD"/>
          </a:solidFill>
          <a:ln/>
        </p:spPr>
        <p:txBody>
          <a:bodyPr/>
          <a:lstStyle/>
          <a:p>
            <a:endParaRPr lang="ja-JP" altLang="en-US"/>
          </a:p>
        </p:txBody>
      </p:sp>
      <p:sp>
        <p:nvSpPr>
          <p:cNvPr id="13" name="Text 11"/>
          <p:cNvSpPr/>
          <p:nvPr/>
        </p:nvSpPr>
        <p:spPr>
          <a:xfrm>
            <a:off x="914400" y="4114800"/>
            <a:ext cx="7315200" cy="502920"/>
          </a:xfrm>
          <a:prstGeom prst="rect">
            <a:avLst/>
          </a:prstGeom>
          <a:noFill/>
          <a:ln/>
        </p:spPr>
        <p:txBody>
          <a:bodyPr wrap="square" lIns="0" tIns="0" rIns="0" bIns="0" rtlCol="0" anchor="ctr"/>
          <a:lstStyle/>
          <a:p>
            <a:pPr marL="0" indent="0" algn="ctr">
              <a:buNone/>
            </a:pPr>
            <a:r>
              <a:rPr lang="en-US" sz="1700" b="1" dirty="0">
                <a:solidFill>
                  <a:srgbClr val="FF8F00"/>
                </a:solidFill>
                <a:latin typeface="BIZ UDPGothic" pitchFamily="34" charset="0"/>
                <a:ea typeface="BIZ UDPGothic" pitchFamily="34" charset="-122"/>
                <a:cs typeface="BIZ UDPGothic" pitchFamily="34" charset="-120"/>
              </a:rPr>
              <a:t>一律ではなく、腎機能に応じて個別に判断する</a:t>
            </a:r>
            <a:endParaRPr lang="en-US" sz="1700" dirty="0"/>
          </a:p>
        </p:txBody>
      </p:sp>
      <p:sp>
        <p:nvSpPr>
          <p:cNvPr id="14" name="Shape 12"/>
          <p:cNvSpPr/>
          <p:nvPr/>
        </p:nvSpPr>
        <p:spPr>
          <a:xfrm>
            <a:off x="0" y="4892040"/>
            <a:ext cx="9144000" cy="256032"/>
          </a:xfrm>
          <a:prstGeom prst="rect">
            <a:avLst/>
          </a:prstGeom>
          <a:solidFill>
            <a:srgbClr val="1B5E20"/>
          </a:solidFill>
          <a:ln/>
        </p:spPr>
        <p:txBody>
          <a:bodyPr/>
          <a:lstStyle/>
          <a:p>
            <a:endParaRPr lang="ja-JP" altLang="en-US"/>
          </a:p>
        </p:txBody>
      </p:sp>
      <p:sp>
        <p:nvSpPr>
          <p:cNvPr id="15" name="Text 13"/>
          <p:cNvSpPr/>
          <p:nvPr/>
        </p:nvSpPr>
        <p:spPr>
          <a:xfrm>
            <a:off x="274320" y="4892040"/>
            <a:ext cx="8595360" cy="256032"/>
          </a:xfrm>
          <a:prstGeom prst="rect">
            <a:avLst/>
          </a:prstGeom>
          <a:noFill/>
          <a:ln/>
        </p:spPr>
        <p:txBody>
          <a:bodyPr wrap="square" lIns="0" tIns="0" rIns="0" bIns="0" rtlCol="0" anchor="ctr"/>
          <a:lstStyle/>
          <a:p>
            <a:pPr marL="0" indent="0" algn="r">
              <a:buNone/>
            </a:pPr>
            <a:r>
              <a:rPr lang="en-US" sz="1000" dirty="0">
                <a:solidFill>
                  <a:srgbClr val="A5D6A7"/>
                </a:solidFill>
                <a:latin typeface="BIZ UDPGothic" pitchFamily="34" charset="0"/>
                <a:ea typeface="BIZ UDPGothic" pitchFamily="34" charset="-122"/>
                <a:cs typeface="BIZ UDPGothic" pitchFamily="34" charset="-120"/>
              </a:rPr>
              <a:t>外来でそのまま使える食事指導シリーズ  第2回</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32"/>
          </a:solidFill>
          <a:ln/>
        </p:spPr>
        <p:txBody>
          <a:bodyPr/>
          <a:lstStyle/>
          <a:p>
            <a:endParaRPr lang="ja-JP" altLang="en-US"/>
          </a:p>
        </p:txBody>
      </p:sp>
      <p:sp>
        <p:nvSpPr>
          <p:cNvPr id="3" name="Text 1"/>
          <p:cNvSpPr/>
          <p:nvPr/>
        </p:nvSpPr>
        <p:spPr>
          <a:xfrm>
            <a:off x="457200" y="9144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BIZ UDPGothic" pitchFamily="34" charset="0"/>
                <a:ea typeface="BIZ UDPGothic" pitchFamily="34" charset="-122"/>
                <a:cs typeface="BIZ UDPGothic" pitchFamily="34" charset="-120"/>
              </a:rPr>
              <a:t>減塩だけでは不十分 ― 体重・飲酒・食事全体</a:t>
            </a:r>
            <a:endParaRPr lang="en-US" sz="2800" dirty="0"/>
          </a:p>
        </p:txBody>
      </p:sp>
      <p:sp>
        <p:nvSpPr>
          <p:cNvPr id="4" name="Shape 2"/>
          <p:cNvSpPr/>
          <p:nvPr/>
        </p:nvSpPr>
        <p:spPr>
          <a:xfrm>
            <a:off x="548640" y="1097280"/>
            <a:ext cx="8046720" cy="960120"/>
          </a:xfrm>
          <a:prstGeom prst="roundRect">
            <a:avLst>
              <a:gd name="adj" fmla="val 9524"/>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5" name="Shape 3"/>
          <p:cNvSpPr/>
          <p:nvPr/>
        </p:nvSpPr>
        <p:spPr>
          <a:xfrm>
            <a:off x="548640" y="1097280"/>
            <a:ext cx="109728" cy="960120"/>
          </a:xfrm>
          <a:prstGeom prst="roundRect">
            <a:avLst/>
          </a:prstGeom>
          <a:solidFill>
            <a:srgbClr val="E67E22"/>
          </a:solidFill>
          <a:ln/>
        </p:spPr>
        <p:txBody>
          <a:bodyPr/>
          <a:lstStyle/>
          <a:p>
            <a:endParaRPr lang="ja-JP" altLang="en-US"/>
          </a:p>
        </p:txBody>
      </p:sp>
      <p:sp>
        <p:nvSpPr>
          <p:cNvPr id="6" name="Text 4"/>
          <p:cNvSpPr/>
          <p:nvPr/>
        </p:nvSpPr>
        <p:spPr>
          <a:xfrm>
            <a:off x="914400" y="1143000"/>
            <a:ext cx="2286000" cy="365760"/>
          </a:xfrm>
          <a:prstGeom prst="rect">
            <a:avLst/>
          </a:prstGeom>
          <a:noFill/>
          <a:ln/>
        </p:spPr>
        <p:txBody>
          <a:bodyPr wrap="square" lIns="0" tIns="0" rIns="0" bIns="0" rtlCol="0" anchor="ctr"/>
          <a:lstStyle/>
          <a:p>
            <a:pPr marL="0" indent="0">
              <a:buNone/>
            </a:pPr>
            <a:r>
              <a:rPr lang="en-US" sz="2000" b="1" dirty="0">
                <a:solidFill>
                  <a:srgbClr val="E67E22"/>
                </a:solidFill>
                <a:latin typeface="BIZ UDPGothic" pitchFamily="34" charset="0"/>
                <a:ea typeface="BIZ UDPGothic" pitchFamily="34" charset="-122"/>
                <a:cs typeface="BIZ UDPGothic" pitchFamily="34" charset="-120"/>
              </a:rPr>
              <a:t>⚖️ 体重</a:t>
            </a:r>
            <a:endParaRPr lang="en-US" sz="2000" dirty="0"/>
          </a:p>
        </p:txBody>
      </p:sp>
      <p:sp>
        <p:nvSpPr>
          <p:cNvPr id="7" name="Text 5"/>
          <p:cNvSpPr/>
          <p:nvPr/>
        </p:nvSpPr>
        <p:spPr>
          <a:xfrm>
            <a:off x="914400" y="1554480"/>
            <a:ext cx="7315200" cy="411480"/>
          </a:xfrm>
          <a:prstGeom prst="rect">
            <a:avLst/>
          </a:prstGeom>
          <a:noFill/>
          <a:ln/>
        </p:spPr>
        <p:txBody>
          <a:bodyPr wrap="square" lIns="0" tIns="0" rIns="0" bIns="0" rtlCol="0" anchor="ctr"/>
          <a:lstStyle/>
          <a:p>
            <a:pPr marL="0" indent="0">
              <a:buNone/>
            </a:pPr>
            <a:r>
              <a:rPr lang="en-US" sz="1500" dirty="0">
                <a:solidFill>
                  <a:srgbClr val="636E72"/>
                </a:solidFill>
                <a:latin typeface="BIZ UDPGothic" pitchFamily="34" charset="0"/>
                <a:ea typeface="BIZ UDPGothic" pitchFamily="34" charset="-122"/>
                <a:cs typeface="BIZ UDPGothic" pitchFamily="34" charset="-120"/>
              </a:rPr>
              <a:t>内臓脂肪↑ → 血圧↑。食塩を減らしても体重増加が続けば改善乏しい</a:t>
            </a:r>
            <a:endParaRPr lang="en-US" sz="1500" dirty="0"/>
          </a:p>
        </p:txBody>
      </p:sp>
      <p:sp>
        <p:nvSpPr>
          <p:cNvPr id="8" name="Shape 6"/>
          <p:cNvSpPr/>
          <p:nvPr/>
        </p:nvSpPr>
        <p:spPr>
          <a:xfrm>
            <a:off x="548640" y="2240280"/>
            <a:ext cx="8046720" cy="960120"/>
          </a:xfrm>
          <a:prstGeom prst="roundRect">
            <a:avLst>
              <a:gd name="adj" fmla="val 9524"/>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9" name="Shape 7"/>
          <p:cNvSpPr/>
          <p:nvPr/>
        </p:nvSpPr>
        <p:spPr>
          <a:xfrm>
            <a:off x="548640" y="2240280"/>
            <a:ext cx="109728" cy="960120"/>
          </a:xfrm>
          <a:prstGeom prst="roundRect">
            <a:avLst/>
          </a:prstGeom>
          <a:solidFill>
            <a:srgbClr val="DC3545"/>
          </a:solidFill>
          <a:ln/>
        </p:spPr>
        <p:txBody>
          <a:bodyPr/>
          <a:lstStyle/>
          <a:p>
            <a:endParaRPr lang="ja-JP" altLang="en-US"/>
          </a:p>
        </p:txBody>
      </p:sp>
      <p:sp>
        <p:nvSpPr>
          <p:cNvPr id="10" name="Text 8"/>
          <p:cNvSpPr/>
          <p:nvPr/>
        </p:nvSpPr>
        <p:spPr>
          <a:xfrm>
            <a:off x="914400" y="2286000"/>
            <a:ext cx="2286000" cy="365760"/>
          </a:xfrm>
          <a:prstGeom prst="rect">
            <a:avLst/>
          </a:prstGeom>
          <a:noFill/>
          <a:ln/>
        </p:spPr>
        <p:txBody>
          <a:bodyPr wrap="square" lIns="0" tIns="0" rIns="0" bIns="0" rtlCol="0" anchor="ctr"/>
          <a:lstStyle/>
          <a:p>
            <a:pPr marL="0" indent="0">
              <a:buNone/>
            </a:pPr>
            <a:r>
              <a:rPr lang="en-US" sz="2000" b="1" dirty="0">
                <a:solidFill>
                  <a:srgbClr val="DC3545"/>
                </a:solidFill>
                <a:latin typeface="BIZ UDPGothic" pitchFamily="34" charset="0"/>
                <a:ea typeface="BIZ UDPGothic" pitchFamily="34" charset="-122"/>
                <a:cs typeface="BIZ UDPGothic" pitchFamily="34" charset="-120"/>
              </a:rPr>
              <a:t>🍺 飲酒</a:t>
            </a:r>
            <a:endParaRPr lang="en-US" sz="2000" dirty="0"/>
          </a:p>
        </p:txBody>
      </p:sp>
      <p:sp>
        <p:nvSpPr>
          <p:cNvPr id="11" name="Text 9"/>
          <p:cNvSpPr/>
          <p:nvPr/>
        </p:nvSpPr>
        <p:spPr>
          <a:xfrm>
            <a:off x="914400" y="2697480"/>
            <a:ext cx="7315200" cy="411480"/>
          </a:xfrm>
          <a:prstGeom prst="rect">
            <a:avLst/>
          </a:prstGeom>
          <a:noFill/>
          <a:ln/>
        </p:spPr>
        <p:txBody>
          <a:bodyPr wrap="square" lIns="0" tIns="0" rIns="0" bIns="0" rtlCol="0" anchor="ctr"/>
          <a:lstStyle/>
          <a:p>
            <a:pPr marL="0" indent="0">
              <a:buNone/>
            </a:pPr>
            <a:r>
              <a:rPr lang="en-US" sz="1500" dirty="0">
                <a:solidFill>
                  <a:srgbClr val="636E72"/>
                </a:solidFill>
                <a:latin typeface="BIZ UDPGothic" pitchFamily="34" charset="0"/>
                <a:ea typeface="BIZ UDPGothic" pitchFamily="34" charset="-122"/>
                <a:cs typeface="BIZ UDPGothic" pitchFamily="34" charset="-120"/>
              </a:rPr>
              <a:t>毎日＋量が多い＋つまみが塩辛い → 悪循環。量と頻度の見直し</a:t>
            </a:r>
            <a:endParaRPr lang="en-US" sz="1500" dirty="0"/>
          </a:p>
        </p:txBody>
      </p:sp>
      <p:sp>
        <p:nvSpPr>
          <p:cNvPr id="12" name="Shape 10"/>
          <p:cNvSpPr/>
          <p:nvPr/>
        </p:nvSpPr>
        <p:spPr>
          <a:xfrm>
            <a:off x="548640" y="3383280"/>
            <a:ext cx="8046720" cy="960120"/>
          </a:xfrm>
          <a:prstGeom prst="roundRect">
            <a:avLst>
              <a:gd name="adj" fmla="val 9524"/>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13" name="Shape 11"/>
          <p:cNvSpPr/>
          <p:nvPr/>
        </p:nvSpPr>
        <p:spPr>
          <a:xfrm>
            <a:off x="548640" y="3383280"/>
            <a:ext cx="109728" cy="960120"/>
          </a:xfrm>
          <a:prstGeom prst="roundRect">
            <a:avLst/>
          </a:prstGeom>
          <a:solidFill>
            <a:srgbClr val="2980B9"/>
          </a:solidFill>
          <a:ln/>
        </p:spPr>
        <p:txBody>
          <a:bodyPr/>
          <a:lstStyle/>
          <a:p>
            <a:endParaRPr lang="ja-JP" altLang="en-US"/>
          </a:p>
        </p:txBody>
      </p:sp>
      <p:sp>
        <p:nvSpPr>
          <p:cNvPr id="14" name="Text 12"/>
          <p:cNvSpPr/>
          <p:nvPr/>
        </p:nvSpPr>
        <p:spPr>
          <a:xfrm>
            <a:off x="914399" y="3429000"/>
            <a:ext cx="2527495" cy="365760"/>
          </a:xfrm>
          <a:prstGeom prst="rect">
            <a:avLst/>
          </a:prstGeom>
          <a:noFill/>
          <a:ln/>
        </p:spPr>
        <p:txBody>
          <a:bodyPr wrap="square" lIns="0" tIns="0" rIns="0" bIns="0" rtlCol="0" anchor="ctr"/>
          <a:lstStyle/>
          <a:p>
            <a:pPr marL="0" indent="0">
              <a:buNone/>
            </a:pPr>
            <a:r>
              <a:rPr lang="en-US" sz="2000" b="1" dirty="0">
                <a:solidFill>
                  <a:srgbClr val="2980B9"/>
                </a:solidFill>
                <a:latin typeface="BIZ UDPGothic" pitchFamily="34" charset="0"/>
                <a:ea typeface="BIZ UDPGothic" pitchFamily="34" charset="-122"/>
                <a:cs typeface="BIZ UDPGothic" pitchFamily="34" charset="-120"/>
              </a:rPr>
              <a:t>🍽️ 食事パターン全体</a:t>
            </a:r>
            <a:endParaRPr lang="en-US" sz="2000" dirty="0"/>
          </a:p>
        </p:txBody>
      </p:sp>
      <p:sp>
        <p:nvSpPr>
          <p:cNvPr id="15" name="Text 13"/>
          <p:cNvSpPr/>
          <p:nvPr/>
        </p:nvSpPr>
        <p:spPr>
          <a:xfrm>
            <a:off x="914400" y="3840480"/>
            <a:ext cx="7315200" cy="411480"/>
          </a:xfrm>
          <a:prstGeom prst="rect">
            <a:avLst/>
          </a:prstGeom>
          <a:noFill/>
          <a:ln/>
        </p:spPr>
        <p:txBody>
          <a:bodyPr wrap="square" lIns="0" tIns="0" rIns="0" bIns="0" rtlCol="0" anchor="ctr"/>
          <a:lstStyle/>
          <a:p>
            <a:pPr marL="0" indent="0">
              <a:buNone/>
            </a:pPr>
            <a:r>
              <a:rPr lang="en-US" sz="1500" dirty="0">
                <a:solidFill>
                  <a:srgbClr val="636E72"/>
                </a:solidFill>
                <a:latin typeface="BIZ UDPGothic" pitchFamily="34" charset="0"/>
                <a:ea typeface="BIZ UDPGothic" pitchFamily="34" charset="-122"/>
                <a:cs typeface="BIZ UDPGothic" pitchFamily="34" charset="-120"/>
              </a:rPr>
              <a:t>外食多い・野菜少ない・加工食品多い・夜遅い食事 → 日常全体を聞く</a:t>
            </a:r>
            <a:endParaRPr lang="en-US" sz="1500" dirty="0"/>
          </a:p>
        </p:txBody>
      </p:sp>
      <p:sp>
        <p:nvSpPr>
          <p:cNvPr id="16" name="Shape 14"/>
          <p:cNvSpPr/>
          <p:nvPr/>
        </p:nvSpPr>
        <p:spPr>
          <a:xfrm>
            <a:off x="0" y="4892040"/>
            <a:ext cx="9144000" cy="256032"/>
          </a:xfrm>
          <a:prstGeom prst="rect">
            <a:avLst/>
          </a:prstGeom>
          <a:solidFill>
            <a:srgbClr val="1B5E20"/>
          </a:solidFill>
          <a:ln/>
        </p:spPr>
        <p:txBody>
          <a:bodyPr/>
          <a:lstStyle/>
          <a:p>
            <a:endParaRPr lang="ja-JP" altLang="en-US"/>
          </a:p>
        </p:txBody>
      </p:sp>
      <p:sp>
        <p:nvSpPr>
          <p:cNvPr id="17" name="Text 15"/>
          <p:cNvSpPr/>
          <p:nvPr/>
        </p:nvSpPr>
        <p:spPr>
          <a:xfrm>
            <a:off x="274320" y="4892040"/>
            <a:ext cx="8595360" cy="256032"/>
          </a:xfrm>
          <a:prstGeom prst="rect">
            <a:avLst/>
          </a:prstGeom>
          <a:noFill/>
          <a:ln/>
        </p:spPr>
        <p:txBody>
          <a:bodyPr wrap="square" lIns="0" tIns="0" rIns="0" bIns="0" rtlCol="0" anchor="ctr"/>
          <a:lstStyle/>
          <a:p>
            <a:pPr marL="0" indent="0" algn="r">
              <a:buNone/>
            </a:pPr>
            <a:r>
              <a:rPr lang="en-US" sz="1000" dirty="0">
                <a:solidFill>
                  <a:srgbClr val="A5D6A7"/>
                </a:solidFill>
                <a:latin typeface="BIZ UDPGothic" pitchFamily="34" charset="0"/>
                <a:ea typeface="BIZ UDPGothic" pitchFamily="34" charset="-122"/>
                <a:cs typeface="BIZ UDPGothic" pitchFamily="34" charset="-120"/>
              </a:rPr>
              <a:t>外来でそのまま使える食事指導シリーズ  第2回</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32"/>
          </a:solidFill>
          <a:ln/>
        </p:spPr>
        <p:txBody>
          <a:bodyPr/>
          <a:lstStyle/>
          <a:p>
            <a:endParaRPr lang="ja-JP" altLang="en-US"/>
          </a:p>
        </p:txBody>
      </p:sp>
      <p:sp>
        <p:nvSpPr>
          <p:cNvPr id="3" name="Text 1"/>
          <p:cNvSpPr/>
          <p:nvPr/>
        </p:nvSpPr>
        <p:spPr>
          <a:xfrm>
            <a:off x="457200" y="9144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BIZ UDPGothic" pitchFamily="34" charset="0"/>
                <a:ea typeface="BIZ UDPGothic" pitchFamily="34" charset="-122"/>
                <a:cs typeface="BIZ UDPGothic" pitchFamily="34" charset="-120"/>
              </a:rPr>
              <a:t>外食・コンビニでの選び方</a:t>
            </a:r>
            <a:endParaRPr lang="en-US" sz="2800" dirty="0"/>
          </a:p>
        </p:txBody>
      </p:sp>
      <p:sp>
        <p:nvSpPr>
          <p:cNvPr id="4" name="Shape 2"/>
          <p:cNvSpPr/>
          <p:nvPr/>
        </p:nvSpPr>
        <p:spPr>
          <a:xfrm>
            <a:off x="457200" y="1097280"/>
            <a:ext cx="3931920" cy="3474720"/>
          </a:xfrm>
          <a:prstGeom prst="roundRect">
            <a:avLst>
              <a:gd name="adj" fmla="val 2632"/>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5" name="Shape 3"/>
          <p:cNvSpPr/>
          <p:nvPr/>
        </p:nvSpPr>
        <p:spPr>
          <a:xfrm>
            <a:off x="457200" y="1097280"/>
            <a:ext cx="3931920" cy="457200"/>
          </a:xfrm>
          <a:prstGeom prst="roundRect">
            <a:avLst>
              <a:gd name="adj" fmla="val 20000"/>
            </a:avLst>
          </a:prstGeom>
          <a:solidFill>
            <a:srgbClr val="2E7D32"/>
          </a:solidFill>
          <a:ln/>
        </p:spPr>
        <p:txBody>
          <a:bodyPr/>
          <a:lstStyle/>
          <a:p>
            <a:endParaRPr lang="ja-JP" altLang="en-US"/>
          </a:p>
        </p:txBody>
      </p:sp>
      <p:sp>
        <p:nvSpPr>
          <p:cNvPr id="6" name="Text 4"/>
          <p:cNvSpPr/>
          <p:nvPr/>
        </p:nvSpPr>
        <p:spPr>
          <a:xfrm>
            <a:off x="457200" y="1097280"/>
            <a:ext cx="393192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BIZ UDPGothic" pitchFamily="34" charset="0"/>
                <a:ea typeface="BIZ UDPGothic" pitchFamily="34" charset="-122"/>
                <a:cs typeface="BIZ UDPGothic" pitchFamily="34" charset="-120"/>
              </a:rPr>
              <a:t>🍽️ 外食のコツ</a:t>
            </a:r>
            <a:endParaRPr lang="en-US" sz="1800" dirty="0"/>
          </a:p>
        </p:txBody>
      </p:sp>
      <p:sp>
        <p:nvSpPr>
          <p:cNvPr id="7" name="Text 5"/>
          <p:cNvSpPr/>
          <p:nvPr/>
        </p:nvSpPr>
        <p:spPr>
          <a:xfrm>
            <a:off x="731520" y="1691640"/>
            <a:ext cx="3383280" cy="2651760"/>
          </a:xfrm>
          <a:prstGeom prst="rect">
            <a:avLst/>
          </a:prstGeom>
          <a:noFill/>
          <a:ln/>
        </p:spPr>
        <p:txBody>
          <a:bodyPr wrap="square" lIns="0" tIns="0" rIns="0" bIns="0" rtlCol="0" anchor="ctr"/>
          <a:lstStyle/>
          <a:p>
            <a:pPr marL="0" indent="0">
              <a:buNone/>
            </a:pPr>
            <a:r>
              <a:rPr lang="en-US" sz="1500" dirty="0">
                <a:solidFill>
                  <a:srgbClr val="2D3436"/>
                </a:solidFill>
                <a:latin typeface="BIZ UDPGothic" pitchFamily="34" charset="0"/>
                <a:ea typeface="BIZ UDPGothic" pitchFamily="34" charset="-122"/>
                <a:cs typeface="BIZ UDPGothic" pitchFamily="34" charset="-120"/>
              </a:rPr>
              <a:t>・麺類は汁を飲み干さない</a:t>
            </a:r>
            <a:endParaRPr lang="en-US" sz="1500" dirty="0"/>
          </a:p>
          <a:p>
            <a:pPr marL="0" indent="0">
              <a:buNone/>
            </a:pPr>
            <a:endParaRPr lang="en-US" sz="1500" dirty="0"/>
          </a:p>
          <a:p>
            <a:pPr marL="0" indent="0">
              <a:buNone/>
            </a:pPr>
            <a:r>
              <a:rPr lang="en-US" sz="1500" dirty="0">
                <a:solidFill>
                  <a:srgbClr val="2D3436"/>
                </a:solidFill>
                <a:latin typeface="BIZ UDPGothic" pitchFamily="34" charset="0"/>
                <a:ea typeface="BIZ UDPGothic" pitchFamily="34" charset="-122"/>
                <a:cs typeface="BIZ UDPGothic" pitchFamily="34" charset="-120"/>
              </a:rPr>
              <a:t>・丼物単品より定食の方が調整</a:t>
            </a:r>
            <a:endParaRPr lang="en-US" sz="1500" dirty="0"/>
          </a:p>
          <a:p>
            <a:pPr marL="0" indent="0">
              <a:buNone/>
            </a:pPr>
            <a:r>
              <a:rPr lang="en-US" sz="1500" dirty="0">
                <a:solidFill>
                  <a:srgbClr val="2D3436"/>
                </a:solidFill>
                <a:latin typeface="BIZ UDPGothic" pitchFamily="34" charset="0"/>
                <a:ea typeface="BIZ UDPGothic" pitchFamily="34" charset="-122"/>
                <a:cs typeface="BIZ UDPGothic" pitchFamily="34" charset="-120"/>
              </a:rPr>
              <a:t>  しやすい</a:t>
            </a:r>
            <a:endParaRPr lang="en-US" sz="1500" dirty="0"/>
          </a:p>
          <a:p>
            <a:pPr marL="0" indent="0">
              <a:buNone/>
            </a:pPr>
            <a:endParaRPr lang="en-US" sz="1500" dirty="0"/>
          </a:p>
          <a:p>
            <a:pPr marL="0" indent="0">
              <a:buNone/>
            </a:pPr>
            <a:r>
              <a:rPr lang="en-US" sz="1500" dirty="0">
                <a:solidFill>
                  <a:srgbClr val="2D3436"/>
                </a:solidFill>
                <a:latin typeface="BIZ UDPGothic" pitchFamily="34" charset="0"/>
                <a:ea typeface="BIZ UDPGothic" pitchFamily="34" charset="-122"/>
                <a:cs typeface="BIZ UDPGothic" pitchFamily="34" charset="-120"/>
              </a:rPr>
              <a:t>・漬物や小鉢は全部食べなくてOK</a:t>
            </a:r>
            <a:endParaRPr lang="en-US" sz="1500" dirty="0"/>
          </a:p>
          <a:p>
            <a:pPr marL="0" indent="0">
              <a:buNone/>
            </a:pPr>
            <a:endParaRPr lang="en-US" sz="1500" dirty="0"/>
          </a:p>
          <a:p>
            <a:pPr marL="0" indent="0">
              <a:buNone/>
            </a:pPr>
            <a:r>
              <a:rPr lang="en-US" sz="1500" dirty="0">
                <a:solidFill>
                  <a:srgbClr val="2D3436"/>
                </a:solidFill>
                <a:latin typeface="BIZ UDPGothic" pitchFamily="34" charset="0"/>
                <a:ea typeface="BIZ UDPGothic" pitchFamily="34" charset="-122"/>
                <a:cs typeface="BIZ UDPGothic" pitchFamily="34" charset="-120"/>
              </a:rPr>
              <a:t>・追加のしょうゆ・ソースは控える</a:t>
            </a:r>
            <a:endParaRPr lang="en-US" sz="1500" dirty="0"/>
          </a:p>
        </p:txBody>
      </p:sp>
      <p:sp>
        <p:nvSpPr>
          <p:cNvPr id="8" name="Shape 6"/>
          <p:cNvSpPr/>
          <p:nvPr/>
        </p:nvSpPr>
        <p:spPr>
          <a:xfrm>
            <a:off x="4754880" y="1097280"/>
            <a:ext cx="3931920" cy="3474720"/>
          </a:xfrm>
          <a:prstGeom prst="roundRect">
            <a:avLst>
              <a:gd name="adj" fmla="val 2632"/>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9" name="Shape 7"/>
          <p:cNvSpPr/>
          <p:nvPr/>
        </p:nvSpPr>
        <p:spPr>
          <a:xfrm>
            <a:off x="4754880" y="1097280"/>
            <a:ext cx="3931920" cy="457200"/>
          </a:xfrm>
          <a:prstGeom prst="roundRect">
            <a:avLst>
              <a:gd name="adj" fmla="val 20000"/>
            </a:avLst>
          </a:prstGeom>
          <a:solidFill>
            <a:srgbClr val="E67E22"/>
          </a:solidFill>
          <a:ln/>
        </p:spPr>
        <p:txBody>
          <a:bodyPr/>
          <a:lstStyle/>
          <a:p>
            <a:endParaRPr lang="ja-JP" altLang="en-US"/>
          </a:p>
        </p:txBody>
      </p:sp>
      <p:sp>
        <p:nvSpPr>
          <p:cNvPr id="10" name="Text 8"/>
          <p:cNvSpPr/>
          <p:nvPr/>
        </p:nvSpPr>
        <p:spPr>
          <a:xfrm>
            <a:off x="4754880" y="1097280"/>
            <a:ext cx="393192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BIZ UDPGothic" pitchFamily="34" charset="0"/>
                <a:ea typeface="BIZ UDPGothic" pitchFamily="34" charset="-122"/>
                <a:cs typeface="BIZ UDPGothic" pitchFamily="34" charset="-120"/>
              </a:rPr>
              <a:t>🏪 コンビニのコツ</a:t>
            </a:r>
            <a:endParaRPr lang="en-US" sz="1800" dirty="0"/>
          </a:p>
        </p:txBody>
      </p:sp>
      <p:sp>
        <p:nvSpPr>
          <p:cNvPr id="11" name="Text 9"/>
          <p:cNvSpPr/>
          <p:nvPr/>
        </p:nvSpPr>
        <p:spPr>
          <a:xfrm>
            <a:off x="5029200" y="1691640"/>
            <a:ext cx="3383280" cy="2651760"/>
          </a:xfrm>
          <a:prstGeom prst="rect">
            <a:avLst/>
          </a:prstGeom>
          <a:noFill/>
          <a:ln/>
        </p:spPr>
        <p:txBody>
          <a:bodyPr wrap="square" lIns="0" tIns="0" rIns="0" bIns="0" rtlCol="0" anchor="ctr"/>
          <a:lstStyle/>
          <a:p>
            <a:pPr marL="0" indent="0">
              <a:buNone/>
            </a:pPr>
            <a:r>
              <a:rPr lang="en-US" sz="1500" dirty="0">
                <a:solidFill>
                  <a:srgbClr val="2D3436"/>
                </a:solidFill>
                <a:latin typeface="BIZ UDPGothic" pitchFamily="34" charset="0"/>
                <a:ea typeface="BIZ UDPGothic" pitchFamily="34" charset="-122"/>
                <a:cs typeface="BIZ UDPGothic" pitchFamily="34" charset="-120"/>
              </a:rPr>
              <a:t>・カップ麺・加工肉中心を避ける</a:t>
            </a:r>
            <a:endParaRPr lang="en-US" sz="1500" dirty="0"/>
          </a:p>
          <a:p>
            <a:pPr marL="0" indent="0">
              <a:buNone/>
            </a:pPr>
            <a:endParaRPr lang="en-US" sz="1500" dirty="0"/>
          </a:p>
          <a:p>
            <a:pPr marL="0" indent="0">
              <a:buNone/>
            </a:pPr>
            <a:r>
              <a:rPr lang="en-US" sz="1500" dirty="0">
                <a:solidFill>
                  <a:srgbClr val="2D3436"/>
                </a:solidFill>
                <a:latin typeface="BIZ UDPGothic" pitchFamily="34" charset="0"/>
                <a:ea typeface="BIZ UDPGothic" pitchFamily="34" charset="-122"/>
                <a:cs typeface="BIZ UDPGothic" pitchFamily="34" charset="-120"/>
              </a:rPr>
              <a:t>・おにぎり＋サラダ＋ゆで卵</a:t>
            </a:r>
            <a:endParaRPr lang="en-US" sz="1500" dirty="0"/>
          </a:p>
          <a:p>
            <a:pPr marL="0" indent="0">
              <a:buNone/>
            </a:pPr>
            <a:r>
              <a:rPr lang="en-US" sz="1500" dirty="0">
                <a:solidFill>
                  <a:srgbClr val="2D3436"/>
                </a:solidFill>
                <a:latin typeface="BIZ UDPGothic" pitchFamily="34" charset="0"/>
                <a:ea typeface="BIZ UDPGothic" pitchFamily="34" charset="-122"/>
                <a:cs typeface="BIZ UDPGothic" pitchFamily="34" charset="-120"/>
              </a:rPr>
              <a:t>  など組み合わせる</a:t>
            </a:r>
            <a:endParaRPr lang="en-US" sz="1500" dirty="0"/>
          </a:p>
          <a:p>
            <a:pPr marL="0" indent="0">
              <a:buNone/>
            </a:pPr>
            <a:endParaRPr lang="en-US" sz="1500" dirty="0"/>
          </a:p>
          <a:p>
            <a:pPr marL="0" indent="0">
              <a:buNone/>
            </a:pPr>
            <a:r>
              <a:rPr lang="en-US" sz="1500" dirty="0">
                <a:solidFill>
                  <a:srgbClr val="2D3436"/>
                </a:solidFill>
                <a:latin typeface="BIZ UDPGothic" pitchFamily="34" charset="0"/>
                <a:ea typeface="BIZ UDPGothic" pitchFamily="34" charset="-122"/>
                <a:cs typeface="BIZ UDPGothic" pitchFamily="34" charset="-120"/>
              </a:rPr>
              <a:t>・スープ類は毎回つけない</a:t>
            </a:r>
            <a:endParaRPr lang="en-US" sz="1500" dirty="0"/>
          </a:p>
          <a:p>
            <a:pPr marL="0" indent="0">
              <a:buNone/>
            </a:pPr>
            <a:endParaRPr lang="en-US" sz="1500" dirty="0"/>
          </a:p>
          <a:p>
            <a:pPr marL="0" indent="0">
              <a:buNone/>
            </a:pPr>
            <a:r>
              <a:rPr lang="en-US" sz="1500" dirty="0">
                <a:solidFill>
                  <a:srgbClr val="2D3436"/>
                </a:solidFill>
                <a:latin typeface="BIZ UDPGothic" pitchFamily="34" charset="0"/>
                <a:ea typeface="BIZ UDPGothic" pitchFamily="34" charset="-122"/>
                <a:cs typeface="BIZ UDPGothic" pitchFamily="34" charset="-120"/>
              </a:rPr>
              <a:t>・栄養成分表示で食塩相当量を</a:t>
            </a:r>
            <a:endParaRPr lang="en-US" sz="1500" dirty="0"/>
          </a:p>
          <a:p>
            <a:pPr marL="0" indent="0">
              <a:buNone/>
            </a:pPr>
            <a:r>
              <a:rPr lang="en-US" sz="1500" dirty="0">
                <a:solidFill>
                  <a:srgbClr val="2D3436"/>
                </a:solidFill>
                <a:latin typeface="BIZ UDPGothic" pitchFamily="34" charset="0"/>
                <a:ea typeface="BIZ UDPGothic" pitchFamily="34" charset="-122"/>
                <a:cs typeface="BIZ UDPGothic" pitchFamily="34" charset="-120"/>
              </a:rPr>
              <a:t>  チェックする習慣をつける</a:t>
            </a:r>
            <a:endParaRPr lang="en-US" sz="1500" dirty="0"/>
          </a:p>
        </p:txBody>
      </p:sp>
      <p:sp>
        <p:nvSpPr>
          <p:cNvPr id="12" name="Shape 10"/>
          <p:cNvSpPr/>
          <p:nvPr/>
        </p:nvSpPr>
        <p:spPr>
          <a:xfrm>
            <a:off x="0" y="4892040"/>
            <a:ext cx="9144000" cy="256032"/>
          </a:xfrm>
          <a:prstGeom prst="rect">
            <a:avLst/>
          </a:prstGeom>
          <a:solidFill>
            <a:srgbClr val="1B5E20"/>
          </a:solidFill>
          <a:ln/>
        </p:spPr>
        <p:txBody>
          <a:bodyPr/>
          <a:lstStyle/>
          <a:p>
            <a:endParaRPr lang="ja-JP" altLang="en-US"/>
          </a:p>
        </p:txBody>
      </p:sp>
      <p:sp>
        <p:nvSpPr>
          <p:cNvPr id="13" name="Text 11"/>
          <p:cNvSpPr/>
          <p:nvPr/>
        </p:nvSpPr>
        <p:spPr>
          <a:xfrm>
            <a:off x="274320" y="4892040"/>
            <a:ext cx="8595360" cy="256032"/>
          </a:xfrm>
          <a:prstGeom prst="rect">
            <a:avLst/>
          </a:prstGeom>
          <a:noFill/>
          <a:ln/>
        </p:spPr>
        <p:txBody>
          <a:bodyPr wrap="square" lIns="0" tIns="0" rIns="0" bIns="0" rtlCol="0" anchor="ctr"/>
          <a:lstStyle/>
          <a:p>
            <a:pPr marL="0" indent="0" algn="r">
              <a:buNone/>
            </a:pPr>
            <a:r>
              <a:rPr lang="en-US" sz="1000" dirty="0">
                <a:solidFill>
                  <a:srgbClr val="A5D6A7"/>
                </a:solidFill>
                <a:latin typeface="BIZ UDPGothic" pitchFamily="34" charset="0"/>
                <a:ea typeface="BIZ UDPGothic" pitchFamily="34" charset="-122"/>
                <a:cs typeface="BIZ UDPGothic" pitchFamily="34" charset="-120"/>
              </a:rPr>
              <a:t>外来でそのまま使える食事指導シリーズ  第2回</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DC3545"/>
          </a:solidFill>
          <a:ln/>
        </p:spPr>
        <p:txBody>
          <a:bodyPr/>
          <a:lstStyle/>
          <a:p>
            <a:endParaRPr lang="ja-JP" altLang="en-US"/>
          </a:p>
        </p:txBody>
      </p:sp>
      <p:sp>
        <p:nvSpPr>
          <p:cNvPr id="3" name="Text 1"/>
          <p:cNvSpPr/>
          <p:nvPr/>
        </p:nvSpPr>
        <p:spPr>
          <a:xfrm>
            <a:off x="457200" y="91440"/>
            <a:ext cx="8229600" cy="640080"/>
          </a:xfrm>
          <a:prstGeom prst="rect">
            <a:avLst/>
          </a:prstGeom>
          <a:noFill/>
          <a:ln/>
        </p:spPr>
        <p:txBody>
          <a:bodyPr wrap="square" lIns="0" tIns="0" rIns="0" bIns="0" rtlCol="0" anchor="ctr"/>
          <a:lstStyle/>
          <a:p>
            <a:pPr marL="0" indent="0">
              <a:buNone/>
            </a:pPr>
            <a:r>
              <a:rPr lang="en-US" sz="2400" b="1" dirty="0">
                <a:solidFill>
                  <a:srgbClr val="FFFFFF"/>
                </a:solidFill>
                <a:latin typeface="BIZ UDPGothic" pitchFamily="34" charset="0"/>
                <a:ea typeface="BIZ UDPGothic" pitchFamily="34" charset="-122"/>
                <a:cs typeface="BIZ UDPGothic" pitchFamily="34" charset="-120"/>
              </a:rPr>
              <a:t>腎機能低下・高カリウム血症がある場合の注意</a:t>
            </a:r>
            <a:endParaRPr lang="en-US" sz="2400" dirty="0"/>
          </a:p>
        </p:txBody>
      </p:sp>
      <p:sp>
        <p:nvSpPr>
          <p:cNvPr id="4" name="Shape 2"/>
          <p:cNvSpPr/>
          <p:nvPr/>
        </p:nvSpPr>
        <p:spPr>
          <a:xfrm>
            <a:off x="731520" y="1097280"/>
            <a:ext cx="7680960" cy="1097280"/>
          </a:xfrm>
          <a:prstGeom prst="roundRect">
            <a:avLst>
              <a:gd name="adj" fmla="val 8333"/>
            </a:avLst>
          </a:prstGeom>
          <a:solidFill>
            <a:srgbClr val="F8D7DA"/>
          </a:solidFill>
          <a:ln/>
        </p:spPr>
        <p:txBody>
          <a:bodyPr/>
          <a:lstStyle/>
          <a:p>
            <a:endParaRPr lang="ja-JP" altLang="en-US"/>
          </a:p>
        </p:txBody>
      </p:sp>
      <p:sp>
        <p:nvSpPr>
          <p:cNvPr id="5" name="Text 3"/>
          <p:cNvSpPr/>
          <p:nvPr/>
        </p:nvSpPr>
        <p:spPr>
          <a:xfrm>
            <a:off x="914400" y="1097280"/>
            <a:ext cx="7315200" cy="1097280"/>
          </a:xfrm>
          <a:prstGeom prst="rect">
            <a:avLst/>
          </a:prstGeom>
          <a:noFill/>
          <a:ln/>
        </p:spPr>
        <p:txBody>
          <a:bodyPr wrap="square" lIns="0" tIns="0" rIns="0" bIns="0" rtlCol="0" anchor="ctr"/>
          <a:lstStyle/>
          <a:p>
            <a:pPr marL="0" indent="0" algn="ctr">
              <a:buNone/>
            </a:pPr>
            <a:r>
              <a:rPr lang="en-US" sz="1800" b="1" dirty="0">
                <a:solidFill>
                  <a:srgbClr val="A71D2A"/>
                </a:solidFill>
                <a:latin typeface="BIZ UDPGothic" pitchFamily="34" charset="0"/>
                <a:ea typeface="BIZ UDPGothic" pitchFamily="34" charset="-122"/>
                <a:cs typeface="BIZ UDPGothic" pitchFamily="34" charset="-120"/>
              </a:rPr>
              <a:t>高血圧という病名だけで画一的に話すと危険</a:t>
            </a:r>
            <a:endParaRPr lang="en-US" sz="1800" dirty="0"/>
          </a:p>
          <a:p>
            <a:pPr marL="0" indent="0" algn="ctr">
              <a:buNone/>
            </a:pPr>
            <a:r>
              <a:rPr lang="en-US" sz="1800" b="1" dirty="0">
                <a:solidFill>
                  <a:srgbClr val="A71D2A"/>
                </a:solidFill>
                <a:latin typeface="BIZ UDPGothic" pitchFamily="34" charset="0"/>
                <a:ea typeface="BIZ UDPGothic" pitchFamily="34" charset="-122"/>
                <a:cs typeface="BIZ UDPGothic" pitchFamily="34" charset="-120"/>
              </a:rPr>
              <a:t>一般的な高血圧向け食事指導をそのまま当てはめると危うい場面がある</a:t>
            </a:r>
            <a:endParaRPr lang="en-US" sz="1800" dirty="0"/>
          </a:p>
        </p:txBody>
      </p:sp>
      <p:sp>
        <p:nvSpPr>
          <p:cNvPr id="6" name="Shape 4"/>
          <p:cNvSpPr/>
          <p:nvPr/>
        </p:nvSpPr>
        <p:spPr>
          <a:xfrm>
            <a:off x="731520" y="2468880"/>
            <a:ext cx="7680960" cy="2286000"/>
          </a:xfrm>
          <a:prstGeom prst="roundRect">
            <a:avLst>
              <a:gd name="adj" fmla="val 4000"/>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7" name="Text 5"/>
          <p:cNvSpPr/>
          <p:nvPr/>
        </p:nvSpPr>
        <p:spPr>
          <a:xfrm>
            <a:off x="1005840" y="2606040"/>
            <a:ext cx="7132320" cy="320040"/>
          </a:xfrm>
          <a:prstGeom prst="rect">
            <a:avLst/>
          </a:prstGeom>
          <a:noFill/>
          <a:ln/>
        </p:spPr>
        <p:txBody>
          <a:bodyPr wrap="square" lIns="0" tIns="0" rIns="0" bIns="0" rtlCol="0" anchor="ctr"/>
          <a:lstStyle/>
          <a:p>
            <a:pPr marL="0" indent="0">
              <a:buNone/>
            </a:pPr>
            <a:r>
              <a:rPr lang="en-US" sz="1700" b="1" dirty="0">
                <a:solidFill>
                  <a:srgbClr val="2E7D32"/>
                </a:solidFill>
                <a:latin typeface="BIZ UDPGothic" pitchFamily="34" charset="0"/>
                <a:ea typeface="BIZ UDPGothic" pitchFamily="34" charset="-122"/>
                <a:cs typeface="BIZ UDPGothic" pitchFamily="34" charset="-120"/>
              </a:rPr>
              <a:t>確認すべき項目</a:t>
            </a:r>
            <a:endParaRPr lang="en-US" sz="1700" dirty="0"/>
          </a:p>
        </p:txBody>
      </p:sp>
      <p:sp>
        <p:nvSpPr>
          <p:cNvPr id="8" name="Text 6"/>
          <p:cNvSpPr/>
          <p:nvPr/>
        </p:nvSpPr>
        <p:spPr>
          <a:xfrm>
            <a:off x="1188720" y="3017520"/>
            <a:ext cx="6766560" cy="365760"/>
          </a:xfrm>
          <a:prstGeom prst="rect">
            <a:avLst/>
          </a:prstGeom>
          <a:noFill/>
          <a:ln/>
        </p:spPr>
        <p:txBody>
          <a:bodyPr wrap="square" lIns="0" tIns="0" rIns="0" bIns="0" rtlCol="0" anchor="ctr"/>
          <a:lstStyle/>
          <a:p>
            <a:pPr marL="0" indent="0">
              <a:buNone/>
            </a:pPr>
            <a:r>
              <a:rPr lang="en-US" sz="1700" dirty="0">
                <a:solidFill>
                  <a:srgbClr val="2D3436"/>
                </a:solidFill>
                <a:latin typeface="BIZ UDPGothic" pitchFamily="34" charset="0"/>
                <a:ea typeface="BIZ UDPGothic" pitchFamily="34" charset="-122"/>
                <a:cs typeface="BIZ UDPGothic" pitchFamily="34" charset="-120"/>
              </a:rPr>
              <a:t>☑ 腎機能（eGFR）の程度</a:t>
            </a:r>
            <a:endParaRPr lang="en-US" sz="1700" dirty="0"/>
          </a:p>
        </p:txBody>
      </p:sp>
      <p:sp>
        <p:nvSpPr>
          <p:cNvPr id="9" name="Text 7"/>
          <p:cNvSpPr/>
          <p:nvPr/>
        </p:nvSpPr>
        <p:spPr>
          <a:xfrm>
            <a:off x="1188720" y="3429000"/>
            <a:ext cx="6766560" cy="365760"/>
          </a:xfrm>
          <a:prstGeom prst="rect">
            <a:avLst/>
          </a:prstGeom>
          <a:noFill/>
          <a:ln/>
        </p:spPr>
        <p:txBody>
          <a:bodyPr wrap="square" lIns="0" tIns="0" rIns="0" bIns="0" rtlCol="0" anchor="ctr"/>
          <a:lstStyle/>
          <a:p>
            <a:pPr marL="0" indent="0">
              <a:buNone/>
            </a:pPr>
            <a:r>
              <a:rPr lang="en-US" sz="1700" dirty="0">
                <a:solidFill>
                  <a:srgbClr val="2D3436"/>
                </a:solidFill>
                <a:latin typeface="BIZ UDPGothic" pitchFamily="34" charset="0"/>
                <a:ea typeface="BIZ UDPGothic" pitchFamily="34" charset="-122"/>
                <a:cs typeface="BIZ UDPGothic" pitchFamily="34" charset="-120"/>
              </a:rPr>
              <a:t>☑ 尿蛋白の有無</a:t>
            </a:r>
            <a:endParaRPr lang="en-US" sz="1700" dirty="0"/>
          </a:p>
        </p:txBody>
      </p:sp>
      <p:sp>
        <p:nvSpPr>
          <p:cNvPr id="10" name="Text 8"/>
          <p:cNvSpPr/>
          <p:nvPr/>
        </p:nvSpPr>
        <p:spPr>
          <a:xfrm>
            <a:off x="1188720" y="3840480"/>
            <a:ext cx="6766560" cy="365760"/>
          </a:xfrm>
          <a:prstGeom prst="rect">
            <a:avLst/>
          </a:prstGeom>
          <a:noFill/>
          <a:ln/>
        </p:spPr>
        <p:txBody>
          <a:bodyPr wrap="square" lIns="0" tIns="0" rIns="0" bIns="0" rtlCol="0" anchor="ctr"/>
          <a:lstStyle/>
          <a:p>
            <a:pPr marL="0" indent="0">
              <a:buNone/>
            </a:pPr>
            <a:r>
              <a:rPr lang="en-US" sz="1700" dirty="0">
                <a:solidFill>
                  <a:srgbClr val="2D3436"/>
                </a:solidFill>
                <a:latin typeface="BIZ UDPGothic" pitchFamily="34" charset="0"/>
                <a:ea typeface="BIZ UDPGothic" pitchFamily="34" charset="-122"/>
                <a:cs typeface="BIZ UDPGothic" pitchFamily="34" charset="-120"/>
              </a:rPr>
              <a:t>☑ 血清カリウム値</a:t>
            </a:r>
            <a:endParaRPr lang="en-US" sz="1700" dirty="0"/>
          </a:p>
        </p:txBody>
      </p:sp>
      <p:sp>
        <p:nvSpPr>
          <p:cNvPr id="11" name="Text 9"/>
          <p:cNvSpPr/>
          <p:nvPr/>
        </p:nvSpPr>
        <p:spPr>
          <a:xfrm>
            <a:off x="1188720" y="4251960"/>
            <a:ext cx="6766560" cy="365760"/>
          </a:xfrm>
          <a:prstGeom prst="rect">
            <a:avLst/>
          </a:prstGeom>
          <a:noFill/>
          <a:ln/>
        </p:spPr>
        <p:txBody>
          <a:bodyPr wrap="square" lIns="0" tIns="0" rIns="0" bIns="0" rtlCol="0" anchor="ctr"/>
          <a:lstStyle/>
          <a:p>
            <a:pPr marL="0" indent="0">
              <a:buNone/>
            </a:pPr>
            <a:r>
              <a:rPr lang="en-US" sz="1700" dirty="0">
                <a:solidFill>
                  <a:srgbClr val="2D3436"/>
                </a:solidFill>
                <a:latin typeface="BIZ UDPGothic" pitchFamily="34" charset="0"/>
                <a:ea typeface="BIZ UDPGothic" pitchFamily="34" charset="-122"/>
                <a:cs typeface="BIZ UDPGothic" pitchFamily="34" charset="-120"/>
              </a:rPr>
              <a:t>☑ 利尿薬・RAS阻害薬の使用状況</a:t>
            </a:r>
            <a:endParaRPr lang="en-US" sz="1700" dirty="0"/>
          </a:p>
        </p:txBody>
      </p:sp>
      <p:sp>
        <p:nvSpPr>
          <p:cNvPr id="12" name="Shape 10"/>
          <p:cNvSpPr/>
          <p:nvPr/>
        </p:nvSpPr>
        <p:spPr>
          <a:xfrm>
            <a:off x="0" y="4892040"/>
            <a:ext cx="9144000" cy="256032"/>
          </a:xfrm>
          <a:prstGeom prst="rect">
            <a:avLst/>
          </a:prstGeom>
          <a:solidFill>
            <a:srgbClr val="1B5E20"/>
          </a:solidFill>
          <a:ln/>
        </p:spPr>
        <p:txBody>
          <a:bodyPr/>
          <a:lstStyle/>
          <a:p>
            <a:endParaRPr lang="ja-JP" altLang="en-US"/>
          </a:p>
        </p:txBody>
      </p:sp>
      <p:sp>
        <p:nvSpPr>
          <p:cNvPr id="13" name="Text 11"/>
          <p:cNvSpPr/>
          <p:nvPr/>
        </p:nvSpPr>
        <p:spPr>
          <a:xfrm>
            <a:off x="274320" y="4892040"/>
            <a:ext cx="8595360" cy="256032"/>
          </a:xfrm>
          <a:prstGeom prst="rect">
            <a:avLst/>
          </a:prstGeom>
          <a:noFill/>
          <a:ln/>
        </p:spPr>
        <p:txBody>
          <a:bodyPr wrap="square" lIns="0" tIns="0" rIns="0" bIns="0" rtlCol="0" anchor="ctr"/>
          <a:lstStyle/>
          <a:p>
            <a:pPr marL="0" indent="0" algn="r">
              <a:buNone/>
            </a:pPr>
            <a:r>
              <a:rPr lang="en-US" sz="1000" dirty="0">
                <a:solidFill>
                  <a:srgbClr val="A5D6A7"/>
                </a:solidFill>
                <a:latin typeface="BIZ UDPGothic" pitchFamily="34" charset="0"/>
                <a:ea typeface="BIZ UDPGothic" pitchFamily="34" charset="-122"/>
                <a:cs typeface="BIZ UDPGothic" pitchFamily="34" charset="-120"/>
              </a:rPr>
              <a:t>外来でそのまま使える食事指導シリーズ  第2回</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32"/>
          </a:solidFill>
          <a:ln/>
        </p:spPr>
        <p:txBody>
          <a:bodyPr/>
          <a:lstStyle/>
          <a:p>
            <a:endParaRPr lang="ja-JP" altLang="en-US"/>
          </a:p>
        </p:txBody>
      </p:sp>
      <p:sp>
        <p:nvSpPr>
          <p:cNvPr id="3" name="Text 1"/>
          <p:cNvSpPr/>
          <p:nvPr/>
        </p:nvSpPr>
        <p:spPr>
          <a:xfrm>
            <a:off x="457200" y="9144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BIZ UDPGothic" pitchFamily="34" charset="0"/>
                <a:ea typeface="BIZ UDPGothic" pitchFamily="34" charset="-122"/>
                <a:cs typeface="BIZ UDPGothic" pitchFamily="34" charset="-120"/>
              </a:rPr>
              <a:t>よくある誤解</a:t>
            </a:r>
            <a:endParaRPr lang="en-US" sz="2800" dirty="0"/>
          </a:p>
        </p:txBody>
      </p:sp>
      <p:sp>
        <p:nvSpPr>
          <p:cNvPr id="4" name="Shape 2"/>
          <p:cNvSpPr/>
          <p:nvPr/>
        </p:nvSpPr>
        <p:spPr>
          <a:xfrm>
            <a:off x="548640" y="1005840"/>
            <a:ext cx="8046720" cy="777240"/>
          </a:xfrm>
          <a:prstGeom prst="roundRect">
            <a:avLst>
              <a:gd name="adj" fmla="val 9412"/>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5" name="Text 3"/>
          <p:cNvSpPr/>
          <p:nvPr/>
        </p:nvSpPr>
        <p:spPr>
          <a:xfrm>
            <a:off x="731520" y="1024128"/>
            <a:ext cx="457200" cy="365760"/>
          </a:xfrm>
          <a:prstGeom prst="rect">
            <a:avLst/>
          </a:prstGeom>
          <a:noFill/>
          <a:ln/>
        </p:spPr>
        <p:txBody>
          <a:bodyPr wrap="square" lIns="0" tIns="0" rIns="0" bIns="0" rtlCol="0" anchor="ctr"/>
          <a:lstStyle/>
          <a:p>
            <a:pPr marL="0" indent="0" algn="ctr">
              <a:buNone/>
            </a:pPr>
            <a:r>
              <a:rPr lang="en-US" sz="1800" b="1" dirty="0">
                <a:solidFill>
                  <a:srgbClr val="DC3545"/>
                </a:solidFill>
                <a:latin typeface="Segoe UI" pitchFamily="34" charset="0"/>
                <a:ea typeface="Segoe UI" pitchFamily="34" charset="-122"/>
                <a:cs typeface="Segoe UI" pitchFamily="34" charset="-120"/>
              </a:rPr>
              <a:t>✕</a:t>
            </a:r>
            <a:endParaRPr lang="en-US" sz="1800" dirty="0"/>
          </a:p>
        </p:txBody>
      </p:sp>
      <p:sp>
        <p:nvSpPr>
          <p:cNvPr id="6" name="Text 4"/>
          <p:cNvSpPr/>
          <p:nvPr/>
        </p:nvSpPr>
        <p:spPr>
          <a:xfrm>
            <a:off x="1188720" y="1024128"/>
            <a:ext cx="7315200" cy="320040"/>
          </a:xfrm>
          <a:prstGeom prst="rect">
            <a:avLst/>
          </a:prstGeom>
          <a:noFill/>
          <a:ln/>
        </p:spPr>
        <p:txBody>
          <a:bodyPr wrap="square" lIns="0" tIns="0" rIns="0" bIns="0" rtlCol="0" anchor="ctr"/>
          <a:lstStyle/>
          <a:p>
            <a:pPr marL="0" indent="0">
              <a:buNone/>
            </a:pPr>
            <a:r>
              <a:rPr lang="en-US" sz="1600" b="1" dirty="0">
                <a:solidFill>
                  <a:srgbClr val="DC3545"/>
                </a:solidFill>
                <a:latin typeface="BIZ UDPGothic" pitchFamily="34" charset="0"/>
                <a:ea typeface="BIZ UDPGothic" pitchFamily="34" charset="-122"/>
                <a:cs typeface="BIZ UDPGothic" pitchFamily="34" charset="-120"/>
              </a:rPr>
              <a:t>減塩しょうゆならたくさん使ってよい</a:t>
            </a:r>
            <a:endParaRPr lang="en-US" sz="1600" dirty="0"/>
          </a:p>
        </p:txBody>
      </p:sp>
      <p:sp>
        <p:nvSpPr>
          <p:cNvPr id="7" name="Text 5"/>
          <p:cNvSpPr/>
          <p:nvPr/>
        </p:nvSpPr>
        <p:spPr>
          <a:xfrm>
            <a:off x="1188720" y="1389888"/>
            <a:ext cx="7315200" cy="320040"/>
          </a:xfrm>
          <a:prstGeom prst="rect">
            <a:avLst/>
          </a:prstGeom>
          <a:noFill/>
          <a:ln/>
        </p:spPr>
        <p:txBody>
          <a:bodyPr wrap="square" lIns="0" tIns="0" rIns="0" bIns="0" rtlCol="0" anchor="ctr"/>
          <a:lstStyle/>
          <a:p>
            <a:pPr marL="0" indent="0">
              <a:buNone/>
            </a:pPr>
            <a:r>
              <a:rPr lang="en-US" sz="1400" dirty="0">
                <a:solidFill>
                  <a:srgbClr val="2E7D32"/>
                </a:solidFill>
                <a:latin typeface="BIZ UDPGothic" pitchFamily="34" charset="0"/>
                <a:ea typeface="BIZ UDPGothic" pitchFamily="34" charset="-122"/>
                <a:cs typeface="BIZ UDPGothic" pitchFamily="34" charset="-120"/>
              </a:rPr>
              <a:t>→ 量が増えれば塩分も増える。「減塩」は万能ではない</a:t>
            </a:r>
            <a:endParaRPr lang="en-US" sz="1400" dirty="0"/>
          </a:p>
        </p:txBody>
      </p:sp>
      <p:sp>
        <p:nvSpPr>
          <p:cNvPr id="8" name="Shape 6"/>
          <p:cNvSpPr/>
          <p:nvPr/>
        </p:nvSpPr>
        <p:spPr>
          <a:xfrm>
            <a:off x="548640" y="1920240"/>
            <a:ext cx="8046720" cy="777240"/>
          </a:xfrm>
          <a:prstGeom prst="roundRect">
            <a:avLst>
              <a:gd name="adj" fmla="val 9412"/>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9" name="Text 7"/>
          <p:cNvSpPr/>
          <p:nvPr/>
        </p:nvSpPr>
        <p:spPr>
          <a:xfrm>
            <a:off x="731520" y="1938528"/>
            <a:ext cx="457200" cy="365760"/>
          </a:xfrm>
          <a:prstGeom prst="rect">
            <a:avLst/>
          </a:prstGeom>
          <a:noFill/>
          <a:ln/>
        </p:spPr>
        <p:txBody>
          <a:bodyPr wrap="square" lIns="0" tIns="0" rIns="0" bIns="0" rtlCol="0" anchor="ctr"/>
          <a:lstStyle/>
          <a:p>
            <a:pPr marL="0" indent="0" algn="ctr">
              <a:buNone/>
            </a:pPr>
            <a:r>
              <a:rPr lang="en-US" sz="1800" b="1" dirty="0">
                <a:solidFill>
                  <a:srgbClr val="DC3545"/>
                </a:solidFill>
                <a:latin typeface="Segoe UI" pitchFamily="34" charset="0"/>
                <a:ea typeface="Segoe UI" pitchFamily="34" charset="-122"/>
                <a:cs typeface="Segoe UI" pitchFamily="34" charset="-120"/>
              </a:rPr>
              <a:t>✕</a:t>
            </a:r>
            <a:endParaRPr lang="en-US" sz="1800" dirty="0"/>
          </a:p>
        </p:txBody>
      </p:sp>
      <p:sp>
        <p:nvSpPr>
          <p:cNvPr id="10" name="Text 8"/>
          <p:cNvSpPr/>
          <p:nvPr/>
        </p:nvSpPr>
        <p:spPr>
          <a:xfrm>
            <a:off x="1188720" y="1938528"/>
            <a:ext cx="7315200" cy="320040"/>
          </a:xfrm>
          <a:prstGeom prst="rect">
            <a:avLst/>
          </a:prstGeom>
          <a:noFill/>
          <a:ln/>
        </p:spPr>
        <p:txBody>
          <a:bodyPr wrap="square" lIns="0" tIns="0" rIns="0" bIns="0" rtlCol="0" anchor="ctr"/>
          <a:lstStyle/>
          <a:p>
            <a:pPr marL="0" indent="0">
              <a:buNone/>
            </a:pPr>
            <a:r>
              <a:rPr lang="en-US" sz="1600" b="1" dirty="0">
                <a:solidFill>
                  <a:srgbClr val="DC3545"/>
                </a:solidFill>
                <a:latin typeface="BIZ UDPGothic" pitchFamily="34" charset="0"/>
                <a:ea typeface="BIZ UDPGothic" pitchFamily="34" charset="-122"/>
                <a:cs typeface="BIZ UDPGothic" pitchFamily="34" charset="-120"/>
              </a:rPr>
              <a:t>塩を使わなければ減塩できている</a:t>
            </a:r>
            <a:endParaRPr lang="en-US" sz="1600" dirty="0"/>
          </a:p>
        </p:txBody>
      </p:sp>
      <p:sp>
        <p:nvSpPr>
          <p:cNvPr id="11" name="Text 9"/>
          <p:cNvSpPr/>
          <p:nvPr/>
        </p:nvSpPr>
        <p:spPr>
          <a:xfrm>
            <a:off x="1188720" y="2304288"/>
            <a:ext cx="7315200" cy="320040"/>
          </a:xfrm>
          <a:prstGeom prst="rect">
            <a:avLst/>
          </a:prstGeom>
          <a:noFill/>
          <a:ln/>
        </p:spPr>
        <p:txBody>
          <a:bodyPr wrap="square" lIns="0" tIns="0" rIns="0" bIns="0" rtlCol="0" anchor="ctr"/>
          <a:lstStyle/>
          <a:p>
            <a:pPr marL="0" indent="0">
              <a:buNone/>
            </a:pPr>
            <a:r>
              <a:rPr lang="en-US" sz="1400" dirty="0">
                <a:solidFill>
                  <a:srgbClr val="2E7D32"/>
                </a:solidFill>
                <a:latin typeface="BIZ UDPGothic" pitchFamily="34" charset="0"/>
                <a:ea typeface="BIZ UDPGothic" pitchFamily="34" charset="-122"/>
                <a:cs typeface="BIZ UDPGothic" pitchFamily="34" charset="-120"/>
              </a:rPr>
              <a:t>→ 加工食品・汁物・惣菜・外食由来の塩分が圧倒的に多い</a:t>
            </a:r>
            <a:endParaRPr lang="en-US" sz="1400" dirty="0"/>
          </a:p>
        </p:txBody>
      </p:sp>
      <p:sp>
        <p:nvSpPr>
          <p:cNvPr id="12" name="Shape 10"/>
          <p:cNvSpPr/>
          <p:nvPr/>
        </p:nvSpPr>
        <p:spPr>
          <a:xfrm>
            <a:off x="548640" y="2834640"/>
            <a:ext cx="8046720" cy="777240"/>
          </a:xfrm>
          <a:prstGeom prst="roundRect">
            <a:avLst>
              <a:gd name="adj" fmla="val 9412"/>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13" name="Text 11"/>
          <p:cNvSpPr/>
          <p:nvPr/>
        </p:nvSpPr>
        <p:spPr>
          <a:xfrm>
            <a:off x="731520" y="2852928"/>
            <a:ext cx="457200" cy="365760"/>
          </a:xfrm>
          <a:prstGeom prst="rect">
            <a:avLst/>
          </a:prstGeom>
          <a:noFill/>
          <a:ln/>
        </p:spPr>
        <p:txBody>
          <a:bodyPr wrap="square" lIns="0" tIns="0" rIns="0" bIns="0" rtlCol="0" anchor="ctr"/>
          <a:lstStyle/>
          <a:p>
            <a:pPr marL="0" indent="0" algn="ctr">
              <a:buNone/>
            </a:pPr>
            <a:r>
              <a:rPr lang="en-US" sz="1800" b="1" dirty="0">
                <a:solidFill>
                  <a:srgbClr val="DC3545"/>
                </a:solidFill>
                <a:latin typeface="Segoe UI" pitchFamily="34" charset="0"/>
                <a:ea typeface="Segoe UI" pitchFamily="34" charset="-122"/>
                <a:cs typeface="Segoe UI" pitchFamily="34" charset="-120"/>
              </a:rPr>
              <a:t>✕</a:t>
            </a:r>
            <a:endParaRPr lang="en-US" sz="1800" dirty="0"/>
          </a:p>
        </p:txBody>
      </p:sp>
      <p:sp>
        <p:nvSpPr>
          <p:cNvPr id="14" name="Text 12"/>
          <p:cNvSpPr/>
          <p:nvPr/>
        </p:nvSpPr>
        <p:spPr>
          <a:xfrm>
            <a:off x="1188720" y="2852928"/>
            <a:ext cx="7315200" cy="320040"/>
          </a:xfrm>
          <a:prstGeom prst="rect">
            <a:avLst/>
          </a:prstGeom>
          <a:noFill/>
          <a:ln/>
        </p:spPr>
        <p:txBody>
          <a:bodyPr wrap="square" lIns="0" tIns="0" rIns="0" bIns="0" rtlCol="0" anchor="ctr"/>
          <a:lstStyle/>
          <a:p>
            <a:pPr marL="0" indent="0">
              <a:buNone/>
            </a:pPr>
            <a:r>
              <a:rPr lang="en-US" sz="1600" b="1" dirty="0">
                <a:solidFill>
                  <a:srgbClr val="DC3545"/>
                </a:solidFill>
                <a:latin typeface="BIZ UDPGothic" pitchFamily="34" charset="0"/>
                <a:ea typeface="BIZ UDPGothic" pitchFamily="34" charset="-122"/>
                <a:cs typeface="BIZ UDPGothic" pitchFamily="34" charset="-120"/>
              </a:rPr>
              <a:t>体質だから食事を変えても意味がない</a:t>
            </a:r>
            <a:endParaRPr lang="en-US" sz="1600" dirty="0"/>
          </a:p>
        </p:txBody>
      </p:sp>
      <p:sp>
        <p:nvSpPr>
          <p:cNvPr id="15" name="Text 13"/>
          <p:cNvSpPr/>
          <p:nvPr/>
        </p:nvSpPr>
        <p:spPr>
          <a:xfrm>
            <a:off x="1188720" y="3218688"/>
            <a:ext cx="7315200" cy="320040"/>
          </a:xfrm>
          <a:prstGeom prst="rect">
            <a:avLst/>
          </a:prstGeom>
          <a:noFill/>
          <a:ln/>
        </p:spPr>
        <p:txBody>
          <a:bodyPr wrap="square" lIns="0" tIns="0" rIns="0" bIns="0" rtlCol="0" anchor="ctr"/>
          <a:lstStyle/>
          <a:p>
            <a:pPr marL="0" indent="0">
              <a:buNone/>
            </a:pPr>
            <a:r>
              <a:rPr lang="en-US" sz="1400" dirty="0">
                <a:solidFill>
                  <a:srgbClr val="2E7D32"/>
                </a:solidFill>
                <a:latin typeface="BIZ UDPGothic" pitchFamily="34" charset="0"/>
                <a:ea typeface="BIZ UDPGothic" pitchFamily="34" charset="-122"/>
                <a:cs typeface="BIZ UDPGothic" pitchFamily="34" charset="-120"/>
              </a:rPr>
              <a:t>→ 食事介入、特に減塩・体重管理は基本。薬物療法との併用で効果向上</a:t>
            </a:r>
            <a:endParaRPr lang="en-US" sz="1400" dirty="0"/>
          </a:p>
        </p:txBody>
      </p:sp>
      <p:sp>
        <p:nvSpPr>
          <p:cNvPr id="16" name="Shape 14"/>
          <p:cNvSpPr/>
          <p:nvPr/>
        </p:nvSpPr>
        <p:spPr>
          <a:xfrm>
            <a:off x="548640" y="3749040"/>
            <a:ext cx="8046720" cy="777240"/>
          </a:xfrm>
          <a:prstGeom prst="roundRect">
            <a:avLst>
              <a:gd name="adj" fmla="val 9412"/>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17" name="Text 15"/>
          <p:cNvSpPr/>
          <p:nvPr/>
        </p:nvSpPr>
        <p:spPr>
          <a:xfrm>
            <a:off x="731520" y="3767328"/>
            <a:ext cx="457200" cy="365760"/>
          </a:xfrm>
          <a:prstGeom prst="rect">
            <a:avLst/>
          </a:prstGeom>
          <a:noFill/>
          <a:ln/>
        </p:spPr>
        <p:txBody>
          <a:bodyPr wrap="square" lIns="0" tIns="0" rIns="0" bIns="0" rtlCol="0" anchor="ctr"/>
          <a:lstStyle/>
          <a:p>
            <a:pPr marL="0" indent="0" algn="ctr">
              <a:buNone/>
            </a:pPr>
            <a:r>
              <a:rPr lang="en-US" sz="1800" b="1" dirty="0">
                <a:solidFill>
                  <a:srgbClr val="DC3545"/>
                </a:solidFill>
                <a:latin typeface="Segoe UI" pitchFamily="34" charset="0"/>
                <a:ea typeface="Segoe UI" pitchFamily="34" charset="-122"/>
                <a:cs typeface="Segoe UI" pitchFamily="34" charset="-120"/>
              </a:rPr>
              <a:t>✕</a:t>
            </a:r>
            <a:endParaRPr lang="en-US" sz="1800" dirty="0"/>
          </a:p>
        </p:txBody>
      </p:sp>
      <p:sp>
        <p:nvSpPr>
          <p:cNvPr id="18" name="Text 16"/>
          <p:cNvSpPr/>
          <p:nvPr/>
        </p:nvSpPr>
        <p:spPr>
          <a:xfrm>
            <a:off x="1188720" y="3767328"/>
            <a:ext cx="7315200" cy="320040"/>
          </a:xfrm>
          <a:prstGeom prst="rect">
            <a:avLst/>
          </a:prstGeom>
          <a:noFill/>
          <a:ln/>
        </p:spPr>
        <p:txBody>
          <a:bodyPr wrap="square" lIns="0" tIns="0" rIns="0" bIns="0" rtlCol="0" anchor="ctr"/>
          <a:lstStyle/>
          <a:p>
            <a:pPr marL="0" indent="0">
              <a:buNone/>
            </a:pPr>
            <a:r>
              <a:rPr lang="en-US" sz="1600" b="1" dirty="0">
                <a:solidFill>
                  <a:srgbClr val="DC3545"/>
                </a:solidFill>
                <a:latin typeface="BIZ UDPGothic" pitchFamily="34" charset="0"/>
                <a:ea typeface="BIZ UDPGothic" pitchFamily="34" charset="-122"/>
                <a:cs typeface="BIZ UDPGothic" pitchFamily="34" charset="-120"/>
              </a:rPr>
              <a:t>一気に厳しくしないと意味がない</a:t>
            </a:r>
            <a:endParaRPr lang="en-US" sz="1600" dirty="0"/>
          </a:p>
        </p:txBody>
      </p:sp>
      <p:sp>
        <p:nvSpPr>
          <p:cNvPr id="19" name="Text 17"/>
          <p:cNvSpPr/>
          <p:nvPr/>
        </p:nvSpPr>
        <p:spPr>
          <a:xfrm>
            <a:off x="1188720" y="4133088"/>
            <a:ext cx="7315200" cy="320040"/>
          </a:xfrm>
          <a:prstGeom prst="rect">
            <a:avLst/>
          </a:prstGeom>
          <a:noFill/>
          <a:ln/>
        </p:spPr>
        <p:txBody>
          <a:bodyPr wrap="square" lIns="0" tIns="0" rIns="0" bIns="0" rtlCol="0" anchor="ctr"/>
          <a:lstStyle/>
          <a:p>
            <a:pPr marL="0" indent="0">
              <a:buNone/>
            </a:pPr>
            <a:r>
              <a:rPr lang="en-US" sz="1400" dirty="0">
                <a:solidFill>
                  <a:srgbClr val="2E7D32"/>
                </a:solidFill>
                <a:latin typeface="BIZ UDPGothic" pitchFamily="34" charset="0"/>
                <a:ea typeface="BIZ UDPGothic" pitchFamily="34" charset="-122"/>
                <a:cs typeface="BIZ UDPGothic" pitchFamily="34" charset="-120"/>
              </a:rPr>
              <a:t>→ 続かないことが多い。小さな変更の積み重ねの方が有効</a:t>
            </a:r>
            <a:endParaRPr lang="en-US" sz="1400" dirty="0"/>
          </a:p>
        </p:txBody>
      </p:sp>
      <p:sp>
        <p:nvSpPr>
          <p:cNvPr id="20" name="Shape 18"/>
          <p:cNvSpPr/>
          <p:nvPr/>
        </p:nvSpPr>
        <p:spPr>
          <a:xfrm>
            <a:off x="0" y="4892040"/>
            <a:ext cx="9144000" cy="256032"/>
          </a:xfrm>
          <a:prstGeom prst="rect">
            <a:avLst/>
          </a:prstGeom>
          <a:solidFill>
            <a:srgbClr val="1B5E20"/>
          </a:solidFill>
          <a:ln/>
        </p:spPr>
        <p:txBody>
          <a:bodyPr/>
          <a:lstStyle/>
          <a:p>
            <a:endParaRPr lang="ja-JP" altLang="en-US"/>
          </a:p>
        </p:txBody>
      </p:sp>
      <p:sp>
        <p:nvSpPr>
          <p:cNvPr id="21" name="Text 19"/>
          <p:cNvSpPr/>
          <p:nvPr/>
        </p:nvSpPr>
        <p:spPr>
          <a:xfrm>
            <a:off x="274320" y="4892040"/>
            <a:ext cx="8595360" cy="256032"/>
          </a:xfrm>
          <a:prstGeom prst="rect">
            <a:avLst/>
          </a:prstGeom>
          <a:noFill/>
          <a:ln/>
        </p:spPr>
        <p:txBody>
          <a:bodyPr wrap="square" lIns="0" tIns="0" rIns="0" bIns="0" rtlCol="0" anchor="ctr"/>
          <a:lstStyle/>
          <a:p>
            <a:pPr marL="0" indent="0" algn="r">
              <a:buNone/>
            </a:pPr>
            <a:r>
              <a:rPr lang="en-US" sz="1000" dirty="0">
                <a:solidFill>
                  <a:srgbClr val="A5D6A7"/>
                </a:solidFill>
                <a:latin typeface="BIZ UDPGothic" pitchFamily="34" charset="0"/>
                <a:ea typeface="BIZ UDPGothic" pitchFamily="34" charset="-122"/>
                <a:cs typeface="BIZ UDPGothic" pitchFamily="34" charset="-120"/>
              </a:rPr>
              <a:t>外来でそのまま使える食事指導シリーズ  第2回</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32"/>
          </a:solidFill>
          <a:ln/>
        </p:spPr>
        <p:txBody>
          <a:bodyPr/>
          <a:lstStyle/>
          <a:p>
            <a:endParaRPr lang="ja-JP" altLang="en-US"/>
          </a:p>
        </p:txBody>
      </p:sp>
      <p:sp>
        <p:nvSpPr>
          <p:cNvPr id="3" name="Text 1"/>
          <p:cNvSpPr/>
          <p:nvPr/>
        </p:nvSpPr>
        <p:spPr>
          <a:xfrm>
            <a:off x="457200" y="9144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BIZ UDPGothic" pitchFamily="34" charset="0"/>
                <a:ea typeface="BIZ UDPGothic" pitchFamily="34" charset="-122"/>
                <a:cs typeface="BIZ UDPGothic" pitchFamily="34" charset="-120"/>
              </a:rPr>
              <a:t>外来で伝える行動目標の例</a:t>
            </a:r>
            <a:endParaRPr lang="en-US" sz="2800" dirty="0"/>
          </a:p>
        </p:txBody>
      </p:sp>
      <p:sp>
        <p:nvSpPr>
          <p:cNvPr id="4" name="Shape 2"/>
          <p:cNvSpPr/>
          <p:nvPr/>
        </p:nvSpPr>
        <p:spPr>
          <a:xfrm>
            <a:off x="731520" y="831168"/>
            <a:ext cx="7680960" cy="502920"/>
          </a:xfrm>
          <a:prstGeom prst="roundRect">
            <a:avLst>
              <a:gd name="adj" fmla="val 18182"/>
            </a:avLst>
          </a:prstGeom>
          <a:solidFill>
            <a:srgbClr val="E8F5E9"/>
          </a:solidFill>
          <a:ln/>
        </p:spPr>
        <p:txBody>
          <a:bodyPr/>
          <a:lstStyle/>
          <a:p>
            <a:endParaRPr lang="ja-JP" altLang="en-US"/>
          </a:p>
        </p:txBody>
      </p:sp>
      <p:sp>
        <p:nvSpPr>
          <p:cNvPr id="5" name="Text 3"/>
          <p:cNvSpPr/>
          <p:nvPr/>
        </p:nvSpPr>
        <p:spPr>
          <a:xfrm>
            <a:off x="914400" y="831168"/>
            <a:ext cx="7315200" cy="502920"/>
          </a:xfrm>
          <a:prstGeom prst="rect">
            <a:avLst/>
          </a:prstGeom>
          <a:noFill/>
          <a:ln/>
        </p:spPr>
        <p:txBody>
          <a:bodyPr wrap="square" lIns="0" tIns="0" rIns="0" bIns="0" rtlCol="0" anchor="ctr"/>
          <a:lstStyle/>
          <a:p>
            <a:pPr marL="0" indent="0" algn="ctr">
              <a:buNone/>
            </a:pPr>
            <a:r>
              <a:rPr lang="en-US" sz="1700" b="1" dirty="0">
                <a:solidFill>
                  <a:srgbClr val="1B5E20"/>
                </a:solidFill>
                <a:latin typeface="BIZ UDPGothic" pitchFamily="34" charset="0"/>
                <a:ea typeface="BIZ UDPGothic" pitchFamily="34" charset="-122"/>
                <a:cs typeface="BIZ UDPGothic" pitchFamily="34" charset="-120"/>
              </a:rPr>
              <a:t>「減塩しましょう」で終わらせず、1〜2個の行動目標に落とす</a:t>
            </a:r>
            <a:endParaRPr lang="en-US" sz="1700" dirty="0"/>
          </a:p>
        </p:txBody>
      </p:sp>
      <p:sp>
        <p:nvSpPr>
          <p:cNvPr id="6" name="Shape 4"/>
          <p:cNvSpPr/>
          <p:nvPr/>
        </p:nvSpPr>
        <p:spPr>
          <a:xfrm>
            <a:off x="1371600" y="1608408"/>
            <a:ext cx="6400800" cy="502920"/>
          </a:xfrm>
          <a:prstGeom prst="roundRect">
            <a:avLst>
              <a:gd name="adj" fmla="val 14545"/>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7" name="Shape 5"/>
          <p:cNvSpPr/>
          <p:nvPr/>
        </p:nvSpPr>
        <p:spPr>
          <a:xfrm>
            <a:off x="1371600" y="1608408"/>
            <a:ext cx="91440" cy="502920"/>
          </a:xfrm>
          <a:prstGeom prst="roundRect">
            <a:avLst/>
          </a:prstGeom>
          <a:solidFill>
            <a:srgbClr val="FF8F00"/>
          </a:solidFill>
          <a:ln/>
        </p:spPr>
        <p:txBody>
          <a:bodyPr/>
          <a:lstStyle/>
          <a:p>
            <a:endParaRPr lang="ja-JP" altLang="en-US"/>
          </a:p>
        </p:txBody>
      </p:sp>
      <p:sp>
        <p:nvSpPr>
          <p:cNvPr id="8" name="Text 6"/>
          <p:cNvSpPr/>
          <p:nvPr/>
        </p:nvSpPr>
        <p:spPr>
          <a:xfrm>
            <a:off x="1737360" y="1608408"/>
            <a:ext cx="5852160" cy="502920"/>
          </a:xfrm>
          <a:prstGeom prst="rect">
            <a:avLst/>
          </a:prstGeom>
          <a:noFill/>
          <a:ln/>
        </p:spPr>
        <p:txBody>
          <a:bodyPr wrap="square" lIns="0" tIns="0" rIns="0" bIns="0" rtlCol="0" anchor="ctr"/>
          <a:lstStyle/>
          <a:p>
            <a:pPr marL="0" indent="0">
              <a:buNone/>
            </a:pPr>
            <a:r>
              <a:rPr lang="en-US" sz="1800" dirty="0">
                <a:solidFill>
                  <a:srgbClr val="2D3436"/>
                </a:solidFill>
                <a:latin typeface="BIZ UDPGothic" pitchFamily="34" charset="0"/>
                <a:ea typeface="BIZ UDPGothic" pitchFamily="34" charset="-122"/>
                <a:cs typeface="BIZ UDPGothic" pitchFamily="34" charset="-120"/>
              </a:rPr>
              <a:t>▸ みそ汁は1日2回まで</a:t>
            </a:r>
            <a:endParaRPr lang="en-US" sz="1800" dirty="0"/>
          </a:p>
        </p:txBody>
      </p:sp>
      <p:sp>
        <p:nvSpPr>
          <p:cNvPr id="9" name="Shape 7"/>
          <p:cNvSpPr/>
          <p:nvPr/>
        </p:nvSpPr>
        <p:spPr>
          <a:xfrm>
            <a:off x="1371600" y="2248488"/>
            <a:ext cx="6400800" cy="502920"/>
          </a:xfrm>
          <a:prstGeom prst="roundRect">
            <a:avLst>
              <a:gd name="adj" fmla="val 14545"/>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10" name="Shape 8"/>
          <p:cNvSpPr/>
          <p:nvPr/>
        </p:nvSpPr>
        <p:spPr>
          <a:xfrm>
            <a:off x="1371600" y="2248488"/>
            <a:ext cx="91440" cy="502920"/>
          </a:xfrm>
          <a:prstGeom prst="roundRect">
            <a:avLst/>
          </a:prstGeom>
          <a:solidFill>
            <a:srgbClr val="FF8F00"/>
          </a:solidFill>
          <a:ln/>
        </p:spPr>
        <p:txBody>
          <a:bodyPr/>
          <a:lstStyle/>
          <a:p>
            <a:endParaRPr lang="ja-JP" altLang="en-US"/>
          </a:p>
        </p:txBody>
      </p:sp>
      <p:sp>
        <p:nvSpPr>
          <p:cNvPr id="11" name="Text 9"/>
          <p:cNvSpPr/>
          <p:nvPr/>
        </p:nvSpPr>
        <p:spPr>
          <a:xfrm>
            <a:off x="1737360" y="2248488"/>
            <a:ext cx="5852160" cy="502920"/>
          </a:xfrm>
          <a:prstGeom prst="rect">
            <a:avLst/>
          </a:prstGeom>
          <a:noFill/>
          <a:ln/>
        </p:spPr>
        <p:txBody>
          <a:bodyPr wrap="square" lIns="0" tIns="0" rIns="0" bIns="0" rtlCol="0" anchor="ctr"/>
          <a:lstStyle/>
          <a:p>
            <a:pPr marL="0" indent="0">
              <a:buNone/>
            </a:pPr>
            <a:r>
              <a:rPr lang="en-US" sz="1800" dirty="0">
                <a:solidFill>
                  <a:srgbClr val="2D3436"/>
                </a:solidFill>
                <a:latin typeface="BIZ UDPGothic" pitchFamily="34" charset="0"/>
                <a:ea typeface="BIZ UDPGothic" pitchFamily="34" charset="-122"/>
                <a:cs typeface="BIZ UDPGothic" pitchFamily="34" charset="-120"/>
              </a:rPr>
              <a:t>▸ 麺の汁は飲まない</a:t>
            </a:r>
            <a:endParaRPr lang="en-US" sz="1800" dirty="0"/>
          </a:p>
        </p:txBody>
      </p:sp>
      <p:sp>
        <p:nvSpPr>
          <p:cNvPr id="12" name="Shape 10"/>
          <p:cNvSpPr/>
          <p:nvPr/>
        </p:nvSpPr>
        <p:spPr>
          <a:xfrm>
            <a:off x="1371600" y="2888568"/>
            <a:ext cx="6400800" cy="502920"/>
          </a:xfrm>
          <a:prstGeom prst="roundRect">
            <a:avLst>
              <a:gd name="adj" fmla="val 14545"/>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13" name="Shape 11"/>
          <p:cNvSpPr/>
          <p:nvPr/>
        </p:nvSpPr>
        <p:spPr>
          <a:xfrm>
            <a:off x="1371600" y="2888568"/>
            <a:ext cx="91440" cy="502920"/>
          </a:xfrm>
          <a:prstGeom prst="roundRect">
            <a:avLst/>
          </a:prstGeom>
          <a:solidFill>
            <a:srgbClr val="FF8F00"/>
          </a:solidFill>
          <a:ln/>
        </p:spPr>
        <p:txBody>
          <a:bodyPr/>
          <a:lstStyle/>
          <a:p>
            <a:endParaRPr lang="ja-JP" altLang="en-US"/>
          </a:p>
        </p:txBody>
      </p:sp>
      <p:sp>
        <p:nvSpPr>
          <p:cNvPr id="14" name="Text 12"/>
          <p:cNvSpPr/>
          <p:nvPr/>
        </p:nvSpPr>
        <p:spPr>
          <a:xfrm>
            <a:off x="1737360" y="2888568"/>
            <a:ext cx="5852160" cy="502920"/>
          </a:xfrm>
          <a:prstGeom prst="rect">
            <a:avLst/>
          </a:prstGeom>
          <a:noFill/>
          <a:ln/>
        </p:spPr>
        <p:txBody>
          <a:bodyPr wrap="square" lIns="0" tIns="0" rIns="0" bIns="0" rtlCol="0" anchor="ctr"/>
          <a:lstStyle/>
          <a:p>
            <a:pPr marL="0" indent="0">
              <a:buNone/>
            </a:pPr>
            <a:r>
              <a:rPr lang="en-US" sz="1800" dirty="0">
                <a:solidFill>
                  <a:srgbClr val="2D3436"/>
                </a:solidFill>
                <a:latin typeface="BIZ UDPGothic" pitchFamily="34" charset="0"/>
                <a:ea typeface="BIZ UDPGothic" pitchFamily="34" charset="-122"/>
                <a:cs typeface="BIZ UDPGothic" pitchFamily="34" charset="-120"/>
              </a:rPr>
              <a:t>▸ 漬物は毎食ではなく1日1回まで</a:t>
            </a:r>
            <a:endParaRPr lang="en-US" sz="1800" dirty="0"/>
          </a:p>
        </p:txBody>
      </p:sp>
      <p:sp>
        <p:nvSpPr>
          <p:cNvPr id="15" name="Shape 13"/>
          <p:cNvSpPr/>
          <p:nvPr/>
        </p:nvSpPr>
        <p:spPr>
          <a:xfrm>
            <a:off x="1371600" y="3528648"/>
            <a:ext cx="6400800" cy="502920"/>
          </a:xfrm>
          <a:prstGeom prst="roundRect">
            <a:avLst>
              <a:gd name="adj" fmla="val 14545"/>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16" name="Shape 14"/>
          <p:cNvSpPr/>
          <p:nvPr/>
        </p:nvSpPr>
        <p:spPr>
          <a:xfrm>
            <a:off x="1371600" y="3528648"/>
            <a:ext cx="91440" cy="502920"/>
          </a:xfrm>
          <a:prstGeom prst="roundRect">
            <a:avLst/>
          </a:prstGeom>
          <a:solidFill>
            <a:srgbClr val="FF8F00"/>
          </a:solidFill>
          <a:ln/>
        </p:spPr>
        <p:txBody>
          <a:bodyPr/>
          <a:lstStyle/>
          <a:p>
            <a:endParaRPr lang="ja-JP" altLang="en-US"/>
          </a:p>
        </p:txBody>
      </p:sp>
      <p:sp>
        <p:nvSpPr>
          <p:cNvPr id="17" name="Text 15"/>
          <p:cNvSpPr/>
          <p:nvPr/>
        </p:nvSpPr>
        <p:spPr>
          <a:xfrm>
            <a:off x="1737360" y="3528648"/>
            <a:ext cx="5852160" cy="502920"/>
          </a:xfrm>
          <a:prstGeom prst="rect">
            <a:avLst/>
          </a:prstGeom>
          <a:noFill/>
          <a:ln/>
        </p:spPr>
        <p:txBody>
          <a:bodyPr wrap="square" lIns="0" tIns="0" rIns="0" bIns="0" rtlCol="0" anchor="ctr"/>
          <a:lstStyle/>
          <a:p>
            <a:pPr marL="0" indent="0">
              <a:buNone/>
            </a:pPr>
            <a:r>
              <a:rPr lang="en-US" sz="1800" dirty="0">
                <a:solidFill>
                  <a:srgbClr val="2D3436"/>
                </a:solidFill>
                <a:latin typeface="BIZ UDPGothic" pitchFamily="34" charset="0"/>
                <a:ea typeface="BIZ UDPGothic" pitchFamily="34" charset="-122"/>
                <a:cs typeface="BIZ UDPGothic" pitchFamily="34" charset="-120"/>
              </a:rPr>
              <a:t>▸ カップ麺は週1回まで</a:t>
            </a:r>
            <a:endParaRPr lang="en-US" sz="1800" dirty="0"/>
          </a:p>
        </p:txBody>
      </p:sp>
      <p:sp>
        <p:nvSpPr>
          <p:cNvPr id="18" name="Shape 16"/>
          <p:cNvSpPr/>
          <p:nvPr/>
        </p:nvSpPr>
        <p:spPr>
          <a:xfrm>
            <a:off x="1371600" y="4168728"/>
            <a:ext cx="6400800" cy="502920"/>
          </a:xfrm>
          <a:prstGeom prst="roundRect">
            <a:avLst>
              <a:gd name="adj" fmla="val 14545"/>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19" name="Shape 17"/>
          <p:cNvSpPr/>
          <p:nvPr/>
        </p:nvSpPr>
        <p:spPr>
          <a:xfrm>
            <a:off x="1371600" y="4168728"/>
            <a:ext cx="91440" cy="502920"/>
          </a:xfrm>
          <a:prstGeom prst="roundRect">
            <a:avLst/>
          </a:prstGeom>
          <a:solidFill>
            <a:srgbClr val="FF8F00"/>
          </a:solidFill>
          <a:ln/>
        </p:spPr>
        <p:txBody>
          <a:bodyPr/>
          <a:lstStyle/>
          <a:p>
            <a:endParaRPr lang="ja-JP" altLang="en-US"/>
          </a:p>
        </p:txBody>
      </p:sp>
      <p:sp>
        <p:nvSpPr>
          <p:cNvPr id="20" name="Text 18"/>
          <p:cNvSpPr/>
          <p:nvPr/>
        </p:nvSpPr>
        <p:spPr>
          <a:xfrm>
            <a:off x="1737360" y="4168728"/>
            <a:ext cx="5852160" cy="502920"/>
          </a:xfrm>
          <a:prstGeom prst="rect">
            <a:avLst/>
          </a:prstGeom>
          <a:noFill/>
          <a:ln/>
        </p:spPr>
        <p:txBody>
          <a:bodyPr wrap="square" lIns="0" tIns="0" rIns="0" bIns="0" rtlCol="0" anchor="ctr"/>
          <a:lstStyle/>
          <a:p>
            <a:pPr marL="0" indent="0">
              <a:buNone/>
            </a:pPr>
            <a:r>
              <a:rPr lang="en-US" sz="1800" dirty="0">
                <a:solidFill>
                  <a:srgbClr val="2D3436"/>
                </a:solidFill>
                <a:latin typeface="BIZ UDPGothic" pitchFamily="34" charset="0"/>
                <a:ea typeface="BIZ UDPGothic" pitchFamily="34" charset="-122"/>
                <a:cs typeface="BIZ UDPGothic" pitchFamily="34" charset="-120"/>
              </a:rPr>
              <a:t>▸ しょうゆは小皿に取って使う</a:t>
            </a:r>
            <a:endParaRPr lang="en-US" sz="1800" dirty="0"/>
          </a:p>
        </p:txBody>
      </p:sp>
      <p:sp>
        <p:nvSpPr>
          <p:cNvPr id="21" name="Shape 19"/>
          <p:cNvSpPr/>
          <p:nvPr/>
        </p:nvSpPr>
        <p:spPr>
          <a:xfrm>
            <a:off x="1329397" y="4562038"/>
            <a:ext cx="6400800" cy="365760"/>
          </a:xfrm>
          <a:prstGeom prst="roundRect">
            <a:avLst>
              <a:gd name="adj" fmla="val 25000"/>
            </a:avLst>
          </a:prstGeom>
          <a:solidFill>
            <a:srgbClr val="F8D7DA"/>
          </a:solidFill>
          <a:ln/>
        </p:spPr>
        <p:txBody>
          <a:bodyPr/>
          <a:lstStyle/>
          <a:p>
            <a:endParaRPr lang="ja-JP" altLang="en-US"/>
          </a:p>
        </p:txBody>
      </p:sp>
      <p:sp>
        <p:nvSpPr>
          <p:cNvPr id="22" name="Text 20"/>
          <p:cNvSpPr/>
          <p:nvPr/>
        </p:nvSpPr>
        <p:spPr>
          <a:xfrm>
            <a:off x="1371600" y="4562040"/>
            <a:ext cx="6400800" cy="365760"/>
          </a:xfrm>
          <a:prstGeom prst="rect">
            <a:avLst/>
          </a:prstGeom>
          <a:noFill/>
          <a:ln/>
        </p:spPr>
        <p:txBody>
          <a:bodyPr wrap="square" lIns="0" tIns="0" rIns="0" bIns="0" rtlCol="0" anchor="ctr"/>
          <a:lstStyle/>
          <a:p>
            <a:pPr marL="0" indent="0" algn="ctr">
              <a:buNone/>
            </a:pPr>
            <a:r>
              <a:rPr lang="en-US" sz="1300" b="1" dirty="0">
                <a:solidFill>
                  <a:srgbClr val="DC3545"/>
                </a:solidFill>
                <a:latin typeface="BIZ UDPGothic" pitchFamily="34" charset="0"/>
                <a:ea typeface="BIZ UDPGothic" pitchFamily="34" charset="-122"/>
                <a:cs typeface="BIZ UDPGothic" pitchFamily="34" charset="-120"/>
              </a:rPr>
              <a:t>✕「塩分を控えて」「薄味にして」だけでは行動変容につながりにくい</a:t>
            </a:r>
            <a:endParaRPr lang="en-US" sz="1300" dirty="0"/>
          </a:p>
        </p:txBody>
      </p:sp>
      <p:sp>
        <p:nvSpPr>
          <p:cNvPr id="23" name="Shape 21"/>
          <p:cNvSpPr/>
          <p:nvPr/>
        </p:nvSpPr>
        <p:spPr>
          <a:xfrm>
            <a:off x="0" y="4892040"/>
            <a:ext cx="9144000" cy="256032"/>
          </a:xfrm>
          <a:prstGeom prst="rect">
            <a:avLst/>
          </a:prstGeom>
          <a:solidFill>
            <a:srgbClr val="1B5E20"/>
          </a:solidFill>
          <a:ln/>
        </p:spPr>
        <p:txBody>
          <a:bodyPr/>
          <a:lstStyle/>
          <a:p>
            <a:endParaRPr lang="ja-JP" altLang="en-US"/>
          </a:p>
        </p:txBody>
      </p:sp>
      <p:sp>
        <p:nvSpPr>
          <p:cNvPr id="24" name="Text 22"/>
          <p:cNvSpPr/>
          <p:nvPr/>
        </p:nvSpPr>
        <p:spPr>
          <a:xfrm>
            <a:off x="274320" y="4892040"/>
            <a:ext cx="8595360" cy="256032"/>
          </a:xfrm>
          <a:prstGeom prst="rect">
            <a:avLst/>
          </a:prstGeom>
          <a:noFill/>
          <a:ln/>
        </p:spPr>
        <p:txBody>
          <a:bodyPr wrap="square" lIns="0" tIns="0" rIns="0" bIns="0" rtlCol="0" anchor="ctr"/>
          <a:lstStyle/>
          <a:p>
            <a:pPr marL="0" indent="0" algn="r">
              <a:buNone/>
            </a:pPr>
            <a:r>
              <a:rPr lang="en-US" sz="1000" dirty="0">
                <a:solidFill>
                  <a:srgbClr val="A5D6A7"/>
                </a:solidFill>
                <a:latin typeface="BIZ UDPGothic" pitchFamily="34" charset="0"/>
                <a:ea typeface="BIZ UDPGothic" pitchFamily="34" charset="-122"/>
                <a:cs typeface="BIZ UDPGothic" pitchFamily="34" charset="-120"/>
              </a:rPr>
              <a:t>外来でそのまま使える食事指導シリーズ  第2回</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32"/>
          </a:solidFill>
          <a:ln/>
        </p:spPr>
        <p:txBody>
          <a:bodyPr/>
          <a:lstStyle/>
          <a:p>
            <a:endParaRPr lang="ja-JP" altLang="en-US"/>
          </a:p>
        </p:txBody>
      </p:sp>
      <p:sp>
        <p:nvSpPr>
          <p:cNvPr id="3" name="Text 1"/>
          <p:cNvSpPr/>
          <p:nvPr/>
        </p:nvSpPr>
        <p:spPr>
          <a:xfrm>
            <a:off x="457200" y="9144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BIZ UDPGothic" pitchFamily="34" charset="0"/>
                <a:ea typeface="BIZ UDPGothic" pitchFamily="34" charset="-122"/>
                <a:cs typeface="BIZ UDPGothic" pitchFamily="34" charset="-120"/>
              </a:rPr>
              <a:t>まとめ — Key Takeaways</a:t>
            </a:r>
            <a:endParaRPr lang="en-US" sz="2800" dirty="0"/>
          </a:p>
        </p:txBody>
      </p:sp>
      <p:sp>
        <p:nvSpPr>
          <p:cNvPr id="4" name="Shape 2"/>
          <p:cNvSpPr/>
          <p:nvPr/>
        </p:nvSpPr>
        <p:spPr>
          <a:xfrm>
            <a:off x="731520" y="1097280"/>
            <a:ext cx="7680960" cy="548640"/>
          </a:xfrm>
          <a:prstGeom prst="roundRect">
            <a:avLst>
              <a:gd name="adj" fmla="val 16667"/>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5" name="Shape 3"/>
          <p:cNvSpPr/>
          <p:nvPr/>
        </p:nvSpPr>
        <p:spPr>
          <a:xfrm>
            <a:off x="731520" y="1097280"/>
            <a:ext cx="109728" cy="548640"/>
          </a:xfrm>
          <a:prstGeom prst="roundRect">
            <a:avLst/>
          </a:prstGeom>
          <a:solidFill>
            <a:srgbClr val="FF8F00"/>
          </a:solidFill>
          <a:ln/>
        </p:spPr>
        <p:txBody>
          <a:bodyPr/>
          <a:lstStyle/>
          <a:p>
            <a:endParaRPr lang="ja-JP" altLang="en-US"/>
          </a:p>
        </p:txBody>
      </p:sp>
      <p:sp>
        <p:nvSpPr>
          <p:cNvPr id="6" name="Text 4"/>
          <p:cNvSpPr/>
          <p:nvPr/>
        </p:nvSpPr>
        <p:spPr>
          <a:xfrm>
            <a:off x="1097280" y="1097280"/>
            <a:ext cx="7132320" cy="548640"/>
          </a:xfrm>
          <a:prstGeom prst="rect">
            <a:avLst/>
          </a:prstGeom>
          <a:noFill/>
          <a:ln/>
        </p:spPr>
        <p:txBody>
          <a:bodyPr wrap="square" lIns="0" tIns="0" rIns="0" bIns="0" rtlCol="0" anchor="ctr"/>
          <a:lstStyle/>
          <a:p>
            <a:pPr marL="0" indent="0">
              <a:buNone/>
            </a:pPr>
            <a:r>
              <a:rPr lang="en-US" sz="1800" dirty="0">
                <a:solidFill>
                  <a:srgbClr val="2D3436"/>
                </a:solidFill>
                <a:latin typeface="BIZ UDPGothic" pitchFamily="34" charset="0"/>
                <a:ea typeface="BIZ UDPGothic" pitchFamily="34" charset="-122"/>
                <a:cs typeface="BIZ UDPGothic" pitchFamily="34" charset="-120"/>
              </a:rPr>
              <a:t>✓  高血圧の食事指導の中心は減塩。目標は食塩 6g/日未満</a:t>
            </a:r>
            <a:endParaRPr lang="en-US" sz="1800" dirty="0"/>
          </a:p>
        </p:txBody>
      </p:sp>
      <p:sp>
        <p:nvSpPr>
          <p:cNvPr id="7" name="Shape 5"/>
          <p:cNvSpPr/>
          <p:nvPr/>
        </p:nvSpPr>
        <p:spPr>
          <a:xfrm>
            <a:off x="731520" y="1783080"/>
            <a:ext cx="7680960" cy="548640"/>
          </a:xfrm>
          <a:prstGeom prst="roundRect">
            <a:avLst>
              <a:gd name="adj" fmla="val 16667"/>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8" name="Shape 6"/>
          <p:cNvSpPr/>
          <p:nvPr/>
        </p:nvSpPr>
        <p:spPr>
          <a:xfrm>
            <a:off x="731520" y="1783080"/>
            <a:ext cx="109728" cy="548640"/>
          </a:xfrm>
          <a:prstGeom prst="roundRect">
            <a:avLst/>
          </a:prstGeom>
          <a:solidFill>
            <a:srgbClr val="FF8F00"/>
          </a:solidFill>
          <a:ln/>
        </p:spPr>
        <p:txBody>
          <a:bodyPr/>
          <a:lstStyle/>
          <a:p>
            <a:endParaRPr lang="ja-JP" altLang="en-US"/>
          </a:p>
        </p:txBody>
      </p:sp>
      <p:sp>
        <p:nvSpPr>
          <p:cNvPr id="9" name="Text 7"/>
          <p:cNvSpPr/>
          <p:nvPr/>
        </p:nvSpPr>
        <p:spPr>
          <a:xfrm>
            <a:off x="1097280" y="1783080"/>
            <a:ext cx="7315200" cy="548640"/>
          </a:xfrm>
          <a:prstGeom prst="rect">
            <a:avLst/>
          </a:prstGeom>
          <a:noFill/>
          <a:ln/>
        </p:spPr>
        <p:txBody>
          <a:bodyPr wrap="square" lIns="0" tIns="0" rIns="0" bIns="0" rtlCol="0" anchor="ctr"/>
          <a:lstStyle/>
          <a:p>
            <a:pPr marL="0" indent="0">
              <a:buNone/>
            </a:pPr>
            <a:r>
              <a:rPr lang="en-US" sz="1800" dirty="0">
                <a:solidFill>
                  <a:srgbClr val="2D3436"/>
                </a:solidFill>
                <a:latin typeface="BIZ UDPGothic" pitchFamily="34" charset="0"/>
                <a:ea typeface="BIZ UDPGothic" pitchFamily="34" charset="-122"/>
                <a:cs typeface="BIZ UDPGothic" pitchFamily="34" charset="-120"/>
              </a:rPr>
              <a:t>✓  「塩をかけない」だけでは不十分 ― 汁物・漬物・加工食品・惣菜が本丸</a:t>
            </a:r>
            <a:endParaRPr lang="en-US" sz="1800" dirty="0"/>
          </a:p>
        </p:txBody>
      </p:sp>
      <p:sp>
        <p:nvSpPr>
          <p:cNvPr id="10" name="Shape 8"/>
          <p:cNvSpPr/>
          <p:nvPr/>
        </p:nvSpPr>
        <p:spPr>
          <a:xfrm>
            <a:off x="731520" y="2468880"/>
            <a:ext cx="7680960" cy="548640"/>
          </a:xfrm>
          <a:prstGeom prst="roundRect">
            <a:avLst>
              <a:gd name="adj" fmla="val 16667"/>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11" name="Shape 9"/>
          <p:cNvSpPr/>
          <p:nvPr/>
        </p:nvSpPr>
        <p:spPr>
          <a:xfrm>
            <a:off x="731520" y="2468880"/>
            <a:ext cx="109728" cy="548640"/>
          </a:xfrm>
          <a:prstGeom prst="roundRect">
            <a:avLst/>
          </a:prstGeom>
          <a:solidFill>
            <a:srgbClr val="FF8F00"/>
          </a:solidFill>
          <a:ln/>
        </p:spPr>
        <p:txBody>
          <a:bodyPr/>
          <a:lstStyle/>
          <a:p>
            <a:endParaRPr lang="ja-JP" altLang="en-US"/>
          </a:p>
        </p:txBody>
      </p:sp>
      <p:sp>
        <p:nvSpPr>
          <p:cNvPr id="12" name="Text 10"/>
          <p:cNvSpPr/>
          <p:nvPr/>
        </p:nvSpPr>
        <p:spPr>
          <a:xfrm>
            <a:off x="1097280" y="2468880"/>
            <a:ext cx="7132320" cy="548640"/>
          </a:xfrm>
          <a:prstGeom prst="rect">
            <a:avLst/>
          </a:prstGeom>
          <a:noFill/>
          <a:ln/>
        </p:spPr>
        <p:txBody>
          <a:bodyPr wrap="square" lIns="0" tIns="0" rIns="0" bIns="0" rtlCol="0" anchor="ctr"/>
          <a:lstStyle/>
          <a:p>
            <a:pPr marL="0" indent="0">
              <a:buNone/>
            </a:pPr>
            <a:r>
              <a:rPr lang="en-US" sz="1800" dirty="0">
                <a:solidFill>
                  <a:srgbClr val="2D3436"/>
                </a:solidFill>
                <a:latin typeface="BIZ UDPGothic" pitchFamily="34" charset="0"/>
                <a:ea typeface="BIZ UDPGothic" pitchFamily="34" charset="-122"/>
                <a:cs typeface="BIZ UDPGothic" pitchFamily="34" charset="-120"/>
              </a:rPr>
              <a:t>✓  野菜・果物は一般に有利だが、CKD合併では腎機能・K値に注意</a:t>
            </a:r>
            <a:endParaRPr lang="en-US" sz="1800" dirty="0"/>
          </a:p>
        </p:txBody>
      </p:sp>
      <p:sp>
        <p:nvSpPr>
          <p:cNvPr id="13" name="Shape 11"/>
          <p:cNvSpPr/>
          <p:nvPr/>
        </p:nvSpPr>
        <p:spPr>
          <a:xfrm>
            <a:off x="731520" y="3154680"/>
            <a:ext cx="7680960" cy="548640"/>
          </a:xfrm>
          <a:prstGeom prst="roundRect">
            <a:avLst>
              <a:gd name="adj" fmla="val 16667"/>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14" name="Shape 12"/>
          <p:cNvSpPr/>
          <p:nvPr/>
        </p:nvSpPr>
        <p:spPr>
          <a:xfrm>
            <a:off x="731520" y="3154680"/>
            <a:ext cx="109728" cy="548640"/>
          </a:xfrm>
          <a:prstGeom prst="roundRect">
            <a:avLst/>
          </a:prstGeom>
          <a:solidFill>
            <a:srgbClr val="FF8F00"/>
          </a:solidFill>
          <a:ln/>
        </p:spPr>
        <p:txBody>
          <a:bodyPr/>
          <a:lstStyle/>
          <a:p>
            <a:endParaRPr lang="ja-JP" altLang="en-US"/>
          </a:p>
        </p:txBody>
      </p:sp>
      <p:sp>
        <p:nvSpPr>
          <p:cNvPr id="15" name="Text 13"/>
          <p:cNvSpPr/>
          <p:nvPr/>
        </p:nvSpPr>
        <p:spPr>
          <a:xfrm>
            <a:off x="1097280" y="3154680"/>
            <a:ext cx="7132320" cy="548640"/>
          </a:xfrm>
          <a:prstGeom prst="rect">
            <a:avLst/>
          </a:prstGeom>
          <a:noFill/>
          <a:ln/>
        </p:spPr>
        <p:txBody>
          <a:bodyPr wrap="square" lIns="0" tIns="0" rIns="0" bIns="0" rtlCol="0" anchor="ctr"/>
          <a:lstStyle/>
          <a:p>
            <a:pPr marL="0" indent="0">
              <a:buNone/>
            </a:pPr>
            <a:r>
              <a:rPr lang="en-US" sz="1800" dirty="0">
                <a:solidFill>
                  <a:srgbClr val="2D3436"/>
                </a:solidFill>
                <a:latin typeface="BIZ UDPGothic" pitchFamily="34" charset="0"/>
                <a:ea typeface="BIZ UDPGothic" pitchFamily="34" charset="-122"/>
                <a:cs typeface="BIZ UDPGothic" pitchFamily="34" charset="-120"/>
              </a:rPr>
              <a:t>✓  減塩だけでなく体重・飲酒・食事パターン全体を見る</a:t>
            </a:r>
            <a:endParaRPr lang="en-US" sz="1800" dirty="0"/>
          </a:p>
        </p:txBody>
      </p:sp>
      <p:sp>
        <p:nvSpPr>
          <p:cNvPr id="16" name="Shape 14"/>
          <p:cNvSpPr/>
          <p:nvPr/>
        </p:nvSpPr>
        <p:spPr>
          <a:xfrm>
            <a:off x="731520" y="3840480"/>
            <a:ext cx="7680960" cy="548640"/>
          </a:xfrm>
          <a:prstGeom prst="roundRect">
            <a:avLst>
              <a:gd name="adj" fmla="val 16667"/>
            </a:avLst>
          </a:prstGeom>
          <a:solidFill>
            <a:srgbClr val="FFFFFF"/>
          </a:solidFill>
          <a:ln/>
          <a:effectLst>
            <a:outerShdw blurRad="50800" dist="25400" dir="8100000" algn="bl" rotWithShape="0">
              <a:srgbClr val="000000">
                <a:alpha val="12000"/>
              </a:srgbClr>
            </a:outerShdw>
          </a:effectLst>
        </p:spPr>
        <p:txBody>
          <a:bodyPr/>
          <a:lstStyle/>
          <a:p>
            <a:endParaRPr lang="ja-JP" altLang="en-US"/>
          </a:p>
        </p:txBody>
      </p:sp>
      <p:sp>
        <p:nvSpPr>
          <p:cNvPr id="17" name="Shape 15"/>
          <p:cNvSpPr/>
          <p:nvPr/>
        </p:nvSpPr>
        <p:spPr>
          <a:xfrm>
            <a:off x="731520" y="3840480"/>
            <a:ext cx="109728" cy="548640"/>
          </a:xfrm>
          <a:prstGeom prst="roundRect">
            <a:avLst/>
          </a:prstGeom>
          <a:solidFill>
            <a:srgbClr val="FF8F00"/>
          </a:solidFill>
          <a:ln/>
        </p:spPr>
        <p:txBody>
          <a:bodyPr/>
          <a:lstStyle/>
          <a:p>
            <a:endParaRPr lang="ja-JP" altLang="en-US"/>
          </a:p>
        </p:txBody>
      </p:sp>
      <p:sp>
        <p:nvSpPr>
          <p:cNvPr id="18" name="Text 16"/>
          <p:cNvSpPr/>
          <p:nvPr/>
        </p:nvSpPr>
        <p:spPr>
          <a:xfrm>
            <a:off x="1097280" y="3840480"/>
            <a:ext cx="7132320" cy="548640"/>
          </a:xfrm>
          <a:prstGeom prst="rect">
            <a:avLst/>
          </a:prstGeom>
          <a:noFill/>
          <a:ln/>
        </p:spPr>
        <p:txBody>
          <a:bodyPr wrap="square" lIns="0" tIns="0" rIns="0" bIns="0" rtlCol="0" anchor="ctr"/>
          <a:lstStyle/>
          <a:p>
            <a:pPr marL="0" indent="0">
              <a:buNone/>
            </a:pPr>
            <a:r>
              <a:rPr lang="en-US" sz="1800" dirty="0">
                <a:solidFill>
                  <a:srgbClr val="2D3436"/>
                </a:solidFill>
                <a:latin typeface="BIZ UDPGothic" pitchFamily="34" charset="0"/>
                <a:ea typeface="BIZ UDPGothic" pitchFamily="34" charset="-122"/>
                <a:cs typeface="BIZ UDPGothic" pitchFamily="34" charset="-120"/>
              </a:rPr>
              <a:t>✓  抽象的な指示ではなく、1〜2個の具体的行動目標に落とす</a:t>
            </a:r>
            <a:endParaRPr lang="en-US" sz="1800" dirty="0"/>
          </a:p>
        </p:txBody>
      </p:sp>
      <p:sp>
        <p:nvSpPr>
          <p:cNvPr id="19" name="Shape 17"/>
          <p:cNvSpPr/>
          <p:nvPr/>
        </p:nvSpPr>
        <p:spPr>
          <a:xfrm>
            <a:off x="0" y="4892040"/>
            <a:ext cx="9144000" cy="256032"/>
          </a:xfrm>
          <a:prstGeom prst="rect">
            <a:avLst/>
          </a:prstGeom>
          <a:solidFill>
            <a:srgbClr val="1B5E20"/>
          </a:solidFill>
          <a:ln/>
        </p:spPr>
        <p:txBody>
          <a:bodyPr/>
          <a:lstStyle/>
          <a:p>
            <a:endParaRPr lang="ja-JP" altLang="en-US"/>
          </a:p>
        </p:txBody>
      </p:sp>
      <p:sp>
        <p:nvSpPr>
          <p:cNvPr id="20" name="Text 18"/>
          <p:cNvSpPr/>
          <p:nvPr/>
        </p:nvSpPr>
        <p:spPr>
          <a:xfrm>
            <a:off x="274320" y="4892040"/>
            <a:ext cx="8595360" cy="256032"/>
          </a:xfrm>
          <a:prstGeom prst="rect">
            <a:avLst/>
          </a:prstGeom>
          <a:noFill/>
          <a:ln/>
        </p:spPr>
        <p:txBody>
          <a:bodyPr wrap="square" lIns="0" tIns="0" rIns="0" bIns="0" rtlCol="0" anchor="ctr"/>
          <a:lstStyle/>
          <a:p>
            <a:pPr marL="0" indent="0" algn="r">
              <a:buNone/>
            </a:pPr>
            <a:r>
              <a:rPr lang="en-US" sz="1000" dirty="0">
                <a:solidFill>
                  <a:srgbClr val="A5D6A7"/>
                </a:solidFill>
                <a:latin typeface="BIZ UDPGothic" pitchFamily="34" charset="0"/>
                <a:ea typeface="BIZ UDPGothic" pitchFamily="34" charset="-122"/>
                <a:cs typeface="BIZ UDPGothic" pitchFamily="34" charset="-120"/>
              </a:rPr>
              <a:t>外来でそのまま使える食事指導シリーズ  第2回</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5E20"/>
        </a:solidFill>
        <a:effectLst/>
      </p:bgPr>
    </p:bg>
    <p:spTree>
      <p:nvGrpSpPr>
        <p:cNvPr id="1" name=""/>
        <p:cNvGrpSpPr/>
        <p:nvPr/>
      </p:nvGrpSpPr>
      <p:grpSpPr>
        <a:xfrm>
          <a:off x="0" y="0"/>
          <a:ext cx="0" cy="0"/>
          <a:chOff x="0" y="0"/>
          <a:chExt cx="0" cy="0"/>
        </a:xfrm>
      </p:grpSpPr>
      <p:sp>
        <p:nvSpPr>
          <p:cNvPr id="2" name="Text 0"/>
          <p:cNvSpPr/>
          <p:nvPr/>
        </p:nvSpPr>
        <p:spPr>
          <a:xfrm>
            <a:off x="548640" y="1097280"/>
            <a:ext cx="8046720" cy="548640"/>
          </a:xfrm>
          <a:prstGeom prst="rect">
            <a:avLst/>
          </a:prstGeom>
          <a:noFill/>
          <a:ln/>
        </p:spPr>
        <p:txBody>
          <a:bodyPr wrap="square" lIns="0" tIns="0" rIns="0" bIns="0" rtlCol="0" anchor="ctr"/>
          <a:lstStyle/>
          <a:p>
            <a:pPr marL="0" indent="0" algn="ctr">
              <a:buNone/>
            </a:pPr>
            <a:r>
              <a:rPr lang="en-US" sz="1600" dirty="0">
                <a:solidFill>
                  <a:srgbClr val="A5D6A7"/>
                </a:solidFill>
                <a:latin typeface="BIZ UDPGothic" pitchFamily="34" charset="0"/>
                <a:ea typeface="BIZ UDPGothic" pitchFamily="34" charset="-122"/>
                <a:cs typeface="BIZ UDPGothic" pitchFamily="34" charset="-120"/>
              </a:rPr>
              <a:t>次回予告</a:t>
            </a:r>
            <a:endParaRPr lang="en-US" sz="1600" dirty="0"/>
          </a:p>
        </p:txBody>
      </p:sp>
      <p:sp>
        <p:nvSpPr>
          <p:cNvPr id="3" name="Shape 1"/>
          <p:cNvSpPr/>
          <p:nvPr/>
        </p:nvSpPr>
        <p:spPr>
          <a:xfrm>
            <a:off x="1371600" y="1828800"/>
            <a:ext cx="6400800" cy="1828800"/>
          </a:xfrm>
          <a:prstGeom prst="roundRect">
            <a:avLst>
              <a:gd name="adj" fmla="val 7500"/>
            </a:avLst>
          </a:prstGeom>
          <a:solidFill>
            <a:srgbClr val="1B5E20">
              <a:alpha val="25000"/>
            </a:srgbClr>
          </a:solidFill>
          <a:ln/>
        </p:spPr>
        <p:txBody>
          <a:bodyPr/>
          <a:lstStyle/>
          <a:p>
            <a:endParaRPr lang="ja-JP" altLang="en-US"/>
          </a:p>
        </p:txBody>
      </p:sp>
      <p:sp>
        <p:nvSpPr>
          <p:cNvPr id="4" name="Text 2"/>
          <p:cNvSpPr/>
          <p:nvPr/>
        </p:nvSpPr>
        <p:spPr>
          <a:xfrm>
            <a:off x="1371600" y="2011680"/>
            <a:ext cx="6400800" cy="548640"/>
          </a:xfrm>
          <a:prstGeom prst="rect">
            <a:avLst/>
          </a:prstGeom>
          <a:noFill/>
          <a:ln/>
        </p:spPr>
        <p:txBody>
          <a:bodyPr wrap="square" lIns="0" tIns="0" rIns="0" bIns="0" rtlCol="0" anchor="ctr"/>
          <a:lstStyle/>
          <a:p>
            <a:pPr marL="0" indent="0" algn="ctr">
              <a:buNone/>
            </a:pPr>
            <a:r>
              <a:rPr lang="en-US" sz="2000" b="1" dirty="0">
                <a:solidFill>
                  <a:srgbClr val="FF8F00"/>
                </a:solidFill>
                <a:latin typeface="BIZ UDPGothic" pitchFamily="34" charset="0"/>
                <a:ea typeface="BIZ UDPGothic" pitchFamily="34" charset="-122"/>
                <a:cs typeface="BIZ UDPGothic" pitchFamily="34" charset="-120"/>
              </a:rPr>
              <a:t>第3回</a:t>
            </a:r>
            <a:endParaRPr lang="en-US" sz="2000" dirty="0"/>
          </a:p>
        </p:txBody>
      </p:sp>
      <p:sp>
        <p:nvSpPr>
          <p:cNvPr id="5" name="Text 3"/>
          <p:cNvSpPr/>
          <p:nvPr/>
        </p:nvSpPr>
        <p:spPr>
          <a:xfrm>
            <a:off x="1371600" y="2651760"/>
            <a:ext cx="6400800" cy="731520"/>
          </a:xfrm>
          <a:prstGeom prst="rect">
            <a:avLst/>
          </a:prstGeom>
          <a:noFill/>
          <a:ln/>
        </p:spPr>
        <p:txBody>
          <a:bodyPr wrap="square" lIns="0" tIns="0" rIns="0" bIns="0" rtlCol="0" anchor="ctr"/>
          <a:lstStyle/>
          <a:p>
            <a:pPr marL="0" indent="0" algn="ctr">
              <a:buNone/>
            </a:pPr>
            <a:r>
              <a:rPr lang="en-US" sz="2600" b="1" dirty="0">
                <a:solidFill>
                  <a:srgbClr val="FFFFFF"/>
                </a:solidFill>
                <a:latin typeface="BIZ UDPGothic" pitchFamily="34" charset="0"/>
                <a:ea typeface="BIZ UDPGothic" pitchFamily="34" charset="-122"/>
                <a:cs typeface="BIZ UDPGothic" pitchFamily="34" charset="-120"/>
              </a:rPr>
              <a:t>脂質異常症の食事指導</a:t>
            </a:r>
            <a:endParaRPr lang="en-US" sz="2600" dirty="0"/>
          </a:p>
          <a:p>
            <a:pPr marL="0" indent="0" algn="ctr">
              <a:buNone/>
            </a:pPr>
            <a:r>
              <a:rPr lang="en-US" sz="2600" b="1" dirty="0">
                <a:solidFill>
                  <a:srgbClr val="FFFFFF"/>
                </a:solidFill>
                <a:latin typeface="BIZ UDPGothic" pitchFamily="34" charset="0"/>
                <a:ea typeface="BIZ UDPGothic" pitchFamily="34" charset="-122"/>
                <a:cs typeface="BIZ UDPGothic" pitchFamily="34" charset="-120"/>
              </a:rPr>
              <a:t>― LDLと中性脂肪で戦略が違う</a:t>
            </a:r>
            <a:endParaRPr lang="en-US" sz="2600" dirty="0"/>
          </a:p>
        </p:txBody>
      </p:sp>
      <p:sp>
        <p:nvSpPr>
          <p:cNvPr id="6" name="Text 4"/>
          <p:cNvSpPr/>
          <p:nvPr/>
        </p:nvSpPr>
        <p:spPr>
          <a:xfrm>
            <a:off x="548640" y="4206240"/>
            <a:ext cx="8046720" cy="457200"/>
          </a:xfrm>
          <a:prstGeom prst="rect">
            <a:avLst/>
          </a:prstGeom>
          <a:noFill/>
          <a:ln/>
        </p:spPr>
        <p:txBody>
          <a:bodyPr wrap="square" lIns="0" tIns="0" rIns="0" bIns="0" rtlCol="0" anchor="ctr"/>
          <a:lstStyle/>
          <a:p>
            <a:pPr marL="0" indent="0" algn="ctr">
              <a:buNone/>
            </a:pPr>
            <a:r>
              <a:rPr lang="en-US" sz="1400" dirty="0">
                <a:solidFill>
                  <a:srgbClr val="B0BEC5"/>
                </a:solidFill>
                <a:latin typeface="BIZ UDPGothic" pitchFamily="34" charset="0"/>
                <a:ea typeface="BIZ UDPGothic" pitchFamily="34" charset="-122"/>
                <a:cs typeface="BIZ UDPGothic" pitchFamily="34" charset="-120"/>
              </a:rPr>
              <a:t>チャンネル登録で見逃さないようにしましょう</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5E20"/>
        </a:solidFill>
        <a:effectLst/>
      </p:bgPr>
    </p:bg>
    <p:spTree>
      <p:nvGrpSpPr>
        <p:cNvPr id="1" name=""/>
        <p:cNvGrpSpPr/>
        <p:nvPr/>
      </p:nvGrpSpPr>
      <p:grpSpPr>
        <a:xfrm>
          <a:off x="0" y="0"/>
          <a:ext cx="0" cy="0"/>
          <a:chOff x="0" y="0"/>
          <a:chExt cx="0" cy="0"/>
        </a:xfrm>
      </p:grpSpPr>
      <p:sp>
        <p:nvSpPr>
          <p:cNvPr id="2" name="Text 0"/>
          <p:cNvSpPr/>
          <p:nvPr/>
        </p:nvSpPr>
        <p:spPr>
          <a:xfrm>
            <a:off x="548640" y="1097280"/>
            <a:ext cx="8046720" cy="731520"/>
          </a:xfrm>
          <a:prstGeom prst="rect">
            <a:avLst/>
          </a:prstGeom>
          <a:noFill/>
          <a:ln/>
        </p:spPr>
        <p:txBody>
          <a:bodyPr wrap="square" lIns="0" tIns="0" rIns="0" bIns="0" rtlCol="0" anchor="ctr"/>
          <a:lstStyle/>
          <a:p>
            <a:pPr marL="0" indent="0" algn="ctr">
              <a:buNone/>
            </a:pPr>
            <a:r>
              <a:rPr lang="en-US" sz="3000" b="1" dirty="0">
                <a:solidFill>
                  <a:srgbClr val="FFFFFF"/>
                </a:solidFill>
                <a:latin typeface="BIZ UDPGothic" pitchFamily="34" charset="0"/>
                <a:ea typeface="BIZ UDPGothic" pitchFamily="34" charset="-122"/>
                <a:cs typeface="BIZ UDPGothic" pitchFamily="34" charset="-120"/>
              </a:rPr>
              <a:t>ご視聴ありがとうございました</a:t>
            </a:r>
            <a:endParaRPr lang="en-US" sz="3000" dirty="0"/>
          </a:p>
        </p:txBody>
      </p:sp>
      <p:sp>
        <p:nvSpPr>
          <p:cNvPr id="3" name="Shape 1"/>
          <p:cNvSpPr/>
          <p:nvPr/>
        </p:nvSpPr>
        <p:spPr>
          <a:xfrm>
            <a:off x="2743200" y="2011680"/>
            <a:ext cx="3657600" cy="0"/>
          </a:xfrm>
          <a:prstGeom prst="line">
            <a:avLst/>
          </a:prstGeom>
          <a:noFill/>
          <a:ln w="25400">
            <a:solidFill>
              <a:srgbClr val="FF8F00"/>
            </a:solidFill>
            <a:prstDash val="solid"/>
          </a:ln>
        </p:spPr>
        <p:txBody>
          <a:bodyPr/>
          <a:lstStyle/>
          <a:p>
            <a:endParaRPr lang="ja-JP" altLang="en-US"/>
          </a:p>
        </p:txBody>
      </p:sp>
      <p:sp>
        <p:nvSpPr>
          <p:cNvPr id="4" name="Text 2"/>
          <p:cNvSpPr/>
          <p:nvPr/>
        </p:nvSpPr>
        <p:spPr>
          <a:xfrm>
            <a:off x="1371600" y="2377440"/>
            <a:ext cx="6400800" cy="457200"/>
          </a:xfrm>
          <a:prstGeom prst="rect">
            <a:avLst/>
          </a:prstGeom>
          <a:noFill/>
          <a:ln/>
        </p:spPr>
        <p:txBody>
          <a:bodyPr wrap="square" lIns="0" tIns="0" rIns="0" bIns="0" rtlCol="0" anchor="ctr"/>
          <a:lstStyle/>
          <a:p>
            <a:pPr marL="0" indent="0" algn="ctr">
              <a:buNone/>
            </a:pPr>
            <a:r>
              <a:rPr lang="en-US" sz="1800" dirty="0">
                <a:solidFill>
                  <a:srgbClr val="E8F5E9"/>
                </a:solidFill>
                <a:latin typeface="BIZ UDPGothic" pitchFamily="34" charset="0"/>
                <a:ea typeface="BIZ UDPGothic" pitchFamily="34" charset="-122"/>
                <a:cs typeface="BIZ UDPGothic" pitchFamily="34" charset="-120"/>
              </a:rPr>
              <a:t>👍 高評価・チャンネル登録よろしくお願いします</a:t>
            </a:r>
            <a:endParaRPr lang="en-US" sz="1800" dirty="0"/>
          </a:p>
        </p:txBody>
      </p:sp>
      <p:sp>
        <p:nvSpPr>
          <p:cNvPr id="5" name="Text 3"/>
          <p:cNvSpPr/>
          <p:nvPr/>
        </p:nvSpPr>
        <p:spPr>
          <a:xfrm>
            <a:off x="1371600" y="3017520"/>
            <a:ext cx="6400800" cy="457200"/>
          </a:xfrm>
          <a:prstGeom prst="rect">
            <a:avLst/>
          </a:prstGeom>
          <a:noFill/>
          <a:ln/>
        </p:spPr>
        <p:txBody>
          <a:bodyPr wrap="square" lIns="0" tIns="0" rIns="0" bIns="0" rtlCol="0" anchor="ctr"/>
          <a:lstStyle/>
          <a:p>
            <a:pPr marL="0" indent="0" algn="ctr">
              <a:buNone/>
            </a:pPr>
            <a:r>
              <a:rPr lang="en-US" sz="1800" dirty="0">
                <a:solidFill>
                  <a:srgbClr val="E8F5E9"/>
                </a:solidFill>
                <a:latin typeface="BIZ UDPGothic" pitchFamily="34" charset="0"/>
                <a:ea typeface="BIZ UDPGothic" pitchFamily="34" charset="-122"/>
                <a:cs typeface="BIZ UDPGothic" pitchFamily="34" charset="-120"/>
              </a:rPr>
              <a:t>📋 再生リストから他の回もご覧ください</a:t>
            </a:r>
            <a:endParaRPr lang="en-US" sz="1800" dirty="0"/>
          </a:p>
        </p:txBody>
      </p:sp>
      <p:sp>
        <p:nvSpPr>
          <p:cNvPr id="6" name="Text 4"/>
          <p:cNvSpPr/>
          <p:nvPr/>
        </p:nvSpPr>
        <p:spPr>
          <a:xfrm>
            <a:off x="1371600" y="3657600"/>
            <a:ext cx="6400800" cy="457200"/>
          </a:xfrm>
          <a:prstGeom prst="rect">
            <a:avLst/>
          </a:prstGeom>
          <a:noFill/>
          <a:ln/>
        </p:spPr>
        <p:txBody>
          <a:bodyPr wrap="square" lIns="0" tIns="0" rIns="0" bIns="0" rtlCol="0" anchor="ctr"/>
          <a:lstStyle/>
          <a:p>
            <a:pPr marL="0" indent="0" algn="ctr">
              <a:buNone/>
            </a:pPr>
            <a:r>
              <a:rPr lang="en-US" sz="1800" dirty="0">
                <a:solidFill>
                  <a:srgbClr val="E8F5E9"/>
                </a:solidFill>
                <a:latin typeface="BIZ UDPGothic" pitchFamily="34" charset="0"/>
                <a:ea typeface="BIZ UDPGothic" pitchFamily="34" charset="-122"/>
                <a:cs typeface="BIZ UDPGothic" pitchFamily="34" charset="-120"/>
              </a:rPr>
              <a:t>💬 コメント欄で質問・リクエストお待ちしています</a:t>
            </a:r>
            <a:endParaRPr lang="en-US" sz="1800" dirty="0"/>
          </a:p>
        </p:txBody>
      </p:sp>
      <p:sp>
        <p:nvSpPr>
          <p:cNvPr id="7" name="Text 5"/>
          <p:cNvSpPr/>
          <p:nvPr/>
        </p:nvSpPr>
        <p:spPr>
          <a:xfrm>
            <a:off x="548640" y="4389120"/>
            <a:ext cx="8046720" cy="365760"/>
          </a:xfrm>
          <a:prstGeom prst="rect">
            <a:avLst/>
          </a:prstGeom>
          <a:noFill/>
          <a:ln/>
        </p:spPr>
        <p:txBody>
          <a:bodyPr wrap="square" lIns="0" tIns="0" rIns="0" bIns="0" rtlCol="0" anchor="ctr"/>
          <a:lstStyle/>
          <a:p>
            <a:pPr marL="0" indent="0" algn="ctr">
              <a:buNone/>
            </a:pPr>
            <a:r>
              <a:rPr lang="en-US" sz="1200" dirty="0">
                <a:solidFill>
                  <a:srgbClr val="A5D6A7"/>
                </a:solidFill>
                <a:latin typeface="BIZ UDPGothic" pitchFamily="34" charset="0"/>
                <a:ea typeface="BIZ UDPGothic" pitchFamily="34" charset="-122"/>
                <a:cs typeface="BIZ UDPGothic" pitchFamily="34" charset="-120"/>
              </a:rPr>
              <a:t>外来でそのまま使える食事指導シリーズ</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552</Words>
  <Application>Microsoft Office PowerPoint</Application>
  <PresentationFormat>画面に合わせる (16:9)</PresentationFormat>
  <Paragraphs>191</Paragraphs>
  <Slides>15</Slides>
  <Notes>15</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15</vt:i4>
      </vt:variant>
    </vt:vector>
  </HeadingPairs>
  <TitlesOfParts>
    <vt:vector size="19" baseType="lpstr">
      <vt:lpstr>BIZ UDPGothic</vt:lpstr>
      <vt:lpstr>Arial</vt:lpstr>
      <vt:lpstr>Segoe UI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食事指導シリーズ 第2回 高血圧</dc:title>
  <dc:subject>PptxGenJS Presentation</dc:subject>
  <dc:creator>今村久司</dc:creator>
  <cp:lastModifiedBy>久司 今村</cp:lastModifiedBy>
  <cp:revision>1</cp:revision>
  <dcterms:created xsi:type="dcterms:W3CDTF">2026-03-25T21:37:13Z</dcterms:created>
  <dcterms:modified xsi:type="dcterms:W3CDTF">2026-03-26T00:29:52Z</dcterms:modified>
</cp:coreProperties>
</file>