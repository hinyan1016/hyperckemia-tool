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第1回 / 全10回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食事指導は「何を禁止するか」ではなく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「何を守るか」から始める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外来で土台になる考え方を整理する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よくある食事指導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188720"/>
            <a:ext cx="109728" cy="73152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1887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「血圧が高いので塩分を減らしましょう」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94560"/>
            <a:ext cx="109728" cy="73152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1945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「血糖が高いので甘いものを控えましょう」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200400"/>
            <a:ext cx="109728" cy="731520"/>
          </a:xfrm>
          <a:prstGeom prst="round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2004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「コレステロールが高いので油ものはやめましょう」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371600" y="4297680"/>
            <a:ext cx="6400800" cy="457200"/>
          </a:xfrm>
          <a:prstGeom prst="roundRect">
            <a:avLst>
              <a:gd name="adj" fmla="val 20000"/>
            </a:avLst>
          </a:prstGeom>
          <a:solidFill>
            <a:srgbClr val="FFF3CD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間違いではないが、これだけでは食事指導はうまくいかない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食事指導がうまくいかない3つの理由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640080" cy="6400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説明が抽象的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1508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「塩分を控えて」→みそ汁は？漬物は？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「甘いものを控えて」→主食は減らすの？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制限ばかりが前に出る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26974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「ダメなものを増やす話」になり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毎日のことなので長く続かない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65760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44A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低栄養の見落とし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37360" y="38862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制限が強すぎると高齢者・複数疾患で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体重減少・筋肉量低下を招く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食事は検査値だけでは決められない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年齢・体格・筋肉量・臓器機能・嚥下・生活背景を総合して「その人に合った食事」が見える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7744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Case A: 制限の積み重ね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高血圧＋糖尿病＋肥満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減塩＋糖質制限＋脂質制限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制限が多すぎて続かない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37744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Case B: 制限が逆効果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腎臓病＋食欲低下＋体重減少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たんぱく制限＋減塩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低栄養が進行してしまう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食事指導の出発点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まず確認したい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7つの項目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743200" y="3657600"/>
            <a:ext cx="36576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病気ごとの細かい話に入る前に、外来でまず見ておくべきこと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まず確認したい7つの項目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体重と体重変化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89120" y="1005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意図しない増減がないか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527048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270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食塩の取り方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89120" y="15270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高血圧・腎臓病・心不全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482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0482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食事量全体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89120" y="20482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多すぎ or 少なすぎ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569464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694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5694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たんぱく質の取り方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89120" y="25694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CKD vs フレイル・肝硬変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090672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90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0906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水分の取り方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389120" y="3090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脱水 vs 心不全・腎障害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食形態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389120" y="3611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嚥下・咀嚼・術後の適合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65760" y="4133088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330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4133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生活背景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38912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実行可能性の評価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体重と体重変化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単に「重いか軽いか」ではなく、ここ数か月での変化が重要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体重が増えている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・食事量の見直し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・間食・甘い飲み物の確認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・食べる速度・タイミング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・活動量との釣り合い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1031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体重が減っている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・まず低栄養を疑う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・制限の前に「十分食べているか」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・高齢者・慢性疾患では特に注意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・筋肉量低下のサインを見る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食塩  ③ 食事量  ④ たんぱく質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🧂 食塩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自覚なく多いことが多い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隠れ塩分源: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・みそ汁、麺の汁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・漬物、練り物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・惣菜、弁当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・カップ麺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FF8F0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🍱 食事量全体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種類より総量が大事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確認すべき点: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・主食/主菜/副菜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・間食・夜食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・甘い飲み物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・アルコール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🥩 たんぱく質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一律に制限は危険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CKD → 制限が必要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 → 不足が問題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フレイル → 不足が問題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肝硬変 → 不足が問題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術後 → 不足が問題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⑤ 水分  ⑥ 食形態  ⑦ 生活背景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💧 水分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見落としやすい項目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脱水リスク: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・高齢者・下痢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・嚥下障害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制限が必要: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・心不全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・進行腎障害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6A08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🍽️ 食形態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安全に食べられるか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・嚥下障害の有無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・咀嚼力・入れ歯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・術後の食事制限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・少量頻回の必要性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7F8C8D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🏠 生活背景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実行可能性が変わる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考慮すべき点: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・一人暮らし/調理力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・仕事の帰宅時間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・家族との食事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・買い物のしやすさ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制限だけの指導が危ない理由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109728" cy="73152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📉 糖尿病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6080" y="10972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主食を極端に減らす → 食事量全体が落ちる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11680"/>
            <a:ext cx="109728" cy="73152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💪 腎臓病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26080" y="20116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たんぱく制限しすぎ → 筋肉量が落ちる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926080"/>
            <a:ext cx="109728" cy="73152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嚥下障害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260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食べやすいものだけ → 水分・栄養不足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FF3C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特に高齢者：「食べすぎ」より「食べなさすぎ」の方が深刻になることがある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食事指導で常に考える2つの軸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4864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何を減らすべきか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・過剰な塩分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・過剰なカロリー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・病態に応じた制限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（たんぱく質、カリウム等）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48640"/>
          </a:xfrm>
          <a:prstGeom prst="roundRect">
            <a:avLst>
              <a:gd name="adj" fmla="val 25000"/>
            </a:avLst>
          </a:prstGeom>
          <a:solidFill>
            <a:srgbClr val="FF8F0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何を不足させてはいけないか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・十分なエネルギー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・必要なたんぱく質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・水分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・ビタミン・微量栄養素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371600" y="3840480"/>
            <a:ext cx="6400800" cy="731520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840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このバランスが崩れると、食事療法はうまくいかない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外来で使いやすい食事指導の進め方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1887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069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1回で変える項目は1〜2つに絞る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4356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一度にたくさん → 続かない。具体的な行動目標1つから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19842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数字より行動に落とす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3500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「減塩」→「みそ汁は1日1回」「麺の汁は残す」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017520"/>
            <a:ext cx="502920" cy="50292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28986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80B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できていることを確認する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2644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問題探しだけでなく、守れている点を評価 → 焦点が絞れる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38130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44A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次回につながる指導にする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41788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前回からの変化を確認。うまくいかなければ目標を再設定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具体的な行動目標の例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✕ 抽象的な指示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・「塩分を控えてください」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・「甘いものを控えてください」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・「バランスよく食べてください」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・「カロリーに気をつけて」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○ 具体的な行動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・「みそ汁は1日1回に」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・「毎日の缶コーヒーをやめる」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・「麺の汁は半分残す」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・「夜食の菓子パンをやめる」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栄養士につなぐべき場面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515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腎臓病で塩分・たんぱく質・カリウムの整理が必要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肝硬変で低栄養や筋肉量低下が気になる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消化管手術後で食事量が安定しない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34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嚥下障害があり食形態・水分調整が必要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290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複数の生活習慣病が重なり優先順位の整理が困難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233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高齢で体重減少・低栄養が疑われる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4572000"/>
            <a:ext cx="7315200" cy="411480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医師が方向性を示し、栄養士が生活に落とし込む ― この連携が重要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このシリーズで扱うこと（全10回）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51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15568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総論（今回）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316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「何を守るか」から始める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251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847088"/>
            <a:ext cx="402336" cy="40233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7556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048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減塩を中心に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251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578608"/>
            <a:ext cx="402336" cy="40233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487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脂質異常症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779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脂質の「質」を考える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4251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310128"/>
            <a:ext cx="402336" cy="402336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511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食事全体の組み立て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4251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041648"/>
            <a:ext cx="402336" cy="402336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950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肥満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242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崩れにくい食べ方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1005840"/>
            <a:ext cx="4251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115568"/>
            <a:ext cx="402336" cy="402336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0241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CKD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1316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制限と低栄養予防の両立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1737360"/>
            <a:ext cx="4251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1847088"/>
            <a:ext cx="402336" cy="402336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17556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5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肝疾患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2048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脂肪肝と肝硬変で真逆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09160" y="2468880"/>
            <a:ext cx="4251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2578608"/>
            <a:ext cx="402336" cy="402336"/>
          </a:xfrm>
          <a:prstGeom prst="ellipse">
            <a:avLst/>
          </a:prstGeom>
          <a:solidFill>
            <a:srgbClr val="7F8C8D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2487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嚥下障害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49240" y="2779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食形態と安全な食べ方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09160" y="3200400"/>
            <a:ext cx="4251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3310128"/>
            <a:ext cx="402336" cy="402336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49240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術後消化管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49240" y="3511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段階的な食事拡大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09160" y="3931920"/>
            <a:ext cx="4251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4041648"/>
            <a:ext cx="402336" cy="402336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349240" y="3950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フレイル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349240" y="4242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制限より「守る」優先順位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食事指導は「禁止の列挙」ではなく「何を優先して守るか」を決めること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830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83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まず7つの項目を確認：体重変化・食塩・食事量・たんぱく質・水分・食形態・生活背景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688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制限だけでは低栄養を招く ― 「減らすもの」と「守るもの」の両方を考える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546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154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1回で変える目標は1〜2つ、抽象的な指示ではなく具体的な行動に落とす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複雑な症例は栄養士と連携 ― 医師が方向性、栄養士が生活に落とし込む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第1回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次回予告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1828800"/>
          </a:xfrm>
          <a:prstGeom prst="roundRect">
            <a:avLst>
              <a:gd name="adj" fmla="val 7500"/>
            </a:avLst>
          </a:prstGeom>
          <a:solidFill>
            <a:srgbClr val="1B5E20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第2回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高血圧の食事指導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減塩だけでは不十分な理由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チャンネル登録で見逃さないようにしましょう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2011680"/>
            <a:ext cx="36576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👍 高評価・チャンネル登録よろしくお願いします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📋 再生リストから他の回もご覧ください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💬 コメント欄で質問・リクエストお待ちしています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食事指導シリーズ 第1回 総論</dc:title>
  <dc:subject>PptxGenJS Presentation</dc:subject>
  <dc:creator>今村久司</dc:creator>
  <cp:lastModifiedBy>今村久司</cp:lastModifiedBy>
  <cp:revision>1</cp:revision>
  <dcterms:created xsi:type="dcterms:W3CDTF">2026-03-25T21:05:42Z</dcterms:created>
  <dcterms:modified xsi:type="dcterms:W3CDTF">2026-03-25T21:05:42Z</dcterms:modified>
</cp:coreProperties>
</file>