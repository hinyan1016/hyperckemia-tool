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5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8F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8F0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5D6A7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外来でそのまま使える食事指導シリーズ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474720" y="1097280"/>
            <a:ext cx="2194560" cy="457200"/>
          </a:xfrm>
          <a:prstGeom prst="roundRect">
            <a:avLst>
              <a:gd name="adj" fmla="val 50000"/>
            </a:avLst>
          </a:prstGeom>
          <a:solidFill>
            <a:srgbClr val="FF8F00"/>
          </a:solidFill>
          <a:ln/>
        </p:spPr>
      </p:sp>
      <p:sp>
        <p:nvSpPr>
          <p:cNvPr id="6" name="Text 4"/>
          <p:cNvSpPr/>
          <p:nvPr/>
        </p:nvSpPr>
        <p:spPr>
          <a:xfrm>
            <a:off x="3474720" y="10972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第8回 / 全10回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嚥下障害の食事指導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― 食形態選択と誤嚥予防の実際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2286000" y="3291840"/>
            <a:ext cx="4572000" cy="0"/>
          </a:xfrm>
          <a:prstGeom prst="line">
            <a:avLst/>
          </a:prstGeom>
          <a:noFill/>
          <a:ln w="25400">
            <a:solidFill>
              <a:srgbClr val="FF8F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5661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B0BEC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やわらかい食事が安全とは限らない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BE18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食事指導の目的は誤嚥予防だけではない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14400" y="1097280"/>
            <a:ext cx="73152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88720" y="1188720"/>
            <a:ext cx="457200" cy="457200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920240" y="109728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誤嚥や窒息のリスクを下げる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1874520"/>
            <a:ext cx="73152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188720" y="1965960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920240" y="187452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十分な栄養と水分を保つ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914400" y="2651760"/>
            <a:ext cx="73152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188720" y="2743200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920240" y="265176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3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できる限り経口摂取を続ける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14400" y="3429000"/>
            <a:ext cx="73152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188720" y="352044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118872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920240" y="342900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食べる負担や苦痛を減らす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914400" y="4297680"/>
            <a:ext cx="7315200" cy="502920"/>
          </a:xfrm>
          <a:prstGeom prst="roundRect">
            <a:avLst>
              <a:gd name="adj" fmla="val 18182"/>
            </a:avLst>
          </a:prstGeom>
          <a:solidFill>
            <a:srgbClr val="FFF3CD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2976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8F0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この複数の目標を同時に考える必要がある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5D6A7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外来でそのまま使える食事指導シリーズ  第8回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食事指導の前に確認すべき項目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768096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005840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□  背景疾患は何か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1481328"/>
            <a:ext cx="7680960" cy="402336"/>
          </a:xfrm>
          <a:prstGeom prst="roundRect">
            <a:avLst>
              <a:gd name="adj" fmla="val 13636"/>
            </a:avLst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1481328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□  むせるのは食べるときか食後か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1956816"/>
            <a:ext cx="768096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05840" y="1956816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□  固形物と液体のどちらが苦手か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2432304"/>
            <a:ext cx="7680960" cy="402336"/>
          </a:xfrm>
          <a:prstGeom prst="roundRect">
            <a:avLst>
              <a:gd name="adj" fmla="val 13636"/>
            </a:avLst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05840" y="2432304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□  体重減少・水分摂取量の低下はあるか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1520" y="2907792"/>
            <a:ext cx="768096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05840" y="2907792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□  肺炎を繰り返していないか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1520" y="3383280"/>
            <a:ext cx="7680960" cy="402336"/>
          </a:xfrm>
          <a:prstGeom prst="roundRect">
            <a:avLst>
              <a:gd name="adj" fmla="val 13636"/>
            </a:avLst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005840" y="3383280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□  口腔内の清潔・義歯の状態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1520" y="3858768"/>
            <a:ext cx="768096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05840" y="3858768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□  食事中の姿勢・一口量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31520" y="4334256"/>
            <a:ext cx="7680960" cy="402336"/>
          </a:xfrm>
          <a:prstGeom prst="roundRect">
            <a:avLst>
              <a:gd name="adj" fmla="val 13636"/>
            </a:avLst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005840" y="4334256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□  食べる意欲が保てているか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5D6A7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外来でそのまま使える食事指導シリーズ  第8回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「やわらかい」と「安全」は同じではない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7680960" cy="548640"/>
          </a:xfrm>
          <a:prstGeom prst="roundRect">
            <a:avLst>
              <a:gd name="adj" fmla="val 16667"/>
            </a:avLst>
          </a:prstGeom>
          <a:solidFill>
            <a:srgbClr val="F8D7D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051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食形態の判断は「噛みやすそうか」だけでは不十分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76809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920240"/>
            <a:ext cx="91440" cy="548640"/>
          </a:xfrm>
          <a:prstGeom prst="roundRect">
            <a:avLst/>
          </a:prstGeom>
          <a:solidFill>
            <a:srgbClr val="BE185D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192024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🔵  まとまるか ― 口の中で食塊を作れるか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2606040"/>
            <a:ext cx="76809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606040"/>
            <a:ext cx="91440" cy="548640"/>
          </a:xfrm>
          <a:prstGeom prst="roundRect">
            <a:avLst/>
          </a:prstGeom>
          <a:solidFill>
            <a:srgbClr val="DB2777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260604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💥  ばらけないか ― 細かく散らばらないか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1520" y="3291840"/>
            <a:ext cx="76809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3291840"/>
            <a:ext cx="91440" cy="548640"/>
          </a:xfrm>
          <a:prstGeom prst="round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329184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💨  速く流れ込みすぎないか ― 嚥下反射の前に流入しないか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31520" y="3977640"/>
            <a:ext cx="76809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3977640"/>
            <a:ext cx="91440" cy="548640"/>
          </a:xfrm>
          <a:prstGeom prst="roundRect">
            <a:avLst/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397764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📎  咽頭に張り付きすぎないか ― 残留の原因にならないか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31520" y="46634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例: 豆腐＝崩れやすい / パン＝ぱさつく / みそ汁の具＝液体と固形が混在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5D6A7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外来でそのまま使える食事指導シリーズ  第8回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避けたい食品の「特徴」で覚える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96012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🏜️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188720" y="1069848"/>
            <a:ext cx="1645920" cy="384048"/>
          </a:xfrm>
          <a:prstGeom prst="roundRect">
            <a:avLst>
              <a:gd name="adj" fmla="val 23810"/>
            </a:avLst>
          </a:prstGeom>
          <a:solidFill>
            <a:srgbClr val="D97706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106984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ぱさつく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017520" y="9601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食パン、ゆで卵の黄身、焼き魚、いも類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1709928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1709928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💥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188720" y="1819656"/>
            <a:ext cx="1645920" cy="384048"/>
          </a:xfrm>
          <a:prstGeom prst="roundRect">
            <a:avLst>
              <a:gd name="adj" fmla="val 23810"/>
            </a:avLst>
          </a:prstGeom>
          <a:solidFill>
            <a:srgbClr val="DB2777"/>
          </a:solidFill>
          <a:ln/>
        </p:spPr>
      </p:sp>
      <p:sp>
        <p:nvSpPr>
          <p:cNvPr id="12" name="Text 10"/>
          <p:cNvSpPr/>
          <p:nvPr/>
        </p:nvSpPr>
        <p:spPr>
          <a:xfrm>
            <a:off x="1188720" y="181965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ばらける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017520" y="1709928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そぼろ、ひき肉、炒り卵、クッキー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2459736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" y="2459736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📎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188720" y="2569464"/>
            <a:ext cx="1645920" cy="384048"/>
          </a:xfrm>
          <a:prstGeom prst="roundRect">
            <a:avLst>
              <a:gd name="adj" fmla="val 23810"/>
            </a:avLst>
          </a:prstGeom>
          <a:solidFill>
            <a:srgbClr val="DC3545"/>
          </a:solidFill>
          <a:ln/>
        </p:spPr>
      </p:sp>
      <p:sp>
        <p:nvSpPr>
          <p:cNvPr id="17" name="Text 15"/>
          <p:cNvSpPr/>
          <p:nvPr/>
        </p:nvSpPr>
        <p:spPr>
          <a:xfrm>
            <a:off x="1188720" y="256946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張り付く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017520" y="2459736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もち、団子、のり、わかめ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200" y="3209544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080" y="3209544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💧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188720" y="3319272"/>
            <a:ext cx="1645920" cy="384048"/>
          </a:xfrm>
          <a:prstGeom prst="roundRect">
            <a:avLst>
              <a:gd name="adj" fmla="val 23810"/>
            </a:avLst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1188720" y="331927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液体+固形が混ざる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017520" y="3209544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みそ汁の具、果物入りゼリー、シリアル入りヨーグルト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57200" y="3959352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0080" y="3959352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🌶️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188720" y="4069080"/>
            <a:ext cx="1645920" cy="384048"/>
          </a:xfrm>
          <a:prstGeom prst="roundRect">
            <a:avLst>
              <a:gd name="adj" fmla="val 23810"/>
            </a:avLst>
          </a:prstGeom>
          <a:solidFill>
            <a:srgbClr val="BE185D"/>
          </a:solidFill>
          <a:ln/>
        </p:spPr>
      </p:sp>
      <p:sp>
        <p:nvSpPr>
          <p:cNvPr id="27" name="Text 25"/>
          <p:cNvSpPr/>
          <p:nvPr/>
        </p:nvSpPr>
        <p:spPr>
          <a:xfrm>
            <a:off x="1188720" y="406908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酸味・刺激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017520" y="3959352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患者によっては咳込みが誘発される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0" name="Text 28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5D6A7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外来でそのまま使える食事指導シリーズ  第8回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とろみは有用だが万能ではない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3931920" cy="457200"/>
          </a:xfrm>
          <a:prstGeom prst="roundRect">
            <a:avLst>
              <a:gd name="adj" fmla="val 20000"/>
            </a:avLst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✓ メリット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169164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・流れ込みが速すぎる液体を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 調整しやすい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・一口量を管理しやすい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・患者によってはむせが減る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93192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97280"/>
            <a:ext cx="3931920" cy="457200"/>
          </a:xfrm>
          <a:prstGeom prst="roundRect">
            <a:avLst>
              <a:gd name="adj" fmla="val 20000"/>
            </a:avLst>
          </a:prstGeom>
          <a:solidFill>
            <a:srgbClr val="DC3545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⚠ デメリット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029200" y="169164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・口腔内や咽頭に残りやすい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・飲みにくさ → 水分摂取量↓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・作り方で粘度がばらつく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・嗜好性が低く嫌がる人がいる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14400" y="4023360"/>
            <a:ext cx="7315200" cy="502920"/>
          </a:xfrm>
          <a:prstGeom prst="roundRect">
            <a:avLst>
              <a:gd name="adj" fmla="val 18182"/>
            </a:avLst>
          </a:prstGeom>
          <a:solidFill>
            <a:srgbClr val="FFF3CD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0233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8F0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「つければ安全」ではなく、適切な濃さでその人に合っているか確認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5D6A7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外来でそのまま使える食事指導シリーズ  第8回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BE18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姿勢・一口量・食事環境の工夫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05840"/>
            <a:ext cx="109728" cy="731520"/>
          </a:xfrm>
          <a:prstGeom prst="roundRect">
            <a:avLst/>
          </a:prstGeom>
          <a:solidFill>
            <a:srgbClr val="BE185D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0241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E185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🪑 姿勢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0" y="1024128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頸部前屈が有効なことも。体幹の傾き、頸部過伸展は避ける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1874520"/>
            <a:ext cx="80467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874520"/>
            <a:ext cx="109728" cy="731520"/>
          </a:xfrm>
          <a:prstGeom prst="roundRect">
            <a:avLst/>
          </a:prstGeom>
          <a:solidFill>
            <a:srgbClr val="D97706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8928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🥄 一口量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200400" y="1892808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大きすぎると負担増。介助者が急がせないことも重要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2743200"/>
            <a:ext cx="80467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743200"/>
            <a:ext cx="109728" cy="731520"/>
          </a:xfrm>
          <a:prstGeom prst="round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7614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⏱️ 食事ペース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200400" y="2761488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次の一口の前にきちんと飲み込めているか確認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3611880"/>
            <a:ext cx="80467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611880"/>
            <a:ext cx="109728" cy="731520"/>
          </a:xfrm>
          <a:prstGeom prst="round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6301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🧘 注意集中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200400" y="3630168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会話が多すぎる、TV視聴、眠気 → 誤嚥リスク↑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5D6A7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外来でそのまま使える食事指導シリーズ  第8回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口腔ケアと栄養・水分管理も食事指導の一部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3931920" cy="457200"/>
          </a:xfrm>
          <a:prstGeom prst="roundRect">
            <a:avLst>
              <a:gd name="adj" fmla="val 20000"/>
            </a:avLst>
          </a:prstGeom>
          <a:solidFill>
            <a:srgbClr val="BE185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🦷 口腔ケア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1691640"/>
            <a:ext cx="3383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・口腔不潔 → 誤嚥時の細菌負荷↑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 → 肺炎リスク↑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・食前後の口腔ケア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・義歯の適合確認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・口腔乾燥への対応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・歯科・歯科衛生士との連携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93192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97280"/>
            <a:ext cx="3931920" cy="457200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⚖️ 栄養・水分管理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029200" y="1691640"/>
            <a:ext cx="3383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・食形態↓ → 食欲↓ → 摂取量↓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・常に確認: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 □ 体重が落ちていないか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 □ 水分摂取量は足りているか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・とろみ嫌い → 水分不足 → 脱水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 せん妄・便秘・腎機能悪化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14400" y="3840480"/>
            <a:ext cx="7315200" cy="502920"/>
          </a:xfrm>
          <a:prstGeom prst="roundRect">
            <a:avLst>
              <a:gd name="adj" fmla="val 18182"/>
            </a:avLst>
          </a:prstGeom>
          <a:solidFill>
            <a:srgbClr val="FFF3CD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8404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8F0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安全性だけに注目して水分不足を見逃さない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5D6A7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外来でそのまま使える食事指導シリーズ  第8回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よくある誤解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0241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3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✕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10241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やわらかい食事なら安全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3898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7D3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ばらける・張り付く・液体と固形が混ざるものは安全とは限らない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19385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3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✕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19385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とろみをつければ安心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23042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7D3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残留を増やしたり水分摂取量を落としたりすることがある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834640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28529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3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✕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88720" y="28529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むせなければ問題ない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32186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7D3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不顕性誤嚥ではむせがない。湿った声、食後の痰、反復する発熱も手がかり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749040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" y="37673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3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✕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88720" y="37673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誤嚥予防だけ考えればよい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88720" y="41330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7D3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低栄養、脱水、食べる意欲の低下も大きな問題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5D6A7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外来でそのまま使える食事指導シリーズ  第8回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外来で伝える行動目標の例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7680960" cy="502920"/>
          </a:xfrm>
          <a:prstGeom prst="roundRect">
            <a:avLst>
              <a:gd name="adj" fmla="val 18182"/>
            </a:avLst>
          </a:prstGeom>
          <a:solidFill>
            <a:srgbClr val="E8F5E9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0515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5E2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「むせるから食べない」ではなく「どうすれば安全に食べ続けられるか」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371600" y="1828800"/>
            <a:ext cx="640080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71600" y="1828800"/>
            <a:ext cx="91440" cy="475488"/>
          </a:xfrm>
          <a:prstGeom prst="roundRect">
            <a:avLst/>
          </a:prstGeom>
          <a:solidFill>
            <a:srgbClr val="FF8F00"/>
          </a:solidFill>
          <a:ln/>
        </p:spPr>
      </p:sp>
      <p:sp>
        <p:nvSpPr>
          <p:cNvPr id="8" name="Text 6"/>
          <p:cNvSpPr/>
          <p:nvPr/>
        </p:nvSpPr>
        <p:spPr>
          <a:xfrm>
            <a:off x="1737360" y="1828800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▸ ばらける食品・張り付く食品を避ける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371600" y="2423160"/>
            <a:ext cx="640080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371600" y="2423160"/>
            <a:ext cx="91440" cy="475488"/>
          </a:xfrm>
          <a:prstGeom prst="roundRect">
            <a:avLst/>
          </a:prstGeom>
          <a:solidFill>
            <a:srgbClr val="FF8F00"/>
          </a:solidFill>
          <a:ln/>
        </p:spPr>
      </p:sp>
      <p:sp>
        <p:nvSpPr>
          <p:cNvPr id="11" name="Text 9"/>
          <p:cNvSpPr/>
          <p:nvPr/>
        </p:nvSpPr>
        <p:spPr>
          <a:xfrm>
            <a:off x="1737360" y="2423160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▸ 一口量を少なくする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1371600" y="3017520"/>
            <a:ext cx="640080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371600" y="3017520"/>
            <a:ext cx="91440" cy="475488"/>
          </a:xfrm>
          <a:prstGeom prst="roundRect">
            <a:avLst/>
          </a:prstGeom>
          <a:solidFill>
            <a:srgbClr val="FF8F00"/>
          </a:solidFill>
          <a:ln/>
        </p:spPr>
      </p:sp>
      <p:sp>
        <p:nvSpPr>
          <p:cNvPr id="14" name="Text 12"/>
          <p:cNvSpPr/>
          <p:nvPr/>
        </p:nvSpPr>
        <p:spPr>
          <a:xfrm>
            <a:off x="1737360" y="3017520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▸ 飲み込んでから次の一口にする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1371600" y="3611880"/>
            <a:ext cx="640080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371600" y="3611880"/>
            <a:ext cx="91440" cy="475488"/>
          </a:xfrm>
          <a:prstGeom prst="roundRect">
            <a:avLst/>
          </a:prstGeom>
          <a:solidFill>
            <a:srgbClr val="FF8F00"/>
          </a:solidFill>
          <a:ln/>
        </p:spPr>
      </p:sp>
      <p:sp>
        <p:nvSpPr>
          <p:cNvPr id="17" name="Text 15"/>
          <p:cNvSpPr/>
          <p:nvPr/>
        </p:nvSpPr>
        <p:spPr>
          <a:xfrm>
            <a:off x="1737360" y="3611880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▸ 食後すぐに横にならない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1371600" y="4206240"/>
            <a:ext cx="640080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371600" y="4206240"/>
            <a:ext cx="91440" cy="475488"/>
          </a:xfrm>
          <a:prstGeom prst="roundRect">
            <a:avLst/>
          </a:prstGeom>
          <a:solidFill>
            <a:srgbClr val="FF8F00"/>
          </a:solidFill>
          <a:ln/>
        </p:spPr>
      </p:sp>
      <p:sp>
        <p:nvSpPr>
          <p:cNvPr id="20" name="Text 18"/>
          <p:cNvSpPr/>
          <p:nvPr/>
        </p:nvSpPr>
        <p:spPr>
          <a:xfrm>
            <a:off x="1737360" y="4206240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▸ 食前後の口腔ケアを行う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5D6A7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外来でそのまま使える食事指導シリーズ  第8回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まとめ — 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768096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097280"/>
            <a:ext cx="109728" cy="548640"/>
          </a:xfrm>
          <a:prstGeom prst="roundRect">
            <a:avLst/>
          </a:prstGeom>
          <a:solidFill>
            <a:srgbClr val="FF8F00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0972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✓  やわらかいことと安全なことは同じではない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1783080"/>
            <a:ext cx="768096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783080"/>
            <a:ext cx="109728" cy="548640"/>
          </a:xfrm>
          <a:prstGeom prst="roundRect">
            <a:avLst/>
          </a:prstGeom>
          <a:solidFill>
            <a:srgbClr val="FF8F00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17830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✓  食形態はまとまり・ばらつき・流れやすさ・張り付きで考える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31520" y="2468880"/>
            <a:ext cx="768096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2468880"/>
            <a:ext cx="109728" cy="548640"/>
          </a:xfrm>
          <a:prstGeom prst="roundRect">
            <a:avLst/>
          </a:prstGeom>
          <a:solidFill>
            <a:srgbClr val="FF8F00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24688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✓  とろみは有用だが万能ではない ― 水分不足に注意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31520" y="3154680"/>
            <a:ext cx="768096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3154680"/>
            <a:ext cx="109728" cy="548640"/>
          </a:xfrm>
          <a:prstGeom prst="roundRect">
            <a:avLst/>
          </a:prstGeom>
          <a:solidFill>
            <a:srgbClr val="FF8F00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31546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✓  姿勢・一口量・口腔ケアまで含めて調整する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31520" y="3840480"/>
            <a:ext cx="768096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3840480"/>
            <a:ext cx="109728" cy="548640"/>
          </a:xfrm>
          <a:prstGeom prst="roundRect">
            <a:avLst/>
          </a:prstGeom>
          <a:solidFill>
            <a:srgbClr val="FF8F00"/>
          </a:solidFill>
          <a:ln/>
        </p:spPr>
      </p:sp>
      <p:sp>
        <p:nvSpPr>
          <p:cNvPr id="18" name="Text 16"/>
          <p:cNvSpPr/>
          <p:nvPr/>
        </p:nvSpPr>
        <p:spPr>
          <a:xfrm>
            <a:off x="1097280" y="38404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✓  誤嚥予防だけでなく栄養・水分確保との両立が最重要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5D6A7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外来でそのまま使える食事指導シリーズ  第8回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5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5D6A7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次回予告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1371600" y="1828800"/>
            <a:ext cx="6400800" cy="1828800"/>
          </a:xfrm>
          <a:prstGeom prst="roundRect">
            <a:avLst>
              <a:gd name="adj" fmla="val 7500"/>
            </a:avLst>
          </a:prstGeom>
          <a:solidFill>
            <a:srgbClr val="1B5E20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20116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8F0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第9回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0" y="26517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消化管術後の食事指導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― 少量頻回と症状別対応の考え方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BEC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チャンネル登録で見逃さないようにしましょう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5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ご視聴ありがとうございました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743200" y="2011680"/>
            <a:ext cx="3657600" cy="0"/>
          </a:xfrm>
          <a:prstGeom prst="line">
            <a:avLst/>
          </a:prstGeom>
          <a:noFill/>
          <a:ln w="25400">
            <a:solidFill>
              <a:srgbClr val="FF8F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0" y="23774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F5E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👍 高評価・チャンネル登録よろしくお願いします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30175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F5E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📋 再生リストから他の回もご覧ください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36576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F5E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💬 コメント欄で質問・リクエストお待ちしています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5D6A7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外来でそのまま使える食事指導シリーズ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食事指導シリーズ 第8回 嚥下障害</dc:title>
  <dc:subject>PptxGenJS Presentation</dc:subject>
  <dc:creator>今村久司</dc:creator>
  <cp:lastModifiedBy>今村久司</cp:lastModifiedBy>
  <cp:revision>1</cp:revision>
  <dcterms:created xsi:type="dcterms:W3CDTF">2026-03-26T02:18:36Z</dcterms:created>
  <dcterms:modified xsi:type="dcterms:W3CDTF">2026-03-26T02:18:36Z</dcterms:modified>
</cp:coreProperties>
</file>