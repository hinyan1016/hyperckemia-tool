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5E2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8F00"/>
          </a:solidFill>
          <a:ln/>
        </p:spPr>
      </p:sp>
      <p:sp>
        <p:nvSpPr>
          <p:cNvPr id="3" name="Shape 1"/>
          <p:cNvSpPr/>
          <p:nvPr/>
        </p:nvSpPr>
        <p:spPr>
          <a:xfrm>
            <a:off x="0" y="5088636"/>
            <a:ext cx="9144000" cy="54864"/>
          </a:xfrm>
          <a:prstGeom prst="rect">
            <a:avLst/>
          </a:prstGeom>
          <a:solidFill>
            <a:srgbClr val="FF8F00"/>
          </a:solidFill>
          <a:ln/>
        </p:spPr>
      </p:sp>
      <p:sp>
        <p:nvSpPr>
          <p:cNvPr id="4" name="Text 2"/>
          <p:cNvSpPr/>
          <p:nvPr/>
        </p:nvSpPr>
        <p:spPr>
          <a:xfrm>
            <a:off x="548640" y="457200"/>
            <a:ext cx="8046720" cy="457200"/>
          </a:xfrm>
          <a:prstGeom prst="rect">
            <a:avLst/>
          </a:prstGeom>
          <a:noFill/>
          <a:ln/>
        </p:spPr>
        <p:txBody>
          <a:bodyPr wrap="square" lIns="0" tIns="0" rIns="0" bIns="0" rtlCol="0" anchor="ctr"/>
          <a:lstStyle/>
          <a:p>
            <a:pPr algn="ctr" indent="0" marL="0">
              <a:buNone/>
            </a:pPr>
            <a:r>
              <a:rPr lang="en-US" sz="1600" dirty="0">
                <a:solidFill>
                  <a:srgbClr val="A5D6A7"/>
                </a:solidFill>
                <a:latin typeface="BIZ UDPGothic" pitchFamily="34" charset="0"/>
                <a:ea typeface="BIZ UDPGothic" pitchFamily="34" charset="-122"/>
                <a:cs typeface="BIZ UDPGothic" pitchFamily="34" charset="-120"/>
              </a:rPr>
              <a:t>外来でそのまま使える食事指導シリーズ</a:t>
            </a:r>
            <a:endParaRPr lang="en-US" sz="1600" dirty="0"/>
          </a:p>
        </p:txBody>
      </p:sp>
      <p:sp>
        <p:nvSpPr>
          <p:cNvPr id="5" name="Shape 3"/>
          <p:cNvSpPr/>
          <p:nvPr/>
        </p:nvSpPr>
        <p:spPr>
          <a:xfrm>
            <a:off x="3474720" y="1097280"/>
            <a:ext cx="2194560" cy="457200"/>
          </a:xfrm>
          <a:prstGeom prst="roundRect">
            <a:avLst>
              <a:gd name="adj" fmla="val 50000"/>
            </a:avLst>
          </a:prstGeom>
          <a:solidFill>
            <a:srgbClr val="FF8F00"/>
          </a:solidFill>
          <a:ln/>
        </p:spPr>
      </p:sp>
      <p:sp>
        <p:nvSpPr>
          <p:cNvPr id="6" name="Text 4"/>
          <p:cNvSpPr/>
          <p:nvPr/>
        </p:nvSpPr>
        <p:spPr>
          <a:xfrm>
            <a:off x="3474720" y="1097280"/>
            <a:ext cx="219456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BIZ UDPGothic" pitchFamily="34" charset="0"/>
                <a:ea typeface="BIZ UDPGothic" pitchFamily="34" charset="-122"/>
                <a:cs typeface="BIZ UDPGothic" pitchFamily="34" charset="-120"/>
              </a:rPr>
              <a:t>第9回 / 全10回</a:t>
            </a:r>
            <a:endParaRPr lang="en-US" sz="1400" dirty="0"/>
          </a:p>
        </p:txBody>
      </p:sp>
      <p:sp>
        <p:nvSpPr>
          <p:cNvPr id="7" name="Text 5"/>
          <p:cNvSpPr/>
          <p:nvPr/>
        </p:nvSpPr>
        <p:spPr>
          <a:xfrm>
            <a:off x="548640" y="1828800"/>
            <a:ext cx="8046720" cy="1280160"/>
          </a:xfrm>
          <a:prstGeom prst="rect">
            <a:avLst/>
          </a:prstGeom>
          <a:noFill/>
          <a:ln/>
        </p:spPr>
        <p:txBody>
          <a:bodyPr wrap="square" lIns="0" tIns="0" rIns="0" bIns="0" rtlCol="0" anchor="ctr"/>
          <a:lstStyle/>
          <a:p>
            <a:pPr algn="ctr" indent="0" marL="0">
              <a:buNone/>
            </a:pPr>
            <a:r>
              <a:rPr lang="en-US" sz="3400" b="1" dirty="0">
                <a:solidFill>
                  <a:srgbClr val="FFFFFF"/>
                </a:solidFill>
                <a:latin typeface="BIZ UDPGothic" pitchFamily="34" charset="0"/>
                <a:ea typeface="BIZ UDPGothic" pitchFamily="34" charset="-122"/>
                <a:cs typeface="BIZ UDPGothic" pitchFamily="34" charset="-120"/>
              </a:rPr>
              <a:t>消化管術後の食事指導</a:t>
            </a:r>
            <a:endParaRPr lang="en-US" sz="3400" dirty="0"/>
          </a:p>
          <a:p>
            <a:pPr algn="ctr" indent="0" marL="0">
              <a:buNone/>
            </a:pPr>
            <a:r>
              <a:rPr lang="en-US" sz="3400" b="1" dirty="0">
                <a:solidFill>
                  <a:srgbClr val="FFFFFF"/>
                </a:solidFill>
                <a:latin typeface="BIZ UDPGothic" pitchFamily="34" charset="0"/>
                <a:ea typeface="BIZ UDPGothic" pitchFamily="34" charset="-122"/>
                <a:cs typeface="BIZ UDPGothic" pitchFamily="34" charset="-120"/>
              </a:rPr>
              <a:t>― 少量頻回と症状別対応の考え方</a:t>
            </a:r>
            <a:endParaRPr lang="en-US" sz="3400" dirty="0"/>
          </a:p>
        </p:txBody>
      </p:sp>
      <p:sp>
        <p:nvSpPr>
          <p:cNvPr id="8" name="Shape 6"/>
          <p:cNvSpPr/>
          <p:nvPr/>
        </p:nvSpPr>
        <p:spPr>
          <a:xfrm>
            <a:off x="2286000" y="3291840"/>
            <a:ext cx="4572000" cy="0"/>
          </a:xfrm>
          <a:prstGeom prst="line">
            <a:avLst/>
          </a:prstGeom>
          <a:noFill/>
          <a:ln w="25400">
            <a:solidFill>
              <a:srgbClr val="FF8F00"/>
            </a:solidFill>
            <a:prstDash val="solid"/>
          </a:ln>
        </p:spPr>
      </p:sp>
      <p:sp>
        <p:nvSpPr>
          <p:cNvPr id="9" name="Text 7"/>
          <p:cNvSpPr/>
          <p:nvPr/>
        </p:nvSpPr>
        <p:spPr>
          <a:xfrm>
            <a:off x="548640" y="3566160"/>
            <a:ext cx="8046720" cy="548640"/>
          </a:xfrm>
          <a:prstGeom prst="rect">
            <a:avLst/>
          </a:prstGeom>
          <a:noFill/>
          <a:ln/>
        </p:spPr>
        <p:txBody>
          <a:bodyPr wrap="square" lIns="0" tIns="0" rIns="0" bIns="0" rtlCol="0" anchor="ctr"/>
          <a:lstStyle/>
          <a:p>
            <a:pPr algn="ctr" indent="0" marL="0">
              <a:buNone/>
            </a:pPr>
            <a:r>
              <a:rPr lang="en-US" sz="1800" i="1" dirty="0">
                <a:solidFill>
                  <a:srgbClr val="B0BEC5"/>
                </a:solidFill>
                <a:latin typeface="BIZ UDPGothic" pitchFamily="34" charset="0"/>
                <a:ea typeface="BIZ UDPGothic" pitchFamily="34" charset="-122"/>
                <a:cs typeface="BIZ UDPGothic" pitchFamily="34" charset="-120"/>
              </a:rPr>
              <a:t>「消化のよいもの」だけでは不十分な外来の実践</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475569"/>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BIZ UDPGothic" pitchFamily="34" charset="0"/>
                <a:ea typeface="BIZ UDPGothic" pitchFamily="34" charset="-122"/>
                <a:cs typeface="BIZ UDPGothic" pitchFamily="34" charset="-120"/>
              </a:rPr>
              <a:t>消化管手術後に食事指導が重要な理由</a:t>
            </a:r>
            <a:endParaRPr lang="en-US" sz="2800" dirty="0"/>
          </a:p>
        </p:txBody>
      </p:sp>
      <p:sp>
        <p:nvSpPr>
          <p:cNvPr id="4" name="Shape 2"/>
          <p:cNvSpPr/>
          <p:nvPr/>
        </p:nvSpPr>
        <p:spPr>
          <a:xfrm>
            <a:off x="731520" y="1097280"/>
            <a:ext cx="7680960" cy="914400"/>
          </a:xfrm>
          <a:prstGeom prst="roundRect">
            <a:avLst>
              <a:gd name="adj" fmla="val 10000"/>
            </a:avLst>
          </a:prstGeom>
          <a:solidFill>
            <a:srgbClr val="F1F5F9"/>
          </a:solidFill>
          <a:ln/>
        </p:spPr>
      </p:sp>
      <p:sp>
        <p:nvSpPr>
          <p:cNvPr id="5" name="Text 3"/>
          <p:cNvSpPr/>
          <p:nvPr/>
        </p:nvSpPr>
        <p:spPr>
          <a:xfrm>
            <a:off x="914400" y="1097280"/>
            <a:ext cx="7315200" cy="914400"/>
          </a:xfrm>
          <a:prstGeom prst="rect">
            <a:avLst/>
          </a:prstGeom>
          <a:noFill/>
          <a:ln/>
        </p:spPr>
        <p:txBody>
          <a:bodyPr wrap="square" lIns="0" tIns="0" rIns="0" bIns="0" rtlCol="0" anchor="ctr"/>
          <a:lstStyle/>
          <a:p>
            <a:pPr algn="ctr" indent="0" marL="0">
              <a:buNone/>
            </a:pPr>
            <a:r>
              <a:rPr lang="en-US" sz="1800" b="1" dirty="0">
                <a:solidFill>
                  <a:srgbClr val="334155"/>
                </a:solidFill>
                <a:latin typeface="BIZ UDPGothic" pitchFamily="34" charset="0"/>
                <a:ea typeface="BIZ UDPGothic" pitchFamily="34" charset="-122"/>
                <a:cs typeface="BIZ UDPGothic" pitchFamily="34" charset="-120"/>
              </a:rPr>
              <a:t>食後症状がつらい → 食事量↓ → 体重↓ → 筋肉↓ → 食欲↓ の悪循環</a:t>
            </a:r>
            <a:endParaRPr lang="en-US" sz="1800" dirty="0"/>
          </a:p>
        </p:txBody>
      </p:sp>
      <p:sp>
        <p:nvSpPr>
          <p:cNvPr id="6" name="Shape 4"/>
          <p:cNvSpPr/>
          <p:nvPr/>
        </p:nvSpPr>
        <p:spPr>
          <a:xfrm>
            <a:off x="457200" y="2377440"/>
            <a:ext cx="3931920" cy="2286000"/>
          </a:xfrm>
          <a:prstGeom prst="roundRect">
            <a:avLst>
              <a:gd name="adj" fmla="val 4000"/>
            </a:avLst>
          </a:prstGeom>
          <a:solidFill>
            <a:srgbClr val="FFFFFF"/>
          </a:solidFill>
          <a:ln/>
          <a:effectLst>
            <a:outerShdw sx="100000" sy="100000" kx="0" ky="0" algn="bl" rotWithShape="0" blurRad="50800" dist="25400" dir="8100000">
              <a:srgbClr val="000000">
                <a:alpha val="12000"/>
              </a:srgbClr>
            </a:outerShdw>
          </a:effectLst>
        </p:spPr>
      </p:sp>
      <p:sp>
        <p:nvSpPr>
          <p:cNvPr id="7" name="Shape 5"/>
          <p:cNvSpPr/>
          <p:nvPr/>
        </p:nvSpPr>
        <p:spPr>
          <a:xfrm>
            <a:off x="457200" y="2377440"/>
            <a:ext cx="3931920" cy="502920"/>
          </a:xfrm>
          <a:prstGeom prst="roundRect">
            <a:avLst>
              <a:gd name="adj" fmla="val 18182"/>
            </a:avLst>
          </a:prstGeom>
          <a:solidFill>
            <a:srgbClr val="DC3545"/>
          </a:solidFill>
          <a:ln/>
        </p:spPr>
      </p:sp>
      <p:sp>
        <p:nvSpPr>
          <p:cNvPr id="8" name="Text 6"/>
          <p:cNvSpPr/>
          <p:nvPr/>
        </p:nvSpPr>
        <p:spPr>
          <a:xfrm>
            <a:off x="457200" y="2377440"/>
            <a:ext cx="3931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BIZ UDPGothic" pitchFamily="34" charset="0"/>
                <a:ea typeface="BIZ UDPGothic" pitchFamily="34" charset="-122"/>
                <a:cs typeface="BIZ UDPGothic" pitchFamily="34" charset="-120"/>
              </a:rPr>
              <a:t>起こりやすい問題</a:t>
            </a:r>
            <a:endParaRPr lang="en-US" sz="1800" dirty="0"/>
          </a:p>
        </p:txBody>
      </p:sp>
      <p:sp>
        <p:nvSpPr>
          <p:cNvPr id="9" name="Text 7"/>
          <p:cNvSpPr/>
          <p:nvPr/>
        </p:nvSpPr>
        <p:spPr>
          <a:xfrm>
            <a:off x="731520" y="3017520"/>
            <a:ext cx="3383280" cy="1463040"/>
          </a:xfrm>
          <a:prstGeom prst="rect">
            <a:avLst/>
          </a:prstGeom>
          <a:noFill/>
          <a:ln/>
        </p:spPr>
        <p:txBody>
          <a:bodyPr wrap="square" lIns="0" tIns="0" rIns="0" bIns="0" rtlCol="0" anchor="ctr"/>
          <a:lstStyle/>
          <a:p>
            <a:pPr indent="0" marL="0">
              <a:buNone/>
            </a:pPr>
            <a:r>
              <a:rPr lang="en-US" sz="1500" dirty="0">
                <a:solidFill>
                  <a:srgbClr val="2D3436"/>
                </a:solidFill>
                <a:latin typeface="BIZ UDPGothic" pitchFamily="34" charset="0"/>
                <a:ea typeface="BIZ UDPGothic" pitchFamily="34" charset="-122"/>
                <a:cs typeface="BIZ UDPGothic" pitchFamily="34" charset="-120"/>
              </a:rPr>
              <a:t>・早期膨満感　・食後の腹部膨満</a:t>
            </a:r>
            <a:endParaRPr lang="en-US" sz="1500" dirty="0"/>
          </a:p>
          <a:p>
            <a:pPr indent="0" marL="0">
              <a:buNone/>
            </a:pPr>
            <a:r>
              <a:rPr lang="en-US" sz="1500" dirty="0">
                <a:solidFill>
                  <a:srgbClr val="2D3436"/>
                </a:solidFill>
                <a:latin typeface="BIZ UDPGothic" pitchFamily="34" charset="0"/>
                <a:ea typeface="BIZ UDPGothic" pitchFamily="34" charset="-122"/>
                <a:cs typeface="BIZ UDPGothic" pitchFamily="34" charset="-120"/>
              </a:rPr>
              <a:t>・悪心・下痢　・便通不安定</a:t>
            </a:r>
            <a:endParaRPr lang="en-US" sz="1500" dirty="0"/>
          </a:p>
          <a:p>
            <a:pPr indent="0" marL="0">
              <a:buNone/>
            </a:pPr>
            <a:r>
              <a:rPr lang="en-US" sz="1500" dirty="0">
                <a:solidFill>
                  <a:srgbClr val="2D3436"/>
                </a:solidFill>
                <a:latin typeface="BIZ UDPGothic" pitchFamily="34" charset="0"/>
                <a:ea typeface="BIZ UDPGothic" pitchFamily="34" charset="-122"/>
                <a:cs typeface="BIZ UDPGothic" pitchFamily="34" charset="-120"/>
              </a:rPr>
              <a:t>・ダンピング症候群</a:t>
            </a:r>
            <a:endParaRPr lang="en-US" sz="1500" dirty="0"/>
          </a:p>
          <a:p>
            <a:pPr indent="0" marL="0">
              <a:buNone/>
            </a:pPr>
            <a:r>
              <a:rPr lang="en-US" sz="1500" dirty="0">
                <a:solidFill>
                  <a:srgbClr val="2D3436"/>
                </a:solidFill>
                <a:latin typeface="BIZ UDPGothic" pitchFamily="34" charset="0"/>
                <a:ea typeface="BIZ UDPGothic" pitchFamily="34" charset="-122"/>
                <a:cs typeface="BIZ UDPGothic" pitchFamily="34" charset="-120"/>
              </a:rPr>
              <a:t>・体重減少　・脱水　・低栄養</a:t>
            </a:r>
            <a:endParaRPr lang="en-US" sz="1500" dirty="0"/>
          </a:p>
          <a:p>
            <a:pPr indent="0" marL="0">
              <a:buNone/>
            </a:pPr>
            <a:r>
              <a:rPr lang="en-US" sz="1500" dirty="0">
                <a:solidFill>
                  <a:srgbClr val="2D3436"/>
                </a:solidFill>
                <a:latin typeface="BIZ UDPGothic" pitchFamily="34" charset="0"/>
                <a:ea typeface="BIZ UDPGothic" pitchFamily="34" charset="-122"/>
                <a:cs typeface="BIZ UDPGothic" pitchFamily="34" charset="-120"/>
              </a:rPr>
              <a:t>・ビタミン・微量元素の不足</a:t>
            </a:r>
            <a:endParaRPr lang="en-US" sz="1500" dirty="0"/>
          </a:p>
        </p:txBody>
      </p:sp>
      <p:sp>
        <p:nvSpPr>
          <p:cNvPr id="10" name="Shape 8"/>
          <p:cNvSpPr/>
          <p:nvPr/>
        </p:nvSpPr>
        <p:spPr>
          <a:xfrm>
            <a:off x="4754880" y="2377440"/>
            <a:ext cx="3931920" cy="2286000"/>
          </a:xfrm>
          <a:prstGeom prst="roundRect">
            <a:avLst>
              <a:gd name="adj" fmla="val 4000"/>
            </a:avLst>
          </a:prstGeom>
          <a:solidFill>
            <a:srgbClr val="FFFFFF"/>
          </a:solidFill>
          <a:ln/>
          <a:effectLst>
            <a:outerShdw sx="100000" sy="100000" kx="0" ky="0" algn="bl" rotWithShape="0" blurRad="50800" dist="25400" dir="8100000">
              <a:srgbClr val="000000">
                <a:alpha val="12000"/>
              </a:srgbClr>
            </a:outerShdw>
          </a:effectLst>
        </p:spPr>
      </p:sp>
      <p:sp>
        <p:nvSpPr>
          <p:cNvPr id="11" name="Shape 9"/>
          <p:cNvSpPr/>
          <p:nvPr/>
        </p:nvSpPr>
        <p:spPr>
          <a:xfrm>
            <a:off x="4754880" y="2377440"/>
            <a:ext cx="3931920" cy="502920"/>
          </a:xfrm>
          <a:prstGeom prst="roundRect">
            <a:avLst>
              <a:gd name="adj" fmla="val 18182"/>
            </a:avLst>
          </a:prstGeom>
          <a:solidFill>
            <a:srgbClr val="2E7D32"/>
          </a:solidFill>
          <a:ln/>
        </p:spPr>
      </p:sp>
      <p:sp>
        <p:nvSpPr>
          <p:cNvPr id="12" name="Text 10"/>
          <p:cNvSpPr/>
          <p:nvPr/>
        </p:nvSpPr>
        <p:spPr>
          <a:xfrm>
            <a:off x="4754880" y="2377440"/>
            <a:ext cx="3931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BIZ UDPGothic" pitchFamily="34" charset="0"/>
                <a:ea typeface="BIZ UDPGothic" pitchFamily="34" charset="-122"/>
                <a:cs typeface="BIZ UDPGothic" pitchFamily="34" charset="-120"/>
              </a:rPr>
              <a:t>食事指導の2つの目標</a:t>
            </a:r>
            <a:endParaRPr lang="en-US" sz="1800" dirty="0"/>
          </a:p>
        </p:txBody>
      </p:sp>
      <p:sp>
        <p:nvSpPr>
          <p:cNvPr id="13" name="Text 11"/>
          <p:cNvSpPr/>
          <p:nvPr/>
        </p:nvSpPr>
        <p:spPr>
          <a:xfrm>
            <a:off x="5029200" y="3017520"/>
            <a:ext cx="3383280" cy="1463040"/>
          </a:xfrm>
          <a:prstGeom prst="rect">
            <a:avLst/>
          </a:prstGeom>
          <a:noFill/>
          <a:ln/>
        </p:spPr>
        <p:txBody>
          <a:bodyPr wrap="square" lIns="0" tIns="0" rIns="0" bIns="0" rtlCol="0" anchor="ctr"/>
          <a:lstStyle/>
          <a:p>
            <a:pPr indent="0" marL="0">
              <a:buNone/>
            </a:pPr>
            <a:r>
              <a:rPr lang="en-US" sz="1600" dirty="0">
                <a:solidFill>
                  <a:srgbClr val="2D3436"/>
                </a:solidFill>
                <a:latin typeface="BIZ UDPGothic" pitchFamily="34" charset="0"/>
                <a:ea typeface="BIZ UDPGothic" pitchFamily="34" charset="-122"/>
                <a:cs typeface="BIZ UDPGothic" pitchFamily="34" charset="-120"/>
              </a:rPr>
              <a:t>① 症状を減らすこと</a:t>
            </a:r>
            <a:endParaRPr lang="en-US" sz="1600" dirty="0"/>
          </a:p>
          <a:p>
            <a:pPr indent="0" marL="0">
              <a:buNone/>
            </a:pPr>
            <a:endParaRPr lang="en-US" sz="1600" dirty="0"/>
          </a:p>
          <a:p>
            <a:pPr indent="0" marL="0">
              <a:buNone/>
            </a:pPr>
            <a:r>
              <a:rPr lang="en-US" sz="1600" dirty="0">
                <a:solidFill>
                  <a:srgbClr val="2D3436"/>
                </a:solidFill>
                <a:latin typeface="BIZ UDPGothic" pitchFamily="34" charset="0"/>
                <a:ea typeface="BIZ UDPGothic" pitchFamily="34" charset="-122"/>
                <a:cs typeface="BIZ UDPGothic" pitchFamily="34" charset="-120"/>
              </a:rPr>
              <a:t>② 必要な栄養を確保すること</a:t>
            </a:r>
            <a:endParaRPr lang="en-US" sz="1600" dirty="0"/>
          </a:p>
          <a:p>
            <a:pPr indent="0" marL="0">
              <a:buNone/>
            </a:pPr>
            <a:endParaRPr lang="en-US" sz="1600" dirty="0"/>
          </a:p>
          <a:p>
            <a:pPr indent="0" marL="0">
              <a:buNone/>
            </a:pPr>
            <a:r>
              <a:rPr lang="en-US" sz="1600" dirty="0">
                <a:solidFill>
                  <a:srgbClr val="2D3436"/>
                </a:solidFill>
                <a:latin typeface="BIZ UDPGothic" pitchFamily="34" charset="0"/>
                <a:ea typeface="BIZ UDPGothic" pitchFamily="34" charset="-122"/>
                <a:cs typeface="BIZ UDPGothic" pitchFamily="34" charset="-120"/>
              </a:rPr>
              <a:t>→ この両立を考える</a:t>
            </a:r>
            <a:endParaRPr lang="en-US" sz="1600" dirty="0"/>
          </a:p>
        </p:txBody>
      </p:sp>
      <p:sp>
        <p:nvSpPr>
          <p:cNvPr id="14" name="Shape 12"/>
          <p:cNvSpPr/>
          <p:nvPr/>
        </p:nvSpPr>
        <p:spPr>
          <a:xfrm>
            <a:off x="0" y="4892040"/>
            <a:ext cx="9144000" cy="256032"/>
          </a:xfrm>
          <a:prstGeom prst="rect">
            <a:avLst/>
          </a:prstGeom>
          <a:solidFill>
            <a:srgbClr val="1B5E20"/>
          </a:solidFill>
          <a:ln/>
        </p:spPr>
      </p:sp>
      <p:sp>
        <p:nvSpPr>
          <p:cNvPr id="15" name="Text 13"/>
          <p:cNvSpPr/>
          <p:nvPr/>
        </p:nvSpPr>
        <p:spPr>
          <a:xfrm>
            <a:off x="274320" y="4892040"/>
            <a:ext cx="8595360" cy="256032"/>
          </a:xfrm>
          <a:prstGeom prst="rect">
            <a:avLst/>
          </a:prstGeom>
          <a:noFill/>
          <a:ln/>
        </p:spPr>
        <p:txBody>
          <a:bodyPr wrap="square" lIns="0" tIns="0" rIns="0" bIns="0" rtlCol="0" anchor="ctr"/>
          <a:lstStyle/>
          <a:p>
            <a:pPr algn="r" indent="0" marL="0">
              <a:buNone/>
            </a:pPr>
            <a:r>
              <a:rPr lang="en-US" sz="1000" dirty="0">
                <a:solidFill>
                  <a:srgbClr val="A5D6A7"/>
                </a:solidFill>
                <a:latin typeface="BIZ UDPGothic" pitchFamily="34" charset="0"/>
                <a:ea typeface="BIZ UDPGothic" pitchFamily="34" charset="-122"/>
                <a:cs typeface="BIZ UDPGothic" pitchFamily="34" charset="-120"/>
              </a:rPr>
              <a:t>外来でそのまま使える食事指導シリーズ  第9回</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E7D32"/>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BIZ UDPGothic" pitchFamily="34" charset="0"/>
                <a:ea typeface="BIZ UDPGothic" pitchFamily="34" charset="-122"/>
                <a:cs typeface="BIZ UDPGothic" pitchFamily="34" charset="-120"/>
              </a:rPr>
              <a:t>食事指導の前に確認すべき項目</a:t>
            </a:r>
            <a:endParaRPr lang="en-US" sz="2800" dirty="0"/>
          </a:p>
        </p:txBody>
      </p:sp>
      <p:sp>
        <p:nvSpPr>
          <p:cNvPr id="4" name="Shape 2"/>
          <p:cNvSpPr/>
          <p:nvPr/>
        </p:nvSpPr>
        <p:spPr>
          <a:xfrm>
            <a:off x="731520" y="1005840"/>
            <a:ext cx="7680960" cy="402336"/>
          </a:xfrm>
          <a:prstGeom prst="roundRect">
            <a:avLst>
              <a:gd name="adj" fmla="val 13636"/>
            </a:avLst>
          </a:prstGeom>
          <a:solidFill>
            <a:srgbClr val="FFFFFF"/>
          </a:solidFill>
          <a:ln/>
          <a:effectLst>
            <a:outerShdw sx="100000" sy="100000" kx="0" ky="0" algn="bl" rotWithShape="0" blurRad="50800" dist="25400" dir="8100000">
              <a:srgbClr val="000000">
                <a:alpha val="12000"/>
              </a:srgbClr>
            </a:outerShdw>
          </a:effectLst>
        </p:spPr>
      </p:sp>
      <p:sp>
        <p:nvSpPr>
          <p:cNvPr id="5" name="Text 3"/>
          <p:cNvSpPr/>
          <p:nvPr/>
        </p:nvSpPr>
        <p:spPr>
          <a:xfrm>
            <a:off x="1005840" y="1005840"/>
            <a:ext cx="7132320" cy="402336"/>
          </a:xfrm>
          <a:prstGeom prst="rect">
            <a:avLst/>
          </a:prstGeom>
          <a:noFill/>
          <a:ln/>
        </p:spPr>
        <p:txBody>
          <a:bodyPr wrap="square" lIns="0" tIns="0" rIns="0" bIns="0" rtlCol="0" anchor="ctr"/>
          <a:lstStyle/>
          <a:p>
            <a:pPr indent="0" marL="0">
              <a:buNone/>
            </a:pPr>
            <a:r>
              <a:rPr lang="en-US" sz="1600" dirty="0">
                <a:solidFill>
                  <a:srgbClr val="2D3436"/>
                </a:solidFill>
                <a:latin typeface="BIZ UDPGothic" pitchFamily="34" charset="0"/>
                <a:ea typeface="BIZ UDPGothic" pitchFamily="34" charset="-122"/>
                <a:cs typeface="BIZ UDPGothic" pitchFamily="34" charset="-120"/>
              </a:rPr>
              <a:t>□  どの部位の手術か</a:t>
            </a:r>
            <a:endParaRPr lang="en-US" sz="1600" dirty="0"/>
          </a:p>
        </p:txBody>
      </p:sp>
      <p:sp>
        <p:nvSpPr>
          <p:cNvPr id="6" name="Shape 4"/>
          <p:cNvSpPr/>
          <p:nvPr/>
        </p:nvSpPr>
        <p:spPr>
          <a:xfrm>
            <a:off x="731520" y="1481328"/>
            <a:ext cx="7680960" cy="402336"/>
          </a:xfrm>
          <a:prstGeom prst="roundRect">
            <a:avLst>
              <a:gd name="adj" fmla="val 13636"/>
            </a:avLst>
          </a:prstGeom>
          <a:solidFill>
            <a:srgbClr val="E8F5E9"/>
          </a:solidFill>
          <a:ln/>
          <a:effectLst>
            <a:outerShdw sx="100000" sy="100000" kx="0" ky="0" algn="bl" rotWithShape="0" blurRad="50800" dist="25400" dir="8100000">
              <a:srgbClr val="000000">
                <a:alpha val="12000"/>
              </a:srgbClr>
            </a:outerShdw>
          </a:effectLst>
        </p:spPr>
      </p:sp>
      <p:sp>
        <p:nvSpPr>
          <p:cNvPr id="7" name="Text 5"/>
          <p:cNvSpPr/>
          <p:nvPr/>
        </p:nvSpPr>
        <p:spPr>
          <a:xfrm>
            <a:off x="1005840" y="1481328"/>
            <a:ext cx="7132320" cy="402336"/>
          </a:xfrm>
          <a:prstGeom prst="rect">
            <a:avLst/>
          </a:prstGeom>
          <a:noFill/>
          <a:ln/>
        </p:spPr>
        <p:txBody>
          <a:bodyPr wrap="square" lIns="0" tIns="0" rIns="0" bIns="0" rtlCol="0" anchor="ctr"/>
          <a:lstStyle/>
          <a:p>
            <a:pPr indent="0" marL="0">
              <a:buNone/>
            </a:pPr>
            <a:r>
              <a:rPr lang="en-US" sz="1600" dirty="0">
                <a:solidFill>
                  <a:srgbClr val="2D3436"/>
                </a:solidFill>
                <a:latin typeface="BIZ UDPGothic" pitchFamily="34" charset="0"/>
                <a:ea typeface="BIZ UDPGothic" pitchFamily="34" charset="-122"/>
                <a:cs typeface="BIZ UDPGothic" pitchFamily="34" charset="-120"/>
              </a:rPr>
              <a:t>□  術後どのくらいの時期か</a:t>
            </a:r>
            <a:endParaRPr lang="en-US" sz="1600" dirty="0"/>
          </a:p>
        </p:txBody>
      </p:sp>
      <p:sp>
        <p:nvSpPr>
          <p:cNvPr id="8" name="Shape 6"/>
          <p:cNvSpPr/>
          <p:nvPr/>
        </p:nvSpPr>
        <p:spPr>
          <a:xfrm>
            <a:off x="731520" y="1956816"/>
            <a:ext cx="7680960" cy="402336"/>
          </a:xfrm>
          <a:prstGeom prst="roundRect">
            <a:avLst>
              <a:gd name="adj" fmla="val 13636"/>
            </a:avLst>
          </a:prstGeom>
          <a:solidFill>
            <a:srgbClr val="FFFFFF"/>
          </a:solidFill>
          <a:ln/>
          <a:effectLst>
            <a:outerShdw sx="100000" sy="100000" kx="0" ky="0" algn="bl" rotWithShape="0" blurRad="50800" dist="25400" dir="8100000">
              <a:srgbClr val="000000">
                <a:alpha val="12000"/>
              </a:srgbClr>
            </a:outerShdw>
          </a:effectLst>
        </p:spPr>
      </p:sp>
      <p:sp>
        <p:nvSpPr>
          <p:cNvPr id="9" name="Text 7"/>
          <p:cNvSpPr/>
          <p:nvPr/>
        </p:nvSpPr>
        <p:spPr>
          <a:xfrm>
            <a:off x="1005840" y="1956816"/>
            <a:ext cx="7132320" cy="402336"/>
          </a:xfrm>
          <a:prstGeom prst="rect">
            <a:avLst/>
          </a:prstGeom>
          <a:noFill/>
          <a:ln/>
        </p:spPr>
        <p:txBody>
          <a:bodyPr wrap="square" lIns="0" tIns="0" rIns="0" bIns="0" rtlCol="0" anchor="ctr"/>
          <a:lstStyle/>
          <a:p>
            <a:pPr indent="0" marL="0">
              <a:buNone/>
            </a:pPr>
            <a:r>
              <a:rPr lang="en-US" sz="1600" dirty="0">
                <a:solidFill>
                  <a:srgbClr val="2D3436"/>
                </a:solidFill>
                <a:latin typeface="BIZ UDPGothic" pitchFamily="34" charset="0"/>
                <a:ea typeface="BIZ UDPGothic" pitchFamily="34" charset="-122"/>
                <a:cs typeface="BIZ UDPGothic" pitchFamily="34" charset="-120"/>
              </a:rPr>
              <a:t>□  体重はどの程度減っているか</a:t>
            </a:r>
            <a:endParaRPr lang="en-US" sz="1600" dirty="0"/>
          </a:p>
        </p:txBody>
      </p:sp>
      <p:sp>
        <p:nvSpPr>
          <p:cNvPr id="10" name="Shape 8"/>
          <p:cNvSpPr/>
          <p:nvPr/>
        </p:nvSpPr>
        <p:spPr>
          <a:xfrm>
            <a:off x="731520" y="2432304"/>
            <a:ext cx="7680960" cy="402336"/>
          </a:xfrm>
          <a:prstGeom prst="roundRect">
            <a:avLst>
              <a:gd name="adj" fmla="val 13636"/>
            </a:avLst>
          </a:prstGeom>
          <a:solidFill>
            <a:srgbClr val="E8F5E9"/>
          </a:solidFill>
          <a:ln/>
          <a:effectLst>
            <a:outerShdw sx="100000" sy="100000" kx="0" ky="0" algn="bl" rotWithShape="0" blurRad="50800" dist="25400" dir="8100000">
              <a:srgbClr val="000000">
                <a:alpha val="12000"/>
              </a:srgbClr>
            </a:outerShdw>
          </a:effectLst>
        </p:spPr>
      </p:sp>
      <p:sp>
        <p:nvSpPr>
          <p:cNvPr id="11" name="Text 9"/>
          <p:cNvSpPr/>
          <p:nvPr/>
        </p:nvSpPr>
        <p:spPr>
          <a:xfrm>
            <a:off x="1005840" y="2432304"/>
            <a:ext cx="7132320" cy="402336"/>
          </a:xfrm>
          <a:prstGeom prst="rect">
            <a:avLst/>
          </a:prstGeom>
          <a:noFill/>
          <a:ln/>
        </p:spPr>
        <p:txBody>
          <a:bodyPr wrap="square" lIns="0" tIns="0" rIns="0" bIns="0" rtlCol="0" anchor="ctr"/>
          <a:lstStyle/>
          <a:p>
            <a:pPr indent="0" marL="0">
              <a:buNone/>
            </a:pPr>
            <a:r>
              <a:rPr lang="en-US" sz="1600" dirty="0">
                <a:solidFill>
                  <a:srgbClr val="2D3436"/>
                </a:solidFill>
                <a:latin typeface="BIZ UDPGothic" pitchFamily="34" charset="0"/>
                <a:ea typeface="BIZ UDPGothic" pitchFamily="34" charset="-122"/>
                <a:cs typeface="BIZ UDPGothic" pitchFamily="34" charset="-120"/>
              </a:rPr>
              <a:t>□  食後にどのような症状が出るか</a:t>
            </a:r>
            <a:endParaRPr lang="en-US" sz="1600" dirty="0"/>
          </a:p>
        </p:txBody>
      </p:sp>
      <p:sp>
        <p:nvSpPr>
          <p:cNvPr id="12" name="Shape 10"/>
          <p:cNvSpPr/>
          <p:nvPr/>
        </p:nvSpPr>
        <p:spPr>
          <a:xfrm>
            <a:off x="731520" y="2907792"/>
            <a:ext cx="7680960" cy="402336"/>
          </a:xfrm>
          <a:prstGeom prst="roundRect">
            <a:avLst>
              <a:gd name="adj" fmla="val 13636"/>
            </a:avLst>
          </a:prstGeom>
          <a:solidFill>
            <a:srgbClr val="FFFFFF"/>
          </a:solidFill>
          <a:ln/>
          <a:effectLst>
            <a:outerShdw sx="100000" sy="100000" kx="0" ky="0" algn="bl" rotWithShape="0" blurRad="50800" dist="25400" dir="8100000">
              <a:srgbClr val="000000">
                <a:alpha val="12000"/>
              </a:srgbClr>
            </a:outerShdw>
          </a:effectLst>
        </p:spPr>
      </p:sp>
      <p:sp>
        <p:nvSpPr>
          <p:cNvPr id="13" name="Text 11"/>
          <p:cNvSpPr/>
          <p:nvPr/>
        </p:nvSpPr>
        <p:spPr>
          <a:xfrm>
            <a:off x="1005840" y="2907792"/>
            <a:ext cx="7132320" cy="402336"/>
          </a:xfrm>
          <a:prstGeom prst="rect">
            <a:avLst/>
          </a:prstGeom>
          <a:noFill/>
          <a:ln/>
        </p:spPr>
        <p:txBody>
          <a:bodyPr wrap="square" lIns="0" tIns="0" rIns="0" bIns="0" rtlCol="0" anchor="ctr"/>
          <a:lstStyle/>
          <a:p>
            <a:pPr indent="0" marL="0">
              <a:buNone/>
            </a:pPr>
            <a:r>
              <a:rPr lang="en-US" sz="1600" dirty="0">
                <a:solidFill>
                  <a:srgbClr val="2D3436"/>
                </a:solidFill>
                <a:latin typeface="BIZ UDPGothic" pitchFamily="34" charset="0"/>
                <a:ea typeface="BIZ UDPGothic" pitchFamily="34" charset="-122"/>
                <a:cs typeface="BIZ UDPGothic" pitchFamily="34" charset="-120"/>
              </a:rPr>
              <a:t>□  下痢・便秘・腹部膨満はあるか</a:t>
            </a:r>
            <a:endParaRPr lang="en-US" sz="1600" dirty="0"/>
          </a:p>
        </p:txBody>
      </p:sp>
      <p:sp>
        <p:nvSpPr>
          <p:cNvPr id="14" name="Shape 12"/>
          <p:cNvSpPr/>
          <p:nvPr/>
        </p:nvSpPr>
        <p:spPr>
          <a:xfrm>
            <a:off x="731520" y="3383280"/>
            <a:ext cx="7680960" cy="402336"/>
          </a:xfrm>
          <a:prstGeom prst="roundRect">
            <a:avLst>
              <a:gd name="adj" fmla="val 13636"/>
            </a:avLst>
          </a:prstGeom>
          <a:solidFill>
            <a:srgbClr val="E8F5E9"/>
          </a:solidFill>
          <a:ln/>
          <a:effectLst>
            <a:outerShdw sx="100000" sy="100000" kx="0" ky="0" algn="bl" rotWithShape="0" blurRad="50800" dist="25400" dir="8100000">
              <a:srgbClr val="000000">
                <a:alpha val="12000"/>
              </a:srgbClr>
            </a:outerShdw>
          </a:effectLst>
        </p:spPr>
      </p:sp>
      <p:sp>
        <p:nvSpPr>
          <p:cNvPr id="15" name="Text 13"/>
          <p:cNvSpPr/>
          <p:nvPr/>
        </p:nvSpPr>
        <p:spPr>
          <a:xfrm>
            <a:off x="1005840" y="3383280"/>
            <a:ext cx="7132320" cy="402336"/>
          </a:xfrm>
          <a:prstGeom prst="rect">
            <a:avLst/>
          </a:prstGeom>
          <a:noFill/>
          <a:ln/>
        </p:spPr>
        <p:txBody>
          <a:bodyPr wrap="square" lIns="0" tIns="0" rIns="0" bIns="0" rtlCol="0" anchor="ctr"/>
          <a:lstStyle/>
          <a:p>
            <a:pPr indent="0" marL="0">
              <a:buNone/>
            </a:pPr>
            <a:r>
              <a:rPr lang="en-US" sz="1600" dirty="0">
                <a:solidFill>
                  <a:srgbClr val="2D3436"/>
                </a:solidFill>
                <a:latin typeface="BIZ UDPGothic" pitchFamily="34" charset="0"/>
                <a:ea typeface="BIZ UDPGothic" pitchFamily="34" charset="-122"/>
                <a:cs typeface="BIZ UDPGothic" pitchFamily="34" charset="-120"/>
              </a:rPr>
              <a:t>□  水分はどの程度取れているか</a:t>
            </a:r>
            <a:endParaRPr lang="en-US" sz="1600" dirty="0"/>
          </a:p>
        </p:txBody>
      </p:sp>
      <p:sp>
        <p:nvSpPr>
          <p:cNvPr id="16" name="Shape 14"/>
          <p:cNvSpPr/>
          <p:nvPr/>
        </p:nvSpPr>
        <p:spPr>
          <a:xfrm>
            <a:off x="731520" y="3858768"/>
            <a:ext cx="7680960" cy="402336"/>
          </a:xfrm>
          <a:prstGeom prst="roundRect">
            <a:avLst>
              <a:gd name="adj" fmla="val 13636"/>
            </a:avLst>
          </a:prstGeom>
          <a:solidFill>
            <a:srgbClr val="FFFFFF"/>
          </a:solidFill>
          <a:ln/>
          <a:effectLst>
            <a:outerShdw sx="100000" sy="100000" kx="0" ky="0" algn="bl" rotWithShape="0" blurRad="50800" dist="25400" dir="8100000">
              <a:srgbClr val="000000">
                <a:alpha val="12000"/>
              </a:srgbClr>
            </a:outerShdw>
          </a:effectLst>
        </p:spPr>
      </p:sp>
      <p:sp>
        <p:nvSpPr>
          <p:cNvPr id="17" name="Text 15"/>
          <p:cNvSpPr/>
          <p:nvPr/>
        </p:nvSpPr>
        <p:spPr>
          <a:xfrm>
            <a:off x="1005840" y="3858768"/>
            <a:ext cx="7132320" cy="402336"/>
          </a:xfrm>
          <a:prstGeom prst="rect">
            <a:avLst/>
          </a:prstGeom>
          <a:noFill/>
          <a:ln/>
        </p:spPr>
        <p:txBody>
          <a:bodyPr wrap="square" lIns="0" tIns="0" rIns="0" bIns="0" rtlCol="0" anchor="ctr"/>
          <a:lstStyle/>
          <a:p>
            <a:pPr indent="0" marL="0">
              <a:buNone/>
            </a:pPr>
            <a:r>
              <a:rPr lang="en-US" sz="1600" dirty="0">
                <a:solidFill>
                  <a:srgbClr val="2D3436"/>
                </a:solidFill>
                <a:latin typeface="BIZ UDPGothic" pitchFamily="34" charset="0"/>
                <a:ea typeface="BIZ UDPGothic" pitchFamily="34" charset="-122"/>
                <a:cs typeface="BIZ UDPGothic" pitchFamily="34" charset="-120"/>
              </a:rPr>
              <a:t>□  1回に食べる量と1日の回数</a:t>
            </a:r>
            <a:endParaRPr lang="en-US" sz="1600" dirty="0"/>
          </a:p>
        </p:txBody>
      </p:sp>
      <p:sp>
        <p:nvSpPr>
          <p:cNvPr id="18" name="Shape 16"/>
          <p:cNvSpPr/>
          <p:nvPr/>
        </p:nvSpPr>
        <p:spPr>
          <a:xfrm>
            <a:off x="731520" y="4334256"/>
            <a:ext cx="7680960" cy="402336"/>
          </a:xfrm>
          <a:prstGeom prst="roundRect">
            <a:avLst>
              <a:gd name="adj" fmla="val 13636"/>
            </a:avLst>
          </a:prstGeom>
          <a:solidFill>
            <a:srgbClr val="E8F5E9"/>
          </a:solidFill>
          <a:ln/>
          <a:effectLst>
            <a:outerShdw sx="100000" sy="100000" kx="0" ky="0" algn="bl" rotWithShape="0" blurRad="50800" dist="25400" dir="8100000">
              <a:srgbClr val="000000">
                <a:alpha val="12000"/>
              </a:srgbClr>
            </a:outerShdw>
          </a:effectLst>
        </p:spPr>
      </p:sp>
      <p:sp>
        <p:nvSpPr>
          <p:cNvPr id="19" name="Text 17"/>
          <p:cNvSpPr/>
          <p:nvPr/>
        </p:nvSpPr>
        <p:spPr>
          <a:xfrm>
            <a:off x="1005840" y="4334256"/>
            <a:ext cx="7132320" cy="402336"/>
          </a:xfrm>
          <a:prstGeom prst="rect">
            <a:avLst/>
          </a:prstGeom>
          <a:noFill/>
          <a:ln/>
        </p:spPr>
        <p:txBody>
          <a:bodyPr wrap="square" lIns="0" tIns="0" rIns="0" bIns="0" rtlCol="0" anchor="ctr"/>
          <a:lstStyle/>
          <a:p>
            <a:pPr indent="0" marL="0">
              <a:buNone/>
            </a:pPr>
            <a:r>
              <a:rPr lang="en-US" sz="1600" dirty="0">
                <a:solidFill>
                  <a:srgbClr val="2D3436"/>
                </a:solidFill>
                <a:latin typeface="BIZ UDPGothic" pitchFamily="34" charset="0"/>
                <a:ea typeface="BIZ UDPGothic" pitchFamily="34" charset="-122"/>
                <a:cs typeface="BIZ UDPGothic" pitchFamily="34" charset="-120"/>
              </a:rPr>
              <a:t>□  貧血や栄養障害を示唆する所見はないか</a:t>
            </a:r>
            <a:endParaRPr lang="en-US" sz="1600" dirty="0"/>
          </a:p>
        </p:txBody>
      </p:sp>
      <p:sp>
        <p:nvSpPr>
          <p:cNvPr id="20" name="Shape 18"/>
          <p:cNvSpPr/>
          <p:nvPr/>
        </p:nvSpPr>
        <p:spPr>
          <a:xfrm>
            <a:off x="0" y="4892040"/>
            <a:ext cx="9144000" cy="256032"/>
          </a:xfrm>
          <a:prstGeom prst="rect">
            <a:avLst/>
          </a:prstGeom>
          <a:solidFill>
            <a:srgbClr val="1B5E20"/>
          </a:solidFill>
          <a:ln/>
        </p:spPr>
      </p:sp>
      <p:sp>
        <p:nvSpPr>
          <p:cNvPr id="21" name="Text 19"/>
          <p:cNvSpPr/>
          <p:nvPr/>
        </p:nvSpPr>
        <p:spPr>
          <a:xfrm>
            <a:off x="274320" y="4892040"/>
            <a:ext cx="8595360" cy="256032"/>
          </a:xfrm>
          <a:prstGeom prst="rect">
            <a:avLst/>
          </a:prstGeom>
          <a:noFill/>
          <a:ln/>
        </p:spPr>
        <p:txBody>
          <a:bodyPr wrap="square" lIns="0" tIns="0" rIns="0" bIns="0" rtlCol="0" anchor="ctr"/>
          <a:lstStyle/>
          <a:p>
            <a:pPr algn="r" indent="0" marL="0">
              <a:buNone/>
            </a:pPr>
            <a:r>
              <a:rPr lang="en-US" sz="1000" dirty="0">
                <a:solidFill>
                  <a:srgbClr val="A5D6A7"/>
                </a:solidFill>
                <a:latin typeface="BIZ UDPGothic" pitchFamily="34" charset="0"/>
                <a:ea typeface="BIZ UDPGothic" pitchFamily="34" charset="-122"/>
                <a:cs typeface="BIZ UDPGothic" pitchFamily="34" charset="-120"/>
              </a:rPr>
              <a:t>外来でそのまま使える食事指導シリーズ  第9回</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3B82F6"/>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BIZ UDPGothic" pitchFamily="34" charset="0"/>
                <a:ea typeface="BIZ UDPGothic" pitchFamily="34" charset="-122"/>
                <a:cs typeface="BIZ UDPGothic" pitchFamily="34" charset="-120"/>
              </a:rPr>
              <a:t>術後食事の基本は少量頻回</a:t>
            </a:r>
            <a:endParaRPr lang="en-US" sz="2800" dirty="0"/>
          </a:p>
        </p:txBody>
      </p:sp>
      <p:sp>
        <p:nvSpPr>
          <p:cNvPr id="4" name="Shape 2"/>
          <p:cNvSpPr/>
          <p:nvPr/>
        </p:nvSpPr>
        <p:spPr>
          <a:xfrm>
            <a:off x="548640" y="1097280"/>
            <a:ext cx="8046720" cy="868680"/>
          </a:xfrm>
          <a:prstGeom prst="roundRect">
            <a:avLst>
              <a:gd name="adj" fmla="val 10526"/>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822960" y="1207008"/>
            <a:ext cx="640080" cy="640080"/>
          </a:xfrm>
          <a:prstGeom prst="ellipse">
            <a:avLst/>
          </a:prstGeom>
          <a:solidFill>
            <a:srgbClr val="3B82F6"/>
          </a:solidFill>
          <a:ln/>
        </p:spPr>
      </p:sp>
      <p:sp>
        <p:nvSpPr>
          <p:cNvPr id="6" name="Text 4"/>
          <p:cNvSpPr/>
          <p:nvPr/>
        </p:nvSpPr>
        <p:spPr>
          <a:xfrm>
            <a:off x="822960" y="1207008"/>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Segoe UI" pitchFamily="34" charset="0"/>
                <a:ea typeface="Segoe UI" pitchFamily="34" charset="-122"/>
                <a:cs typeface="Segoe UI" pitchFamily="34" charset="-120"/>
              </a:rPr>
              <a:t>1</a:t>
            </a:r>
            <a:endParaRPr lang="en-US" sz="2200" dirty="0"/>
          </a:p>
        </p:txBody>
      </p:sp>
      <p:sp>
        <p:nvSpPr>
          <p:cNvPr id="7" name="Text 5"/>
          <p:cNvSpPr/>
          <p:nvPr/>
        </p:nvSpPr>
        <p:spPr>
          <a:xfrm>
            <a:off x="1737360" y="1115568"/>
            <a:ext cx="6583680" cy="347472"/>
          </a:xfrm>
          <a:prstGeom prst="rect">
            <a:avLst/>
          </a:prstGeom>
          <a:noFill/>
          <a:ln/>
        </p:spPr>
        <p:txBody>
          <a:bodyPr wrap="square" lIns="0" tIns="0" rIns="0" bIns="0" rtlCol="0" anchor="ctr"/>
          <a:lstStyle/>
          <a:p>
            <a:pPr indent="0" marL="0">
              <a:buNone/>
            </a:pPr>
            <a:r>
              <a:rPr lang="en-US" sz="1800" b="1" dirty="0">
                <a:solidFill>
                  <a:srgbClr val="3B82F6"/>
                </a:solidFill>
                <a:latin typeface="BIZ UDPGothic" pitchFamily="34" charset="0"/>
                <a:ea typeface="BIZ UDPGothic" pitchFamily="34" charset="-122"/>
                <a:cs typeface="BIZ UDPGothic" pitchFamily="34" charset="-120"/>
              </a:rPr>
              <a:t>一度に大量に流し込まないため</a:t>
            </a:r>
            <a:endParaRPr lang="en-US" sz="1800" dirty="0"/>
          </a:p>
        </p:txBody>
      </p:sp>
      <p:sp>
        <p:nvSpPr>
          <p:cNvPr id="8" name="Text 6"/>
          <p:cNvSpPr/>
          <p:nvPr/>
        </p:nvSpPr>
        <p:spPr>
          <a:xfrm>
            <a:off x="1737360" y="1508760"/>
            <a:ext cx="6583680" cy="365760"/>
          </a:xfrm>
          <a:prstGeom prst="rect">
            <a:avLst/>
          </a:prstGeom>
          <a:noFill/>
          <a:ln/>
        </p:spPr>
        <p:txBody>
          <a:bodyPr wrap="square" lIns="0" tIns="0" rIns="0" bIns="0" rtlCol="0" anchor="ctr"/>
          <a:lstStyle/>
          <a:p>
            <a:pPr indent="0" marL="0">
              <a:buNone/>
            </a:pPr>
            <a:r>
              <a:rPr lang="en-US" sz="1400" dirty="0">
                <a:solidFill>
                  <a:srgbClr val="636E72"/>
                </a:solidFill>
                <a:latin typeface="BIZ UDPGothic" pitchFamily="34" charset="0"/>
                <a:ea typeface="BIZ UDPGothic" pitchFamily="34" charset="-122"/>
                <a:cs typeface="BIZ UDPGothic" pitchFamily="34" charset="-120"/>
              </a:rPr>
              <a:t>術後の消化管は容量・通過様式が変化。大量→症状悪化</a:t>
            </a:r>
            <a:endParaRPr lang="en-US" sz="1400" dirty="0"/>
          </a:p>
        </p:txBody>
      </p:sp>
      <p:sp>
        <p:nvSpPr>
          <p:cNvPr id="9" name="Shape 7"/>
          <p:cNvSpPr/>
          <p:nvPr/>
        </p:nvSpPr>
        <p:spPr>
          <a:xfrm>
            <a:off x="548640" y="2148840"/>
            <a:ext cx="8046720" cy="868680"/>
          </a:xfrm>
          <a:prstGeom prst="roundRect">
            <a:avLst>
              <a:gd name="adj" fmla="val 10526"/>
            </a:avLst>
          </a:prstGeom>
          <a:solidFill>
            <a:srgbClr val="FFFFFF"/>
          </a:solidFill>
          <a:ln/>
          <a:effectLst>
            <a:outerShdw sx="100000" sy="100000" kx="0" ky="0" algn="bl" rotWithShape="0" blurRad="50800" dist="25400" dir="8100000">
              <a:srgbClr val="000000">
                <a:alpha val="12000"/>
              </a:srgbClr>
            </a:outerShdw>
          </a:effectLst>
        </p:spPr>
      </p:sp>
      <p:sp>
        <p:nvSpPr>
          <p:cNvPr id="10" name="Shape 8"/>
          <p:cNvSpPr/>
          <p:nvPr/>
        </p:nvSpPr>
        <p:spPr>
          <a:xfrm>
            <a:off x="822960" y="2258568"/>
            <a:ext cx="640080" cy="640080"/>
          </a:xfrm>
          <a:prstGeom prst="ellipse">
            <a:avLst/>
          </a:prstGeom>
          <a:solidFill>
            <a:srgbClr val="0D9488"/>
          </a:solidFill>
          <a:ln/>
        </p:spPr>
      </p:sp>
      <p:sp>
        <p:nvSpPr>
          <p:cNvPr id="11" name="Text 9"/>
          <p:cNvSpPr/>
          <p:nvPr/>
        </p:nvSpPr>
        <p:spPr>
          <a:xfrm>
            <a:off x="822960" y="2258568"/>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Segoe UI" pitchFamily="34" charset="0"/>
                <a:ea typeface="Segoe UI" pitchFamily="34" charset="-122"/>
                <a:cs typeface="Segoe UI" pitchFamily="34" charset="-120"/>
              </a:rPr>
              <a:t>2</a:t>
            </a:r>
            <a:endParaRPr lang="en-US" sz="2200" dirty="0"/>
          </a:p>
        </p:txBody>
      </p:sp>
      <p:sp>
        <p:nvSpPr>
          <p:cNvPr id="12" name="Text 10"/>
          <p:cNvSpPr/>
          <p:nvPr/>
        </p:nvSpPr>
        <p:spPr>
          <a:xfrm>
            <a:off x="1737360" y="2167128"/>
            <a:ext cx="6583680" cy="347472"/>
          </a:xfrm>
          <a:prstGeom prst="rect">
            <a:avLst/>
          </a:prstGeom>
          <a:noFill/>
          <a:ln/>
        </p:spPr>
        <p:txBody>
          <a:bodyPr wrap="square" lIns="0" tIns="0" rIns="0" bIns="0" rtlCol="0" anchor="ctr"/>
          <a:lstStyle/>
          <a:p>
            <a:pPr indent="0" marL="0">
              <a:buNone/>
            </a:pPr>
            <a:r>
              <a:rPr lang="en-US" sz="1800" b="1" dirty="0">
                <a:solidFill>
                  <a:srgbClr val="0D9488"/>
                </a:solidFill>
                <a:latin typeface="BIZ UDPGothic" pitchFamily="34" charset="0"/>
                <a:ea typeface="BIZ UDPGothic" pitchFamily="34" charset="-122"/>
                <a:cs typeface="BIZ UDPGothic" pitchFamily="34" charset="-120"/>
              </a:rPr>
              <a:t>必要量を確保しやすくするため</a:t>
            </a:r>
            <a:endParaRPr lang="en-US" sz="1800" dirty="0"/>
          </a:p>
        </p:txBody>
      </p:sp>
      <p:sp>
        <p:nvSpPr>
          <p:cNvPr id="13" name="Text 11"/>
          <p:cNvSpPr/>
          <p:nvPr/>
        </p:nvSpPr>
        <p:spPr>
          <a:xfrm>
            <a:off x="1737360" y="2560320"/>
            <a:ext cx="6583680" cy="365760"/>
          </a:xfrm>
          <a:prstGeom prst="rect">
            <a:avLst/>
          </a:prstGeom>
          <a:noFill/>
          <a:ln/>
        </p:spPr>
        <p:txBody>
          <a:bodyPr wrap="square" lIns="0" tIns="0" rIns="0" bIns="0" rtlCol="0" anchor="ctr"/>
          <a:lstStyle/>
          <a:p>
            <a:pPr indent="0" marL="0">
              <a:buNone/>
            </a:pPr>
            <a:r>
              <a:rPr lang="en-US" sz="1400" dirty="0">
                <a:solidFill>
                  <a:srgbClr val="636E72"/>
                </a:solidFill>
                <a:latin typeface="BIZ UDPGothic" pitchFamily="34" charset="0"/>
                <a:ea typeface="BIZ UDPGothic" pitchFamily="34" charset="-122"/>
                <a:cs typeface="BIZ UDPGothic" pitchFamily="34" charset="-120"/>
              </a:rPr>
              <a:t>3食で足りないなら4-6回に分けて入りやすくする</a:t>
            </a:r>
            <a:endParaRPr lang="en-US" sz="1400" dirty="0"/>
          </a:p>
        </p:txBody>
      </p:sp>
      <p:sp>
        <p:nvSpPr>
          <p:cNvPr id="14" name="Shape 12"/>
          <p:cNvSpPr/>
          <p:nvPr/>
        </p:nvSpPr>
        <p:spPr>
          <a:xfrm>
            <a:off x="548640" y="3200400"/>
            <a:ext cx="8046720" cy="868680"/>
          </a:xfrm>
          <a:prstGeom prst="roundRect">
            <a:avLst>
              <a:gd name="adj" fmla="val 10526"/>
            </a:avLst>
          </a:prstGeom>
          <a:solidFill>
            <a:srgbClr val="FFFFFF"/>
          </a:solidFill>
          <a:ln/>
          <a:effectLst>
            <a:outerShdw sx="100000" sy="100000" kx="0" ky="0" algn="bl" rotWithShape="0" blurRad="50800" dist="25400" dir="8100000">
              <a:srgbClr val="000000">
                <a:alpha val="12000"/>
              </a:srgbClr>
            </a:outerShdw>
          </a:effectLst>
        </p:spPr>
      </p:sp>
      <p:sp>
        <p:nvSpPr>
          <p:cNvPr id="15" name="Shape 13"/>
          <p:cNvSpPr/>
          <p:nvPr/>
        </p:nvSpPr>
        <p:spPr>
          <a:xfrm>
            <a:off x="822960" y="3310128"/>
            <a:ext cx="640080" cy="640080"/>
          </a:xfrm>
          <a:prstGeom prst="ellipse">
            <a:avLst/>
          </a:prstGeom>
          <a:solidFill>
            <a:srgbClr val="D97706"/>
          </a:solidFill>
          <a:ln/>
        </p:spPr>
      </p:sp>
      <p:sp>
        <p:nvSpPr>
          <p:cNvPr id="16" name="Text 14"/>
          <p:cNvSpPr/>
          <p:nvPr/>
        </p:nvSpPr>
        <p:spPr>
          <a:xfrm>
            <a:off x="822960" y="3310128"/>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Segoe UI" pitchFamily="34" charset="0"/>
                <a:ea typeface="Segoe UI" pitchFamily="34" charset="-122"/>
                <a:cs typeface="Segoe UI" pitchFamily="34" charset="-120"/>
              </a:rPr>
              <a:t>3</a:t>
            </a:r>
            <a:endParaRPr lang="en-US" sz="2200" dirty="0"/>
          </a:p>
        </p:txBody>
      </p:sp>
      <p:sp>
        <p:nvSpPr>
          <p:cNvPr id="17" name="Text 15"/>
          <p:cNvSpPr/>
          <p:nvPr/>
        </p:nvSpPr>
        <p:spPr>
          <a:xfrm>
            <a:off x="1737360" y="3218688"/>
            <a:ext cx="6583680" cy="347472"/>
          </a:xfrm>
          <a:prstGeom prst="rect">
            <a:avLst/>
          </a:prstGeom>
          <a:noFill/>
          <a:ln/>
        </p:spPr>
        <p:txBody>
          <a:bodyPr wrap="square" lIns="0" tIns="0" rIns="0" bIns="0" rtlCol="0" anchor="ctr"/>
          <a:lstStyle/>
          <a:p>
            <a:pPr indent="0" marL="0">
              <a:buNone/>
            </a:pPr>
            <a:r>
              <a:rPr lang="en-US" sz="1800" b="1" dirty="0">
                <a:solidFill>
                  <a:srgbClr val="D97706"/>
                </a:solidFill>
                <a:latin typeface="BIZ UDPGothic" pitchFamily="34" charset="0"/>
                <a:ea typeface="BIZ UDPGothic" pitchFamily="34" charset="-122"/>
                <a:cs typeface="BIZ UDPGothic" pitchFamily="34" charset="-120"/>
              </a:rPr>
              <a:t>血糖変動やダンピングを和らげるため</a:t>
            </a:r>
            <a:endParaRPr lang="en-US" sz="1800" dirty="0"/>
          </a:p>
        </p:txBody>
      </p:sp>
      <p:sp>
        <p:nvSpPr>
          <p:cNvPr id="18" name="Text 16"/>
          <p:cNvSpPr/>
          <p:nvPr/>
        </p:nvSpPr>
        <p:spPr>
          <a:xfrm>
            <a:off x="1737360" y="3611880"/>
            <a:ext cx="6583680" cy="365760"/>
          </a:xfrm>
          <a:prstGeom prst="rect">
            <a:avLst/>
          </a:prstGeom>
          <a:noFill/>
          <a:ln/>
        </p:spPr>
        <p:txBody>
          <a:bodyPr wrap="square" lIns="0" tIns="0" rIns="0" bIns="0" rtlCol="0" anchor="ctr"/>
          <a:lstStyle/>
          <a:p>
            <a:pPr indent="0" marL="0">
              <a:buNone/>
            </a:pPr>
            <a:r>
              <a:rPr lang="en-US" sz="1400" dirty="0">
                <a:solidFill>
                  <a:srgbClr val="636E72"/>
                </a:solidFill>
                <a:latin typeface="BIZ UDPGothic" pitchFamily="34" charset="0"/>
                <a:ea typeface="BIZ UDPGothic" pitchFamily="34" charset="-122"/>
                <a:cs typeface="BIZ UDPGothic" pitchFamily="34" charset="-120"/>
              </a:rPr>
              <a:t>小分けにして食べることが食後症状の軽減につながる</a:t>
            </a:r>
            <a:endParaRPr lang="en-US" sz="1400" dirty="0"/>
          </a:p>
        </p:txBody>
      </p:sp>
      <p:sp>
        <p:nvSpPr>
          <p:cNvPr id="19" name="Shape 17"/>
          <p:cNvSpPr/>
          <p:nvPr/>
        </p:nvSpPr>
        <p:spPr>
          <a:xfrm>
            <a:off x="914400" y="4389120"/>
            <a:ext cx="7315200" cy="457200"/>
          </a:xfrm>
          <a:prstGeom prst="roundRect">
            <a:avLst>
              <a:gd name="adj" fmla="val 20000"/>
            </a:avLst>
          </a:prstGeom>
          <a:solidFill>
            <a:srgbClr val="FFF3CD"/>
          </a:solidFill>
          <a:ln/>
        </p:spPr>
      </p:sp>
      <p:sp>
        <p:nvSpPr>
          <p:cNvPr id="20" name="Text 18"/>
          <p:cNvSpPr/>
          <p:nvPr/>
        </p:nvSpPr>
        <p:spPr>
          <a:xfrm>
            <a:off x="914400" y="4389120"/>
            <a:ext cx="7315200" cy="457200"/>
          </a:xfrm>
          <a:prstGeom prst="rect">
            <a:avLst/>
          </a:prstGeom>
          <a:noFill/>
          <a:ln/>
        </p:spPr>
        <p:txBody>
          <a:bodyPr wrap="square" lIns="0" tIns="0" rIns="0" bIns="0" rtlCol="0" anchor="ctr"/>
          <a:lstStyle/>
          <a:p>
            <a:pPr algn="ctr" indent="0" marL="0">
              <a:buNone/>
            </a:pPr>
            <a:r>
              <a:rPr lang="en-US" sz="1500" b="1" dirty="0">
                <a:solidFill>
                  <a:srgbClr val="FF8F00"/>
                </a:solidFill>
                <a:latin typeface="BIZ UDPGothic" pitchFamily="34" charset="0"/>
                <a:ea typeface="BIZ UDPGothic" pitchFamily="34" charset="-122"/>
                <a:cs typeface="BIZ UDPGothic" pitchFamily="34" charset="-120"/>
              </a:rPr>
              <a:t>「3食きちんと」より「1回量を欲張らず回数で補う」が実践的</a:t>
            </a:r>
            <a:endParaRPr lang="en-US" sz="1500" dirty="0"/>
          </a:p>
        </p:txBody>
      </p:sp>
      <p:sp>
        <p:nvSpPr>
          <p:cNvPr id="21" name="Shape 19"/>
          <p:cNvSpPr/>
          <p:nvPr/>
        </p:nvSpPr>
        <p:spPr>
          <a:xfrm>
            <a:off x="0" y="4892040"/>
            <a:ext cx="9144000" cy="256032"/>
          </a:xfrm>
          <a:prstGeom prst="rect">
            <a:avLst/>
          </a:prstGeom>
          <a:solidFill>
            <a:srgbClr val="1B5E20"/>
          </a:solidFill>
          <a:ln/>
        </p:spPr>
      </p:sp>
      <p:sp>
        <p:nvSpPr>
          <p:cNvPr id="22" name="Text 20"/>
          <p:cNvSpPr/>
          <p:nvPr/>
        </p:nvSpPr>
        <p:spPr>
          <a:xfrm>
            <a:off x="274320" y="4892040"/>
            <a:ext cx="8595360" cy="256032"/>
          </a:xfrm>
          <a:prstGeom prst="rect">
            <a:avLst/>
          </a:prstGeom>
          <a:noFill/>
          <a:ln/>
        </p:spPr>
        <p:txBody>
          <a:bodyPr wrap="square" lIns="0" tIns="0" rIns="0" bIns="0" rtlCol="0" anchor="ctr"/>
          <a:lstStyle/>
          <a:p>
            <a:pPr algn="r" indent="0" marL="0">
              <a:buNone/>
            </a:pPr>
            <a:r>
              <a:rPr lang="en-US" sz="1000" dirty="0">
                <a:solidFill>
                  <a:srgbClr val="A5D6A7"/>
                </a:solidFill>
                <a:latin typeface="BIZ UDPGothic" pitchFamily="34" charset="0"/>
                <a:ea typeface="BIZ UDPGothic" pitchFamily="34" charset="-122"/>
                <a:cs typeface="BIZ UDPGothic" pitchFamily="34" charset="-120"/>
              </a:rPr>
              <a:t>外来でそのまま使える食事指導シリーズ  第9回</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DC3545"/>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BIZ UDPGothic" pitchFamily="34" charset="0"/>
                <a:ea typeface="BIZ UDPGothic" pitchFamily="34" charset="-122"/>
                <a:cs typeface="BIZ UDPGothic" pitchFamily="34" charset="-120"/>
              </a:rPr>
              <a:t>胃の手術後に起こりやすい問題</a:t>
            </a:r>
            <a:endParaRPr lang="en-US" sz="2800" dirty="0"/>
          </a:p>
        </p:txBody>
      </p:sp>
      <p:sp>
        <p:nvSpPr>
          <p:cNvPr id="4" name="Shape 2"/>
          <p:cNvSpPr/>
          <p:nvPr/>
        </p:nvSpPr>
        <p:spPr>
          <a:xfrm>
            <a:off x="548640" y="1005840"/>
            <a:ext cx="8046720" cy="914400"/>
          </a:xfrm>
          <a:prstGeom prst="roundRect">
            <a:avLst>
              <a:gd name="adj" fmla="val 10000"/>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548640" y="1005840"/>
            <a:ext cx="109728" cy="914400"/>
          </a:xfrm>
          <a:prstGeom prst="roundRect">
            <a:avLst/>
          </a:prstGeom>
          <a:solidFill>
            <a:srgbClr val="DC3545"/>
          </a:solidFill>
          <a:ln/>
        </p:spPr>
      </p:sp>
      <p:sp>
        <p:nvSpPr>
          <p:cNvPr id="6" name="Text 4"/>
          <p:cNvSpPr/>
          <p:nvPr/>
        </p:nvSpPr>
        <p:spPr>
          <a:xfrm>
            <a:off x="914400" y="1024128"/>
            <a:ext cx="2743200" cy="347472"/>
          </a:xfrm>
          <a:prstGeom prst="rect">
            <a:avLst/>
          </a:prstGeom>
          <a:noFill/>
          <a:ln/>
        </p:spPr>
        <p:txBody>
          <a:bodyPr wrap="square" lIns="0" tIns="0" rIns="0" bIns="0" rtlCol="0" anchor="ctr"/>
          <a:lstStyle/>
          <a:p>
            <a:pPr indent="0" marL="0">
              <a:buNone/>
            </a:pPr>
            <a:r>
              <a:rPr lang="en-US" sz="1800" b="1" dirty="0">
                <a:solidFill>
                  <a:srgbClr val="DC3545"/>
                </a:solidFill>
                <a:latin typeface="BIZ UDPGothic" pitchFamily="34" charset="0"/>
                <a:ea typeface="BIZ UDPGothic" pitchFamily="34" charset="-122"/>
                <a:cs typeface="BIZ UDPGothic" pitchFamily="34" charset="-120"/>
              </a:rPr>
              <a:t>⚡ 早期ダンピング</a:t>
            </a:r>
            <a:endParaRPr lang="en-US" sz="1800" dirty="0"/>
          </a:p>
        </p:txBody>
      </p:sp>
      <p:sp>
        <p:nvSpPr>
          <p:cNvPr id="7" name="Text 5"/>
          <p:cNvSpPr/>
          <p:nvPr/>
        </p:nvSpPr>
        <p:spPr>
          <a:xfrm>
            <a:off x="914400" y="1417320"/>
            <a:ext cx="7315200" cy="457200"/>
          </a:xfrm>
          <a:prstGeom prst="rect">
            <a:avLst/>
          </a:prstGeom>
          <a:noFill/>
          <a:ln/>
        </p:spPr>
        <p:txBody>
          <a:bodyPr wrap="square" lIns="0" tIns="0" rIns="0" bIns="0" rtlCol="0" anchor="ctr"/>
          <a:lstStyle/>
          <a:p>
            <a:pPr indent="0" marL="0">
              <a:buNone/>
            </a:pPr>
            <a:r>
              <a:rPr lang="en-US" sz="1400" dirty="0">
                <a:solidFill>
                  <a:srgbClr val="636E72"/>
                </a:solidFill>
                <a:latin typeface="BIZ UDPGothic" pitchFamily="34" charset="0"/>
                <a:ea typeface="BIZ UDPGothic" pitchFamily="34" charset="-122"/>
                <a:cs typeface="BIZ UDPGothic" pitchFamily="34" charset="-120"/>
              </a:rPr>
              <a:t>食後30分前後。腹痛、下痢、動悸、発汗</a:t>
            </a:r>
            <a:endParaRPr lang="en-US" sz="1400" dirty="0"/>
          </a:p>
          <a:p>
            <a:pPr indent="0" marL="0">
              <a:buNone/>
            </a:pPr>
            <a:r>
              <a:rPr lang="en-US" sz="1400" dirty="0">
                <a:solidFill>
                  <a:srgbClr val="636E72"/>
                </a:solidFill>
                <a:latin typeface="BIZ UDPGothic" pitchFamily="34" charset="0"/>
                <a:ea typeface="BIZ UDPGothic" pitchFamily="34" charset="-122"/>
                <a:cs typeface="BIZ UDPGothic" pitchFamily="34" charset="-120"/>
              </a:rPr>
              <a:t>糖質の多いものが急速に小腸へ流れ込む</a:t>
            </a:r>
            <a:endParaRPr lang="en-US" sz="1400" dirty="0"/>
          </a:p>
        </p:txBody>
      </p:sp>
      <p:sp>
        <p:nvSpPr>
          <p:cNvPr id="8" name="Shape 6"/>
          <p:cNvSpPr/>
          <p:nvPr/>
        </p:nvSpPr>
        <p:spPr>
          <a:xfrm>
            <a:off x="548640" y="2103120"/>
            <a:ext cx="8046720" cy="914400"/>
          </a:xfrm>
          <a:prstGeom prst="roundRect">
            <a:avLst>
              <a:gd name="adj" fmla="val 10000"/>
            </a:avLst>
          </a:prstGeom>
          <a:solidFill>
            <a:srgbClr val="FFFFFF"/>
          </a:solidFill>
          <a:ln/>
          <a:effectLst>
            <a:outerShdw sx="100000" sy="100000" kx="0" ky="0" algn="bl" rotWithShape="0" blurRad="50800" dist="25400" dir="8100000">
              <a:srgbClr val="000000">
                <a:alpha val="12000"/>
              </a:srgbClr>
            </a:outerShdw>
          </a:effectLst>
        </p:spPr>
      </p:sp>
      <p:sp>
        <p:nvSpPr>
          <p:cNvPr id="9" name="Shape 7"/>
          <p:cNvSpPr/>
          <p:nvPr/>
        </p:nvSpPr>
        <p:spPr>
          <a:xfrm>
            <a:off x="548640" y="2103120"/>
            <a:ext cx="109728" cy="914400"/>
          </a:xfrm>
          <a:prstGeom prst="roundRect">
            <a:avLst/>
          </a:prstGeom>
          <a:solidFill>
            <a:srgbClr val="D97706"/>
          </a:solidFill>
          <a:ln/>
        </p:spPr>
      </p:sp>
      <p:sp>
        <p:nvSpPr>
          <p:cNvPr id="10" name="Text 8"/>
          <p:cNvSpPr/>
          <p:nvPr/>
        </p:nvSpPr>
        <p:spPr>
          <a:xfrm>
            <a:off x="914400" y="2121408"/>
            <a:ext cx="2743200" cy="347472"/>
          </a:xfrm>
          <a:prstGeom prst="rect">
            <a:avLst/>
          </a:prstGeom>
          <a:noFill/>
          <a:ln/>
        </p:spPr>
        <p:txBody>
          <a:bodyPr wrap="square" lIns="0" tIns="0" rIns="0" bIns="0" rtlCol="0" anchor="ctr"/>
          <a:lstStyle/>
          <a:p>
            <a:pPr indent="0" marL="0">
              <a:buNone/>
            </a:pPr>
            <a:r>
              <a:rPr lang="en-US" sz="1800" b="1" dirty="0">
                <a:solidFill>
                  <a:srgbClr val="D97706"/>
                </a:solidFill>
                <a:latin typeface="BIZ UDPGothic" pitchFamily="34" charset="0"/>
                <a:ea typeface="BIZ UDPGothic" pitchFamily="34" charset="-122"/>
                <a:cs typeface="BIZ UDPGothic" pitchFamily="34" charset="-120"/>
              </a:rPr>
              <a:t>📉 後期ダンピング</a:t>
            </a:r>
            <a:endParaRPr lang="en-US" sz="1800" dirty="0"/>
          </a:p>
        </p:txBody>
      </p:sp>
      <p:sp>
        <p:nvSpPr>
          <p:cNvPr id="11" name="Text 9"/>
          <p:cNvSpPr/>
          <p:nvPr/>
        </p:nvSpPr>
        <p:spPr>
          <a:xfrm>
            <a:off x="914400" y="2514600"/>
            <a:ext cx="7315200" cy="457200"/>
          </a:xfrm>
          <a:prstGeom prst="rect">
            <a:avLst/>
          </a:prstGeom>
          <a:noFill/>
          <a:ln/>
        </p:spPr>
        <p:txBody>
          <a:bodyPr wrap="square" lIns="0" tIns="0" rIns="0" bIns="0" rtlCol="0" anchor="ctr"/>
          <a:lstStyle/>
          <a:p>
            <a:pPr indent="0" marL="0">
              <a:buNone/>
            </a:pPr>
            <a:r>
              <a:rPr lang="en-US" sz="1400" dirty="0">
                <a:solidFill>
                  <a:srgbClr val="636E72"/>
                </a:solidFill>
                <a:latin typeface="BIZ UDPGothic" pitchFamily="34" charset="0"/>
                <a:ea typeface="BIZ UDPGothic" pitchFamily="34" charset="-122"/>
                <a:cs typeface="BIZ UDPGothic" pitchFamily="34" charset="-120"/>
              </a:rPr>
              <a:t>食後1-3時間。ふらつき、冷汗、空腹感</a:t>
            </a:r>
            <a:endParaRPr lang="en-US" sz="1400" dirty="0"/>
          </a:p>
          <a:p>
            <a:pPr indent="0" marL="0">
              <a:buNone/>
            </a:pPr>
            <a:r>
              <a:rPr lang="en-US" sz="1400" dirty="0">
                <a:solidFill>
                  <a:srgbClr val="636E72"/>
                </a:solidFill>
                <a:latin typeface="BIZ UDPGothic" pitchFamily="34" charset="0"/>
                <a:ea typeface="BIZ UDPGothic" pitchFamily="34" charset="-122"/>
                <a:cs typeface="BIZ UDPGothic" pitchFamily="34" charset="-120"/>
              </a:rPr>
              <a:t>急な血糖上昇→低血糖が関わる</a:t>
            </a:r>
            <a:endParaRPr lang="en-US" sz="1400" dirty="0"/>
          </a:p>
        </p:txBody>
      </p:sp>
      <p:sp>
        <p:nvSpPr>
          <p:cNvPr id="12" name="Shape 10"/>
          <p:cNvSpPr/>
          <p:nvPr/>
        </p:nvSpPr>
        <p:spPr>
          <a:xfrm>
            <a:off x="548640" y="3200400"/>
            <a:ext cx="8046720" cy="914400"/>
          </a:xfrm>
          <a:prstGeom prst="roundRect">
            <a:avLst>
              <a:gd name="adj" fmla="val 10000"/>
            </a:avLst>
          </a:prstGeom>
          <a:solidFill>
            <a:srgbClr val="FFFFFF"/>
          </a:solidFill>
          <a:ln/>
          <a:effectLst>
            <a:outerShdw sx="100000" sy="100000" kx="0" ky="0" algn="bl" rotWithShape="0" blurRad="50800" dist="25400" dir="8100000">
              <a:srgbClr val="000000">
                <a:alpha val="12000"/>
              </a:srgbClr>
            </a:outerShdw>
          </a:effectLst>
        </p:spPr>
      </p:sp>
      <p:sp>
        <p:nvSpPr>
          <p:cNvPr id="13" name="Shape 11"/>
          <p:cNvSpPr/>
          <p:nvPr/>
        </p:nvSpPr>
        <p:spPr>
          <a:xfrm>
            <a:off x="548640" y="3200400"/>
            <a:ext cx="109728" cy="914400"/>
          </a:xfrm>
          <a:prstGeom prst="roundRect">
            <a:avLst/>
          </a:prstGeom>
          <a:solidFill>
            <a:srgbClr val="475569"/>
          </a:solidFill>
          <a:ln/>
        </p:spPr>
      </p:sp>
      <p:sp>
        <p:nvSpPr>
          <p:cNvPr id="14" name="Text 12"/>
          <p:cNvSpPr/>
          <p:nvPr/>
        </p:nvSpPr>
        <p:spPr>
          <a:xfrm>
            <a:off x="914400" y="3218688"/>
            <a:ext cx="2743200" cy="347472"/>
          </a:xfrm>
          <a:prstGeom prst="rect">
            <a:avLst/>
          </a:prstGeom>
          <a:noFill/>
          <a:ln/>
        </p:spPr>
        <p:txBody>
          <a:bodyPr wrap="square" lIns="0" tIns="0" rIns="0" bIns="0" rtlCol="0" anchor="ctr"/>
          <a:lstStyle/>
          <a:p>
            <a:pPr indent="0" marL="0">
              <a:buNone/>
            </a:pPr>
            <a:r>
              <a:rPr lang="en-US" sz="1800" b="1" dirty="0">
                <a:solidFill>
                  <a:srgbClr val="475569"/>
                </a:solidFill>
                <a:latin typeface="BIZ UDPGothic" pitchFamily="34" charset="0"/>
                <a:ea typeface="BIZ UDPGothic" pitchFamily="34" charset="-122"/>
                <a:cs typeface="BIZ UDPGothic" pitchFamily="34" charset="-120"/>
              </a:rPr>
              <a:t>😣 早期膨満感</a:t>
            </a:r>
            <a:endParaRPr lang="en-US" sz="1800" dirty="0"/>
          </a:p>
        </p:txBody>
      </p:sp>
      <p:sp>
        <p:nvSpPr>
          <p:cNvPr id="15" name="Text 13"/>
          <p:cNvSpPr/>
          <p:nvPr/>
        </p:nvSpPr>
        <p:spPr>
          <a:xfrm>
            <a:off x="914400" y="3611880"/>
            <a:ext cx="7315200" cy="457200"/>
          </a:xfrm>
          <a:prstGeom prst="rect">
            <a:avLst/>
          </a:prstGeom>
          <a:noFill/>
          <a:ln/>
        </p:spPr>
        <p:txBody>
          <a:bodyPr wrap="square" lIns="0" tIns="0" rIns="0" bIns="0" rtlCol="0" anchor="ctr"/>
          <a:lstStyle/>
          <a:p>
            <a:pPr indent="0" marL="0">
              <a:buNone/>
            </a:pPr>
            <a:r>
              <a:rPr lang="en-US" sz="1400" dirty="0">
                <a:solidFill>
                  <a:srgbClr val="636E72"/>
                </a:solidFill>
                <a:latin typeface="BIZ UDPGothic" pitchFamily="34" charset="0"/>
                <a:ea typeface="BIZ UDPGothic" pitchFamily="34" charset="-122"/>
                <a:cs typeface="BIZ UDPGothic" pitchFamily="34" charset="-120"/>
              </a:rPr>
              <a:t>胃の容量↓→少量でおなかがいっぱいに</a:t>
            </a:r>
            <a:endParaRPr lang="en-US" sz="1400" dirty="0"/>
          </a:p>
          <a:p>
            <a:pPr indent="0" marL="0">
              <a:buNone/>
            </a:pPr>
            <a:r>
              <a:rPr lang="en-US" sz="1400" dirty="0">
                <a:solidFill>
                  <a:srgbClr val="636E72"/>
                </a:solidFill>
                <a:latin typeface="BIZ UDPGothic" pitchFamily="34" charset="0"/>
                <a:ea typeface="BIZ UDPGothic" pitchFamily="34" charset="-122"/>
                <a:cs typeface="BIZ UDPGothic" pitchFamily="34" charset="-120"/>
              </a:rPr>
              <a:t>必要なエネルギーが入りにくい→体重減少</a:t>
            </a:r>
            <a:endParaRPr lang="en-US" sz="1400" dirty="0"/>
          </a:p>
        </p:txBody>
      </p:sp>
      <p:sp>
        <p:nvSpPr>
          <p:cNvPr id="16" name="Shape 14"/>
          <p:cNvSpPr/>
          <p:nvPr/>
        </p:nvSpPr>
        <p:spPr>
          <a:xfrm>
            <a:off x="731520" y="4297680"/>
            <a:ext cx="7680960" cy="457200"/>
          </a:xfrm>
          <a:prstGeom prst="roundRect">
            <a:avLst>
              <a:gd name="adj" fmla="val 20000"/>
            </a:avLst>
          </a:prstGeom>
          <a:solidFill>
            <a:srgbClr val="E8F5E9"/>
          </a:solidFill>
          <a:ln/>
        </p:spPr>
      </p:sp>
      <p:sp>
        <p:nvSpPr>
          <p:cNvPr id="17" name="Text 15"/>
          <p:cNvSpPr/>
          <p:nvPr/>
        </p:nvSpPr>
        <p:spPr>
          <a:xfrm>
            <a:off x="914400" y="4297680"/>
            <a:ext cx="7315200" cy="457200"/>
          </a:xfrm>
          <a:prstGeom prst="rect">
            <a:avLst/>
          </a:prstGeom>
          <a:noFill/>
          <a:ln/>
        </p:spPr>
        <p:txBody>
          <a:bodyPr wrap="square" lIns="0" tIns="0" rIns="0" bIns="0" rtlCol="0" anchor="ctr"/>
          <a:lstStyle/>
          <a:p>
            <a:pPr algn="ctr" indent="0" marL="0">
              <a:buNone/>
            </a:pPr>
            <a:r>
              <a:rPr lang="en-US" sz="1500" b="1" dirty="0">
                <a:solidFill>
                  <a:srgbClr val="1B5E20"/>
                </a:solidFill>
                <a:latin typeface="BIZ UDPGothic" pitchFamily="34" charset="0"/>
                <a:ea typeface="BIZ UDPGothic" pitchFamily="34" charset="-122"/>
                <a:cs typeface="BIZ UDPGothic" pitchFamily="34" charset="-120"/>
              </a:rPr>
              <a:t>一度に多く食べない / 糖質に偏らない / たんぱく質を毎回意識</a:t>
            </a:r>
            <a:endParaRPr lang="en-US" sz="1500" dirty="0"/>
          </a:p>
        </p:txBody>
      </p:sp>
      <p:sp>
        <p:nvSpPr>
          <p:cNvPr id="18" name="Shape 16"/>
          <p:cNvSpPr/>
          <p:nvPr/>
        </p:nvSpPr>
        <p:spPr>
          <a:xfrm>
            <a:off x="0" y="4892040"/>
            <a:ext cx="9144000" cy="256032"/>
          </a:xfrm>
          <a:prstGeom prst="rect">
            <a:avLst/>
          </a:prstGeom>
          <a:solidFill>
            <a:srgbClr val="1B5E20"/>
          </a:solidFill>
          <a:ln/>
        </p:spPr>
      </p:sp>
      <p:sp>
        <p:nvSpPr>
          <p:cNvPr id="19" name="Text 17"/>
          <p:cNvSpPr/>
          <p:nvPr/>
        </p:nvSpPr>
        <p:spPr>
          <a:xfrm>
            <a:off x="274320" y="4892040"/>
            <a:ext cx="8595360" cy="256032"/>
          </a:xfrm>
          <a:prstGeom prst="rect">
            <a:avLst/>
          </a:prstGeom>
          <a:noFill/>
          <a:ln/>
        </p:spPr>
        <p:txBody>
          <a:bodyPr wrap="square" lIns="0" tIns="0" rIns="0" bIns="0" rtlCol="0" anchor="ctr"/>
          <a:lstStyle/>
          <a:p>
            <a:pPr algn="r" indent="0" marL="0">
              <a:buNone/>
            </a:pPr>
            <a:r>
              <a:rPr lang="en-US" sz="1000" dirty="0">
                <a:solidFill>
                  <a:srgbClr val="A5D6A7"/>
                </a:solidFill>
                <a:latin typeface="BIZ UDPGothic" pitchFamily="34" charset="0"/>
                <a:ea typeface="BIZ UDPGothic" pitchFamily="34" charset="-122"/>
                <a:cs typeface="BIZ UDPGothic" pitchFamily="34" charset="-120"/>
              </a:rPr>
              <a:t>外来でそのまま使える食事指導シリーズ  第9回</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E7D32"/>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BIZ UDPGothic" pitchFamily="34" charset="0"/>
                <a:ea typeface="BIZ UDPGothic" pitchFamily="34" charset="-122"/>
                <a:cs typeface="BIZ UDPGothic" pitchFamily="34" charset="-120"/>
              </a:rPr>
              <a:t>小腸・大腸手術後に起こりやすい問題</a:t>
            </a:r>
            <a:endParaRPr lang="en-US" sz="2800" dirty="0"/>
          </a:p>
        </p:txBody>
      </p:sp>
      <p:sp>
        <p:nvSpPr>
          <p:cNvPr id="4" name="Shape 2"/>
          <p:cNvSpPr/>
          <p:nvPr/>
        </p:nvSpPr>
        <p:spPr>
          <a:xfrm>
            <a:off x="457200" y="1097280"/>
            <a:ext cx="3931920" cy="2743200"/>
          </a:xfrm>
          <a:prstGeom prst="roundRect">
            <a:avLst>
              <a:gd name="adj" fmla="val 3333"/>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457200" y="1097280"/>
            <a:ext cx="3931920" cy="457200"/>
          </a:xfrm>
          <a:prstGeom prst="roundRect">
            <a:avLst>
              <a:gd name="adj" fmla="val 20000"/>
            </a:avLst>
          </a:prstGeom>
          <a:solidFill>
            <a:srgbClr val="EA580C"/>
          </a:solidFill>
          <a:ln/>
        </p:spPr>
      </p:sp>
      <p:sp>
        <p:nvSpPr>
          <p:cNvPr id="6" name="Text 4"/>
          <p:cNvSpPr/>
          <p:nvPr/>
        </p:nvSpPr>
        <p:spPr>
          <a:xfrm>
            <a:off x="457200" y="1097280"/>
            <a:ext cx="393192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BIZ UDPGothic" pitchFamily="34" charset="0"/>
                <a:ea typeface="BIZ UDPGothic" pitchFamily="34" charset="-122"/>
                <a:cs typeface="BIZ UDPGothic" pitchFamily="34" charset="-120"/>
              </a:rPr>
              <a:t>小腸切除後</a:t>
            </a:r>
            <a:endParaRPr lang="en-US" sz="1700" dirty="0"/>
          </a:p>
        </p:txBody>
      </p:sp>
      <p:sp>
        <p:nvSpPr>
          <p:cNvPr id="7" name="Text 5"/>
          <p:cNvSpPr/>
          <p:nvPr/>
        </p:nvSpPr>
        <p:spPr>
          <a:xfrm>
            <a:off x="731520" y="1691640"/>
            <a:ext cx="3383280" cy="1920240"/>
          </a:xfrm>
          <a:prstGeom prst="rect">
            <a:avLst/>
          </a:prstGeom>
          <a:noFill/>
          <a:ln/>
        </p:spPr>
        <p:txBody>
          <a:bodyPr wrap="square" lIns="0" tIns="0" rIns="0" bIns="0" rtlCol="0" anchor="ctr"/>
          <a:lstStyle/>
          <a:p>
            <a:pPr indent="0" marL="0">
              <a:buNone/>
            </a:pPr>
            <a:r>
              <a:rPr lang="en-US" sz="1400" dirty="0">
                <a:solidFill>
                  <a:srgbClr val="2D3436"/>
                </a:solidFill>
                <a:latin typeface="BIZ UDPGothic" pitchFamily="34" charset="0"/>
                <a:ea typeface="BIZ UDPGothic" pitchFamily="34" charset="-122"/>
                <a:cs typeface="BIZ UDPGothic" pitchFamily="34" charset="-120"/>
              </a:rPr>
              <a:t>・下痢（脂肪便になることも）</a:t>
            </a:r>
            <a:endParaRPr lang="en-US" sz="1400" dirty="0"/>
          </a:p>
          <a:p>
            <a:pPr indent="0" marL="0">
              <a:buNone/>
            </a:pPr>
            <a:r>
              <a:rPr lang="en-US" sz="1400" dirty="0">
                <a:solidFill>
                  <a:srgbClr val="2D3436"/>
                </a:solidFill>
                <a:latin typeface="BIZ UDPGothic" pitchFamily="34" charset="0"/>
                <a:ea typeface="BIZ UDPGothic" pitchFamily="34" charset="-122"/>
                <a:cs typeface="BIZ UDPGothic" pitchFamily="34" charset="-120"/>
              </a:rPr>
              <a:t>・脱水 — 便量が多い患者では</a:t>
            </a:r>
            <a:endParaRPr lang="en-US" sz="1400" dirty="0"/>
          </a:p>
          <a:p>
            <a:pPr indent="0" marL="0">
              <a:buNone/>
            </a:pPr>
            <a:r>
              <a:rPr lang="en-US" sz="1400" dirty="0">
                <a:solidFill>
                  <a:srgbClr val="2D3436"/>
                </a:solidFill>
                <a:latin typeface="BIZ UDPGothic" pitchFamily="34" charset="0"/>
                <a:ea typeface="BIZ UDPGothic" pitchFamily="34" charset="-122"/>
                <a:cs typeface="BIZ UDPGothic" pitchFamily="34" charset="-120"/>
              </a:rPr>
              <a:t>  見かけ以上に水分・電解質を喪失</a:t>
            </a:r>
            <a:endParaRPr lang="en-US" sz="1400" dirty="0"/>
          </a:p>
          <a:p>
            <a:pPr indent="0" marL="0">
              <a:buNone/>
            </a:pPr>
            <a:r>
              <a:rPr lang="en-US" sz="1400" dirty="0">
                <a:solidFill>
                  <a:srgbClr val="2D3436"/>
                </a:solidFill>
                <a:latin typeface="BIZ UDPGothic" pitchFamily="34" charset="0"/>
                <a:ea typeface="BIZ UDPGothic" pitchFamily="34" charset="-122"/>
                <a:cs typeface="BIZ UDPGothic" pitchFamily="34" charset="-120"/>
              </a:rPr>
              <a:t>・吸収障害 — 体重↓ 低Alb 貧血</a:t>
            </a:r>
            <a:endParaRPr lang="en-US" sz="1400" dirty="0"/>
          </a:p>
          <a:p>
            <a:pPr indent="0" marL="0">
              <a:buNone/>
            </a:pPr>
            <a:r>
              <a:rPr lang="en-US" sz="1400" dirty="0">
                <a:solidFill>
                  <a:srgbClr val="2D3436"/>
                </a:solidFill>
                <a:latin typeface="BIZ UDPGothic" pitchFamily="34" charset="0"/>
                <a:ea typeface="BIZ UDPGothic" pitchFamily="34" charset="-122"/>
                <a:cs typeface="BIZ UDPGothic" pitchFamily="34" charset="-120"/>
              </a:rPr>
              <a:t>  ビタミン・微量元素不足</a:t>
            </a:r>
            <a:endParaRPr lang="en-US" sz="1400" dirty="0"/>
          </a:p>
          <a:p>
            <a:pPr indent="0" marL="0">
              <a:buNone/>
            </a:pPr>
            <a:r>
              <a:rPr lang="en-US" sz="1400" dirty="0">
                <a:solidFill>
                  <a:srgbClr val="2D3436"/>
                </a:solidFill>
                <a:latin typeface="BIZ UDPGothic" pitchFamily="34" charset="0"/>
                <a:ea typeface="BIZ UDPGothic" pitchFamily="34" charset="-122"/>
                <a:cs typeface="BIZ UDPGothic" pitchFamily="34" charset="-120"/>
              </a:rPr>
              <a:t>・回腸末端切除 → VitB12吸収↓</a:t>
            </a:r>
            <a:endParaRPr lang="en-US" sz="1400" dirty="0"/>
          </a:p>
          <a:p>
            <a:pPr indent="0" marL="0">
              <a:buNone/>
            </a:pPr>
            <a:r>
              <a:rPr lang="en-US" sz="1400" dirty="0">
                <a:solidFill>
                  <a:srgbClr val="2D3436"/>
                </a:solidFill>
                <a:latin typeface="BIZ UDPGothic" pitchFamily="34" charset="0"/>
                <a:ea typeface="BIZ UDPGothic" pitchFamily="34" charset="-122"/>
                <a:cs typeface="BIZ UDPGothic" pitchFamily="34" charset="-120"/>
              </a:rPr>
              <a:t>  胆汁酸吸収↓</a:t>
            </a:r>
            <a:endParaRPr lang="en-US" sz="1400" dirty="0"/>
          </a:p>
        </p:txBody>
      </p:sp>
      <p:sp>
        <p:nvSpPr>
          <p:cNvPr id="8" name="Shape 6"/>
          <p:cNvSpPr/>
          <p:nvPr/>
        </p:nvSpPr>
        <p:spPr>
          <a:xfrm>
            <a:off x="4754880" y="1097280"/>
            <a:ext cx="3931920" cy="2743200"/>
          </a:xfrm>
          <a:prstGeom prst="roundRect">
            <a:avLst>
              <a:gd name="adj" fmla="val 3333"/>
            </a:avLst>
          </a:prstGeom>
          <a:solidFill>
            <a:srgbClr val="FFFFFF"/>
          </a:solidFill>
          <a:ln/>
          <a:effectLst>
            <a:outerShdw sx="100000" sy="100000" kx="0" ky="0" algn="bl" rotWithShape="0" blurRad="50800" dist="25400" dir="8100000">
              <a:srgbClr val="000000">
                <a:alpha val="12000"/>
              </a:srgbClr>
            </a:outerShdw>
          </a:effectLst>
        </p:spPr>
      </p:sp>
      <p:sp>
        <p:nvSpPr>
          <p:cNvPr id="9" name="Shape 7"/>
          <p:cNvSpPr/>
          <p:nvPr/>
        </p:nvSpPr>
        <p:spPr>
          <a:xfrm>
            <a:off x="4754880" y="1097280"/>
            <a:ext cx="3931920" cy="457200"/>
          </a:xfrm>
          <a:prstGeom prst="roundRect">
            <a:avLst>
              <a:gd name="adj" fmla="val 20000"/>
            </a:avLst>
          </a:prstGeom>
          <a:solidFill>
            <a:srgbClr val="475569"/>
          </a:solidFill>
          <a:ln/>
        </p:spPr>
      </p:sp>
      <p:sp>
        <p:nvSpPr>
          <p:cNvPr id="10" name="Text 8"/>
          <p:cNvSpPr/>
          <p:nvPr/>
        </p:nvSpPr>
        <p:spPr>
          <a:xfrm>
            <a:off x="4754880" y="1097280"/>
            <a:ext cx="393192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BIZ UDPGothic" pitchFamily="34" charset="0"/>
                <a:ea typeface="BIZ UDPGothic" pitchFamily="34" charset="-122"/>
                <a:cs typeface="BIZ UDPGothic" pitchFamily="34" charset="-120"/>
              </a:rPr>
              <a:t>大腸手術後</a:t>
            </a:r>
            <a:endParaRPr lang="en-US" sz="1700" dirty="0"/>
          </a:p>
        </p:txBody>
      </p:sp>
      <p:sp>
        <p:nvSpPr>
          <p:cNvPr id="11" name="Text 9"/>
          <p:cNvSpPr/>
          <p:nvPr/>
        </p:nvSpPr>
        <p:spPr>
          <a:xfrm>
            <a:off x="5029200" y="1691640"/>
            <a:ext cx="3383280" cy="1920240"/>
          </a:xfrm>
          <a:prstGeom prst="rect">
            <a:avLst/>
          </a:prstGeom>
          <a:noFill/>
          <a:ln/>
        </p:spPr>
        <p:txBody>
          <a:bodyPr wrap="square" lIns="0" tIns="0" rIns="0" bIns="0" rtlCol="0" anchor="ctr"/>
          <a:lstStyle/>
          <a:p>
            <a:pPr indent="0" marL="0">
              <a:buNone/>
            </a:pPr>
            <a:r>
              <a:rPr lang="en-US" sz="1400" dirty="0">
                <a:solidFill>
                  <a:srgbClr val="2D3436"/>
                </a:solidFill>
                <a:latin typeface="BIZ UDPGothic" pitchFamily="34" charset="0"/>
                <a:ea typeface="BIZ UDPGothic" pitchFamily="34" charset="-122"/>
                <a:cs typeface="BIZ UDPGothic" pitchFamily="34" charset="-120"/>
              </a:rPr>
              <a:t>・下痢や頻便</a:t>
            </a:r>
            <a:endParaRPr lang="en-US" sz="1400" dirty="0"/>
          </a:p>
          <a:p>
            <a:pPr indent="0" marL="0">
              <a:buNone/>
            </a:pPr>
            <a:r>
              <a:rPr lang="en-US" sz="1400" dirty="0">
                <a:solidFill>
                  <a:srgbClr val="2D3436"/>
                </a:solidFill>
                <a:latin typeface="BIZ UDPGothic" pitchFamily="34" charset="0"/>
                <a:ea typeface="BIZ UDPGothic" pitchFamily="34" charset="-122"/>
                <a:cs typeface="BIZ UDPGothic" pitchFamily="34" charset="-120"/>
              </a:rPr>
              <a:t>  脂っこい食事・刺激物・冷たい</a:t>
            </a:r>
            <a:endParaRPr lang="en-US" sz="1400" dirty="0"/>
          </a:p>
          <a:p>
            <a:pPr indent="0" marL="0">
              <a:buNone/>
            </a:pPr>
            <a:r>
              <a:rPr lang="en-US" sz="1400" dirty="0">
                <a:solidFill>
                  <a:srgbClr val="2D3436"/>
                </a:solidFill>
                <a:latin typeface="BIZ UDPGothic" pitchFamily="34" charset="0"/>
                <a:ea typeface="BIZ UDPGothic" pitchFamily="34" charset="-122"/>
                <a:cs typeface="BIZ UDPGothic" pitchFamily="34" charset="-120"/>
              </a:rPr>
              <a:t>  飲み物で悪化することも</a:t>
            </a:r>
            <a:endParaRPr lang="en-US" sz="1400" dirty="0"/>
          </a:p>
          <a:p>
            <a:pPr indent="0" marL="0">
              <a:buNone/>
            </a:pPr>
            <a:r>
              <a:rPr lang="en-US" sz="1400" dirty="0">
                <a:solidFill>
                  <a:srgbClr val="2D3436"/>
                </a:solidFill>
                <a:latin typeface="BIZ UDPGothic" pitchFamily="34" charset="0"/>
                <a:ea typeface="BIZ UDPGothic" pitchFamily="34" charset="-122"/>
                <a:cs typeface="BIZ UDPGothic" pitchFamily="34" charset="-120"/>
              </a:rPr>
              <a:t>・便秘や残便感</a:t>
            </a:r>
            <a:endParaRPr lang="en-US" sz="1400" dirty="0"/>
          </a:p>
          <a:p>
            <a:pPr indent="0" marL="0">
              <a:buNone/>
            </a:pPr>
            <a:r>
              <a:rPr lang="en-US" sz="1400" dirty="0">
                <a:solidFill>
                  <a:srgbClr val="2D3436"/>
                </a:solidFill>
                <a:latin typeface="BIZ UDPGothic" pitchFamily="34" charset="0"/>
                <a:ea typeface="BIZ UDPGothic" pitchFamily="34" charset="-122"/>
                <a:cs typeface="BIZ UDPGothic" pitchFamily="34" charset="-120"/>
              </a:rPr>
              <a:t>  活動量↓ 食事量↓ 水分不足</a:t>
            </a:r>
            <a:endParaRPr lang="en-US" sz="1400" dirty="0"/>
          </a:p>
          <a:p>
            <a:pPr indent="0" marL="0">
              <a:buNone/>
            </a:pPr>
            <a:r>
              <a:rPr lang="en-US" sz="1400" dirty="0">
                <a:solidFill>
                  <a:srgbClr val="2D3436"/>
                </a:solidFill>
                <a:latin typeface="BIZ UDPGothic" pitchFamily="34" charset="0"/>
                <a:ea typeface="BIZ UDPGothic" pitchFamily="34" charset="-122"/>
                <a:cs typeface="BIZ UDPGothic" pitchFamily="34" charset="-120"/>
              </a:rPr>
              <a:t>・腹部膨満</a:t>
            </a:r>
            <a:endParaRPr lang="en-US" sz="1400" dirty="0"/>
          </a:p>
          <a:p>
            <a:pPr indent="0" marL="0">
              <a:buNone/>
            </a:pPr>
            <a:r>
              <a:rPr lang="en-US" sz="1400" dirty="0">
                <a:solidFill>
                  <a:srgbClr val="2D3436"/>
                </a:solidFill>
                <a:latin typeface="BIZ UDPGothic" pitchFamily="34" charset="0"/>
                <a:ea typeface="BIZ UDPGothic" pitchFamily="34" charset="-122"/>
                <a:cs typeface="BIZ UDPGothic" pitchFamily="34" charset="-120"/>
              </a:rPr>
              <a:t>  ガスがたまりやすい食品</a:t>
            </a:r>
            <a:endParaRPr lang="en-US" sz="1400" dirty="0"/>
          </a:p>
        </p:txBody>
      </p:sp>
      <p:sp>
        <p:nvSpPr>
          <p:cNvPr id="12" name="Shape 10"/>
          <p:cNvSpPr/>
          <p:nvPr/>
        </p:nvSpPr>
        <p:spPr>
          <a:xfrm>
            <a:off x="914400" y="4206240"/>
            <a:ext cx="7315200" cy="457200"/>
          </a:xfrm>
          <a:prstGeom prst="roundRect">
            <a:avLst>
              <a:gd name="adj" fmla="val 20000"/>
            </a:avLst>
          </a:prstGeom>
          <a:solidFill>
            <a:srgbClr val="E8F5E9"/>
          </a:solidFill>
          <a:ln/>
        </p:spPr>
      </p:sp>
      <p:sp>
        <p:nvSpPr>
          <p:cNvPr id="13" name="Text 11"/>
          <p:cNvSpPr/>
          <p:nvPr/>
        </p:nvSpPr>
        <p:spPr>
          <a:xfrm>
            <a:off x="914400" y="4206240"/>
            <a:ext cx="7315200" cy="457200"/>
          </a:xfrm>
          <a:prstGeom prst="rect">
            <a:avLst/>
          </a:prstGeom>
          <a:noFill/>
          <a:ln/>
        </p:spPr>
        <p:txBody>
          <a:bodyPr wrap="square" lIns="0" tIns="0" rIns="0" bIns="0" rtlCol="0" anchor="ctr"/>
          <a:lstStyle/>
          <a:p>
            <a:pPr algn="ctr" indent="0" marL="0">
              <a:buNone/>
            </a:pPr>
            <a:r>
              <a:rPr lang="en-US" sz="1500" b="1" dirty="0">
                <a:solidFill>
                  <a:srgbClr val="1B5E20"/>
                </a:solidFill>
                <a:latin typeface="BIZ UDPGothic" pitchFamily="34" charset="0"/>
                <a:ea typeface="BIZ UDPGothic" pitchFamily="34" charset="-122"/>
                <a:cs typeface="BIZ UDPGothic" pitchFamily="34" charset="-120"/>
              </a:rPr>
              <a:t>食べられる量を確保しつつ、便の性状を見ながら調整する</a:t>
            </a:r>
            <a:endParaRPr lang="en-US" sz="1500" dirty="0"/>
          </a:p>
        </p:txBody>
      </p:sp>
      <p:sp>
        <p:nvSpPr>
          <p:cNvPr id="14" name="Shape 12"/>
          <p:cNvSpPr/>
          <p:nvPr/>
        </p:nvSpPr>
        <p:spPr>
          <a:xfrm>
            <a:off x="0" y="4892040"/>
            <a:ext cx="9144000" cy="256032"/>
          </a:xfrm>
          <a:prstGeom prst="rect">
            <a:avLst/>
          </a:prstGeom>
          <a:solidFill>
            <a:srgbClr val="1B5E20"/>
          </a:solidFill>
          <a:ln/>
        </p:spPr>
      </p:sp>
      <p:sp>
        <p:nvSpPr>
          <p:cNvPr id="15" name="Text 13"/>
          <p:cNvSpPr/>
          <p:nvPr/>
        </p:nvSpPr>
        <p:spPr>
          <a:xfrm>
            <a:off x="274320" y="4892040"/>
            <a:ext cx="8595360" cy="256032"/>
          </a:xfrm>
          <a:prstGeom prst="rect">
            <a:avLst/>
          </a:prstGeom>
          <a:noFill/>
          <a:ln/>
        </p:spPr>
        <p:txBody>
          <a:bodyPr wrap="square" lIns="0" tIns="0" rIns="0" bIns="0" rtlCol="0" anchor="ctr"/>
          <a:lstStyle/>
          <a:p>
            <a:pPr algn="r" indent="0" marL="0">
              <a:buNone/>
            </a:pPr>
            <a:r>
              <a:rPr lang="en-US" sz="1000" dirty="0">
                <a:solidFill>
                  <a:srgbClr val="A5D6A7"/>
                </a:solidFill>
                <a:latin typeface="BIZ UDPGothic" pitchFamily="34" charset="0"/>
                <a:ea typeface="BIZ UDPGothic" pitchFamily="34" charset="-122"/>
                <a:cs typeface="BIZ UDPGothic" pitchFamily="34" charset="-120"/>
              </a:rPr>
              <a:t>外来でそのまま使える食事指導シリーズ  第9回</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9488"/>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BIZ UDPGothic" pitchFamily="34" charset="0"/>
                <a:ea typeface="BIZ UDPGothic" pitchFamily="34" charset="-122"/>
                <a:cs typeface="BIZ UDPGothic" pitchFamily="34" charset="-120"/>
              </a:rPr>
              <a:t>食べ方の工夫 ― 食品選びより効くことがある</a:t>
            </a:r>
            <a:endParaRPr lang="en-US" sz="2800" dirty="0"/>
          </a:p>
        </p:txBody>
      </p:sp>
      <p:sp>
        <p:nvSpPr>
          <p:cNvPr id="4" name="Shape 2"/>
          <p:cNvSpPr/>
          <p:nvPr/>
        </p:nvSpPr>
        <p:spPr>
          <a:xfrm>
            <a:off x="457200" y="960120"/>
            <a:ext cx="8229600" cy="640080"/>
          </a:xfrm>
          <a:prstGeom prst="roundRect">
            <a:avLst>
              <a:gd name="adj" fmla="val 11429"/>
            </a:avLst>
          </a:prstGeom>
          <a:solidFill>
            <a:srgbClr val="FFFFFF"/>
          </a:solidFill>
          <a:ln/>
          <a:effectLst>
            <a:outerShdw sx="100000" sy="100000" kx="0" ky="0" algn="bl" rotWithShape="0" blurRad="50800" dist="25400" dir="8100000">
              <a:srgbClr val="000000">
                <a:alpha val="12000"/>
              </a:srgbClr>
            </a:outerShdw>
          </a:effectLst>
        </p:spPr>
      </p:sp>
      <p:sp>
        <p:nvSpPr>
          <p:cNvPr id="5" name="Text 3"/>
          <p:cNvSpPr/>
          <p:nvPr/>
        </p:nvSpPr>
        <p:spPr>
          <a:xfrm>
            <a:off x="640080" y="960120"/>
            <a:ext cx="457200" cy="64008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6" name="Text 4"/>
          <p:cNvSpPr/>
          <p:nvPr/>
        </p:nvSpPr>
        <p:spPr>
          <a:xfrm>
            <a:off x="1188720" y="960120"/>
            <a:ext cx="2560320" cy="640080"/>
          </a:xfrm>
          <a:prstGeom prst="rect">
            <a:avLst/>
          </a:prstGeom>
          <a:noFill/>
          <a:ln/>
        </p:spPr>
        <p:txBody>
          <a:bodyPr wrap="square" lIns="0" tIns="0" rIns="0" bIns="0" rtlCol="0" anchor="ctr"/>
          <a:lstStyle/>
          <a:p>
            <a:pPr indent="0" marL="0">
              <a:buNone/>
            </a:pPr>
            <a:r>
              <a:rPr lang="en-US" sz="1700" b="1" dirty="0">
                <a:solidFill>
                  <a:srgbClr val="0D9488"/>
                </a:solidFill>
                <a:latin typeface="BIZ UDPGothic" pitchFamily="34" charset="0"/>
                <a:ea typeface="BIZ UDPGothic" pitchFamily="34" charset="-122"/>
                <a:cs typeface="BIZ UDPGothic" pitchFamily="34" charset="-120"/>
              </a:rPr>
              <a:t>よく噛む</a:t>
            </a:r>
            <a:endParaRPr lang="en-US" sz="1700" dirty="0"/>
          </a:p>
        </p:txBody>
      </p:sp>
      <p:sp>
        <p:nvSpPr>
          <p:cNvPr id="7" name="Text 5"/>
          <p:cNvSpPr/>
          <p:nvPr/>
        </p:nvSpPr>
        <p:spPr>
          <a:xfrm>
            <a:off x="3840480" y="960120"/>
            <a:ext cx="4663440" cy="640080"/>
          </a:xfrm>
          <a:prstGeom prst="rect">
            <a:avLst/>
          </a:prstGeom>
          <a:noFill/>
          <a:ln/>
        </p:spPr>
        <p:txBody>
          <a:bodyPr wrap="square" lIns="0" tIns="0" rIns="0" bIns="0" rtlCol="0" anchor="ctr"/>
          <a:lstStyle/>
          <a:p>
            <a:pPr indent="0" marL="0">
              <a:buNone/>
            </a:pPr>
            <a:r>
              <a:rPr lang="en-US" sz="1400" dirty="0">
                <a:solidFill>
                  <a:srgbClr val="636E72"/>
                </a:solidFill>
                <a:latin typeface="BIZ UDPGothic" pitchFamily="34" charset="0"/>
                <a:ea typeface="BIZ UDPGothic" pitchFamily="34" charset="-122"/>
                <a:cs typeface="BIZ UDPGothic" pitchFamily="34" charset="-120"/>
              </a:rPr>
              <a:t>急いで飲み込むのを防ぎ食後症状の軽減にも</a:t>
            </a:r>
            <a:endParaRPr lang="en-US" sz="1400" dirty="0"/>
          </a:p>
        </p:txBody>
      </p:sp>
      <p:sp>
        <p:nvSpPr>
          <p:cNvPr id="8" name="Shape 6"/>
          <p:cNvSpPr/>
          <p:nvPr/>
        </p:nvSpPr>
        <p:spPr>
          <a:xfrm>
            <a:off x="457200" y="1709928"/>
            <a:ext cx="8229600" cy="640080"/>
          </a:xfrm>
          <a:prstGeom prst="roundRect">
            <a:avLst>
              <a:gd name="adj" fmla="val 11429"/>
            </a:avLst>
          </a:prstGeom>
          <a:solidFill>
            <a:srgbClr val="FFFFFF"/>
          </a:solidFill>
          <a:ln/>
          <a:effectLst>
            <a:outerShdw sx="100000" sy="100000" kx="0" ky="0" algn="bl" rotWithShape="0" blurRad="50800" dist="25400" dir="8100000">
              <a:srgbClr val="000000">
                <a:alpha val="12000"/>
              </a:srgbClr>
            </a:outerShdw>
          </a:effectLst>
        </p:spPr>
      </p:sp>
      <p:sp>
        <p:nvSpPr>
          <p:cNvPr id="9" name="Text 7"/>
          <p:cNvSpPr/>
          <p:nvPr/>
        </p:nvSpPr>
        <p:spPr>
          <a:xfrm>
            <a:off x="640080" y="1709928"/>
            <a:ext cx="457200" cy="64008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0" name="Text 8"/>
          <p:cNvSpPr/>
          <p:nvPr/>
        </p:nvSpPr>
        <p:spPr>
          <a:xfrm>
            <a:off x="1188720" y="1709928"/>
            <a:ext cx="2560320" cy="640080"/>
          </a:xfrm>
          <a:prstGeom prst="rect">
            <a:avLst/>
          </a:prstGeom>
          <a:noFill/>
          <a:ln/>
        </p:spPr>
        <p:txBody>
          <a:bodyPr wrap="square" lIns="0" tIns="0" rIns="0" bIns="0" rtlCol="0" anchor="ctr"/>
          <a:lstStyle/>
          <a:p>
            <a:pPr indent="0" marL="0">
              <a:buNone/>
            </a:pPr>
            <a:r>
              <a:rPr lang="en-US" sz="1700" b="1" dirty="0">
                <a:solidFill>
                  <a:srgbClr val="0D9488"/>
                </a:solidFill>
                <a:latin typeface="BIZ UDPGothic" pitchFamily="34" charset="0"/>
                <a:ea typeface="BIZ UDPGothic" pitchFamily="34" charset="-122"/>
                <a:cs typeface="BIZ UDPGothic" pitchFamily="34" charset="-120"/>
              </a:rPr>
              <a:t>一度に食べすぎない</a:t>
            </a:r>
            <a:endParaRPr lang="en-US" sz="1700" dirty="0"/>
          </a:p>
        </p:txBody>
      </p:sp>
      <p:sp>
        <p:nvSpPr>
          <p:cNvPr id="11" name="Text 9"/>
          <p:cNvSpPr/>
          <p:nvPr/>
        </p:nvSpPr>
        <p:spPr>
          <a:xfrm>
            <a:off x="3840480" y="1709928"/>
            <a:ext cx="4663440" cy="640080"/>
          </a:xfrm>
          <a:prstGeom prst="rect">
            <a:avLst/>
          </a:prstGeom>
          <a:noFill/>
          <a:ln/>
        </p:spPr>
        <p:txBody>
          <a:bodyPr wrap="square" lIns="0" tIns="0" rIns="0" bIns="0" rtlCol="0" anchor="ctr"/>
          <a:lstStyle/>
          <a:p>
            <a:pPr indent="0" marL="0">
              <a:buNone/>
            </a:pPr>
            <a:r>
              <a:rPr lang="en-US" sz="1400" dirty="0">
                <a:solidFill>
                  <a:srgbClr val="636E72"/>
                </a:solidFill>
                <a:latin typeface="BIZ UDPGothic" pitchFamily="34" charset="0"/>
                <a:ea typeface="BIZ UDPGothic" pitchFamily="34" charset="-122"/>
                <a:cs typeface="BIZ UDPGothic" pitchFamily="34" charset="-120"/>
              </a:rPr>
              <a:t>腹八分よりさらに少ない量から始めてよい</a:t>
            </a:r>
            <a:endParaRPr lang="en-US" sz="1400" dirty="0"/>
          </a:p>
        </p:txBody>
      </p:sp>
      <p:sp>
        <p:nvSpPr>
          <p:cNvPr id="12" name="Shape 10"/>
          <p:cNvSpPr/>
          <p:nvPr/>
        </p:nvSpPr>
        <p:spPr>
          <a:xfrm>
            <a:off x="457200" y="2459736"/>
            <a:ext cx="8229600" cy="640080"/>
          </a:xfrm>
          <a:prstGeom prst="roundRect">
            <a:avLst>
              <a:gd name="adj" fmla="val 11429"/>
            </a:avLst>
          </a:prstGeom>
          <a:solidFill>
            <a:srgbClr val="FFFFFF"/>
          </a:solidFill>
          <a:ln/>
          <a:effectLst>
            <a:outerShdw sx="100000" sy="100000" kx="0" ky="0" algn="bl" rotWithShape="0" blurRad="50800" dist="25400" dir="8100000">
              <a:srgbClr val="000000">
                <a:alpha val="12000"/>
              </a:srgbClr>
            </a:outerShdw>
          </a:effectLst>
        </p:spPr>
      </p:sp>
      <p:sp>
        <p:nvSpPr>
          <p:cNvPr id="13" name="Text 11"/>
          <p:cNvSpPr/>
          <p:nvPr/>
        </p:nvSpPr>
        <p:spPr>
          <a:xfrm>
            <a:off x="640080" y="2459736"/>
            <a:ext cx="457200" cy="64008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4" name="Text 12"/>
          <p:cNvSpPr/>
          <p:nvPr/>
        </p:nvSpPr>
        <p:spPr>
          <a:xfrm>
            <a:off x="1188720" y="2459736"/>
            <a:ext cx="2560320" cy="640080"/>
          </a:xfrm>
          <a:prstGeom prst="rect">
            <a:avLst/>
          </a:prstGeom>
          <a:noFill/>
          <a:ln/>
        </p:spPr>
        <p:txBody>
          <a:bodyPr wrap="square" lIns="0" tIns="0" rIns="0" bIns="0" rtlCol="0" anchor="ctr"/>
          <a:lstStyle/>
          <a:p>
            <a:pPr indent="0" marL="0">
              <a:buNone/>
            </a:pPr>
            <a:r>
              <a:rPr lang="en-US" sz="1700" b="1" dirty="0">
                <a:solidFill>
                  <a:srgbClr val="0D9488"/>
                </a:solidFill>
                <a:latin typeface="BIZ UDPGothic" pitchFamily="34" charset="0"/>
                <a:ea typeface="BIZ UDPGothic" pitchFamily="34" charset="-122"/>
                <a:cs typeface="BIZ UDPGothic" pitchFamily="34" charset="-120"/>
              </a:rPr>
              <a:t>急いで食べない</a:t>
            </a:r>
            <a:endParaRPr lang="en-US" sz="1700" dirty="0"/>
          </a:p>
        </p:txBody>
      </p:sp>
      <p:sp>
        <p:nvSpPr>
          <p:cNvPr id="15" name="Text 13"/>
          <p:cNvSpPr/>
          <p:nvPr/>
        </p:nvSpPr>
        <p:spPr>
          <a:xfrm>
            <a:off x="3840480" y="2459736"/>
            <a:ext cx="4663440" cy="640080"/>
          </a:xfrm>
          <a:prstGeom prst="rect">
            <a:avLst/>
          </a:prstGeom>
          <a:noFill/>
          <a:ln/>
        </p:spPr>
        <p:txBody>
          <a:bodyPr wrap="square" lIns="0" tIns="0" rIns="0" bIns="0" rtlCol="0" anchor="ctr"/>
          <a:lstStyle/>
          <a:p>
            <a:pPr indent="0" marL="0">
              <a:buNone/>
            </a:pPr>
            <a:r>
              <a:rPr lang="en-US" sz="1400" dirty="0">
                <a:solidFill>
                  <a:srgbClr val="636E72"/>
                </a:solidFill>
                <a:latin typeface="BIZ UDPGothic" pitchFamily="34" charset="0"/>
                <a:ea typeface="BIZ UDPGothic" pitchFamily="34" charset="-122"/>
                <a:cs typeface="BIZ UDPGothic" pitchFamily="34" charset="-120"/>
              </a:rPr>
              <a:t>早食いは過量摂取と急速通過につながる</a:t>
            </a:r>
            <a:endParaRPr lang="en-US" sz="1400" dirty="0"/>
          </a:p>
        </p:txBody>
      </p:sp>
      <p:sp>
        <p:nvSpPr>
          <p:cNvPr id="16" name="Shape 14"/>
          <p:cNvSpPr/>
          <p:nvPr/>
        </p:nvSpPr>
        <p:spPr>
          <a:xfrm>
            <a:off x="457200" y="3209544"/>
            <a:ext cx="8229600" cy="640080"/>
          </a:xfrm>
          <a:prstGeom prst="roundRect">
            <a:avLst>
              <a:gd name="adj" fmla="val 11429"/>
            </a:avLst>
          </a:prstGeom>
          <a:solidFill>
            <a:srgbClr val="FFFFFF"/>
          </a:solidFill>
          <a:ln/>
          <a:effectLst>
            <a:outerShdw sx="100000" sy="100000" kx="0" ky="0" algn="bl" rotWithShape="0" blurRad="50800" dist="25400" dir="8100000">
              <a:srgbClr val="000000">
                <a:alpha val="12000"/>
              </a:srgbClr>
            </a:outerShdw>
          </a:effectLst>
        </p:spPr>
      </p:sp>
      <p:sp>
        <p:nvSpPr>
          <p:cNvPr id="17" name="Text 15"/>
          <p:cNvSpPr/>
          <p:nvPr/>
        </p:nvSpPr>
        <p:spPr>
          <a:xfrm>
            <a:off x="640080" y="3209544"/>
            <a:ext cx="457200" cy="64008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8" name="Text 16"/>
          <p:cNvSpPr/>
          <p:nvPr/>
        </p:nvSpPr>
        <p:spPr>
          <a:xfrm>
            <a:off x="1188720" y="3209544"/>
            <a:ext cx="2560320" cy="640080"/>
          </a:xfrm>
          <a:prstGeom prst="rect">
            <a:avLst/>
          </a:prstGeom>
          <a:noFill/>
          <a:ln/>
        </p:spPr>
        <p:txBody>
          <a:bodyPr wrap="square" lIns="0" tIns="0" rIns="0" bIns="0" rtlCol="0" anchor="ctr"/>
          <a:lstStyle/>
          <a:p>
            <a:pPr indent="0" marL="0">
              <a:buNone/>
            </a:pPr>
            <a:r>
              <a:rPr lang="en-US" sz="1700" b="1" dirty="0">
                <a:solidFill>
                  <a:srgbClr val="0D9488"/>
                </a:solidFill>
                <a:latin typeface="BIZ UDPGothic" pitchFamily="34" charset="0"/>
                <a:ea typeface="BIZ UDPGothic" pitchFamily="34" charset="-122"/>
                <a:cs typeface="BIZ UDPGothic" pitchFamily="34" charset="-120"/>
              </a:rPr>
              <a:t>飲み物を一緒に流し込みすぎない</a:t>
            </a:r>
            <a:endParaRPr lang="en-US" sz="1700" dirty="0"/>
          </a:p>
        </p:txBody>
      </p:sp>
      <p:sp>
        <p:nvSpPr>
          <p:cNvPr id="19" name="Text 17"/>
          <p:cNvSpPr/>
          <p:nvPr/>
        </p:nvSpPr>
        <p:spPr>
          <a:xfrm>
            <a:off x="3840480" y="3209544"/>
            <a:ext cx="4663440" cy="640080"/>
          </a:xfrm>
          <a:prstGeom prst="rect">
            <a:avLst/>
          </a:prstGeom>
          <a:noFill/>
          <a:ln/>
        </p:spPr>
        <p:txBody>
          <a:bodyPr wrap="square" lIns="0" tIns="0" rIns="0" bIns="0" rtlCol="0" anchor="ctr"/>
          <a:lstStyle/>
          <a:p>
            <a:pPr indent="0" marL="0">
              <a:buNone/>
            </a:pPr>
            <a:r>
              <a:rPr lang="en-US" sz="1400" dirty="0">
                <a:solidFill>
                  <a:srgbClr val="636E72"/>
                </a:solidFill>
                <a:latin typeface="BIZ UDPGothic" pitchFamily="34" charset="0"/>
                <a:ea typeface="BIZ UDPGothic" pitchFamily="34" charset="-122"/>
                <a:cs typeface="BIZ UDPGothic" pitchFamily="34" charset="-120"/>
              </a:rPr>
              <a:t>食事と飲水のタイミングをずらすと楽になる場合も</a:t>
            </a:r>
            <a:endParaRPr lang="en-US" sz="1400" dirty="0"/>
          </a:p>
        </p:txBody>
      </p:sp>
      <p:sp>
        <p:nvSpPr>
          <p:cNvPr id="20" name="Shape 18"/>
          <p:cNvSpPr/>
          <p:nvPr/>
        </p:nvSpPr>
        <p:spPr>
          <a:xfrm>
            <a:off x="457200" y="3959352"/>
            <a:ext cx="8229600" cy="640080"/>
          </a:xfrm>
          <a:prstGeom prst="roundRect">
            <a:avLst>
              <a:gd name="adj" fmla="val 11429"/>
            </a:avLst>
          </a:prstGeom>
          <a:solidFill>
            <a:srgbClr val="FFFFFF"/>
          </a:solidFill>
          <a:ln/>
          <a:effectLst>
            <a:outerShdw sx="100000" sy="100000" kx="0" ky="0" algn="bl" rotWithShape="0" blurRad="50800" dist="25400" dir="8100000">
              <a:srgbClr val="000000">
                <a:alpha val="12000"/>
              </a:srgbClr>
            </a:outerShdw>
          </a:effectLst>
        </p:spPr>
      </p:sp>
      <p:sp>
        <p:nvSpPr>
          <p:cNvPr id="21" name="Text 19"/>
          <p:cNvSpPr/>
          <p:nvPr/>
        </p:nvSpPr>
        <p:spPr>
          <a:xfrm>
            <a:off x="640080" y="3959352"/>
            <a:ext cx="457200" cy="64008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2" name="Text 20"/>
          <p:cNvSpPr/>
          <p:nvPr/>
        </p:nvSpPr>
        <p:spPr>
          <a:xfrm>
            <a:off x="1188720" y="3959352"/>
            <a:ext cx="2560320" cy="640080"/>
          </a:xfrm>
          <a:prstGeom prst="rect">
            <a:avLst/>
          </a:prstGeom>
          <a:noFill/>
          <a:ln/>
        </p:spPr>
        <p:txBody>
          <a:bodyPr wrap="square" lIns="0" tIns="0" rIns="0" bIns="0" rtlCol="0" anchor="ctr"/>
          <a:lstStyle/>
          <a:p>
            <a:pPr indent="0" marL="0">
              <a:buNone/>
            </a:pPr>
            <a:r>
              <a:rPr lang="en-US" sz="1700" b="1" dirty="0">
                <a:solidFill>
                  <a:srgbClr val="0D9488"/>
                </a:solidFill>
                <a:latin typeface="BIZ UDPGothic" pitchFamily="34" charset="0"/>
                <a:ea typeface="BIZ UDPGothic" pitchFamily="34" charset="-122"/>
                <a:cs typeface="BIZ UDPGothic" pitchFamily="34" charset="-120"/>
              </a:rPr>
              <a:t>たんぱく質を毎回意識する</a:t>
            </a:r>
            <a:endParaRPr lang="en-US" sz="1700" dirty="0"/>
          </a:p>
        </p:txBody>
      </p:sp>
      <p:sp>
        <p:nvSpPr>
          <p:cNvPr id="23" name="Text 21"/>
          <p:cNvSpPr/>
          <p:nvPr/>
        </p:nvSpPr>
        <p:spPr>
          <a:xfrm>
            <a:off x="3840480" y="3959352"/>
            <a:ext cx="4663440" cy="640080"/>
          </a:xfrm>
          <a:prstGeom prst="rect">
            <a:avLst/>
          </a:prstGeom>
          <a:noFill/>
          <a:ln/>
        </p:spPr>
        <p:txBody>
          <a:bodyPr wrap="square" lIns="0" tIns="0" rIns="0" bIns="0" rtlCol="0" anchor="ctr"/>
          <a:lstStyle/>
          <a:p>
            <a:pPr indent="0" marL="0">
              <a:buNone/>
            </a:pPr>
            <a:r>
              <a:rPr lang="en-US" sz="1400" dirty="0">
                <a:solidFill>
                  <a:srgbClr val="636E72"/>
                </a:solidFill>
                <a:latin typeface="BIZ UDPGothic" pitchFamily="34" charset="0"/>
                <a:ea typeface="BIZ UDPGothic" pitchFamily="34" charset="-122"/>
                <a:cs typeface="BIZ UDPGothic" pitchFamily="34" charset="-120"/>
              </a:rPr>
              <a:t>炭水化物に偏ると栄養不足になりやすい</a:t>
            </a:r>
            <a:endParaRPr lang="en-US" sz="1400" dirty="0"/>
          </a:p>
        </p:txBody>
      </p:sp>
      <p:sp>
        <p:nvSpPr>
          <p:cNvPr id="24" name="Shape 22"/>
          <p:cNvSpPr/>
          <p:nvPr/>
        </p:nvSpPr>
        <p:spPr>
          <a:xfrm>
            <a:off x="0" y="4892040"/>
            <a:ext cx="9144000" cy="256032"/>
          </a:xfrm>
          <a:prstGeom prst="rect">
            <a:avLst/>
          </a:prstGeom>
          <a:solidFill>
            <a:srgbClr val="1B5E20"/>
          </a:solidFill>
          <a:ln/>
        </p:spPr>
      </p:sp>
      <p:sp>
        <p:nvSpPr>
          <p:cNvPr id="25" name="Text 23"/>
          <p:cNvSpPr/>
          <p:nvPr/>
        </p:nvSpPr>
        <p:spPr>
          <a:xfrm>
            <a:off x="274320" y="4892040"/>
            <a:ext cx="8595360" cy="256032"/>
          </a:xfrm>
          <a:prstGeom prst="rect">
            <a:avLst/>
          </a:prstGeom>
          <a:noFill/>
          <a:ln/>
        </p:spPr>
        <p:txBody>
          <a:bodyPr wrap="square" lIns="0" tIns="0" rIns="0" bIns="0" rtlCol="0" anchor="ctr"/>
          <a:lstStyle/>
          <a:p>
            <a:pPr algn="r" indent="0" marL="0">
              <a:buNone/>
            </a:pPr>
            <a:r>
              <a:rPr lang="en-US" sz="1000" dirty="0">
                <a:solidFill>
                  <a:srgbClr val="A5D6A7"/>
                </a:solidFill>
                <a:latin typeface="BIZ UDPGothic" pitchFamily="34" charset="0"/>
                <a:ea typeface="BIZ UDPGothic" pitchFamily="34" charset="-122"/>
                <a:cs typeface="BIZ UDPGothic" pitchFamily="34" charset="-120"/>
              </a:rPr>
              <a:t>外来でそのまま使える食事指導シリーズ  第9回</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334155"/>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BIZ UDPGothic" pitchFamily="34" charset="0"/>
                <a:ea typeface="BIZ UDPGothic" pitchFamily="34" charset="-122"/>
                <a:cs typeface="BIZ UDPGothic" pitchFamily="34" charset="-120"/>
              </a:rPr>
              <a:t>症状別 ― 食事をどう調整するか</a:t>
            </a:r>
            <a:endParaRPr lang="en-US" sz="2800" dirty="0"/>
          </a:p>
        </p:txBody>
      </p:sp>
      <p:sp>
        <p:nvSpPr>
          <p:cNvPr id="4" name="Shape 2"/>
          <p:cNvSpPr/>
          <p:nvPr/>
        </p:nvSpPr>
        <p:spPr>
          <a:xfrm>
            <a:off x="548640" y="1005840"/>
            <a:ext cx="8046720" cy="777240"/>
          </a:xfrm>
          <a:prstGeom prst="roundRect">
            <a:avLst>
              <a:gd name="adj" fmla="val 9412"/>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548640" y="1005840"/>
            <a:ext cx="2560320" cy="777240"/>
          </a:xfrm>
          <a:prstGeom prst="roundRect">
            <a:avLst>
              <a:gd name="adj" fmla="val 9412"/>
            </a:avLst>
          </a:prstGeom>
          <a:solidFill>
            <a:srgbClr val="D97706"/>
          </a:solidFill>
          <a:ln/>
        </p:spPr>
      </p:sp>
      <p:sp>
        <p:nvSpPr>
          <p:cNvPr id="6" name="Text 4"/>
          <p:cNvSpPr/>
          <p:nvPr/>
        </p:nvSpPr>
        <p:spPr>
          <a:xfrm>
            <a:off x="548640" y="1005840"/>
            <a:ext cx="2560320" cy="777240"/>
          </a:xfrm>
          <a:prstGeom prst="rect">
            <a:avLst/>
          </a:prstGeom>
          <a:noFill/>
          <a:ln/>
        </p:spPr>
        <p:txBody>
          <a:bodyPr wrap="square" lIns="0" tIns="0" rIns="0" bIns="0" rtlCol="0" anchor="ctr"/>
          <a:lstStyle/>
          <a:p>
            <a:pPr algn="ctr" indent="0" marL="0">
              <a:buNone/>
            </a:pPr>
            <a:r>
              <a:rPr lang="en-US" sz="1400" b="1" dirty="0">
                <a:solidFill>
                  <a:srgbClr val="FFFFFF"/>
                </a:solidFill>
                <a:latin typeface="BIZ UDPGothic" pitchFamily="34" charset="0"/>
                <a:ea typeface="BIZ UDPGothic" pitchFamily="34" charset="-122"/>
                <a:cs typeface="BIZ UDPGothic" pitchFamily="34" charset="-120"/>
              </a:rPr>
              <a:t>下痢が強い</a:t>
            </a:r>
            <a:endParaRPr lang="en-US" sz="1400" dirty="0"/>
          </a:p>
        </p:txBody>
      </p:sp>
      <p:sp>
        <p:nvSpPr>
          <p:cNvPr id="7" name="Text 5"/>
          <p:cNvSpPr/>
          <p:nvPr/>
        </p:nvSpPr>
        <p:spPr>
          <a:xfrm>
            <a:off x="3291840" y="1005840"/>
            <a:ext cx="5120640" cy="777240"/>
          </a:xfrm>
          <a:prstGeom prst="rect">
            <a:avLst/>
          </a:prstGeom>
          <a:noFill/>
          <a:ln/>
        </p:spPr>
        <p:txBody>
          <a:bodyPr wrap="square" lIns="0" tIns="0" rIns="0" bIns="0" rtlCol="0" anchor="ctr"/>
          <a:lstStyle/>
          <a:p>
            <a:pPr indent="0" marL="0">
              <a:buNone/>
            </a:pPr>
            <a:r>
              <a:rPr lang="en-US" sz="1400" dirty="0">
                <a:solidFill>
                  <a:srgbClr val="2D3436"/>
                </a:solidFill>
                <a:latin typeface="BIZ UDPGothic" pitchFamily="34" charset="0"/>
                <a:ea typeface="BIZ UDPGothic" pitchFamily="34" charset="-122"/>
                <a:cs typeface="BIZ UDPGothic" pitchFamily="34" charset="-120"/>
              </a:rPr>
              <a:t>1回量↓ / 脂っこい食事控える / 甘い飲み物↓ / 脱水確認</a:t>
            </a:r>
            <a:endParaRPr lang="en-US" sz="1400" dirty="0"/>
          </a:p>
        </p:txBody>
      </p:sp>
      <p:sp>
        <p:nvSpPr>
          <p:cNvPr id="8" name="Shape 6"/>
          <p:cNvSpPr/>
          <p:nvPr/>
        </p:nvSpPr>
        <p:spPr>
          <a:xfrm>
            <a:off x="548640" y="1920240"/>
            <a:ext cx="8046720" cy="777240"/>
          </a:xfrm>
          <a:prstGeom prst="roundRect">
            <a:avLst>
              <a:gd name="adj" fmla="val 9412"/>
            </a:avLst>
          </a:prstGeom>
          <a:solidFill>
            <a:srgbClr val="FFFFFF"/>
          </a:solidFill>
          <a:ln/>
          <a:effectLst>
            <a:outerShdw sx="100000" sy="100000" kx="0" ky="0" algn="bl" rotWithShape="0" blurRad="50800" dist="25400" dir="8100000">
              <a:srgbClr val="000000">
                <a:alpha val="12000"/>
              </a:srgbClr>
            </a:outerShdw>
          </a:effectLst>
        </p:spPr>
      </p:sp>
      <p:sp>
        <p:nvSpPr>
          <p:cNvPr id="9" name="Shape 7"/>
          <p:cNvSpPr/>
          <p:nvPr/>
        </p:nvSpPr>
        <p:spPr>
          <a:xfrm>
            <a:off x="548640" y="1920240"/>
            <a:ext cx="2560320" cy="777240"/>
          </a:xfrm>
          <a:prstGeom prst="roundRect">
            <a:avLst>
              <a:gd name="adj" fmla="val 9412"/>
            </a:avLst>
          </a:prstGeom>
          <a:solidFill>
            <a:srgbClr val="DC3545"/>
          </a:solidFill>
          <a:ln/>
        </p:spPr>
      </p:sp>
      <p:sp>
        <p:nvSpPr>
          <p:cNvPr id="10" name="Text 8"/>
          <p:cNvSpPr/>
          <p:nvPr/>
        </p:nvSpPr>
        <p:spPr>
          <a:xfrm>
            <a:off x="548640" y="1920240"/>
            <a:ext cx="2560320" cy="777240"/>
          </a:xfrm>
          <a:prstGeom prst="rect">
            <a:avLst/>
          </a:prstGeom>
          <a:noFill/>
          <a:ln/>
        </p:spPr>
        <p:txBody>
          <a:bodyPr wrap="square" lIns="0" tIns="0" rIns="0" bIns="0" rtlCol="0" anchor="ctr"/>
          <a:lstStyle/>
          <a:p>
            <a:pPr algn="ctr" indent="0" marL="0">
              <a:buNone/>
            </a:pPr>
            <a:r>
              <a:rPr lang="en-US" sz="1400" b="1" dirty="0">
                <a:solidFill>
                  <a:srgbClr val="FFFFFF"/>
                </a:solidFill>
                <a:latin typeface="BIZ UDPGothic" pitchFamily="34" charset="0"/>
                <a:ea typeface="BIZ UDPGothic" pitchFamily="34" charset="-122"/>
                <a:cs typeface="BIZ UDPGothic" pitchFamily="34" charset="-120"/>
              </a:rPr>
              <a:t>食後すぐ冷汗・動悸</a:t>
            </a:r>
            <a:endParaRPr lang="en-US" sz="1400" dirty="0"/>
          </a:p>
        </p:txBody>
      </p:sp>
      <p:sp>
        <p:nvSpPr>
          <p:cNvPr id="11" name="Text 9"/>
          <p:cNvSpPr/>
          <p:nvPr/>
        </p:nvSpPr>
        <p:spPr>
          <a:xfrm>
            <a:off x="3291840" y="1920240"/>
            <a:ext cx="5120640" cy="777240"/>
          </a:xfrm>
          <a:prstGeom prst="rect">
            <a:avLst/>
          </a:prstGeom>
          <a:noFill/>
          <a:ln/>
        </p:spPr>
        <p:txBody>
          <a:bodyPr wrap="square" lIns="0" tIns="0" rIns="0" bIns="0" rtlCol="0" anchor="ctr"/>
          <a:lstStyle/>
          <a:p>
            <a:pPr indent="0" marL="0">
              <a:buNone/>
            </a:pPr>
            <a:r>
              <a:rPr lang="en-US" sz="1400" dirty="0">
                <a:solidFill>
                  <a:srgbClr val="2D3436"/>
                </a:solidFill>
                <a:latin typeface="BIZ UDPGothic" pitchFamily="34" charset="0"/>
                <a:ea typeface="BIZ UDPGothic" pitchFamily="34" charset="-122"/>
                <a:cs typeface="BIZ UDPGothic" pitchFamily="34" charset="-120"/>
              </a:rPr>
              <a:t>早期ダンピング → 1回量↓ / 糖質偏り避ける / 飲食分離</a:t>
            </a:r>
            <a:endParaRPr lang="en-US" sz="1400" dirty="0"/>
          </a:p>
        </p:txBody>
      </p:sp>
      <p:sp>
        <p:nvSpPr>
          <p:cNvPr id="12" name="Shape 10"/>
          <p:cNvSpPr/>
          <p:nvPr/>
        </p:nvSpPr>
        <p:spPr>
          <a:xfrm>
            <a:off x="548640" y="2834640"/>
            <a:ext cx="8046720" cy="777240"/>
          </a:xfrm>
          <a:prstGeom prst="roundRect">
            <a:avLst>
              <a:gd name="adj" fmla="val 9412"/>
            </a:avLst>
          </a:prstGeom>
          <a:solidFill>
            <a:srgbClr val="FFFFFF"/>
          </a:solidFill>
          <a:ln/>
          <a:effectLst>
            <a:outerShdw sx="100000" sy="100000" kx="0" ky="0" algn="bl" rotWithShape="0" blurRad="50800" dist="25400" dir="8100000">
              <a:srgbClr val="000000">
                <a:alpha val="12000"/>
              </a:srgbClr>
            </a:outerShdw>
          </a:effectLst>
        </p:spPr>
      </p:sp>
      <p:sp>
        <p:nvSpPr>
          <p:cNvPr id="13" name="Shape 11"/>
          <p:cNvSpPr/>
          <p:nvPr/>
        </p:nvSpPr>
        <p:spPr>
          <a:xfrm>
            <a:off x="548640" y="2834640"/>
            <a:ext cx="2560320" cy="777240"/>
          </a:xfrm>
          <a:prstGeom prst="roundRect">
            <a:avLst>
              <a:gd name="adj" fmla="val 9412"/>
            </a:avLst>
          </a:prstGeom>
          <a:solidFill>
            <a:srgbClr val="EA580C"/>
          </a:solidFill>
          <a:ln/>
        </p:spPr>
      </p:sp>
      <p:sp>
        <p:nvSpPr>
          <p:cNvPr id="14" name="Text 12"/>
          <p:cNvSpPr/>
          <p:nvPr/>
        </p:nvSpPr>
        <p:spPr>
          <a:xfrm>
            <a:off x="548640" y="2834640"/>
            <a:ext cx="2560320" cy="777240"/>
          </a:xfrm>
          <a:prstGeom prst="rect">
            <a:avLst/>
          </a:prstGeom>
          <a:noFill/>
          <a:ln/>
        </p:spPr>
        <p:txBody>
          <a:bodyPr wrap="square" lIns="0" tIns="0" rIns="0" bIns="0" rtlCol="0" anchor="ctr"/>
          <a:lstStyle/>
          <a:p>
            <a:pPr algn="ctr" indent="0" marL="0">
              <a:buNone/>
            </a:pPr>
            <a:r>
              <a:rPr lang="en-US" sz="1400" b="1" dirty="0">
                <a:solidFill>
                  <a:srgbClr val="FFFFFF"/>
                </a:solidFill>
                <a:latin typeface="BIZ UDPGothic" pitchFamily="34" charset="0"/>
                <a:ea typeface="BIZ UDPGothic" pitchFamily="34" charset="-122"/>
                <a:cs typeface="BIZ UDPGothic" pitchFamily="34" charset="-120"/>
              </a:rPr>
              <a:t>食後1-3h ふらつき</a:t>
            </a:r>
            <a:endParaRPr lang="en-US" sz="1400" dirty="0"/>
          </a:p>
        </p:txBody>
      </p:sp>
      <p:sp>
        <p:nvSpPr>
          <p:cNvPr id="15" name="Text 13"/>
          <p:cNvSpPr/>
          <p:nvPr/>
        </p:nvSpPr>
        <p:spPr>
          <a:xfrm>
            <a:off x="3291840" y="2834640"/>
            <a:ext cx="5120640" cy="777240"/>
          </a:xfrm>
          <a:prstGeom prst="rect">
            <a:avLst/>
          </a:prstGeom>
          <a:noFill/>
          <a:ln/>
        </p:spPr>
        <p:txBody>
          <a:bodyPr wrap="square" lIns="0" tIns="0" rIns="0" bIns="0" rtlCol="0" anchor="ctr"/>
          <a:lstStyle/>
          <a:p>
            <a:pPr indent="0" marL="0">
              <a:buNone/>
            </a:pPr>
            <a:r>
              <a:rPr lang="en-US" sz="1400" dirty="0">
                <a:solidFill>
                  <a:srgbClr val="2D3436"/>
                </a:solidFill>
                <a:latin typeface="BIZ UDPGothic" pitchFamily="34" charset="0"/>
                <a:ea typeface="BIZ UDPGothic" pitchFamily="34" charset="-122"/>
                <a:cs typeface="BIZ UDPGothic" pitchFamily="34" charset="-120"/>
              </a:rPr>
              <a:t>後期ダンピング → 砂糖↓ / たんぱく質を組み合わせる</a:t>
            </a:r>
            <a:endParaRPr lang="en-US" sz="1400" dirty="0"/>
          </a:p>
        </p:txBody>
      </p:sp>
      <p:sp>
        <p:nvSpPr>
          <p:cNvPr id="16" name="Shape 14"/>
          <p:cNvSpPr/>
          <p:nvPr/>
        </p:nvSpPr>
        <p:spPr>
          <a:xfrm>
            <a:off x="548640" y="3749040"/>
            <a:ext cx="8046720" cy="777240"/>
          </a:xfrm>
          <a:prstGeom prst="roundRect">
            <a:avLst>
              <a:gd name="adj" fmla="val 9412"/>
            </a:avLst>
          </a:prstGeom>
          <a:solidFill>
            <a:srgbClr val="FFFFFF"/>
          </a:solidFill>
          <a:ln/>
          <a:effectLst>
            <a:outerShdw sx="100000" sy="100000" kx="0" ky="0" algn="bl" rotWithShape="0" blurRad="50800" dist="25400" dir="8100000">
              <a:srgbClr val="000000">
                <a:alpha val="12000"/>
              </a:srgbClr>
            </a:outerShdw>
          </a:effectLst>
        </p:spPr>
      </p:sp>
      <p:sp>
        <p:nvSpPr>
          <p:cNvPr id="17" name="Shape 15"/>
          <p:cNvSpPr/>
          <p:nvPr/>
        </p:nvSpPr>
        <p:spPr>
          <a:xfrm>
            <a:off x="548640" y="3749040"/>
            <a:ext cx="2560320" cy="777240"/>
          </a:xfrm>
          <a:prstGeom prst="roundRect">
            <a:avLst>
              <a:gd name="adj" fmla="val 9412"/>
            </a:avLst>
          </a:prstGeom>
          <a:solidFill>
            <a:srgbClr val="475569"/>
          </a:solidFill>
          <a:ln/>
        </p:spPr>
      </p:sp>
      <p:sp>
        <p:nvSpPr>
          <p:cNvPr id="18" name="Text 16"/>
          <p:cNvSpPr/>
          <p:nvPr/>
        </p:nvSpPr>
        <p:spPr>
          <a:xfrm>
            <a:off x="548640" y="3749040"/>
            <a:ext cx="2560320" cy="777240"/>
          </a:xfrm>
          <a:prstGeom prst="rect">
            <a:avLst/>
          </a:prstGeom>
          <a:noFill/>
          <a:ln/>
        </p:spPr>
        <p:txBody>
          <a:bodyPr wrap="square" lIns="0" tIns="0" rIns="0" bIns="0" rtlCol="0" anchor="ctr"/>
          <a:lstStyle/>
          <a:p>
            <a:pPr algn="ctr" indent="0" marL="0">
              <a:buNone/>
            </a:pPr>
            <a:r>
              <a:rPr lang="en-US" sz="1400" b="1" dirty="0">
                <a:solidFill>
                  <a:srgbClr val="FFFFFF"/>
                </a:solidFill>
                <a:latin typeface="BIZ UDPGothic" pitchFamily="34" charset="0"/>
                <a:ea typeface="BIZ UDPGothic" pitchFamily="34" charset="-122"/>
                <a:cs typeface="BIZ UDPGothic" pitchFamily="34" charset="-120"/>
              </a:rPr>
              <a:t>腹部膨満</a:t>
            </a:r>
            <a:endParaRPr lang="en-US" sz="1400" dirty="0"/>
          </a:p>
        </p:txBody>
      </p:sp>
      <p:sp>
        <p:nvSpPr>
          <p:cNvPr id="19" name="Text 17"/>
          <p:cNvSpPr/>
          <p:nvPr/>
        </p:nvSpPr>
        <p:spPr>
          <a:xfrm>
            <a:off x="3291840" y="3749040"/>
            <a:ext cx="5120640" cy="777240"/>
          </a:xfrm>
          <a:prstGeom prst="rect">
            <a:avLst/>
          </a:prstGeom>
          <a:noFill/>
          <a:ln/>
        </p:spPr>
        <p:txBody>
          <a:bodyPr wrap="square" lIns="0" tIns="0" rIns="0" bIns="0" rtlCol="0" anchor="ctr"/>
          <a:lstStyle/>
          <a:p>
            <a:pPr indent="0" marL="0">
              <a:buNone/>
            </a:pPr>
            <a:r>
              <a:rPr lang="en-US" sz="1400" dirty="0">
                <a:solidFill>
                  <a:srgbClr val="2D3436"/>
                </a:solidFill>
                <a:latin typeface="BIZ UDPGothic" pitchFamily="34" charset="0"/>
                <a:ea typeface="BIZ UDPGothic" pitchFamily="34" charset="-122"/>
                <a:cs typeface="BIZ UDPGothic" pitchFamily="34" charset="-120"/>
              </a:rPr>
              <a:t>1回量↓ / 早食い避ける / 炭酸↓ / ガス食品を個別に確認</a:t>
            </a:r>
            <a:endParaRPr lang="en-US" sz="1400" dirty="0"/>
          </a:p>
        </p:txBody>
      </p:sp>
      <p:sp>
        <p:nvSpPr>
          <p:cNvPr id="20" name="Shape 18"/>
          <p:cNvSpPr/>
          <p:nvPr/>
        </p:nvSpPr>
        <p:spPr>
          <a:xfrm>
            <a:off x="0" y="4892040"/>
            <a:ext cx="9144000" cy="256032"/>
          </a:xfrm>
          <a:prstGeom prst="rect">
            <a:avLst/>
          </a:prstGeom>
          <a:solidFill>
            <a:srgbClr val="1B5E20"/>
          </a:solidFill>
          <a:ln/>
        </p:spPr>
      </p:sp>
      <p:sp>
        <p:nvSpPr>
          <p:cNvPr id="21" name="Text 19"/>
          <p:cNvSpPr/>
          <p:nvPr/>
        </p:nvSpPr>
        <p:spPr>
          <a:xfrm>
            <a:off x="274320" y="4892040"/>
            <a:ext cx="8595360" cy="256032"/>
          </a:xfrm>
          <a:prstGeom prst="rect">
            <a:avLst/>
          </a:prstGeom>
          <a:noFill/>
          <a:ln/>
        </p:spPr>
        <p:txBody>
          <a:bodyPr wrap="square" lIns="0" tIns="0" rIns="0" bIns="0" rtlCol="0" anchor="ctr"/>
          <a:lstStyle/>
          <a:p>
            <a:pPr algn="r" indent="0" marL="0">
              <a:buNone/>
            </a:pPr>
            <a:r>
              <a:rPr lang="en-US" sz="1000" dirty="0">
                <a:solidFill>
                  <a:srgbClr val="A5D6A7"/>
                </a:solidFill>
                <a:latin typeface="BIZ UDPGothic" pitchFamily="34" charset="0"/>
                <a:ea typeface="BIZ UDPGothic" pitchFamily="34" charset="-122"/>
                <a:cs typeface="BIZ UDPGothic" pitchFamily="34" charset="-120"/>
              </a:rPr>
              <a:t>外来でそのまま使える食事指導シリーズ  第9回</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E7D32"/>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BIZ UDPGothic" pitchFamily="34" charset="0"/>
                <a:ea typeface="BIZ UDPGothic" pitchFamily="34" charset="-122"/>
                <a:cs typeface="BIZ UDPGothic" pitchFamily="34" charset="-120"/>
              </a:rPr>
              <a:t>よくある誤解</a:t>
            </a:r>
            <a:endParaRPr lang="en-US" sz="2800" dirty="0"/>
          </a:p>
        </p:txBody>
      </p:sp>
      <p:sp>
        <p:nvSpPr>
          <p:cNvPr id="4" name="Shape 2"/>
          <p:cNvSpPr/>
          <p:nvPr/>
        </p:nvSpPr>
        <p:spPr>
          <a:xfrm>
            <a:off x="548640" y="1005840"/>
            <a:ext cx="8046720" cy="777240"/>
          </a:xfrm>
          <a:prstGeom prst="roundRect">
            <a:avLst>
              <a:gd name="adj" fmla="val 9412"/>
            </a:avLst>
          </a:prstGeom>
          <a:solidFill>
            <a:srgbClr val="FFFFFF"/>
          </a:solidFill>
          <a:ln/>
          <a:effectLst>
            <a:outerShdw sx="100000" sy="100000" kx="0" ky="0" algn="bl" rotWithShape="0" blurRad="50800" dist="25400" dir="8100000">
              <a:srgbClr val="000000">
                <a:alpha val="12000"/>
              </a:srgbClr>
            </a:outerShdw>
          </a:effectLst>
        </p:spPr>
      </p:sp>
      <p:sp>
        <p:nvSpPr>
          <p:cNvPr id="5" name="Text 3"/>
          <p:cNvSpPr/>
          <p:nvPr/>
        </p:nvSpPr>
        <p:spPr>
          <a:xfrm>
            <a:off x="731520" y="1024128"/>
            <a:ext cx="457200" cy="365760"/>
          </a:xfrm>
          <a:prstGeom prst="rect">
            <a:avLst/>
          </a:prstGeom>
          <a:noFill/>
          <a:ln/>
        </p:spPr>
        <p:txBody>
          <a:bodyPr wrap="square" lIns="0" tIns="0" rIns="0" bIns="0" rtlCol="0" anchor="ctr"/>
          <a:lstStyle/>
          <a:p>
            <a:pPr algn="ctr" indent="0" marL="0">
              <a:buNone/>
            </a:pPr>
            <a:r>
              <a:rPr lang="en-US" sz="1800" b="1" dirty="0">
                <a:solidFill>
                  <a:srgbClr val="DC3545"/>
                </a:solidFill>
                <a:latin typeface="Segoe UI" pitchFamily="34" charset="0"/>
                <a:ea typeface="Segoe UI" pitchFamily="34" charset="-122"/>
                <a:cs typeface="Segoe UI" pitchFamily="34" charset="-120"/>
              </a:rPr>
              <a:t>✕</a:t>
            </a:r>
            <a:endParaRPr lang="en-US" sz="1800" dirty="0"/>
          </a:p>
        </p:txBody>
      </p:sp>
      <p:sp>
        <p:nvSpPr>
          <p:cNvPr id="6" name="Text 4"/>
          <p:cNvSpPr/>
          <p:nvPr/>
        </p:nvSpPr>
        <p:spPr>
          <a:xfrm>
            <a:off x="1188720" y="1024128"/>
            <a:ext cx="7315200" cy="320040"/>
          </a:xfrm>
          <a:prstGeom prst="rect">
            <a:avLst/>
          </a:prstGeom>
          <a:noFill/>
          <a:ln/>
        </p:spPr>
        <p:txBody>
          <a:bodyPr wrap="square" lIns="0" tIns="0" rIns="0" bIns="0" rtlCol="0" anchor="ctr"/>
          <a:lstStyle/>
          <a:p>
            <a:pPr indent="0" marL="0">
              <a:buNone/>
            </a:pPr>
            <a:r>
              <a:rPr lang="en-US" sz="1600" b="1" dirty="0">
                <a:solidFill>
                  <a:srgbClr val="DC3545"/>
                </a:solidFill>
                <a:latin typeface="BIZ UDPGothic" pitchFamily="34" charset="0"/>
                <a:ea typeface="BIZ UDPGothic" pitchFamily="34" charset="-122"/>
                <a:cs typeface="BIZ UDPGothic" pitchFamily="34" charset="-120"/>
              </a:rPr>
              <a:t>消化のよいものならいくらでも食べてよい</a:t>
            </a:r>
            <a:endParaRPr lang="en-US" sz="1600" dirty="0"/>
          </a:p>
        </p:txBody>
      </p:sp>
      <p:sp>
        <p:nvSpPr>
          <p:cNvPr id="7" name="Text 5"/>
          <p:cNvSpPr/>
          <p:nvPr/>
        </p:nvSpPr>
        <p:spPr>
          <a:xfrm>
            <a:off x="1188720" y="1389888"/>
            <a:ext cx="7315200" cy="320040"/>
          </a:xfrm>
          <a:prstGeom prst="rect">
            <a:avLst/>
          </a:prstGeom>
          <a:noFill/>
          <a:ln/>
        </p:spPr>
        <p:txBody>
          <a:bodyPr wrap="square" lIns="0" tIns="0" rIns="0" bIns="0" rtlCol="0" anchor="ctr"/>
          <a:lstStyle/>
          <a:p>
            <a:pPr indent="0" marL="0">
              <a:buNone/>
            </a:pPr>
            <a:r>
              <a:rPr lang="en-US" sz="1300" dirty="0">
                <a:solidFill>
                  <a:srgbClr val="2E7D32"/>
                </a:solidFill>
                <a:latin typeface="BIZ UDPGothic" pitchFamily="34" charset="0"/>
                <a:ea typeface="BIZ UDPGothic" pitchFamily="34" charset="-122"/>
                <a:cs typeface="BIZ UDPGothic" pitchFamily="34" charset="-120"/>
              </a:rPr>
              <a:t>→ 一度に食べる量そのものが症状に関わる。何をと同時にどのくらいかが重要</a:t>
            </a:r>
            <a:endParaRPr lang="en-US" sz="1300" dirty="0"/>
          </a:p>
        </p:txBody>
      </p:sp>
      <p:sp>
        <p:nvSpPr>
          <p:cNvPr id="8" name="Shape 6"/>
          <p:cNvSpPr/>
          <p:nvPr/>
        </p:nvSpPr>
        <p:spPr>
          <a:xfrm>
            <a:off x="548640" y="1920240"/>
            <a:ext cx="8046720" cy="777240"/>
          </a:xfrm>
          <a:prstGeom prst="roundRect">
            <a:avLst>
              <a:gd name="adj" fmla="val 9412"/>
            </a:avLst>
          </a:prstGeom>
          <a:solidFill>
            <a:srgbClr val="FFFFFF"/>
          </a:solidFill>
          <a:ln/>
          <a:effectLst>
            <a:outerShdw sx="100000" sy="100000" kx="0" ky="0" algn="bl" rotWithShape="0" blurRad="50800" dist="25400" dir="8100000">
              <a:srgbClr val="000000">
                <a:alpha val="12000"/>
              </a:srgbClr>
            </a:outerShdw>
          </a:effectLst>
        </p:spPr>
      </p:sp>
      <p:sp>
        <p:nvSpPr>
          <p:cNvPr id="9" name="Text 7"/>
          <p:cNvSpPr/>
          <p:nvPr/>
        </p:nvSpPr>
        <p:spPr>
          <a:xfrm>
            <a:off x="731520" y="1938528"/>
            <a:ext cx="457200" cy="365760"/>
          </a:xfrm>
          <a:prstGeom prst="rect">
            <a:avLst/>
          </a:prstGeom>
          <a:noFill/>
          <a:ln/>
        </p:spPr>
        <p:txBody>
          <a:bodyPr wrap="square" lIns="0" tIns="0" rIns="0" bIns="0" rtlCol="0" anchor="ctr"/>
          <a:lstStyle/>
          <a:p>
            <a:pPr algn="ctr" indent="0" marL="0">
              <a:buNone/>
            </a:pPr>
            <a:r>
              <a:rPr lang="en-US" sz="1800" b="1" dirty="0">
                <a:solidFill>
                  <a:srgbClr val="DC3545"/>
                </a:solidFill>
                <a:latin typeface="Segoe UI" pitchFamily="34" charset="0"/>
                <a:ea typeface="Segoe UI" pitchFamily="34" charset="-122"/>
                <a:cs typeface="Segoe UI" pitchFamily="34" charset="-120"/>
              </a:rPr>
              <a:t>✕</a:t>
            </a:r>
            <a:endParaRPr lang="en-US" sz="1800" dirty="0"/>
          </a:p>
        </p:txBody>
      </p:sp>
      <p:sp>
        <p:nvSpPr>
          <p:cNvPr id="10" name="Text 8"/>
          <p:cNvSpPr/>
          <p:nvPr/>
        </p:nvSpPr>
        <p:spPr>
          <a:xfrm>
            <a:off x="1188720" y="1938528"/>
            <a:ext cx="7315200" cy="320040"/>
          </a:xfrm>
          <a:prstGeom prst="rect">
            <a:avLst/>
          </a:prstGeom>
          <a:noFill/>
          <a:ln/>
        </p:spPr>
        <p:txBody>
          <a:bodyPr wrap="square" lIns="0" tIns="0" rIns="0" bIns="0" rtlCol="0" anchor="ctr"/>
          <a:lstStyle/>
          <a:p>
            <a:pPr indent="0" marL="0">
              <a:buNone/>
            </a:pPr>
            <a:r>
              <a:rPr lang="en-US" sz="1600" b="1" dirty="0">
                <a:solidFill>
                  <a:srgbClr val="DC3545"/>
                </a:solidFill>
                <a:latin typeface="BIZ UDPGothic" pitchFamily="34" charset="0"/>
                <a:ea typeface="BIZ UDPGothic" pitchFamily="34" charset="-122"/>
                <a:cs typeface="BIZ UDPGothic" pitchFamily="34" charset="-120"/>
              </a:rPr>
              <a:t>やわらかければ安心</a:t>
            </a:r>
            <a:endParaRPr lang="en-US" sz="1600" dirty="0"/>
          </a:p>
        </p:txBody>
      </p:sp>
      <p:sp>
        <p:nvSpPr>
          <p:cNvPr id="11" name="Text 9"/>
          <p:cNvSpPr/>
          <p:nvPr/>
        </p:nvSpPr>
        <p:spPr>
          <a:xfrm>
            <a:off x="1188720" y="2304288"/>
            <a:ext cx="7315200" cy="320040"/>
          </a:xfrm>
          <a:prstGeom prst="rect">
            <a:avLst/>
          </a:prstGeom>
          <a:noFill/>
          <a:ln/>
        </p:spPr>
        <p:txBody>
          <a:bodyPr wrap="square" lIns="0" tIns="0" rIns="0" bIns="0" rtlCol="0" anchor="ctr"/>
          <a:lstStyle/>
          <a:p>
            <a:pPr indent="0" marL="0">
              <a:buNone/>
            </a:pPr>
            <a:r>
              <a:rPr lang="en-US" sz="1300" dirty="0">
                <a:solidFill>
                  <a:srgbClr val="2E7D32"/>
                </a:solidFill>
                <a:latin typeface="BIZ UDPGothic" pitchFamily="34" charset="0"/>
                <a:ea typeface="BIZ UDPGothic" pitchFamily="34" charset="-122"/>
                <a:cs typeface="BIZ UDPGothic" pitchFamily="34" charset="-120"/>
              </a:rPr>
              <a:t>→ やわらかい菓子や甘い飲み物がかえってダンピング等の症状を悪化させる</a:t>
            </a:r>
            <a:endParaRPr lang="en-US" sz="1300" dirty="0"/>
          </a:p>
        </p:txBody>
      </p:sp>
      <p:sp>
        <p:nvSpPr>
          <p:cNvPr id="12" name="Shape 10"/>
          <p:cNvSpPr/>
          <p:nvPr/>
        </p:nvSpPr>
        <p:spPr>
          <a:xfrm>
            <a:off x="548640" y="2834640"/>
            <a:ext cx="8046720" cy="777240"/>
          </a:xfrm>
          <a:prstGeom prst="roundRect">
            <a:avLst>
              <a:gd name="adj" fmla="val 9412"/>
            </a:avLst>
          </a:prstGeom>
          <a:solidFill>
            <a:srgbClr val="FFFFFF"/>
          </a:solidFill>
          <a:ln/>
          <a:effectLst>
            <a:outerShdw sx="100000" sy="100000" kx="0" ky="0" algn="bl" rotWithShape="0" blurRad="50800" dist="25400" dir="8100000">
              <a:srgbClr val="000000">
                <a:alpha val="12000"/>
              </a:srgbClr>
            </a:outerShdw>
          </a:effectLst>
        </p:spPr>
      </p:sp>
      <p:sp>
        <p:nvSpPr>
          <p:cNvPr id="13" name="Text 11"/>
          <p:cNvSpPr/>
          <p:nvPr/>
        </p:nvSpPr>
        <p:spPr>
          <a:xfrm>
            <a:off x="731520" y="2852928"/>
            <a:ext cx="457200" cy="365760"/>
          </a:xfrm>
          <a:prstGeom prst="rect">
            <a:avLst/>
          </a:prstGeom>
          <a:noFill/>
          <a:ln/>
        </p:spPr>
        <p:txBody>
          <a:bodyPr wrap="square" lIns="0" tIns="0" rIns="0" bIns="0" rtlCol="0" anchor="ctr"/>
          <a:lstStyle/>
          <a:p>
            <a:pPr algn="ctr" indent="0" marL="0">
              <a:buNone/>
            </a:pPr>
            <a:r>
              <a:rPr lang="en-US" sz="1800" b="1" dirty="0">
                <a:solidFill>
                  <a:srgbClr val="DC3545"/>
                </a:solidFill>
                <a:latin typeface="Segoe UI" pitchFamily="34" charset="0"/>
                <a:ea typeface="Segoe UI" pitchFamily="34" charset="-122"/>
                <a:cs typeface="Segoe UI" pitchFamily="34" charset="-120"/>
              </a:rPr>
              <a:t>✕</a:t>
            </a:r>
            <a:endParaRPr lang="en-US" sz="1800" dirty="0"/>
          </a:p>
        </p:txBody>
      </p:sp>
      <p:sp>
        <p:nvSpPr>
          <p:cNvPr id="14" name="Text 12"/>
          <p:cNvSpPr/>
          <p:nvPr/>
        </p:nvSpPr>
        <p:spPr>
          <a:xfrm>
            <a:off x="1188720" y="2852928"/>
            <a:ext cx="7315200" cy="320040"/>
          </a:xfrm>
          <a:prstGeom prst="rect">
            <a:avLst/>
          </a:prstGeom>
          <a:noFill/>
          <a:ln/>
        </p:spPr>
        <p:txBody>
          <a:bodyPr wrap="square" lIns="0" tIns="0" rIns="0" bIns="0" rtlCol="0" anchor="ctr"/>
          <a:lstStyle/>
          <a:p>
            <a:pPr indent="0" marL="0">
              <a:buNone/>
            </a:pPr>
            <a:r>
              <a:rPr lang="en-US" sz="1600" b="1" dirty="0">
                <a:solidFill>
                  <a:srgbClr val="DC3545"/>
                </a:solidFill>
                <a:latin typeface="BIZ UDPGothic" pitchFamily="34" charset="0"/>
                <a:ea typeface="BIZ UDPGothic" pitchFamily="34" charset="-122"/>
                <a:cs typeface="BIZ UDPGothic" pitchFamily="34" charset="-120"/>
              </a:rPr>
              <a:t>下痢があるから食べない方がよい</a:t>
            </a:r>
            <a:endParaRPr lang="en-US" sz="1600" dirty="0"/>
          </a:p>
        </p:txBody>
      </p:sp>
      <p:sp>
        <p:nvSpPr>
          <p:cNvPr id="15" name="Text 13"/>
          <p:cNvSpPr/>
          <p:nvPr/>
        </p:nvSpPr>
        <p:spPr>
          <a:xfrm>
            <a:off x="1188720" y="3218688"/>
            <a:ext cx="7315200" cy="320040"/>
          </a:xfrm>
          <a:prstGeom prst="rect">
            <a:avLst/>
          </a:prstGeom>
          <a:noFill/>
          <a:ln/>
        </p:spPr>
        <p:txBody>
          <a:bodyPr wrap="square" lIns="0" tIns="0" rIns="0" bIns="0" rtlCol="0" anchor="ctr"/>
          <a:lstStyle/>
          <a:p>
            <a:pPr indent="0" marL="0">
              <a:buNone/>
            </a:pPr>
            <a:r>
              <a:rPr lang="en-US" sz="1300" dirty="0">
                <a:solidFill>
                  <a:srgbClr val="2E7D32"/>
                </a:solidFill>
                <a:latin typeface="BIZ UDPGothic" pitchFamily="34" charset="0"/>
                <a:ea typeface="BIZ UDPGothic" pitchFamily="34" charset="-122"/>
                <a:cs typeface="BIZ UDPGothic" pitchFamily="34" charset="-120"/>
              </a:rPr>
              <a:t>→ 絶食気味にすると体重↓脱水↓低栄養が進む。量と内容を調整して確保</a:t>
            </a:r>
            <a:endParaRPr lang="en-US" sz="1300" dirty="0"/>
          </a:p>
        </p:txBody>
      </p:sp>
      <p:sp>
        <p:nvSpPr>
          <p:cNvPr id="16" name="Shape 14"/>
          <p:cNvSpPr/>
          <p:nvPr/>
        </p:nvSpPr>
        <p:spPr>
          <a:xfrm>
            <a:off x="548640" y="3749040"/>
            <a:ext cx="8046720" cy="777240"/>
          </a:xfrm>
          <a:prstGeom prst="roundRect">
            <a:avLst>
              <a:gd name="adj" fmla="val 9412"/>
            </a:avLst>
          </a:prstGeom>
          <a:solidFill>
            <a:srgbClr val="FFFFFF"/>
          </a:solidFill>
          <a:ln/>
          <a:effectLst>
            <a:outerShdw sx="100000" sy="100000" kx="0" ky="0" algn="bl" rotWithShape="0" blurRad="50800" dist="25400" dir="8100000">
              <a:srgbClr val="000000">
                <a:alpha val="12000"/>
              </a:srgbClr>
            </a:outerShdw>
          </a:effectLst>
        </p:spPr>
      </p:sp>
      <p:sp>
        <p:nvSpPr>
          <p:cNvPr id="17" name="Text 15"/>
          <p:cNvSpPr/>
          <p:nvPr/>
        </p:nvSpPr>
        <p:spPr>
          <a:xfrm>
            <a:off x="731520" y="3767328"/>
            <a:ext cx="457200" cy="365760"/>
          </a:xfrm>
          <a:prstGeom prst="rect">
            <a:avLst/>
          </a:prstGeom>
          <a:noFill/>
          <a:ln/>
        </p:spPr>
        <p:txBody>
          <a:bodyPr wrap="square" lIns="0" tIns="0" rIns="0" bIns="0" rtlCol="0" anchor="ctr"/>
          <a:lstStyle/>
          <a:p>
            <a:pPr algn="ctr" indent="0" marL="0">
              <a:buNone/>
            </a:pPr>
            <a:r>
              <a:rPr lang="en-US" sz="1800" b="1" dirty="0">
                <a:solidFill>
                  <a:srgbClr val="DC3545"/>
                </a:solidFill>
                <a:latin typeface="Segoe UI" pitchFamily="34" charset="0"/>
                <a:ea typeface="Segoe UI" pitchFamily="34" charset="-122"/>
                <a:cs typeface="Segoe UI" pitchFamily="34" charset="-120"/>
              </a:rPr>
              <a:t>✕</a:t>
            </a:r>
            <a:endParaRPr lang="en-US" sz="1800" dirty="0"/>
          </a:p>
        </p:txBody>
      </p:sp>
      <p:sp>
        <p:nvSpPr>
          <p:cNvPr id="18" name="Text 16"/>
          <p:cNvSpPr/>
          <p:nvPr/>
        </p:nvSpPr>
        <p:spPr>
          <a:xfrm>
            <a:off x="1188720" y="3767328"/>
            <a:ext cx="7315200" cy="320040"/>
          </a:xfrm>
          <a:prstGeom prst="rect">
            <a:avLst/>
          </a:prstGeom>
          <a:noFill/>
          <a:ln/>
        </p:spPr>
        <p:txBody>
          <a:bodyPr wrap="square" lIns="0" tIns="0" rIns="0" bIns="0" rtlCol="0" anchor="ctr"/>
          <a:lstStyle/>
          <a:p>
            <a:pPr indent="0" marL="0">
              <a:buNone/>
            </a:pPr>
            <a:r>
              <a:rPr lang="en-US" sz="1600" b="1" dirty="0">
                <a:solidFill>
                  <a:srgbClr val="DC3545"/>
                </a:solidFill>
                <a:latin typeface="BIZ UDPGothic" pitchFamily="34" charset="0"/>
                <a:ea typeface="BIZ UDPGothic" pitchFamily="34" charset="-122"/>
                <a:cs typeface="BIZ UDPGothic" pitchFamily="34" charset="-120"/>
              </a:rPr>
              <a:t>術後だからしばらく様子見でよい</a:t>
            </a:r>
            <a:endParaRPr lang="en-US" sz="1600" dirty="0"/>
          </a:p>
        </p:txBody>
      </p:sp>
      <p:sp>
        <p:nvSpPr>
          <p:cNvPr id="19" name="Text 17"/>
          <p:cNvSpPr/>
          <p:nvPr/>
        </p:nvSpPr>
        <p:spPr>
          <a:xfrm>
            <a:off x="1188720" y="4133088"/>
            <a:ext cx="7315200" cy="320040"/>
          </a:xfrm>
          <a:prstGeom prst="rect">
            <a:avLst/>
          </a:prstGeom>
          <a:noFill/>
          <a:ln/>
        </p:spPr>
        <p:txBody>
          <a:bodyPr wrap="square" lIns="0" tIns="0" rIns="0" bIns="0" rtlCol="0" anchor="ctr"/>
          <a:lstStyle/>
          <a:p>
            <a:pPr indent="0" marL="0">
              <a:buNone/>
            </a:pPr>
            <a:r>
              <a:rPr lang="en-US" sz="1300" dirty="0">
                <a:solidFill>
                  <a:srgbClr val="2E7D32"/>
                </a:solidFill>
                <a:latin typeface="BIZ UDPGothic" pitchFamily="34" charset="0"/>
                <a:ea typeface="BIZ UDPGothic" pitchFamily="34" charset="-122"/>
                <a:cs typeface="BIZ UDPGothic" pitchFamily="34" charset="-120"/>
              </a:rPr>
              <a:t>→ 体重減少大・貧血進行・長く食べられないなら栄養障害の評価が必要</a:t>
            </a:r>
            <a:endParaRPr lang="en-US" sz="1300" dirty="0"/>
          </a:p>
        </p:txBody>
      </p:sp>
      <p:sp>
        <p:nvSpPr>
          <p:cNvPr id="20" name="Shape 18"/>
          <p:cNvSpPr/>
          <p:nvPr/>
        </p:nvSpPr>
        <p:spPr>
          <a:xfrm>
            <a:off x="0" y="4892040"/>
            <a:ext cx="9144000" cy="256032"/>
          </a:xfrm>
          <a:prstGeom prst="rect">
            <a:avLst/>
          </a:prstGeom>
          <a:solidFill>
            <a:srgbClr val="1B5E20"/>
          </a:solidFill>
          <a:ln/>
        </p:spPr>
      </p:sp>
      <p:sp>
        <p:nvSpPr>
          <p:cNvPr id="21" name="Text 19"/>
          <p:cNvSpPr/>
          <p:nvPr/>
        </p:nvSpPr>
        <p:spPr>
          <a:xfrm>
            <a:off x="274320" y="4892040"/>
            <a:ext cx="8595360" cy="256032"/>
          </a:xfrm>
          <a:prstGeom prst="rect">
            <a:avLst/>
          </a:prstGeom>
          <a:noFill/>
          <a:ln/>
        </p:spPr>
        <p:txBody>
          <a:bodyPr wrap="square" lIns="0" tIns="0" rIns="0" bIns="0" rtlCol="0" anchor="ctr"/>
          <a:lstStyle/>
          <a:p>
            <a:pPr algn="r" indent="0" marL="0">
              <a:buNone/>
            </a:pPr>
            <a:r>
              <a:rPr lang="en-US" sz="1000" dirty="0">
                <a:solidFill>
                  <a:srgbClr val="A5D6A7"/>
                </a:solidFill>
                <a:latin typeface="BIZ UDPGothic" pitchFamily="34" charset="0"/>
                <a:ea typeface="BIZ UDPGothic" pitchFamily="34" charset="-122"/>
                <a:cs typeface="BIZ UDPGothic" pitchFamily="34" charset="-120"/>
              </a:rPr>
              <a:t>外来でそのまま使える食事指導シリーズ  第9回</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E7D32"/>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BIZ UDPGothic" pitchFamily="34" charset="0"/>
                <a:ea typeface="BIZ UDPGothic" pitchFamily="34" charset="-122"/>
                <a:cs typeface="BIZ UDPGothic" pitchFamily="34" charset="-120"/>
              </a:rPr>
              <a:t>外来で伝える行動目標の例</a:t>
            </a:r>
            <a:endParaRPr lang="en-US" sz="2800" dirty="0"/>
          </a:p>
        </p:txBody>
      </p:sp>
      <p:sp>
        <p:nvSpPr>
          <p:cNvPr id="4" name="Shape 2"/>
          <p:cNvSpPr/>
          <p:nvPr/>
        </p:nvSpPr>
        <p:spPr>
          <a:xfrm>
            <a:off x="731520" y="1051560"/>
            <a:ext cx="7680960" cy="502920"/>
          </a:xfrm>
          <a:prstGeom prst="roundRect">
            <a:avLst>
              <a:gd name="adj" fmla="val 18182"/>
            </a:avLst>
          </a:prstGeom>
          <a:solidFill>
            <a:srgbClr val="E8F5E9"/>
          </a:solidFill>
          <a:ln/>
        </p:spPr>
      </p:sp>
      <p:sp>
        <p:nvSpPr>
          <p:cNvPr id="5" name="Text 3"/>
          <p:cNvSpPr/>
          <p:nvPr/>
        </p:nvSpPr>
        <p:spPr>
          <a:xfrm>
            <a:off x="914400" y="1051560"/>
            <a:ext cx="7315200" cy="502920"/>
          </a:xfrm>
          <a:prstGeom prst="rect">
            <a:avLst/>
          </a:prstGeom>
          <a:noFill/>
          <a:ln/>
        </p:spPr>
        <p:txBody>
          <a:bodyPr wrap="square" lIns="0" tIns="0" rIns="0" bIns="0" rtlCol="0" anchor="ctr"/>
          <a:lstStyle/>
          <a:p>
            <a:pPr algn="ctr" indent="0" marL="0">
              <a:buNone/>
            </a:pPr>
            <a:r>
              <a:rPr lang="en-US" sz="1500" b="1" dirty="0">
                <a:solidFill>
                  <a:srgbClr val="1B5E20"/>
                </a:solidFill>
                <a:latin typeface="BIZ UDPGothic" pitchFamily="34" charset="0"/>
                <a:ea typeface="BIZ UDPGothic" pitchFamily="34" charset="-122"/>
                <a:cs typeface="BIZ UDPGothic" pitchFamily="34" charset="-120"/>
              </a:rPr>
              <a:t>「消化のよいものを」だけでは具体性に欠ける ― 症状に応じた目標を</a:t>
            </a:r>
            <a:endParaRPr lang="en-US" sz="1500" dirty="0"/>
          </a:p>
        </p:txBody>
      </p:sp>
      <p:sp>
        <p:nvSpPr>
          <p:cNvPr id="6" name="Shape 4"/>
          <p:cNvSpPr/>
          <p:nvPr/>
        </p:nvSpPr>
        <p:spPr>
          <a:xfrm>
            <a:off x="1371600" y="1828800"/>
            <a:ext cx="6400800" cy="548640"/>
          </a:xfrm>
          <a:prstGeom prst="roundRect">
            <a:avLst>
              <a:gd name="adj" fmla="val 13333"/>
            </a:avLst>
          </a:prstGeom>
          <a:solidFill>
            <a:srgbClr val="FFFFFF"/>
          </a:solidFill>
          <a:ln/>
          <a:effectLst>
            <a:outerShdw sx="100000" sy="100000" kx="0" ky="0" algn="bl" rotWithShape="0" blurRad="50800" dist="25400" dir="8100000">
              <a:srgbClr val="000000">
                <a:alpha val="12000"/>
              </a:srgbClr>
            </a:outerShdw>
          </a:effectLst>
        </p:spPr>
      </p:sp>
      <p:sp>
        <p:nvSpPr>
          <p:cNvPr id="7" name="Shape 5"/>
          <p:cNvSpPr/>
          <p:nvPr/>
        </p:nvSpPr>
        <p:spPr>
          <a:xfrm>
            <a:off x="1371600" y="1828800"/>
            <a:ext cx="91440" cy="548640"/>
          </a:xfrm>
          <a:prstGeom prst="roundRect">
            <a:avLst/>
          </a:prstGeom>
          <a:solidFill>
            <a:srgbClr val="FF8F00"/>
          </a:solidFill>
          <a:ln/>
        </p:spPr>
      </p:sp>
      <p:sp>
        <p:nvSpPr>
          <p:cNvPr id="8" name="Text 6"/>
          <p:cNvSpPr/>
          <p:nvPr/>
        </p:nvSpPr>
        <p:spPr>
          <a:xfrm>
            <a:off x="1737360" y="1828800"/>
            <a:ext cx="5852160" cy="548640"/>
          </a:xfrm>
          <a:prstGeom prst="rect">
            <a:avLst/>
          </a:prstGeom>
          <a:noFill/>
          <a:ln/>
        </p:spPr>
        <p:txBody>
          <a:bodyPr wrap="square" lIns="0" tIns="0" rIns="0" bIns="0" rtlCol="0" anchor="ctr"/>
          <a:lstStyle/>
          <a:p>
            <a:pPr indent="0" marL="0">
              <a:buNone/>
            </a:pPr>
            <a:r>
              <a:rPr lang="en-US" sz="1800" dirty="0">
                <a:solidFill>
                  <a:srgbClr val="2D3436"/>
                </a:solidFill>
                <a:latin typeface="BIZ UDPGothic" pitchFamily="34" charset="0"/>
                <a:ea typeface="BIZ UDPGothic" pitchFamily="34" charset="-122"/>
                <a:cs typeface="BIZ UDPGothic" pitchFamily="34" charset="-120"/>
              </a:rPr>
              <a:t>▸ 1回の食事量を少なめにして回数で補う</a:t>
            </a:r>
            <a:endParaRPr lang="en-US" sz="1800" dirty="0"/>
          </a:p>
        </p:txBody>
      </p:sp>
      <p:sp>
        <p:nvSpPr>
          <p:cNvPr id="9" name="Shape 7"/>
          <p:cNvSpPr/>
          <p:nvPr/>
        </p:nvSpPr>
        <p:spPr>
          <a:xfrm>
            <a:off x="1371600" y="2514600"/>
            <a:ext cx="6400800" cy="548640"/>
          </a:xfrm>
          <a:prstGeom prst="roundRect">
            <a:avLst>
              <a:gd name="adj" fmla="val 13333"/>
            </a:avLst>
          </a:prstGeom>
          <a:solidFill>
            <a:srgbClr val="FFFFFF"/>
          </a:solidFill>
          <a:ln/>
          <a:effectLst>
            <a:outerShdw sx="100000" sy="100000" kx="0" ky="0" algn="bl" rotWithShape="0" blurRad="50800" dist="25400" dir="8100000">
              <a:srgbClr val="000000">
                <a:alpha val="12000"/>
              </a:srgbClr>
            </a:outerShdw>
          </a:effectLst>
        </p:spPr>
      </p:sp>
      <p:sp>
        <p:nvSpPr>
          <p:cNvPr id="10" name="Shape 8"/>
          <p:cNvSpPr/>
          <p:nvPr/>
        </p:nvSpPr>
        <p:spPr>
          <a:xfrm>
            <a:off x="1371600" y="2514600"/>
            <a:ext cx="91440" cy="548640"/>
          </a:xfrm>
          <a:prstGeom prst="roundRect">
            <a:avLst/>
          </a:prstGeom>
          <a:solidFill>
            <a:srgbClr val="FF8F00"/>
          </a:solidFill>
          <a:ln/>
        </p:spPr>
      </p:sp>
      <p:sp>
        <p:nvSpPr>
          <p:cNvPr id="11" name="Text 9"/>
          <p:cNvSpPr/>
          <p:nvPr/>
        </p:nvSpPr>
        <p:spPr>
          <a:xfrm>
            <a:off x="1737360" y="2514600"/>
            <a:ext cx="5852160" cy="548640"/>
          </a:xfrm>
          <a:prstGeom prst="rect">
            <a:avLst/>
          </a:prstGeom>
          <a:noFill/>
          <a:ln/>
        </p:spPr>
        <p:txBody>
          <a:bodyPr wrap="square" lIns="0" tIns="0" rIns="0" bIns="0" rtlCol="0" anchor="ctr"/>
          <a:lstStyle/>
          <a:p>
            <a:pPr indent="0" marL="0">
              <a:buNone/>
            </a:pPr>
            <a:r>
              <a:rPr lang="en-US" sz="1800" dirty="0">
                <a:solidFill>
                  <a:srgbClr val="2D3436"/>
                </a:solidFill>
                <a:latin typeface="BIZ UDPGothic" pitchFamily="34" charset="0"/>
                <a:ea typeface="BIZ UDPGothic" pitchFamily="34" charset="-122"/>
                <a:cs typeface="BIZ UDPGothic" pitchFamily="34" charset="-120"/>
              </a:rPr>
              <a:t>▸ 甘い飲み物を食事中に一気に飲まない</a:t>
            </a:r>
            <a:endParaRPr lang="en-US" sz="1800" dirty="0"/>
          </a:p>
        </p:txBody>
      </p:sp>
      <p:sp>
        <p:nvSpPr>
          <p:cNvPr id="12" name="Shape 10"/>
          <p:cNvSpPr/>
          <p:nvPr/>
        </p:nvSpPr>
        <p:spPr>
          <a:xfrm>
            <a:off x="1371600" y="3200400"/>
            <a:ext cx="6400800" cy="548640"/>
          </a:xfrm>
          <a:prstGeom prst="roundRect">
            <a:avLst>
              <a:gd name="adj" fmla="val 13333"/>
            </a:avLst>
          </a:prstGeom>
          <a:solidFill>
            <a:srgbClr val="FFFFFF"/>
          </a:solidFill>
          <a:ln/>
          <a:effectLst>
            <a:outerShdw sx="100000" sy="100000" kx="0" ky="0" algn="bl" rotWithShape="0" blurRad="50800" dist="25400" dir="8100000">
              <a:srgbClr val="000000">
                <a:alpha val="12000"/>
              </a:srgbClr>
            </a:outerShdw>
          </a:effectLst>
        </p:spPr>
      </p:sp>
      <p:sp>
        <p:nvSpPr>
          <p:cNvPr id="13" name="Shape 11"/>
          <p:cNvSpPr/>
          <p:nvPr/>
        </p:nvSpPr>
        <p:spPr>
          <a:xfrm>
            <a:off x="1371600" y="3200400"/>
            <a:ext cx="91440" cy="548640"/>
          </a:xfrm>
          <a:prstGeom prst="roundRect">
            <a:avLst/>
          </a:prstGeom>
          <a:solidFill>
            <a:srgbClr val="FF8F00"/>
          </a:solidFill>
          <a:ln/>
        </p:spPr>
      </p:sp>
      <p:sp>
        <p:nvSpPr>
          <p:cNvPr id="14" name="Text 12"/>
          <p:cNvSpPr/>
          <p:nvPr/>
        </p:nvSpPr>
        <p:spPr>
          <a:xfrm>
            <a:off x="1737360" y="3200400"/>
            <a:ext cx="5852160" cy="548640"/>
          </a:xfrm>
          <a:prstGeom prst="rect">
            <a:avLst/>
          </a:prstGeom>
          <a:noFill/>
          <a:ln/>
        </p:spPr>
        <p:txBody>
          <a:bodyPr wrap="square" lIns="0" tIns="0" rIns="0" bIns="0" rtlCol="0" anchor="ctr"/>
          <a:lstStyle/>
          <a:p>
            <a:pPr indent="0" marL="0">
              <a:buNone/>
            </a:pPr>
            <a:r>
              <a:rPr lang="en-US" sz="1800" dirty="0">
                <a:solidFill>
                  <a:srgbClr val="2D3436"/>
                </a:solidFill>
                <a:latin typeface="BIZ UDPGothic" pitchFamily="34" charset="0"/>
                <a:ea typeface="BIZ UDPGothic" pitchFamily="34" charset="-122"/>
                <a:cs typeface="BIZ UDPGothic" pitchFamily="34" charset="-120"/>
              </a:rPr>
              <a:t>▸ 毎食たんぱく質を1品加える</a:t>
            </a:r>
            <a:endParaRPr lang="en-US" sz="1800" dirty="0"/>
          </a:p>
        </p:txBody>
      </p:sp>
      <p:sp>
        <p:nvSpPr>
          <p:cNvPr id="15" name="Shape 13"/>
          <p:cNvSpPr/>
          <p:nvPr/>
        </p:nvSpPr>
        <p:spPr>
          <a:xfrm>
            <a:off x="1371600" y="3886200"/>
            <a:ext cx="6400800" cy="548640"/>
          </a:xfrm>
          <a:prstGeom prst="roundRect">
            <a:avLst>
              <a:gd name="adj" fmla="val 13333"/>
            </a:avLst>
          </a:prstGeom>
          <a:solidFill>
            <a:srgbClr val="FFFFFF"/>
          </a:solidFill>
          <a:ln/>
          <a:effectLst>
            <a:outerShdw sx="100000" sy="100000" kx="0" ky="0" algn="bl" rotWithShape="0" blurRad="50800" dist="25400" dir="8100000">
              <a:srgbClr val="000000">
                <a:alpha val="12000"/>
              </a:srgbClr>
            </a:outerShdw>
          </a:effectLst>
        </p:spPr>
      </p:sp>
      <p:sp>
        <p:nvSpPr>
          <p:cNvPr id="16" name="Shape 14"/>
          <p:cNvSpPr/>
          <p:nvPr/>
        </p:nvSpPr>
        <p:spPr>
          <a:xfrm>
            <a:off x="1371600" y="3886200"/>
            <a:ext cx="91440" cy="548640"/>
          </a:xfrm>
          <a:prstGeom prst="roundRect">
            <a:avLst/>
          </a:prstGeom>
          <a:solidFill>
            <a:srgbClr val="FF8F00"/>
          </a:solidFill>
          <a:ln/>
        </p:spPr>
      </p:sp>
      <p:sp>
        <p:nvSpPr>
          <p:cNvPr id="17" name="Text 15"/>
          <p:cNvSpPr/>
          <p:nvPr/>
        </p:nvSpPr>
        <p:spPr>
          <a:xfrm>
            <a:off x="1737360" y="3886200"/>
            <a:ext cx="5852160" cy="548640"/>
          </a:xfrm>
          <a:prstGeom prst="rect">
            <a:avLst/>
          </a:prstGeom>
          <a:noFill/>
          <a:ln/>
        </p:spPr>
        <p:txBody>
          <a:bodyPr wrap="square" lIns="0" tIns="0" rIns="0" bIns="0" rtlCol="0" anchor="ctr"/>
          <a:lstStyle/>
          <a:p>
            <a:pPr indent="0" marL="0">
              <a:buNone/>
            </a:pPr>
            <a:r>
              <a:rPr lang="en-US" sz="1800" dirty="0">
                <a:solidFill>
                  <a:srgbClr val="2D3436"/>
                </a:solidFill>
                <a:latin typeface="BIZ UDPGothic" pitchFamily="34" charset="0"/>
                <a:ea typeface="BIZ UDPGothic" pitchFamily="34" charset="-122"/>
                <a:cs typeface="BIZ UDPGothic" pitchFamily="34" charset="-120"/>
              </a:rPr>
              <a:t>▸ 体重を週1回測定する</a:t>
            </a:r>
            <a:endParaRPr lang="en-US" sz="1800" dirty="0"/>
          </a:p>
        </p:txBody>
      </p:sp>
      <p:sp>
        <p:nvSpPr>
          <p:cNvPr id="18" name="Shape 16"/>
          <p:cNvSpPr/>
          <p:nvPr/>
        </p:nvSpPr>
        <p:spPr>
          <a:xfrm>
            <a:off x="0" y="4892040"/>
            <a:ext cx="9144000" cy="256032"/>
          </a:xfrm>
          <a:prstGeom prst="rect">
            <a:avLst/>
          </a:prstGeom>
          <a:solidFill>
            <a:srgbClr val="1B5E20"/>
          </a:solidFill>
          <a:ln/>
        </p:spPr>
      </p:sp>
      <p:sp>
        <p:nvSpPr>
          <p:cNvPr id="19" name="Text 17"/>
          <p:cNvSpPr/>
          <p:nvPr/>
        </p:nvSpPr>
        <p:spPr>
          <a:xfrm>
            <a:off x="274320" y="4892040"/>
            <a:ext cx="8595360" cy="256032"/>
          </a:xfrm>
          <a:prstGeom prst="rect">
            <a:avLst/>
          </a:prstGeom>
          <a:noFill/>
          <a:ln/>
        </p:spPr>
        <p:txBody>
          <a:bodyPr wrap="square" lIns="0" tIns="0" rIns="0" bIns="0" rtlCol="0" anchor="ctr"/>
          <a:lstStyle/>
          <a:p>
            <a:pPr algn="r" indent="0" marL="0">
              <a:buNone/>
            </a:pPr>
            <a:r>
              <a:rPr lang="en-US" sz="1000" dirty="0">
                <a:solidFill>
                  <a:srgbClr val="A5D6A7"/>
                </a:solidFill>
                <a:latin typeface="BIZ UDPGothic" pitchFamily="34" charset="0"/>
                <a:ea typeface="BIZ UDPGothic" pitchFamily="34" charset="-122"/>
                <a:cs typeface="BIZ UDPGothic" pitchFamily="34" charset="-120"/>
              </a:rPr>
              <a:t>外来でそのまま使える食事指導シリーズ  第9回</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E7D32"/>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BIZ UDPGothic" pitchFamily="34" charset="0"/>
                <a:ea typeface="BIZ UDPGothic" pitchFamily="34" charset="-122"/>
                <a:cs typeface="BIZ UDPGothic" pitchFamily="34" charset="-120"/>
              </a:rPr>
              <a:t>まとめ — Key Takeaways</a:t>
            </a:r>
            <a:endParaRPr lang="en-US" sz="2800" dirty="0"/>
          </a:p>
        </p:txBody>
      </p:sp>
      <p:sp>
        <p:nvSpPr>
          <p:cNvPr id="4" name="Shape 2"/>
          <p:cNvSpPr/>
          <p:nvPr/>
        </p:nvSpPr>
        <p:spPr>
          <a:xfrm>
            <a:off x="731520" y="1097280"/>
            <a:ext cx="7680960" cy="548640"/>
          </a:xfrm>
          <a:prstGeom prst="roundRect">
            <a:avLst>
              <a:gd name="adj" fmla="val 16667"/>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731520" y="1097280"/>
            <a:ext cx="109728" cy="548640"/>
          </a:xfrm>
          <a:prstGeom prst="roundRect">
            <a:avLst/>
          </a:prstGeom>
          <a:solidFill>
            <a:srgbClr val="FF8F00"/>
          </a:solidFill>
          <a:ln/>
        </p:spPr>
      </p:sp>
      <p:sp>
        <p:nvSpPr>
          <p:cNvPr id="6" name="Text 4"/>
          <p:cNvSpPr/>
          <p:nvPr/>
        </p:nvSpPr>
        <p:spPr>
          <a:xfrm>
            <a:off x="1097280" y="1097280"/>
            <a:ext cx="7132320" cy="548640"/>
          </a:xfrm>
          <a:prstGeom prst="rect">
            <a:avLst/>
          </a:prstGeom>
          <a:noFill/>
          <a:ln/>
        </p:spPr>
        <p:txBody>
          <a:bodyPr wrap="square" lIns="0" tIns="0" rIns="0" bIns="0" rtlCol="0" anchor="ctr"/>
          <a:lstStyle/>
          <a:p>
            <a:pPr indent="0" marL="0">
              <a:buNone/>
            </a:pPr>
            <a:r>
              <a:rPr lang="en-US" sz="1800" dirty="0">
                <a:solidFill>
                  <a:srgbClr val="2D3436"/>
                </a:solidFill>
                <a:latin typeface="BIZ UDPGothic" pitchFamily="34" charset="0"/>
                <a:ea typeface="BIZ UDPGothic" pitchFamily="34" charset="-122"/>
                <a:cs typeface="BIZ UDPGothic" pitchFamily="34" charset="-120"/>
              </a:rPr>
              <a:t>✓  消化管術後の食事指導の基本は少量頻回</a:t>
            </a:r>
            <a:endParaRPr lang="en-US" sz="1800" dirty="0"/>
          </a:p>
        </p:txBody>
      </p:sp>
      <p:sp>
        <p:nvSpPr>
          <p:cNvPr id="7" name="Shape 5"/>
          <p:cNvSpPr/>
          <p:nvPr/>
        </p:nvSpPr>
        <p:spPr>
          <a:xfrm>
            <a:off x="731520" y="1783080"/>
            <a:ext cx="7680960" cy="548640"/>
          </a:xfrm>
          <a:prstGeom prst="roundRect">
            <a:avLst>
              <a:gd name="adj" fmla="val 16667"/>
            </a:avLst>
          </a:prstGeom>
          <a:solidFill>
            <a:srgbClr val="FFFFFF"/>
          </a:solidFill>
          <a:ln/>
          <a:effectLst>
            <a:outerShdw sx="100000" sy="100000" kx="0" ky="0" algn="bl" rotWithShape="0" blurRad="50800" dist="25400" dir="8100000">
              <a:srgbClr val="000000">
                <a:alpha val="12000"/>
              </a:srgbClr>
            </a:outerShdw>
          </a:effectLst>
        </p:spPr>
      </p:sp>
      <p:sp>
        <p:nvSpPr>
          <p:cNvPr id="8" name="Shape 6"/>
          <p:cNvSpPr/>
          <p:nvPr/>
        </p:nvSpPr>
        <p:spPr>
          <a:xfrm>
            <a:off x="731520" y="1783080"/>
            <a:ext cx="109728" cy="548640"/>
          </a:xfrm>
          <a:prstGeom prst="roundRect">
            <a:avLst/>
          </a:prstGeom>
          <a:solidFill>
            <a:srgbClr val="FF8F00"/>
          </a:solidFill>
          <a:ln/>
        </p:spPr>
      </p:sp>
      <p:sp>
        <p:nvSpPr>
          <p:cNvPr id="9" name="Text 7"/>
          <p:cNvSpPr/>
          <p:nvPr/>
        </p:nvSpPr>
        <p:spPr>
          <a:xfrm>
            <a:off x="1097280" y="1783080"/>
            <a:ext cx="7132320" cy="548640"/>
          </a:xfrm>
          <a:prstGeom prst="rect">
            <a:avLst/>
          </a:prstGeom>
          <a:noFill/>
          <a:ln/>
        </p:spPr>
        <p:txBody>
          <a:bodyPr wrap="square" lIns="0" tIns="0" rIns="0" bIns="0" rtlCol="0" anchor="ctr"/>
          <a:lstStyle/>
          <a:p>
            <a:pPr indent="0" marL="0">
              <a:buNone/>
            </a:pPr>
            <a:r>
              <a:rPr lang="en-US" sz="1800" dirty="0">
                <a:solidFill>
                  <a:srgbClr val="2D3436"/>
                </a:solidFill>
                <a:latin typeface="BIZ UDPGothic" pitchFamily="34" charset="0"/>
                <a:ea typeface="BIZ UDPGothic" pitchFamily="34" charset="-122"/>
                <a:cs typeface="BIZ UDPGothic" pitchFamily="34" charset="-120"/>
              </a:rPr>
              <a:t>✓  胃切除後はダンピング症状を意識し糖質に偏らない</a:t>
            </a:r>
            <a:endParaRPr lang="en-US" sz="1800" dirty="0"/>
          </a:p>
        </p:txBody>
      </p:sp>
      <p:sp>
        <p:nvSpPr>
          <p:cNvPr id="10" name="Shape 8"/>
          <p:cNvSpPr/>
          <p:nvPr/>
        </p:nvSpPr>
        <p:spPr>
          <a:xfrm>
            <a:off x="731520" y="2468880"/>
            <a:ext cx="7680960" cy="548640"/>
          </a:xfrm>
          <a:prstGeom prst="roundRect">
            <a:avLst>
              <a:gd name="adj" fmla="val 16667"/>
            </a:avLst>
          </a:prstGeom>
          <a:solidFill>
            <a:srgbClr val="FFFFFF"/>
          </a:solidFill>
          <a:ln/>
          <a:effectLst>
            <a:outerShdw sx="100000" sy="100000" kx="0" ky="0" algn="bl" rotWithShape="0" blurRad="50800" dist="25400" dir="8100000">
              <a:srgbClr val="000000">
                <a:alpha val="12000"/>
              </a:srgbClr>
            </a:outerShdw>
          </a:effectLst>
        </p:spPr>
      </p:sp>
      <p:sp>
        <p:nvSpPr>
          <p:cNvPr id="11" name="Shape 9"/>
          <p:cNvSpPr/>
          <p:nvPr/>
        </p:nvSpPr>
        <p:spPr>
          <a:xfrm>
            <a:off x="731520" y="2468880"/>
            <a:ext cx="109728" cy="548640"/>
          </a:xfrm>
          <a:prstGeom prst="roundRect">
            <a:avLst/>
          </a:prstGeom>
          <a:solidFill>
            <a:srgbClr val="FF8F00"/>
          </a:solidFill>
          <a:ln/>
        </p:spPr>
      </p:sp>
      <p:sp>
        <p:nvSpPr>
          <p:cNvPr id="12" name="Text 10"/>
          <p:cNvSpPr/>
          <p:nvPr/>
        </p:nvSpPr>
        <p:spPr>
          <a:xfrm>
            <a:off x="1097280" y="2468880"/>
            <a:ext cx="7132320" cy="548640"/>
          </a:xfrm>
          <a:prstGeom prst="rect">
            <a:avLst/>
          </a:prstGeom>
          <a:noFill/>
          <a:ln/>
        </p:spPr>
        <p:txBody>
          <a:bodyPr wrap="square" lIns="0" tIns="0" rIns="0" bIns="0" rtlCol="0" anchor="ctr"/>
          <a:lstStyle/>
          <a:p>
            <a:pPr indent="0" marL="0">
              <a:buNone/>
            </a:pPr>
            <a:r>
              <a:rPr lang="en-US" sz="1800" dirty="0">
                <a:solidFill>
                  <a:srgbClr val="2D3436"/>
                </a:solidFill>
                <a:latin typeface="BIZ UDPGothic" pitchFamily="34" charset="0"/>
                <a:ea typeface="BIZ UDPGothic" pitchFamily="34" charset="-122"/>
                <a:cs typeface="BIZ UDPGothic" pitchFamily="34" charset="-120"/>
              </a:rPr>
              <a:t>✓  小腸術後は下痢・脱水・吸収障害を見落とさない</a:t>
            </a:r>
            <a:endParaRPr lang="en-US" sz="1800" dirty="0"/>
          </a:p>
        </p:txBody>
      </p:sp>
      <p:sp>
        <p:nvSpPr>
          <p:cNvPr id="13" name="Shape 11"/>
          <p:cNvSpPr/>
          <p:nvPr/>
        </p:nvSpPr>
        <p:spPr>
          <a:xfrm>
            <a:off x="731520" y="3154680"/>
            <a:ext cx="7680960" cy="548640"/>
          </a:xfrm>
          <a:prstGeom prst="roundRect">
            <a:avLst>
              <a:gd name="adj" fmla="val 16667"/>
            </a:avLst>
          </a:prstGeom>
          <a:solidFill>
            <a:srgbClr val="FFFFFF"/>
          </a:solidFill>
          <a:ln/>
          <a:effectLst>
            <a:outerShdw sx="100000" sy="100000" kx="0" ky="0" algn="bl" rotWithShape="0" blurRad="50800" dist="25400" dir="8100000">
              <a:srgbClr val="000000">
                <a:alpha val="12000"/>
              </a:srgbClr>
            </a:outerShdw>
          </a:effectLst>
        </p:spPr>
      </p:sp>
      <p:sp>
        <p:nvSpPr>
          <p:cNvPr id="14" name="Shape 12"/>
          <p:cNvSpPr/>
          <p:nvPr/>
        </p:nvSpPr>
        <p:spPr>
          <a:xfrm>
            <a:off x="731520" y="3154680"/>
            <a:ext cx="109728" cy="548640"/>
          </a:xfrm>
          <a:prstGeom prst="roundRect">
            <a:avLst/>
          </a:prstGeom>
          <a:solidFill>
            <a:srgbClr val="FF8F00"/>
          </a:solidFill>
          <a:ln/>
        </p:spPr>
      </p:sp>
      <p:sp>
        <p:nvSpPr>
          <p:cNvPr id="15" name="Text 13"/>
          <p:cNvSpPr/>
          <p:nvPr/>
        </p:nvSpPr>
        <p:spPr>
          <a:xfrm>
            <a:off x="1097280" y="3154680"/>
            <a:ext cx="7132320" cy="548640"/>
          </a:xfrm>
          <a:prstGeom prst="rect">
            <a:avLst/>
          </a:prstGeom>
          <a:noFill/>
          <a:ln/>
        </p:spPr>
        <p:txBody>
          <a:bodyPr wrap="square" lIns="0" tIns="0" rIns="0" bIns="0" rtlCol="0" anchor="ctr"/>
          <a:lstStyle/>
          <a:p>
            <a:pPr indent="0" marL="0">
              <a:buNone/>
            </a:pPr>
            <a:r>
              <a:rPr lang="en-US" sz="1800" dirty="0">
                <a:solidFill>
                  <a:srgbClr val="2D3436"/>
                </a:solidFill>
                <a:latin typeface="BIZ UDPGothic" pitchFamily="34" charset="0"/>
                <a:ea typeface="BIZ UDPGothic" pitchFamily="34" charset="-122"/>
                <a:cs typeface="BIZ UDPGothic" pitchFamily="34" charset="-120"/>
              </a:rPr>
              <a:t>✓  大腸術後は便通に合わせて調整する</a:t>
            </a:r>
            <a:endParaRPr lang="en-US" sz="1800" dirty="0"/>
          </a:p>
        </p:txBody>
      </p:sp>
      <p:sp>
        <p:nvSpPr>
          <p:cNvPr id="16" name="Shape 14"/>
          <p:cNvSpPr/>
          <p:nvPr/>
        </p:nvSpPr>
        <p:spPr>
          <a:xfrm>
            <a:off x="731520" y="3840480"/>
            <a:ext cx="7680960" cy="548640"/>
          </a:xfrm>
          <a:prstGeom prst="roundRect">
            <a:avLst>
              <a:gd name="adj" fmla="val 16667"/>
            </a:avLst>
          </a:prstGeom>
          <a:solidFill>
            <a:srgbClr val="FFFFFF"/>
          </a:solidFill>
          <a:ln/>
          <a:effectLst>
            <a:outerShdw sx="100000" sy="100000" kx="0" ky="0" algn="bl" rotWithShape="0" blurRad="50800" dist="25400" dir="8100000">
              <a:srgbClr val="000000">
                <a:alpha val="12000"/>
              </a:srgbClr>
            </a:outerShdw>
          </a:effectLst>
        </p:spPr>
      </p:sp>
      <p:sp>
        <p:nvSpPr>
          <p:cNvPr id="17" name="Shape 15"/>
          <p:cNvSpPr/>
          <p:nvPr/>
        </p:nvSpPr>
        <p:spPr>
          <a:xfrm>
            <a:off x="731520" y="3840480"/>
            <a:ext cx="109728" cy="548640"/>
          </a:xfrm>
          <a:prstGeom prst="roundRect">
            <a:avLst/>
          </a:prstGeom>
          <a:solidFill>
            <a:srgbClr val="FF8F00"/>
          </a:solidFill>
          <a:ln/>
        </p:spPr>
      </p:sp>
      <p:sp>
        <p:nvSpPr>
          <p:cNvPr id="18" name="Text 16"/>
          <p:cNvSpPr/>
          <p:nvPr/>
        </p:nvSpPr>
        <p:spPr>
          <a:xfrm>
            <a:off x="1097280" y="3840480"/>
            <a:ext cx="7132320" cy="548640"/>
          </a:xfrm>
          <a:prstGeom prst="rect">
            <a:avLst/>
          </a:prstGeom>
          <a:noFill/>
          <a:ln/>
        </p:spPr>
        <p:txBody>
          <a:bodyPr wrap="square" lIns="0" tIns="0" rIns="0" bIns="0" rtlCol="0" anchor="ctr"/>
          <a:lstStyle/>
          <a:p>
            <a:pPr indent="0" marL="0">
              <a:buNone/>
            </a:pPr>
            <a:r>
              <a:rPr lang="en-US" sz="1800" dirty="0">
                <a:solidFill>
                  <a:srgbClr val="2D3436"/>
                </a:solidFill>
                <a:latin typeface="BIZ UDPGothic" pitchFamily="34" charset="0"/>
                <a:ea typeface="BIZ UDPGothic" pitchFamily="34" charset="-122"/>
                <a:cs typeface="BIZ UDPGothic" pitchFamily="34" charset="-120"/>
              </a:rPr>
              <a:t>✓  症状を減らすことと低栄養・脱水を防ぐことの両立が最重要</a:t>
            </a:r>
            <a:endParaRPr lang="en-US" sz="1800" dirty="0"/>
          </a:p>
        </p:txBody>
      </p:sp>
      <p:sp>
        <p:nvSpPr>
          <p:cNvPr id="19" name="Shape 17"/>
          <p:cNvSpPr/>
          <p:nvPr/>
        </p:nvSpPr>
        <p:spPr>
          <a:xfrm>
            <a:off x="0" y="4892040"/>
            <a:ext cx="9144000" cy="256032"/>
          </a:xfrm>
          <a:prstGeom prst="rect">
            <a:avLst/>
          </a:prstGeom>
          <a:solidFill>
            <a:srgbClr val="1B5E20"/>
          </a:solidFill>
          <a:ln/>
        </p:spPr>
      </p:sp>
      <p:sp>
        <p:nvSpPr>
          <p:cNvPr id="20" name="Text 18"/>
          <p:cNvSpPr/>
          <p:nvPr/>
        </p:nvSpPr>
        <p:spPr>
          <a:xfrm>
            <a:off x="274320" y="4892040"/>
            <a:ext cx="8595360" cy="256032"/>
          </a:xfrm>
          <a:prstGeom prst="rect">
            <a:avLst/>
          </a:prstGeom>
          <a:noFill/>
          <a:ln/>
        </p:spPr>
        <p:txBody>
          <a:bodyPr wrap="square" lIns="0" tIns="0" rIns="0" bIns="0" rtlCol="0" anchor="ctr"/>
          <a:lstStyle/>
          <a:p>
            <a:pPr algn="r" indent="0" marL="0">
              <a:buNone/>
            </a:pPr>
            <a:r>
              <a:rPr lang="en-US" sz="1000" dirty="0">
                <a:solidFill>
                  <a:srgbClr val="A5D6A7"/>
                </a:solidFill>
                <a:latin typeface="BIZ UDPGothic" pitchFamily="34" charset="0"/>
                <a:ea typeface="BIZ UDPGothic" pitchFamily="34" charset="-122"/>
                <a:cs typeface="BIZ UDPGothic" pitchFamily="34" charset="-120"/>
              </a:rPr>
              <a:t>外来でそのまま使える食事指導シリーズ  第9回</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5E20"/>
        </a:solidFill>
      </p:bgPr>
    </p:bg>
    <p:spTree>
      <p:nvGrpSpPr>
        <p:cNvPr id="1" name=""/>
        <p:cNvGrpSpPr/>
        <p:nvPr/>
      </p:nvGrpSpPr>
      <p:grpSpPr>
        <a:xfrm>
          <a:off x="0" y="0"/>
          <a:ext cx="0" cy="0"/>
          <a:chOff x="0" y="0"/>
          <a:chExt cx="0" cy="0"/>
        </a:xfrm>
      </p:grpSpPr>
      <p:sp>
        <p:nvSpPr>
          <p:cNvPr id="2" name="Text 0"/>
          <p:cNvSpPr/>
          <p:nvPr/>
        </p:nvSpPr>
        <p:spPr>
          <a:xfrm>
            <a:off x="548640" y="1097280"/>
            <a:ext cx="8046720" cy="548640"/>
          </a:xfrm>
          <a:prstGeom prst="rect">
            <a:avLst/>
          </a:prstGeom>
          <a:noFill/>
          <a:ln/>
        </p:spPr>
        <p:txBody>
          <a:bodyPr wrap="square" lIns="0" tIns="0" rIns="0" bIns="0" rtlCol="0" anchor="ctr"/>
          <a:lstStyle/>
          <a:p>
            <a:pPr algn="ctr" indent="0" marL="0">
              <a:buNone/>
            </a:pPr>
            <a:r>
              <a:rPr lang="en-US" sz="1600" dirty="0">
                <a:solidFill>
                  <a:srgbClr val="A5D6A7"/>
                </a:solidFill>
                <a:latin typeface="BIZ UDPGothic" pitchFamily="34" charset="0"/>
                <a:ea typeface="BIZ UDPGothic" pitchFamily="34" charset="-122"/>
                <a:cs typeface="BIZ UDPGothic" pitchFamily="34" charset="-120"/>
              </a:rPr>
              <a:t>次回予告</a:t>
            </a:r>
            <a:endParaRPr lang="en-US" sz="1600" dirty="0"/>
          </a:p>
        </p:txBody>
      </p:sp>
      <p:sp>
        <p:nvSpPr>
          <p:cNvPr id="3" name="Shape 1"/>
          <p:cNvSpPr/>
          <p:nvPr/>
        </p:nvSpPr>
        <p:spPr>
          <a:xfrm>
            <a:off x="1371600" y="1828800"/>
            <a:ext cx="6400800" cy="1828800"/>
          </a:xfrm>
          <a:prstGeom prst="roundRect">
            <a:avLst>
              <a:gd name="adj" fmla="val 7500"/>
            </a:avLst>
          </a:prstGeom>
          <a:solidFill>
            <a:srgbClr val="1B5E20">
              <a:alpha val="25000"/>
            </a:srgbClr>
          </a:solidFill>
          <a:ln/>
        </p:spPr>
      </p:sp>
      <p:sp>
        <p:nvSpPr>
          <p:cNvPr id="4" name="Text 2"/>
          <p:cNvSpPr/>
          <p:nvPr/>
        </p:nvSpPr>
        <p:spPr>
          <a:xfrm>
            <a:off x="1371600" y="2011680"/>
            <a:ext cx="6400800" cy="548640"/>
          </a:xfrm>
          <a:prstGeom prst="rect">
            <a:avLst/>
          </a:prstGeom>
          <a:noFill/>
          <a:ln/>
        </p:spPr>
        <p:txBody>
          <a:bodyPr wrap="square" lIns="0" tIns="0" rIns="0" bIns="0" rtlCol="0" anchor="ctr"/>
          <a:lstStyle/>
          <a:p>
            <a:pPr algn="ctr" indent="0" marL="0">
              <a:buNone/>
            </a:pPr>
            <a:r>
              <a:rPr lang="en-US" sz="2000" b="1" dirty="0">
                <a:solidFill>
                  <a:srgbClr val="FF8F00"/>
                </a:solidFill>
                <a:latin typeface="BIZ UDPGothic" pitchFamily="34" charset="0"/>
                <a:ea typeface="BIZ UDPGothic" pitchFamily="34" charset="-122"/>
                <a:cs typeface="BIZ UDPGothic" pitchFamily="34" charset="-120"/>
              </a:rPr>
              <a:t>第10回</a:t>
            </a:r>
            <a:endParaRPr lang="en-US" sz="2000" dirty="0"/>
          </a:p>
        </p:txBody>
      </p:sp>
      <p:sp>
        <p:nvSpPr>
          <p:cNvPr id="5" name="Text 3"/>
          <p:cNvSpPr/>
          <p:nvPr/>
        </p:nvSpPr>
        <p:spPr>
          <a:xfrm>
            <a:off x="1371600" y="2651760"/>
            <a:ext cx="640080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BIZ UDPGothic" pitchFamily="34" charset="0"/>
                <a:ea typeface="BIZ UDPGothic" pitchFamily="34" charset="-122"/>
                <a:cs typeface="BIZ UDPGothic" pitchFamily="34" charset="-120"/>
              </a:rPr>
              <a:t>フレイル・多疾患併存の食事指導</a:t>
            </a:r>
            <a:endParaRPr lang="en-US" sz="2600" dirty="0"/>
          </a:p>
          <a:p>
            <a:pPr algn="ctr" indent="0" marL="0">
              <a:buNone/>
            </a:pPr>
            <a:r>
              <a:rPr lang="en-US" sz="2600" b="1" dirty="0">
                <a:solidFill>
                  <a:srgbClr val="FFFFFF"/>
                </a:solidFill>
                <a:latin typeface="BIZ UDPGothic" pitchFamily="34" charset="0"/>
                <a:ea typeface="BIZ UDPGothic" pitchFamily="34" charset="-122"/>
                <a:cs typeface="BIZ UDPGothic" pitchFamily="34" charset="-120"/>
              </a:rPr>
              <a:t>― 制限よりも「守る」優先順位</a:t>
            </a:r>
            <a:endParaRPr lang="en-US" sz="2600" dirty="0"/>
          </a:p>
        </p:txBody>
      </p:sp>
      <p:sp>
        <p:nvSpPr>
          <p:cNvPr id="6" name="Text 4"/>
          <p:cNvSpPr/>
          <p:nvPr/>
        </p:nvSpPr>
        <p:spPr>
          <a:xfrm>
            <a:off x="548640" y="4206240"/>
            <a:ext cx="8046720" cy="457200"/>
          </a:xfrm>
          <a:prstGeom prst="rect">
            <a:avLst/>
          </a:prstGeom>
          <a:noFill/>
          <a:ln/>
        </p:spPr>
        <p:txBody>
          <a:bodyPr wrap="square" lIns="0" tIns="0" rIns="0" bIns="0" rtlCol="0" anchor="ctr"/>
          <a:lstStyle/>
          <a:p>
            <a:pPr algn="ctr" indent="0" marL="0">
              <a:buNone/>
            </a:pPr>
            <a:r>
              <a:rPr lang="en-US" sz="1400" dirty="0">
                <a:solidFill>
                  <a:srgbClr val="B0BEC5"/>
                </a:solidFill>
                <a:latin typeface="BIZ UDPGothic" pitchFamily="34" charset="0"/>
                <a:ea typeface="BIZ UDPGothic" pitchFamily="34" charset="-122"/>
                <a:cs typeface="BIZ UDPGothic" pitchFamily="34" charset="-120"/>
              </a:rPr>
              <a:t>チャンネル登録で見逃さないようにしましょう</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5E20"/>
        </a:solidFill>
      </p:bgPr>
    </p:bg>
    <p:spTree>
      <p:nvGrpSpPr>
        <p:cNvPr id="1" name=""/>
        <p:cNvGrpSpPr/>
        <p:nvPr/>
      </p:nvGrpSpPr>
      <p:grpSpPr>
        <a:xfrm>
          <a:off x="0" y="0"/>
          <a:ext cx="0" cy="0"/>
          <a:chOff x="0" y="0"/>
          <a:chExt cx="0" cy="0"/>
        </a:xfrm>
      </p:grpSpPr>
      <p:sp>
        <p:nvSpPr>
          <p:cNvPr id="2" name="Text 0"/>
          <p:cNvSpPr/>
          <p:nvPr/>
        </p:nvSpPr>
        <p:spPr>
          <a:xfrm>
            <a:off x="548640" y="1097280"/>
            <a:ext cx="80467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BIZ UDPGothic" pitchFamily="34" charset="0"/>
                <a:ea typeface="BIZ UDPGothic" pitchFamily="34" charset="-122"/>
                <a:cs typeface="BIZ UDPGothic" pitchFamily="34" charset="-120"/>
              </a:rPr>
              <a:t>ご視聴ありがとうございました</a:t>
            </a:r>
            <a:endParaRPr lang="en-US" sz="3000" dirty="0"/>
          </a:p>
        </p:txBody>
      </p:sp>
      <p:sp>
        <p:nvSpPr>
          <p:cNvPr id="3" name="Shape 1"/>
          <p:cNvSpPr/>
          <p:nvPr/>
        </p:nvSpPr>
        <p:spPr>
          <a:xfrm>
            <a:off x="2743200" y="2011680"/>
            <a:ext cx="3657600" cy="0"/>
          </a:xfrm>
          <a:prstGeom prst="line">
            <a:avLst/>
          </a:prstGeom>
          <a:noFill/>
          <a:ln w="25400">
            <a:solidFill>
              <a:srgbClr val="FF8F00"/>
            </a:solidFill>
            <a:prstDash val="solid"/>
          </a:ln>
        </p:spPr>
      </p:sp>
      <p:sp>
        <p:nvSpPr>
          <p:cNvPr id="4" name="Text 2"/>
          <p:cNvSpPr/>
          <p:nvPr/>
        </p:nvSpPr>
        <p:spPr>
          <a:xfrm>
            <a:off x="1371600" y="2377440"/>
            <a:ext cx="6400800" cy="457200"/>
          </a:xfrm>
          <a:prstGeom prst="rect">
            <a:avLst/>
          </a:prstGeom>
          <a:noFill/>
          <a:ln/>
        </p:spPr>
        <p:txBody>
          <a:bodyPr wrap="square" lIns="0" tIns="0" rIns="0" bIns="0" rtlCol="0" anchor="ctr"/>
          <a:lstStyle/>
          <a:p>
            <a:pPr algn="ctr" indent="0" marL="0">
              <a:buNone/>
            </a:pPr>
            <a:r>
              <a:rPr lang="en-US" sz="1800" dirty="0">
                <a:solidFill>
                  <a:srgbClr val="E8F5E9"/>
                </a:solidFill>
                <a:latin typeface="BIZ UDPGothic" pitchFamily="34" charset="0"/>
                <a:ea typeface="BIZ UDPGothic" pitchFamily="34" charset="-122"/>
                <a:cs typeface="BIZ UDPGothic" pitchFamily="34" charset="-120"/>
              </a:rPr>
              <a:t>👍 高評価・チャンネル登録よろしくお願いします</a:t>
            </a:r>
            <a:endParaRPr lang="en-US" sz="1800" dirty="0"/>
          </a:p>
        </p:txBody>
      </p:sp>
      <p:sp>
        <p:nvSpPr>
          <p:cNvPr id="5" name="Text 3"/>
          <p:cNvSpPr/>
          <p:nvPr/>
        </p:nvSpPr>
        <p:spPr>
          <a:xfrm>
            <a:off x="1371600" y="3017520"/>
            <a:ext cx="6400800" cy="457200"/>
          </a:xfrm>
          <a:prstGeom prst="rect">
            <a:avLst/>
          </a:prstGeom>
          <a:noFill/>
          <a:ln/>
        </p:spPr>
        <p:txBody>
          <a:bodyPr wrap="square" lIns="0" tIns="0" rIns="0" bIns="0" rtlCol="0" anchor="ctr"/>
          <a:lstStyle/>
          <a:p>
            <a:pPr algn="ctr" indent="0" marL="0">
              <a:buNone/>
            </a:pPr>
            <a:r>
              <a:rPr lang="en-US" sz="1800" dirty="0">
                <a:solidFill>
                  <a:srgbClr val="E8F5E9"/>
                </a:solidFill>
                <a:latin typeface="BIZ UDPGothic" pitchFamily="34" charset="0"/>
                <a:ea typeface="BIZ UDPGothic" pitchFamily="34" charset="-122"/>
                <a:cs typeface="BIZ UDPGothic" pitchFamily="34" charset="-120"/>
              </a:rPr>
              <a:t>📋 再生リストから他の回もご覧ください</a:t>
            </a:r>
            <a:endParaRPr lang="en-US" sz="1800" dirty="0"/>
          </a:p>
        </p:txBody>
      </p:sp>
      <p:sp>
        <p:nvSpPr>
          <p:cNvPr id="6" name="Text 4"/>
          <p:cNvSpPr/>
          <p:nvPr/>
        </p:nvSpPr>
        <p:spPr>
          <a:xfrm>
            <a:off x="1371600" y="3657600"/>
            <a:ext cx="6400800" cy="457200"/>
          </a:xfrm>
          <a:prstGeom prst="rect">
            <a:avLst/>
          </a:prstGeom>
          <a:noFill/>
          <a:ln/>
        </p:spPr>
        <p:txBody>
          <a:bodyPr wrap="square" lIns="0" tIns="0" rIns="0" bIns="0" rtlCol="0" anchor="ctr"/>
          <a:lstStyle/>
          <a:p>
            <a:pPr algn="ctr" indent="0" marL="0">
              <a:buNone/>
            </a:pPr>
            <a:r>
              <a:rPr lang="en-US" sz="1800" dirty="0">
                <a:solidFill>
                  <a:srgbClr val="E8F5E9"/>
                </a:solidFill>
                <a:latin typeface="BIZ UDPGothic" pitchFamily="34" charset="0"/>
                <a:ea typeface="BIZ UDPGothic" pitchFamily="34" charset="-122"/>
                <a:cs typeface="BIZ UDPGothic" pitchFamily="34" charset="-120"/>
              </a:rPr>
              <a:t>💬 コメント欄で質問・リクエストお待ちしています</a:t>
            </a:r>
            <a:endParaRPr lang="en-US" sz="1800" dirty="0"/>
          </a:p>
        </p:txBody>
      </p:sp>
      <p:sp>
        <p:nvSpPr>
          <p:cNvPr id="7" name="Text 5"/>
          <p:cNvSpPr/>
          <p:nvPr/>
        </p:nvSpPr>
        <p:spPr>
          <a:xfrm>
            <a:off x="548640" y="4389120"/>
            <a:ext cx="8046720" cy="365760"/>
          </a:xfrm>
          <a:prstGeom prst="rect">
            <a:avLst/>
          </a:prstGeom>
          <a:noFill/>
          <a:ln/>
        </p:spPr>
        <p:txBody>
          <a:bodyPr wrap="square" lIns="0" tIns="0" rIns="0" bIns="0" rtlCol="0" anchor="ctr"/>
          <a:lstStyle/>
          <a:p>
            <a:pPr algn="ctr" indent="0" marL="0">
              <a:buNone/>
            </a:pPr>
            <a:r>
              <a:rPr lang="en-US" sz="1200" dirty="0">
                <a:solidFill>
                  <a:srgbClr val="A5D6A7"/>
                </a:solidFill>
                <a:latin typeface="BIZ UDPGothic" pitchFamily="34" charset="0"/>
                <a:ea typeface="BIZ UDPGothic" pitchFamily="34" charset="-122"/>
                <a:cs typeface="BIZ UDPGothic" pitchFamily="34" charset="-120"/>
              </a:rPr>
              <a:t>外来でそのまま使える食事指導シリーズ</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食事指導シリーズ 第9回 消化管術後</dc:title>
  <dc:subject>PptxGenJS Presentation</dc:subject>
  <dc:creator>今村久司</dc:creator>
  <cp:lastModifiedBy>今村久司</cp:lastModifiedBy>
  <cp:revision>1</cp:revision>
  <dcterms:created xsi:type="dcterms:W3CDTF">2026-03-26T02:18:37Z</dcterms:created>
  <dcterms:modified xsi:type="dcterms:W3CDTF">2026-03-26T02:18:37Z</dcterms:modified>
</cp:coreProperties>
</file>