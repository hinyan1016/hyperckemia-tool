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90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脳神経内科医が答える からだの不思議 #10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脳が「痛い」と感じる仕組み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4A90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― 脳自体は痛みを感じないのに</a:t>
            </a:r>
            <a:endParaRPr lang="en-US" sz="2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4A90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なぜ頭が痛くなるのか ―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743200" y="3154680"/>
            <a:ext cx="3657600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3832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医知創造ラボ  今村久司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3886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脳神経内科専門医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脳自体は痛みを感じない！？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137160" cy="12801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09728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手術中に患者さんが目を覚ましたまま、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脳に触れられても「痛くない」のは本当？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82296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事実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脳の実質（灰白質・白質）には、痛みを感じるセンサーが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ほとんど存在しない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外科医がメスで脳組織に直接触れても、患者さんは痛みを訴えない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0690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では……「頭が痛い」の正体は何か？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2/9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痛みのセンサー「侵害受容器」とは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05156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2C5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Nociceptor（侵害受容器）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組織の損傷や強い刺激（熱・機械的刺激・炎症性物質）に反応する特殊な神経終末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74320" y="2377440"/>
            <a:ext cx="420624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2377440"/>
            <a:ext cx="4206240" cy="45720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23774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侵害受容器がある組織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9260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✓  皮膚・皮下組織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30098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✓  筋肉・関節・腱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67588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✓  血管壁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05079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✓  内臓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42569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✓  硬膜（脳を包む膜）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✓  骨膜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46320" y="2377440"/>
            <a:ext cx="420624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2377440"/>
            <a:ext cx="4206240" cy="45720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23774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侵害受容器がない（乏しい）組織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29200" y="29260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✓  脳の実質（灰白質）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0" y="330098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✓  脳の実質（白質）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0" y="367588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✓  脊髄の実質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3/9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頭痛の本当の発生源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82880" y="1005840"/>
            <a:ext cx="1645920" cy="4572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" name="Shape 3"/>
          <p:cNvSpPr/>
          <p:nvPr/>
        </p:nvSpPr>
        <p:spPr>
          <a:xfrm>
            <a:off x="1828800" y="1005840"/>
            <a:ext cx="5029200" cy="45720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0" y="1005840"/>
            <a:ext cx="2103120" cy="4572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" y="10058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発生源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28800" y="10058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メカニズム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10058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関連頭痛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82880" y="1508760"/>
            <a:ext cx="8778240" cy="87782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" name="Text 9"/>
          <p:cNvSpPr/>
          <p:nvPr/>
        </p:nvSpPr>
        <p:spPr>
          <a:xfrm>
            <a:off x="182880" y="1508760"/>
            <a:ext cx="1645920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硬膜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(dura mater)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28800" y="1508760"/>
            <a:ext cx="5029200" cy="877824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髄膜炎・くも膜下出血・頭蓋内圧亢進による牽引・炎症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三叉神経（V1）が支配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0" y="1508760"/>
            <a:ext cx="2103120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髄膜炎頭痛・頭蓋内圧亢進頭痛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82880" y="2386584"/>
            <a:ext cx="8778240" cy="8778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182880" y="2386584"/>
            <a:ext cx="1645920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頭蓋内動脈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828800" y="2386584"/>
            <a:ext cx="5029200" cy="877824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三叉神経血管反射でCGRPなどの神経ペプチドが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血管周囲に放出され無菌性炎症が生じる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0" y="2386584"/>
            <a:ext cx="2103120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片頭痛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82880" y="3264408"/>
            <a:ext cx="8778240" cy="87782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9" name="Text 17"/>
          <p:cNvSpPr/>
          <p:nvPr/>
        </p:nvSpPr>
        <p:spPr>
          <a:xfrm>
            <a:off x="182880" y="3264408"/>
            <a:ext cx="1645920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頭部筋肉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・頭蓋外筋腱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828800" y="3264408"/>
            <a:ext cx="5029200" cy="877824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側頭筋・後頸部筋の過緊張→筋膜の侵害受容器が活性化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0" y="3264408"/>
            <a:ext cx="2103120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緊張型頭痛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82880" y="4142232"/>
            <a:ext cx="8778240" cy="8778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182880" y="4142232"/>
            <a:ext cx="1645920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三叉神経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・後頭神経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828800" y="4142232"/>
            <a:ext cx="5029200" cy="877824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神経そのものへの圧迫・脱髄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858000" y="4142232"/>
            <a:ext cx="2103120" cy="8778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三叉神経痛・後頭神経痛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4/9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覚醒下脳手術（Awake Craniotomy）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0515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2C5A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Awake Craniotomy（覚醒下脳手術）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患者さんが意識のある状態で脳に電気刺激を加え、言語野・運動野の位置を確認する手術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74320" y="2423160"/>
            <a:ext cx="27432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2514600"/>
            <a:ext cx="1097280" cy="1097280"/>
          </a:xfrm>
          <a:prstGeom prst="ellipse">
            <a:avLst/>
          </a:prstGeom>
          <a:solidFill>
            <a:srgbClr val="E8850C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5146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7432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頭皮切開</a:t>
            </a:r>
            <a:endParaRPr lang="en-US" sz="1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・頭蓋骨削開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1148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局所麻酔で行う（痛い）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2423160"/>
            <a:ext cx="27432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023360" y="2514600"/>
            <a:ext cx="1097280" cy="1097280"/>
          </a:xfrm>
          <a:prstGeom prst="ellipse">
            <a:avLst/>
          </a:prstGeom>
          <a:solidFill>
            <a:srgbClr val="E8850C"/>
          </a:solidFill>
          <a:ln/>
        </p:spPr>
      </p:sp>
      <p:sp>
        <p:nvSpPr>
          <p:cNvPr id="14" name="Text 12"/>
          <p:cNvSpPr/>
          <p:nvPr/>
        </p:nvSpPr>
        <p:spPr>
          <a:xfrm>
            <a:off x="4023360" y="25146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320040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硬膜切開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41148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局所麻酔で行う（痛い）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2423160"/>
            <a:ext cx="27432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49440" y="2514600"/>
            <a:ext cx="1097280" cy="1097280"/>
          </a:xfrm>
          <a:prstGeom prst="ellipse">
            <a:avLst/>
          </a:prstGeom>
          <a:solidFill>
            <a:srgbClr val="28A745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0" y="25146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12648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脳実質への</a:t>
            </a:r>
            <a:endParaRPr lang="en-US" sz="1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電気刺激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126480" y="41148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脳実質は痛みを感じない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→患者と会話しながら手術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5720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「脳実質に痛みセンサーがない」ことが、覚醒下手術を可能にする根拠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5/9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脳が「痛みを処理する」しくみ ― ペインマトリクス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05156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ペインマトリクス（pain matrix）</a:t>
            </a:r>
            <a:pPr indent="0" marL="0"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 ― 痛みを処理する脳内ネットワーク。身体のあらゆる痛みは最終的にここで認識される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74320" y="1920240"/>
            <a:ext cx="40233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920240"/>
            <a:ext cx="4023360" cy="50292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9202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一次・二次体性感覚野（S1/S2）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4688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痛みの「場所」「強さ」を識別する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920240"/>
            <a:ext cx="40233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920240"/>
            <a:ext cx="4023360" cy="50292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19202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前帯状皮質（ACC）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24688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痛みの不快感・情動的側面を処理する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4320" y="3429000"/>
            <a:ext cx="40233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3429000"/>
            <a:ext cx="4023360" cy="50292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34290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島皮質（insula）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39776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内臓感覚・自律神経反応と統合する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3429000"/>
            <a:ext cx="40233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429000"/>
            <a:ext cx="4023360" cy="50292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34290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視床（thalamus）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754880" y="39776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末梢からの痛み信号を大脳皮質へ中継する「中継局」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6/9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中枢性感作 ― 慢性頭痛のしくみ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137160" cy="109728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05156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中枢性感作（Central Sensitization）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14630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ペインマトリクスの過活動・感作により、実際の組織損傷がなくても痛みが継続する状態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82880" y="2286000"/>
            <a:ext cx="196596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2880" y="2286000"/>
            <a:ext cx="1965960" cy="1005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片頭痛を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繰り返す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48840" y="256032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331720" y="2286000"/>
            <a:ext cx="196596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331720" y="2286000"/>
            <a:ext cx="1965960" cy="1005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三叉神経系が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過敏化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97680" y="256032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480560" y="2286000"/>
            <a:ext cx="196596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480560" y="2286000"/>
            <a:ext cx="1965960" cy="1005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頭痛がない日も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神経が過活動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46520" y="256032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629400" y="2286000"/>
            <a:ext cx="196596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29400" y="2286000"/>
            <a:ext cx="1965960" cy="1005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慢性片頭痛へ移行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（月15日以上）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中枢性感作が関与する主な病態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265176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931920"/>
            <a:ext cx="2651760" cy="41148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9319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慢性片頭痛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3891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月15日以上の頭痛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291840" y="3931920"/>
            <a:ext cx="265176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91840" y="3931920"/>
            <a:ext cx="2651760" cy="41148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26" name="Text 24"/>
          <p:cNvSpPr/>
          <p:nvPr/>
        </p:nvSpPr>
        <p:spPr>
          <a:xfrm>
            <a:off x="3291840" y="39319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線維筋痛症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291840" y="43891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全身の慢性疼痛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26480" y="3931920"/>
            <a:ext cx="265176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26480" y="3931920"/>
            <a:ext cx="2651760" cy="41148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0" y="39319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薬物乱用頭痛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126480" y="43891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鎮痛薬の過剰使用が悪化を招く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7/9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こんな頭痛はすぐに救急受診を ― レッドフラグ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37160" y="1051560"/>
            <a:ext cx="429768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" y="1051560"/>
            <a:ext cx="411480" cy="109728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" y="1051560"/>
            <a:ext cx="411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1097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突然始まる激しい頭痛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「人生最悪の頭痛」「雷鳴頭痛」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くも膜下出血を疑う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429768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51560"/>
            <a:ext cx="411480" cy="109728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1051560"/>
            <a:ext cx="411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166360" y="1097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発熱・項部硬直・意識障害を伴う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66360" y="17373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髄膜炎・脳炎を疑う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37160" y="2313432"/>
            <a:ext cx="429768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37160" y="2313432"/>
            <a:ext cx="411480" cy="109728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" y="2313432"/>
            <a:ext cx="411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40080" y="2359152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神経症状を伴う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（片麻痺・言語障害・複視・歩行困難）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29992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脳卒中・脳腫瘍を疑う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2313432"/>
            <a:ext cx="429768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2313432"/>
            <a:ext cx="411480" cy="109728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21" name="Text 19"/>
          <p:cNvSpPr/>
          <p:nvPr/>
        </p:nvSpPr>
        <p:spPr>
          <a:xfrm>
            <a:off x="4663440" y="2313432"/>
            <a:ext cx="411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166360" y="2359152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50歳以降の初めての頭痛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66360" y="29992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側頭動脈炎・脳腫瘍を疑う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37160" y="3575304"/>
            <a:ext cx="429768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37160" y="3575304"/>
            <a:ext cx="411480" cy="109728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26" name="Text 24"/>
          <p:cNvSpPr/>
          <p:nvPr/>
        </p:nvSpPr>
        <p:spPr>
          <a:xfrm>
            <a:off x="137160" y="3575304"/>
            <a:ext cx="411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640080" y="3621024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体位で大きく変化する頭痛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（起立で悪化、または改善）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42611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低髄液圧症候群・頭蓋内圧亢進を疑う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63440" y="3575304"/>
            <a:ext cx="429768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3575304"/>
            <a:ext cx="411480" cy="109728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3575304"/>
            <a:ext cx="411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5166360" y="3621024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免疫不全・がん治療中の頭痛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66360" y="42611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日和見感染・転移を疑う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2880" y="4663440"/>
            <a:ext cx="8778240" cy="393192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" y="4663440"/>
            <a:ext cx="8412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頭痛の約90%は命に関わらない一次性頭痛。しかし残り10%は二次性頭痛（SNOOP基準より）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8/9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 Home Message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960120"/>
            <a:ext cx="7680960" cy="685800"/>
          </a:xfrm>
          <a:prstGeom prst="roundRect">
            <a:avLst>
              <a:gd name="adj" fmla="val 13333"/>
            </a:avLst>
          </a:prstGeom>
          <a:solidFill>
            <a:srgbClr val="243B5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51560"/>
            <a:ext cx="502920" cy="50292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051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960120"/>
            <a:ext cx="6629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脳の実質（灰白質・白質）には侵害受容器がほとんどなく、脳自身は痛みを感じない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1764792"/>
            <a:ext cx="7680960" cy="685800"/>
          </a:xfrm>
          <a:prstGeom prst="roundRect">
            <a:avLst>
              <a:gd name="adj" fmla="val 13333"/>
            </a:avLst>
          </a:prstGeom>
          <a:solidFill>
            <a:srgbClr val="243B5C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1856232"/>
            <a:ext cx="502920" cy="50292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856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00200" y="1764792"/>
            <a:ext cx="6629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頭痛の発生源は「硬膜・頭蓋内血管・頭部筋肉・脳神経」など脳の周辺組織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569464"/>
            <a:ext cx="7680960" cy="685800"/>
          </a:xfrm>
          <a:prstGeom prst="roundRect">
            <a:avLst>
              <a:gd name="adj" fmla="val 13333"/>
            </a:avLst>
          </a:prstGeom>
          <a:solidFill>
            <a:srgbClr val="243B5C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2660904"/>
            <a:ext cx="502920" cy="50292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6609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600200" y="2569464"/>
            <a:ext cx="6629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片頭痛は三叉神経血管反射とCGRPが重要な役割を担う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3374136"/>
            <a:ext cx="7680960" cy="685800"/>
          </a:xfrm>
          <a:prstGeom prst="roundRect">
            <a:avLst>
              <a:gd name="adj" fmla="val 13333"/>
            </a:avLst>
          </a:prstGeom>
          <a:solidFill>
            <a:srgbClr val="243B5C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3465576"/>
            <a:ext cx="502920" cy="50292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4655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600200" y="3374136"/>
            <a:ext cx="6629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脳は痛みの「発生源」ではなく、痛みを処理・認識する「司令塔」（ペインマトリクス）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4178808"/>
            <a:ext cx="7680960" cy="685800"/>
          </a:xfrm>
          <a:prstGeom prst="roundRect">
            <a:avLst>
              <a:gd name="adj" fmla="val 13333"/>
            </a:avLst>
          </a:prstGeom>
          <a:solidFill>
            <a:srgbClr val="243B5C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4270248"/>
            <a:ext cx="502920" cy="50292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270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600200" y="4178808"/>
            <a:ext cx="6629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突然の激烈な頭痛・神経症状を伴う頭痛はすぐに救急受診を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828800" y="4937760"/>
            <a:ext cx="5486400" cy="0"/>
          </a:xfrm>
          <a:prstGeom prst="line">
            <a:avLst/>
          </a:prstGeom>
          <a:noFill/>
          <a:ln w="12700">
            <a:solidFill>
              <a:srgbClr val="4A9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983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医知創造ラボ  今村久司  ｜  チャンネル登録よろしくお願いします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9/9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脳が「痛い」と感じる仕組み ― 脳自体は痛みを感じない？【からだの不思議 #10】</dc:title>
  <dc:subject>PptxGenJS Presentation</dc:subject>
  <dc:creator>今村久司</dc:creator>
  <cp:lastModifiedBy>今村久司</cp:lastModifiedBy>
  <cp:revision>1</cp:revision>
  <dcterms:created xsi:type="dcterms:W3CDTF">2026-04-09T02:02:44Z</dcterms:created>
  <dcterms:modified xsi:type="dcterms:W3CDTF">2026-04-09T02:02:44Z</dcterms:modified>
</cp:coreProperties>
</file>