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脳神経内科医が答える からだの不思議 #10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脳が「痛い」と感じる仕組み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― 脳自体は痛みを感じないのに</a:t>
            </a:r>
            <a:endParaRPr lang="en-US" sz="2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なぜ頭が痛くなるのか ―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0" y="3154680"/>
            <a:ext cx="3657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383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 今村久司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3886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脳神経内科専門医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脳自体は痛みを感じない！？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37160" cy="12801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972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手術中に患者さんが目を覚ましたまま、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脳に触れられても「痛くない」のは本当？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514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事実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脳の実質（灰白質・白質）には、痛みを感じるセンサーが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ほとんど存在しない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外科医がメスで脳組織に直接触れても、患者さんは痛みを訴えない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0690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では……「頭が痛い」の正体は何か？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2/9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痛みのセンサー「侵害受容器」とは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515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Nociceptor（侵害受容器）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組織の損傷や強い刺激（熱・機械的刺激・炎症性物質）に反応する特殊な神経終末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2377440"/>
            <a:ext cx="4206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377440"/>
            <a:ext cx="4206240" cy="45720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23774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侵害受容器がある組織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 皮膚・皮下組織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30098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 筋肉・関節・腱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6758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 血管壁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0507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 内臓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4256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 硬膜（脳を包む膜）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 骨膜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46320" y="2377440"/>
            <a:ext cx="4206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377440"/>
            <a:ext cx="4206240" cy="45720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3774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侵害受容器がない（乏しい）組織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29260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 脳の実質（灰白質）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0" y="330098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 脳の実質（白質）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0" y="36758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 脊髄の実質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3/9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頭痛の本当の発生源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210312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0" y="1005840"/>
            <a:ext cx="4572000" cy="457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0" y="1005840"/>
            <a:ext cx="2103120" cy="4572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1005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発生源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0" y="1005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メカニズム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1005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関連頭痛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82880" y="1508760"/>
            <a:ext cx="8778240" cy="877824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" y="1508760"/>
            <a:ext cx="2103120" cy="877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硬膜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(dura mater)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1508760"/>
            <a:ext cx="4572000" cy="877824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髄膜炎・くも膜下出血・頭蓋内圧亢進による牽引・炎症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三叉神経（V1）が支配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0" y="1508760"/>
            <a:ext cx="2103120" cy="877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髄膜炎頭痛・頭蓋内圧亢進頭痛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82880" y="2386584"/>
            <a:ext cx="8778240" cy="8778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" y="2386584"/>
            <a:ext cx="2103120" cy="877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頭蓋内動脈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86000" y="2386584"/>
            <a:ext cx="4572000" cy="877824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三叉神経血管反射でCGRPなどの神経ペプチドが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血管周囲に放出され無菌性炎症が生じる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0" y="2386584"/>
            <a:ext cx="2103120" cy="877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片頭痛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82880" y="3264408"/>
            <a:ext cx="8778240" cy="877824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9" name="Text 17"/>
          <p:cNvSpPr/>
          <p:nvPr/>
        </p:nvSpPr>
        <p:spPr>
          <a:xfrm>
            <a:off x="182880" y="3264408"/>
            <a:ext cx="2103120" cy="877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頭部筋肉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・頭蓋外筋腱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86000" y="3264408"/>
            <a:ext cx="4572000" cy="877824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側頭筋・後頸部筋の過緊張→筋膜の侵害受容器が活性化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0" y="3264408"/>
            <a:ext cx="2103120" cy="877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緊張型頭痛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82880" y="4142232"/>
            <a:ext cx="8778240" cy="8778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82880" y="4142232"/>
            <a:ext cx="2103120" cy="877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三叉神経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・後頭神経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286000" y="4142232"/>
            <a:ext cx="4572000" cy="877824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神経そのものへの圧迫・脱髄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0" y="4142232"/>
            <a:ext cx="2103120" cy="877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三叉神経痛・後頭神経痛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4/9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覚醒下脳手術（Awake Craniotomy）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515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Awake Craniotomy（覚醒下脳手術）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患者さんが意識のある状態で脳に電気刺激を加え、言語野・運動野の位置を確認する手術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2423160"/>
            <a:ext cx="27432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97280" y="2514600"/>
            <a:ext cx="1097280" cy="1097280"/>
          </a:xfrm>
          <a:prstGeom prst="ellipse">
            <a:avLst/>
          </a:prstGeom>
          <a:solidFill>
            <a:srgbClr val="E8850C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5146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74320" y="3657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頭皮切開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・頭蓋骨削開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114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局所麻酔で行う（痛い）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2423160"/>
            <a:ext cx="27432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023360" y="2514600"/>
            <a:ext cx="1097280" cy="1097280"/>
          </a:xfrm>
          <a:prstGeom prst="ellipse">
            <a:avLst/>
          </a:prstGeom>
          <a:solidFill>
            <a:srgbClr val="E8850C"/>
          </a:solidFill>
          <a:ln/>
        </p:spPr>
      </p:sp>
      <p:sp>
        <p:nvSpPr>
          <p:cNvPr id="14" name="Text 12"/>
          <p:cNvSpPr/>
          <p:nvPr/>
        </p:nvSpPr>
        <p:spPr>
          <a:xfrm>
            <a:off x="4023360" y="25146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200400" y="3657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硬膜切開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0" y="4114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局所麻酔で行う（痛い）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2423160"/>
            <a:ext cx="27432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49440" y="2514600"/>
            <a:ext cx="1097280" cy="1097280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25146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126480" y="3657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脳実質への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電気刺激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26480" y="4114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脳実質は痛みを感じない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→患者と会話しながら手術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572000"/>
            <a:ext cx="8229600" cy="50292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5720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「脳実質に痛みセンサーがない」ことが、覚醒下手術を可能にする根拠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5/9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脳が「痛みを処理する」しくみ ― ペインマトリクス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515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ペインマトリクス（pain matrix）</a:t>
            </a:r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― 痛みを処理する脳内ネットワーク。身体のあらゆる痛みは最終的にここで認識される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92024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920240"/>
            <a:ext cx="4023360" cy="457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920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一次・二次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体性感覚野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S1 / S2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4231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痛みの「場所」「強さ」を識別する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92024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920240"/>
            <a:ext cx="4023360" cy="45720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920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前帯状皮質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ACC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24231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痛みの不快感・情動的側面を処理する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42900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429000"/>
            <a:ext cx="4023360" cy="4572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34290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島皮質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(insula)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39319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内臓感覚・自律神経反応と統合する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342900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429000"/>
            <a:ext cx="4023360" cy="45720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34290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視床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(thalamus)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39319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末梢からの痛み信号を大脳皮質へ中継する「中継局」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6/9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中枢性感作 ― 慢性頭痛のしくみ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37160" cy="10972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515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中枢性感作（Central Sensitization）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ペインマトリクスの過活動・感作により、実際の組織損傷がなくても痛みが継続する状態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4320" y="228600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2286000"/>
            <a:ext cx="19202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片頭痛を繰り返す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94560" y="2560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A90D9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377440" y="228600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377440" y="2286000"/>
            <a:ext cx="19202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三叉神経系が過敏化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97680" y="2560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A90D9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480560" y="228600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80560" y="2286000"/>
            <a:ext cx="19202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頭痛がない日も神経が過活動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2560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A90D9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583680" y="228600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0" y="2286000"/>
            <a:ext cx="19202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慢性片頭痛へ移行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（月15日以上の頭痛）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中枢性感作が関与する主な病態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931920"/>
            <a:ext cx="2651760" cy="41148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9319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慢性片頭痛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4389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月15日以上の頭痛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91840" y="3931920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3931920"/>
            <a:ext cx="2651760" cy="41148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26" name="Text 24"/>
          <p:cNvSpPr/>
          <p:nvPr/>
        </p:nvSpPr>
        <p:spPr>
          <a:xfrm>
            <a:off x="3291840" y="39319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線維筋痛症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291840" y="4389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全身の慢性疼痛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26480" y="3931920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3931920"/>
            <a:ext cx="2651760" cy="41148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39319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薬物乱用頭痛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126480" y="4389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鎮痛薬の過剰使用が悪化を招く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7/9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こんな頭痛はすぐに救急受診を ― レッドフラグ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105156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51560"/>
            <a:ext cx="457200" cy="10972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105156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10972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突然始まる激しい頭痛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「人生最悪の頭痛」「雷鳴頭痛」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7373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くも膜下出血を疑う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51560"/>
            <a:ext cx="457200" cy="10972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05156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212080" y="10972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発熱・項部硬直・意識障害を伴う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12080" y="17373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髄膜炎・脳炎を疑う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82880" y="2313432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82880" y="2313432"/>
            <a:ext cx="457200" cy="10972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" y="2313432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31520" y="235915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神経症状を伴う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（片麻痺・言語障害・複視・歩行困難）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299923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脳卒中・脳腫瘍を疑う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313432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313432"/>
            <a:ext cx="457200" cy="10972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2313432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212080" y="235915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50歳以降の初めての頭痛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12080" y="299923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側頭動脈炎・脳腫瘍を疑う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82880" y="3575304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82880" y="3575304"/>
            <a:ext cx="457200" cy="10972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26" name="Text 24"/>
          <p:cNvSpPr/>
          <p:nvPr/>
        </p:nvSpPr>
        <p:spPr>
          <a:xfrm>
            <a:off x="182880" y="3575304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31520" y="3621024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体位で大きく変化する頭痛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（起立で悪化、または改善）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1520" y="426110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低髄液圧症候群・頭蓋内圧亢進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3575304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3575304"/>
            <a:ext cx="457200" cy="10972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31" name="Text 29"/>
          <p:cNvSpPr/>
          <p:nvPr/>
        </p:nvSpPr>
        <p:spPr>
          <a:xfrm>
            <a:off x="4663440" y="3575304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5212080" y="3621024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免疫不全・がん治療中の頭痛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12080" y="426110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日和見感染・転移を疑う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82880" y="4663440"/>
            <a:ext cx="8778240" cy="393192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4663440"/>
            <a:ext cx="8412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頭痛の約90%は命に関わらない一次性頭痛。しかし残り10%は二次性頭痛（SNOOP基準より）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8/9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 Home Message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7680960" cy="685800"/>
          </a:xfrm>
          <a:prstGeom prst="roundRect">
            <a:avLst>
              <a:gd name="adj" fmla="val 13333"/>
            </a:avLst>
          </a:prstGeom>
          <a:solidFill>
            <a:srgbClr val="243B5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051560"/>
            <a:ext cx="502920" cy="5029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960120"/>
            <a:ext cx="6629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脳の実質（灰白質・白質）には侵害受容器がほとんどなく、脳自身は痛みを感じない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1764792"/>
            <a:ext cx="7680960" cy="685800"/>
          </a:xfrm>
          <a:prstGeom prst="roundRect">
            <a:avLst>
              <a:gd name="adj" fmla="val 13333"/>
            </a:avLst>
          </a:prstGeom>
          <a:solidFill>
            <a:srgbClr val="243B5C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1856232"/>
            <a:ext cx="502920" cy="5029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00200" y="1764792"/>
            <a:ext cx="6629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頭痛の発生源は「硬膜・頭蓋内血管・頭部筋肉・脳神経」など脳の周辺組織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2569464"/>
            <a:ext cx="7680960" cy="685800"/>
          </a:xfrm>
          <a:prstGeom prst="roundRect">
            <a:avLst>
              <a:gd name="adj" fmla="val 13333"/>
            </a:avLst>
          </a:prstGeom>
          <a:solidFill>
            <a:srgbClr val="243B5C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2660904"/>
            <a:ext cx="502920" cy="5029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6609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00200" y="2569464"/>
            <a:ext cx="6629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片頭痛は三叉神経血管反射とCGRPが重要な役割を担う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3374136"/>
            <a:ext cx="7680960" cy="685800"/>
          </a:xfrm>
          <a:prstGeom prst="roundRect">
            <a:avLst>
              <a:gd name="adj" fmla="val 13333"/>
            </a:avLst>
          </a:prstGeom>
          <a:solidFill>
            <a:srgbClr val="243B5C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3465576"/>
            <a:ext cx="502920" cy="5029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465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00200" y="3374136"/>
            <a:ext cx="6629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脳は痛みの「発生源」ではなく、痛みを処理・認識する「司令塔」（ペインマトリクス）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4178808"/>
            <a:ext cx="7680960" cy="685800"/>
          </a:xfrm>
          <a:prstGeom prst="roundRect">
            <a:avLst>
              <a:gd name="adj" fmla="val 13333"/>
            </a:avLst>
          </a:prstGeom>
          <a:solidFill>
            <a:srgbClr val="243B5C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" y="4270248"/>
            <a:ext cx="502920" cy="5029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270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600200" y="4178808"/>
            <a:ext cx="6629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突然の激烈な頭痛・神経症状を伴う頭痛はすぐに救急受診を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828800" y="4937760"/>
            <a:ext cx="5486400" cy="0"/>
          </a:xfrm>
          <a:prstGeom prst="line">
            <a:avLst/>
          </a:prstGeom>
          <a:noFill/>
          <a:ln w="12700">
            <a:solidFill>
              <a:srgbClr val="4A90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983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 今村久司  ｜  チャンネル登録よろしくお願いします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9/9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脳が「痛い」と感じる仕組み ― 脳自体は痛みを感じない？【からだの不思議 #10】</dc:title>
  <dc:subject>PptxGenJS Presentation</dc:subject>
  <dc:creator>今村久司</dc:creator>
  <cp:lastModifiedBy>今村久司</cp:lastModifiedBy>
  <cp:revision>1</cp:revision>
  <dcterms:created xsi:type="dcterms:W3CDTF">2026-04-02T02:30:44Z</dcterms:created>
  <dcterms:modified xsi:type="dcterms:W3CDTF">2026-04-02T02:30:44Z</dcterms:modified>
</cp:coreProperties>
</file>