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2C5AA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2C5AA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914400"/>
            <a:ext cx="73152" cy="25603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91440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肝機能障害
</a:t>
            </a:r>
            <a:pPr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E8F0F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（トランスアミナーゼ上昇）
</a:t>
            </a:r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の鑑別診断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463040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R値 × 7ステップで系統的に迫る 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0F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「肝機能」の落とし穴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肝機能障害の鑑別診断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31920" cy="32004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3200400"/>
          </a:xfrm>
          <a:prstGeom prst="rect">
            <a:avLst>
              <a:gd name="adj" fmla="val 50000"/>
            </a:avLst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80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障害 (Injury) の指標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AST (GOT)
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肝以外（骨格筋・心筋）にも存在
</a:t>
            </a:r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ALT (GPT)
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比較的肝特異性が高い
</a:t>
            </a:r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ALP
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胆管系障害・骨疾患
</a:t>
            </a:r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ビリルビン
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代謝・排泄障害の指標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931920" cy="32004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54864" cy="3200400"/>
          </a:xfrm>
          <a:prstGeom prst="rect">
            <a:avLst>
              <a:gd name="adj" fmla="val 50000"/>
            </a:avLst>
          </a:prstGeom>
          <a:solidFill>
            <a:srgbClr val="28A745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80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合成能 (Function) の指標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37760" y="182880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PT / INR
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凝固因子合成能
</a:t>
            </a:r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アルブミン
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蛋白合成能
</a:t>
            </a:r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コリンエステラーゼ
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肝予備能の指標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8229600" cy="228600"/>
          </a:xfrm>
          <a:prstGeom prst="rect">
            <a:avLst>
              <a:gd name="adj" fmla="val 20000"/>
            </a:avLst>
          </a:prstGeom>
          <a:solidFill>
            <a:srgbClr val="FFF3E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4348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AST優位の上昇 → CKも確認！（筋障害の除外が重要）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R値とパターン分類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肝機能障害の鑑別診断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31520"/>
          </a:xfrm>
          <a:prstGeom prst="rect">
            <a:avLst>
              <a:gd name="adj" fmla="val 12500"/>
            </a:avLst>
          </a:prstGeom>
          <a:solidFill>
            <a:srgbClr val="E8F0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= </a:t>
            </a:r>
            <a:pPr algn="ctr" indent="0" marL="0">
              <a:buNone/>
            </a:pPr>
            <a:r>
              <a:rPr lang="en-US" sz="2000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(ALT / ALT ULN)</a:t>
            </a:r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÷ </a:t>
            </a:r>
            <a:pPr algn="ctr" indent="0" marL="0">
              <a:buNone/>
            </a:pPr>
            <a:r>
              <a:rPr lang="en-US" sz="2000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(ALP / ALP ULN)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2560320" cy="2194560"/>
          </a:xfrm>
          <a:prstGeom prst="rect">
            <a:avLst>
              <a:gd name="adj" fmla="val 4167"/>
            </a:avLst>
          </a:prstGeom>
          <a:solidFill>
            <a:srgbClr val="FDE8E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2194560"/>
          </a:xfrm>
          <a:prstGeom prst="rect">
            <a:avLst>
              <a:gd name="adj" fmla="val 50000"/>
            </a:avLst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≥ 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肝細胞障害型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ウイルス性肝炎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虚血性肝炎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アセトアミノフェン中毒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自己免疫性肝炎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2194560"/>
            <a:ext cx="2560320" cy="2194560"/>
          </a:xfrm>
          <a:prstGeom prst="rect">
            <a:avLst>
              <a:gd name="adj" fmla="val 4167"/>
            </a:avLst>
          </a:prstGeom>
          <a:solidFill>
            <a:srgbClr val="F3E8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2194560"/>
            <a:ext cx="54864" cy="2194560"/>
          </a:xfrm>
          <a:prstGeom prst="rect">
            <a:avLst>
              <a:gd name="adj" fmla="val 50000"/>
            </a:avLst>
          </a:prstGeom>
          <a:solidFill>
            <a:srgbClr val="7B2D8E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&lt; R &lt; 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47472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混合型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74720" y="3200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薬剤性肝障害(DILI)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EBV/CMV肝炎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うっ血肝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2194560"/>
            <a:ext cx="2560320" cy="2194560"/>
          </a:xfrm>
          <a:prstGeom prst="rect">
            <a:avLst>
              <a:gd name="adj" fmla="val 4167"/>
            </a:avLst>
          </a:prstGeom>
          <a:solidFill>
            <a:srgbClr val="E8F0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2194560"/>
            <a:ext cx="54864" cy="2194560"/>
          </a:xfrm>
          <a:prstGeom prst="rect">
            <a:avLst>
              <a:gd name="adj" fmla="val 50000"/>
            </a:avLst>
          </a:prstGeom>
          <a:solidFill>
            <a:srgbClr val="2C5AA0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≤ 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0936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胆汁うっ滞型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309360" y="3200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総胆管結石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胆管炎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PBC / PSC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IgG4関連硬化性胆管炎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肝細胞障害型の鑑別（前半）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肝機能障害の鑑別診断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594360"/>
          </a:xfrm>
          <a:prstGeom prst="rect">
            <a:avLst>
              <a:gd name="adj" fmla="val 50000"/>
            </a:avLst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548640" cy="502920"/>
          </a:xfrm>
          <a:prstGeom prst="rect">
            <a:avLst>
              <a:gd name="adj" fmla="val 14545"/>
            </a:avLst>
          </a:prstGeom>
          <a:solidFill>
            <a:srgbClr val="DC35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2070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急性ウイルス性肝炎(A/B/E)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12070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ALT優位、曝露歴・旅行歴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82296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847088"/>
            <a:ext cx="54864" cy="594360"/>
          </a:xfrm>
          <a:prstGeom prst="rect">
            <a:avLst>
              <a:gd name="adj" fmla="val 50000"/>
            </a:avLst>
          </a:prstGeom>
          <a:solidFill>
            <a:srgbClr val="E8850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892808"/>
            <a:ext cx="548640" cy="502920"/>
          </a:xfrm>
          <a:prstGeom prst="rect">
            <a:avLst>
              <a:gd name="adj" fmla="val 14545"/>
            </a:avLst>
          </a:prstGeom>
          <a:solidFill>
            <a:srgbClr val="E885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186537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慢性B/C型肝炎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186537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無症候性、線維化進行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505456"/>
            <a:ext cx="82296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505456"/>
            <a:ext cx="54864" cy="594360"/>
          </a:xfrm>
          <a:prstGeom prst="rect">
            <a:avLst>
              <a:gd name="adj" fmla="val 50000"/>
            </a:avLst>
          </a:prstGeom>
          <a:solidFill>
            <a:srgbClr val="28A74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551176"/>
            <a:ext cx="548640" cy="502920"/>
          </a:xfrm>
          <a:prstGeom prst="rect">
            <a:avLst>
              <a:gd name="adj" fmla="val 14545"/>
            </a:avLst>
          </a:prstGeom>
          <a:solidFill>
            <a:srgbClr val="28A7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252374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NAFLD / NASH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0" y="252374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代謝異常、ALT軽度上昇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163824"/>
            <a:ext cx="82296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163824"/>
            <a:ext cx="54864" cy="594360"/>
          </a:xfrm>
          <a:prstGeom prst="rect">
            <a:avLst>
              <a:gd name="adj" fmla="val 50000"/>
            </a:avLst>
          </a:prstGeom>
          <a:solidFill>
            <a:srgbClr val="2C5AA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09544"/>
            <a:ext cx="548640" cy="502920"/>
          </a:xfrm>
          <a:prstGeom prst="rect">
            <a:avLst>
              <a:gd name="adj" fmla="val 14545"/>
            </a:avLst>
          </a:prstGeom>
          <a:solidFill>
            <a:srgbClr val="2C5A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31821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アルコール関連肝障害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0" y="318211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AST/ALT比 ≥ 2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822192"/>
            <a:ext cx="82296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822192"/>
            <a:ext cx="54864" cy="594360"/>
          </a:xfrm>
          <a:prstGeom prst="rect">
            <a:avLst>
              <a:gd name="adj" fmla="val 50000"/>
            </a:avLst>
          </a:prstGeom>
          <a:solidFill>
            <a:srgbClr val="7B2D8E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867912"/>
            <a:ext cx="548640" cy="502920"/>
          </a:xfrm>
          <a:prstGeom prst="rect">
            <a:avLst>
              <a:gd name="adj" fmla="val 14545"/>
            </a:avLst>
          </a:prstGeom>
          <a:solidFill>
            <a:srgbClr val="7B2D8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8016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自己免疫性肝炎(AIH)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0" y="3840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女性、IgG↑、ANA/ASMA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肝細胞障害型の鑑別（後半）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肝機能障害の鑑別診断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594360"/>
          </a:xfrm>
          <a:prstGeom prst="rect">
            <a:avLst>
              <a:gd name="adj" fmla="val 50000"/>
            </a:avLst>
          </a:prstGeom>
          <a:solidFill>
            <a:srgbClr val="8B1A1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548640" cy="502920"/>
          </a:xfrm>
          <a:prstGeom prst="rect">
            <a:avLst>
              <a:gd name="adj" fmla="val 14545"/>
            </a:avLst>
          </a:prstGeom>
          <a:solidFill>
            <a:srgbClr val="8B1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2070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アセトアミノフェン中毒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12070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AST/ALT数千、NAC投与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82296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847088"/>
            <a:ext cx="54864" cy="594360"/>
          </a:xfrm>
          <a:prstGeom prst="rect">
            <a:avLst>
              <a:gd name="adj" fmla="val 50000"/>
            </a:avLst>
          </a:prstGeom>
          <a:solidFill>
            <a:srgbClr val="DC354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892808"/>
            <a:ext cx="548640" cy="502920"/>
          </a:xfrm>
          <a:prstGeom prst="rect">
            <a:avLst>
              <a:gd name="adj" fmla="val 14545"/>
            </a:avLst>
          </a:prstGeom>
          <a:solidFill>
            <a:srgbClr val="DC35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D7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186537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虚血性肝炎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186537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ショック後、LDH著増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505456"/>
            <a:ext cx="82296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505456"/>
            <a:ext cx="54864" cy="594360"/>
          </a:xfrm>
          <a:prstGeom prst="rect">
            <a:avLst>
              <a:gd name="adj" fmla="val 50000"/>
            </a:avLst>
          </a:prstGeom>
          <a:solidFill>
            <a:srgbClr val="E8850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551176"/>
            <a:ext cx="548640" cy="502920"/>
          </a:xfrm>
          <a:prstGeom prst="rect">
            <a:avLst>
              <a:gd name="adj" fmla="val 14545"/>
            </a:avLst>
          </a:prstGeom>
          <a:solidFill>
            <a:srgbClr val="E885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252374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Budd-Chiari症候群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0" y="252374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肝静脈閉塞、腹水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163824"/>
            <a:ext cx="82296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163824"/>
            <a:ext cx="54864" cy="594360"/>
          </a:xfrm>
          <a:prstGeom prst="rect">
            <a:avLst>
              <a:gd name="adj" fmla="val 50000"/>
            </a:avLst>
          </a:prstGeom>
          <a:solidFill>
            <a:srgbClr val="28A74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09544"/>
            <a:ext cx="548640" cy="502920"/>
          </a:xfrm>
          <a:prstGeom prst="rect">
            <a:avLst>
              <a:gd name="adj" fmla="val 14545"/>
            </a:avLst>
          </a:prstGeom>
          <a:solidFill>
            <a:srgbClr val="28A7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D9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31821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Wilson病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0" y="318211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若年、銅代謝異常、KF ring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822192"/>
            <a:ext cx="82296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822192"/>
            <a:ext cx="54864" cy="594360"/>
          </a:xfrm>
          <a:prstGeom prst="rect">
            <a:avLst>
              <a:gd name="adj" fmla="val 50000"/>
            </a:avLst>
          </a:prstGeom>
          <a:solidFill>
            <a:srgbClr val="2C5AA0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867912"/>
            <a:ext cx="548640" cy="502920"/>
          </a:xfrm>
          <a:prstGeom prst="rect">
            <a:avLst>
              <a:gd name="adj" fmla="val 14545"/>
            </a:avLst>
          </a:prstGeom>
          <a:solidFill>
            <a:srgbClr val="2C5A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8016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ヘモクロマトーシス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0" y="3840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TSAT ≥ 45%、フェリチン↑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胆汁うっ滞型の鑑別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肝機能障害の鑑別診断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594360"/>
          </a:xfrm>
          <a:prstGeom prst="rect">
            <a:avLst>
              <a:gd name="adj" fmla="val 50000"/>
            </a:avLst>
          </a:prstGeom>
          <a:solidFill>
            <a:srgbClr val="2C5AA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548640" cy="502920"/>
          </a:xfrm>
          <a:prstGeom prst="rect">
            <a:avLst>
              <a:gd name="adj" fmla="val 14545"/>
            </a:avLst>
          </a:prstGeom>
          <a:solidFill>
            <a:srgbClr val="2C5A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2070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総胆管結石・胆道閉塞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2070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胆管拡張、黄疸、腹痛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82296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847088"/>
            <a:ext cx="54864" cy="594360"/>
          </a:xfrm>
          <a:prstGeom prst="rect">
            <a:avLst>
              <a:gd name="adj" fmla="val 50000"/>
            </a:avLst>
          </a:prstGeom>
          <a:solidFill>
            <a:srgbClr val="8B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892808"/>
            <a:ext cx="548640" cy="502920"/>
          </a:xfrm>
          <a:prstGeom prst="rect">
            <a:avLst>
              <a:gd name="adj" fmla="val 14545"/>
            </a:avLst>
          </a:prstGeom>
          <a:solidFill>
            <a:srgbClr val="8B1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186537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急性胆管炎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186537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3徴/5徴、緊急ERCP適応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505456"/>
            <a:ext cx="82296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505456"/>
            <a:ext cx="54864" cy="594360"/>
          </a:xfrm>
          <a:prstGeom prst="rect">
            <a:avLst>
              <a:gd name="adj" fmla="val 50000"/>
            </a:avLst>
          </a:prstGeom>
          <a:solidFill>
            <a:srgbClr val="7B2D8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551176"/>
            <a:ext cx="548640" cy="502920"/>
          </a:xfrm>
          <a:prstGeom prst="rect">
            <a:avLst>
              <a:gd name="adj" fmla="val 14545"/>
            </a:avLst>
          </a:prstGeom>
          <a:solidFill>
            <a:srgbClr val="7B2D8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252374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原発性胆汁性胆管炎(PBC)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25237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AMA陽性、中年女性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163824"/>
            <a:ext cx="82296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163824"/>
            <a:ext cx="54864" cy="594360"/>
          </a:xfrm>
          <a:prstGeom prst="rect">
            <a:avLst>
              <a:gd name="adj" fmla="val 50000"/>
            </a:avLst>
          </a:prstGeom>
          <a:solidFill>
            <a:srgbClr val="28A74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09544"/>
            <a:ext cx="548640" cy="502920"/>
          </a:xfrm>
          <a:prstGeom prst="rect">
            <a:avLst>
              <a:gd name="adj" fmla="val 14545"/>
            </a:avLst>
          </a:prstGeom>
          <a:solidFill>
            <a:srgbClr val="28A7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31821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原発性硬化性胆管炎(PSC)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46320" y="31821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IBD合併、MRCP多発狭窄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822192"/>
            <a:ext cx="82296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822192"/>
            <a:ext cx="54864" cy="594360"/>
          </a:xfrm>
          <a:prstGeom prst="rect">
            <a:avLst>
              <a:gd name="adj" fmla="val 50000"/>
            </a:avLst>
          </a:prstGeom>
          <a:solidFill>
            <a:srgbClr val="E8850C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867912"/>
            <a:ext cx="548640" cy="502920"/>
          </a:xfrm>
          <a:prstGeom prst="rect">
            <a:avLst>
              <a:gd name="adj" fmla="val 14545"/>
            </a:avLst>
          </a:prstGeom>
          <a:solidFill>
            <a:srgbClr val="E885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80160" y="3840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IgG4関連硬化性胆管炎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4632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IgG4高値、ステロイド反応性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混合型・浸潤性・その他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肝機能障害の鑑別診断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594360"/>
          </a:xfrm>
          <a:prstGeom prst="rect">
            <a:avLst>
              <a:gd name="adj" fmla="val 50000"/>
            </a:avLst>
          </a:prstGeom>
          <a:solidFill>
            <a:srgbClr val="7B2D8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548640" cy="502920"/>
          </a:xfrm>
          <a:prstGeom prst="rect">
            <a:avLst>
              <a:gd name="adj" fmla="val 14545"/>
            </a:avLst>
          </a:prstGeom>
          <a:solidFill>
            <a:srgbClr val="7B2D8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2070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薬剤性肝障害(DILI)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2070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除外診断、RUCAMスコア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82296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847088"/>
            <a:ext cx="54864" cy="594360"/>
          </a:xfrm>
          <a:prstGeom prst="rect">
            <a:avLst>
              <a:gd name="adj" fmla="val 50000"/>
            </a:avLst>
          </a:prstGeom>
          <a:solidFill>
            <a:srgbClr val="E8850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892808"/>
            <a:ext cx="548640" cy="502920"/>
          </a:xfrm>
          <a:prstGeom prst="rect">
            <a:avLst>
              <a:gd name="adj" fmla="val 14545"/>
            </a:avLst>
          </a:prstGeom>
          <a:solidFill>
            <a:srgbClr val="E885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D17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186537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EBV / CMV肝炎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186537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異型リンパ球、肝脾腫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505456"/>
            <a:ext cx="82296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505456"/>
            <a:ext cx="54864" cy="594360"/>
          </a:xfrm>
          <a:prstGeom prst="rect">
            <a:avLst>
              <a:gd name="adj" fmla="val 50000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551176"/>
            <a:ext cx="548640" cy="502920"/>
          </a:xfrm>
          <a:prstGeom prst="rect">
            <a:avLst>
              <a:gd name="adj" fmla="val 14545"/>
            </a:avLst>
          </a:prstGeom>
          <a:solidFill>
            <a:srgbClr val="2C5A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D18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252374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うっ血肝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25237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右心不全、肝静脈拡張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163824"/>
            <a:ext cx="82296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163824"/>
            <a:ext cx="54864" cy="594360"/>
          </a:xfrm>
          <a:prstGeom prst="rect">
            <a:avLst>
              <a:gd name="adj" fmla="val 50000"/>
            </a:avLst>
          </a:prstGeom>
          <a:solidFill>
            <a:srgbClr val="8B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09544"/>
            <a:ext cx="548640" cy="502920"/>
          </a:xfrm>
          <a:prstGeom prst="rect">
            <a:avLst>
              <a:gd name="adj" fmla="val 14545"/>
            </a:avLst>
          </a:prstGeom>
          <a:solidFill>
            <a:srgbClr val="8B1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D19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31821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悪性腫瘍・浸潤性疾患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46320" y="31821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画像異常、ALP優位上昇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822192"/>
            <a:ext cx="82296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822192"/>
            <a:ext cx="54864" cy="594360"/>
          </a:xfrm>
          <a:prstGeom prst="rect">
            <a:avLst>
              <a:gd name="adj" fmla="val 50000"/>
            </a:avLst>
          </a:prstGeom>
          <a:solidFill>
            <a:srgbClr val="28A745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867912"/>
            <a:ext cx="548640" cy="502920"/>
          </a:xfrm>
          <a:prstGeom prst="rect">
            <a:avLst>
              <a:gd name="adj" fmla="val 14545"/>
            </a:avLst>
          </a:prstGeom>
          <a:solidFill>
            <a:srgbClr val="28A7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D20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80160" y="3840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筋障害（肝外AST上昇）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4632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CK高値がkey、ALT正常〜軽度↑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ALT &gt; 1000 の3本柱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肝機能障害の鑑別診断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2743200"/>
          </a:xfrm>
          <a:prstGeom prst="rect">
            <a:avLst>
              <a:gd name="adj" fmla="val 3448"/>
            </a:avLst>
          </a:prstGeom>
          <a:solidFill>
            <a:srgbClr val="FDE8E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2743200"/>
          </a:xfrm>
          <a:prstGeom prst="rect">
            <a:avLst>
              <a:gd name="adj" fmla="val 50000"/>
            </a:avLst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虚血性肝炎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（ショック肝）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2697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ショック・低灌流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LDH著増が特徴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1188720"/>
            <a:ext cx="2651760" cy="2743200"/>
          </a:xfrm>
          <a:prstGeom prst="rect">
            <a:avLst>
              <a:gd name="adj" fmla="val 3448"/>
            </a:avLst>
          </a:prstGeom>
          <a:solidFill>
            <a:srgbClr val="FFF3E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188720"/>
            <a:ext cx="54864" cy="2743200"/>
          </a:xfrm>
          <a:prstGeom prst="rect">
            <a:avLst>
              <a:gd name="adj" fmla="val 50000"/>
            </a:avLst>
          </a:prstGeom>
          <a:solidFill>
            <a:srgbClr val="E8850C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280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💊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474720" y="1920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アセトアミノフェン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中毒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74720" y="2697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過量服薬歴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NAC投与で救命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651760" cy="2743200"/>
          </a:xfrm>
          <a:prstGeom prst="rect">
            <a:avLst>
              <a:gd name="adj" fmla="val 3448"/>
            </a:avLst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188720"/>
            <a:ext cx="54864" cy="2743200"/>
          </a:xfrm>
          <a:prstGeom prst="rect">
            <a:avLst>
              <a:gd name="adj" fmla="val 50000"/>
            </a:avLst>
          </a:prstGeom>
          <a:solidFill>
            <a:srgbClr val="28A745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280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🦠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355080" y="1920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急性ウイルス性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肝炎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55080" y="2697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A/B/E型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曝露歴・旅行歴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8229600" cy="457200"/>
          </a:xfrm>
          <a:prstGeom prst="rect">
            <a:avLst>
              <a:gd name="adj" fmla="val 16000"/>
            </a:avLst>
          </a:prstGeom>
          <a:solidFill>
            <a:srgbClr val="FFFDE7"/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胆道疾患でも一過性に ALT &gt; 1000 となることあり（胆石嵌頓など）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7ステップアルゴリズム概要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肝機能障害の鑑別診断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457200" cy="411480"/>
          </a:xfrm>
          <a:prstGeom prst="rect">
            <a:avLst>
              <a:gd name="adj" fmla="val 51111"/>
            </a:avLst>
          </a:prstGeom>
          <a:solidFill>
            <a:srgbClr val="DC35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371600" y="1143000"/>
            <a:ext cx="7132320" cy="411480"/>
          </a:xfrm>
          <a:prstGeom prst="rect">
            <a:avLst>
              <a:gd name="adj" fmla="val 17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11430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パターン分類（R値）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527048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▼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1618488"/>
            <a:ext cx="457200" cy="411480"/>
          </a:xfrm>
          <a:prstGeom prst="rect">
            <a:avLst>
              <a:gd name="adj" fmla="val 51111"/>
            </a:avLst>
          </a:prstGeom>
          <a:solidFill>
            <a:srgbClr val="8B1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371600" y="1618488"/>
            <a:ext cx="7132320" cy="411480"/>
          </a:xfrm>
          <a:prstGeom prst="rect">
            <a:avLst>
              <a:gd name="adj" fmla="val 17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161848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Red flagの確認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2002536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▼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2093976"/>
            <a:ext cx="457200" cy="411480"/>
          </a:xfrm>
          <a:prstGeom prst="rect">
            <a:avLst>
              <a:gd name="adj" fmla="val 51111"/>
            </a:avLst>
          </a:prstGeom>
          <a:solidFill>
            <a:srgbClr val="E885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371600" y="2093976"/>
            <a:ext cx="7132320" cy="411480"/>
          </a:xfrm>
          <a:prstGeom prst="rect">
            <a:avLst>
              <a:gd name="adj" fmla="val 17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554480" y="2093976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急性 vs 慢性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2478024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▼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1520" y="2569464"/>
            <a:ext cx="457200" cy="411480"/>
          </a:xfrm>
          <a:prstGeom prst="rect">
            <a:avLst>
              <a:gd name="adj" fmla="val 51111"/>
            </a:avLst>
          </a:prstGeom>
          <a:solidFill>
            <a:srgbClr val="F5C5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371600" y="2569464"/>
            <a:ext cx="7132320" cy="411480"/>
          </a:xfrm>
          <a:prstGeom prst="rect">
            <a:avLst>
              <a:gd name="adj" fmla="val 17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554480" y="2569464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上昇の程度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2953512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▼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" y="3044952"/>
            <a:ext cx="457200" cy="411480"/>
          </a:xfrm>
          <a:prstGeom prst="rect">
            <a:avLst>
              <a:gd name="adj" fmla="val 51111"/>
            </a:avLst>
          </a:prstGeom>
          <a:solidFill>
            <a:srgbClr val="28A7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371600" y="3044952"/>
            <a:ext cx="7132320" cy="411480"/>
          </a:xfrm>
          <a:prstGeom prst="rect">
            <a:avLst>
              <a:gd name="adj" fmla="val 17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554480" y="304495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原因に直結する問診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1520" y="3429000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▼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" y="3520440"/>
            <a:ext cx="457200" cy="411480"/>
          </a:xfrm>
          <a:prstGeom prst="rect">
            <a:avLst>
              <a:gd name="adj" fmla="val 51111"/>
            </a:avLst>
          </a:prstGeom>
          <a:solidFill>
            <a:srgbClr val="2C5A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371600" y="3520440"/>
            <a:ext cx="7132320" cy="411480"/>
          </a:xfrm>
          <a:prstGeom prst="rect">
            <a:avLst>
              <a:gd name="adj" fmla="val 17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554480" y="35204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スクリーニング検査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31520" y="3904488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▼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31520" y="3995928"/>
            <a:ext cx="457200" cy="411480"/>
          </a:xfrm>
          <a:prstGeom prst="rect">
            <a:avLst>
              <a:gd name="adj" fmla="val 51111"/>
            </a:avLst>
          </a:prstGeom>
          <a:solidFill>
            <a:srgbClr val="7B2D8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371600" y="3995928"/>
            <a:ext cx="7132320" cy="411480"/>
          </a:xfrm>
          <a:prstGeom prst="rect">
            <a:avLst>
              <a:gd name="adj" fmla="val 17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554480" y="399592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画像所見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1-2: パターン分類と Red Flag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肝機能障害の鑑別診断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31920" cy="3291840"/>
          </a:xfrm>
          <a:prstGeom prst="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3291840"/>
          </a:xfrm>
          <a:prstGeom prst="rect">
            <a:avLst>
              <a:gd name="adj" fmla="val 50000"/>
            </a:avLst>
          </a:prstGeom>
          <a:solidFill>
            <a:srgbClr val="2C5AA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1: パターン分類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3383280" cy="640080"/>
          </a:xfrm>
          <a:prstGeom prst="rect">
            <a:avLst>
              <a:gd name="adj" fmla="val 11429"/>
            </a:avLst>
          </a:prstGeom>
          <a:solidFill>
            <a:srgbClr val="FDE8EA"/>
          </a:solidFill>
          <a:ln w="19050">
            <a:solidFill>
              <a:srgbClr val="DC3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828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 ≥ 5  肝細胞障害型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3383280" cy="640080"/>
          </a:xfrm>
          <a:prstGeom prst="rect">
            <a:avLst>
              <a:gd name="adj" fmla="val 11429"/>
            </a:avLst>
          </a:prstGeom>
          <a:solidFill>
            <a:srgbClr val="F3E8F9"/>
          </a:solidFill>
          <a:ln w="19050">
            <a:solidFill>
              <a:srgbClr val="7B2D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606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2D8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 &lt; R &lt; 5  混合型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3383280" cy="640080"/>
          </a:xfrm>
          <a:prstGeom prst="rect">
            <a:avLst>
              <a:gd name="adj" fmla="val 11429"/>
            </a:avLst>
          </a:prstGeom>
          <a:solidFill>
            <a:srgbClr val="E8F0FA"/>
          </a:solidFill>
          <a:ln w="19050">
            <a:solidFill>
              <a:srgbClr val="2C5A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 ≤ 2  胆汁うっ滞型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1188720"/>
            <a:ext cx="3931920" cy="3291840"/>
          </a:xfrm>
          <a:prstGeom prst="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188720"/>
            <a:ext cx="54864" cy="3291840"/>
          </a:xfrm>
          <a:prstGeom prst="rect">
            <a:avLst>
              <a:gd name="adj" fmla="val 50000"/>
            </a:avLst>
          </a:prstGeom>
          <a:solidFill>
            <a:srgbClr val="8B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2: Red Flag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🚨 意識障害（肝性脳症）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0" y="2286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🚨 PT-INR ≥ 1.5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2743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🚨 発熱 + 黄疸（胆管炎）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0" y="3200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🚨 過量服薬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0" y="3657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🚨 ショック / 低灌流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3-4: 急性/慢性と重症度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肝機能障害の鑑別診断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31920" cy="3291840"/>
          </a:xfrm>
          <a:prstGeom prst="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3291840"/>
          </a:xfrm>
          <a:prstGeom prst="rect">
            <a:avLst>
              <a:gd name="adj" fmla="val 50000"/>
            </a:avLst>
          </a:prstGeom>
          <a:solidFill>
            <a:srgbClr val="E8850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3: 経過の評価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1097280" cy="320040"/>
          </a:xfrm>
          <a:prstGeom prst="rect">
            <a:avLst>
              <a:gd name="adj" fmla="val 17143"/>
            </a:avLst>
          </a:prstGeom>
          <a:solidFill>
            <a:srgbClr val="DC35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急性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92024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ウイルス性、虚血、中毒、胆道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1097280" cy="320040"/>
          </a:xfrm>
          <a:prstGeom prst="rect">
            <a:avLst>
              <a:gd name="adj" fmla="val 17143"/>
            </a:avLst>
          </a:prstGeom>
          <a:solidFill>
            <a:srgbClr val="E885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亜急性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920240" y="2697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DILI、AIH、悪性腫瘍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566160"/>
            <a:ext cx="1097280" cy="320040"/>
          </a:xfrm>
          <a:prstGeom prst="rect">
            <a:avLst>
              <a:gd name="adj" fmla="val 17143"/>
            </a:avLst>
          </a:prstGeom>
          <a:solidFill>
            <a:srgbClr val="28A7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慢性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2024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慢性肝炎、NAFLD、PBC/PSC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188720"/>
            <a:ext cx="3931920" cy="3291840"/>
          </a:xfrm>
          <a:prstGeom prst="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188720"/>
            <a:ext cx="54864" cy="3291840"/>
          </a:xfrm>
          <a:prstGeom prst="rect">
            <a:avLst>
              <a:gd name="adj" fmla="val 50000"/>
            </a:avLst>
          </a:prstGeom>
          <a:solidFill>
            <a:srgbClr val="2C5AA0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4: 上昇の程度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37760" y="1828800"/>
            <a:ext cx="3566160" cy="530352"/>
          </a:xfrm>
          <a:prstGeom prst="rect">
            <a:avLst>
              <a:gd name="adj" fmla="val 10345"/>
            </a:avLst>
          </a:prstGeom>
          <a:solidFill>
            <a:srgbClr val="F8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847088"/>
            <a:ext cx="822960" cy="237744"/>
          </a:xfrm>
          <a:prstGeom prst="rect">
            <a:avLst>
              <a:gd name="adj" fmla="val 19231"/>
            </a:avLst>
          </a:prstGeom>
          <a:solidFill>
            <a:srgbClr val="28A7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軽度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0" y="1847088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5×ULN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32320" y="184708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慢性疾患群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2468880"/>
            <a:ext cx="3566160" cy="530352"/>
          </a:xfrm>
          <a:prstGeom prst="rect">
            <a:avLst>
              <a:gd name="adj" fmla="val 10345"/>
            </a:avLst>
          </a:prstGeom>
          <a:solidFill>
            <a:srgbClr val="F8F9F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487168"/>
            <a:ext cx="822960" cy="237744"/>
          </a:xfrm>
          <a:prstGeom prst="rect">
            <a:avLst>
              <a:gd name="adj" fmla="val 19231"/>
            </a:avLst>
          </a:prstGeom>
          <a:solidFill>
            <a:srgbClr val="F5C5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中等度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0" y="2487168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5-15×ULN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0" y="248716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急性肝炎、AIH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37760" y="3108960"/>
            <a:ext cx="3566160" cy="530352"/>
          </a:xfrm>
          <a:prstGeom prst="rect">
            <a:avLst>
              <a:gd name="adj" fmla="val 10345"/>
            </a:avLst>
          </a:prstGeom>
          <a:solidFill>
            <a:srgbClr val="F8F9FA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127248"/>
            <a:ext cx="822960" cy="237744"/>
          </a:xfrm>
          <a:prstGeom prst="rect">
            <a:avLst>
              <a:gd name="adj" fmla="val 19231"/>
            </a:avLst>
          </a:prstGeom>
          <a:solidFill>
            <a:srgbClr val="E885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高度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0" y="3127248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 15×ULN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32320" y="312724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虚血、中毒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37760" y="3749040"/>
            <a:ext cx="3566160" cy="530352"/>
          </a:xfrm>
          <a:prstGeom prst="rect">
            <a:avLst>
              <a:gd name="adj" fmla="val 10345"/>
            </a:avLst>
          </a:prstGeom>
          <a:solidFill>
            <a:srgbClr val="F8F9F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3767328"/>
            <a:ext cx="822960" cy="237744"/>
          </a:xfrm>
          <a:prstGeom prst="rect">
            <a:avLst>
              <a:gd name="adj" fmla="val 19231"/>
            </a:avLst>
          </a:prstGeom>
          <a:solidFill>
            <a:srgbClr val="DC35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著明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43600" y="3767328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ALT&gt;1000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32320" y="376732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3本柱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5-7: 問診・検査・画像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肝機能障害の鑑別診断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43200" cy="329184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54864" cy="3291840"/>
          </a:xfrm>
          <a:prstGeom prst="rect">
            <a:avLst>
              <a:gd name="adj" fmla="val 50000"/>
            </a:avLst>
          </a:prstGeom>
          <a:solidFill>
            <a:srgbClr val="28A74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5: 問診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薬剤歴（OTC含む）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飲酒量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代謝リスク因子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若年 → Wilson病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血栓リスク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感染曝露歴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輸血・注射歴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743200" cy="329184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54864" cy="3291840"/>
          </a:xfrm>
          <a:prstGeom prst="rect">
            <a:avLst>
              <a:gd name="adj" fmla="val 50000"/>
            </a:avLst>
          </a:prstGeom>
          <a:solidFill>
            <a:srgbClr val="2C5AA0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6: 検査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83280" y="173736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HAV-IgM, HBs抗原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HCV抗体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ANA, ASMA, IgG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鉄代謝(TSAT,フェリチン)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銅, セルロプラスミン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IgG4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CK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743200" cy="329184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54864" cy="3291840"/>
          </a:xfrm>
          <a:prstGeom prst="rect">
            <a:avLst>
              <a:gd name="adj" fmla="val 50000"/>
            </a:avLst>
          </a:prstGeom>
          <a:solidFill>
            <a:srgbClr val="7B2D8E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B2D8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7: 画像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09360" y="173736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胆管拡張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脂肪肝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肝硬変所見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肝静脈閉塞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腫瘤性病変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門脈血栓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脾腫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代表的カットオフ値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肝機能障害の鑑別診断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657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指標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基準値 / カットオフ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臨床的意義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ALT &gt; 1000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&gt; 1000 IU/L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虚血 / アセトアミノフェン / ウイルス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急性肝不全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INR ≥ 1.5 + 脳症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移植施設への転送を検討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胆管炎(TG18)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A + B + C 基準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Charcot 3徴 / Reynolds 5徴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Hy's law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ALT ≥ 3×ULN + T-Bil &gt; 2×ULN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DILI重症化の予測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TSAT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≥ 45%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ヘモクロマトーシス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FIB-4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スコア算出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NAFLD線維化リスク評価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IgG4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≥ 135 mg/dL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IgG4関連硬化性胆管炎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188720"/>
            <a:ext cx="8229600" cy="38404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188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指標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286000" y="1188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基準値 / カットオフ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0" y="11887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臨床的意義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Red Flags まとめ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肝機能障害の鑑別診断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3383280"/>
          </a:xfrm>
          <a:prstGeom prst="rect">
            <a:avLst>
              <a:gd name="adj" fmla="val 4054"/>
            </a:avLst>
          </a:prstGeom>
          <a:solidFill>
            <a:srgbClr val="FDE8E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457200" cy="457200"/>
          </a:xfrm>
          <a:prstGeom prst="rect">
            <a:avLst>
              <a:gd name="adj" fmla="val 50000"/>
            </a:avLst>
          </a:prstGeom>
          <a:solidFill>
            <a:srgbClr val="8B1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80160" y="1280160"/>
            <a:ext cx="7223760" cy="502920"/>
          </a:xfrm>
          <a:prstGeom prst="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63040" y="12801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急性肝不全（INR ≥ 1.5 + 脳症）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0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移植施設相談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901952"/>
            <a:ext cx="457200" cy="457200"/>
          </a:xfrm>
          <a:prstGeom prst="rect">
            <a:avLst>
              <a:gd name="adj" fmla="val 50000"/>
            </a:avLst>
          </a:prstGeom>
          <a:solidFill>
            <a:srgbClr val="DC35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80160" y="1901952"/>
            <a:ext cx="7223760" cy="502920"/>
          </a:xfrm>
          <a:prstGeom prst="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63040" y="19019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胆管炎（発熱+黄疸+腹痛）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0" y="19019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緊急ドレナージ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523744"/>
            <a:ext cx="457200" cy="457200"/>
          </a:xfrm>
          <a:prstGeom prst="rect">
            <a:avLst>
              <a:gd name="adj" fmla="val 50000"/>
            </a:avLst>
          </a:prstGeom>
          <a:solidFill>
            <a:srgbClr val="E885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280160" y="2523744"/>
            <a:ext cx="7223760" cy="502920"/>
          </a:xfrm>
          <a:prstGeom prst="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463040" y="252374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DILI重症（Hy's law陽性）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69280" y="252374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被疑薬中止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145536"/>
            <a:ext cx="457200" cy="457200"/>
          </a:xfrm>
          <a:prstGeom prst="rect">
            <a:avLst>
              <a:gd name="adj" fmla="val 50000"/>
            </a:avLst>
          </a:prstGeom>
          <a:solidFill>
            <a:srgbClr val="7B2D8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280160" y="3145536"/>
            <a:ext cx="7223760" cy="502920"/>
          </a:xfrm>
          <a:prstGeom prst="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463040" y="314553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悪性腫瘍を示唆する所見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69280" y="314553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2D8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画像+組織診断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767328"/>
            <a:ext cx="457200" cy="457200"/>
          </a:xfrm>
          <a:prstGeom prst="rect">
            <a:avLst>
              <a:gd name="adj" fmla="val 50000"/>
            </a:avLst>
          </a:prstGeom>
          <a:solidFill>
            <a:srgbClr val="2C5A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280160" y="3767328"/>
            <a:ext cx="7223760" cy="502920"/>
          </a:xfrm>
          <a:prstGeom prst="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463040" y="37673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「肝臓ではない」可能性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669280" y="37673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CK確認（筋障害）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2C5AA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2743200" cy="2743200"/>
          </a:xfrm>
          <a:prstGeom prst="ellipse">
            <a:avLst/>
          </a:prstGeom>
          <a:solidFill>
            <a:srgbClr val="2C5AA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Take-home Message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371600" cy="5486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502920" cy="502920"/>
          </a:xfrm>
          <a:prstGeom prst="rect">
            <a:avLst>
              <a:gd name="adj" fmla="val 50909"/>
            </a:avLst>
          </a:prstGeom>
          <a:solidFill>
            <a:srgbClr val="F5C5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371600" y="1188720"/>
            <a:ext cx="7315200" cy="502920"/>
          </a:xfrm>
          <a:prstGeom prst="rect">
            <a:avLst>
              <a:gd name="adj" fmla="val 14545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1887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R値でパターン分類（肝細胞障害型 / 胆汁うっ滞型 / 混合型）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502920" cy="502920"/>
          </a:xfrm>
          <a:prstGeom prst="rect">
            <a:avLst>
              <a:gd name="adj" fmla="val 50909"/>
            </a:avLst>
          </a:prstGeom>
          <a:solidFill>
            <a:srgbClr val="F5C5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371600" y="1874520"/>
            <a:ext cx="7315200" cy="502920"/>
          </a:xfrm>
          <a:prstGeom prst="rect">
            <a:avLst>
              <a:gd name="adj" fmla="val 14545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18745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ALT &gt; 1000 → 3本柱（虚血・アセトアミノフェン・ウイルス）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502920" cy="502920"/>
          </a:xfrm>
          <a:prstGeom prst="rect">
            <a:avLst>
              <a:gd name="adj" fmla="val 50909"/>
            </a:avLst>
          </a:prstGeom>
          <a:solidFill>
            <a:srgbClr val="F5C5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371600" y="2560320"/>
            <a:ext cx="7315200" cy="502920"/>
          </a:xfrm>
          <a:prstGeom prst="rect">
            <a:avLst>
              <a:gd name="adj" fmla="val 14545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25603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Red flag → 迅速対応（急性肝不全・胆管炎・Hy's law）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" y="3246120"/>
            <a:ext cx="502920" cy="502920"/>
          </a:xfrm>
          <a:prstGeom prst="rect">
            <a:avLst>
              <a:gd name="adj" fmla="val 50909"/>
            </a:avLst>
          </a:prstGeom>
          <a:solidFill>
            <a:srgbClr val="F5C5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371600" y="3246120"/>
            <a:ext cx="7315200" cy="502920"/>
          </a:xfrm>
          <a:prstGeom prst="rect">
            <a:avLst>
              <a:gd name="adj" fmla="val 14545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32461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AST優位の上昇 → CK確認（筋障害の除外）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502920" cy="502920"/>
          </a:xfrm>
          <a:prstGeom prst="rect">
            <a:avLst>
              <a:gd name="adj" fmla="val 50909"/>
            </a:avLst>
          </a:prstGeom>
          <a:solidFill>
            <a:srgbClr val="F5C5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371600" y="3931920"/>
            <a:ext cx="7315200" cy="502920"/>
          </a:xfrm>
          <a:prstGeom prst="rect">
            <a:avLst>
              <a:gd name="adj" fmla="val 14545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554480" y="39319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7ステップで系統的に鑑別し、見逃しを防ぐ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264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0F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肝機能障害の鑑別診断  |  医知創造ラボ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肝機能障害の鑑別診断</dc:title>
  <dc:subject>PptxGenJS Presentation</dc:subject>
  <dc:creator>医知創造ラボ</dc:creator>
  <cp:lastModifiedBy>医知創造ラボ</cp:lastModifiedBy>
  <cp:revision>1</cp:revision>
  <dcterms:created xsi:type="dcterms:W3CDTF">2026-03-22T05:18:39Z</dcterms:created>
  <dcterms:modified xsi:type="dcterms:W3CDTF">2026-03-22T05:18:39Z</dcterms:modified>
</cp:coreProperties>
</file>